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autoCompressPictures="0" saveSubsetFonts="1">
  <p:sldMasterIdLst>
    <p:sldMasterId id="2147483648" r:id="rId1"/>
  </p:sldMasterIdLst>
  <p:notesMasterIdLst>
    <p:notesMasterId r:id="rId2"/>
  </p:notesMasterIdLst>
  <p:sldIdLst>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Lst>
  <p:sldSz type="screen16x9" cy="6858000" cx="12192000"/>
  <p:notesSz cx="6858000" cy="12192000"/>
  <p:defaultTextStyle>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lastView="sldThumbnailView">
  <p:normalViewPr horzBarState="maximized">
    <p:restoredLeft sz="15611"/>
    <p:restoredTop sz="94610"/>
  </p:normalViewPr>
  <p:slideViewPr>
    <p:cSldViewPr snapToGrid="0" snapToObjects="1">
      <p:cViewPr varScale="1">
        <p:scale>
          <a:sx n="82" d="100"/>
          <a:sy n="82" d="100"/>
        </p:scale>
        <p:origin x="494" y="72"/>
      </p:cViewPr>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tableStyles" Target="tableStyles.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25" name=""/>
        <p:cNvGrpSpPr/>
        <p:nvPr/>
      </p:nvGrpSpPr>
      <p:grpSpPr>
        <a:xfrm>
          <a:off x="0" y="0"/>
          <a:ext cx="0" cy="0"/>
          <a:chOff x="0" y="0"/>
          <a:chExt cx="0" cy="0"/>
        </a:xfrm>
      </p:grpSpPr>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7" name=""/>
        <p:cNvGrpSpPr/>
        <p:nvPr/>
      </p:nvGrpSpPr>
      <p:grpSpPr>
        <a:xfrm>
          <a:off x="0" y="0"/>
          <a:ext cx="0" cy="0"/>
          <a:chOff x="0" y="0"/>
          <a:chExt cx="0" cy="0"/>
        </a:xfrm>
      </p:grpSpPr>
      <p:sp>
        <p:nvSpPr>
          <p:cNvPr id="1048581" name="Slide Image Placeholder 1"/>
          <p:cNvSpPr>
            <a:spLocks noChangeAspect="1" noRot="1" noGrp="1"/>
          </p:cNvSpPr>
          <p:nvPr>
            <p:ph type="sldImg"/>
          </p:nvPr>
        </p:nvSpPr>
        <p:spPr/>
      </p:sp>
      <p:sp>
        <p:nvSpPr>
          <p:cNvPr id="1048582" name="Notes Placeholder 2"/>
          <p:cNvSpPr>
            <a:spLocks noGrp="1"/>
          </p:cNvSpPr>
          <p:nvPr>
            <p:ph type="body" idx="1"/>
          </p:nvPr>
        </p:nvSpPr>
        <p:spPr/>
        <p:txBody>
          <a:bodyPr/>
          <a:p>
            <a:endParaRPr dirty="0" lang="en-US"/>
          </a:p>
        </p:txBody>
      </p:sp>
      <p:sp>
        <p:nvSpPr>
          <p:cNvPr id="1048583" name="Slide Number Placeholder 3"/>
          <p:cNvSpPr>
            <a:spLocks noGrp="1"/>
          </p:cNvSpPr>
          <p:nvPr>
            <p:ph type="sldNum" sz="quarter" idx="10"/>
          </p:nvPr>
        </p:nvSpPr>
        <p:spPr/>
        <p:txBody>
          <a:bodyPr/>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40" name=""/>
        <p:cNvGrpSpPr/>
        <p:nvPr/>
      </p:nvGrpSpPr>
      <p:grpSpPr>
        <a:xfrm>
          <a:off x="0" y="0"/>
          <a:ext cx="0" cy="0"/>
          <a:chOff x="0" y="0"/>
          <a:chExt cx="0" cy="0"/>
        </a:xfrm>
      </p:grpSpPr>
      <p:sp>
        <p:nvSpPr>
          <p:cNvPr id="1048606" name="Slide Image Placeholder 1"/>
          <p:cNvSpPr>
            <a:spLocks noChangeAspect="1" noRot="1" noGrp="1"/>
          </p:cNvSpPr>
          <p:nvPr>
            <p:ph type="sldImg"/>
          </p:nvPr>
        </p:nvSpPr>
        <p:spPr/>
      </p:sp>
      <p:sp>
        <p:nvSpPr>
          <p:cNvPr id="1048607" name="Notes Placeholder 2"/>
          <p:cNvSpPr>
            <a:spLocks noGrp="1"/>
          </p:cNvSpPr>
          <p:nvPr>
            <p:ph type="body" idx="1"/>
          </p:nvPr>
        </p:nvSpPr>
        <p:spPr/>
        <p:txBody>
          <a:bodyPr/>
          <a:p>
            <a:endParaRPr dirty="0" lang="en-US"/>
          </a:p>
        </p:txBody>
      </p:sp>
      <p:sp>
        <p:nvSpPr>
          <p:cNvPr id="1048608" name="Slide Number Placeholder 3"/>
          <p:cNvSpPr>
            <a:spLocks noGrp="1"/>
          </p:cNvSpPr>
          <p:nvPr>
            <p:ph type="sldNum" sz="quarter" idx="10"/>
          </p:nvPr>
        </p:nvSpPr>
        <p:spPr/>
        <p:txBody>
          <a:bodyPr/>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43" name=""/>
        <p:cNvGrpSpPr/>
        <p:nvPr/>
      </p:nvGrpSpPr>
      <p:grpSpPr>
        <a:xfrm>
          <a:off x="0" y="0"/>
          <a:ext cx="0" cy="0"/>
          <a:chOff x="0" y="0"/>
          <a:chExt cx="0" cy="0"/>
        </a:xfrm>
      </p:grpSpPr>
      <p:sp>
        <p:nvSpPr>
          <p:cNvPr id="1048614" name="Slide Image Placeholder 1"/>
          <p:cNvSpPr>
            <a:spLocks noChangeAspect="1" noRot="1" noGrp="1"/>
          </p:cNvSpPr>
          <p:nvPr>
            <p:ph type="sldImg"/>
          </p:nvPr>
        </p:nvSpPr>
        <p:spPr/>
      </p:sp>
      <p:sp>
        <p:nvSpPr>
          <p:cNvPr id="1048615" name="Notes Placeholder 2"/>
          <p:cNvSpPr>
            <a:spLocks noGrp="1"/>
          </p:cNvSpPr>
          <p:nvPr>
            <p:ph type="body" idx="1"/>
          </p:nvPr>
        </p:nvSpPr>
        <p:spPr/>
        <p:txBody>
          <a:bodyPr/>
          <a:p>
            <a:endParaRPr dirty="0" lang="en-US"/>
          </a:p>
        </p:txBody>
      </p:sp>
      <p:sp>
        <p:nvSpPr>
          <p:cNvPr id="1048616" name="Slide Number Placeholder 3"/>
          <p:cNvSpPr>
            <a:spLocks noGrp="1"/>
          </p:cNvSpPr>
          <p:nvPr>
            <p:ph type="sldNum" sz="quarter" idx="10"/>
          </p:nvPr>
        </p:nvSpPr>
        <p:spPr/>
        <p:txBody>
          <a:bodyPr/>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1048624" name="Slide Image Placeholder 1"/>
          <p:cNvSpPr>
            <a:spLocks noChangeAspect="1" noRot="1" noGrp="1"/>
          </p:cNvSpPr>
          <p:nvPr>
            <p:ph type="sldImg"/>
          </p:nvPr>
        </p:nvSpPr>
        <p:spPr/>
      </p:sp>
      <p:sp>
        <p:nvSpPr>
          <p:cNvPr id="1048625" name="Notes Placeholder 2"/>
          <p:cNvSpPr>
            <a:spLocks noGrp="1"/>
          </p:cNvSpPr>
          <p:nvPr>
            <p:ph type="body" idx="1"/>
          </p:nvPr>
        </p:nvSpPr>
        <p:spPr/>
        <p:txBody>
          <a:bodyPr/>
          <a:p>
            <a:endParaRPr dirty="0" lang="en-US"/>
          </a:p>
        </p:txBody>
      </p:sp>
      <p:sp>
        <p:nvSpPr>
          <p:cNvPr id="1048626" name="Slide Number Placeholder 3"/>
          <p:cNvSpPr>
            <a:spLocks noGrp="1"/>
          </p:cNvSpPr>
          <p:nvPr>
            <p:ph type="sldNum" sz="quarter" idx="10"/>
          </p:nvPr>
        </p:nvSpPr>
        <p:spPr/>
        <p:txBody>
          <a:bodyPr/>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49" name=""/>
        <p:cNvGrpSpPr/>
        <p:nvPr/>
      </p:nvGrpSpPr>
      <p:grpSpPr>
        <a:xfrm>
          <a:off x="0" y="0"/>
          <a:ext cx="0" cy="0"/>
          <a:chOff x="0" y="0"/>
          <a:chExt cx="0" cy="0"/>
        </a:xfrm>
      </p:grpSpPr>
      <p:sp>
        <p:nvSpPr>
          <p:cNvPr id="1048646" name="Slide Image Placeholder 1"/>
          <p:cNvSpPr>
            <a:spLocks noChangeAspect="1" noRot="1" noGrp="1"/>
          </p:cNvSpPr>
          <p:nvPr>
            <p:ph type="sldImg"/>
          </p:nvPr>
        </p:nvSpPr>
        <p:spPr/>
      </p:sp>
      <p:sp>
        <p:nvSpPr>
          <p:cNvPr id="1048647" name="Notes Placeholder 2"/>
          <p:cNvSpPr>
            <a:spLocks noGrp="1"/>
          </p:cNvSpPr>
          <p:nvPr>
            <p:ph type="body" idx="1"/>
          </p:nvPr>
        </p:nvSpPr>
        <p:spPr/>
        <p:txBody>
          <a:bodyPr/>
          <a:p>
            <a:endParaRPr dirty="0" lang="en-US"/>
          </a:p>
        </p:txBody>
      </p:sp>
      <p:sp>
        <p:nvSpPr>
          <p:cNvPr id="1048648" name="Slide Number Placeholder 3"/>
          <p:cNvSpPr>
            <a:spLocks noGrp="1"/>
          </p:cNvSpPr>
          <p:nvPr>
            <p:ph type="sldNum" sz="quarter" idx="10"/>
          </p:nvPr>
        </p:nvSpPr>
        <p:spPr/>
        <p:txBody>
          <a:bodyPr/>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52" name=""/>
        <p:cNvGrpSpPr/>
        <p:nvPr/>
      </p:nvGrpSpPr>
      <p:grpSpPr>
        <a:xfrm>
          <a:off x="0" y="0"/>
          <a:ext cx="0" cy="0"/>
          <a:chOff x="0" y="0"/>
          <a:chExt cx="0" cy="0"/>
        </a:xfrm>
      </p:grpSpPr>
      <p:sp>
        <p:nvSpPr>
          <p:cNvPr id="1048656" name="Slide Image Placeholder 1"/>
          <p:cNvSpPr>
            <a:spLocks noChangeAspect="1" noRot="1" noGrp="1"/>
          </p:cNvSpPr>
          <p:nvPr>
            <p:ph type="sldImg"/>
          </p:nvPr>
        </p:nvSpPr>
        <p:spPr/>
      </p:sp>
      <p:sp>
        <p:nvSpPr>
          <p:cNvPr id="1048657" name="Notes Placeholder 2"/>
          <p:cNvSpPr>
            <a:spLocks noGrp="1"/>
          </p:cNvSpPr>
          <p:nvPr>
            <p:ph type="body" idx="1"/>
          </p:nvPr>
        </p:nvSpPr>
        <p:spPr/>
        <p:txBody>
          <a:bodyPr/>
          <a:p>
            <a:endParaRPr dirty="0" lang="en-US"/>
          </a:p>
        </p:txBody>
      </p:sp>
      <p:sp>
        <p:nvSpPr>
          <p:cNvPr id="1048658" name="Slide Number Placeholder 3"/>
          <p:cNvSpPr>
            <a:spLocks noGrp="1"/>
          </p:cNvSpPr>
          <p:nvPr>
            <p:ph type="sldNum" sz="quarter" idx="10"/>
          </p:nvPr>
        </p:nvSpPr>
        <p:spPr/>
        <p:txBody>
          <a:bodyPr/>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55" name=""/>
        <p:cNvGrpSpPr/>
        <p:nvPr/>
      </p:nvGrpSpPr>
      <p:grpSpPr>
        <a:xfrm>
          <a:off x="0" y="0"/>
          <a:ext cx="0" cy="0"/>
          <a:chOff x="0" y="0"/>
          <a:chExt cx="0" cy="0"/>
        </a:xfrm>
      </p:grpSpPr>
      <p:sp>
        <p:nvSpPr>
          <p:cNvPr id="1048663" name="Slide Image Placeholder 1"/>
          <p:cNvSpPr>
            <a:spLocks noChangeAspect="1" noRot="1" noGrp="1"/>
          </p:cNvSpPr>
          <p:nvPr>
            <p:ph type="sldImg"/>
          </p:nvPr>
        </p:nvSpPr>
        <p:spPr/>
      </p:sp>
      <p:sp>
        <p:nvSpPr>
          <p:cNvPr id="1048664" name="Notes Placeholder 2"/>
          <p:cNvSpPr>
            <a:spLocks noGrp="1"/>
          </p:cNvSpPr>
          <p:nvPr>
            <p:ph type="body" idx="1"/>
          </p:nvPr>
        </p:nvSpPr>
        <p:spPr/>
        <p:txBody>
          <a:bodyPr/>
          <a:p>
            <a:endParaRPr dirty="0" lang="en-US"/>
          </a:p>
        </p:txBody>
      </p:sp>
      <p:sp>
        <p:nvSpPr>
          <p:cNvPr id="1048665" name="Slide Number Placeholder 3"/>
          <p:cNvSpPr>
            <a:spLocks noGrp="1"/>
          </p:cNvSpPr>
          <p:nvPr>
            <p:ph type="sldNum" sz="quarter" idx="10"/>
          </p:nvPr>
        </p:nvSpPr>
        <p:spPr/>
        <p:txBody>
          <a:bodyPr/>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58" name=""/>
        <p:cNvGrpSpPr/>
        <p:nvPr/>
      </p:nvGrpSpPr>
      <p:grpSpPr>
        <a:xfrm>
          <a:off x="0" y="0"/>
          <a:ext cx="0" cy="0"/>
          <a:chOff x="0" y="0"/>
          <a:chExt cx="0" cy="0"/>
        </a:xfrm>
      </p:grpSpPr>
      <p:sp>
        <p:nvSpPr>
          <p:cNvPr id="1048671" name="Slide Image Placeholder 1"/>
          <p:cNvSpPr>
            <a:spLocks noChangeAspect="1" noRot="1" noGrp="1"/>
          </p:cNvSpPr>
          <p:nvPr>
            <p:ph type="sldImg"/>
          </p:nvPr>
        </p:nvSpPr>
        <p:spPr/>
      </p:sp>
      <p:sp>
        <p:nvSpPr>
          <p:cNvPr id="1048672" name="Notes Placeholder 2"/>
          <p:cNvSpPr>
            <a:spLocks noGrp="1"/>
          </p:cNvSpPr>
          <p:nvPr>
            <p:ph type="body" idx="1"/>
          </p:nvPr>
        </p:nvSpPr>
        <p:spPr/>
        <p:txBody>
          <a:bodyPr/>
          <a:p>
            <a:endParaRPr dirty="0" lang="en-US"/>
          </a:p>
        </p:txBody>
      </p:sp>
      <p:sp>
        <p:nvSpPr>
          <p:cNvPr id="1048673" name="Slide Number Placeholder 3"/>
          <p:cNvSpPr>
            <a:spLocks noGrp="1"/>
          </p:cNvSpPr>
          <p:nvPr>
            <p:ph type="sldNum" sz="quarter" idx="10"/>
          </p:nvPr>
        </p:nvSpPr>
        <p:spPr/>
        <p:txBody>
          <a:bodyPr/>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61" name=""/>
        <p:cNvGrpSpPr/>
        <p:nvPr/>
      </p:nvGrpSpPr>
      <p:grpSpPr>
        <a:xfrm>
          <a:off x="0" y="0"/>
          <a:ext cx="0" cy="0"/>
          <a:chOff x="0" y="0"/>
          <a:chExt cx="0" cy="0"/>
        </a:xfrm>
      </p:grpSpPr>
      <p:sp>
        <p:nvSpPr>
          <p:cNvPr id="1048679" name="Slide Image Placeholder 1"/>
          <p:cNvSpPr>
            <a:spLocks noChangeAspect="1" noRot="1" noGrp="1"/>
          </p:cNvSpPr>
          <p:nvPr>
            <p:ph type="sldImg"/>
          </p:nvPr>
        </p:nvSpPr>
        <p:spPr/>
      </p:sp>
      <p:sp>
        <p:nvSpPr>
          <p:cNvPr id="1048680" name="Notes Placeholder 2"/>
          <p:cNvSpPr>
            <a:spLocks noGrp="1"/>
          </p:cNvSpPr>
          <p:nvPr>
            <p:ph type="body" idx="1"/>
          </p:nvPr>
        </p:nvSpPr>
        <p:spPr/>
        <p:txBody>
          <a:bodyPr/>
          <a:p>
            <a:endParaRPr dirty="0" lang="en-US"/>
          </a:p>
        </p:txBody>
      </p:sp>
      <p:sp>
        <p:nvSpPr>
          <p:cNvPr id="1048681" name="Slide Number Placeholder 3"/>
          <p:cNvSpPr>
            <a:spLocks noGrp="1"/>
          </p:cNvSpPr>
          <p:nvPr>
            <p:ph type="sldNum" sz="quarter" idx="10"/>
          </p:nvPr>
        </p:nvSpPr>
        <p:spPr/>
        <p:txBody>
          <a:bodyPr/>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64" name=""/>
        <p:cNvGrpSpPr/>
        <p:nvPr/>
      </p:nvGrpSpPr>
      <p:grpSpPr>
        <a:xfrm>
          <a:off x="0" y="0"/>
          <a:ext cx="0" cy="0"/>
          <a:chOff x="0" y="0"/>
          <a:chExt cx="0" cy="0"/>
        </a:xfrm>
      </p:grpSpPr>
      <p:sp>
        <p:nvSpPr>
          <p:cNvPr id="1048689" name="Slide Image Placeholder 1"/>
          <p:cNvSpPr>
            <a:spLocks noChangeAspect="1" noRot="1" noGrp="1"/>
          </p:cNvSpPr>
          <p:nvPr>
            <p:ph type="sldImg"/>
          </p:nvPr>
        </p:nvSpPr>
        <p:spPr/>
      </p:sp>
      <p:sp>
        <p:nvSpPr>
          <p:cNvPr id="1048690" name="Notes Placeholder 2"/>
          <p:cNvSpPr>
            <a:spLocks noGrp="1"/>
          </p:cNvSpPr>
          <p:nvPr>
            <p:ph type="body" idx="1"/>
          </p:nvPr>
        </p:nvSpPr>
        <p:spPr/>
        <p:txBody>
          <a:bodyPr/>
          <a:p>
            <a:endParaRPr dirty="0" lang="en-US"/>
          </a:p>
        </p:txBody>
      </p:sp>
      <p:sp>
        <p:nvSpPr>
          <p:cNvPr id="1048691" name="Slide Number Placeholder 3"/>
          <p:cNvSpPr>
            <a:spLocks noGrp="1"/>
          </p:cNvSpPr>
          <p:nvPr>
            <p:ph type="sldNum" sz="quarter" idx="10"/>
          </p:nvPr>
        </p:nvSpPr>
        <p:spPr/>
        <p:txBody>
          <a:bodyPr/>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67" name=""/>
        <p:cNvGrpSpPr/>
        <p:nvPr/>
      </p:nvGrpSpPr>
      <p:grpSpPr>
        <a:xfrm>
          <a:off x="0" y="0"/>
          <a:ext cx="0" cy="0"/>
          <a:chOff x="0" y="0"/>
          <a:chExt cx="0" cy="0"/>
        </a:xfrm>
      </p:grpSpPr>
      <p:sp>
        <p:nvSpPr>
          <p:cNvPr id="1048697" name="Slide Image Placeholder 1"/>
          <p:cNvSpPr>
            <a:spLocks noChangeAspect="1" noRot="1" noGrp="1"/>
          </p:cNvSpPr>
          <p:nvPr>
            <p:ph type="sldImg"/>
          </p:nvPr>
        </p:nvSpPr>
        <p:spPr/>
      </p:sp>
      <p:sp>
        <p:nvSpPr>
          <p:cNvPr id="1048698" name="Notes Placeholder 2"/>
          <p:cNvSpPr>
            <a:spLocks noGrp="1"/>
          </p:cNvSpPr>
          <p:nvPr>
            <p:ph type="body" idx="1"/>
          </p:nvPr>
        </p:nvSpPr>
        <p:spPr/>
        <p:txBody>
          <a:bodyPr/>
          <a:p>
            <a:endParaRPr dirty="0" lang="en-US"/>
          </a:p>
        </p:txBody>
      </p:sp>
      <p:sp>
        <p:nvSpPr>
          <p:cNvPr id="1048699" name="Slide Number Placeholder 3"/>
          <p:cNvSpPr>
            <a:spLocks noGrp="1"/>
          </p:cNvSpPr>
          <p:nvPr>
            <p:ph type="sldNum" sz="quarter" idx="10"/>
          </p:nvPr>
        </p:nvSpPr>
        <p:spPr/>
        <p:txBody>
          <a:bodyPr/>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70" name=""/>
        <p:cNvGrpSpPr/>
        <p:nvPr/>
      </p:nvGrpSpPr>
      <p:grpSpPr>
        <a:xfrm>
          <a:off x="0" y="0"/>
          <a:ext cx="0" cy="0"/>
          <a:chOff x="0" y="0"/>
          <a:chExt cx="0" cy="0"/>
        </a:xfrm>
      </p:grpSpPr>
      <p:sp>
        <p:nvSpPr>
          <p:cNvPr id="1048707" name="Slide Image Placeholder 1"/>
          <p:cNvSpPr>
            <a:spLocks noChangeAspect="1" noRot="1" noGrp="1"/>
          </p:cNvSpPr>
          <p:nvPr>
            <p:ph type="sldImg"/>
          </p:nvPr>
        </p:nvSpPr>
        <p:spPr/>
      </p:sp>
      <p:sp>
        <p:nvSpPr>
          <p:cNvPr id="1048708" name="Notes Placeholder 2"/>
          <p:cNvSpPr>
            <a:spLocks noGrp="1"/>
          </p:cNvSpPr>
          <p:nvPr>
            <p:ph type="body" idx="1"/>
          </p:nvPr>
        </p:nvSpPr>
        <p:spPr/>
        <p:txBody>
          <a:bodyPr/>
          <a:p>
            <a:endParaRPr dirty="0" lang="en-US"/>
          </a:p>
        </p:txBody>
      </p:sp>
      <p:sp>
        <p:nvSpPr>
          <p:cNvPr id="1048709" name="Slide Number Placeholder 3"/>
          <p:cNvSpPr>
            <a:spLocks noGrp="1"/>
          </p:cNvSpPr>
          <p:nvPr>
            <p:ph type="sldNum" sz="quarter" idx="10"/>
          </p:nvPr>
        </p:nvSpPr>
        <p:spPr/>
        <p:txBody>
          <a:bodyPr/>
          <a:p>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73" name=""/>
        <p:cNvGrpSpPr/>
        <p:nvPr/>
      </p:nvGrpSpPr>
      <p:grpSpPr>
        <a:xfrm>
          <a:off x="0" y="0"/>
          <a:ext cx="0" cy="0"/>
          <a:chOff x="0" y="0"/>
          <a:chExt cx="0" cy="0"/>
        </a:xfrm>
      </p:grpSpPr>
      <p:sp>
        <p:nvSpPr>
          <p:cNvPr id="1048715" name="Slide Image Placeholder 1"/>
          <p:cNvSpPr>
            <a:spLocks noChangeAspect="1" noRot="1" noGrp="1"/>
          </p:cNvSpPr>
          <p:nvPr>
            <p:ph type="sldImg"/>
          </p:nvPr>
        </p:nvSpPr>
        <p:spPr/>
      </p:sp>
      <p:sp>
        <p:nvSpPr>
          <p:cNvPr id="1048716" name="Notes Placeholder 2"/>
          <p:cNvSpPr>
            <a:spLocks noGrp="1"/>
          </p:cNvSpPr>
          <p:nvPr>
            <p:ph type="body" idx="1"/>
          </p:nvPr>
        </p:nvSpPr>
        <p:spPr/>
        <p:txBody>
          <a:bodyPr/>
          <a:p>
            <a:endParaRPr dirty="0" lang="en-US"/>
          </a:p>
        </p:txBody>
      </p:sp>
      <p:sp>
        <p:nvSpPr>
          <p:cNvPr id="1048717" name="Slide Number Placeholder 3"/>
          <p:cNvSpPr>
            <a:spLocks noGrp="1"/>
          </p:cNvSpPr>
          <p:nvPr>
            <p:ph type="sldNum" sz="quarter" idx="10"/>
          </p:nvPr>
        </p:nvSpPr>
        <p:spPr/>
        <p:txBody>
          <a:bodyPr/>
          <a:p>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76" name=""/>
        <p:cNvGrpSpPr/>
        <p:nvPr/>
      </p:nvGrpSpPr>
      <p:grpSpPr>
        <a:xfrm>
          <a:off x="0" y="0"/>
          <a:ext cx="0" cy="0"/>
          <a:chOff x="0" y="0"/>
          <a:chExt cx="0" cy="0"/>
        </a:xfrm>
      </p:grpSpPr>
      <p:sp>
        <p:nvSpPr>
          <p:cNvPr id="1048725" name="Slide Image Placeholder 1"/>
          <p:cNvSpPr>
            <a:spLocks noChangeAspect="1" noRot="1" noGrp="1"/>
          </p:cNvSpPr>
          <p:nvPr>
            <p:ph type="sldImg"/>
          </p:nvPr>
        </p:nvSpPr>
        <p:spPr/>
      </p:sp>
      <p:sp>
        <p:nvSpPr>
          <p:cNvPr id="1048726" name="Notes Placeholder 2"/>
          <p:cNvSpPr>
            <a:spLocks noGrp="1"/>
          </p:cNvSpPr>
          <p:nvPr>
            <p:ph type="body" idx="1"/>
          </p:nvPr>
        </p:nvSpPr>
        <p:spPr/>
        <p:txBody>
          <a:bodyPr/>
          <a:p>
            <a:endParaRPr dirty="0" lang="en-US"/>
          </a:p>
        </p:txBody>
      </p:sp>
      <p:sp>
        <p:nvSpPr>
          <p:cNvPr id="1048727" name="Slide Number Placeholder 3"/>
          <p:cNvSpPr>
            <a:spLocks noGrp="1"/>
          </p:cNvSpPr>
          <p:nvPr>
            <p:ph type="sldNum" sz="quarter" idx="10"/>
          </p:nvPr>
        </p:nvSpPr>
        <p:spPr/>
        <p:txBody>
          <a:bodyPr/>
          <a:p>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79" name=""/>
        <p:cNvGrpSpPr/>
        <p:nvPr/>
      </p:nvGrpSpPr>
      <p:grpSpPr>
        <a:xfrm>
          <a:off x="0" y="0"/>
          <a:ext cx="0" cy="0"/>
          <a:chOff x="0" y="0"/>
          <a:chExt cx="0" cy="0"/>
        </a:xfrm>
      </p:grpSpPr>
      <p:sp>
        <p:nvSpPr>
          <p:cNvPr id="1048733" name="Slide Image Placeholder 1"/>
          <p:cNvSpPr>
            <a:spLocks noChangeAspect="1" noRot="1" noGrp="1"/>
          </p:cNvSpPr>
          <p:nvPr>
            <p:ph type="sldImg"/>
          </p:nvPr>
        </p:nvSpPr>
        <p:spPr/>
      </p:sp>
      <p:sp>
        <p:nvSpPr>
          <p:cNvPr id="1048734" name="Notes Placeholder 2"/>
          <p:cNvSpPr>
            <a:spLocks noGrp="1"/>
          </p:cNvSpPr>
          <p:nvPr>
            <p:ph type="body" idx="1"/>
          </p:nvPr>
        </p:nvSpPr>
        <p:spPr/>
        <p:txBody>
          <a:bodyPr/>
          <a:p>
            <a:endParaRPr dirty="0" lang="en-US"/>
          </a:p>
        </p:txBody>
      </p:sp>
      <p:sp>
        <p:nvSpPr>
          <p:cNvPr id="1048735" name="Slide Number Placeholder 3"/>
          <p:cNvSpPr>
            <a:spLocks noGrp="1"/>
          </p:cNvSpPr>
          <p:nvPr>
            <p:ph type="sldNum" sz="quarter" idx="10"/>
          </p:nvPr>
        </p:nvSpPr>
        <p:spPr/>
        <p:txBody>
          <a:bodyPr/>
          <a:p>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82" name=""/>
        <p:cNvGrpSpPr/>
        <p:nvPr/>
      </p:nvGrpSpPr>
      <p:grpSpPr>
        <a:xfrm>
          <a:off x="0" y="0"/>
          <a:ext cx="0" cy="0"/>
          <a:chOff x="0" y="0"/>
          <a:chExt cx="0" cy="0"/>
        </a:xfrm>
      </p:grpSpPr>
      <p:sp>
        <p:nvSpPr>
          <p:cNvPr id="1048763" name="Slide Image Placeholder 1"/>
          <p:cNvSpPr>
            <a:spLocks noChangeAspect="1" noRot="1" noGrp="1"/>
          </p:cNvSpPr>
          <p:nvPr>
            <p:ph type="sldImg"/>
          </p:nvPr>
        </p:nvSpPr>
        <p:spPr/>
      </p:sp>
      <p:sp>
        <p:nvSpPr>
          <p:cNvPr id="1048764" name="Notes Placeholder 2"/>
          <p:cNvSpPr>
            <a:spLocks noGrp="1"/>
          </p:cNvSpPr>
          <p:nvPr>
            <p:ph type="body" idx="1"/>
          </p:nvPr>
        </p:nvSpPr>
        <p:spPr/>
        <p:txBody>
          <a:bodyPr/>
          <a:p>
            <a:endParaRPr dirty="0" lang="en-US"/>
          </a:p>
        </p:txBody>
      </p:sp>
      <p:sp>
        <p:nvSpPr>
          <p:cNvPr id="1048765" name="Slide Number Placeholder 3"/>
          <p:cNvSpPr>
            <a:spLocks noGrp="1"/>
          </p:cNvSpPr>
          <p:nvPr>
            <p:ph type="sldNum" sz="quarter" idx="10"/>
          </p:nvPr>
        </p:nvSpPr>
        <p:spPr/>
        <p:txBody>
          <a:bodyPr/>
          <a:p>
            <a:fld id="{F7021451-1387-4CA6-816F-3879F97B5CBC}"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85" name=""/>
        <p:cNvGrpSpPr/>
        <p:nvPr/>
      </p:nvGrpSpPr>
      <p:grpSpPr>
        <a:xfrm>
          <a:off x="0" y="0"/>
          <a:ext cx="0" cy="0"/>
          <a:chOff x="0" y="0"/>
          <a:chExt cx="0" cy="0"/>
        </a:xfrm>
      </p:grpSpPr>
      <p:sp>
        <p:nvSpPr>
          <p:cNvPr id="1048771" name="Slide Image Placeholder 1"/>
          <p:cNvSpPr>
            <a:spLocks noChangeAspect="1" noRot="1" noGrp="1"/>
          </p:cNvSpPr>
          <p:nvPr>
            <p:ph type="sldImg"/>
          </p:nvPr>
        </p:nvSpPr>
        <p:spPr/>
      </p:sp>
      <p:sp>
        <p:nvSpPr>
          <p:cNvPr id="1048772" name="Notes Placeholder 2"/>
          <p:cNvSpPr>
            <a:spLocks noGrp="1"/>
          </p:cNvSpPr>
          <p:nvPr>
            <p:ph type="body" idx="1"/>
          </p:nvPr>
        </p:nvSpPr>
        <p:spPr/>
        <p:txBody>
          <a:bodyPr/>
          <a:p>
            <a:endParaRPr dirty="0" lang="en-US"/>
          </a:p>
        </p:txBody>
      </p:sp>
      <p:sp>
        <p:nvSpPr>
          <p:cNvPr id="1048773" name="Slide Number Placeholder 3"/>
          <p:cNvSpPr>
            <a:spLocks noGrp="1"/>
          </p:cNvSpPr>
          <p:nvPr>
            <p:ph type="sldNum" sz="quarter" idx="10"/>
          </p:nvPr>
        </p:nvSpPr>
        <p:spPr/>
        <p:txBody>
          <a:bodyPr/>
          <a:p>
            <a:fld id="{F7021451-1387-4CA6-816F-3879F97B5CBC}" type="slidenum">
              <a:rPr lang="en-US"/>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88" name=""/>
        <p:cNvGrpSpPr/>
        <p:nvPr/>
      </p:nvGrpSpPr>
      <p:grpSpPr>
        <a:xfrm>
          <a:off x="0" y="0"/>
          <a:ext cx="0" cy="0"/>
          <a:chOff x="0" y="0"/>
          <a:chExt cx="0" cy="0"/>
        </a:xfrm>
      </p:grpSpPr>
      <p:sp>
        <p:nvSpPr>
          <p:cNvPr id="1048779" name="Slide Image Placeholder 1"/>
          <p:cNvSpPr>
            <a:spLocks noChangeAspect="1" noRot="1" noGrp="1"/>
          </p:cNvSpPr>
          <p:nvPr>
            <p:ph type="sldImg"/>
          </p:nvPr>
        </p:nvSpPr>
        <p:spPr/>
      </p:sp>
      <p:sp>
        <p:nvSpPr>
          <p:cNvPr id="1048780" name="Notes Placeholder 2"/>
          <p:cNvSpPr>
            <a:spLocks noGrp="1"/>
          </p:cNvSpPr>
          <p:nvPr>
            <p:ph type="body" idx="1"/>
          </p:nvPr>
        </p:nvSpPr>
        <p:spPr/>
        <p:txBody>
          <a:bodyPr/>
          <a:p>
            <a:endParaRPr dirty="0" lang="en-US"/>
          </a:p>
        </p:txBody>
      </p:sp>
      <p:sp>
        <p:nvSpPr>
          <p:cNvPr id="1048781" name="Slide Number Placeholder 3"/>
          <p:cNvSpPr>
            <a:spLocks noGrp="1"/>
          </p:cNvSpPr>
          <p:nvPr>
            <p:ph type="sldNum" sz="quarter" idx="10"/>
          </p:nvPr>
        </p:nvSpPr>
        <p:spPr/>
        <p:txBody>
          <a:bodyPr/>
          <a:p>
            <a:fld id="{F7021451-1387-4CA6-816F-3879F97B5CBC}" type="slidenum">
              <a:rPr lang="en-US"/>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91" name=""/>
        <p:cNvGrpSpPr/>
        <p:nvPr/>
      </p:nvGrpSpPr>
      <p:grpSpPr>
        <a:xfrm>
          <a:off x="0" y="0"/>
          <a:ext cx="0" cy="0"/>
          <a:chOff x="0" y="0"/>
          <a:chExt cx="0" cy="0"/>
        </a:xfrm>
      </p:grpSpPr>
      <p:sp>
        <p:nvSpPr>
          <p:cNvPr id="1048789" name="Slide Image Placeholder 1"/>
          <p:cNvSpPr>
            <a:spLocks noChangeAspect="1" noRot="1" noGrp="1"/>
          </p:cNvSpPr>
          <p:nvPr>
            <p:ph type="sldImg"/>
          </p:nvPr>
        </p:nvSpPr>
        <p:spPr/>
      </p:sp>
      <p:sp>
        <p:nvSpPr>
          <p:cNvPr id="1048790" name="Notes Placeholder 2"/>
          <p:cNvSpPr>
            <a:spLocks noGrp="1"/>
          </p:cNvSpPr>
          <p:nvPr>
            <p:ph type="body" idx="1"/>
          </p:nvPr>
        </p:nvSpPr>
        <p:spPr/>
        <p:txBody>
          <a:bodyPr/>
          <a:p>
            <a:endParaRPr dirty="0" lang="en-US"/>
          </a:p>
        </p:txBody>
      </p:sp>
      <p:sp>
        <p:nvSpPr>
          <p:cNvPr id="1048791" name="Slide Number Placeholder 3"/>
          <p:cNvSpPr>
            <a:spLocks noGrp="1"/>
          </p:cNvSpPr>
          <p:nvPr>
            <p:ph type="sldNum" sz="quarter" idx="10"/>
          </p:nvPr>
        </p:nvSpPr>
        <p:spPr/>
        <p:txBody>
          <a:bodyPr/>
          <a:p>
            <a:fld id="{F7021451-1387-4CA6-816F-3879F97B5CBC}" type="slidenum">
              <a:rPr lang="en-US"/>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94" name=""/>
        <p:cNvGrpSpPr/>
        <p:nvPr/>
      </p:nvGrpSpPr>
      <p:grpSpPr>
        <a:xfrm>
          <a:off x="0" y="0"/>
          <a:ext cx="0" cy="0"/>
          <a:chOff x="0" y="0"/>
          <a:chExt cx="0" cy="0"/>
        </a:xfrm>
      </p:grpSpPr>
      <p:sp>
        <p:nvSpPr>
          <p:cNvPr id="1048799" name="Slide Image Placeholder 1"/>
          <p:cNvSpPr>
            <a:spLocks noChangeAspect="1" noRot="1" noGrp="1"/>
          </p:cNvSpPr>
          <p:nvPr>
            <p:ph type="sldImg"/>
          </p:nvPr>
        </p:nvSpPr>
        <p:spPr/>
      </p:sp>
      <p:sp>
        <p:nvSpPr>
          <p:cNvPr id="1048800" name="Notes Placeholder 2"/>
          <p:cNvSpPr>
            <a:spLocks noGrp="1"/>
          </p:cNvSpPr>
          <p:nvPr>
            <p:ph type="body" idx="1"/>
          </p:nvPr>
        </p:nvSpPr>
        <p:spPr/>
        <p:txBody>
          <a:bodyPr/>
          <a:p>
            <a:endParaRPr dirty="0" lang="en-US"/>
          </a:p>
        </p:txBody>
      </p:sp>
      <p:sp>
        <p:nvSpPr>
          <p:cNvPr id="1048801" name="Slide Number Placeholder 3"/>
          <p:cNvSpPr>
            <a:spLocks noGrp="1"/>
          </p:cNvSpPr>
          <p:nvPr>
            <p:ph type="sldNum" sz="quarter" idx="10"/>
          </p:nvPr>
        </p:nvSpPr>
        <p:spPr/>
        <p:txBody>
          <a:bodyPr/>
          <a:p>
            <a:fld id="{F7021451-1387-4CA6-816F-3879F97B5CBC}" type="slidenum">
              <a:rPr lang="en-US"/>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97" name=""/>
        <p:cNvGrpSpPr/>
        <p:nvPr/>
      </p:nvGrpSpPr>
      <p:grpSpPr>
        <a:xfrm>
          <a:off x="0" y="0"/>
          <a:ext cx="0" cy="0"/>
          <a:chOff x="0" y="0"/>
          <a:chExt cx="0" cy="0"/>
        </a:xfrm>
      </p:grpSpPr>
      <p:sp>
        <p:nvSpPr>
          <p:cNvPr id="1048807" name="Slide Image Placeholder 1"/>
          <p:cNvSpPr>
            <a:spLocks noChangeAspect="1" noRot="1" noGrp="1"/>
          </p:cNvSpPr>
          <p:nvPr>
            <p:ph type="sldImg"/>
          </p:nvPr>
        </p:nvSpPr>
        <p:spPr/>
      </p:sp>
      <p:sp>
        <p:nvSpPr>
          <p:cNvPr id="1048808" name="Notes Placeholder 2"/>
          <p:cNvSpPr>
            <a:spLocks noGrp="1"/>
          </p:cNvSpPr>
          <p:nvPr>
            <p:ph type="body" idx="1"/>
          </p:nvPr>
        </p:nvSpPr>
        <p:spPr/>
        <p:txBody>
          <a:bodyPr/>
          <a:p>
            <a:endParaRPr dirty="0" lang="en-US"/>
          </a:p>
        </p:txBody>
      </p:sp>
      <p:sp>
        <p:nvSpPr>
          <p:cNvPr id="1048809" name="Slide Number Placeholder 3"/>
          <p:cNvSpPr>
            <a:spLocks noGrp="1"/>
          </p:cNvSpPr>
          <p:nvPr>
            <p:ph type="sldNum" sz="quarter" idx="10"/>
          </p:nvPr>
        </p:nvSpPr>
        <p:spPr/>
        <p:txBody>
          <a:bodyPr/>
          <a:p>
            <a:fld id="{F7021451-1387-4CA6-816F-3879F97B5CBC}" type="slidenum">
              <a:rPr lang="en-US"/>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00" name=""/>
        <p:cNvGrpSpPr/>
        <p:nvPr/>
      </p:nvGrpSpPr>
      <p:grpSpPr>
        <a:xfrm>
          <a:off x="0" y="0"/>
          <a:ext cx="0" cy="0"/>
          <a:chOff x="0" y="0"/>
          <a:chExt cx="0" cy="0"/>
        </a:xfrm>
      </p:grpSpPr>
      <p:sp>
        <p:nvSpPr>
          <p:cNvPr id="1048814" name="Slide Image Placeholder 1"/>
          <p:cNvSpPr>
            <a:spLocks noChangeAspect="1" noRot="1" noGrp="1"/>
          </p:cNvSpPr>
          <p:nvPr>
            <p:ph type="sldImg"/>
          </p:nvPr>
        </p:nvSpPr>
        <p:spPr/>
      </p:sp>
      <p:sp>
        <p:nvSpPr>
          <p:cNvPr id="1048815" name="Notes Placeholder 2"/>
          <p:cNvSpPr>
            <a:spLocks noGrp="1"/>
          </p:cNvSpPr>
          <p:nvPr>
            <p:ph type="body" idx="1"/>
          </p:nvPr>
        </p:nvSpPr>
        <p:spPr/>
        <p:txBody>
          <a:bodyPr/>
          <a:p>
            <a:endParaRPr dirty="0" lang="en-US"/>
          </a:p>
        </p:txBody>
      </p:sp>
      <p:sp>
        <p:nvSpPr>
          <p:cNvPr id="1048816" name="Slide Number Placeholder 3"/>
          <p:cNvSpPr>
            <a:spLocks noGrp="1"/>
          </p:cNvSpPr>
          <p:nvPr>
            <p:ph type="sldNum" sz="quarter" idx="10"/>
          </p:nvPr>
        </p:nvSpPr>
        <p:spPr/>
        <p:txBody>
          <a:bodyPr/>
          <a:p>
            <a:fld id="{F7021451-1387-4CA6-816F-3879F97B5CBC}" type="slidenum">
              <a:rPr lang="en-US"/>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03" name=""/>
        <p:cNvGrpSpPr/>
        <p:nvPr/>
      </p:nvGrpSpPr>
      <p:grpSpPr>
        <a:xfrm>
          <a:off x="0" y="0"/>
          <a:ext cx="0" cy="0"/>
          <a:chOff x="0" y="0"/>
          <a:chExt cx="0" cy="0"/>
        </a:xfrm>
      </p:grpSpPr>
      <p:sp>
        <p:nvSpPr>
          <p:cNvPr id="1048822" name="Slide Image Placeholder 1"/>
          <p:cNvSpPr>
            <a:spLocks noChangeAspect="1" noRot="1" noGrp="1"/>
          </p:cNvSpPr>
          <p:nvPr>
            <p:ph type="sldImg"/>
          </p:nvPr>
        </p:nvSpPr>
        <p:spPr/>
      </p:sp>
      <p:sp>
        <p:nvSpPr>
          <p:cNvPr id="1048823" name="Notes Placeholder 2"/>
          <p:cNvSpPr>
            <a:spLocks noGrp="1"/>
          </p:cNvSpPr>
          <p:nvPr>
            <p:ph type="body" idx="1"/>
          </p:nvPr>
        </p:nvSpPr>
        <p:spPr/>
        <p:txBody>
          <a:bodyPr/>
          <a:p>
            <a:endParaRPr dirty="0" lang="en-US"/>
          </a:p>
        </p:txBody>
      </p:sp>
      <p:sp>
        <p:nvSpPr>
          <p:cNvPr id="1048824" name="Slide Number Placeholder 3"/>
          <p:cNvSpPr>
            <a:spLocks noGrp="1"/>
          </p:cNvSpPr>
          <p:nvPr>
            <p:ph type="sldNum" sz="quarter" idx="10"/>
          </p:nvPr>
        </p:nvSpPr>
        <p:spPr/>
        <p:txBody>
          <a:bodyPr/>
          <a:p>
            <a:fld id="{F7021451-1387-4CA6-816F-3879F97B5CBC}" type="slidenum">
              <a:rPr lang="en-US"/>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06" name=""/>
        <p:cNvGrpSpPr/>
        <p:nvPr/>
      </p:nvGrpSpPr>
      <p:grpSpPr>
        <a:xfrm>
          <a:off x="0" y="0"/>
          <a:ext cx="0" cy="0"/>
          <a:chOff x="0" y="0"/>
          <a:chExt cx="0" cy="0"/>
        </a:xfrm>
      </p:grpSpPr>
      <p:sp>
        <p:nvSpPr>
          <p:cNvPr id="1048830" name="Slide Image Placeholder 1"/>
          <p:cNvSpPr>
            <a:spLocks noChangeAspect="1" noRot="1" noGrp="1"/>
          </p:cNvSpPr>
          <p:nvPr>
            <p:ph type="sldImg"/>
          </p:nvPr>
        </p:nvSpPr>
        <p:spPr/>
      </p:sp>
      <p:sp>
        <p:nvSpPr>
          <p:cNvPr id="1048831" name="Notes Placeholder 2"/>
          <p:cNvSpPr>
            <a:spLocks noGrp="1"/>
          </p:cNvSpPr>
          <p:nvPr>
            <p:ph type="body" idx="1"/>
          </p:nvPr>
        </p:nvSpPr>
        <p:spPr/>
        <p:txBody>
          <a:bodyPr/>
          <a:p>
            <a:endParaRPr dirty="0" lang="en-US"/>
          </a:p>
        </p:txBody>
      </p:sp>
      <p:sp>
        <p:nvSpPr>
          <p:cNvPr id="1048832" name="Slide Number Placeholder 3"/>
          <p:cNvSpPr>
            <a:spLocks noGrp="1"/>
          </p:cNvSpPr>
          <p:nvPr>
            <p:ph type="sldNum" sz="quarter" idx="10"/>
          </p:nvPr>
        </p:nvSpPr>
        <p:spPr/>
        <p:txBody>
          <a:bodyPr/>
          <a:p>
            <a:fld id="{F7021451-1387-4CA6-816F-3879F97B5CBC}" type="slidenum">
              <a:rPr lang="en-US"/>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09" name=""/>
        <p:cNvGrpSpPr/>
        <p:nvPr/>
      </p:nvGrpSpPr>
      <p:grpSpPr>
        <a:xfrm>
          <a:off x="0" y="0"/>
          <a:ext cx="0" cy="0"/>
          <a:chOff x="0" y="0"/>
          <a:chExt cx="0" cy="0"/>
        </a:xfrm>
      </p:grpSpPr>
      <p:sp>
        <p:nvSpPr>
          <p:cNvPr id="1048838" name="Slide Image Placeholder 1"/>
          <p:cNvSpPr>
            <a:spLocks noChangeAspect="1" noRot="1" noGrp="1"/>
          </p:cNvSpPr>
          <p:nvPr>
            <p:ph type="sldImg"/>
          </p:nvPr>
        </p:nvSpPr>
        <p:spPr/>
      </p:sp>
      <p:sp>
        <p:nvSpPr>
          <p:cNvPr id="1048839" name="Notes Placeholder 2"/>
          <p:cNvSpPr>
            <a:spLocks noGrp="1"/>
          </p:cNvSpPr>
          <p:nvPr>
            <p:ph type="body" idx="1"/>
          </p:nvPr>
        </p:nvSpPr>
        <p:spPr/>
        <p:txBody>
          <a:bodyPr/>
          <a:p>
            <a:endParaRPr dirty="0" lang="en-US"/>
          </a:p>
        </p:txBody>
      </p:sp>
      <p:sp>
        <p:nvSpPr>
          <p:cNvPr id="1048840" name="Slide Number Placeholder 3"/>
          <p:cNvSpPr>
            <a:spLocks noGrp="1"/>
          </p:cNvSpPr>
          <p:nvPr>
            <p:ph type="sldNum" sz="quarter" idx="10"/>
          </p:nvPr>
        </p:nvSpPr>
        <p:spPr/>
        <p:txBody>
          <a:bodyPr/>
          <a:p>
            <a:fld id="{F7021451-1387-4CA6-816F-3879F97B5CBC}" type="slidenum">
              <a:rPr lang="en-US"/>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12" name=""/>
        <p:cNvGrpSpPr/>
        <p:nvPr/>
      </p:nvGrpSpPr>
      <p:grpSpPr>
        <a:xfrm>
          <a:off x="0" y="0"/>
          <a:ext cx="0" cy="0"/>
          <a:chOff x="0" y="0"/>
          <a:chExt cx="0" cy="0"/>
        </a:xfrm>
      </p:grpSpPr>
      <p:sp>
        <p:nvSpPr>
          <p:cNvPr id="1048846" name="Slide Image Placeholder 1"/>
          <p:cNvSpPr>
            <a:spLocks noChangeAspect="1" noRot="1" noGrp="1"/>
          </p:cNvSpPr>
          <p:nvPr>
            <p:ph type="sldImg"/>
          </p:nvPr>
        </p:nvSpPr>
        <p:spPr/>
      </p:sp>
      <p:sp>
        <p:nvSpPr>
          <p:cNvPr id="1048847" name="Notes Placeholder 2"/>
          <p:cNvSpPr>
            <a:spLocks noGrp="1"/>
          </p:cNvSpPr>
          <p:nvPr>
            <p:ph type="body" idx="1"/>
          </p:nvPr>
        </p:nvSpPr>
        <p:spPr/>
        <p:txBody>
          <a:bodyPr/>
          <a:p>
            <a:endParaRPr dirty="0" lang="en-US"/>
          </a:p>
        </p:txBody>
      </p:sp>
      <p:sp>
        <p:nvSpPr>
          <p:cNvPr id="1048848" name="Slide Number Placeholder 3"/>
          <p:cNvSpPr>
            <a:spLocks noGrp="1"/>
          </p:cNvSpPr>
          <p:nvPr>
            <p:ph type="sldNum" sz="quarter" idx="10"/>
          </p:nvPr>
        </p:nvSpPr>
        <p:spPr/>
        <p:txBody>
          <a:bodyPr/>
          <a:p>
            <a:fld id="{F7021451-1387-4CA6-816F-3879F97B5CBC}" type="slidenum">
              <a:rPr lang="en-US"/>
              <a:t>26</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15" name=""/>
        <p:cNvGrpSpPr/>
        <p:nvPr/>
      </p:nvGrpSpPr>
      <p:grpSpPr>
        <a:xfrm>
          <a:off x="0" y="0"/>
          <a:ext cx="0" cy="0"/>
          <a:chOff x="0" y="0"/>
          <a:chExt cx="0" cy="0"/>
        </a:xfrm>
      </p:grpSpPr>
      <p:sp>
        <p:nvSpPr>
          <p:cNvPr id="1048854" name="Slide Image Placeholder 1"/>
          <p:cNvSpPr>
            <a:spLocks noChangeAspect="1" noRot="1" noGrp="1"/>
          </p:cNvSpPr>
          <p:nvPr>
            <p:ph type="sldImg"/>
          </p:nvPr>
        </p:nvSpPr>
        <p:spPr/>
      </p:sp>
      <p:sp>
        <p:nvSpPr>
          <p:cNvPr id="1048855" name="Notes Placeholder 2"/>
          <p:cNvSpPr>
            <a:spLocks noGrp="1"/>
          </p:cNvSpPr>
          <p:nvPr>
            <p:ph type="body" idx="1"/>
          </p:nvPr>
        </p:nvSpPr>
        <p:spPr/>
        <p:txBody>
          <a:bodyPr/>
          <a:p>
            <a:endParaRPr dirty="0" lang="en-US"/>
          </a:p>
        </p:txBody>
      </p:sp>
      <p:sp>
        <p:nvSpPr>
          <p:cNvPr id="1048856" name="Slide Number Placeholder 3"/>
          <p:cNvSpPr>
            <a:spLocks noGrp="1"/>
          </p:cNvSpPr>
          <p:nvPr>
            <p:ph type="sldNum" sz="quarter" idx="10"/>
          </p:nvPr>
        </p:nvSpPr>
        <p:spPr/>
        <p:txBody>
          <a:bodyPr/>
          <a:p>
            <a:fld id="{F7021451-1387-4CA6-816F-3879F97B5CBC}" type="slidenum">
              <a:rPr lang="en-US"/>
              <a:t>27</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18" name=""/>
        <p:cNvGrpSpPr/>
        <p:nvPr/>
      </p:nvGrpSpPr>
      <p:grpSpPr>
        <a:xfrm>
          <a:off x="0" y="0"/>
          <a:ext cx="0" cy="0"/>
          <a:chOff x="0" y="0"/>
          <a:chExt cx="0" cy="0"/>
        </a:xfrm>
      </p:grpSpPr>
      <p:sp>
        <p:nvSpPr>
          <p:cNvPr id="1048881" name="Slide Image Placeholder 1"/>
          <p:cNvSpPr>
            <a:spLocks noChangeAspect="1" noRot="1" noGrp="1"/>
          </p:cNvSpPr>
          <p:nvPr>
            <p:ph type="sldImg"/>
          </p:nvPr>
        </p:nvSpPr>
        <p:spPr/>
      </p:sp>
      <p:sp>
        <p:nvSpPr>
          <p:cNvPr id="1048882" name="Notes Placeholder 2"/>
          <p:cNvSpPr>
            <a:spLocks noGrp="1"/>
          </p:cNvSpPr>
          <p:nvPr>
            <p:ph type="body" idx="1"/>
          </p:nvPr>
        </p:nvSpPr>
        <p:spPr/>
        <p:txBody>
          <a:bodyPr/>
          <a:p>
            <a:endParaRPr dirty="0" lang="en-US"/>
          </a:p>
        </p:txBody>
      </p:sp>
      <p:sp>
        <p:nvSpPr>
          <p:cNvPr id="1048883" name="Slide Number Placeholder 3"/>
          <p:cNvSpPr>
            <a:spLocks noGrp="1"/>
          </p:cNvSpPr>
          <p:nvPr>
            <p:ph type="sldNum" sz="quarter" idx="10"/>
          </p:nvPr>
        </p:nvSpPr>
        <p:spPr/>
        <p:txBody>
          <a:bodyPr/>
          <a:p>
            <a:fld id="{F7021451-1387-4CA6-816F-3879F97B5CBC}" type="slidenum">
              <a:rPr lang="en-US"/>
              <a:t>28</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21" name=""/>
        <p:cNvGrpSpPr/>
        <p:nvPr/>
      </p:nvGrpSpPr>
      <p:grpSpPr>
        <a:xfrm>
          <a:off x="0" y="0"/>
          <a:ext cx="0" cy="0"/>
          <a:chOff x="0" y="0"/>
          <a:chExt cx="0" cy="0"/>
        </a:xfrm>
      </p:grpSpPr>
      <p:sp>
        <p:nvSpPr>
          <p:cNvPr id="1048890" name="Slide Image Placeholder 1"/>
          <p:cNvSpPr>
            <a:spLocks noChangeAspect="1" noRot="1" noGrp="1"/>
          </p:cNvSpPr>
          <p:nvPr>
            <p:ph type="sldImg"/>
          </p:nvPr>
        </p:nvSpPr>
        <p:spPr/>
      </p:sp>
      <p:sp>
        <p:nvSpPr>
          <p:cNvPr id="1048891" name="Notes Placeholder 2"/>
          <p:cNvSpPr>
            <a:spLocks noGrp="1"/>
          </p:cNvSpPr>
          <p:nvPr>
            <p:ph type="body" idx="1"/>
          </p:nvPr>
        </p:nvSpPr>
        <p:spPr/>
        <p:txBody>
          <a:bodyPr/>
          <a:p>
            <a:endParaRPr dirty="0" lang="en-US"/>
          </a:p>
        </p:txBody>
      </p:sp>
      <p:sp>
        <p:nvSpPr>
          <p:cNvPr id="1048892" name="Slide Number Placeholder 3"/>
          <p:cNvSpPr>
            <a:spLocks noGrp="1"/>
          </p:cNvSpPr>
          <p:nvPr>
            <p:ph type="sldNum" sz="quarter" idx="10"/>
          </p:nvPr>
        </p:nvSpPr>
        <p:spPr/>
        <p:txBody>
          <a:bodyPr/>
          <a:p>
            <a:fld id="{F7021451-1387-4CA6-816F-3879F97B5CBC}" type="slidenum">
              <a:rPr lang="en-US"/>
              <a:t>29</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24" name=""/>
        <p:cNvGrpSpPr/>
        <p:nvPr/>
      </p:nvGrpSpPr>
      <p:grpSpPr>
        <a:xfrm>
          <a:off x="0" y="0"/>
          <a:ext cx="0" cy="0"/>
          <a:chOff x="0" y="0"/>
          <a:chExt cx="0" cy="0"/>
        </a:xfrm>
      </p:grpSpPr>
      <p:sp>
        <p:nvSpPr>
          <p:cNvPr id="1048901" name="Slide Image Placeholder 1"/>
          <p:cNvSpPr>
            <a:spLocks noChangeAspect="1" noRot="1" noGrp="1"/>
          </p:cNvSpPr>
          <p:nvPr>
            <p:ph type="sldImg"/>
          </p:nvPr>
        </p:nvSpPr>
        <p:spPr/>
      </p:sp>
      <p:sp>
        <p:nvSpPr>
          <p:cNvPr id="1048902" name="Notes Placeholder 2"/>
          <p:cNvSpPr>
            <a:spLocks noGrp="1"/>
          </p:cNvSpPr>
          <p:nvPr>
            <p:ph type="body" idx="1"/>
          </p:nvPr>
        </p:nvSpPr>
        <p:spPr/>
        <p:txBody>
          <a:bodyPr/>
          <a:p>
            <a:endParaRPr dirty="0" lang="en-US"/>
          </a:p>
        </p:txBody>
      </p:sp>
      <p:sp>
        <p:nvSpPr>
          <p:cNvPr id="1048903" name="Slide Number Placeholder 3"/>
          <p:cNvSpPr>
            <a:spLocks noGrp="1"/>
          </p:cNvSpPr>
          <p:nvPr>
            <p:ph type="sldNum" sz="quarter" idx="10"/>
          </p:nvPr>
        </p:nvSpPr>
        <p:spPr/>
        <p:txBody>
          <a:bodyPr/>
          <a:p>
            <a:fld id="{F7021451-1387-4CA6-816F-3879F97B5CBC}" type="slidenum">
              <a:rPr lang="en-US"/>
              <a:t>30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4"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2" name=""/>
        <p:cNvGrpSpPr/>
        <p:nvPr/>
      </p:nvGrpSpPr>
      <p:grpSpPr>
        <a:xfrm>
          <a:off x="0" y="0"/>
          <a:ext cx="0" cy="0"/>
          <a:chOff x="0" y="0"/>
          <a:chExt cx="0" cy="0"/>
        </a:xfrm>
      </p:grpSpPr>
    </p:spTree>
  </p:cSld>
  <p:clrMap accent1="accent1" accent2="accent2" accent3="accent3" accent4="accent4" accent5="accent5" accent6="accent6" bg1="lt1" bg2="lt2" tx1="dk1" tx2="dk2" hlink="hlink" folHlink="folHlink"/>
  <p:sldLayoutIdLst>
    <p:sldLayoutId id="2147483649" r:id="rId1"/>
  </p:sldLayoutIdLst>
  <p:hf dt="0" ftr="0" hdr="0" sldNum="0"/>
  <p:txStyles>
    <p:titleStyle>
      <a:lvl1pPr algn="ctr" defTabSz="914400" eaLnBrk="1" hangingPunct="1" latinLnBrk="0" rtl="0">
        <a:spcBef>
          <a:spcPct val="0"/>
        </a:spcBef>
        <a:buNone/>
        <a:defRPr sz="4400" kern="1200">
          <a:solidFill>
            <a:schemeClr val="tx1"/>
          </a:solidFill>
          <a:latin typeface="+mj-lt"/>
          <a:ea typeface="+mj-ea"/>
          <a:cs typeface="+mj-cs"/>
        </a:defRPr>
      </a:lvl1pPr>
    </p:titleStyle>
    <p:bodyStyle>
      <a:lvl1pPr algn="l" defTabSz="914400" eaLnBrk="1" hangingPunct="1" indent="-342900" latinLnBrk="0" marL="342900" rtl="0">
        <a:spcBef>
          <a:spcPct val="20000"/>
        </a:spcBef>
        <a:buFont typeface="Arial" pitchFamily="34" charset="0"/>
        <a:buChar char="•"/>
        <a:defRPr sz="3200" kern="1200">
          <a:solidFill>
            <a:schemeClr val="tx1"/>
          </a:solidFill>
          <a:latin typeface="+mn-lt"/>
          <a:ea typeface="+mn-ea"/>
          <a:cs typeface="+mn-cs"/>
        </a:defRPr>
      </a:lvl1pPr>
      <a:lvl2pPr algn="l" defTabSz="914400" eaLnBrk="1" hangingPunct="1" indent="-285750" latinLnBrk="0" marL="742950" rtl="0">
        <a:spcBef>
          <a:spcPct val="20000"/>
        </a:spcBef>
        <a:buFont typeface="Arial" pitchFamily="34" charset="0"/>
        <a:buChar char="–"/>
        <a:defRPr sz="2800" kern="1200">
          <a:solidFill>
            <a:schemeClr val="tx1"/>
          </a:solidFill>
          <a:latin typeface="+mn-lt"/>
          <a:ea typeface="+mn-ea"/>
          <a:cs typeface="+mn-cs"/>
        </a:defRPr>
      </a:lvl2pPr>
      <a:lvl3pPr algn="l" defTabSz="914400" eaLnBrk="1" hangingPunct="1" indent="-228600" latinLnBrk="0" marL="1143000" rtl="0">
        <a:spcBef>
          <a:spcPct val="20000"/>
        </a:spcBef>
        <a:buFont typeface="Arial" pitchFamily="34" charset="0"/>
        <a:buChar char="•"/>
        <a:defRPr sz="2400" kern="1200">
          <a:solidFill>
            <a:schemeClr val="tx1"/>
          </a:solidFill>
          <a:latin typeface="+mn-lt"/>
          <a:ea typeface="+mn-ea"/>
          <a:cs typeface="+mn-cs"/>
        </a:defRPr>
      </a:lvl3pPr>
      <a:lvl4pPr algn="l" defTabSz="914400" eaLnBrk="1" hangingPunct="1" indent="-228600" latinLnBrk="0" marL="1600200" rtl="0">
        <a:spcBef>
          <a:spcPct val="20000"/>
        </a:spcBef>
        <a:buFont typeface="Arial" pitchFamily="34" charset="0"/>
        <a:buChar char="–"/>
        <a:defRPr sz="2000" kern="1200">
          <a:solidFill>
            <a:schemeClr val="tx1"/>
          </a:solidFill>
          <a:latin typeface="+mn-lt"/>
          <a:ea typeface="+mn-ea"/>
          <a:cs typeface="+mn-cs"/>
        </a:defRPr>
      </a:lvl4pPr>
      <a:lvl5pPr algn="l" defTabSz="914400" eaLnBrk="1" hangingPunct="1" indent="-228600" latinLnBrk="0" marL="2057400" rtl="0">
        <a:spcBef>
          <a:spcPct val="20000"/>
        </a:spcBef>
        <a:buFont typeface="Arial" pitchFamily="34" charset="0"/>
        <a:buChar char="»"/>
        <a:defRPr sz="2000" kern="1200">
          <a:solidFill>
            <a:schemeClr val="tx1"/>
          </a:solidFill>
          <a:latin typeface="+mn-lt"/>
          <a:ea typeface="+mn-ea"/>
          <a:cs typeface="+mn-cs"/>
        </a:defRPr>
      </a:lvl5pPr>
      <a:lvl6pPr algn="l" defTabSz="914400" eaLnBrk="1" hangingPunct="1" indent="-228600" latinLnBrk="0" marL="2514600" rtl="0">
        <a:spcBef>
          <a:spcPct val="20000"/>
        </a:spcBef>
        <a:buFont typeface="Arial" pitchFamily="34" charset="0"/>
        <a:buChar char="•"/>
        <a:defRPr sz="2000" kern="1200">
          <a:solidFill>
            <a:schemeClr val="tx1"/>
          </a:solidFill>
          <a:latin typeface="+mn-lt"/>
          <a:ea typeface="+mn-ea"/>
          <a:cs typeface="+mn-cs"/>
        </a:defRPr>
      </a:lvl6pPr>
      <a:lvl7pPr algn="l" defTabSz="914400" eaLnBrk="1" hangingPunct="1" indent="-228600" latinLnBrk="0" marL="2971800" rtl="0">
        <a:spcBef>
          <a:spcPct val="20000"/>
        </a:spcBef>
        <a:buFont typeface="Arial" pitchFamily="34" charset="0"/>
        <a:buChar char="•"/>
        <a:defRPr sz="2000" kern="1200">
          <a:solidFill>
            <a:schemeClr val="tx1"/>
          </a:solidFill>
          <a:latin typeface="+mn-lt"/>
          <a:ea typeface="+mn-ea"/>
          <a:cs typeface="+mn-cs"/>
        </a:defRPr>
      </a:lvl7pPr>
      <a:lvl8pPr algn="l" defTabSz="914400" eaLnBrk="1" hangingPunct="1" indent="-228600" latinLnBrk="0" marL="3429000" rtl="0">
        <a:spcBef>
          <a:spcPct val="20000"/>
        </a:spcBef>
        <a:buFont typeface="Arial" pitchFamily="34" charset="0"/>
        <a:buChar char="•"/>
        <a:defRPr sz="2000" kern="1200">
          <a:solidFill>
            <a:schemeClr val="tx1"/>
          </a:solidFill>
          <a:latin typeface="+mn-lt"/>
          <a:ea typeface="+mn-ea"/>
          <a:cs typeface="+mn-cs"/>
        </a:defRPr>
      </a:lvl8pPr>
      <a:lvl9pPr algn="l" defTabSz="914400" eaLnBrk="1" hangingPunct="1" indent="-228600" latinLnBrk="0" marL="3886200" rtl="0">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942"/>
        </a:solidFill>
        <a:effectLst/>
      </p:bgPr>
    </p:bg>
    <p:spTree>
      <p:nvGrpSpPr>
        <p:cNvPr id="15" name=""/>
        <p:cNvGrpSpPr/>
        <p:nvPr/>
      </p:nvGrpSpPr>
      <p:grpSpPr>
        <a:xfrm>
          <a:off x="0" y="0"/>
          <a:ext cx="0" cy="0"/>
          <a:chOff x="0" y="0"/>
          <a:chExt cx="0" cy="0"/>
        </a:xfrm>
      </p:grpSpPr>
      <p:sp>
        <p:nvSpPr>
          <p:cNvPr id="1048576" name="Shape 0"/>
          <p:cNvSpPr/>
          <p:nvPr/>
        </p:nvSpPr>
        <p:spPr>
          <a:xfrm>
            <a:off x="0" y="0"/>
            <a:ext cx="4206240" cy="6858000"/>
          </a:xfrm>
          <a:prstGeom prst="rect"/>
          <a:solidFill>
            <a:srgbClr val="0A1D30"/>
          </a:solidFill>
        </p:spPr>
      </p:sp>
      <p:sp>
        <p:nvSpPr>
          <p:cNvPr id="1048577" name="Text 1"/>
          <p:cNvSpPr/>
          <p:nvPr/>
        </p:nvSpPr>
        <p:spPr>
          <a:xfrm>
            <a:off x="640080" y="2743200"/>
            <a:ext cx="3017520" cy="457200"/>
          </a:xfrm>
          <a:prstGeom prst="rect"/>
          <a:noFill/>
        </p:spPr>
        <p:txBody>
          <a:bodyPr anchor="ctr" bIns="0" lIns="0" rIns="0" rtlCol="0" tIns="0" wrap="square"/>
          <a:p>
            <a:pPr indent="0" marL="0">
              <a:buNone/>
            </a:pPr>
            <a:r>
              <a:rPr b="1" dirty="0" sz="1600" lang="en-US">
                <a:solidFill>
                  <a:srgbClr val="00B8A9"/>
                </a:solidFill>
                <a:latin typeface="Calibri" pitchFamily="34" charset="0"/>
                <a:ea typeface="Calibri" pitchFamily="34" charset="-122"/>
                <a:cs typeface="Calibri" pitchFamily="34" charset="-120"/>
              </a:rPr>
              <a:t>LECTURE 04</a:t>
            </a:r>
            <a:endParaRPr dirty="0" sz="1600" lang="en-US"/>
          </a:p>
        </p:txBody>
      </p:sp>
      <p:sp>
        <p:nvSpPr>
          <p:cNvPr id="1048578" name="Text 2"/>
          <p:cNvSpPr/>
          <p:nvPr/>
        </p:nvSpPr>
        <p:spPr>
          <a:xfrm>
            <a:off x="457200" y="3108960"/>
            <a:ext cx="3291840" cy="2011680"/>
          </a:xfrm>
          <a:prstGeom prst="rect"/>
          <a:noFill/>
        </p:spPr>
        <p:txBody>
          <a:bodyPr anchor="ctr" bIns="0" lIns="0" rIns="0" rtlCol="0" tIns="0" wrap="square"/>
          <a:p>
            <a:pPr indent="0" marL="0">
              <a:buNone/>
            </a:pPr>
            <a:r>
              <a:rPr b="1" dirty="0" sz="10000" lang="en-US">
                <a:solidFill>
                  <a:srgbClr val="1C3A55"/>
                </a:solidFill>
                <a:latin typeface="Calibri" pitchFamily="34" charset="0"/>
                <a:ea typeface="Calibri" pitchFamily="34" charset="-122"/>
                <a:cs typeface="Calibri" pitchFamily="34" charset="-120"/>
              </a:rPr>
              <a:t>04</a:t>
            </a:r>
            <a:endParaRPr dirty="0" sz="10000" lang="en-US"/>
          </a:p>
        </p:txBody>
      </p:sp>
      <p:sp>
        <p:nvSpPr>
          <p:cNvPr id="1048579" name="Text 3"/>
          <p:cNvSpPr/>
          <p:nvPr/>
        </p:nvSpPr>
        <p:spPr>
          <a:xfrm>
            <a:off x="4663440" y="2423160"/>
            <a:ext cx="6949440" cy="1463040"/>
          </a:xfrm>
          <a:prstGeom prst="rect"/>
          <a:noFill/>
        </p:spPr>
        <p:txBody>
          <a:bodyPr anchor="t" bIns="0" lIns="0" rIns="0" rtlCol="0" tIns="0" wrap="square"/>
          <a:p>
            <a:pPr indent="0" marL="0">
              <a:buNone/>
            </a:pPr>
            <a:r>
              <a:rPr b="1" dirty="0" sz="3400" lang="en-US">
                <a:solidFill>
                  <a:srgbClr val="FFFFFF"/>
                </a:solidFill>
                <a:latin typeface="Calibri" pitchFamily="34" charset="0"/>
                <a:ea typeface="Calibri" pitchFamily="34" charset="-122"/>
                <a:cs typeface="Calibri" pitchFamily="34" charset="-120"/>
              </a:rPr>
              <a:t>Queueing Theory Fundamentals</a:t>
            </a:r>
            <a:endParaRPr dirty="0" sz="3400" lang="en-US"/>
          </a:p>
        </p:txBody>
      </p:sp>
      <p:sp>
        <p:nvSpPr>
          <p:cNvPr id="1048580" name="Text 4"/>
          <p:cNvSpPr/>
          <p:nvPr/>
        </p:nvSpPr>
        <p:spPr>
          <a:xfrm>
            <a:off x="4709160" y="3977639"/>
            <a:ext cx="6766560" cy="1611397"/>
          </a:xfrm>
          <a:prstGeom prst="rect"/>
          <a:noFill/>
        </p:spPr>
        <p:txBody>
          <a:bodyPr anchor="t" bIns="0" lIns="0" rIns="0" rtlCol="0" tIns="0" wrap="square"/>
          <a:p>
            <a:pPr indent="0" marL="0">
              <a:lnSpc>
                <a:spcPct val="130000"/>
              </a:lnSpc>
              <a:buNone/>
            </a:pPr>
            <a:r>
              <a:rPr dirty="0" sz="2400" lang="en-US">
                <a:solidFill>
                  <a:srgbClr val="C7D0D9"/>
                </a:solidFill>
                <a:latin typeface="Calibri" pitchFamily="34" charset="0"/>
                <a:ea typeface="Calibri" pitchFamily="34" charset="-122"/>
                <a:cs typeface="Calibri" pitchFamily="34" charset="-120"/>
              </a:rPr>
              <a:t>Kendall notation, the birth-death process, and Little's Law — the mathematical core that every queueing model in this course builds upon.</a:t>
            </a:r>
            <a:endParaRPr dirty="0" sz="2400"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38" name=""/>
        <p:cNvGrpSpPr/>
        <p:nvPr/>
      </p:nvGrpSpPr>
      <p:grpSpPr>
        <a:xfrm>
          <a:off x="0" y="0"/>
          <a:ext cx="0" cy="0"/>
          <a:chOff x="0" y="0"/>
          <a:chExt cx="0" cy="0"/>
        </a:xfrm>
      </p:grpSpPr>
      <p:sp>
        <p:nvSpPr>
          <p:cNvPr id="1048584" name="Text 0"/>
          <p:cNvSpPr/>
          <p:nvPr/>
        </p:nvSpPr>
        <p:spPr>
          <a:xfrm>
            <a:off x="548640" y="411480"/>
            <a:ext cx="5486400" cy="640080"/>
          </a:xfrm>
          <a:prstGeom prst="rect"/>
          <a:noFill/>
        </p:spPr>
        <p:txBody>
          <a:bodyPr anchor="ctr" bIns="0" lIns="0" rIns="0" rtlCol="0" tIns="0" wrap="square"/>
          <a:p>
            <a:pPr indent="0" marL="0">
              <a:buNone/>
            </a:pPr>
            <a:r>
              <a:rPr b="1" dirty="0" sz="3000" lang="en-US">
                <a:solidFill>
                  <a:srgbClr val="0F2942"/>
                </a:solidFill>
                <a:latin typeface="Calibri" pitchFamily="34" charset="0"/>
                <a:ea typeface="Calibri" pitchFamily="34" charset="-122"/>
                <a:cs typeface="Calibri" pitchFamily="34" charset="-120"/>
              </a:rPr>
              <a:t>Agenda</a:t>
            </a:r>
            <a:endParaRPr dirty="0" sz="3000" lang="en-US"/>
          </a:p>
        </p:txBody>
      </p:sp>
      <p:sp>
        <p:nvSpPr>
          <p:cNvPr id="1048585" name="Shape 1"/>
          <p:cNvSpPr/>
          <p:nvPr/>
        </p:nvSpPr>
        <p:spPr>
          <a:xfrm>
            <a:off x="566928" y="1097280"/>
            <a:ext cx="457200" cy="54864"/>
          </a:xfrm>
          <a:prstGeom prst="rect"/>
          <a:solidFill>
            <a:srgbClr val="00B8A9"/>
          </a:solidFill>
        </p:spPr>
      </p:sp>
      <p:sp>
        <p:nvSpPr>
          <p:cNvPr id="1048586" name="Shape 2"/>
          <p:cNvSpPr/>
          <p:nvPr/>
        </p:nvSpPr>
        <p:spPr>
          <a:xfrm>
            <a:off x="640080" y="1508760"/>
            <a:ext cx="457200" cy="457200"/>
          </a:xfrm>
          <a:prstGeom prst="roundRect">
            <a:avLst>
              <a:gd name="adj" fmla="val 16000"/>
            </a:avLst>
          </a:prstGeom>
          <a:solidFill>
            <a:srgbClr val="EAF6F5"/>
          </a:solidFill>
        </p:spPr>
      </p:sp>
      <p:sp>
        <p:nvSpPr>
          <p:cNvPr id="1048587" name="Text 3"/>
          <p:cNvSpPr/>
          <p:nvPr/>
        </p:nvSpPr>
        <p:spPr>
          <a:xfrm>
            <a:off x="640080" y="1508760"/>
            <a:ext cx="457200" cy="457200"/>
          </a:xfrm>
          <a:prstGeom prst="rect"/>
          <a:noFill/>
        </p:spPr>
        <p:txBody>
          <a:bodyPr anchor="ctr" bIns="0" lIns="0" rIns="0" rtlCol="0" tIns="0" wrap="square"/>
          <a:p>
            <a:pPr algn="ctr" indent="0" marL="0">
              <a:buNone/>
            </a:pPr>
            <a:r>
              <a:rPr b="1" dirty="0" sz="1600" lang="en-US">
                <a:solidFill>
                  <a:srgbClr val="00B8A9"/>
                </a:solidFill>
                <a:latin typeface="Calibri" pitchFamily="34" charset="0"/>
                <a:ea typeface="Calibri" pitchFamily="34" charset="-122"/>
                <a:cs typeface="Calibri" pitchFamily="34" charset="-120"/>
              </a:rPr>
              <a:t>1</a:t>
            </a:r>
            <a:endParaRPr dirty="0" sz="1600" lang="en-US"/>
          </a:p>
        </p:txBody>
      </p:sp>
      <p:sp>
        <p:nvSpPr>
          <p:cNvPr id="1048588" name="Text 4"/>
          <p:cNvSpPr/>
          <p:nvPr/>
        </p:nvSpPr>
        <p:spPr>
          <a:xfrm>
            <a:off x="1234439" y="1481328"/>
            <a:ext cx="9057225" cy="548640"/>
          </a:xfrm>
          <a:prstGeom prst="rect"/>
          <a:noFill/>
        </p:spPr>
        <p:txBody>
          <a:bodyPr anchor="ctr" bIns="0" lIns="0" rIns="0" rtlCol="0" tIns="0" wrap="square"/>
          <a:p>
            <a:pPr indent="0" marL="0">
              <a:buNone/>
            </a:pPr>
            <a:r>
              <a:rPr dirty="0" sz="2400" lang="en-US">
                <a:solidFill>
                  <a:srgbClr val="33394A"/>
                </a:solidFill>
                <a:latin typeface="Calibri" pitchFamily="34" charset="0"/>
                <a:ea typeface="Calibri" pitchFamily="34" charset="-122"/>
                <a:cs typeface="Calibri" pitchFamily="34" charset="-120"/>
              </a:rPr>
              <a:t>What is a queueing system, formally?</a:t>
            </a:r>
            <a:endParaRPr dirty="0" sz="2400" lang="en-US"/>
          </a:p>
        </p:txBody>
      </p:sp>
      <p:sp>
        <p:nvSpPr>
          <p:cNvPr id="1048589" name="Shape 5"/>
          <p:cNvSpPr/>
          <p:nvPr/>
        </p:nvSpPr>
        <p:spPr>
          <a:xfrm>
            <a:off x="640080" y="2301240"/>
            <a:ext cx="457200" cy="457200"/>
          </a:xfrm>
          <a:prstGeom prst="roundRect">
            <a:avLst>
              <a:gd name="adj" fmla="val 16000"/>
            </a:avLst>
          </a:prstGeom>
          <a:solidFill>
            <a:srgbClr val="EAF6F5"/>
          </a:solidFill>
        </p:spPr>
      </p:sp>
      <p:sp>
        <p:nvSpPr>
          <p:cNvPr id="1048590" name="Text 6"/>
          <p:cNvSpPr/>
          <p:nvPr/>
        </p:nvSpPr>
        <p:spPr>
          <a:xfrm>
            <a:off x="640080" y="2301240"/>
            <a:ext cx="457200" cy="457200"/>
          </a:xfrm>
          <a:prstGeom prst="rect"/>
          <a:noFill/>
        </p:spPr>
        <p:txBody>
          <a:bodyPr anchor="ctr" bIns="0" lIns="0" rIns="0" rtlCol="0" tIns="0" wrap="square"/>
          <a:p>
            <a:pPr algn="ctr" indent="0" marL="0">
              <a:buNone/>
            </a:pPr>
            <a:r>
              <a:rPr b="1" dirty="0" sz="1600" lang="en-US">
                <a:solidFill>
                  <a:srgbClr val="00B8A9"/>
                </a:solidFill>
                <a:latin typeface="Calibri" pitchFamily="34" charset="0"/>
                <a:ea typeface="Calibri" pitchFamily="34" charset="-122"/>
                <a:cs typeface="Calibri" pitchFamily="34" charset="-120"/>
              </a:rPr>
              <a:t>2</a:t>
            </a:r>
            <a:endParaRPr dirty="0" sz="1600" lang="en-US"/>
          </a:p>
        </p:txBody>
      </p:sp>
      <p:sp>
        <p:nvSpPr>
          <p:cNvPr id="1048591" name="Text 7"/>
          <p:cNvSpPr/>
          <p:nvPr/>
        </p:nvSpPr>
        <p:spPr>
          <a:xfrm>
            <a:off x="1234439" y="2273808"/>
            <a:ext cx="9057225" cy="548640"/>
          </a:xfrm>
          <a:prstGeom prst="rect"/>
          <a:noFill/>
        </p:spPr>
        <p:txBody>
          <a:bodyPr anchor="ctr" bIns="0" lIns="0" rIns="0" rtlCol="0" tIns="0" wrap="square"/>
          <a:p>
            <a:pPr indent="0" marL="0">
              <a:buNone/>
            </a:pPr>
            <a:r>
              <a:rPr dirty="0" sz="2400" lang="en-US">
                <a:solidFill>
                  <a:srgbClr val="33394A"/>
                </a:solidFill>
                <a:latin typeface="Calibri" pitchFamily="34" charset="0"/>
                <a:ea typeface="Calibri" pitchFamily="34" charset="-122"/>
                <a:cs typeface="Calibri" pitchFamily="34" charset="-120"/>
              </a:rPr>
              <a:t>Kendall notation: A/S/c/K/N/D</a:t>
            </a:r>
            <a:endParaRPr dirty="0" sz="2400" lang="en-US"/>
          </a:p>
        </p:txBody>
      </p:sp>
      <p:sp>
        <p:nvSpPr>
          <p:cNvPr id="1048592" name="Shape 8"/>
          <p:cNvSpPr/>
          <p:nvPr/>
        </p:nvSpPr>
        <p:spPr>
          <a:xfrm>
            <a:off x="640080" y="3093720"/>
            <a:ext cx="457200" cy="457200"/>
          </a:xfrm>
          <a:prstGeom prst="roundRect">
            <a:avLst>
              <a:gd name="adj" fmla="val 16000"/>
            </a:avLst>
          </a:prstGeom>
          <a:solidFill>
            <a:srgbClr val="EAF6F5"/>
          </a:solidFill>
        </p:spPr>
      </p:sp>
      <p:sp>
        <p:nvSpPr>
          <p:cNvPr id="1048593" name="Text 9"/>
          <p:cNvSpPr/>
          <p:nvPr/>
        </p:nvSpPr>
        <p:spPr>
          <a:xfrm>
            <a:off x="640080" y="3093720"/>
            <a:ext cx="457200" cy="457200"/>
          </a:xfrm>
          <a:prstGeom prst="rect"/>
          <a:noFill/>
        </p:spPr>
        <p:txBody>
          <a:bodyPr anchor="ctr" bIns="0" lIns="0" rIns="0" rtlCol="0" tIns="0" wrap="square"/>
          <a:p>
            <a:pPr algn="ctr" indent="0" marL="0">
              <a:buNone/>
            </a:pPr>
            <a:r>
              <a:rPr b="1" dirty="0" sz="1600" lang="en-US">
                <a:solidFill>
                  <a:srgbClr val="00B8A9"/>
                </a:solidFill>
                <a:latin typeface="Calibri" pitchFamily="34" charset="0"/>
                <a:ea typeface="Calibri" pitchFamily="34" charset="-122"/>
                <a:cs typeface="Calibri" pitchFamily="34" charset="-120"/>
              </a:rPr>
              <a:t>3</a:t>
            </a:r>
            <a:endParaRPr dirty="0" sz="1600" lang="en-US"/>
          </a:p>
        </p:txBody>
      </p:sp>
      <p:sp>
        <p:nvSpPr>
          <p:cNvPr id="1048594" name="Text 10"/>
          <p:cNvSpPr/>
          <p:nvPr/>
        </p:nvSpPr>
        <p:spPr>
          <a:xfrm>
            <a:off x="1234439" y="3066288"/>
            <a:ext cx="9057225" cy="548640"/>
          </a:xfrm>
          <a:prstGeom prst="rect"/>
          <a:noFill/>
        </p:spPr>
        <p:txBody>
          <a:bodyPr anchor="ctr" bIns="0" lIns="0" rIns="0" rtlCol="0" tIns="0" wrap="square"/>
          <a:p>
            <a:pPr indent="0" marL="0">
              <a:buNone/>
            </a:pPr>
            <a:r>
              <a:rPr dirty="0" sz="2400" lang="en-US">
                <a:solidFill>
                  <a:srgbClr val="33394A"/>
                </a:solidFill>
                <a:latin typeface="Calibri" pitchFamily="34" charset="0"/>
                <a:ea typeface="Calibri" pitchFamily="34" charset="-122"/>
                <a:cs typeface="Calibri" pitchFamily="34" charset="-120"/>
              </a:rPr>
              <a:t>The birth-death process and state transition diagrams</a:t>
            </a:r>
            <a:endParaRPr dirty="0" sz="2400" lang="en-US"/>
          </a:p>
        </p:txBody>
      </p:sp>
      <p:sp>
        <p:nvSpPr>
          <p:cNvPr id="1048595" name="Shape 11"/>
          <p:cNvSpPr/>
          <p:nvPr/>
        </p:nvSpPr>
        <p:spPr>
          <a:xfrm>
            <a:off x="640080" y="3886200"/>
            <a:ext cx="457200" cy="457200"/>
          </a:xfrm>
          <a:prstGeom prst="roundRect">
            <a:avLst>
              <a:gd name="adj" fmla="val 16000"/>
            </a:avLst>
          </a:prstGeom>
          <a:solidFill>
            <a:srgbClr val="EAF6F5"/>
          </a:solidFill>
        </p:spPr>
      </p:sp>
      <p:sp>
        <p:nvSpPr>
          <p:cNvPr id="1048596" name="Text 12"/>
          <p:cNvSpPr/>
          <p:nvPr/>
        </p:nvSpPr>
        <p:spPr>
          <a:xfrm>
            <a:off x="640080" y="3886200"/>
            <a:ext cx="457200" cy="457200"/>
          </a:xfrm>
          <a:prstGeom prst="rect"/>
          <a:noFill/>
        </p:spPr>
        <p:txBody>
          <a:bodyPr anchor="ctr" bIns="0" lIns="0" rIns="0" rtlCol="0" tIns="0" wrap="square"/>
          <a:p>
            <a:pPr algn="ctr" indent="0" marL="0">
              <a:buNone/>
            </a:pPr>
            <a:r>
              <a:rPr b="1" dirty="0" sz="1600" lang="en-US">
                <a:solidFill>
                  <a:srgbClr val="00B8A9"/>
                </a:solidFill>
                <a:latin typeface="Calibri" pitchFamily="34" charset="0"/>
                <a:ea typeface="Calibri" pitchFamily="34" charset="-122"/>
                <a:cs typeface="Calibri" pitchFamily="34" charset="-120"/>
              </a:rPr>
              <a:t>4</a:t>
            </a:r>
            <a:endParaRPr dirty="0" sz="1600" lang="en-US"/>
          </a:p>
        </p:txBody>
      </p:sp>
      <p:sp>
        <p:nvSpPr>
          <p:cNvPr id="1048597" name="Text 13"/>
          <p:cNvSpPr/>
          <p:nvPr/>
        </p:nvSpPr>
        <p:spPr>
          <a:xfrm>
            <a:off x="1234439" y="3858768"/>
            <a:ext cx="9057225" cy="548640"/>
          </a:xfrm>
          <a:prstGeom prst="rect"/>
          <a:noFill/>
        </p:spPr>
        <p:txBody>
          <a:bodyPr anchor="ctr" bIns="0" lIns="0" rIns="0" rtlCol="0" tIns="0" wrap="square"/>
          <a:p>
            <a:pPr indent="0" marL="0">
              <a:buNone/>
            </a:pPr>
            <a:r>
              <a:rPr dirty="0" sz="2400" lang="en-US">
                <a:solidFill>
                  <a:srgbClr val="33394A"/>
                </a:solidFill>
                <a:latin typeface="Calibri" pitchFamily="34" charset="0"/>
                <a:ea typeface="Calibri" pitchFamily="34" charset="-122"/>
                <a:cs typeface="Calibri" pitchFamily="34" charset="-120"/>
              </a:rPr>
              <a:t>Little's Law: the single most useful formula in this course</a:t>
            </a:r>
            <a:endParaRPr dirty="0" sz="2400" lang="en-US"/>
          </a:p>
        </p:txBody>
      </p:sp>
      <p:sp>
        <p:nvSpPr>
          <p:cNvPr id="1048598" name="Shape 14"/>
          <p:cNvSpPr/>
          <p:nvPr/>
        </p:nvSpPr>
        <p:spPr>
          <a:xfrm>
            <a:off x="640080" y="4678680"/>
            <a:ext cx="457200" cy="457200"/>
          </a:xfrm>
          <a:prstGeom prst="roundRect">
            <a:avLst>
              <a:gd name="adj" fmla="val 16000"/>
            </a:avLst>
          </a:prstGeom>
          <a:solidFill>
            <a:srgbClr val="EAF6F5"/>
          </a:solidFill>
        </p:spPr>
      </p:sp>
      <p:sp>
        <p:nvSpPr>
          <p:cNvPr id="1048599" name="Text 15"/>
          <p:cNvSpPr/>
          <p:nvPr/>
        </p:nvSpPr>
        <p:spPr>
          <a:xfrm>
            <a:off x="640080" y="4678680"/>
            <a:ext cx="457200" cy="457200"/>
          </a:xfrm>
          <a:prstGeom prst="rect"/>
          <a:noFill/>
        </p:spPr>
        <p:txBody>
          <a:bodyPr anchor="ctr" bIns="0" lIns="0" rIns="0" rtlCol="0" tIns="0" wrap="square"/>
          <a:p>
            <a:pPr algn="ctr" indent="0" marL="0">
              <a:buNone/>
            </a:pPr>
            <a:r>
              <a:rPr b="1" dirty="0" sz="1600" lang="en-US">
                <a:solidFill>
                  <a:srgbClr val="00B8A9"/>
                </a:solidFill>
                <a:latin typeface="Calibri" pitchFamily="34" charset="0"/>
                <a:ea typeface="Calibri" pitchFamily="34" charset="-122"/>
                <a:cs typeface="Calibri" pitchFamily="34" charset="-120"/>
              </a:rPr>
              <a:t>5</a:t>
            </a:r>
            <a:endParaRPr dirty="0" sz="1600" lang="en-US"/>
          </a:p>
        </p:txBody>
      </p:sp>
      <p:sp>
        <p:nvSpPr>
          <p:cNvPr id="1048600" name="Text 16"/>
          <p:cNvSpPr/>
          <p:nvPr/>
        </p:nvSpPr>
        <p:spPr>
          <a:xfrm>
            <a:off x="1234439" y="4651248"/>
            <a:ext cx="9057225" cy="548640"/>
          </a:xfrm>
          <a:prstGeom prst="rect"/>
          <a:noFill/>
        </p:spPr>
        <p:txBody>
          <a:bodyPr anchor="ctr" bIns="0" lIns="0" rIns="0" rtlCol="0" tIns="0" wrap="square"/>
          <a:p>
            <a:pPr indent="0" marL="0">
              <a:buNone/>
            </a:pPr>
            <a:r>
              <a:rPr dirty="0" sz="2400" lang="en-US">
                <a:solidFill>
                  <a:srgbClr val="33394A"/>
                </a:solidFill>
                <a:latin typeface="Calibri" pitchFamily="34" charset="0"/>
                <a:ea typeface="Calibri" pitchFamily="34" charset="-122"/>
                <a:cs typeface="Calibri" pitchFamily="34" charset="-120"/>
              </a:rPr>
              <a:t>Stability conditions: when does a queue not explode?</a:t>
            </a:r>
            <a:endParaRPr dirty="0" sz="2400" lang="en-US"/>
          </a:p>
        </p:txBody>
      </p:sp>
      <p:sp>
        <p:nvSpPr>
          <p:cNvPr id="1048601" name="Shape 17"/>
          <p:cNvSpPr/>
          <p:nvPr/>
        </p:nvSpPr>
        <p:spPr>
          <a:xfrm>
            <a:off x="640080" y="5471160"/>
            <a:ext cx="457200" cy="457200"/>
          </a:xfrm>
          <a:prstGeom prst="roundRect">
            <a:avLst>
              <a:gd name="adj" fmla="val 16000"/>
            </a:avLst>
          </a:prstGeom>
          <a:solidFill>
            <a:srgbClr val="EAF6F5"/>
          </a:solidFill>
        </p:spPr>
      </p:sp>
      <p:sp>
        <p:nvSpPr>
          <p:cNvPr id="1048602" name="Text 18"/>
          <p:cNvSpPr/>
          <p:nvPr/>
        </p:nvSpPr>
        <p:spPr>
          <a:xfrm>
            <a:off x="640080" y="5471160"/>
            <a:ext cx="457200" cy="457200"/>
          </a:xfrm>
          <a:prstGeom prst="rect"/>
          <a:noFill/>
        </p:spPr>
        <p:txBody>
          <a:bodyPr anchor="ctr" bIns="0" lIns="0" rIns="0" rtlCol="0" tIns="0" wrap="square"/>
          <a:p>
            <a:pPr algn="ctr" indent="0" marL="0">
              <a:buNone/>
            </a:pPr>
            <a:r>
              <a:rPr b="1" dirty="0" sz="1600" lang="en-US">
                <a:solidFill>
                  <a:srgbClr val="00B8A9"/>
                </a:solidFill>
                <a:latin typeface="Calibri" pitchFamily="34" charset="0"/>
                <a:ea typeface="Calibri" pitchFamily="34" charset="-122"/>
                <a:cs typeface="Calibri" pitchFamily="34" charset="-120"/>
              </a:rPr>
              <a:t>6</a:t>
            </a:r>
            <a:endParaRPr dirty="0" sz="1600" lang="en-US"/>
          </a:p>
        </p:txBody>
      </p:sp>
      <p:sp>
        <p:nvSpPr>
          <p:cNvPr id="1048603" name="Text 19"/>
          <p:cNvSpPr/>
          <p:nvPr/>
        </p:nvSpPr>
        <p:spPr>
          <a:xfrm>
            <a:off x="1234439" y="5443728"/>
            <a:ext cx="9057225" cy="548640"/>
          </a:xfrm>
          <a:prstGeom prst="rect"/>
          <a:noFill/>
        </p:spPr>
        <p:txBody>
          <a:bodyPr anchor="ctr" bIns="0" lIns="0" rIns="0" rtlCol="0" tIns="0" wrap="square"/>
          <a:p>
            <a:pPr indent="0" marL="0">
              <a:buNone/>
            </a:pPr>
            <a:r>
              <a:rPr dirty="0" sz="2400" lang="en-US">
                <a:solidFill>
                  <a:srgbClr val="33394A"/>
                </a:solidFill>
                <a:latin typeface="Calibri" pitchFamily="34" charset="0"/>
                <a:ea typeface="Calibri" pitchFamily="34" charset="-122"/>
                <a:cs typeface="Calibri" pitchFamily="34" charset="-120"/>
              </a:rPr>
              <a:t>Worked numerical examples</a:t>
            </a:r>
            <a:endParaRPr dirty="0" sz="2400" lang="en-US"/>
          </a:p>
        </p:txBody>
      </p:sp>
      <p:sp>
        <p:nvSpPr>
          <p:cNvPr id="1048604" name="Text 20"/>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4: Queueing Theory Fundamentals</a:t>
            </a:r>
            <a:endParaRPr dirty="0" sz="900" lang="en-US"/>
          </a:p>
        </p:txBody>
      </p:sp>
      <p:sp>
        <p:nvSpPr>
          <p:cNvPr id="1048605" name="Text 21"/>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a:t>
            </a:r>
            <a:endParaRPr dirty="0" sz="900"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41" name=""/>
        <p:cNvGrpSpPr/>
        <p:nvPr/>
      </p:nvGrpSpPr>
      <p:grpSpPr>
        <a:xfrm>
          <a:off x="0" y="0"/>
          <a:ext cx="0" cy="0"/>
          <a:chOff x="0" y="0"/>
          <a:chExt cx="0" cy="0"/>
        </a:xfrm>
      </p:grpSpPr>
      <p:sp>
        <p:nvSpPr>
          <p:cNvPr id="1048609"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Recall: Systems as Service Stations</a:t>
            </a:r>
            <a:endParaRPr dirty="0" sz="2600" lang="en-US"/>
          </a:p>
        </p:txBody>
      </p:sp>
      <p:sp>
        <p:nvSpPr>
          <p:cNvPr id="1048610" name="Shape 1"/>
          <p:cNvSpPr/>
          <p:nvPr/>
        </p:nvSpPr>
        <p:spPr>
          <a:xfrm>
            <a:off x="566928" y="1005840"/>
            <a:ext cx="411480" cy="45720"/>
          </a:xfrm>
          <a:prstGeom prst="rect"/>
          <a:solidFill>
            <a:srgbClr val="00B8A9"/>
          </a:solidFill>
        </p:spPr>
      </p:sp>
      <p:sp>
        <p:nvSpPr>
          <p:cNvPr id="1048611"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From Lecture 1: almost any system component can be modeled as a 'service station' — arrival, queue, service, departure</a:t>
            </a:r>
            <a:endParaRPr dirty="0" sz="2400" lang="en-US"/>
          </a:p>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Queueing theory is the mathematical framework that makes this idea precise and quantitative</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It lets us calculate, not just intuit, how response time, queue length, and utilization behave as load changes</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Everything in Lecture 3 (probability) was preparation for the formulas we derive starting today</a:t>
            </a:r>
            <a:endParaRPr dirty="0" sz="2400" lang="en-US"/>
          </a:p>
        </p:txBody>
      </p:sp>
      <p:sp>
        <p:nvSpPr>
          <p:cNvPr id="1048612"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4: Queueing Theory Fundamentals</a:t>
            </a:r>
            <a:endParaRPr dirty="0" sz="900" lang="en-US"/>
          </a:p>
        </p:txBody>
      </p:sp>
      <p:sp>
        <p:nvSpPr>
          <p:cNvPr id="1048613"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3</a:t>
            </a:r>
            <a:endParaRPr dirty="0" sz="900"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2942"/>
        </a:solidFill>
        <a:effectLst/>
      </p:bgPr>
    </p:bg>
    <p:spTree>
      <p:nvGrpSpPr>
        <p:cNvPr id="44" name=""/>
        <p:cNvGrpSpPr/>
        <p:nvPr/>
      </p:nvGrpSpPr>
      <p:grpSpPr>
        <a:xfrm>
          <a:off x="0" y="0"/>
          <a:ext cx="0" cy="0"/>
          <a:chOff x="0" y="0"/>
          <a:chExt cx="0" cy="0"/>
        </a:xfrm>
      </p:grpSpPr>
      <p:sp>
        <p:nvSpPr>
          <p:cNvPr id="1048617" name="Shape 0"/>
          <p:cNvSpPr/>
          <p:nvPr/>
        </p:nvSpPr>
        <p:spPr>
          <a:xfrm>
            <a:off x="0" y="0"/>
            <a:ext cx="228600" cy="6858000"/>
          </a:xfrm>
          <a:prstGeom prst="rect"/>
          <a:solidFill>
            <a:srgbClr val="00B8A9"/>
          </a:solidFill>
        </p:spPr>
      </p:sp>
      <p:sp>
        <p:nvSpPr>
          <p:cNvPr id="1048618" name="Text 1"/>
          <p:cNvSpPr/>
          <p:nvPr/>
        </p:nvSpPr>
        <p:spPr>
          <a:xfrm>
            <a:off x="822960" y="822960"/>
            <a:ext cx="5486400" cy="365760"/>
          </a:xfrm>
          <a:prstGeom prst="rect"/>
          <a:noFill/>
        </p:spPr>
        <p:txBody>
          <a:bodyPr anchor="ctr" bIns="0" lIns="0" rIns="0" rtlCol="0" tIns="0" wrap="square"/>
          <a:p>
            <a:pPr indent="0" marL="0">
              <a:buNone/>
            </a:pPr>
            <a:r>
              <a:rPr b="1" dirty="0" sz="1400" lang="en-US">
                <a:solidFill>
                  <a:srgbClr val="00B8A9"/>
                </a:solidFill>
                <a:latin typeface="Calibri" pitchFamily="34" charset="0"/>
                <a:ea typeface="Calibri" pitchFamily="34" charset="-122"/>
                <a:cs typeface="Calibri" pitchFamily="34" charset="-120"/>
              </a:rPr>
              <a:t>DEFINITION</a:t>
            </a:r>
            <a:endParaRPr dirty="0" sz="1400" lang="en-US"/>
          </a:p>
        </p:txBody>
      </p:sp>
      <p:sp>
        <p:nvSpPr>
          <p:cNvPr id="1048619" name="Text 2"/>
          <p:cNvSpPr/>
          <p:nvPr/>
        </p:nvSpPr>
        <p:spPr>
          <a:xfrm>
            <a:off x="822960" y="1188720"/>
            <a:ext cx="10515600" cy="822960"/>
          </a:xfrm>
          <a:prstGeom prst="rect"/>
          <a:noFill/>
        </p:spPr>
        <p:txBody>
          <a:bodyPr anchor="ctr" bIns="0" lIns="0" rIns="0" rtlCol="0" tIns="0" wrap="square"/>
          <a:p>
            <a:pPr indent="0" marL="0">
              <a:buNone/>
            </a:pPr>
            <a:r>
              <a:rPr b="1" dirty="0" sz="3000" lang="en-US">
                <a:solidFill>
                  <a:srgbClr val="FFFFFF"/>
                </a:solidFill>
                <a:latin typeface="Calibri" pitchFamily="34" charset="0"/>
                <a:ea typeface="Calibri" pitchFamily="34" charset="-122"/>
                <a:cs typeface="Calibri" pitchFamily="34" charset="-120"/>
              </a:rPr>
              <a:t>Queueing System</a:t>
            </a:r>
            <a:endParaRPr dirty="0" sz="3000" lang="en-US"/>
          </a:p>
        </p:txBody>
      </p:sp>
      <p:sp>
        <p:nvSpPr>
          <p:cNvPr id="1048620" name="Text 3"/>
          <p:cNvSpPr/>
          <p:nvPr/>
        </p:nvSpPr>
        <p:spPr>
          <a:xfrm>
            <a:off x="822960" y="2148840"/>
            <a:ext cx="10241280" cy="1828800"/>
          </a:xfrm>
          <a:prstGeom prst="rect"/>
          <a:noFill/>
        </p:spPr>
        <p:txBody>
          <a:bodyPr anchor="t" bIns="0" lIns="0" rIns="0" rtlCol="0" tIns="0" wrap="square"/>
          <a:p>
            <a:pPr indent="0" marL="0">
              <a:lnSpc>
                <a:spcPct val="130000"/>
              </a:lnSpc>
              <a:buNone/>
            </a:pPr>
            <a:r>
              <a:rPr dirty="0" sz="2400" i="1" lang="en-US">
                <a:solidFill>
                  <a:srgbClr val="DCE3EA"/>
                </a:solidFill>
                <a:latin typeface="Calibri" pitchFamily="34" charset="0"/>
                <a:ea typeface="Calibri" pitchFamily="34" charset="-122"/>
                <a:cs typeface="Calibri" pitchFamily="34" charset="-120"/>
              </a:rPr>
              <a:t>“A system in which entities (customers, requests, jobs) arrive, may wait in a queue if resources are busy, receive service from one or more servers, and then depart.”</a:t>
            </a:r>
            <a:endParaRPr dirty="0" sz="2400" lang="en-US"/>
          </a:p>
        </p:txBody>
      </p:sp>
      <p:sp>
        <p:nvSpPr>
          <p:cNvPr id="1048621" name="Text 4"/>
          <p:cNvSpPr/>
          <p:nvPr/>
        </p:nvSpPr>
        <p:spPr>
          <a:xfrm>
            <a:off x="822960" y="4114800"/>
            <a:ext cx="10241280" cy="2103120"/>
          </a:xfrm>
          <a:prstGeom prst="rect"/>
          <a:noFill/>
        </p:spPr>
        <p:txBody>
          <a:bodyPr anchor="t" bIns="0" lIns="0" rIns="0" rtlCol="0" tIns="0" wrap="square"/>
          <a:p>
            <a:pPr indent="-342900" marL="342900">
              <a:spcAft>
                <a:spcPts val="800"/>
              </a:spcAft>
              <a:buSzPct val="100000"/>
              <a:buChar char="•"/>
            </a:pPr>
            <a:r>
              <a:rPr dirty="0" sz="2400" lang="en-US">
                <a:solidFill>
                  <a:srgbClr val="C7D0D9"/>
                </a:solidFill>
                <a:latin typeface="Calibri" pitchFamily="34" charset="0"/>
                <a:ea typeface="Calibri" pitchFamily="34" charset="-122"/>
                <a:cs typeface="Calibri" pitchFamily="34" charset="-120"/>
              </a:rPr>
              <a:t>The four defining elements: the arrival process, the queue (waiting area), the service process, and the number/configuration of servers</a:t>
            </a:r>
            <a:endParaRPr dirty="0" sz="2400" lang="en-US"/>
          </a:p>
        </p:txBody>
      </p:sp>
      <p:sp>
        <p:nvSpPr>
          <p:cNvPr id="1048622" name="Text 5"/>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4: Queueing Theory Fundamentals</a:t>
            </a:r>
            <a:endParaRPr dirty="0" sz="900" lang="en-US"/>
          </a:p>
        </p:txBody>
      </p:sp>
      <p:sp>
        <p:nvSpPr>
          <p:cNvPr id="1048623" name="Text 6"/>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4</a:t>
            </a:r>
            <a:endParaRPr dirty="0" sz="900"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47" name=""/>
        <p:cNvGrpSpPr/>
        <p:nvPr/>
      </p:nvGrpSpPr>
      <p:grpSpPr>
        <a:xfrm>
          <a:off x="0" y="0"/>
          <a:ext cx="0" cy="0"/>
          <a:chOff x="0" y="0"/>
          <a:chExt cx="0" cy="0"/>
        </a:xfrm>
      </p:grpSpPr>
      <p:sp>
        <p:nvSpPr>
          <p:cNvPr id="1048627"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Anatomy of a Queueing System</a:t>
            </a:r>
            <a:endParaRPr dirty="0" sz="2600" lang="en-US"/>
          </a:p>
        </p:txBody>
      </p:sp>
      <p:sp>
        <p:nvSpPr>
          <p:cNvPr id="1048628" name="Shape 1"/>
          <p:cNvSpPr/>
          <p:nvPr/>
        </p:nvSpPr>
        <p:spPr>
          <a:xfrm>
            <a:off x="566928" y="1005840"/>
            <a:ext cx="411480" cy="45720"/>
          </a:xfrm>
          <a:prstGeom prst="rect"/>
          <a:solidFill>
            <a:srgbClr val="00B8A9"/>
          </a:solidFill>
        </p:spPr>
      </p:sp>
      <p:sp>
        <p:nvSpPr>
          <p:cNvPr id="1048629" name="Shape 2"/>
          <p:cNvSpPr/>
          <p:nvPr/>
        </p:nvSpPr>
        <p:spPr>
          <a:xfrm>
            <a:off x="822960" y="1325880"/>
            <a:ext cx="6949440" cy="1120140"/>
          </a:xfrm>
          <a:prstGeom prst="roundRect">
            <a:avLst>
              <a:gd name="adj" fmla="val 5714"/>
            </a:avLst>
          </a:prstGeom>
          <a:solidFill>
            <a:srgbClr val="0F2942"/>
          </a:solidFill>
        </p:spPr>
      </p:sp>
      <p:sp>
        <p:nvSpPr>
          <p:cNvPr id="1048630" name="Text 3"/>
          <p:cNvSpPr/>
          <p:nvPr/>
        </p:nvSpPr>
        <p:spPr>
          <a:xfrm>
            <a:off x="1051560" y="1325880"/>
            <a:ext cx="6492240" cy="1120140"/>
          </a:xfrm>
          <a:prstGeom prst="rect"/>
          <a:noFill/>
        </p:spPr>
        <p:txBody>
          <a:bodyPr anchor="ctr" bIns="0" lIns="0" rIns="0" rtlCol="0" tIns="0" wrap="square"/>
          <a:p>
            <a:pPr indent="0" marL="0">
              <a:buNone/>
            </a:pPr>
            <a:r>
              <a:rPr b="1" dirty="0" sz="2000" lang="en-US">
                <a:solidFill>
                  <a:srgbClr val="FFFFFF"/>
                </a:solidFill>
                <a:latin typeface="Calibri" pitchFamily="34" charset="0"/>
                <a:ea typeface="Calibri" pitchFamily="34" charset="-122"/>
                <a:cs typeface="Calibri" pitchFamily="34" charset="-120"/>
              </a:rPr>
              <a:t>Arrival Process</a:t>
            </a:r>
            <a:endParaRPr dirty="0" sz="2000" lang="en-US"/>
          </a:p>
        </p:txBody>
      </p:sp>
      <p:sp>
        <p:nvSpPr>
          <p:cNvPr id="1048631" name="Text 4"/>
          <p:cNvSpPr/>
          <p:nvPr/>
        </p:nvSpPr>
        <p:spPr>
          <a:xfrm>
            <a:off x="1051560" y="1325880"/>
            <a:ext cx="6492240" cy="1120140"/>
          </a:xfrm>
          <a:prstGeom prst="rect"/>
          <a:noFill/>
        </p:spPr>
        <p:txBody>
          <a:bodyPr anchor="ctr" bIns="0" lIns="0" rIns="0" rtlCol="0" tIns="0" wrap="square"/>
          <a:p>
            <a:pPr algn="r" indent="0" marL="0">
              <a:buNone/>
            </a:pPr>
            <a:r>
              <a:rPr dirty="0" sz="1600" lang="en-US">
                <a:solidFill>
                  <a:srgbClr val="E4E9EE"/>
                </a:solidFill>
                <a:latin typeface="Calibri" pitchFamily="34" charset="0"/>
                <a:ea typeface="Calibri" pitchFamily="34" charset="-122"/>
                <a:cs typeface="Calibri" pitchFamily="34" charset="-120"/>
              </a:rPr>
              <a:t>How and when customers/requests arrive</a:t>
            </a:r>
            <a:endParaRPr dirty="0" sz="1600" lang="en-US"/>
          </a:p>
        </p:txBody>
      </p:sp>
      <p:sp>
        <p:nvSpPr>
          <p:cNvPr id="1048632" name="Shape 5"/>
          <p:cNvSpPr/>
          <p:nvPr/>
        </p:nvSpPr>
        <p:spPr>
          <a:xfrm>
            <a:off x="822960" y="2583180"/>
            <a:ext cx="6949440" cy="1120140"/>
          </a:xfrm>
          <a:prstGeom prst="roundRect">
            <a:avLst>
              <a:gd name="adj" fmla="val 5714"/>
            </a:avLst>
          </a:prstGeom>
          <a:solidFill>
            <a:srgbClr val="44546A"/>
          </a:solidFill>
        </p:spPr>
      </p:sp>
      <p:sp>
        <p:nvSpPr>
          <p:cNvPr id="1048633" name="Text 6"/>
          <p:cNvSpPr/>
          <p:nvPr/>
        </p:nvSpPr>
        <p:spPr>
          <a:xfrm>
            <a:off x="1051560" y="2583180"/>
            <a:ext cx="6492240" cy="1120140"/>
          </a:xfrm>
          <a:prstGeom prst="rect"/>
          <a:noFill/>
        </p:spPr>
        <p:txBody>
          <a:bodyPr anchor="ctr" bIns="0" lIns="0" rIns="0" rtlCol="0" tIns="0" wrap="square"/>
          <a:p>
            <a:pPr indent="0" marL="0">
              <a:buNone/>
            </a:pPr>
            <a:r>
              <a:rPr b="1" dirty="0" sz="2000" lang="en-US">
                <a:solidFill>
                  <a:srgbClr val="FFFFFF"/>
                </a:solidFill>
                <a:latin typeface="Calibri" pitchFamily="34" charset="0"/>
                <a:ea typeface="Calibri" pitchFamily="34" charset="-122"/>
                <a:cs typeface="Calibri" pitchFamily="34" charset="-120"/>
              </a:rPr>
              <a:t>Queue</a:t>
            </a:r>
            <a:endParaRPr dirty="0" sz="2000" lang="en-US"/>
          </a:p>
        </p:txBody>
      </p:sp>
      <p:sp>
        <p:nvSpPr>
          <p:cNvPr id="1048634" name="Text 7"/>
          <p:cNvSpPr/>
          <p:nvPr/>
        </p:nvSpPr>
        <p:spPr>
          <a:xfrm>
            <a:off x="1051560" y="2583180"/>
            <a:ext cx="6492240" cy="1120140"/>
          </a:xfrm>
          <a:prstGeom prst="rect"/>
          <a:noFill/>
        </p:spPr>
        <p:txBody>
          <a:bodyPr anchor="ctr" bIns="0" lIns="0" rIns="0" rtlCol="0" tIns="0" wrap="square"/>
          <a:p>
            <a:pPr algn="r" indent="0" marL="0">
              <a:buNone/>
            </a:pPr>
            <a:r>
              <a:rPr dirty="0" sz="1600" lang="en-US">
                <a:solidFill>
                  <a:srgbClr val="E4E9EE"/>
                </a:solidFill>
                <a:latin typeface="Calibri" pitchFamily="34" charset="0"/>
                <a:ea typeface="Calibri" pitchFamily="34" charset="-122"/>
                <a:cs typeface="Calibri" pitchFamily="34" charset="-120"/>
              </a:rPr>
              <a:t>Where entities wait if all servers are busy</a:t>
            </a:r>
            <a:endParaRPr dirty="0" sz="1600" lang="en-US"/>
          </a:p>
        </p:txBody>
      </p:sp>
      <p:sp>
        <p:nvSpPr>
          <p:cNvPr id="1048635" name="Shape 8"/>
          <p:cNvSpPr/>
          <p:nvPr/>
        </p:nvSpPr>
        <p:spPr>
          <a:xfrm>
            <a:off x="822960" y="3840480"/>
            <a:ext cx="6949440" cy="1120140"/>
          </a:xfrm>
          <a:prstGeom prst="roundRect">
            <a:avLst>
              <a:gd name="adj" fmla="val 5714"/>
            </a:avLst>
          </a:prstGeom>
          <a:solidFill>
            <a:srgbClr val="44546A"/>
          </a:solidFill>
        </p:spPr>
      </p:sp>
      <p:sp>
        <p:nvSpPr>
          <p:cNvPr id="1048636" name="Text 9"/>
          <p:cNvSpPr/>
          <p:nvPr/>
        </p:nvSpPr>
        <p:spPr>
          <a:xfrm>
            <a:off x="1051560" y="3840480"/>
            <a:ext cx="6492240" cy="1120140"/>
          </a:xfrm>
          <a:prstGeom prst="rect"/>
          <a:noFill/>
        </p:spPr>
        <p:txBody>
          <a:bodyPr anchor="ctr" bIns="0" lIns="0" rIns="0" rtlCol="0" tIns="0" wrap="square"/>
          <a:p>
            <a:pPr indent="0" marL="0">
              <a:buNone/>
            </a:pPr>
            <a:r>
              <a:rPr b="1" dirty="0" sz="2000" lang="en-US">
                <a:solidFill>
                  <a:srgbClr val="FFFFFF"/>
                </a:solidFill>
                <a:latin typeface="Calibri" pitchFamily="34" charset="0"/>
                <a:ea typeface="Calibri" pitchFamily="34" charset="-122"/>
                <a:cs typeface="Calibri" pitchFamily="34" charset="-120"/>
              </a:rPr>
              <a:t>Service Facility (Servers)</a:t>
            </a:r>
            <a:endParaRPr dirty="0" sz="2000" lang="en-US"/>
          </a:p>
        </p:txBody>
      </p:sp>
      <p:sp>
        <p:nvSpPr>
          <p:cNvPr id="1048637" name="Text 10"/>
          <p:cNvSpPr/>
          <p:nvPr/>
        </p:nvSpPr>
        <p:spPr>
          <a:xfrm>
            <a:off x="1051560" y="3840480"/>
            <a:ext cx="6492240" cy="1120140"/>
          </a:xfrm>
          <a:prstGeom prst="rect"/>
          <a:noFill/>
        </p:spPr>
        <p:txBody>
          <a:bodyPr anchor="ctr" bIns="0" lIns="0" rIns="0" rtlCol="0" tIns="0" wrap="square"/>
          <a:p>
            <a:pPr algn="r" indent="0" marL="0">
              <a:buNone/>
            </a:pPr>
            <a:r>
              <a:rPr dirty="0" sz="1600" lang="en-US">
                <a:solidFill>
                  <a:srgbClr val="E4E9EE"/>
                </a:solidFill>
                <a:latin typeface="Calibri" pitchFamily="34" charset="0"/>
                <a:ea typeface="Calibri" pitchFamily="34" charset="-122"/>
                <a:cs typeface="Calibri" pitchFamily="34" charset="-120"/>
              </a:rPr>
              <a:t>One or more resources that process entities</a:t>
            </a:r>
            <a:endParaRPr dirty="0" sz="1600" lang="en-US"/>
          </a:p>
        </p:txBody>
      </p:sp>
      <p:sp>
        <p:nvSpPr>
          <p:cNvPr id="1048638" name="Shape 11"/>
          <p:cNvSpPr/>
          <p:nvPr/>
        </p:nvSpPr>
        <p:spPr>
          <a:xfrm>
            <a:off x="822960" y="5097780"/>
            <a:ext cx="6949440" cy="1120140"/>
          </a:xfrm>
          <a:prstGeom prst="roundRect">
            <a:avLst>
              <a:gd name="adj" fmla="val 5714"/>
            </a:avLst>
          </a:prstGeom>
          <a:solidFill>
            <a:srgbClr val="44546A"/>
          </a:solidFill>
        </p:spPr>
      </p:sp>
      <p:sp>
        <p:nvSpPr>
          <p:cNvPr id="1048639" name="Text 12"/>
          <p:cNvSpPr/>
          <p:nvPr/>
        </p:nvSpPr>
        <p:spPr>
          <a:xfrm>
            <a:off x="1051560" y="5097780"/>
            <a:ext cx="6492240" cy="1120140"/>
          </a:xfrm>
          <a:prstGeom prst="rect"/>
          <a:noFill/>
        </p:spPr>
        <p:txBody>
          <a:bodyPr anchor="ctr" bIns="0" lIns="0" rIns="0" rtlCol="0" tIns="0" wrap="square"/>
          <a:p>
            <a:pPr indent="0" marL="0">
              <a:buNone/>
            </a:pPr>
            <a:r>
              <a:rPr b="1" dirty="0" sz="2000" lang="en-US">
                <a:solidFill>
                  <a:srgbClr val="FFFFFF"/>
                </a:solidFill>
                <a:latin typeface="Calibri" pitchFamily="34" charset="0"/>
                <a:ea typeface="Calibri" pitchFamily="34" charset="-122"/>
                <a:cs typeface="Calibri" pitchFamily="34" charset="-120"/>
              </a:rPr>
              <a:t>Departure</a:t>
            </a:r>
            <a:endParaRPr dirty="0" sz="2000" lang="en-US"/>
          </a:p>
        </p:txBody>
      </p:sp>
      <p:sp>
        <p:nvSpPr>
          <p:cNvPr id="1048640" name="Text 13"/>
          <p:cNvSpPr/>
          <p:nvPr/>
        </p:nvSpPr>
        <p:spPr>
          <a:xfrm>
            <a:off x="1051560" y="5097780"/>
            <a:ext cx="6492240" cy="1120140"/>
          </a:xfrm>
          <a:prstGeom prst="rect"/>
          <a:noFill/>
        </p:spPr>
        <p:txBody>
          <a:bodyPr anchor="ctr" bIns="0" lIns="0" rIns="0" rtlCol="0" tIns="0" wrap="square"/>
          <a:p>
            <a:pPr algn="r" indent="0" marL="0">
              <a:buNone/>
            </a:pPr>
            <a:r>
              <a:rPr dirty="0" sz="1600" lang="en-US">
                <a:solidFill>
                  <a:srgbClr val="E4E9EE"/>
                </a:solidFill>
                <a:latin typeface="Calibri" pitchFamily="34" charset="0"/>
                <a:ea typeface="Calibri" pitchFamily="34" charset="-122"/>
                <a:cs typeface="Calibri" pitchFamily="34" charset="-120"/>
              </a:rPr>
              <a:t>Entities leave the system once service completes</a:t>
            </a:r>
            <a:endParaRPr dirty="0" sz="1600" lang="en-US"/>
          </a:p>
        </p:txBody>
      </p:sp>
      <p:sp>
        <p:nvSpPr>
          <p:cNvPr id="1048641" name="Shape 14"/>
          <p:cNvSpPr/>
          <p:nvPr/>
        </p:nvSpPr>
        <p:spPr>
          <a:xfrm>
            <a:off x="8001000" y="1325880"/>
            <a:ext cx="3566160" cy="4892040"/>
          </a:xfrm>
          <a:prstGeom prst="roundRect">
            <a:avLst>
              <a:gd name="adj" fmla="val 2564"/>
            </a:avLst>
          </a:prstGeom>
          <a:solidFill>
            <a:srgbClr val="EAF6F5"/>
          </a:solidFill>
        </p:spPr>
      </p:sp>
      <p:sp>
        <p:nvSpPr>
          <p:cNvPr id="1048642" name="Text 15"/>
          <p:cNvSpPr/>
          <p:nvPr/>
        </p:nvSpPr>
        <p:spPr>
          <a:xfrm>
            <a:off x="8183880" y="1481328"/>
            <a:ext cx="3200400" cy="365760"/>
          </a:xfrm>
          <a:prstGeom prst="rect"/>
          <a:noFill/>
        </p:spPr>
        <p:txBody>
          <a:bodyPr anchor="ctr" bIns="0" lIns="0" rIns="0" rtlCol="0" tIns="0" wrap="square"/>
          <a:p>
            <a:pPr indent="0" marL="0">
              <a:buNone/>
            </a:pPr>
            <a:r>
              <a:rPr b="1" dirty="0" lang="en-US">
                <a:solidFill>
                  <a:srgbClr val="00B8A9"/>
                </a:solidFill>
                <a:latin typeface="Calibri" pitchFamily="34" charset="0"/>
                <a:ea typeface="Calibri" pitchFamily="34" charset="-122"/>
                <a:cs typeface="Calibri" pitchFamily="34" charset="-120"/>
              </a:rPr>
              <a:t>Universal Pattern</a:t>
            </a:r>
            <a:endParaRPr dirty="0" lang="en-US"/>
          </a:p>
        </p:txBody>
      </p:sp>
      <p:sp>
        <p:nvSpPr>
          <p:cNvPr id="1048643" name="Text 16"/>
          <p:cNvSpPr/>
          <p:nvPr/>
        </p:nvSpPr>
        <p:spPr>
          <a:xfrm>
            <a:off x="8183880" y="1874520"/>
            <a:ext cx="3200400" cy="4206240"/>
          </a:xfrm>
          <a:prstGeom prst="rect"/>
          <a:noFill/>
        </p:spPr>
        <p:txBody>
          <a:bodyPr anchor="t" bIns="0" lIns="0" rIns="0" rtlCol="0" tIns="0" wrap="square"/>
          <a:p>
            <a:pPr indent="0" marL="0">
              <a:lnSpc>
                <a:spcPct val="125000"/>
              </a:lnSpc>
              <a:buNone/>
            </a:pPr>
            <a:r>
              <a:rPr dirty="0" sz="2400" lang="en-US">
                <a:solidFill>
                  <a:srgbClr val="33394A"/>
                </a:solidFill>
                <a:latin typeface="Calibri" pitchFamily="34" charset="0"/>
                <a:ea typeface="Calibri" pitchFamily="34" charset="-122"/>
                <a:cs typeface="Calibri" pitchFamily="34" charset="-120"/>
              </a:rPr>
              <a:t>This structure describes a CPU handling threads, a database handling queries, a call center handling calls, or a supermarket checkout — the mathematics is identical across all of them.</a:t>
            </a:r>
            <a:endParaRPr dirty="0" sz="2400" lang="en-US"/>
          </a:p>
        </p:txBody>
      </p:sp>
      <p:sp>
        <p:nvSpPr>
          <p:cNvPr id="1048644" name="Text 17"/>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4: Queueing Theory Fundamentals</a:t>
            </a:r>
            <a:endParaRPr dirty="0" sz="900" lang="en-US"/>
          </a:p>
        </p:txBody>
      </p:sp>
      <p:sp>
        <p:nvSpPr>
          <p:cNvPr id="1048645" name="Text 18"/>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5</a:t>
            </a:r>
            <a:endParaRPr dirty="0" sz="900"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2942"/>
        </a:solidFill>
        <a:effectLst/>
      </p:bgPr>
    </p:bg>
    <p:spTree>
      <p:nvGrpSpPr>
        <p:cNvPr id="50" name=""/>
        <p:cNvGrpSpPr/>
        <p:nvPr/>
      </p:nvGrpSpPr>
      <p:grpSpPr>
        <a:xfrm>
          <a:off x="0" y="0"/>
          <a:ext cx="0" cy="0"/>
          <a:chOff x="0" y="0"/>
          <a:chExt cx="0" cy="0"/>
        </a:xfrm>
      </p:grpSpPr>
      <p:sp>
        <p:nvSpPr>
          <p:cNvPr id="1048649" name="Shape 0"/>
          <p:cNvSpPr/>
          <p:nvPr/>
        </p:nvSpPr>
        <p:spPr>
          <a:xfrm>
            <a:off x="0" y="0"/>
            <a:ext cx="228600" cy="6858000"/>
          </a:xfrm>
          <a:prstGeom prst="rect"/>
          <a:solidFill>
            <a:srgbClr val="00B8A9"/>
          </a:solidFill>
        </p:spPr>
      </p:sp>
      <p:sp>
        <p:nvSpPr>
          <p:cNvPr id="1048650" name="Text 1"/>
          <p:cNvSpPr/>
          <p:nvPr/>
        </p:nvSpPr>
        <p:spPr>
          <a:xfrm>
            <a:off x="822960" y="822960"/>
            <a:ext cx="5486400" cy="365760"/>
          </a:xfrm>
          <a:prstGeom prst="rect"/>
          <a:noFill/>
        </p:spPr>
        <p:txBody>
          <a:bodyPr anchor="ctr" bIns="0" lIns="0" rIns="0" rtlCol="0" tIns="0" wrap="square"/>
          <a:p>
            <a:pPr indent="0" marL="0">
              <a:buNone/>
            </a:pPr>
            <a:r>
              <a:rPr b="1" dirty="0" sz="1400" lang="en-US">
                <a:solidFill>
                  <a:srgbClr val="00B8A9"/>
                </a:solidFill>
                <a:latin typeface="Calibri" pitchFamily="34" charset="0"/>
                <a:ea typeface="Calibri" pitchFamily="34" charset="-122"/>
                <a:cs typeface="Calibri" pitchFamily="34" charset="-120"/>
              </a:rPr>
              <a:t>DEFINITION</a:t>
            </a:r>
            <a:endParaRPr dirty="0" sz="1400" lang="en-US"/>
          </a:p>
        </p:txBody>
      </p:sp>
      <p:sp>
        <p:nvSpPr>
          <p:cNvPr id="1048651" name="Text 2"/>
          <p:cNvSpPr/>
          <p:nvPr/>
        </p:nvSpPr>
        <p:spPr>
          <a:xfrm>
            <a:off x="822960" y="1188720"/>
            <a:ext cx="10515600" cy="822960"/>
          </a:xfrm>
          <a:prstGeom prst="rect"/>
          <a:noFill/>
        </p:spPr>
        <p:txBody>
          <a:bodyPr anchor="ctr" bIns="0" lIns="0" rIns="0" rtlCol="0" tIns="0" wrap="square"/>
          <a:p>
            <a:pPr indent="0" marL="0">
              <a:buNone/>
            </a:pPr>
            <a:r>
              <a:rPr b="1" dirty="0" sz="3000" lang="en-US">
                <a:solidFill>
                  <a:srgbClr val="FFFFFF"/>
                </a:solidFill>
                <a:latin typeface="Calibri" pitchFamily="34" charset="0"/>
                <a:ea typeface="Calibri" pitchFamily="34" charset="-122"/>
                <a:cs typeface="Calibri" pitchFamily="34" charset="-120"/>
              </a:rPr>
              <a:t>Kendall Notation</a:t>
            </a:r>
            <a:endParaRPr dirty="0" sz="3000" lang="en-US"/>
          </a:p>
        </p:txBody>
      </p:sp>
      <p:sp>
        <p:nvSpPr>
          <p:cNvPr id="1048652" name="Text 3"/>
          <p:cNvSpPr/>
          <p:nvPr/>
        </p:nvSpPr>
        <p:spPr>
          <a:xfrm>
            <a:off x="822960" y="2148840"/>
            <a:ext cx="10241280" cy="1828800"/>
          </a:xfrm>
          <a:prstGeom prst="rect"/>
          <a:noFill/>
        </p:spPr>
        <p:txBody>
          <a:bodyPr anchor="t" bIns="0" lIns="0" rIns="0" rtlCol="0" tIns="0" wrap="square"/>
          <a:p>
            <a:pPr indent="0" marL="0">
              <a:lnSpc>
                <a:spcPct val="130000"/>
              </a:lnSpc>
              <a:buNone/>
            </a:pPr>
            <a:r>
              <a:rPr dirty="0" sz="2400" i="1" lang="en-US">
                <a:solidFill>
                  <a:srgbClr val="DCE3EA"/>
                </a:solidFill>
                <a:latin typeface="Calibri" pitchFamily="34" charset="0"/>
                <a:ea typeface="Calibri" pitchFamily="34" charset="-122"/>
                <a:cs typeface="Calibri" pitchFamily="34" charset="-120"/>
              </a:rPr>
              <a:t>“A standardized shorthand, A/S/c/K/N/D, used to fully specify a queueing model, where A is the arrival process, S is the service time distribution, c is the number of servers, K is system capacity, N is the population size, and D is the queue discipline.”</a:t>
            </a:r>
            <a:endParaRPr dirty="0" sz="2400" lang="en-US"/>
          </a:p>
        </p:txBody>
      </p:sp>
      <p:sp>
        <p:nvSpPr>
          <p:cNvPr id="1048653" name="Text 4"/>
          <p:cNvSpPr/>
          <p:nvPr/>
        </p:nvSpPr>
        <p:spPr>
          <a:xfrm>
            <a:off x="822960" y="4114800"/>
            <a:ext cx="10241280" cy="2103120"/>
          </a:xfrm>
          <a:prstGeom prst="rect"/>
          <a:noFill/>
        </p:spPr>
        <p:txBody>
          <a:bodyPr anchor="t" bIns="0" lIns="0" rIns="0" rtlCol="0" tIns="0" wrap="square"/>
          <a:p>
            <a:pPr indent="-342900" marL="342900">
              <a:spcAft>
                <a:spcPts val="800"/>
              </a:spcAft>
              <a:buSzPct val="100000"/>
              <a:buChar char="•"/>
            </a:pPr>
            <a:r>
              <a:rPr dirty="0" sz="2400" lang="en-US">
                <a:solidFill>
                  <a:srgbClr val="C7D0D9"/>
                </a:solidFill>
                <a:latin typeface="Calibri" pitchFamily="34" charset="0"/>
                <a:ea typeface="Calibri" pitchFamily="34" charset="-122"/>
                <a:cs typeface="Calibri" pitchFamily="34" charset="-120"/>
              </a:rPr>
              <a:t>Most commonly, only the first three symbols are used (e.g., M/M/1), with the remaining three assumed to be infinite capacity, infinite population, and FCFS (first-come, first-served)</a:t>
            </a:r>
            <a:endParaRPr dirty="0" sz="2400" lang="en-US"/>
          </a:p>
        </p:txBody>
      </p:sp>
      <p:sp>
        <p:nvSpPr>
          <p:cNvPr id="1048654" name="Text 5"/>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4: Queueing Theory Fundamentals</a:t>
            </a:r>
            <a:endParaRPr dirty="0" sz="900" lang="en-US"/>
          </a:p>
        </p:txBody>
      </p:sp>
      <p:sp>
        <p:nvSpPr>
          <p:cNvPr id="1048655" name="Text 6"/>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6</a:t>
            </a:r>
            <a:endParaRPr dirty="0" sz="900"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53" name=""/>
        <p:cNvGrpSpPr/>
        <p:nvPr/>
      </p:nvGrpSpPr>
      <p:grpSpPr>
        <a:xfrm>
          <a:off x="0" y="0"/>
          <a:ext cx="0" cy="0"/>
          <a:chOff x="0" y="0"/>
          <a:chExt cx="0" cy="0"/>
        </a:xfrm>
      </p:grpSpPr>
      <p:sp>
        <p:nvSpPr>
          <p:cNvPr id="1048659"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Decoding Kendall Notation Symbols</a:t>
            </a:r>
            <a:endParaRPr dirty="0" sz="2600" lang="en-US"/>
          </a:p>
        </p:txBody>
      </p:sp>
      <p:sp>
        <p:nvSpPr>
          <p:cNvPr id="1048660" name="Shape 1"/>
          <p:cNvSpPr/>
          <p:nvPr/>
        </p:nvSpPr>
        <p:spPr>
          <a:xfrm>
            <a:off x="566928" y="1005840"/>
            <a:ext cx="411480" cy="45720"/>
          </a:xfrm>
          <a:prstGeom prst="rect"/>
          <a:solidFill>
            <a:srgbClr val="00B8A9"/>
          </a:solidFill>
        </p:spPr>
      </p:sp>
      <p:graphicFrame>
        <p:nvGraphicFramePr>
          <p:cNvPr id="4194304" name="Table 0"/>
          <p:cNvGraphicFramePr>
            <a:graphicFrameLocks noGrp="1"/>
          </p:cNvGraphicFramePr>
          <p:nvPr/>
        </p:nvGraphicFramePr>
        <p:xfrm>
          <a:off x="548640" y="1045958"/>
          <a:ext cx="11064240" cy="5550262"/>
        </p:xfrm>
        <a:graphic>
          <a:graphicData uri="http://schemas.openxmlformats.org/drawingml/2006/table">
            <a:tbl>
              <a:tblPr/>
              <a:tblGrid>
                <a:gridCol w="3688080"/>
                <a:gridCol w="3688080"/>
                <a:gridCol w="3688080"/>
              </a:tblGrid>
              <a:tr h="692331">
                <a:tc>
                  <a:txBody>
                    <a:bodyPr/>
                    <a:p>
                      <a:pPr indent="0" marL="0">
                        <a:buNone/>
                      </a:pPr>
                      <a:r>
                        <a:rPr b="1" dirty="0" sz="2400" lang="en-US">
                          <a:solidFill>
                            <a:srgbClr val="FFFFFF"/>
                          </a:solidFill>
                          <a:latin typeface="Calibri" pitchFamily="34" charset="0"/>
                          <a:ea typeface="Calibri" pitchFamily="34" charset="-122"/>
                          <a:cs typeface="Calibri" pitchFamily="34" charset="-120"/>
                        </a:rPr>
                        <a:t>Symbol</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0F2942"/>
                    </a:solidFill>
                  </a:tcPr>
                </a:tc>
                <a:tc>
                  <a:txBody>
                    <a:bodyPr/>
                    <a:p>
                      <a:pPr indent="0" marL="0">
                        <a:buNone/>
                      </a:pPr>
                      <a:r>
                        <a:rPr b="1" dirty="0" sz="2400" lang="en-US">
                          <a:solidFill>
                            <a:srgbClr val="FFFFFF"/>
                          </a:solidFill>
                          <a:latin typeface="Calibri" pitchFamily="34" charset="0"/>
                          <a:ea typeface="Calibri" pitchFamily="34" charset="-122"/>
                          <a:cs typeface="Calibri" pitchFamily="34" charset="-120"/>
                        </a:rPr>
                        <a:t>Meaning</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0F2942"/>
                    </a:solidFill>
                  </a:tcPr>
                </a:tc>
                <a:tc>
                  <a:txBody>
                    <a:bodyPr/>
                    <a:p>
                      <a:pPr indent="0" marL="0">
                        <a:buNone/>
                      </a:pPr>
                      <a:r>
                        <a:rPr b="1" dirty="0" sz="2400" lang="en-US">
                          <a:solidFill>
                            <a:srgbClr val="FFFFFF"/>
                          </a:solidFill>
                          <a:latin typeface="Calibri" pitchFamily="34" charset="0"/>
                          <a:ea typeface="Calibri" pitchFamily="34" charset="-122"/>
                          <a:cs typeface="Calibri" pitchFamily="34" charset="-120"/>
                        </a:rPr>
                        <a:t>Common Values</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0F2942"/>
                    </a:solidFill>
                  </a:tcPr>
                </a:tc>
              </a:tr>
              <a:tr h="692331">
                <a:tc>
                  <a:txBody>
                    <a:bodyPr/>
                    <a:p>
                      <a:pPr indent="0" marL="0">
                        <a:buNone/>
                      </a:pPr>
                      <a:r>
                        <a:rPr dirty="0" sz="2400" lang="en-US">
                          <a:solidFill>
                            <a:srgbClr val="1A1A2E"/>
                          </a:solidFill>
                          <a:latin typeface="Calibri" pitchFamily="34" charset="0"/>
                          <a:ea typeface="Calibri" pitchFamily="34" charset="-122"/>
                          <a:cs typeface="Calibri" pitchFamily="34" charset="-120"/>
                        </a:rPr>
                        <a:t>A (Arrival process)</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p>
                      <a:pPr indent="0" marL="0">
                        <a:buNone/>
                      </a:pPr>
                      <a:r>
                        <a:rPr dirty="0" sz="2400" lang="en-US">
                          <a:solidFill>
                            <a:srgbClr val="1A1A2E"/>
                          </a:solidFill>
                          <a:latin typeface="Calibri" pitchFamily="34" charset="0"/>
                          <a:ea typeface="Calibri" pitchFamily="34" charset="-122"/>
                          <a:cs typeface="Calibri" pitchFamily="34" charset="-120"/>
                        </a:rPr>
                        <a:t>Distribution of inter-arrival times</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p>
                      <a:pPr indent="0" marL="0">
                        <a:buNone/>
                      </a:pPr>
                      <a:r>
                        <a:rPr dirty="0" sz="2400" lang="en-US">
                          <a:solidFill>
                            <a:srgbClr val="1A1A2E"/>
                          </a:solidFill>
                          <a:latin typeface="Calibri" pitchFamily="34" charset="0"/>
                          <a:ea typeface="Calibri" pitchFamily="34" charset="-122"/>
                          <a:cs typeface="Calibri" pitchFamily="34" charset="-120"/>
                        </a:rPr>
                        <a:t>M (exponential), D (deterministic), G (general)</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r h="692331">
                <a:tc>
                  <a:txBody>
                    <a:bodyPr/>
                    <a:p>
                      <a:pPr indent="0" marL="0">
                        <a:buNone/>
                      </a:pPr>
                      <a:r>
                        <a:rPr dirty="0" sz="2400" lang="en-US">
                          <a:solidFill>
                            <a:srgbClr val="1A1A2E"/>
                          </a:solidFill>
                          <a:latin typeface="Calibri" pitchFamily="34" charset="0"/>
                          <a:ea typeface="Calibri" pitchFamily="34" charset="-122"/>
                          <a:cs typeface="Calibri" pitchFamily="34" charset="-120"/>
                        </a:rPr>
                        <a:t>S (Service process)</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p>
                      <a:pPr indent="0" marL="0">
                        <a:buNone/>
                      </a:pPr>
                      <a:r>
                        <a:rPr dirty="0" sz="2400" lang="en-US">
                          <a:solidFill>
                            <a:srgbClr val="1A1A2E"/>
                          </a:solidFill>
                          <a:latin typeface="Calibri" pitchFamily="34" charset="0"/>
                          <a:ea typeface="Calibri" pitchFamily="34" charset="-122"/>
                          <a:cs typeface="Calibri" pitchFamily="34" charset="-120"/>
                        </a:rPr>
                        <a:t>Distribution of service times</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p>
                      <a:pPr indent="0" marL="0">
                        <a:buNone/>
                      </a:pPr>
                      <a:r>
                        <a:rPr dirty="0" sz="2400" lang="en-US">
                          <a:solidFill>
                            <a:srgbClr val="1A1A2E"/>
                          </a:solidFill>
                          <a:latin typeface="Calibri" pitchFamily="34" charset="0"/>
                          <a:ea typeface="Calibri" pitchFamily="34" charset="-122"/>
                          <a:cs typeface="Calibri" pitchFamily="34" charset="-120"/>
                        </a:rPr>
                        <a:t>M (exponential), D (deterministic), G (general)</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r>
              <a:tr h="692331">
                <a:tc>
                  <a:txBody>
                    <a:bodyPr/>
                    <a:p>
                      <a:pPr indent="0" marL="0">
                        <a:buNone/>
                      </a:pPr>
                      <a:r>
                        <a:rPr dirty="0" sz="2400" lang="en-US">
                          <a:solidFill>
                            <a:srgbClr val="1A1A2E"/>
                          </a:solidFill>
                          <a:latin typeface="Calibri" pitchFamily="34" charset="0"/>
                          <a:ea typeface="Calibri" pitchFamily="34" charset="-122"/>
                          <a:cs typeface="Calibri" pitchFamily="34" charset="-120"/>
                        </a:rPr>
                        <a:t>c</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p>
                      <a:pPr indent="0" marL="0">
                        <a:buNone/>
                      </a:pPr>
                      <a:r>
                        <a:rPr dirty="0" sz="2400" lang="en-US">
                          <a:solidFill>
                            <a:srgbClr val="1A1A2E"/>
                          </a:solidFill>
                          <a:latin typeface="Calibri" pitchFamily="34" charset="0"/>
                          <a:ea typeface="Calibri" pitchFamily="34" charset="-122"/>
                          <a:cs typeface="Calibri" pitchFamily="34" charset="-120"/>
                        </a:rPr>
                        <a:t>Number of parallel servers</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p>
                      <a:pPr indent="0" marL="0">
                        <a:buNone/>
                      </a:pPr>
                      <a:r>
                        <a:rPr dirty="0" sz="2400" lang="en-US">
                          <a:solidFill>
                            <a:srgbClr val="1A1A2E"/>
                          </a:solidFill>
                          <a:latin typeface="Calibri" pitchFamily="34" charset="0"/>
                          <a:ea typeface="Calibri" pitchFamily="34" charset="-122"/>
                          <a:cs typeface="Calibri" pitchFamily="34" charset="-120"/>
                        </a:rPr>
                        <a:t>1, 2, 3, ...</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r h="692331">
                <a:tc>
                  <a:txBody>
                    <a:bodyPr/>
                    <a:p>
                      <a:pPr indent="0" marL="0">
                        <a:buNone/>
                      </a:pPr>
                      <a:r>
                        <a:rPr dirty="0" sz="2400" lang="en-US">
                          <a:solidFill>
                            <a:srgbClr val="1A1A2E"/>
                          </a:solidFill>
                          <a:latin typeface="Calibri" pitchFamily="34" charset="0"/>
                          <a:ea typeface="Calibri" pitchFamily="34" charset="-122"/>
                          <a:cs typeface="Calibri" pitchFamily="34" charset="-120"/>
                        </a:rPr>
                        <a:t>K</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p>
                      <a:pPr indent="0" marL="0">
                        <a:buNone/>
                      </a:pPr>
                      <a:r>
                        <a:rPr dirty="0" sz="2400" lang="en-US">
                          <a:solidFill>
                            <a:srgbClr val="1A1A2E"/>
                          </a:solidFill>
                          <a:latin typeface="Calibri" pitchFamily="34" charset="0"/>
                          <a:ea typeface="Calibri" pitchFamily="34" charset="-122"/>
                          <a:cs typeface="Calibri" pitchFamily="34" charset="-120"/>
                        </a:rPr>
                        <a:t>Maximum system capacity (queue + service)</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p>
                      <a:pPr indent="0" marL="0">
                        <a:buNone/>
                      </a:pPr>
                      <a:r>
                        <a:rPr dirty="0" sz="2400" lang="en-US">
                          <a:solidFill>
                            <a:srgbClr val="1A1A2E"/>
                          </a:solidFill>
                          <a:latin typeface="Calibri" pitchFamily="34" charset="0"/>
                          <a:ea typeface="Calibri" pitchFamily="34" charset="-122"/>
                          <a:cs typeface="Calibri" pitchFamily="34" charset="-120"/>
                        </a:rPr>
                        <a:t>Infinite (often omitted), or a finite number</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r>
              <a:tr h="692331">
                <a:tc>
                  <a:txBody>
                    <a:bodyPr/>
                    <a:p>
                      <a:pPr indent="0" marL="0">
                        <a:buNone/>
                      </a:pPr>
                      <a:r>
                        <a:rPr dirty="0" sz="2400" lang="en-US">
                          <a:solidFill>
                            <a:srgbClr val="1A1A2E"/>
                          </a:solidFill>
                          <a:latin typeface="Calibri" pitchFamily="34" charset="0"/>
                          <a:ea typeface="Calibri" pitchFamily="34" charset="-122"/>
                          <a:cs typeface="Calibri" pitchFamily="34" charset="-120"/>
                        </a:rPr>
                        <a:t>N</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p>
                      <a:pPr indent="0" marL="0">
                        <a:buNone/>
                      </a:pPr>
                      <a:r>
                        <a:rPr dirty="0" sz="2400" lang="en-US">
                          <a:solidFill>
                            <a:srgbClr val="1A1A2E"/>
                          </a:solidFill>
                          <a:latin typeface="Calibri" pitchFamily="34" charset="0"/>
                          <a:ea typeface="Calibri" pitchFamily="34" charset="-122"/>
                          <a:cs typeface="Calibri" pitchFamily="34" charset="-120"/>
                        </a:rPr>
                        <a:t>Size of the calling population</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p>
                      <a:pPr indent="0" marL="0">
                        <a:buNone/>
                      </a:pPr>
                      <a:r>
                        <a:rPr dirty="0" sz="2400" lang="en-US">
                          <a:solidFill>
                            <a:srgbClr val="1A1A2E"/>
                          </a:solidFill>
                          <a:latin typeface="Calibri" pitchFamily="34" charset="0"/>
                          <a:ea typeface="Calibri" pitchFamily="34" charset="-122"/>
                          <a:cs typeface="Calibri" pitchFamily="34" charset="-120"/>
                        </a:rPr>
                        <a:t>Infinite (often omitted), or a finite number</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r h="692331">
                <a:tc>
                  <a:txBody>
                    <a:bodyPr/>
                    <a:p>
                      <a:pPr indent="0" marL="0">
                        <a:buNone/>
                      </a:pPr>
                      <a:r>
                        <a:rPr dirty="0" sz="2400" lang="en-US">
                          <a:solidFill>
                            <a:srgbClr val="1A1A2E"/>
                          </a:solidFill>
                          <a:latin typeface="Calibri" pitchFamily="34" charset="0"/>
                          <a:ea typeface="Calibri" pitchFamily="34" charset="-122"/>
                          <a:cs typeface="Calibri" pitchFamily="34" charset="-120"/>
                        </a:rPr>
                        <a:t>D</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p>
                      <a:pPr indent="0" marL="0">
                        <a:buNone/>
                      </a:pPr>
                      <a:r>
                        <a:rPr dirty="0" sz="2400" lang="en-US">
                          <a:solidFill>
                            <a:srgbClr val="1A1A2E"/>
                          </a:solidFill>
                          <a:latin typeface="Calibri" pitchFamily="34" charset="0"/>
                          <a:ea typeface="Calibri" pitchFamily="34" charset="-122"/>
                          <a:cs typeface="Calibri" pitchFamily="34" charset="-120"/>
                        </a:rPr>
                        <a:t>Queue discipline</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p>
                      <a:pPr indent="0" marL="0">
                        <a:buNone/>
                      </a:pPr>
                      <a:r>
                        <a:rPr dirty="0" sz="2400" lang="en-US">
                          <a:solidFill>
                            <a:srgbClr val="1A1A2E"/>
                          </a:solidFill>
                          <a:latin typeface="Calibri" pitchFamily="34" charset="0"/>
                          <a:ea typeface="Calibri" pitchFamily="34" charset="-122"/>
                          <a:cs typeface="Calibri" pitchFamily="34" charset="-120"/>
                        </a:rPr>
                        <a:t>FCFS (default), LCFS, priority, random</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r>
            </a:tbl>
          </a:graphicData>
        </a:graphic>
      </p:graphicFrame>
      <p:sp>
        <p:nvSpPr>
          <p:cNvPr id="1048661" name="Text 2"/>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4: Queueing Theory Fundamentals</a:t>
            </a:r>
            <a:endParaRPr dirty="0" sz="900" lang="en-US"/>
          </a:p>
        </p:txBody>
      </p:sp>
      <p:sp>
        <p:nvSpPr>
          <p:cNvPr id="1048662" name="Text 3"/>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7</a:t>
            </a:r>
            <a:endParaRPr dirty="0" sz="900"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56" name=""/>
        <p:cNvGrpSpPr/>
        <p:nvPr/>
      </p:nvGrpSpPr>
      <p:grpSpPr>
        <a:xfrm>
          <a:off x="0" y="0"/>
          <a:ext cx="0" cy="0"/>
          <a:chOff x="0" y="0"/>
          <a:chExt cx="0" cy="0"/>
        </a:xfrm>
      </p:grpSpPr>
      <p:sp>
        <p:nvSpPr>
          <p:cNvPr id="1048666"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Why 'M' Stands for Markovian</a:t>
            </a:r>
            <a:endParaRPr dirty="0" sz="2600" lang="en-US"/>
          </a:p>
        </p:txBody>
      </p:sp>
      <p:sp>
        <p:nvSpPr>
          <p:cNvPr id="1048667" name="Shape 1"/>
          <p:cNvSpPr/>
          <p:nvPr/>
        </p:nvSpPr>
        <p:spPr>
          <a:xfrm>
            <a:off x="566928" y="1005840"/>
            <a:ext cx="411480" cy="45720"/>
          </a:xfrm>
          <a:prstGeom prst="rect"/>
          <a:solidFill>
            <a:srgbClr val="00B8A9"/>
          </a:solidFill>
        </p:spPr>
      </p:sp>
      <p:sp>
        <p:nvSpPr>
          <p:cNvPr id="1048668"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The letter M refers to the exponential distribution, because of its memoryless (Markovian) property from Lecture 3</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An M/M/1 queue means: exponential (Markovian) inter-arrival times, exponential (Markovian) service times, and 1 server</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This is the simplest, most analytically tractable queueing model — and the one we solve in full detail in Lecture 5</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As we move to M/G/1 (general service times) and beyond, the mathematics becomes progressively more complex, exactly as you would expect from relaxing the memoryless assumption</a:t>
            </a:r>
            <a:endParaRPr dirty="0" sz="2400" lang="en-US"/>
          </a:p>
        </p:txBody>
      </p:sp>
      <p:sp>
        <p:nvSpPr>
          <p:cNvPr id="1048669"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4: Queueing Theory Fundamentals</a:t>
            </a:r>
            <a:endParaRPr dirty="0" sz="900" lang="en-US"/>
          </a:p>
        </p:txBody>
      </p:sp>
      <p:sp>
        <p:nvSpPr>
          <p:cNvPr id="1048670"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8</a:t>
            </a:r>
            <a:endParaRPr dirty="0" sz="900"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59" name=""/>
        <p:cNvGrpSpPr/>
        <p:nvPr/>
      </p:nvGrpSpPr>
      <p:grpSpPr>
        <a:xfrm>
          <a:off x="0" y="0"/>
          <a:ext cx="0" cy="0"/>
          <a:chOff x="0" y="0"/>
          <a:chExt cx="0" cy="0"/>
        </a:xfrm>
      </p:grpSpPr>
      <p:sp>
        <p:nvSpPr>
          <p:cNvPr id="1048674"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Examples of Kendall Notation in Practice</a:t>
            </a:r>
            <a:endParaRPr dirty="0" sz="2600" lang="en-US"/>
          </a:p>
        </p:txBody>
      </p:sp>
      <p:sp>
        <p:nvSpPr>
          <p:cNvPr id="1048675" name="Shape 1"/>
          <p:cNvSpPr/>
          <p:nvPr/>
        </p:nvSpPr>
        <p:spPr>
          <a:xfrm>
            <a:off x="566928" y="1005840"/>
            <a:ext cx="411480" cy="45720"/>
          </a:xfrm>
          <a:prstGeom prst="rect"/>
          <a:solidFill>
            <a:srgbClr val="00B8A9"/>
          </a:solidFill>
        </p:spPr>
      </p:sp>
      <p:sp>
        <p:nvSpPr>
          <p:cNvPr id="1048676"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M/M/1</a:t>
            </a:r>
            <a:endParaRPr dirty="0" sz="2400" lang="en-US"/>
          </a:p>
          <a:p>
            <a:pPr indent="-342900" lvl="1" marL="685800">
              <a:spcAft>
                <a:spcPts val="600"/>
              </a:spcAft>
              <a:buSzPct val="100000"/>
              <a:buChar char="–"/>
            </a:pPr>
            <a:r>
              <a:rPr dirty="0" sz="2000" lang="en-US">
                <a:solidFill>
                  <a:srgbClr val="44546A"/>
                </a:solidFill>
                <a:latin typeface="Calibri" pitchFamily="34" charset="0"/>
                <a:ea typeface="Calibri" pitchFamily="34" charset="-122"/>
                <a:cs typeface="Calibri" pitchFamily="34" charset="-120"/>
              </a:rPr>
              <a:t>Single server, exponential arrivals, exponential service — e.g., a single CPU core, simplified</a:t>
            </a:r>
            <a:endParaRPr dirty="0" sz="2400" lang="en-US"/>
          </a:p>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M/M/c</a:t>
            </a:r>
            <a:endParaRPr dirty="0" sz="2400" lang="en-US"/>
          </a:p>
          <a:p>
            <a:pPr indent="-342900" lvl="1" marL="685800">
              <a:spcAft>
                <a:spcPts val="600"/>
              </a:spcAft>
              <a:buSzPct val="100000"/>
              <a:buChar char="–"/>
            </a:pPr>
            <a:r>
              <a:rPr dirty="0" sz="2000" lang="en-US">
                <a:solidFill>
                  <a:srgbClr val="44546A"/>
                </a:solidFill>
                <a:latin typeface="Calibri" pitchFamily="34" charset="0"/>
                <a:ea typeface="Calibri" pitchFamily="34" charset="-122"/>
                <a:cs typeface="Calibri" pitchFamily="34" charset="-120"/>
              </a:rPr>
              <a:t>c identical parallel servers, exponential arrivals and service — e.g., a load-balanced pool of web servers</a:t>
            </a:r>
            <a:endParaRPr dirty="0" sz="2400" lang="en-US"/>
          </a:p>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M/G/1</a:t>
            </a:r>
            <a:endParaRPr dirty="0" sz="2400" lang="en-US"/>
          </a:p>
          <a:p>
            <a:pPr indent="-342900" lvl="1" marL="685800">
              <a:spcAft>
                <a:spcPts val="600"/>
              </a:spcAft>
              <a:buSzPct val="100000"/>
              <a:buChar char="–"/>
            </a:pPr>
            <a:r>
              <a:rPr dirty="0" sz="2000" lang="en-US">
                <a:solidFill>
                  <a:srgbClr val="44546A"/>
                </a:solidFill>
                <a:latin typeface="Calibri" pitchFamily="34" charset="0"/>
                <a:ea typeface="Calibri" pitchFamily="34" charset="-122"/>
                <a:cs typeface="Calibri" pitchFamily="34" charset="-120"/>
              </a:rPr>
              <a:t>Single server, exponential arrivals, but a general (arbitrary) service time distribution — more realistic for many real services</a:t>
            </a:r>
            <a:endParaRPr dirty="0" sz="2400" lang="en-US"/>
          </a:p>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M/M/1/K</a:t>
            </a:r>
            <a:endParaRPr dirty="0" sz="2400" lang="en-US"/>
          </a:p>
          <a:p>
            <a:pPr indent="-342900" lvl="1" marL="685800">
              <a:spcAft>
                <a:spcPts val="600"/>
              </a:spcAft>
              <a:buSzPct val="100000"/>
              <a:buChar char="–"/>
            </a:pPr>
            <a:r>
              <a:rPr dirty="0" sz="2000" lang="en-US">
                <a:solidFill>
                  <a:srgbClr val="44546A"/>
                </a:solidFill>
                <a:latin typeface="Calibri" pitchFamily="34" charset="0"/>
                <a:ea typeface="Calibri" pitchFamily="34" charset="-122"/>
                <a:cs typeface="Calibri" pitchFamily="34" charset="-120"/>
              </a:rPr>
              <a:t>Like M/M/1, but with a finite queue capacity K — e.g., a connection pool with a maximum size</a:t>
            </a:r>
            <a:endParaRPr dirty="0" sz="2400" lang="en-US"/>
          </a:p>
        </p:txBody>
      </p:sp>
      <p:sp>
        <p:nvSpPr>
          <p:cNvPr id="1048677"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4: Queueing Theory Fundamentals</a:t>
            </a:r>
            <a:endParaRPr dirty="0" sz="900" lang="en-US"/>
          </a:p>
        </p:txBody>
      </p:sp>
      <p:sp>
        <p:nvSpPr>
          <p:cNvPr id="1048678"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9</a:t>
            </a:r>
            <a:endParaRPr dirty="0" sz="900"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2942"/>
        </a:solidFill>
        <a:effectLst/>
      </p:bgPr>
    </p:bg>
    <p:spTree>
      <p:nvGrpSpPr>
        <p:cNvPr id="62" name=""/>
        <p:cNvGrpSpPr/>
        <p:nvPr/>
      </p:nvGrpSpPr>
      <p:grpSpPr>
        <a:xfrm>
          <a:off x="0" y="0"/>
          <a:ext cx="0" cy="0"/>
          <a:chOff x="0" y="0"/>
          <a:chExt cx="0" cy="0"/>
        </a:xfrm>
      </p:grpSpPr>
      <p:sp>
        <p:nvSpPr>
          <p:cNvPr id="1048682" name="Shape 0"/>
          <p:cNvSpPr/>
          <p:nvPr/>
        </p:nvSpPr>
        <p:spPr>
          <a:xfrm>
            <a:off x="0" y="0"/>
            <a:ext cx="228600" cy="6858000"/>
          </a:xfrm>
          <a:prstGeom prst="rect"/>
          <a:solidFill>
            <a:srgbClr val="00B8A9"/>
          </a:solidFill>
        </p:spPr>
      </p:sp>
      <p:sp>
        <p:nvSpPr>
          <p:cNvPr id="1048683" name="Text 1"/>
          <p:cNvSpPr/>
          <p:nvPr/>
        </p:nvSpPr>
        <p:spPr>
          <a:xfrm>
            <a:off x="822960" y="822960"/>
            <a:ext cx="5486400" cy="365760"/>
          </a:xfrm>
          <a:prstGeom prst="rect"/>
          <a:noFill/>
        </p:spPr>
        <p:txBody>
          <a:bodyPr anchor="ctr" bIns="0" lIns="0" rIns="0" rtlCol="0" tIns="0" wrap="square"/>
          <a:p>
            <a:pPr indent="0" marL="0">
              <a:buNone/>
            </a:pPr>
            <a:r>
              <a:rPr b="1" dirty="0" sz="1400" lang="en-US">
                <a:solidFill>
                  <a:srgbClr val="00B8A9"/>
                </a:solidFill>
                <a:latin typeface="Calibri" pitchFamily="34" charset="0"/>
                <a:ea typeface="Calibri" pitchFamily="34" charset="-122"/>
                <a:cs typeface="Calibri" pitchFamily="34" charset="-120"/>
              </a:rPr>
              <a:t>DEFINITION</a:t>
            </a:r>
            <a:endParaRPr dirty="0" sz="1400" lang="en-US"/>
          </a:p>
        </p:txBody>
      </p:sp>
      <p:sp>
        <p:nvSpPr>
          <p:cNvPr id="1048684" name="Text 2"/>
          <p:cNvSpPr/>
          <p:nvPr/>
        </p:nvSpPr>
        <p:spPr>
          <a:xfrm>
            <a:off x="822960" y="1188720"/>
            <a:ext cx="10515600" cy="822960"/>
          </a:xfrm>
          <a:prstGeom prst="rect"/>
          <a:noFill/>
        </p:spPr>
        <p:txBody>
          <a:bodyPr anchor="ctr" bIns="0" lIns="0" rIns="0" rtlCol="0" tIns="0" wrap="square"/>
          <a:p>
            <a:pPr indent="0" marL="0">
              <a:buNone/>
            </a:pPr>
            <a:r>
              <a:rPr b="1" dirty="0" sz="3000" lang="en-US">
                <a:solidFill>
                  <a:srgbClr val="FFFFFF"/>
                </a:solidFill>
                <a:latin typeface="Calibri" pitchFamily="34" charset="0"/>
                <a:ea typeface="Calibri" pitchFamily="34" charset="-122"/>
                <a:cs typeface="Calibri" pitchFamily="34" charset="-120"/>
              </a:rPr>
              <a:t>Birth-Death Process</a:t>
            </a:r>
            <a:endParaRPr dirty="0" sz="3000" lang="en-US"/>
          </a:p>
        </p:txBody>
      </p:sp>
      <p:sp>
        <p:nvSpPr>
          <p:cNvPr id="1048685" name="Text 3"/>
          <p:cNvSpPr/>
          <p:nvPr/>
        </p:nvSpPr>
        <p:spPr>
          <a:xfrm>
            <a:off x="822960" y="2148840"/>
            <a:ext cx="10241280" cy="1828800"/>
          </a:xfrm>
          <a:prstGeom prst="rect"/>
          <a:noFill/>
        </p:spPr>
        <p:txBody>
          <a:bodyPr anchor="t" bIns="0" lIns="0" rIns="0" rtlCol="0" tIns="0" wrap="square"/>
          <a:p>
            <a:pPr indent="0" marL="0">
              <a:lnSpc>
                <a:spcPct val="130000"/>
              </a:lnSpc>
              <a:buNone/>
            </a:pPr>
            <a:r>
              <a:rPr dirty="0" sz="2400" i="1" lang="en-US">
                <a:solidFill>
                  <a:srgbClr val="DCE3EA"/>
                </a:solidFill>
                <a:latin typeface="Calibri" pitchFamily="34" charset="0"/>
                <a:ea typeface="Calibri" pitchFamily="34" charset="-122"/>
                <a:cs typeface="Calibri" pitchFamily="34" charset="-120"/>
              </a:rPr>
              <a:t>“A continuous-time Markov process used to model queueing systems, in which the number of entities in the system changes by exactly one at each transition: a 'birth' (arrival) increases the count by 1, and a 'death' (departure/completion) decreases it by 1.”</a:t>
            </a:r>
            <a:endParaRPr dirty="0" sz="2400" lang="en-US"/>
          </a:p>
        </p:txBody>
      </p:sp>
      <p:sp>
        <p:nvSpPr>
          <p:cNvPr id="1048686" name="Text 4"/>
          <p:cNvSpPr/>
          <p:nvPr/>
        </p:nvSpPr>
        <p:spPr>
          <a:xfrm>
            <a:off x="822960" y="4114800"/>
            <a:ext cx="10241280" cy="2103120"/>
          </a:xfrm>
          <a:prstGeom prst="rect"/>
          <a:noFill/>
        </p:spPr>
        <p:txBody>
          <a:bodyPr anchor="t" bIns="0" lIns="0" rIns="0" rtlCol="0" tIns="0" wrap="square"/>
          <a:p>
            <a:pPr indent="-342900" marL="342900">
              <a:spcAft>
                <a:spcPts val="800"/>
              </a:spcAft>
              <a:buSzPct val="100000"/>
              <a:buChar char="•"/>
            </a:pPr>
            <a:r>
              <a:rPr dirty="0" sz="2400" lang="en-US">
                <a:solidFill>
                  <a:srgbClr val="C7D0D9"/>
                </a:solidFill>
                <a:latin typeface="Calibri" pitchFamily="34" charset="0"/>
                <a:ea typeface="Calibri" pitchFamily="34" charset="-122"/>
                <a:cs typeface="Calibri" pitchFamily="34" charset="-120"/>
              </a:rPr>
              <a:t>This process underlies the derivation of every M/M/* formula in this course — understanding it is the key to understanding where the formulas 'come from', not just memorizing them</a:t>
            </a:r>
            <a:endParaRPr dirty="0" sz="2400" lang="en-US"/>
          </a:p>
        </p:txBody>
      </p:sp>
      <p:sp>
        <p:nvSpPr>
          <p:cNvPr id="1048687" name="Text 5"/>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4: Queueing Theory Fundamentals</a:t>
            </a:r>
            <a:endParaRPr dirty="0" sz="900" lang="en-US"/>
          </a:p>
        </p:txBody>
      </p:sp>
      <p:sp>
        <p:nvSpPr>
          <p:cNvPr id="1048688" name="Text 6"/>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10</a:t>
            </a:r>
            <a:endParaRPr dirty="0" sz="900"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65" name=""/>
        <p:cNvGrpSpPr/>
        <p:nvPr/>
      </p:nvGrpSpPr>
      <p:grpSpPr>
        <a:xfrm>
          <a:off x="0" y="0"/>
          <a:ext cx="0" cy="0"/>
          <a:chOff x="0" y="0"/>
          <a:chExt cx="0" cy="0"/>
        </a:xfrm>
      </p:grpSpPr>
      <p:sp>
        <p:nvSpPr>
          <p:cNvPr id="1048692"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State Transition Diagrams</a:t>
            </a:r>
            <a:endParaRPr dirty="0" sz="2600" lang="en-US"/>
          </a:p>
        </p:txBody>
      </p:sp>
      <p:sp>
        <p:nvSpPr>
          <p:cNvPr id="1048693" name="Shape 1"/>
          <p:cNvSpPr/>
          <p:nvPr/>
        </p:nvSpPr>
        <p:spPr>
          <a:xfrm>
            <a:off x="566928" y="1005840"/>
            <a:ext cx="411480" cy="45720"/>
          </a:xfrm>
          <a:prstGeom prst="rect"/>
          <a:solidFill>
            <a:srgbClr val="00B8A9"/>
          </a:solidFill>
        </p:spPr>
      </p:sp>
      <p:sp>
        <p:nvSpPr>
          <p:cNvPr id="1048694"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A birth-death process is visualized as a chain of states: 0, 1, 2, 3, ... representing the number of entities in the system</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Transition from state n to n+1 happens at rate lambda_n (an arrival)</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Transition from state n to n-1 happens at rate mu_n (a departure/service completion)</a:t>
            </a:r>
            <a:endParaRPr dirty="0" sz="2800" lang="en-US"/>
          </a:p>
          <a:p>
            <a:pPr indent="-342900" marL="342900">
              <a:spcAft>
                <a:spcPts val="1200"/>
              </a:spcAft>
              <a:buSzPct val="100000"/>
              <a:buChar char="•"/>
            </a:pPr>
            <a:r>
              <a:rPr dirty="0" sz="2800" lang="en-US">
                <a:solidFill>
                  <a:srgbClr val="1A1A2E"/>
                </a:solidFill>
                <a:latin typeface="Calibri" pitchFamily="34" charset="0"/>
                <a:ea typeface="Calibri" pitchFamily="34" charset="-122"/>
                <a:cs typeface="Calibri" pitchFamily="34" charset="-120"/>
              </a:rPr>
              <a:t>For the simplest M/M/1 case, lambda_n = lambda (constant arrival rate) and mu_n = mu (constant service rate) for all n greater than 0</a:t>
            </a:r>
            <a:endParaRPr dirty="0" sz="2800" lang="en-US"/>
          </a:p>
          <a:p>
            <a:pPr indent="-342900" marL="342900">
              <a:spcAft>
                <a:spcPts val="1200"/>
              </a:spcAft>
              <a:buSzPct val="100000"/>
              <a:buChar char="•"/>
            </a:pPr>
            <a:r>
              <a:rPr dirty="0" sz="2800" lang="en-US">
                <a:solidFill>
                  <a:srgbClr val="1A1A2E"/>
                </a:solidFill>
                <a:latin typeface="Calibri" pitchFamily="34" charset="0"/>
                <a:ea typeface="Calibri" pitchFamily="34" charset="-122"/>
                <a:cs typeface="Calibri" pitchFamily="34" charset="-120"/>
              </a:rPr>
              <a:t>Solving for the long-run probability of being in each state (the 'steady-state distribution') is how we derive formulas for average queue length, wait time, and more</a:t>
            </a:r>
            <a:endParaRPr dirty="0" sz="2800" lang="en-US"/>
          </a:p>
        </p:txBody>
      </p:sp>
      <p:sp>
        <p:nvSpPr>
          <p:cNvPr id="1048695"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4: Queueing Theory Fundamentals</a:t>
            </a:r>
            <a:endParaRPr dirty="0" sz="900" lang="en-US"/>
          </a:p>
        </p:txBody>
      </p:sp>
      <p:sp>
        <p:nvSpPr>
          <p:cNvPr id="1048696"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11</a:t>
            </a:r>
            <a:endParaRPr dirty="0" sz="900"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68" name=""/>
        <p:cNvGrpSpPr/>
        <p:nvPr/>
      </p:nvGrpSpPr>
      <p:grpSpPr>
        <a:xfrm>
          <a:off x="0" y="0"/>
          <a:ext cx="0" cy="0"/>
          <a:chOff x="0" y="0"/>
          <a:chExt cx="0" cy="0"/>
        </a:xfrm>
      </p:grpSpPr>
      <p:sp>
        <p:nvSpPr>
          <p:cNvPr id="1048700"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State Transition Diagram (Illustrative, M/M/1)</a:t>
            </a:r>
            <a:endParaRPr dirty="0" sz="2600" lang="en-US"/>
          </a:p>
        </p:txBody>
      </p:sp>
      <p:sp>
        <p:nvSpPr>
          <p:cNvPr id="1048701" name="Shape 1"/>
          <p:cNvSpPr/>
          <p:nvPr/>
        </p:nvSpPr>
        <p:spPr>
          <a:xfrm>
            <a:off x="566928" y="1005840"/>
            <a:ext cx="411480" cy="45720"/>
          </a:xfrm>
          <a:prstGeom prst="rect"/>
          <a:solidFill>
            <a:srgbClr val="00B8A9"/>
          </a:solidFill>
        </p:spPr>
      </p:sp>
      <p:sp>
        <p:nvSpPr>
          <p:cNvPr id="1048702" name="Shape 2"/>
          <p:cNvSpPr/>
          <p:nvPr/>
        </p:nvSpPr>
        <p:spPr>
          <a:xfrm>
            <a:off x="548640" y="1325880"/>
            <a:ext cx="11064240" cy="4297680"/>
          </a:xfrm>
          <a:prstGeom prst="roundRect">
            <a:avLst>
              <a:gd name="adj" fmla="val 1702"/>
            </a:avLst>
          </a:prstGeom>
          <a:solidFill>
            <a:srgbClr val="0A1D30"/>
          </a:solidFill>
        </p:spPr>
      </p:sp>
      <p:sp>
        <p:nvSpPr>
          <p:cNvPr id="1048703" name="Text 3"/>
          <p:cNvSpPr/>
          <p:nvPr/>
        </p:nvSpPr>
        <p:spPr>
          <a:xfrm>
            <a:off x="822960" y="1508760"/>
            <a:ext cx="10515600" cy="3931920"/>
          </a:xfrm>
          <a:prstGeom prst="rect"/>
          <a:noFill/>
        </p:spPr>
        <p:txBody>
          <a:bodyPr anchor="t" bIns="0" lIns="0" rIns="0" rtlCol="0" tIns="0" wrap="square"/>
          <a:p>
            <a:pPr indent="0" marL="0">
              <a:buNone/>
            </a:pPr>
            <a:r>
              <a:rPr dirty="0" sz="2000" lang="en-US">
                <a:solidFill>
                  <a:srgbClr val="9BE8DD"/>
                </a:solidFill>
                <a:latin typeface="Consolas" pitchFamily="34" charset="0"/>
                <a:ea typeface="Consolas" pitchFamily="34" charset="-122"/>
                <a:cs typeface="Consolas" pitchFamily="34" charset="-120"/>
              </a:rPr>
              <a:t>        lambda    lambda    lambda    lambda</a:t>
            </a:r>
            <a:endParaRPr dirty="0" sz="2000" lang="en-US"/>
          </a:p>
          <a:p>
            <a:pPr indent="0" marL="0">
              <a:buNone/>
            </a:pPr>
            <a:r>
              <a:rPr dirty="0" sz="2000" lang="en-US">
                <a:solidFill>
                  <a:srgbClr val="9BE8DD"/>
                </a:solidFill>
                <a:latin typeface="Consolas" pitchFamily="34" charset="0"/>
                <a:ea typeface="Consolas" pitchFamily="34" charset="-122"/>
                <a:cs typeface="Consolas" pitchFamily="34" charset="-120"/>
              </a:rPr>
              <a:t>  0 --------&gt; 1 --------&gt; 2 --------&gt; 3 --------&gt; ...</a:t>
            </a:r>
            <a:endParaRPr dirty="0" sz="2000" lang="en-US"/>
          </a:p>
          <a:p>
            <a:pPr indent="0" marL="0">
              <a:buNone/>
            </a:pPr>
            <a:r>
              <a:rPr dirty="0" sz="2000" lang="en-US">
                <a:solidFill>
                  <a:srgbClr val="9BE8DD"/>
                </a:solidFill>
                <a:latin typeface="Consolas" pitchFamily="34" charset="0"/>
                <a:ea typeface="Consolas" pitchFamily="34" charset="-122"/>
                <a:cs typeface="Consolas" pitchFamily="34" charset="-120"/>
              </a:rPr>
              <a:t>    &lt;--------   &lt;--------   &lt;--------   &lt;--------</a:t>
            </a:r>
            <a:endParaRPr dirty="0" sz="2000" lang="en-US"/>
          </a:p>
          <a:p>
            <a:pPr indent="0" marL="0">
              <a:buNone/>
            </a:pPr>
            <a:r>
              <a:rPr dirty="0" sz="2000" lang="en-US">
                <a:solidFill>
                  <a:srgbClr val="9BE8DD"/>
                </a:solidFill>
                <a:latin typeface="Consolas" pitchFamily="34" charset="0"/>
                <a:ea typeface="Consolas" pitchFamily="34" charset="-122"/>
                <a:cs typeface="Consolas" pitchFamily="34" charset="-120"/>
              </a:rPr>
              <a:t>        mu        mu        mu        mu</a:t>
            </a:r>
            <a:endParaRPr dirty="0" sz="2000" lang="en-US"/>
          </a:p>
          <a:p>
            <a:pPr indent="0" marL="0">
              <a:buNone/>
            </a:pPr>
            <a:endParaRPr dirty="0" sz="2000" lang="en-US"/>
          </a:p>
          <a:p>
            <a:pPr indent="0" marL="0">
              <a:buNone/>
            </a:pPr>
            <a:r>
              <a:rPr dirty="0" sz="2000" lang="en-US">
                <a:solidFill>
                  <a:srgbClr val="9BE8DD"/>
                </a:solidFill>
                <a:latin typeface="Consolas" pitchFamily="34" charset="0"/>
                <a:ea typeface="Consolas" pitchFamily="34" charset="-122"/>
                <a:cs typeface="Consolas" pitchFamily="34" charset="-120"/>
              </a:rPr>
              <a:t>State n = number of requests currently in the system</a:t>
            </a:r>
            <a:endParaRPr dirty="0" sz="2000" lang="en-US"/>
          </a:p>
          <a:p>
            <a:pPr indent="0" marL="0">
              <a:buNone/>
            </a:pPr>
            <a:r>
              <a:rPr dirty="0" sz="2000" lang="en-US">
                <a:solidFill>
                  <a:srgbClr val="9BE8DD"/>
                </a:solidFill>
                <a:latin typeface="Consolas" pitchFamily="34" charset="0"/>
                <a:ea typeface="Consolas" pitchFamily="34" charset="-122"/>
                <a:cs typeface="Consolas" pitchFamily="34" charset="-120"/>
              </a:rPr>
              <a:t>lambda = arrival rate      mu = service rate</a:t>
            </a:r>
            <a:endParaRPr dirty="0" sz="2000" lang="en-US"/>
          </a:p>
        </p:txBody>
      </p:sp>
      <p:sp>
        <p:nvSpPr>
          <p:cNvPr id="1048704" name="Text 4"/>
          <p:cNvSpPr/>
          <p:nvPr/>
        </p:nvSpPr>
        <p:spPr>
          <a:xfrm>
            <a:off x="548640" y="5715000"/>
            <a:ext cx="11064240" cy="502920"/>
          </a:xfrm>
          <a:prstGeom prst="rect"/>
          <a:noFill/>
        </p:spPr>
        <p:txBody>
          <a:bodyPr anchor="ctr" bIns="0" lIns="0" rIns="0" rtlCol="0" tIns="0" wrap="square"/>
          <a:p>
            <a:pPr indent="0" marL="0">
              <a:buNone/>
            </a:pPr>
            <a:r>
              <a:rPr dirty="0" sz="1250" i="1" lang="en-US">
                <a:solidFill>
                  <a:srgbClr val="44546A"/>
                </a:solidFill>
                <a:latin typeface="Calibri" pitchFamily="34" charset="0"/>
                <a:ea typeface="Calibri" pitchFamily="34" charset="-122"/>
                <a:cs typeface="Calibri" pitchFamily="34" charset="-120"/>
              </a:rPr>
              <a:t>Each state transitions right (birth) at rate lambda, and left (death) at rate mu — the balance between these two rates determines system stability.</a:t>
            </a:r>
            <a:endParaRPr dirty="0" sz="1250" lang="en-US"/>
          </a:p>
        </p:txBody>
      </p:sp>
      <p:sp>
        <p:nvSpPr>
          <p:cNvPr id="1048705" name="Text 5"/>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4: Queueing Theory Fundamentals</a:t>
            </a:r>
            <a:endParaRPr dirty="0" sz="900" lang="en-US"/>
          </a:p>
        </p:txBody>
      </p:sp>
      <p:sp>
        <p:nvSpPr>
          <p:cNvPr id="1048706" name="Text 6"/>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12</a:t>
            </a:r>
            <a:endParaRPr dirty="0" sz="900"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71" name=""/>
        <p:cNvGrpSpPr/>
        <p:nvPr/>
      </p:nvGrpSpPr>
      <p:grpSpPr>
        <a:xfrm>
          <a:off x="0" y="0"/>
          <a:ext cx="0" cy="0"/>
          <a:chOff x="0" y="0"/>
          <a:chExt cx="0" cy="0"/>
        </a:xfrm>
      </p:grpSpPr>
      <p:sp>
        <p:nvSpPr>
          <p:cNvPr id="1048710"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Steady-State: What It Means and Why It Matters</a:t>
            </a:r>
            <a:endParaRPr dirty="0" sz="2600" lang="en-US"/>
          </a:p>
        </p:txBody>
      </p:sp>
      <p:sp>
        <p:nvSpPr>
          <p:cNvPr id="1048711" name="Shape 1"/>
          <p:cNvSpPr/>
          <p:nvPr/>
        </p:nvSpPr>
        <p:spPr>
          <a:xfrm>
            <a:off x="566928" y="1005840"/>
            <a:ext cx="411480" cy="45720"/>
          </a:xfrm>
          <a:prstGeom prst="rect"/>
          <a:solidFill>
            <a:srgbClr val="00B8A9"/>
          </a:solidFill>
        </p:spPr>
      </p:sp>
      <p:sp>
        <p:nvSpPr>
          <p:cNvPr id="1048712"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A system reaches steady state when its statistical behavior (e.g., probability of being in each state) stops changing over time</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Steady-state analysis assumes the system has been running long enough, under stable conditions, for transient start-up effects to disappear</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Almost all classical queueing formulas (Lecture 5) describe steady-state behavior — they do not directly capture what happens during a sudden traffic spike or a cold start, which is where simulation (Lecture 7) becomes valuable</a:t>
            </a:r>
            <a:endParaRPr dirty="0" sz="2400" lang="en-US"/>
          </a:p>
        </p:txBody>
      </p:sp>
      <p:sp>
        <p:nvSpPr>
          <p:cNvPr id="1048713"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4: Queueing Theory Fundamentals</a:t>
            </a:r>
            <a:endParaRPr dirty="0" sz="900" lang="en-US"/>
          </a:p>
        </p:txBody>
      </p:sp>
      <p:sp>
        <p:nvSpPr>
          <p:cNvPr id="1048714"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13</a:t>
            </a:r>
            <a:endParaRPr dirty="0" sz="900"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2942"/>
        </a:solidFill>
        <a:effectLst/>
      </p:bgPr>
    </p:bg>
    <p:spTree>
      <p:nvGrpSpPr>
        <p:cNvPr id="74" name=""/>
        <p:cNvGrpSpPr/>
        <p:nvPr/>
      </p:nvGrpSpPr>
      <p:grpSpPr>
        <a:xfrm>
          <a:off x="0" y="0"/>
          <a:ext cx="0" cy="0"/>
          <a:chOff x="0" y="0"/>
          <a:chExt cx="0" cy="0"/>
        </a:xfrm>
      </p:grpSpPr>
      <p:sp>
        <p:nvSpPr>
          <p:cNvPr id="1048718" name="Shape 0"/>
          <p:cNvSpPr/>
          <p:nvPr/>
        </p:nvSpPr>
        <p:spPr>
          <a:xfrm>
            <a:off x="0" y="0"/>
            <a:ext cx="228600" cy="6858000"/>
          </a:xfrm>
          <a:prstGeom prst="rect"/>
          <a:solidFill>
            <a:srgbClr val="00B8A9"/>
          </a:solidFill>
        </p:spPr>
      </p:sp>
      <p:sp>
        <p:nvSpPr>
          <p:cNvPr id="1048719" name="Text 1"/>
          <p:cNvSpPr/>
          <p:nvPr/>
        </p:nvSpPr>
        <p:spPr>
          <a:xfrm>
            <a:off x="822960" y="822960"/>
            <a:ext cx="5486400" cy="365760"/>
          </a:xfrm>
          <a:prstGeom prst="rect"/>
          <a:noFill/>
        </p:spPr>
        <p:txBody>
          <a:bodyPr anchor="ctr" bIns="0" lIns="0" rIns="0" rtlCol="0" tIns="0" wrap="square"/>
          <a:p>
            <a:pPr indent="0" marL="0">
              <a:buNone/>
            </a:pPr>
            <a:r>
              <a:rPr b="1" dirty="0" sz="1400" lang="en-US">
                <a:solidFill>
                  <a:srgbClr val="00B8A9"/>
                </a:solidFill>
                <a:latin typeface="Calibri" pitchFamily="34" charset="0"/>
                <a:ea typeface="Calibri" pitchFamily="34" charset="-122"/>
                <a:cs typeface="Calibri" pitchFamily="34" charset="-120"/>
              </a:rPr>
              <a:t>DEFINITION</a:t>
            </a:r>
            <a:endParaRPr dirty="0" sz="1400" lang="en-US"/>
          </a:p>
        </p:txBody>
      </p:sp>
      <p:sp>
        <p:nvSpPr>
          <p:cNvPr id="1048720" name="Text 2"/>
          <p:cNvSpPr/>
          <p:nvPr/>
        </p:nvSpPr>
        <p:spPr>
          <a:xfrm>
            <a:off x="822960" y="1188720"/>
            <a:ext cx="10515600" cy="822960"/>
          </a:xfrm>
          <a:prstGeom prst="rect"/>
          <a:noFill/>
        </p:spPr>
        <p:txBody>
          <a:bodyPr anchor="ctr" bIns="0" lIns="0" rIns="0" rtlCol="0" tIns="0" wrap="square"/>
          <a:p>
            <a:pPr indent="0" marL="0">
              <a:buNone/>
            </a:pPr>
            <a:r>
              <a:rPr b="1" dirty="0" sz="3000" lang="en-US">
                <a:solidFill>
                  <a:srgbClr val="FFFFFF"/>
                </a:solidFill>
                <a:latin typeface="Calibri" pitchFamily="34" charset="0"/>
                <a:ea typeface="Calibri" pitchFamily="34" charset="-122"/>
                <a:cs typeface="Calibri" pitchFamily="34" charset="-120"/>
              </a:rPr>
              <a:t>Little's Law</a:t>
            </a:r>
            <a:endParaRPr dirty="0" sz="3000" lang="en-US"/>
          </a:p>
        </p:txBody>
      </p:sp>
      <p:sp>
        <p:nvSpPr>
          <p:cNvPr id="1048721" name="Text 3"/>
          <p:cNvSpPr/>
          <p:nvPr/>
        </p:nvSpPr>
        <p:spPr>
          <a:xfrm>
            <a:off x="822960" y="2148840"/>
            <a:ext cx="10241280" cy="1828800"/>
          </a:xfrm>
          <a:prstGeom prst="rect"/>
          <a:noFill/>
        </p:spPr>
        <p:txBody>
          <a:bodyPr anchor="t" bIns="0" lIns="0" rIns="0" rtlCol="0" tIns="0" wrap="square"/>
          <a:p>
            <a:pPr indent="0" marL="0">
              <a:lnSpc>
                <a:spcPct val="130000"/>
              </a:lnSpc>
              <a:buNone/>
            </a:pPr>
            <a:r>
              <a:rPr dirty="0" sz="2400" i="1" lang="en-US">
                <a:solidFill>
                  <a:srgbClr val="DCE3EA"/>
                </a:solidFill>
                <a:latin typeface="Calibri" pitchFamily="34" charset="0"/>
                <a:ea typeface="Calibri" pitchFamily="34" charset="-122"/>
                <a:cs typeface="Calibri" pitchFamily="34" charset="-120"/>
              </a:rPr>
              <a:t>“For any stable queueing system, the average number of entities in the system (L) equals the average arrival rate (lambda) multiplied by the average time an entity spends in the system (W): L = lambda × W.”</a:t>
            </a:r>
            <a:endParaRPr dirty="0" sz="2400" lang="en-US"/>
          </a:p>
        </p:txBody>
      </p:sp>
      <p:sp>
        <p:nvSpPr>
          <p:cNvPr id="1048722" name="Text 4"/>
          <p:cNvSpPr/>
          <p:nvPr/>
        </p:nvSpPr>
        <p:spPr>
          <a:xfrm>
            <a:off x="822960" y="4114800"/>
            <a:ext cx="10241280" cy="2103120"/>
          </a:xfrm>
          <a:prstGeom prst="rect"/>
          <a:noFill/>
        </p:spPr>
        <p:txBody>
          <a:bodyPr anchor="t" bIns="0" lIns="0" rIns="0" rtlCol="0" tIns="0" wrap="square"/>
          <a:p>
            <a:pPr indent="-342900" marL="342900">
              <a:spcAft>
                <a:spcPts val="800"/>
              </a:spcAft>
              <a:buSzPct val="100000"/>
              <a:buChar char="•"/>
            </a:pPr>
            <a:r>
              <a:rPr dirty="0" sz="2400" lang="en-US">
                <a:solidFill>
                  <a:srgbClr val="C7D0D9"/>
                </a:solidFill>
                <a:latin typeface="Calibri" pitchFamily="34" charset="0"/>
                <a:ea typeface="Calibri" pitchFamily="34" charset="-122"/>
                <a:cs typeface="Calibri" pitchFamily="34" charset="-120"/>
              </a:rPr>
              <a:t>Discovered by John Little in 1961, and proven with remarkably few assumptions — it holds for almost any stable system, regardless of the arrival process, service process, or number of servers</a:t>
            </a:r>
            <a:endParaRPr dirty="0" sz="2400" lang="en-US"/>
          </a:p>
          <a:p>
            <a:pPr indent="-342900" marL="342900">
              <a:spcAft>
                <a:spcPts val="800"/>
              </a:spcAft>
              <a:buSzPct val="100000"/>
              <a:buChar char="•"/>
            </a:pPr>
            <a:r>
              <a:rPr dirty="0" sz="2400" lang="en-US">
                <a:solidFill>
                  <a:srgbClr val="C7D0D9"/>
                </a:solidFill>
                <a:latin typeface="Calibri" pitchFamily="34" charset="0"/>
                <a:ea typeface="Calibri" pitchFamily="34" charset="-122"/>
                <a:cs typeface="Calibri" pitchFamily="34" charset="-120"/>
              </a:rPr>
              <a:t>This makes it one of the most broadly applicable results in all of performance engineering</a:t>
            </a:r>
            <a:endParaRPr dirty="0" sz="2400" lang="en-US"/>
          </a:p>
        </p:txBody>
      </p:sp>
      <p:sp>
        <p:nvSpPr>
          <p:cNvPr id="1048723" name="Text 5"/>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4: Queueing Theory Fundamentals</a:t>
            </a:r>
            <a:endParaRPr dirty="0" sz="900" lang="en-US"/>
          </a:p>
        </p:txBody>
      </p:sp>
      <p:sp>
        <p:nvSpPr>
          <p:cNvPr id="1048724" name="Text 6"/>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14</a:t>
            </a:r>
            <a:endParaRPr dirty="0" sz="900"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77" name=""/>
        <p:cNvGrpSpPr/>
        <p:nvPr/>
      </p:nvGrpSpPr>
      <p:grpSpPr>
        <a:xfrm>
          <a:off x="0" y="0"/>
          <a:ext cx="0" cy="0"/>
          <a:chOff x="0" y="0"/>
          <a:chExt cx="0" cy="0"/>
        </a:xfrm>
      </p:grpSpPr>
      <p:sp>
        <p:nvSpPr>
          <p:cNvPr id="1048728"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Why Little's Law Is So Powerful</a:t>
            </a:r>
            <a:endParaRPr dirty="0" sz="2600" lang="en-US"/>
          </a:p>
        </p:txBody>
      </p:sp>
      <p:sp>
        <p:nvSpPr>
          <p:cNvPr id="1048729" name="Shape 1"/>
          <p:cNvSpPr/>
          <p:nvPr/>
        </p:nvSpPr>
        <p:spPr>
          <a:xfrm>
            <a:off x="566928" y="1005840"/>
            <a:ext cx="411480" cy="45720"/>
          </a:xfrm>
          <a:prstGeom prst="rect"/>
          <a:solidFill>
            <a:srgbClr val="00B8A9"/>
          </a:solidFill>
        </p:spPr>
      </p:sp>
      <p:sp>
        <p:nvSpPr>
          <p:cNvPr id="1048730"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It requires no assumptions about distributions — no exponential, no Poisson, nothing</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It works for the whole system, or for any single component (a queue alone, a server alone, or the two combined)</a:t>
            </a:r>
            <a:endParaRPr dirty="0" sz="2400" lang="en-US"/>
          </a:p>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It lets you compute any one of L, lambda, or W if you know the other two — extremely useful when direct measurement of one quantity is hard</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It applies equally to a web server, a hospital, a supermarket, or an airport security line — the check-in counter example promised in Lecture 1</a:t>
            </a:r>
            <a:endParaRPr dirty="0" sz="2400" lang="en-US"/>
          </a:p>
        </p:txBody>
      </p:sp>
      <p:sp>
        <p:nvSpPr>
          <p:cNvPr id="1048731"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4: Queueing Theory Fundamentals</a:t>
            </a:r>
            <a:endParaRPr dirty="0" sz="900" lang="en-US"/>
          </a:p>
        </p:txBody>
      </p:sp>
      <p:sp>
        <p:nvSpPr>
          <p:cNvPr id="1048732"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15</a:t>
            </a:r>
            <a:endParaRPr dirty="0" sz="900"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80" name=""/>
        <p:cNvGrpSpPr/>
        <p:nvPr/>
      </p:nvGrpSpPr>
      <p:grpSpPr>
        <a:xfrm>
          <a:off x="0" y="0"/>
          <a:ext cx="0" cy="0"/>
          <a:chOff x="0" y="0"/>
          <a:chExt cx="0" cy="0"/>
        </a:xfrm>
      </p:grpSpPr>
      <p:sp>
        <p:nvSpPr>
          <p:cNvPr id="1048736"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Applying Little's Law: A Worked Example</a:t>
            </a:r>
            <a:endParaRPr dirty="0" sz="2600" lang="en-US"/>
          </a:p>
        </p:txBody>
      </p:sp>
      <p:sp>
        <p:nvSpPr>
          <p:cNvPr id="1048737" name="Shape 1"/>
          <p:cNvSpPr/>
          <p:nvPr/>
        </p:nvSpPr>
        <p:spPr>
          <a:xfrm>
            <a:off x="566928" y="1005840"/>
            <a:ext cx="411480" cy="45720"/>
          </a:xfrm>
          <a:prstGeom prst="rect"/>
          <a:solidFill>
            <a:srgbClr val="00B8A9"/>
          </a:solidFill>
        </p:spPr>
      </p:sp>
      <p:sp>
        <p:nvSpPr>
          <p:cNvPr id="1048738" name="Shape 2"/>
          <p:cNvSpPr/>
          <p:nvPr/>
        </p:nvSpPr>
        <p:spPr>
          <a:xfrm>
            <a:off x="594360" y="2377440"/>
            <a:ext cx="2480310" cy="2377440"/>
          </a:xfrm>
          <a:prstGeom prst="roundRect">
            <a:avLst>
              <a:gd name="adj" fmla="val 3462"/>
            </a:avLst>
          </a:prstGeom>
          <a:solidFill>
            <a:srgbClr val="0F2942"/>
          </a:solidFill>
        </p:spPr>
      </p:sp>
      <p:sp>
        <p:nvSpPr>
          <p:cNvPr id="1048739" name="Shape 3"/>
          <p:cNvSpPr/>
          <p:nvPr/>
        </p:nvSpPr>
        <p:spPr>
          <a:xfrm>
            <a:off x="1578483" y="2103120"/>
            <a:ext cx="512064" cy="512064"/>
          </a:xfrm>
          <a:prstGeom prst="ellipse"/>
          <a:solidFill>
            <a:srgbClr val="00B8A9"/>
          </a:solidFill>
          <a:ln w="25400">
            <a:solidFill>
              <a:srgbClr val="FFFFFF"/>
            </a:solidFill>
            <a:prstDash val="solid"/>
          </a:ln>
        </p:spPr>
      </p:sp>
      <p:sp>
        <p:nvSpPr>
          <p:cNvPr id="1048740" name="Text 4"/>
          <p:cNvSpPr/>
          <p:nvPr/>
        </p:nvSpPr>
        <p:spPr>
          <a:xfrm>
            <a:off x="1578483" y="2103120"/>
            <a:ext cx="512064" cy="512064"/>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1</a:t>
            </a:r>
            <a:endParaRPr dirty="0" sz="1500" lang="en-US"/>
          </a:p>
        </p:txBody>
      </p:sp>
      <p:sp>
        <p:nvSpPr>
          <p:cNvPr id="1048741" name="Text 5"/>
          <p:cNvSpPr/>
          <p:nvPr/>
        </p:nvSpPr>
        <p:spPr>
          <a:xfrm>
            <a:off x="731520" y="2697480"/>
            <a:ext cx="2205990" cy="548640"/>
          </a:xfrm>
          <a:prstGeom prst="rect"/>
          <a:noFill/>
        </p:spPr>
        <p:txBody>
          <a:bodyPr anchor="t" bIns="0" lIns="0" rIns="0" rtlCol="0" tIns="0" wrap="square"/>
          <a:p>
            <a:pPr algn="ctr" indent="0" marL="0">
              <a:buNone/>
            </a:pPr>
            <a:r>
              <a:rPr b="1" dirty="0" sz="2000" lang="en-US">
                <a:solidFill>
                  <a:srgbClr val="FFFFFF"/>
                </a:solidFill>
                <a:latin typeface="Calibri" pitchFamily="34" charset="0"/>
                <a:ea typeface="Calibri" pitchFamily="34" charset="-122"/>
                <a:cs typeface="Calibri" pitchFamily="34" charset="-120"/>
              </a:rPr>
              <a:t>1. Measure</a:t>
            </a:r>
            <a:endParaRPr dirty="0" sz="2000" lang="en-US"/>
          </a:p>
        </p:txBody>
      </p:sp>
      <p:sp>
        <p:nvSpPr>
          <p:cNvPr id="1048742" name="Text 6"/>
          <p:cNvSpPr/>
          <p:nvPr/>
        </p:nvSpPr>
        <p:spPr>
          <a:xfrm>
            <a:off x="731520" y="3246120"/>
            <a:ext cx="2205990" cy="1417320"/>
          </a:xfrm>
          <a:prstGeom prst="rect"/>
          <a:noFill/>
        </p:spPr>
        <p:txBody>
          <a:bodyPr anchor="t" bIns="0" lIns="0" rIns="0" rtlCol="0" tIns="0" wrap="square"/>
          <a:p>
            <a:pPr algn="ctr" indent="0" marL="0">
              <a:lnSpc>
                <a:spcPct val="115000"/>
              </a:lnSpc>
              <a:buNone/>
            </a:pPr>
            <a:r>
              <a:rPr dirty="0" sz="1600" lang="en-US">
                <a:solidFill>
                  <a:srgbClr val="D8DEE6"/>
                </a:solidFill>
                <a:latin typeface="Calibri" pitchFamily="34" charset="0"/>
                <a:ea typeface="Calibri" pitchFamily="34" charset="-122"/>
                <a:cs typeface="Calibri" pitchFamily="34" charset="-120"/>
              </a:rPr>
              <a:t>Observe: average arrival rate lambda = 50 requests/second.</a:t>
            </a:r>
            <a:endParaRPr dirty="0" sz="1600" lang="en-US"/>
          </a:p>
        </p:txBody>
      </p:sp>
      <p:sp>
        <p:nvSpPr>
          <p:cNvPr id="1048743" name="Text 7"/>
          <p:cNvSpPr/>
          <p:nvPr/>
        </p:nvSpPr>
        <p:spPr>
          <a:xfrm>
            <a:off x="3074670" y="3246120"/>
            <a:ext cx="320040" cy="640080"/>
          </a:xfrm>
          <a:prstGeom prst="rect"/>
          <a:noFill/>
        </p:spPr>
        <p:txBody>
          <a:bodyPr anchor="ctr" bIns="0" lIns="0" rIns="0" rtlCol="0" tIns="0" wrap="square"/>
          <a:p>
            <a:pPr algn="ctr" indent="0" marL="0">
              <a:buNone/>
            </a:pPr>
            <a:r>
              <a:rPr b="1" dirty="0" sz="2200" lang="en-US">
                <a:solidFill>
                  <a:srgbClr val="00B8A9"/>
                </a:solidFill>
                <a:latin typeface="Calibri" pitchFamily="34" charset="0"/>
                <a:ea typeface="Calibri" pitchFamily="34" charset="-122"/>
                <a:cs typeface="Calibri" pitchFamily="34" charset="-120"/>
              </a:rPr>
              <a:t>→</a:t>
            </a:r>
            <a:endParaRPr dirty="0" sz="2200" lang="en-US"/>
          </a:p>
        </p:txBody>
      </p:sp>
      <p:sp>
        <p:nvSpPr>
          <p:cNvPr id="1048744" name="Shape 8"/>
          <p:cNvSpPr/>
          <p:nvPr/>
        </p:nvSpPr>
        <p:spPr>
          <a:xfrm>
            <a:off x="3394710" y="2377440"/>
            <a:ext cx="2480310" cy="2377440"/>
          </a:xfrm>
          <a:prstGeom prst="roundRect">
            <a:avLst>
              <a:gd name="adj" fmla="val 3462"/>
            </a:avLst>
          </a:prstGeom>
          <a:solidFill>
            <a:srgbClr val="44546A"/>
          </a:solidFill>
        </p:spPr>
      </p:sp>
      <p:sp>
        <p:nvSpPr>
          <p:cNvPr id="1048745" name="Shape 9"/>
          <p:cNvSpPr/>
          <p:nvPr/>
        </p:nvSpPr>
        <p:spPr>
          <a:xfrm>
            <a:off x="4378833" y="2103120"/>
            <a:ext cx="512064" cy="512064"/>
          </a:xfrm>
          <a:prstGeom prst="ellipse"/>
          <a:solidFill>
            <a:srgbClr val="00B8A9"/>
          </a:solidFill>
          <a:ln w="25400">
            <a:solidFill>
              <a:srgbClr val="FFFFFF"/>
            </a:solidFill>
            <a:prstDash val="solid"/>
          </a:ln>
        </p:spPr>
      </p:sp>
      <p:sp>
        <p:nvSpPr>
          <p:cNvPr id="1048746" name="Text 10"/>
          <p:cNvSpPr/>
          <p:nvPr/>
        </p:nvSpPr>
        <p:spPr>
          <a:xfrm>
            <a:off x="4378833" y="2103120"/>
            <a:ext cx="512064" cy="512064"/>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2</a:t>
            </a:r>
            <a:endParaRPr dirty="0" sz="1500" lang="en-US"/>
          </a:p>
        </p:txBody>
      </p:sp>
      <p:sp>
        <p:nvSpPr>
          <p:cNvPr id="1048747" name="Text 11"/>
          <p:cNvSpPr/>
          <p:nvPr/>
        </p:nvSpPr>
        <p:spPr>
          <a:xfrm>
            <a:off x="3531870" y="2697480"/>
            <a:ext cx="2205990" cy="548640"/>
          </a:xfrm>
          <a:prstGeom prst="rect"/>
          <a:noFill/>
        </p:spPr>
        <p:txBody>
          <a:bodyPr anchor="t" bIns="0" lIns="0" rIns="0" rtlCol="0" tIns="0" wrap="square"/>
          <a:p>
            <a:pPr algn="ctr" indent="0" marL="0">
              <a:buNone/>
            </a:pPr>
            <a:r>
              <a:rPr b="1" dirty="0" sz="2000" lang="en-US">
                <a:solidFill>
                  <a:srgbClr val="FFFFFF"/>
                </a:solidFill>
                <a:latin typeface="Calibri" pitchFamily="34" charset="0"/>
                <a:ea typeface="Calibri" pitchFamily="34" charset="-122"/>
                <a:cs typeface="Calibri" pitchFamily="34" charset="-120"/>
              </a:rPr>
              <a:t>2. Measure</a:t>
            </a:r>
            <a:endParaRPr dirty="0" sz="2000" lang="en-US"/>
          </a:p>
        </p:txBody>
      </p:sp>
      <p:sp>
        <p:nvSpPr>
          <p:cNvPr id="1048748" name="Text 12"/>
          <p:cNvSpPr/>
          <p:nvPr/>
        </p:nvSpPr>
        <p:spPr>
          <a:xfrm>
            <a:off x="3531870" y="3246120"/>
            <a:ext cx="2205990" cy="1417320"/>
          </a:xfrm>
          <a:prstGeom prst="rect"/>
          <a:noFill/>
        </p:spPr>
        <p:txBody>
          <a:bodyPr anchor="t" bIns="0" lIns="0" rIns="0" rtlCol="0" tIns="0" wrap="square"/>
          <a:p>
            <a:pPr algn="ctr" indent="0" marL="0">
              <a:lnSpc>
                <a:spcPct val="115000"/>
              </a:lnSpc>
              <a:buNone/>
            </a:pPr>
            <a:r>
              <a:rPr dirty="0" sz="1600" lang="en-US">
                <a:solidFill>
                  <a:srgbClr val="D8DEE6"/>
                </a:solidFill>
                <a:latin typeface="Calibri" pitchFamily="34" charset="0"/>
                <a:ea typeface="Calibri" pitchFamily="34" charset="-122"/>
                <a:cs typeface="Calibri" pitchFamily="34" charset="-120"/>
              </a:rPr>
              <a:t>Observe: average response time W = 0.2 seconds per request.</a:t>
            </a:r>
            <a:endParaRPr dirty="0" sz="1600" lang="en-US"/>
          </a:p>
        </p:txBody>
      </p:sp>
      <p:sp>
        <p:nvSpPr>
          <p:cNvPr id="1048749" name="Text 13"/>
          <p:cNvSpPr/>
          <p:nvPr/>
        </p:nvSpPr>
        <p:spPr>
          <a:xfrm>
            <a:off x="5875020" y="3246120"/>
            <a:ext cx="320040" cy="640080"/>
          </a:xfrm>
          <a:prstGeom prst="rect"/>
          <a:noFill/>
        </p:spPr>
        <p:txBody>
          <a:bodyPr anchor="ctr" bIns="0" lIns="0" rIns="0" rtlCol="0" tIns="0" wrap="square"/>
          <a:p>
            <a:pPr algn="ctr" indent="0" marL="0">
              <a:buNone/>
            </a:pPr>
            <a:r>
              <a:rPr b="1" dirty="0" sz="2200" lang="en-US">
                <a:solidFill>
                  <a:srgbClr val="00B8A9"/>
                </a:solidFill>
                <a:latin typeface="Calibri" pitchFamily="34" charset="0"/>
                <a:ea typeface="Calibri" pitchFamily="34" charset="-122"/>
                <a:cs typeface="Calibri" pitchFamily="34" charset="-120"/>
              </a:rPr>
              <a:t>→</a:t>
            </a:r>
            <a:endParaRPr dirty="0" sz="2200" lang="en-US"/>
          </a:p>
        </p:txBody>
      </p:sp>
      <p:sp>
        <p:nvSpPr>
          <p:cNvPr id="1048750" name="Shape 14"/>
          <p:cNvSpPr/>
          <p:nvPr/>
        </p:nvSpPr>
        <p:spPr>
          <a:xfrm>
            <a:off x="6195060" y="2377440"/>
            <a:ext cx="2480310" cy="2377440"/>
          </a:xfrm>
          <a:prstGeom prst="roundRect">
            <a:avLst>
              <a:gd name="adj" fmla="val 3462"/>
            </a:avLst>
          </a:prstGeom>
          <a:solidFill>
            <a:srgbClr val="0F2942"/>
          </a:solidFill>
        </p:spPr>
      </p:sp>
      <p:sp>
        <p:nvSpPr>
          <p:cNvPr id="1048751" name="Shape 15"/>
          <p:cNvSpPr/>
          <p:nvPr/>
        </p:nvSpPr>
        <p:spPr>
          <a:xfrm>
            <a:off x="7179183" y="2103120"/>
            <a:ext cx="512064" cy="512064"/>
          </a:xfrm>
          <a:prstGeom prst="ellipse"/>
          <a:solidFill>
            <a:srgbClr val="00B8A9"/>
          </a:solidFill>
          <a:ln w="25400">
            <a:solidFill>
              <a:srgbClr val="FFFFFF"/>
            </a:solidFill>
            <a:prstDash val="solid"/>
          </a:ln>
        </p:spPr>
      </p:sp>
      <p:sp>
        <p:nvSpPr>
          <p:cNvPr id="1048752" name="Text 16"/>
          <p:cNvSpPr/>
          <p:nvPr/>
        </p:nvSpPr>
        <p:spPr>
          <a:xfrm>
            <a:off x="7179183" y="2103120"/>
            <a:ext cx="512064" cy="512064"/>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3</a:t>
            </a:r>
            <a:endParaRPr dirty="0" sz="1500" lang="en-US"/>
          </a:p>
        </p:txBody>
      </p:sp>
      <p:sp>
        <p:nvSpPr>
          <p:cNvPr id="1048753" name="Text 17"/>
          <p:cNvSpPr/>
          <p:nvPr/>
        </p:nvSpPr>
        <p:spPr>
          <a:xfrm>
            <a:off x="6332220" y="2697480"/>
            <a:ext cx="2205990" cy="548640"/>
          </a:xfrm>
          <a:prstGeom prst="rect"/>
          <a:noFill/>
        </p:spPr>
        <p:txBody>
          <a:bodyPr anchor="t" bIns="0" lIns="0" rIns="0" rtlCol="0" tIns="0" wrap="square"/>
          <a:p>
            <a:pPr algn="ctr" indent="0" marL="0">
              <a:buNone/>
            </a:pPr>
            <a:r>
              <a:rPr b="1" dirty="0" sz="2000" lang="en-US">
                <a:solidFill>
                  <a:srgbClr val="FFFFFF"/>
                </a:solidFill>
                <a:latin typeface="Calibri" pitchFamily="34" charset="0"/>
                <a:ea typeface="Calibri" pitchFamily="34" charset="-122"/>
                <a:cs typeface="Calibri" pitchFamily="34" charset="-120"/>
              </a:rPr>
              <a:t>3. Apply Little's Law</a:t>
            </a:r>
            <a:endParaRPr dirty="0" sz="2000" lang="en-US"/>
          </a:p>
        </p:txBody>
      </p:sp>
      <p:sp>
        <p:nvSpPr>
          <p:cNvPr id="1048754" name="Text 18"/>
          <p:cNvSpPr/>
          <p:nvPr/>
        </p:nvSpPr>
        <p:spPr>
          <a:xfrm>
            <a:off x="6332220" y="3246120"/>
            <a:ext cx="2205990" cy="1417320"/>
          </a:xfrm>
          <a:prstGeom prst="rect"/>
          <a:noFill/>
        </p:spPr>
        <p:txBody>
          <a:bodyPr anchor="t" bIns="0" lIns="0" rIns="0" rtlCol="0" tIns="0" wrap="square"/>
          <a:p>
            <a:pPr algn="ctr" indent="0" marL="0">
              <a:lnSpc>
                <a:spcPct val="115000"/>
              </a:lnSpc>
              <a:buNone/>
            </a:pPr>
            <a:r>
              <a:rPr dirty="0" sz="1600" lang="en-US">
                <a:solidFill>
                  <a:srgbClr val="D8DEE6"/>
                </a:solidFill>
                <a:latin typeface="Calibri" pitchFamily="34" charset="0"/>
                <a:ea typeface="Calibri" pitchFamily="34" charset="-122"/>
                <a:cs typeface="Calibri" pitchFamily="34" charset="-120"/>
              </a:rPr>
              <a:t>L = lambda × W = 50 × 0.2 = 10.</a:t>
            </a:r>
            <a:endParaRPr dirty="0" sz="1600" lang="en-US"/>
          </a:p>
        </p:txBody>
      </p:sp>
      <p:sp>
        <p:nvSpPr>
          <p:cNvPr id="1048755" name="Text 19"/>
          <p:cNvSpPr/>
          <p:nvPr/>
        </p:nvSpPr>
        <p:spPr>
          <a:xfrm>
            <a:off x="8675370" y="3246120"/>
            <a:ext cx="320040" cy="640080"/>
          </a:xfrm>
          <a:prstGeom prst="rect"/>
          <a:noFill/>
        </p:spPr>
        <p:txBody>
          <a:bodyPr anchor="ctr" bIns="0" lIns="0" rIns="0" rtlCol="0" tIns="0" wrap="square"/>
          <a:p>
            <a:pPr algn="ctr" indent="0" marL="0">
              <a:buNone/>
            </a:pPr>
            <a:r>
              <a:rPr b="1" dirty="0" sz="2200" lang="en-US">
                <a:solidFill>
                  <a:srgbClr val="00B8A9"/>
                </a:solidFill>
                <a:latin typeface="Calibri" pitchFamily="34" charset="0"/>
                <a:ea typeface="Calibri" pitchFamily="34" charset="-122"/>
                <a:cs typeface="Calibri" pitchFamily="34" charset="-120"/>
              </a:rPr>
              <a:t>→</a:t>
            </a:r>
            <a:endParaRPr dirty="0" sz="2200" lang="en-US"/>
          </a:p>
        </p:txBody>
      </p:sp>
      <p:sp>
        <p:nvSpPr>
          <p:cNvPr id="1048756" name="Shape 20"/>
          <p:cNvSpPr/>
          <p:nvPr/>
        </p:nvSpPr>
        <p:spPr>
          <a:xfrm>
            <a:off x="8995410" y="2377440"/>
            <a:ext cx="2480310" cy="2377440"/>
          </a:xfrm>
          <a:prstGeom prst="roundRect">
            <a:avLst>
              <a:gd name="adj" fmla="val 3462"/>
            </a:avLst>
          </a:prstGeom>
          <a:solidFill>
            <a:srgbClr val="44546A"/>
          </a:solidFill>
        </p:spPr>
      </p:sp>
      <p:sp>
        <p:nvSpPr>
          <p:cNvPr id="1048757" name="Shape 21"/>
          <p:cNvSpPr/>
          <p:nvPr/>
        </p:nvSpPr>
        <p:spPr>
          <a:xfrm>
            <a:off x="9979533" y="2103120"/>
            <a:ext cx="512064" cy="512064"/>
          </a:xfrm>
          <a:prstGeom prst="ellipse"/>
          <a:solidFill>
            <a:srgbClr val="00B8A9"/>
          </a:solidFill>
          <a:ln w="25400">
            <a:solidFill>
              <a:srgbClr val="FFFFFF"/>
            </a:solidFill>
            <a:prstDash val="solid"/>
          </a:ln>
        </p:spPr>
      </p:sp>
      <p:sp>
        <p:nvSpPr>
          <p:cNvPr id="1048758" name="Text 22"/>
          <p:cNvSpPr/>
          <p:nvPr/>
        </p:nvSpPr>
        <p:spPr>
          <a:xfrm>
            <a:off x="9979533" y="2103120"/>
            <a:ext cx="512064" cy="512064"/>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4</a:t>
            </a:r>
            <a:endParaRPr dirty="0" sz="1500" lang="en-US"/>
          </a:p>
        </p:txBody>
      </p:sp>
      <p:sp>
        <p:nvSpPr>
          <p:cNvPr id="1048759" name="Text 23"/>
          <p:cNvSpPr/>
          <p:nvPr/>
        </p:nvSpPr>
        <p:spPr>
          <a:xfrm>
            <a:off x="9132570" y="2697480"/>
            <a:ext cx="2205990" cy="548640"/>
          </a:xfrm>
          <a:prstGeom prst="rect"/>
          <a:noFill/>
        </p:spPr>
        <p:txBody>
          <a:bodyPr anchor="t" bIns="0" lIns="0" rIns="0" rtlCol="0" tIns="0" wrap="square"/>
          <a:p>
            <a:pPr algn="ctr" indent="0" marL="0">
              <a:buNone/>
            </a:pPr>
            <a:r>
              <a:rPr b="1" dirty="0" sz="2000" lang="en-US">
                <a:solidFill>
                  <a:srgbClr val="FFFFFF"/>
                </a:solidFill>
                <a:latin typeface="Calibri" pitchFamily="34" charset="0"/>
                <a:ea typeface="Calibri" pitchFamily="34" charset="-122"/>
                <a:cs typeface="Calibri" pitchFamily="34" charset="-120"/>
              </a:rPr>
              <a:t>4. Interpret</a:t>
            </a:r>
            <a:endParaRPr dirty="0" sz="2000" lang="en-US"/>
          </a:p>
        </p:txBody>
      </p:sp>
      <p:sp>
        <p:nvSpPr>
          <p:cNvPr id="1048760" name="Text 24"/>
          <p:cNvSpPr/>
          <p:nvPr/>
        </p:nvSpPr>
        <p:spPr>
          <a:xfrm>
            <a:off x="9132570" y="3246120"/>
            <a:ext cx="2205990" cy="1417320"/>
          </a:xfrm>
          <a:prstGeom prst="rect"/>
          <a:noFill/>
        </p:spPr>
        <p:txBody>
          <a:bodyPr anchor="t" bIns="0" lIns="0" rIns="0" rtlCol="0" tIns="0" wrap="square"/>
          <a:p>
            <a:pPr algn="ctr" indent="0" marL="0">
              <a:lnSpc>
                <a:spcPct val="115000"/>
              </a:lnSpc>
              <a:buNone/>
            </a:pPr>
            <a:r>
              <a:rPr dirty="0" sz="1600" lang="en-US">
                <a:solidFill>
                  <a:srgbClr val="D8DEE6"/>
                </a:solidFill>
                <a:latin typeface="Calibri" pitchFamily="34" charset="0"/>
                <a:ea typeface="Calibri" pitchFamily="34" charset="-122"/>
                <a:cs typeface="Calibri" pitchFamily="34" charset="-120"/>
              </a:rPr>
              <a:t>On average, 10 requests are 'in the system' (queued or being served) at any moment.</a:t>
            </a:r>
            <a:endParaRPr dirty="0" sz="1600" lang="en-US"/>
          </a:p>
        </p:txBody>
      </p:sp>
      <p:sp>
        <p:nvSpPr>
          <p:cNvPr id="1048761" name="Text 25"/>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4: Queueing Theory Fundamentals</a:t>
            </a:r>
            <a:endParaRPr dirty="0" sz="900" lang="en-US"/>
          </a:p>
        </p:txBody>
      </p:sp>
      <p:sp>
        <p:nvSpPr>
          <p:cNvPr id="1048762" name="Text 26"/>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16</a:t>
            </a:r>
            <a:endParaRPr dirty="0" sz="900"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83" name=""/>
        <p:cNvGrpSpPr/>
        <p:nvPr/>
      </p:nvGrpSpPr>
      <p:grpSpPr>
        <a:xfrm>
          <a:off x="0" y="0"/>
          <a:ext cx="0" cy="0"/>
          <a:chOff x="0" y="0"/>
          <a:chExt cx="0" cy="0"/>
        </a:xfrm>
      </p:grpSpPr>
      <p:sp>
        <p:nvSpPr>
          <p:cNvPr id="1048766"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A Second Worked Example: Solving for W</a:t>
            </a:r>
            <a:endParaRPr dirty="0" sz="2600" lang="en-US"/>
          </a:p>
        </p:txBody>
      </p:sp>
      <p:sp>
        <p:nvSpPr>
          <p:cNvPr id="1048767" name="Shape 1"/>
          <p:cNvSpPr/>
          <p:nvPr/>
        </p:nvSpPr>
        <p:spPr>
          <a:xfrm>
            <a:off x="566928" y="1005840"/>
            <a:ext cx="411480" cy="45720"/>
          </a:xfrm>
          <a:prstGeom prst="rect"/>
          <a:solidFill>
            <a:srgbClr val="00B8A9"/>
          </a:solidFill>
        </p:spPr>
      </p:sp>
      <p:sp>
        <p:nvSpPr>
          <p:cNvPr id="1048768"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Suppose we know a database connection pool averages L = 8 active connections, and the arrival rate of new queries is lambda = 40 queries/second</a:t>
            </a:r>
            <a:endParaRPr dirty="0" sz="2400" lang="en-US"/>
          </a:p>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Rearranging Little's Law: W = L / lambda = 8 / 40 = 0.2 seconds</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So the average query spends 200ms in the connection pool (queueing plus execution) — without needing to instrument and directly measure that duration at all</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This 'solve for the unknown' flexibility is why Little's Law is used constantly in real capacity planning work (Lecture 8)</a:t>
            </a:r>
            <a:endParaRPr dirty="0" sz="2400" lang="en-US"/>
          </a:p>
        </p:txBody>
      </p:sp>
      <p:sp>
        <p:nvSpPr>
          <p:cNvPr id="1048769"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4: Queueing Theory Fundamentals</a:t>
            </a:r>
            <a:endParaRPr dirty="0" sz="900" lang="en-US"/>
          </a:p>
        </p:txBody>
      </p:sp>
      <p:sp>
        <p:nvSpPr>
          <p:cNvPr id="1048770"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17</a:t>
            </a:r>
            <a:endParaRPr dirty="0" sz="900"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86" name=""/>
        <p:cNvGrpSpPr/>
        <p:nvPr/>
      </p:nvGrpSpPr>
      <p:grpSpPr>
        <a:xfrm>
          <a:off x="0" y="0"/>
          <a:ext cx="0" cy="0"/>
          <a:chOff x="0" y="0"/>
          <a:chExt cx="0" cy="0"/>
        </a:xfrm>
      </p:grpSpPr>
      <p:sp>
        <p:nvSpPr>
          <p:cNvPr id="1048774"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Little's Law Applied to Sub-Components</a:t>
            </a:r>
            <a:endParaRPr dirty="0" sz="2600" lang="en-US"/>
          </a:p>
        </p:txBody>
      </p:sp>
      <p:sp>
        <p:nvSpPr>
          <p:cNvPr id="1048775" name="Shape 1"/>
          <p:cNvSpPr/>
          <p:nvPr/>
        </p:nvSpPr>
        <p:spPr>
          <a:xfrm>
            <a:off x="566928" y="1005840"/>
            <a:ext cx="411480" cy="45720"/>
          </a:xfrm>
          <a:prstGeom prst="rect"/>
          <a:solidFill>
            <a:srgbClr val="00B8A9"/>
          </a:solidFill>
        </p:spPr>
      </p:sp>
      <p:sp>
        <p:nvSpPr>
          <p:cNvPr id="1048776"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Little's Law can be applied separately to the queue and the server</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L_q = lambda × W_q</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Average number waiting in queue = arrival rate × average wait time in queue</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L_s = lambda × W_s</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Average number in service = arrival rate × average service time</a:t>
            </a:r>
            <a:endParaRPr dirty="0" sz="2800" lang="en-US"/>
          </a:p>
          <a:p>
            <a:pPr indent="-342900" marL="342900">
              <a:spcAft>
                <a:spcPts val="1200"/>
              </a:spcAft>
              <a:buSzPct val="100000"/>
              <a:buChar char="•"/>
            </a:pPr>
            <a:r>
              <a:rPr dirty="0" sz="2800" lang="en-US">
                <a:solidFill>
                  <a:srgbClr val="1A1A2E"/>
                </a:solidFill>
                <a:latin typeface="Calibri" pitchFamily="34" charset="0"/>
                <a:ea typeface="Calibri" pitchFamily="34" charset="-122"/>
                <a:cs typeface="Calibri" pitchFamily="34" charset="-120"/>
              </a:rPr>
              <a:t>This decomposition — separating queueing delay from service time — is exactly what we need to build the full M/M/1 formulas in Lecture 5</a:t>
            </a:r>
            <a:endParaRPr dirty="0" sz="2800" lang="en-US"/>
          </a:p>
        </p:txBody>
      </p:sp>
      <p:sp>
        <p:nvSpPr>
          <p:cNvPr id="1048777"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4: Queueing Theory Fundamentals</a:t>
            </a:r>
            <a:endParaRPr dirty="0" sz="900" lang="en-US"/>
          </a:p>
        </p:txBody>
      </p:sp>
      <p:sp>
        <p:nvSpPr>
          <p:cNvPr id="1048778"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18</a:t>
            </a:r>
            <a:endParaRPr dirty="0" sz="900"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2942"/>
        </a:solidFill>
        <a:effectLst/>
      </p:bgPr>
    </p:bg>
    <p:spTree>
      <p:nvGrpSpPr>
        <p:cNvPr id="89" name=""/>
        <p:cNvGrpSpPr/>
        <p:nvPr/>
      </p:nvGrpSpPr>
      <p:grpSpPr>
        <a:xfrm>
          <a:off x="0" y="0"/>
          <a:ext cx="0" cy="0"/>
          <a:chOff x="0" y="0"/>
          <a:chExt cx="0" cy="0"/>
        </a:xfrm>
      </p:grpSpPr>
      <p:sp>
        <p:nvSpPr>
          <p:cNvPr id="1048782" name="Shape 0"/>
          <p:cNvSpPr/>
          <p:nvPr/>
        </p:nvSpPr>
        <p:spPr>
          <a:xfrm>
            <a:off x="0" y="0"/>
            <a:ext cx="228600" cy="6858000"/>
          </a:xfrm>
          <a:prstGeom prst="rect"/>
          <a:solidFill>
            <a:srgbClr val="00B8A9"/>
          </a:solidFill>
        </p:spPr>
      </p:sp>
      <p:sp>
        <p:nvSpPr>
          <p:cNvPr id="1048783" name="Text 1"/>
          <p:cNvSpPr/>
          <p:nvPr/>
        </p:nvSpPr>
        <p:spPr>
          <a:xfrm>
            <a:off x="822960" y="822960"/>
            <a:ext cx="5486400" cy="365760"/>
          </a:xfrm>
          <a:prstGeom prst="rect"/>
          <a:noFill/>
        </p:spPr>
        <p:txBody>
          <a:bodyPr anchor="ctr" bIns="0" lIns="0" rIns="0" rtlCol="0" tIns="0" wrap="square"/>
          <a:p>
            <a:pPr indent="0" marL="0">
              <a:buNone/>
            </a:pPr>
            <a:r>
              <a:rPr b="1" dirty="0" sz="1400" lang="en-US">
                <a:solidFill>
                  <a:srgbClr val="00B8A9"/>
                </a:solidFill>
                <a:latin typeface="Calibri" pitchFamily="34" charset="0"/>
                <a:ea typeface="Calibri" pitchFamily="34" charset="-122"/>
                <a:cs typeface="Calibri" pitchFamily="34" charset="-120"/>
              </a:rPr>
              <a:t>DEFINITION</a:t>
            </a:r>
            <a:endParaRPr dirty="0" sz="1400" lang="en-US"/>
          </a:p>
        </p:txBody>
      </p:sp>
      <p:sp>
        <p:nvSpPr>
          <p:cNvPr id="1048784" name="Text 2"/>
          <p:cNvSpPr/>
          <p:nvPr/>
        </p:nvSpPr>
        <p:spPr>
          <a:xfrm>
            <a:off x="822960" y="1188720"/>
            <a:ext cx="10515600" cy="822960"/>
          </a:xfrm>
          <a:prstGeom prst="rect"/>
          <a:noFill/>
        </p:spPr>
        <p:txBody>
          <a:bodyPr anchor="ctr" bIns="0" lIns="0" rIns="0" rtlCol="0" tIns="0" wrap="square"/>
          <a:p>
            <a:pPr indent="0" marL="0">
              <a:buNone/>
            </a:pPr>
            <a:r>
              <a:rPr b="1" dirty="0" sz="3000" lang="en-US">
                <a:solidFill>
                  <a:srgbClr val="FFFFFF"/>
                </a:solidFill>
                <a:latin typeface="Calibri" pitchFamily="34" charset="0"/>
                <a:ea typeface="Calibri" pitchFamily="34" charset="-122"/>
                <a:cs typeface="Calibri" pitchFamily="34" charset="-120"/>
              </a:rPr>
              <a:t>Traffic Intensity (rho)</a:t>
            </a:r>
            <a:endParaRPr dirty="0" sz="3000" lang="en-US"/>
          </a:p>
        </p:txBody>
      </p:sp>
      <p:sp>
        <p:nvSpPr>
          <p:cNvPr id="1048785" name="Text 3"/>
          <p:cNvSpPr/>
          <p:nvPr/>
        </p:nvSpPr>
        <p:spPr>
          <a:xfrm>
            <a:off x="822960" y="2148840"/>
            <a:ext cx="10241280" cy="1828800"/>
          </a:xfrm>
          <a:prstGeom prst="rect"/>
          <a:noFill/>
        </p:spPr>
        <p:txBody>
          <a:bodyPr anchor="t" bIns="0" lIns="0" rIns="0" rtlCol="0" tIns="0" wrap="square"/>
          <a:p>
            <a:pPr indent="0" marL="0">
              <a:lnSpc>
                <a:spcPct val="130000"/>
              </a:lnSpc>
              <a:buNone/>
            </a:pPr>
            <a:r>
              <a:rPr dirty="0" sz="2400" i="1" lang="en-US">
                <a:solidFill>
                  <a:srgbClr val="DCE3EA"/>
                </a:solidFill>
                <a:latin typeface="Calibri" pitchFamily="34" charset="0"/>
                <a:ea typeface="Calibri" pitchFamily="34" charset="-122"/>
                <a:cs typeface="Calibri" pitchFamily="34" charset="-120"/>
              </a:rPr>
              <a:t>“The ratio of the arrival rate to the maximum service rate a system can provide, rho = lambda / (c × mu), where c is the number of servers and mu is the per-server service rate.”</a:t>
            </a:r>
            <a:endParaRPr dirty="0" sz="2400" lang="en-US"/>
          </a:p>
        </p:txBody>
      </p:sp>
      <p:sp>
        <p:nvSpPr>
          <p:cNvPr id="1048786" name="Text 4"/>
          <p:cNvSpPr/>
          <p:nvPr/>
        </p:nvSpPr>
        <p:spPr>
          <a:xfrm>
            <a:off x="822960" y="4114800"/>
            <a:ext cx="10241280" cy="2103120"/>
          </a:xfrm>
          <a:prstGeom prst="rect"/>
          <a:noFill/>
        </p:spPr>
        <p:txBody>
          <a:bodyPr anchor="t" bIns="0" lIns="0" rIns="0" rtlCol="0" tIns="0" wrap="square"/>
          <a:p>
            <a:pPr indent="-342900" marL="342900">
              <a:spcAft>
                <a:spcPts val="800"/>
              </a:spcAft>
              <a:buSzPct val="100000"/>
              <a:buChar char="•"/>
            </a:pPr>
            <a:r>
              <a:rPr dirty="0" sz="2400" lang="en-US">
                <a:solidFill>
                  <a:srgbClr val="C7D0D9"/>
                </a:solidFill>
                <a:latin typeface="Calibri" pitchFamily="34" charset="0"/>
                <a:ea typeface="Calibri" pitchFamily="34" charset="-122"/>
                <a:cs typeface="Calibri" pitchFamily="34" charset="-120"/>
              </a:rPr>
              <a:t>This is the formal, multi-server generalization of the utilization concept introduced in Lecture 2</a:t>
            </a:r>
            <a:endParaRPr dirty="0" sz="2400" lang="en-US"/>
          </a:p>
          <a:p>
            <a:pPr indent="-342900" marL="342900">
              <a:spcAft>
                <a:spcPts val="800"/>
              </a:spcAft>
              <a:buSzPct val="100000"/>
              <a:buChar char="•"/>
            </a:pPr>
            <a:r>
              <a:rPr dirty="0" sz="2400" lang="en-US">
                <a:solidFill>
                  <a:srgbClr val="C7D0D9"/>
                </a:solidFill>
                <a:latin typeface="Calibri" pitchFamily="34" charset="0"/>
                <a:ea typeface="Calibri" pitchFamily="34" charset="-122"/>
                <a:cs typeface="Calibri" pitchFamily="34" charset="-120"/>
              </a:rPr>
              <a:t>Traffic intensity is the single most important number in queueing theory — nearly every other formula depends on it</a:t>
            </a:r>
            <a:endParaRPr dirty="0" sz="2400" lang="en-US"/>
          </a:p>
        </p:txBody>
      </p:sp>
      <p:sp>
        <p:nvSpPr>
          <p:cNvPr id="1048787" name="Text 5"/>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4: Queueing Theory Fundamentals</a:t>
            </a:r>
            <a:endParaRPr dirty="0" sz="900" lang="en-US"/>
          </a:p>
        </p:txBody>
      </p:sp>
      <p:sp>
        <p:nvSpPr>
          <p:cNvPr id="1048788" name="Text 6"/>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19</a:t>
            </a:r>
            <a:endParaRPr dirty="0" sz="900"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2942"/>
        </a:solidFill>
        <a:effectLst/>
      </p:bgPr>
    </p:bg>
    <p:spTree>
      <p:nvGrpSpPr>
        <p:cNvPr id="92" name=""/>
        <p:cNvGrpSpPr/>
        <p:nvPr/>
      </p:nvGrpSpPr>
      <p:grpSpPr>
        <a:xfrm>
          <a:off x="0" y="0"/>
          <a:ext cx="0" cy="0"/>
          <a:chOff x="0" y="0"/>
          <a:chExt cx="0" cy="0"/>
        </a:xfrm>
      </p:grpSpPr>
      <p:sp>
        <p:nvSpPr>
          <p:cNvPr id="1048792" name="Shape 0"/>
          <p:cNvSpPr/>
          <p:nvPr/>
        </p:nvSpPr>
        <p:spPr>
          <a:xfrm>
            <a:off x="0" y="0"/>
            <a:ext cx="228600" cy="6858000"/>
          </a:xfrm>
          <a:prstGeom prst="rect"/>
          <a:solidFill>
            <a:srgbClr val="00B8A9"/>
          </a:solidFill>
        </p:spPr>
      </p:sp>
      <p:sp>
        <p:nvSpPr>
          <p:cNvPr id="1048793" name="Text 1"/>
          <p:cNvSpPr/>
          <p:nvPr/>
        </p:nvSpPr>
        <p:spPr>
          <a:xfrm>
            <a:off x="822960" y="822960"/>
            <a:ext cx="5486400" cy="365760"/>
          </a:xfrm>
          <a:prstGeom prst="rect"/>
          <a:noFill/>
        </p:spPr>
        <p:txBody>
          <a:bodyPr anchor="ctr" bIns="0" lIns="0" rIns="0" rtlCol="0" tIns="0" wrap="square"/>
          <a:p>
            <a:pPr indent="0" marL="0">
              <a:buNone/>
            </a:pPr>
            <a:r>
              <a:rPr b="1" dirty="0" sz="1400" lang="en-US">
                <a:solidFill>
                  <a:srgbClr val="00B8A9"/>
                </a:solidFill>
                <a:latin typeface="Calibri" pitchFamily="34" charset="0"/>
                <a:ea typeface="Calibri" pitchFamily="34" charset="-122"/>
                <a:cs typeface="Calibri" pitchFamily="34" charset="-120"/>
              </a:rPr>
              <a:t>DEFINITION</a:t>
            </a:r>
            <a:endParaRPr dirty="0" sz="1400" lang="en-US"/>
          </a:p>
        </p:txBody>
      </p:sp>
      <p:sp>
        <p:nvSpPr>
          <p:cNvPr id="1048794" name="Text 2"/>
          <p:cNvSpPr/>
          <p:nvPr/>
        </p:nvSpPr>
        <p:spPr>
          <a:xfrm>
            <a:off x="822960" y="1188720"/>
            <a:ext cx="10515600" cy="822960"/>
          </a:xfrm>
          <a:prstGeom prst="rect"/>
          <a:noFill/>
        </p:spPr>
        <p:txBody>
          <a:bodyPr anchor="ctr" bIns="0" lIns="0" rIns="0" rtlCol="0" tIns="0" wrap="square"/>
          <a:p>
            <a:pPr indent="0" marL="0">
              <a:buNone/>
            </a:pPr>
            <a:r>
              <a:rPr b="1" dirty="0" sz="3000" lang="en-US">
                <a:solidFill>
                  <a:srgbClr val="FFFFFF"/>
                </a:solidFill>
                <a:latin typeface="Calibri" pitchFamily="34" charset="0"/>
                <a:ea typeface="Calibri" pitchFamily="34" charset="-122"/>
                <a:cs typeface="Calibri" pitchFamily="34" charset="-120"/>
              </a:rPr>
              <a:t>Stability Condition</a:t>
            </a:r>
            <a:endParaRPr dirty="0" sz="3000" lang="en-US"/>
          </a:p>
        </p:txBody>
      </p:sp>
      <p:sp>
        <p:nvSpPr>
          <p:cNvPr id="1048795" name="Text 3"/>
          <p:cNvSpPr/>
          <p:nvPr/>
        </p:nvSpPr>
        <p:spPr>
          <a:xfrm>
            <a:off x="822960" y="2148840"/>
            <a:ext cx="10241280" cy="1828800"/>
          </a:xfrm>
          <a:prstGeom prst="rect"/>
          <a:noFill/>
        </p:spPr>
        <p:txBody>
          <a:bodyPr anchor="t" bIns="0" lIns="0" rIns="0" rtlCol="0" tIns="0" wrap="square"/>
          <a:p>
            <a:pPr indent="0" marL="0">
              <a:lnSpc>
                <a:spcPct val="130000"/>
              </a:lnSpc>
              <a:buNone/>
            </a:pPr>
            <a:r>
              <a:rPr dirty="0" sz="2400" i="1" lang="en-US">
                <a:solidFill>
                  <a:srgbClr val="DCE3EA"/>
                </a:solidFill>
                <a:latin typeface="Calibri" pitchFamily="34" charset="0"/>
                <a:ea typeface="Calibri" pitchFamily="34" charset="-122"/>
                <a:cs typeface="Calibri" pitchFamily="34" charset="-120"/>
              </a:rPr>
              <a:t>“A queueing system is stable — meaning queue length does not grow without bound over time — if and only if the traffic intensity rho is strictly less than 1 (rho &lt; 1).”</a:t>
            </a:r>
            <a:endParaRPr dirty="0" sz="2400" lang="en-US"/>
          </a:p>
        </p:txBody>
      </p:sp>
      <p:sp>
        <p:nvSpPr>
          <p:cNvPr id="1048796" name="Text 4"/>
          <p:cNvSpPr/>
          <p:nvPr/>
        </p:nvSpPr>
        <p:spPr>
          <a:xfrm>
            <a:off x="822960" y="4114800"/>
            <a:ext cx="10698480" cy="2103120"/>
          </a:xfrm>
          <a:prstGeom prst="rect"/>
          <a:noFill/>
        </p:spPr>
        <p:txBody>
          <a:bodyPr anchor="t" bIns="0" lIns="0" rIns="0" rtlCol="0" tIns="0" wrap="square"/>
          <a:p>
            <a:pPr indent="-342900" marL="342900">
              <a:spcAft>
                <a:spcPts val="800"/>
              </a:spcAft>
              <a:buSzPct val="100000"/>
              <a:buChar char="•"/>
            </a:pPr>
            <a:r>
              <a:rPr dirty="0" sz="2400" lang="en-US">
                <a:solidFill>
                  <a:srgbClr val="C7D0D9"/>
                </a:solidFill>
                <a:latin typeface="Calibri" pitchFamily="34" charset="0"/>
                <a:ea typeface="Calibri" pitchFamily="34" charset="-122"/>
                <a:cs typeface="Calibri" pitchFamily="34" charset="-120"/>
              </a:rPr>
              <a:t>If rho is greater than or equal to 1, the arrival rate meets or exceeds the maximum service capacity, and the queue grows without bound over time, no matter how the math is arranged</a:t>
            </a:r>
            <a:endParaRPr dirty="0" sz="2400" lang="en-US"/>
          </a:p>
          <a:p>
            <a:pPr indent="-342900" marL="342900">
              <a:spcAft>
                <a:spcPts val="800"/>
              </a:spcAft>
              <a:buSzPct val="100000"/>
              <a:buChar char="•"/>
            </a:pPr>
            <a:r>
              <a:rPr dirty="0" sz="2400" lang="en-US">
                <a:solidFill>
                  <a:srgbClr val="C7D0D9"/>
                </a:solidFill>
                <a:latin typeface="Calibri" pitchFamily="34" charset="0"/>
                <a:ea typeface="Calibri" pitchFamily="34" charset="-122"/>
                <a:cs typeface="Calibri" pitchFamily="34" charset="-120"/>
              </a:rPr>
              <a:t>This single inequality is the mathematical explanation for the 'response time explodes near 100% utilization' phenomenon introduced informally in Lecture 2</a:t>
            </a:r>
            <a:endParaRPr dirty="0" sz="2400" lang="en-US"/>
          </a:p>
        </p:txBody>
      </p:sp>
      <p:sp>
        <p:nvSpPr>
          <p:cNvPr id="1048797" name="Text 5"/>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4: Queueing Theory Fundamentals</a:t>
            </a:r>
            <a:endParaRPr dirty="0" sz="900" lang="en-US"/>
          </a:p>
        </p:txBody>
      </p:sp>
      <p:sp>
        <p:nvSpPr>
          <p:cNvPr id="1048798" name="Text 6"/>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20</a:t>
            </a:r>
            <a:endParaRPr dirty="0" sz="900"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95" name=""/>
        <p:cNvGrpSpPr/>
        <p:nvPr/>
      </p:nvGrpSpPr>
      <p:grpSpPr>
        <a:xfrm>
          <a:off x="0" y="0"/>
          <a:ext cx="0" cy="0"/>
          <a:chOff x="0" y="0"/>
          <a:chExt cx="0" cy="0"/>
        </a:xfrm>
      </p:grpSpPr>
      <p:sp>
        <p:nvSpPr>
          <p:cNvPr id="1048802"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Why Stability Is Not Just a Technicality</a:t>
            </a:r>
            <a:endParaRPr dirty="0" sz="2600" lang="en-US"/>
          </a:p>
        </p:txBody>
      </p:sp>
      <p:sp>
        <p:nvSpPr>
          <p:cNvPr id="1048803" name="Shape 1"/>
          <p:cNvSpPr/>
          <p:nvPr/>
        </p:nvSpPr>
        <p:spPr>
          <a:xfrm>
            <a:off x="566928" y="1005840"/>
            <a:ext cx="411480" cy="45720"/>
          </a:xfrm>
          <a:prstGeom prst="rect"/>
          <a:solidFill>
            <a:srgbClr val="00B8A9"/>
          </a:solidFill>
        </p:spPr>
      </p:sp>
      <p:sp>
        <p:nvSpPr>
          <p:cNvPr id="1048804"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An unstable system (rho &gt;= 1) doesn't just perform 'badly' — mathematically, its queue length and wait time grow toward infinity over time</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In practice, this shows up as continuously growing latency, memory exhaustion from buffered requests, or eventual system crash</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This is why capacity planning (Lecture 8) always targets rho comfortably below 1, never at or above it — 'just barely stable' is operationally fragile</a:t>
            </a:r>
            <a:endParaRPr dirty="0" sz="2400" lang="en-US"/>
          </a:p>
        </p:txBody>
      </p:sp>
      <p:sp>
        <p:nvSpPr>
          <p:cNvPr id="1048805"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4: Queueing Theory Fundamentals</a:t>
            </a:r>
            <a:endParaRPr dirty="0" sz="900" lang="en-US"/>
          </a:p>
        </p:txBody>
      </p:sp>
      <p:sp>
        <p:nvSpPr>
          <p:cNvPr id="1048806"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21</a:t>
            </a:r>
            <a:endParaRPr dirty="0" sz="900"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98" name=""/>
        <p:cNvGrpSpPr/>
        <p:nvPr/>
      </p:nvGrpSpPr>
      <p:grpSpPr>
        <a:xfrm>
          <a:off x="0" y="0"/>
          <a:ext cx="0" cy="0"/>
          <a:chOff x="0" y="0"/>
          <a:chExt cx="0" cy="0"/>
        </a:xfrm>
      </p:grpSpPr>
      <p:sp>
        <p:nvSpPr>
          <p:cNvPr id="1048810"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Worked Example: Computing Traffic Intensity</a:t>
            </a:r>
            <a:endParaRPr dirty="0" sz="2600" lang="en-US"/>
          </a:p>
        </p:txBody>
      </p:sp>
      <p:sp>
        <p:nvSpPr>
          <p:cNvPr id="1048811" name="Shape 1"/>
          <p:cNvSpPr/>
          <p:nvPr/>
        </p:nvSpPr>
        <p:spPr>
          <a:xfrm>
            <a:off x="566928" y="1005840"/>
            <a:ext cx="411480" cy="45720"/>
          </a:xfrm>
          <a:prstGeom prst="rect"/>
          <a:solidFill>
            <a:srgbClr val="00B8A9"/>
          </a:solidFill>
        </p:spPr>
      </p:sp>
      <p:graphicFrame>
        <p:nvGraphicFramePr>
          <p:cNvPr id="4194305" name="Table 0"/>
          <p:cNvGraphicFramePr>
            <a:graphicFrameLocks noGrp="1"/>
          </p:cNvGraphicFramePr>
          <p:nvPr/>
        </p:nvGraphicFramePr>
        <p:xfrm>
          <a:off x="548640" y="1325880"/>
          <a:ext cx="11064240" cy="4846320"/>
        </p:xfrm>
        <a:graphic>
          <a:graphicData uri="http://schemas.openxmlformats.org/drawingml/2006/table">
            <a:tbl>
              <a:tblPr/>
              <a:tblGrid>
                <a:gridCol w="5532120"/>
                <a:gridCol w="5532120"/>
              </a:tblGrid>
              <a:tr h="807720">
                <a:tc>
                  <a:txBody>
                    <a:bodyPr/>
                    <a:p>
                      <a:pPr indent="0" marL="0">
                        <a:buNone/>
                      </a:pPr>
                      <a:r>
                        <a:rPr b="1" dirty="0" sz="2400" lang="en-US">
                          <a:solidFill>
                            <a:srgbClr val="FFFFFF"/>
                          </a:solidFill>
                          <a:latin typeface="Calibri" pitchFamily="34" charset="0"/>
                          <a:ea typeface="Calibri" pitchFamily="34" charset="-122"/>
                          <a:cs typeface="Calibri" pitchFamily="34" charset="-120"/>
                        </a:rPr>
                        <a:t>Quantity</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0F2942"/>
                    </a:solidFill>
                  </a:tcPr>
                </a:tc>
                <a:tc>
                  <a:txBody>
                    <a:bodyPr/>
                    <a:p>
                      <a:pPr indent="0" marL="0">
                        <a:buNone/>
                      </a:pPr>
                      <a:r>
                        <a:rPr b="1" dirty="0" sz="2400" lang="en-US">
                          <a:solidFill>
                            <a:srgbClr val="FFFFFF"/>
                          </a:solidFill>
                          <a:latin typeface="Calibri" pitchFamily="34" charset="0"/>
                          <a:ea typeface="Calibri" pitchFamily="34" charset="-122"/>
                          <a:cs typeface="Calibri" pitchFamily="34" charset="-120"/>
                        </a:rPr>
                        <a:t>Value</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0F2942"/>
                    </a:solidFill>
                  </a:tcPr>
                </a:tc>
              </a:tr>
              <a:tr h="807720">
                <a:tc>
                  <a:txBody>
                    <a:bodyPr/>
                    <a:p>
                      <a:pPr indent="0" marL="0">
                        <a:buNone/>
                      </a:pPr>
                      <a:r>
                        <a:rPr dirty="0" sz="2400" lang="en-US">
                          <a:solidFill>
                            <a:srgbClr val="1A1A2E"/>
                          </a:solidFill>
                          <a:latin typeface="Calibri" pitchFamily="34" charset="0"/>
                          <a:ea typeface="Calibri" pitchFamily="34" charset="-122"/>
                          <a:cs typeface="Calibri" pitchFamily="34" charset="-120"/>
                        </a:rPr>
                        <a:t>Arrival rate (lambda)</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p>
                      <a:pPr indent="0" marL="0">
                        <a:buNone/>
                      </a:pPr>
                      <a:r>
                        <a:rPr dirty="0" sz="2400" lang="en-US">
                          <a:solidFill>
                            <a:srgbClr val="1A1A2E"/>
                          </a:solidFill>
                          <a:latin typeface="Calibri" pitchFamily="34" charset="0"/>
                          <a:ea typeface="Calibri" pitchFamily="34" charset="-122"/>
                          <a:cs typeface="Calibri" pitchFamily="34" charset="-120"/>
                        </a:rPr>
                        <a:t>180 requests/second</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r h="807720">
                <a:tc>
                  <a:txBody>
                    <a:bodyPr/>
                    <a:p>
                      <a:pPr indent="0" marL="0">
                        <a:buNone/>
                      </a:pPr>
                      <a:r>
                        <a:rPr dirty="0" sz="2400" lang="en-US">
                          <a:solidFill>
                            <a:srgbClr val="1A1A2E"/>
                          </a:solidFill>
                          <a:latin typeface="Calibri" pitchFamily="34" charset="0"/>
                          <a:ea typeface="Calibri" pitchFamily="34" charset="-122"/>
                          <a:cs typeface="Calibri" pitchFamily="34" charset="-120"/>
                        </a:rPr>
                        <a:t>Number of servers (c)</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p>
                      <a:pPr indent="0" marL="0">
                        <a:buNone/>
                      </a:pPr>
                      <a:r>
                        <a:rPr dirty="0" sz="2400" lang="en-US">
                          <a:solidFill>
                            <a:srgbClr val="1A1A2E"/>
                          </a:solidFill>
                          <a:latin typeface="Calibri" pitchFamily="34" charset="0"/>
                          <a:ea typeface="Calibri" pitchFamily="34" charset="-122"/>
                          <a:cs typeface="Calibri" pitchFamily="34" charset="-120"/>
                        </a:rPr>
                        <a:t>4</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r>
              <a:tr h="807720">
                <a:tc>
                  <a:txBody>
                    <a:bodyPr/>
                    <a:p>
                      <a:pPr indent="0" marL="0">
                        <a:buNone/>
                      </a:pPr>
                      <a:r>
                        <a:rPr dirty="0" sz="2400" lang="en-US">
                          <a:solidFill>
                            <a:srgbClr val="1A1A2E"/>
                          </a:solidFill>
                          <a:latin typeface="Calibri" pitchFamily="34" charset="0"/>
                          <a:ea typeface="Calibri" pitchFamily="34" charset="-122"/>
                          <a:cs typeface="Calibri" pitchFamily="34" charset="-120"/>
                        </a:rPr>
                        <a:t>Service rate per server (mu)</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p>
                      <a:pPr indent="0" marL="0">
                        <a:buNone/>
                      </a:pPr>
                      <a:r>
                        <a:rPr dirty="0" sz="2400" lang="en-US">
                          <a:solidFill>
                            <a:srgbClr val="1A1A2E"/>
                          </a:solidFill>
                          <a:latin typeface="Calibri" pitchFamily="34" charset="0"/>
                          <a:ea typeface="Calibri" pitchFamily="34" charset="-122"/>
                          <a:cs typeface="Calibri" pitchFamily="34" charset="-120"/>
                        </a:rPr>
                        <a:t>60 requests/second</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r h="807720">
                <a:tc>
                  <a:txBody>
                    <a:bodyPr/>
                    <a:p>
                      <a:pPr indent="0" marL="0">
                        <a:buNone/>
                      </a:pPr>
                      <a:r>
                        <a:rPr dirty="0" sz="2400" lang="en-US">
                          <a:solidFill>
                            <a:srgbClr val="1A1A2E"/>
                          </a:solidFill>
                          <a:latin typeface="Calibri" pitchFamily="34" charset="0"/>
                          <a:ea typeface="Calibri" pitchFamily="34" charset="-122"/>
                          <a:cs typeface="Calibri" pitchFamily="34" charset="-120"/>
                        </a:rPr>
                        <a:t>Max system capacity (c × mu)</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p>
                      <a:pPr indent="0" marL="0">
                        <a:buNone/>
                      </a:pPr>
                      <a:r>
                        <a:rPr dirty="0" sz="2400" lang="en-US">
                          <a:solidFill>
                            <a:srgbClr val="1A1A2E"/>
                          </a:solidFill>
                          <a:latin typeface="Calibri" pitchFamily="34" charset="0"/>
                          <a:ea typeface="Calibri" pitchFamily="34" charset="-122"/>
                          <a:cs typeface="Calibri" pitchFamily="34" charset="-120"/>
                        </a:rPr>
                        <a:t>240 requests/second</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r>
              <a:tr h="807720">
                <a:tc>
                  <a:txBody>
                    <a:bodyPr/>
                    <a:p>
                      <a:pPr indent="0" marL="0">
                        <a:buNone/>
                      </a:pPr>
                      <a:r>
                        <a:rPr dirty="0" sz="2400" lang="en-US">
                          <a:solidFill>
                            <a:srgbClr val="1A1A2E"/>
                          </a:solidFill>
                          <a:latin typeface="Calibri" pitchFamily="34" charset="0"/>
                          <a:ea typeface="Calibri" pitchFamily="34" charset="-122"/>
                          <a:cs typeface="Calibri" pitchFamily="34" charset="-120"/>
                        </a:rPr>
                        <a:t>Traffic intensity (rho = lambda / (c×mu))</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p>
                      <a:pPr indent="0" marL="0">
                        <a:buNone/>
                      </a:pPr>
                      <a:r>
                        <a:rPr dirty="0" sz="2400" lang="en-US">
                          <a:solidFill>
                            <a:srgbClr val="1A1A2E"/>
                          </a:solidFill>
                          <a:latin typeface="Calibri" pitchFamily="34" charset="0"/>
                          <a:ea typeface="Calibri" pitchFamily="34" charset="-122"/>
                          <a:cs typeface="Calibri" pitchFamily="34" charset="-120"/>
                        </a:rPr>
                        <a:t>0.75 (75%)</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bl>
          </a:graphicData>
        </a:graphic>
      </p:graphicFrame>
      <p:sp>
        <p:nvSpPr>
          <p:cNvPr id="1048812" name="Text 2"/>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4: Queueing Theory Fundamentals</a:t>
            </a:r>
            <a:endParaRPr dirty="0" sz="900" lang="en-US"/>
          </a:p>
        </p:txBody>
      </p:sp>
      <p:sp>
        <p:nvSpPr>
          <p:cNvPr id="1048813" name="Text 3"/>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22</a:t>
            </a:r>
            <a:endParaRPr dirty="0" sz="900"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01" name=""/>
        <p:cNvGrpSpPr/>
        <p:nvPr/>
      </p:nvGrpSpPr>
      <p:grpSpPr>
        <a:xfrm>
          <a:off x="0" y="0"/>
          <a:ext cx="0" cy="0"/>
          <a:chOff x="0" y="0"/>
          <a:chExt cx="0" cy="0"/>
        </a:xfrm>
      </p:grpSpPr>
      <p:sp>
        <p:nvSpPr>
          <p:cNvPr id="1048817"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Interpreting the Traffic Intensity Result</a:t>
            </a:r>
            <a:endParaRPr dirty="0" sz="2600" lang="en-US"/>
          </a:p>
        </p:txBody>
      </p:sp>
      <p:sp>
        <p:nvSpPr>
          <p:cNvPr id="1048818" name="Shape 1"/>
          <p:cNvSpPr/>
          <p:nvPr/>
        </p:nvSpPr>
        <p:spPr>
          <a:xfrm>
            <a:off x="566928" y="1005840"/>
            <a:ext cx="411480" cy="45720"/>
          </a:xfrm>
          <a:prstGeom prst="rect"/>
          <a:solidFill>
            <a:srgbClr val="00B8A9"/>
          </a:solidFill>
        </p:spPr>
      </p:sp>
      <p:sp>
        <p:nvSpPr>
          <p:cNvPr id="1048819"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A traffic intensity of 0.75 (75%) means the system is stable (rho &lt; 1), but operating at meaningful load</a:t>
            </a:r>
            <a:endParaRPr dirty="0" sz="2400" lang="en-US"/>
          </a:p>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There is 25% spare capacity — but recall from Lecture 2 that response time grows non-linearly as rho approaches 1</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This system likely still has acceptable response time, but is not far from a zone where small increases in load could cause disproportionate response time growth — exactly what Lecture 5's formulas will let us quantify precisely</a:t>
            </a:r>
            <a:endParaRPr dirty="0" sz="2400" lang="en-US"/>
          </a:p>
        </p:txBody>
      </p:sp>
      <p:sp>
        <p:nvSpPr>
          <p:cNvPr id="1048820"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4: Queueing Theory Fundamentals</a:t>
            </a:r>
            <a:endParaRPr dirty="0" sz="900" lang="en-US"/>
          </a:p>
        </p:txBody>
      </p:sp>
      <p:sp>
        <p:nvSpPr>
          <p:cNvPr id="1048821"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23</a:t>
            </a:r>
            <a:endParaRPr dirty="0" sz="900"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04" name=""/>
        <p:cNvGrpSpPr/>
        <p:nvPr/>
      </p:nvGrpSpPr>
      <p:grpSpPr>
        <a:xfrm>
          <a:off x="0" y="0"/>
          <a:ext cx="0" cy="0"/>
          <a:chOff x="0" y="0"/>
          <a:chExt cx="0" cy="0"/>
        </a:xfrm>
      </p:grpSpPr>
      <p:sp>
        <p:nvSpPr>
          <p:cNvPr id="1048825"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Queue Discipline: How Waiting Entities Are Served</a:t>
            </a:r>
            <a:endParaRPr dirty="0" sz="2600" lang="en-US"/>
          </a:p>
        </p:txBody>
      </p:sp>
      <p:sp>
        <p:nvSpPr>
          <p:cNvPr id="1048826" name="Shape 1"/>
          <p:cNvSpPr/>
          <p:nvPr/>
        </p:nvSpPr>
        <p:spPr>
          <a:xfrm>
            <a:off x="566928" y="1005840"/>
            <a:ext cx="411480" cy="45720"/>
          </a:xfrm>
          <a:prstGeom prst="rect"/>
          <a:solidFill>
            <a:srgbClr val="00B8A9"/>
          </a:solidFill>
        </p:spPr>
      </p:sp>
      <p:sp>
        <p:nvSpPr>
          <p:cNvPr id="1048827"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FCFS (First-Come, First-Served)</a:t>
            </a:r>
            <a:endParaRPr dirty="0" sz="2400" lang="en-US"/>
          </a:p>
          <a:p>
            <a:pPr indent="-342900" lvl="1" marL="685800">
              <a:spcAft>
                <a:spcPts val="600"/>
              </a:spcAft>
              <a:buSzPct val="100000"/>
              <a:buChar char="–"/>
            </a:pPr>
            <a:r>
              <a:rPr dirty="0" sz="2000" lang="en-US">
                <a:solidFill>
                  <a:srgbClr val="44546A"/>
                </a:solidFill>
                <a:latin typeface="Calibri" pitchFamily="34" charset="0"/>
                <a:ea typeface="Calibri" pitchFamily="34" charset="-122"/>
                <a:cs typeface="Calibri" pitchFamily="34" charset="-120"/>
              </a:rPr>
              <a:t>The default assumption in most queueing models — entities are served in arrival order</a:t>
            </a:r>
            <a:endParaRPr dirty="0" sz="2400" lang="en-US"/>
          </a:p>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LCFS (Last-Come, First-Served)</a:t>
            </a:r>
            <a:endParaRPr dirty="0" sz="2400" lang="en-US"/>
          </a:p>
          <a:p>
            <a:pPr indent="-342900" lvl="1" marL="685800">
              <a:spcAft>
                <a:spcPts val="600"/>
              </a:spcAft>
              <a:buSzPct val="100000"/>
              <a:buChar char="–"/>
            </a:pPr>
            <a:r>
              <a:rPr dirty="0" sz="2000" lang="en-US">
                <a:solidFill>
                  <a:srgbClr val="44546A"/>
                </a:solidFill>
                <a:latin typeface="Calibri" pitchFamily="34" charset="0"/>
                <a:ea typeface="Calibri" pitchFamily="34" charset="-122"/>
                <a:cs typeface="Calibri" pitchFamily="34" charset="-120"/>
              </a:rPr>
              <a:t>The most recently arrived entity is served next (e.g., a stack-based processing order)</a:t>
            </a:r>
            <a:endParaRPr dirty="0" sz="2400" lang="en-US"/>
          </a:p>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Priority Queueing</a:t>
            </a:r>
            <a:endParaRPr dirty="0" sz="2400" lang="en-US"/>
          </a:p>
          <a:p>
            <a:pPr indent="-342900" lvl="1" marL="685800">
              <a:spcAft>
                <a:spcPts val="600"/>
              </a:spcAft>
              <a:buSzPct val="100000"/>
              <a:buChar char="–"/>
            </a:pPr>
            <a:r>
              <a:rPr dirty="0" sz="2000" lang="en-US">
                <a:solidFill>
                  <a:srgbClr val="44546A"/>
                </a:solidFill>
                <a:latin typeface="Calibri" pitchFamily="34" charset="0"/>
                <a:ea typeface="Calibri" pitchFamily="34" charset="-122"/>
                <a:cs typeface="Calibri" pitchFamily="34" charset="-120"/>
              </a:rPr>
              <a:t>Higher-priority entities are served before lower-priority ones, regardless of arrival order</a:t>
            </a:r>
            <a:endParaRPr dirty="0" sz="2400" lang="en-US"/>
          </a:p>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Processor Sharing</a:t>
            </a:r>
            <a:endParaRPr dirty="0" sz="2400" lang="en-US"/>
          </a:p>
          <a:p>
            <a:pPr indent="-342900" lvl="1" marL="685800">
              <a:spcAft>
                <a:spcPts val="600"/>
              </a:spcAft>
              <a:buSzPct val="100000"/>
              <a:buChar char="–"/>
            </a:pPr>
            <a:r>
              <a:rPr dirty="0" sz="2000" lang="en-US">
                <a:solidFill>
                  <a:srgbClr val="44546A"/>
                </a:solidFill>
                <a:latin typeface="Calibri" pitchFamily="34" charset="0"/>
                <a:ea typeface="Calibri" pitchFamily="34" charset="-122"/>
                <a:cs typeface="Calibri" pitchFamily="34" charset="-120"/>
              </a:rPr>
              <a:t>All entities in the system are served simultaneously, each getting a fair share of capacity — common in modeling time-sliced CPU scheduling</a:t>
            </a:r>
            <a:endParaRPr dirty="0" sz="2400" lang="en-US"/>
          </a:p>
        </p:txBody>
      </p:sp>
      <p:sp>
        <p:nvSpPr>
          <p:cNvPr id="1048828"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4: Queueing Theory Fundamentals</a:t>
            </a:r>
            <a:endParaRPr dirty="0" sz="900" lang="en-US"/>
          </a:p>
        </p:txBody>
      </p:sp>
      <p:sp>
        <p:nvSpPr>
          <p:cNvPr id="1048829"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24</a:t>
            </a:r>
            <a:endParaRPr dirty="0" sz="900"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07" name=""/>
        <p:cNvGrpSpPr/>
        <p:nvPr/>
      </p:nvGrpSpPr>
      <p:grpSpPr>
        <a:xfrm>
          <a:off x="0" y="0"/>
          <a:ext cx="0" cy="0"/>
          <a:chOff x="0" y="0"/>
          <a:chExt cx="0" cy="0"/>
        </a:xfrm>
      </p:grpSpPr>
      <p:sp>
        <p:nvSpPr>
          <p:cNvPr id="1048833"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Open vs. Closed Queueing Networks — A Preview</a:t>
            </a:r>
            <a:endParaRPr dirty="0" sz="2600" lang="en-US"/>
          </a:p>
        </p:txBody>
      </p:sp>
      <p:sp>
        <p:nvSpPr>
          <p:cNvPr id="1048834" name="Shape 1"/>
          <p:cNvSpPr/>
          <p:nvPr/>
        </p:nvSpPr>
        <p:spPr>
          <a:xfrm>
            <a:off x="566928" y="1005840"/>
            <a:ext cx="411480" cy="45720"/>
          </a:xfrm>
          <a:prstGeom prst="rect"/>
          <a:solidFill>
            <a:srgbClr val="00B8A9"/>
          </a:solidFill>
        </p:spPr>
      </p:sp>
      <p:sp>
        <p:nvSpPr>
          <p:cNvPr id="1048835"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dirty="0" sz="2800" lang="en-US">
                <a:solidFill>
                  <a:srgbClr val="1A1A2E"/>
                </a:solidFill>
                <a:latin typeface="Calibri" pitchFamily="34" charset="0"/>
                <a:ea typeface="Calibri" pitchFamily="34" charset="-122"/>
                <a:cs typeface="Calibri" pitchFamily="34" charset="-120"/>
              </a:rPr>
              <a:t>Recall the open vs. closed workload distinction from Lecture 2 — it applies directly to queueing systems too</a:t>
            </a:r>
            <a:endParaRPr dirty="0" sz="2800" lang="en-US"/>
          </a:p>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Open queueing model</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Unbounded population; arrivals come from 'outside' at a fixed rate lambda, unaffected by system state</a:t>
            </a:r>
            <a:endParaRPr dirty="0" sz="2800" lang="en-US"/>
          </a:p>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Closed queueing model</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Fixed population N that cycles between 'thinking' and being 'in the system'</a:t>
            </a:r>
            <a:endParaRPr dirty="0" sz="2800" lang="en-US"/>
          </a:p>
          <a:p>
            <a:pPr indent="-342900" marL="342900">
              <a:spcAft>
                <a:spcPts val="1200"/>
              </a:spcAft>
              <a:buSzPct val="100000"/>
              <a:buChar char="•"/>
            </a:pPr>
            <a:r>
              <a:rPr dirty="0" sz="2800" lang="en-US">
                <a:solidFill>
                  <a:srgbClr val="1A1A2E"/>
                </a:solidFill>
                <a:latin typeface="Calibri" pitchFamily="34" charset="0"/>
                <a:ea typeface="Calibri" pitchFamily="34" charset="-122"/>
                <a:cs typeface="Calibri" pitchFamily="34" charset="-120"/>
              </a:rPr>
              <a:t>Lecture 6 develops full analytical techniques for both — but the single-station formulas in Lecture 5 assume the open model unless stated otherwise</a:t>
            </a:r>
            <a:endParaRPr dirty="0" sz="2800" lang="en-US"/>
          </a:p>
        </p:txBody>
      </p:sp>
      <p:sp>
        <p:nvSpPr>
          <p:cNvPr id="1048836"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4: Queueing Theory Fundamentals</a:t>
            </a:r>
            <a:endParaRPr dirty="0" sz="900" lang="en-US"/>
          </a:p>
        </p:txBody>
      </p:sp>
      <p:sp>
        <p:nvSpPr>
          <p:cNvPr id="1048837"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25</a:t>
            </a:r>
            <a:endParaRPr dirty="0" sz="900"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10" name=""/>
        <p:cNvGrpSpPr/>
        <p:nvPr/>
      </p:nvGrpSpPr>
      <p:grpSpPr>
        <a:xfrm>
          <a:off x="0" y="0"/>
          <a:ext cx="0" cy="0"/>
          <a:chOff x="0" y="0"/>
          <a:chExt cx="0" cy="0"/>
        </a:xfrm>
      </p:grpSpPr>
      <p:sp>
        <p:nvSpPr>
          <p:cNvPr id="1048841"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Assumptions Behind Classical Queueing Models</a:t>
            </a:r>
            <a:endParaRPr dirty="0" sz="2600" lang="en-US"/>
          </a:p>
        </p:txBody>
      </p:sp>
      <p:sp>
        <p:nvSpPr>
          <p:cNvPr id="1048842" name="Shape 1"/>
          <p:cNvSpPr/>
          <p:nvPr/>
        </p:nvSpPr>
        <p:spPr>
          <a:xfrm>
            <a:off x="566928" y="1005840"/>
            <a:ext cx="411480" cy="45720"/>
          </a:xfrm>
          <a:prstGeom prst="rect"/>
          <a:solidFill>
            <a:srgbClr val="00B8A9"/>
          </a:solidFill>
        </p:spPr>
      </p:sp>
      <p:sp>
        <p:nvSpPr>
          <p:cNvPr id="1048843"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Independence: inter-arrival times and service times are statistically independent of each other</a:t>
            </a:r>
            <a:endParaRPr dirty="0" sz="2400" lang="en-US"/>
          </a:p>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Stationarity: the arrival rate and service rate do not change over the period being analyzed</a:t>
            </a:r>
            <a:endParaRPr dirty="0" sz="2400" lang="en-US"/>
          </a:p>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Infinite patience: entities do not abandon the queue while waiting (no 'reneging')</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Real systems can violate any of these assumptions — recognizing when a classical model's assumptions don't hold is as important as knowing the formulas themselves</a:t>
            </a:r>
            <a:endParaRPr dirty="0" sz="2400" lang="en-US"/>
          </a:p>
        </p:txBody>
      </p:sp>
      <p:sp>
        <p:nvSpPr>
          <p:cNvPr id="1048844"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4: Queueing Theory Fundamentals</a:t>
            </a:r>
            <a:endParaRPr dirty="0" sz="900" lang="en-US"/>
          </a:p>
        </p:txBody>
      </p:sp>
      <p:sp>
        <p:nvSpPr>
          <p:cNvPr id="1048845"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26</a:t>
            </a:r>
            <a:endParaRPr dirty="0" sz="900"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13" name=""/>
        <p:cNvGrpSpPr/>
        <p:nvPr/>
      </p:nvGrpSpPr>
      <p:grpSpPr>
        <a:xfrm>
          <a:off x="0" y="0"/>
          <a:ext cx="0" cy="0"/>
          <a:chOff x="0" y="0"/>
          <a:chExt cx="0" cy="0"/>
        </a:xfrm>
      </p:grpSpPr>
      <p:sp>
        <p:nvSpPr>
          <p:cNvPr id="1048849"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When Classical Queueing Assumptions Break Down</a:t>
            </a:r>
            <a:endParaRPr dirty="0" sz="2600" lang="en-US"/>
          </a:p>
        </p:txBody>
      </p:sp>
      <p:sp>
        <p:nvSpPr>
          <p:cNvPr id="1048850" name="Shape 1"/>
          <p:cNvSpPr/>
          <p:nvPr/>
        </p:nvSpPr>
        <p:spPr>
          <a:xfrm>
            <a:off x="566928" y="1005840"/>
            <a:ext cx="411480" cy="45720"/>
          </a:xfrm>
          <a:prstGeom prst="rect"/>
          <a:solidFill>
            <a:srgbClr val="00B8A9"/>
          </a:solidFill>
        </p:spPr>
      </p:sp>
      <p:sp>
        <p:nvSpPr>
          <p:cNvPr id="1048851"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Non-stationary arrivals</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A shopping site's arrival rate during a flash sale changes dramatically within minutes — violates the stationarity assumption</a:t>
            </a:r>
            <a:endParaRPr dirty="0" sz="2800" lang="en-US"/>
          </a:p>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Impatient users</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Users who give up and leave (abandon) after waiting too long — violates the infinite patience assumption</a:t>
            </a:r>
            <a:endParaRPr dirty="0" sz="2800" lang="en-US"/>
          </a:p>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Correlated arrivals</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A retry storm after an outage causes arrivals to cluster — violates independence</a:t>
            </a:r>
            <a:endParaRPr dirty="0" sz="2800" lang="en-US"/>
          </a:p>
          <a:p>
            <a:pPr indent="-342900" marL="342900">
              <a:spcAft>
                <a:spcPts val="1200"/>
              </a:spcAft>
              <a:buSzPct val="100000"/>
              <a:buChar char="•"/>
            </a:pPr>
            <a:r>
              <a:rPr dirty="0" sz="2800" lang="en-US">
                <a:solidFill>
                  <a:srgbClr val="1A1A2E"/>
                </a:solidFill>
                <a:latin typeface="Calibri" pitchFamily="34" charset="0"/>
                <a:ea typeface="Calibri" pitchFamily="34" charset="-122"/>
                <a:cs typeface="Calibri" pitchFamily="34" charset="-120"/>
              </a:rPr>
              <a:t>In these cases, simulation (Lecture 7) is often more appropriate than closed-form analytical formulas</a:t>
            </a:r>
            <a:endParaRPr dirty="0" sz="2800" lang="en-US"/>
          </a:p>
        </p:txBody>
      </p:sp>
      <p:sp>
        <p:nvSpPr>
          <p:cNvPr id="1048852"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4: Queueing Theory Fundamentals</a:t>
            </a:r>
            <a:endParaRPr dirty="0" sz="900" lang="en-US"/>
          </a:p>
        </p:txBody>
      </p:sp>
      <p:sp>
        <p:nvSpPr>
          <p:cNvPr id="1048853"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27</a:t>
            </a:r>
            <a:endParaRPr dirty="0" sz="900"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EAF6F5"/>
        </a:solidFill>
        <a:effectLst/>
      </p:bgPr>
    </p:bg>
    <p:spTree>
      <p:nvGrpSpPr>
        <p:cNvPr id="116" name=""/>
        <p:cNvGrpSpPr/>
        <p:nvPr/>
      </p:nvGrpSpPr>
      <p:grpSpPr>
        <a:xfrm>
          <a:off x="0" y="0"/>
          <a:ext cx="0" cy="0"/>
          <a:chOff x="0" y="0"/>
          <a:chExt cx="0" cy="0"/>
        </a:xfrm>
      </p:grpSpPr>
      <p:sp>
        <p:nvSpPr>
          <p:cNvPr id="1048857" name="Text 0"/>
          <p:cNvSpPr/>
          <p:nvPr/>
        </p:nvSpPr>
        <p:spPr>
          <a:xfrm>
            <a:off x="548640" y="457200"/>
            <a:ext cx="7315200" cy="640080"/>
          </a:xfrm>
          <a:prstGeom prst="rect"/>
          <a:noFill/>
        </p:spPr>
        <p:txBody>
          <a:bodyPr anchor="ctr" bIns="0" lIns="0" rIns="0" rtlCol="0" tIns="0" wrap="square"/>
          <a:p>
            <a:pPr indent="0" marL="0">
              <a:buNone/>
            </a:pPr>
            <a:r>
              <a:rPr b="1" dirty="0" sz="2800" lang="en-US">
                <a:solidFill>
                  <a:srgbClr val="0F2942"/>
                </a:solidFill>
                <a:latin typeface="Calibri" pitchFamily="34" charset="0"/>
                <a:ea typeface="Calibri" pitchFamily="34" charset="-122"/>
                <a:cs typeface="Calibri" pitchFamily="34" charset="-120"/>
              </a:rPr>
              <a:t>Key Takeaways</a:t>
            </a:r>
            <a:endParaRPr dirty="0" sz="2800" lang="en-US"/>
          </a:p>
        </p:txBody>
      </p:sp>
      <p:sp>
        <p:nvSpPr>
          <p:cNvPr id="1048858" name="Shape 1"/>
          <p:cNvSpPr/>
          <p:nvPr/>
        </p:nvSpPr>
        <p:spPr>
          <a:xfrm>
            <a:off x="566928" y="1143000"/>
            <a:ext cx="457200" cy="54864"/>
          </a:xfrm>
          <a:prstGeom prst="rect"/>
          <a:solidFill>
            <a:srgbClr val="00B8A9"/>
          </a:solidFill>
        </p:spPr>
      </p:sp>
      <p:sp>
        <p:nvSpPr>
          <p:cNvPr id="1048859" name="Shape 2"/>
          <p:cNvSpPr/>
          <p:nvPr/>
        </p:nvSpPr>
        <p:spPr>
          <a:xfrm>
            <a:off x="548640" y="1508760"/>
            <a:ext cx="11064240" cy="777240"/>
          </a:xfrm>
          <a:prstGeom prst="roundRect">
            <a:avLst>
              <a:gd name="adj" fmla="val 9412"/>
            </a:avLst>
          </a:prstGeom>
          <a:solidFill>
            <a:srgbClr val="FFFFFF"/>
          </a:solidFill>
        </p:spPr>
      </p:sp>
      <p:sp>
        <p:nvSpPr>
          <p:cNvPr id="1048860" name="Shape 3"/>
          <p:cNvSpPr/>
          <p:nvPr/>
        </p:nvSpPr>
        <p:spPr>
          <a:xfrm>
            <a:off x="777240" y="1673352"/>
            <a:ext cx="457200" cy="457200"/>
          </a:xfrm>
          <a:prstGeom prst="ellipse"/>
          <a:solidFill>
            <a:srgbClr val="00B8A9"/>
          </a:solidFill>
        </p:spPr>
      </p:sp>
      <p:sp>
        <p:nvSpPr>
          <p:cNvPr id="1048861" name="Text 4"/>
          <p:cNvSpPr/>
          <p:nvPr/>
        </p:nvSpPr>
        <p:spPr>
          <a:xfrm>
            <a:off x="777240" y="1673352"/>
            <a:ext cx="457200" cy="457200"/>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1</a:t>
            </a:r>
            <a:endParaRPr dirty="0" sz="1500" lang="en-US"/>
          </a:p>
        </p:txBody>
      </p:sp>
      <p:sp>
        <p:nvSpPr>
          <p:cNvPr id="1048862" name="Text 5"/>
          <p:cNvSpPr/>
          <p:nvPr/>
        </p:nvSpPr>
        <p:spPr>
          <a:xfrm>
            <a:off x="1417320" y="1508760"/>
            <a:ext cx="9966960" cy="777240"/>
          </a:xfrm>
          <a:prstGeom prst="rect"/>
          <a:noFill/>
        </p:spPr>
        <p:txBody>
          <a:bodyPr anchor="ctr" bIns="0" lIns="0" rIns="0" rtlCol="0" tIns="0" wrap="square"/>
          <a:p>
            <a:pPr indent="0" marL="0">
              <a:buNone/>
            </a:pPr>
            <a:r>
              <a:rPr dirty="0" sz="2400" lang="en-US">
                <a:solidFill>
                  <a:srgbClr val="1A1A2E"/>
                </a:solidFill>
                <a:latin typeface="Calibri" pitchFamily="34" charset="0"/>
                <a:ea typeface="Calibri" pitchFamily="34" charset="-122"/>
                <a:cs typeface="Calibri" pitchFamily="34" charset="-120"/>
              </a:rPr>
              <a:t>Kendall notation (A/S/c/K/N/D) provides a standard shorthand for fully specifying any queueing model</a:t>
            </a:r>
            <a:endParaRPr dirty="0" sz="2400" lang="en-US"/>
          </a:p>
        </p:txBody>
      </p:sp>
      <p:sp>
        <p:nvSpPr>
          <p:cNvPr id="1048863" name="Shape 6"/>
          <p:cNvSpPr/>
          <p:nvPr/>
        </p:nvSpPr>
        <p:spPr>
          <a:xfrm>
            <a:off x="548640" y="2423160"/>
            <a:ext cx="11064240" cy="777240"/>
          </a:xfrm>
          <a:prstGeom prst="roundRect">
            <a:avLst>
              <a:gd name="adj" fmla="val 9412"/>
            </a:avLst>
          </a:prstGeom>
          <a:solidFill>
            <a:srgbClr val="FFFFFF"/>
          </a:solidFill>
        </p:spPr>
      </p:sp>
      <p:sp>
        <p:nvSpPr>
          <p:cNvPr id="1048864" name="Shape 7"/>
          <p:cNvSpPr/>
          <p:nvPr/>
        </p:nvSpPr>
        <p:spPr>
          <a:xfrm>
            <a:off x="777240" y="2587752"/>
            <a:ext cx="457200" cy="457200"/>
          </a:xfrm>
          <a:prstGeom prst="ellipse"/>
          <a:solidFill>
            <a:srgbClr val="00B8A9"/>
          </a:solidFill>
        </p:spPr>
      </p:sp>
      <p:sp>
        <p:nvSpPr>
          <p:cNvPr id="1048865" name="Text 8"/>
          <p:cNvSpPr/>
          <p:nvPr/>
        </p:nvSpPr>
        <p:spPr>
          <a:xfrm>
            <a:off x="777240" y="2587752"/>
            <a:ext cx="457200" cy="457200"/>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2</a:t>
            </a:r>
            <a:endParaRPr dirty="0" sz="1500" lang="en-US"/>
          </a:p>
        </p:txBody>
      </p:sp>
      <p:sp>
        <p:nvSpPr>
          <p:cNvPr id="1048866" name="Text 9"/>
          <p:cNvSpPr/>
          <p:nvPr/>
        </p:nvSpPr>
        <p:spPr>
          <a:xfrm>
            <a:off x="1417320" y="2423160"/>
            <a:ext cx="9966960" cy="777240"/>
          </a:xfrm>
          <a:prstGeom prst="rect"/>
          <a:noFill/>
        </p:spPr>
        <p:txBody>
          <a:bodyPr anchor="ctr" bIns="0" lIns="0" rIns="0" rtlCol="0" tIns="0" wrap="square"/>
          <a:p>
            <a:pPr indent="0" marL="0">
              <a:buNone/>
            </a:pPr>
            <a:r>
              <a:rPr dirty="0" sz="2400" lang="en-US">
                <a:solidFill>
                  <a:srgbClr val="1A1A2E"/>
                </a:solidFill>
                <a:latin typeface="Calibri" pitchFamily="34" charset="0"/>
                <a:ea typeface="Calibri" pitchFamily="34" charset="-122"/>
                <a:cs typeface="Calibri" pitchFamily="34" charset="-120"/>
              </a:rPr>
              <a:t>The birth-death process, with arrival (birth) and departure (death) transitions, is the mathematical basis for classical queueing formulas</a:t>
            </a:r>
            <a:endParaRPr dirty="0" sz="2400" lang="en-US"/>
          </a:p>
        </p:txBody>
      </p:sp>
      <p:sp>
        <p:nvSpPr>
          <p:cNvPr id="1048867" name="Shape 10"/>
          <p:cNvSpPr/>
          <p:nvPr/>
        </p:nvSpPr>
        <p:spPr>
          <a:xfrm>
            <a:off x="548640" y="3337560"/>
            <a:ext cx="11064240" cy="777240"/>
          </a:xfrm>
          <a:prstGeom prst="roundRect">
            <a:avLst>
              <a:gd name="adj" fmla="val 9412"/>
            </a:avLst>
          </a:prstGeom>
          <a:solidFill>
            <a:srgbClr val="FFFFFF"/>
          </a:solidFill>
        </p:spPr>
      </p:sp>
      <p:sp>
        <p:nvSpPr>
          <p:cNvPr id="1048868" name="Shape 11"/>
          <p:cNvSpPr/>
          <p:nvPr/>
        </p:nvSpPr>
        <p:spPr>
          <a:xfrm>
            <a:off x="777240" y="3502152"/>
            <a:ext cx="457200" cy="457200"/>
          </a:xfrm>
          <a:prstGeom prst="ellipse"/>
          <a:solidFill>
            <a:srgbClr val="00B8A9"/>
          </a:solidFill>
        </p:spPr>
      </p:sp>
      <p:sp>
        <p:nvSpPr>
          <p:cNvPr id="1048869" name="Text 12"/>
          <p:cNvSpPr/>
          <p:nvPr/>
        </p:nvSpPr>
        <p:spPr>
          <a:xfrm>
            <a:off x="777240" y="3502152"/>
            <a:ext cx="457200" cy="457200"/>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3</a:t>
            </a:r>
            <a:endParaRPr dirty="0" sz="1500" lang="en-US"/>
          </a:p>
        </p:txBody>
      </p:sp>
      <p:sp>
        <p:nvSpPr>
          <p:cNvPr id="1048870" name="Text 13"/>
          <p:cNvSpPr/>
          <p:nvPr/>
        </p:nvSpPr>
        <p:spPr>
          <a:xfrm>
            <a:off x="1417320" y="3337560"/>
            <a:ext cx="9966960" cy="777240"/>
          </a:xfrm>
          <a:prstGeom prst="rect"/>
          <a:noFill/>
        </p:spPr>
        <p:txBody>
          <a:bodyPr anchor="ctr" bIns="0" lIns="0" rIns="0" rtlCol="0" tIns="0" wrap="square"/>
          <a:p>
            <a:pPr indent="0" marL="0">
              <a:buNone/>
            </a:pPr>
            <a:r>
              <a:rPr dirty="0" sz="2400" lang="en-US">
                <a:solidFill>
                  <a:srgbClr val="1A1A2E"/>
                </a:solidFill>
                <a:latin typeface="Calibri" pitchFamily="34" charset="0"/>
                <a:ea typeface="Calibri" pitchFamily="34" charset="-122"/>
                <a:cs typeface="Calibri" pitchFamily="34" charset="-120"/>
              </a:rPr>
              <a:t>Little's Law (L = lambda × W) is distribution-free and applies to nearly any stable system, including sub-components like the queue alone</a:t>
            </a:r>
            <a:endParaRPr dirty="0" sz="2400" lang="en-US"/>
          </a:p>
        </p:txBody>
      </p:sp>
      <p:sp>
        <p:nvSpPr>
          <p:cNvPr id="1048871" name="Shape 14"/>
          <p:cNvSpPr/>
          <p:nvPr/>
        </p:nvSpPr>
        <p:spPr>
          <a:xfrm>
            <a:off x="548640" y="4251960"/>
            <a:ext cx="11064240" cy="777240"/>
          </a:xfrm>
          <a:prstGeom prst="roundRect">
            <a:avLst>
              <a:gd name="adj" fmla="val 9412"/>
            </a:avLst>
          </a:prstGeom>
          <a:solidFill>
            <a:srgbClr val="FFFFFF"/>
          </a:solidFill>
        </p:spPr>
      </p:sp>
      <p:sp>
        <p:nvSpPr>
          <p:cNvPr id="1048872" name="Shape 15"/>
          <p:cNvSpPr/>
          <p:nvPr/>
        </p:nvSpPr>
        <p:spPr>
          <a:xfrm>
            <a:off x="777240" y="4416552"/>
            <a:ext cx="457200" cy="457200"/>
          </a:xfrm>
          <a:prstGeom prst="ellipse"/>
          <a:solidFill>
            <a:srgbClr val="00B8A9"/>
          </a:solidFill>
        </p:spPr>
      </p:sp>
      <p:sp>
        <p:nvSpPr>
          <p:cNvPr id="1048873" name="Text 16"/>
          <p:cNvSpPr/>
          <p:nvPr/>
        </p:nvSpPr>
        <p:spPr>
          <a:xfrm>
            <a:off x="777240" y="4416552"/>
            <a:ext cx="457200" cy="457200"/>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4</a:t>
            </a:r>
            <a:endParaRPr dirty="0" sz="1500" lang="en-US"/>
          </a:p>
        </p:txBody>
      </p:sp>
      <p:sp>
        <p:nvSpPr>
          <p:cNvPr id="1048874" name="Text 17"/>
          <p:cNvSpPr/>
          <p:nvPr/>
        </p:nvSpPr>
        <p:spPr>
          <a:xfrm>
            <a:off x="1417320" y="4251960"/>
            <a:ext cx="9966960" cy="777240"/>
          </a:xfrm>
          <a:prstGeom prst="rect"/>
          <a:noFill/>
        </p:spPr>
        <p:txBody>
          <a:bodyPr anchor="ctr" bIns="0" lIns="0" rIns="0" rtlCol="0" tIns="0" wrap="square"/>
          <a:p>
            <a:pPr indent="0" marL="0">
              <a:buNone/>
            </a:pPr>
            <a:r>
              <a:rPr dirty="0" sz="2400" lang="en-US">
                <a:solidFill>
                  <a:srgbClr val="1A1A2E"/>
                </a:solidFill>
                <a:latin typeface="Calibri" pitchFamily="34" charset="0"/>
                <a:ea typeface="Calibri" pitchFamily="34" charset="-122"/>
                <a:cs typeface="Calibri" pitchFamily="34" charset="-120"/>
              </a:rPr>
              <a:t>Traffic intensity rho = lambda / (c×mu) must be strictly less than 1 for a queueing system to be stable</a:t>
            </a:r>
            <a:endParaRPr dirty="0" sz="2400" lang="en-US"/>
          </a:p>
        </p:txBody>
      </p:sp>
      <p:sp>
        <p:nvSpPr>
          <p:cNvPr id="1048875" name="Shape 18"/>
          <p:cNvSpPr/>
          <p:nvPr/>
        </p:nvSpPr>
        <p:spPr>
          <a:xfrm>
            <a:off x="548640" y="5166360"/>
            <a:ext cx="11064240" cy="777240"/>
          </a:xfrm>
          <a:prstGeom prst="roundRect">
            <a:avLst>
              <a:gd name="adj" fmla="val 9412"/>
            </a:avLst>
          </a:prstGeom>
          <a:solidFill>
            <a:srgbClr val="FFFFFF"/>
          </a:solidFill>
        </p:spPr>
      </p:sp>
      <p:sp>
        <p:nvSpPr>
          <p:cNvPr id="1048876" name="Shape 19"/>
          <p:cNvSpPr/>
          <p:nvPr/>
        </p:nvSpPr>
        <p:spPr>
          <a:xfrm>
            <a:off x="777240" y="5330952"/>
            <a:ext cx="457200" cy="457200"/>
          </a:xfrm>
          <a:prstGeom prst="ellipse"/>
          <a:solidFill>
            <a:srgbClr val="00B8A9"/>
          </a:solidFill>
        </p:spPr>
      </p:sp>
      <p:sp>
        <p:nvSpPr>
          <p:cNvPr id="1048877" name="Text 20"/>
          <p:cNvSpPr/>
          <p:nvPr/>
        </p:nvSpPr>
        <p:spPr>
          <a:xfrm>
            <a:off x="777240" y="5330952"/>
            <a:ext cx="457200" cy="457200"/>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5</a:t>
            </a:r>
            <a:endParaRPr dirty="0" sz="1500" lang="en-US"/>
          </a:p>
        </p:txBody>
      </p:sp>
      <p:sp>
        <p:nvSpPr>
          <p:cNvPr id="1048878" name="Text 21"/>
          <p:cNvSpPr/>
          <p:nvPr/>
        </p:nvSpPr>
        <p:spPr>
          <a:xfrm>
            <a:off x="1417320" y="5166360"/>
            <a:ext cx="9966960" cy="777240"/>
          </a:xfrm>
          <a:prstGeom prst="rect"/>
          <a:noFill/>
        </p:spPr>
        <p:txBody>
          <a:bodyPr anchor="ctr" bIns="0" lIns="0" rIns="0" rtlCol="0" tIns="0" wrap="square"/>
          <a:p>
            <a:pPr indent="0" marL="0">
              <a:buNone/>
            </a:pPr>
            <a:r>
              <a:rPr dirty="0" sz="2400" lang="en-US">
                <a:solidFill>
                  <a:srgbClr val="1A1A2E"/>
                </a:solidFill>
                <a:latin typeface="Calibri" pitchFamily="34" charset="0"/>
                <a:ea typeface="Calibri" pitchFamily="34" charset="-122"/>
                <a:cs typeface="Calibri" pitchFamily="34" charset="-120"/>
              </a:rPr>
              <a:t>Classical queueing assumptions (independence, stationarity, infinite patience) can break down in real systems, motivating simulation-based approaches</a:t>
            </a:r>
            <a:endParaRPr dirty="0" sz="2400" lang="en-US"/>
          </a:p>
        </p:txBody>
      </p:sp>
      <p:sp>
        <p:nvSpPr>
          <p:cNvPr id="1048879" name="Text 22"/>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4: Queueing Theory Fundamentals</a:t>
            </a:r>
            <a:endParaRPr dirty="0" sz="900" lang="en-US"/>
          </a:p>
        </p:txBody>
      </p:sp>
      <p:sp>
        <p:nvSpPr>
          <p:cNvPr id="1048880" name="Text 23"/>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28</a:t>
            </a:r>
            <a:endParaRPr dirty="0" sz="900"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F2942"/>
        </a:solidFill>
        <a:effectLst/>
      </p:bgPr>
    </p:bg>
    <p:spTree>
      <p:nvGrpSpPr>
        <p:cNvPr id="119" name=""/>
        <p:cNvGrpSpPr/>
        <p:nvPr/>
      </p:nvGrpSpPr>
      <p:grpSpPr>
        <a:xfrm>
          <a:off x="0" y="0"/>
          <a:ext cx="0" cy="0"/>
          <a:chOff x="0" y="0"/>
          <a:chExt cx="0" cy="0"/>
        </a:xfrm>
      </p:grpSpPr>
      <p:sp>
        <p:nvSpPr>
          <p:cNvPr id="1048884" name="Text 0"/>
          <p:cNvSpPr/>
          <p:nvPr/>
        </p:nvSpPr>
        <p:spPr>
          <a:xfrm>
            <a:off x="822960" y="822960"/>
            <a:ext cx="7315200" cy="365760"/>
          </a:xfrm>
          <a:prstGeom prst="rect"/>
          <a:noFill/>
        </p:spPr>
        <p:txBody>
          <a:bodyPr anchor="ctr" bIns="0" lIns="0" rIns="0" rtlCol="0" tIns="0" wrap="square"/>
          <a:p>
            <a:pPr indent="0" marL="0">
              <a:buNone/>
            </a:pPr>
            <a:r>
              <a:rPr b="1" dirty="0" sz="1400" lang="en-US">
                <a:solidFill>
                  <a:srgbClr val="FF6B35"/>
                </a:solidFill>
                <a:latin typeface="Calibri" pitchFamily="34" charset="0"/>
                <a:ea typeface="Calibri" pitchFamily="34" charset="-122"/>
                <a:cs typeface="Calibri" pitchFamily="34" charset="-120"/>
              </a:rPr>
              <a:t>DISCUSSION / REVIEW QUESTION</a:t>
            </a:r>
            <a:endParaRPr dirty="0" sz="1400" lang="en-US"/>
          </a:p>
        </p:txBody>
      </p:sp>
      <p:sp>
        <p:nvSpPr>
          <p:cNvPr id="1048885" name="Text 1"/>
          <p:cNvSpPr/>
          <p:nvPr/>
        </p:nvSpPr>
        <p:spPr>
          <a:xfrm>
            <a:off x="822960" y="1371600"/>
            <a:ext cx="10241280" cy="2011680"/>
          </a:xfrm>
          <a:prstGeom prst="rect"/>
          <a:noFill/>
        </p:spPr>
        <p:txBody>
          <a:bodyPr anchor="t" bIns="0" lIns="0" rIns="0" rtlCol="0" tIns="0" wrap="square"/>
          <a:p>
            <a:pPr indent="0" marL="0">
              <a:lnSpc>
                <a:spcPct val="125000"/>
              </a:lnSpc>
              <a:buNone/>
            </a:pPr>
            <a:r>
              <a:rPr b="1" dirty="0" sz="2400" lang="en-US">
                <a:solidFill>
                  <a:srgbClr val="FFFFFF"/>
                </a:solidFill>
                <a:latin typeface="Calibri" pitchFamily="34" charset="0"/>
                <a:ea typeface="Calibri" pitchFamily="34" charset="-122"/>
                <a:cs typeface="Calibri" pitchFamily="34" charset="-120"/>
              </a:rPr>
              <a:t>A support ticketing system has an average arrival rate of 12 tickets per hour, and tickets spend an average of 5 hours in the system (queue plus resolution time) before being closed. Using Little's Law, calculate the average number of tickets 'in the system' at any given time, and explain what this number represents operationally.</a:t>
            </a:r>
            <a:endParaRPr dirty="0" sz="2400" lang="en-US"/>
          </a:p>
        </p:txBody>
      </p:sp>
      <p:sp>
        <p:nvSpPr>
          <p:cNvPr id="1048886" name="Text 2"/>
          <p:cNvSpPr/>
          <p:nvPr/>
        </p:nvSpPr>
        <p:spPr>
          <a:xfrm>
            <a:off x="822960" y="3749040"/>
            <a:ext cx="5486400" cy="365760"/>
          </a:xfrm>
          <a:prstGeom prst="rect"/>
          <a:noFill/>
        </p:spPr>
        <p:txBody>
          <a:bodyPr anchor="ctr" bIns="0" lIns="0" rIns="0" rtlCol="0" tIns="0" wrap="square"/>
          <a:p>
            <a:pPr indent="0" marL="0">
              <a:buNone/>
            </a:pPr>
            <a:r>
              <a:rPr b="1" dirty="0" sz="1300" lang="en-US">
                <a:solidFill>
                  <a:srgbClr val="00B8A9"/>
                </a:solidFill>
                <a:latin typeface="Calibri" pitchFamily="34" charset="0"/>
                <a:ea typeface="Calibri" pitchFamily="34" charset="-122"/>
                <a:cs typeface="Calibri" pitchFamily="34" charset="-120"/>
              </a:rPr>
              <a:t>Think about:</a:t>
            </a:r>
            <a:endParaRPr dirty="0" sz="1300" lang="en-US"/>
          </a:p>
        </p:txBody>
      </p:sp>
      <p:sp>
        <p:nvSpPr>
          <p:cNvPr id="1048887" name="Text 3"/>
          <p:cNvSpPr/>
          <p:nvPr/>
        </p:nvSpPr>
        <p:spPr>
          <a:xfrm>
            <a:off x="822960" y="4160520"/>
            <a:ext cx="10058400" cy="2011680"/>
          </a:xfrm>
          <a:prstGeom prst="rect"/>
          <a:noFill/>
        </p:spPr>
        <p:txBody>
          <a:bodyPr anchor="t" bIns="0" lIns="0" rIns="0" rtlCol="0" tIns="0" wrap="square"/>
          <a:p>
            <a:pPr indent="-342900" marL="342900">
              <a:spcAft>
                <a:spcPts val="600"/>
              </a:spcAft>
              <a:buSzPct val="100000"/>
              <a:buChar char="•"/>
            </a:pPr>
            <a:r>
              <a:rPr dirty="0" sz="2400" lang="en-US">
                <a:solidFill>
                  <a:srgbClr val="C7D0D9"/>
                </a:solidFill>
                <a:latin typeface="Calibri" pitchFamily="34" charset="0"/>
                <a:ea typeface="Calibri" pitchFamily="34" charset="-122"/>
                <a:cs typeface="Calibri" pitchFamily="34" charset="-120"/>
              </a:rPr>
              <a:t>Identify which quantities correspond to lambda and W in Little's Law</a:t>
            </a:r>
            <a:endParaRPr dirty="0" sz="2400" lang="en-US"/>
          </a:p>
          <a:p>
            <a:pPr indent="-342900" marL="342900">
              <a:spcAft>
                <a:spcPts val="600"/>
              </a:spcAft>
              <a:buSzPct val="100000"/>
              <a:buChar char="•"/>
            </a:pPr>
            <a:r>
              <a:rPr dirty="0" sz="2400" lang="en-US">
                <a:solidFill>
                  <a:srgbClr val="C7D0D9"/>
                </a:solidFill>
                <a:latin typeface="Calibri" pitchFamily="34" charset="0"/>
                <a:ea typeface="Calibri" pitchFamily="34" charset="-122"/>
                <a:cs typeface="Calibri" pitchFamily="34" charset="-120"/>
              </a:rPr>
              <a:t>Apply L = lambda × W directly</a:t>
            </a:r>
            <a:endParaRPr dirty="0" sz="2400" lang="en-US"/>
          </a:p>
          <a:p>
            <a:pPr indent="-342900" marL="342900">
              <a:spcAft>
                <a:spcPts val="600"/>
              </a:spcAft>
              <a:buSzPct val="100000"/>
              <a:buChar char="•"/>
            </a:pPr>
            <a:r>
              <a:rPr dirty="0" sz="2400" lang="en-US">
                <a:solidFill>
                  <a:srgbClr val="C7D0D9"/>
                </a:solidFill>
                <a:latin typeface="Calibri" pitchFamily="34" charset="0"/>
                <a:ea typeface="Calibri" pitchFamily="34" charset="-122"/>
                <a:cs typeface="Calibri" pitchFamily="34" charset="-120"/>
              </a:rPr>
              <a:t>Think about what 'in the system' means for a support team — is it just tickets being worked on, or all open tickets?</a:t>
            </a:r>
            <a:endParaRPr dirty="0" sz="2400" lang="en-US"/>
          </a:p>
        </p:txBody>
      </p:sp>
      <p:sp>
        <p:nvSpPr>
          <p:cNvPr id="1048888" name="Text 4"/>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4: Queueing Theory Fundamentals</a:t>
            </a:r>
            <a:endParaRPr dirty="0" sz="900" lang="en-US"/>
          </a:p>
        </p:txBody>
      </p:sp>
      <p:sp>
        <p:nvSpPr>
          <p:cNvPr id="1048889" name="Text 5"/>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29</a:t>
            </a:r>
            <a:endParaRPr dirty="0" sz="900"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22" name=""/>
        <p:cNvGrpSpPr/>
        <p:nvPr/>
      </p:nvGrpSpPr>
      <p:grpSpPr>
        <a:xfrm>
          <a:off x="0" y="0"/>
          <a:ext cx="0" cy="0"/>
          <a:chOff x="0" y="0"/>
          <a:chExt cx="0" cy="0"/>
        </a:xfrm>
      </p:grpSpPr>
      <p:sp>
        <p:nvSpPr>
          <p:cNvPr id="1048893" name="Text 0"/>
          <p:cNvSpPr/>
          <p:nvPr/>
        </p:nvSpPr>
        <p:spPr>
          <a:xfrm>
            <a:off x="548640" y="457200"/>
            <a:ext cx="91440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References &amp; Further Reading</a:t>
            </a:r>
            <a:endParaRPr dirty="0" sz="2600" lang="en-US"/>
          </a:p>
        </p:txBody>
      </p:sp>
      <p:sp>
        <p:nvSpPr>
          <p:cNvPr id="1048894" name="Shape 1"/>
          <p:cNvSpPr/>
          <p:nvPr/>
        </p:nvSpPr>
        <p:spPr>
          <a:xfrm>
            <a:off x="566928" y="1097280"/>
            <a:ext cx="411480" cy="45720"/>
          </a:xfrm>
          <a:prstGeom prst="rect"/>
          <a:solidFill>
            <a:srgbClr val="00B8A9"/>
          </a:solidFill>
        </p:spPr>
      </p:sp>
      <p:sp>
        <p:nvSpPr>
          <p:cNvPr id="1048895" name="Text 2"/>
          <p:cNvSpPr/>
          <p:nvPr/>
        </p:nvSpPr>
        <p:spPr>
          <a:xfrm>
            <a:off x="594360" y="1463040"/>
            <a:ext cx="10789920" cy="3291840"/>
          </a:xfrm>
          <a:prstGeom prst="rect"/>
          <a:noFill/>
        </p:spPr>
        <p:txBody>
          <a:bodyPr anchor="t" bIns="0" lIns="0" rIns="0" rtlCol="0" tIns="0" wrap="square"/>
          <a:p>
            <a:pPr indent="-342900" marL="342900">
              <a:spcAft>
                <a:spcPts val="1000"/>
              </a:spcAft>
              <a:buSzPct val="100000"/>
              <a:buChar char="•"/>
            </a:pPr>
            <a:r>
              <a:rPr dirty="0" sz="1400" lang="en-US">
                <a:solidFill>
                  <a:srgbClr val="1A1A2E"/>
                </a:solidFill>
                <a:latin typeface="Calibri" pitchFamily="34" charset="0"/>
                <a:ea typeface="Calibri" pitchFamily="34" charset="-122"/>
                <a:cs typeface="Calibri" pitchFamily="34" charset="-120"/>
              </a:rPr>
              <a:t>Little, J.D.C. — A Proof for the Queuing Formula: L = lambda W (1961, original paper)</a:t>
            </a:r>
            <a:endParaRPr dirty="0" sz="1400" lang="en-US"/>
          </a:p>
          <a:p>
            <a:pPr indent="-342900" marL="342900">
              <a:spcAft>
                <a:spcPts val="1000"/>
              </a:spcAft>
              <a:buSzPct val="100000"/>
              <a:buChar char="•"/>
            </a:pPr>
            <a:r>
              <a:rPr dirty="0" sz="1400" lang="en-US">
                <a:solidFill>
                  <a:srgbClr val="1A1A2E"/>
                </a:solidFill>
                <a:latin typeface="Calibri" pitchFamily="34" charset="0"/>
                <a:ea typeface="Calibri" pitchFamily="34" charset="-122"/>
                <a:cs typeface="Calibri" pitchFamily="34" charset="-120"/>
              </a:rPr>
              <a:t>Kleinrock, L. — Queueing Systems, Volume 1: Theory</a:t>
            </a:r>
            <a:endParaRPr dirty="0" sz="1400" lang="en-US"/>
          </a:p>
          <a:p>
            <a:pPr indent="-342900" marL="342900">
              <a:spcAft>
                <a:spcPts val="1000"/>
              </a:spcAft>
              <a:buSzPct val="100000"/>
              <a:buChar char="•"/>
            </a:pPr>
            <a:r>
              <a:rPr dirty="0" sz="1400" lang="en-US">
                <a:solidFill>
                  <a:srgbClr val="1A1A2E"/>
                </a:solidFill>
                <a:latin typeface="Calibri" pitchFamily="34" charset="0"/>
                <a:ea typeface="Calibri" pitchFamily="34" charset="-122"/>
                <a:cs typeface="Calibri" pitchFamily="34" charset="-120"/>
              </a:rPr>
              <a:t>Lazowska et al. — Quantitative System Performance, Ch. 2-3</a:t>
            </a:r>
            <a:endParaRPr dirty="0" sz="1400" lang="en-US"/>
          </a:p>
          <a:p>
            <a:pPr indent="-342900" marL="342900">
              <a:spcAft>
                <a:spcPts val="1000"/>
              </a:spcAft>
              <a:buSzPct val="100000"/>
              <a:buChar char="•"/>
            </a:pPr>
            <a:r>
              <a:rPr dirty="0" sz="1400" lang="en-US">
                <a:solidFill>
                  <a:srgbClr val="1A1A2E"/>
                </a:solidFill>
                <a:latin typeface="Calibri" pitchFamily="34" charset="0"/>
                <a:ea typeface="Calibri" pitchFamily="34" charset="-122"/>
                <a:cs typeface="Calibri" pitchFamily="34" charset="-120"/>
              </a:rPr>
              <a:t>Harchol-Balter, M. — Performance Modeling and Design of Computer Systems, Ch. 1-4</a:t>
            </a:r>
            <a:endParaRPr dirty="0" sz="1400" lang="en-US"/>
          </a:p>
        </p:txBody>
      </p:sp>
      <p:sp>
        <p:nvSpPr>
          <p:cNvPr id="1048896" name="Shape 3"/>
          <p:cNvSpPr/>
          <p:nvPr/>
        </p:nvSpPr>
        <p:spPr>
          <a:xfrm>
            <a:off x="548640" y="5029200"/>
            <a:ext cx="11064240" cy="1051560"/>
          </a:xfrm>
          <a:prstGeom prst="roundRect">
            <a:avLst>
              <a:gd name="adj" fmla="val 7826"/>
            </a:avLst>
          </a:prstGeom>
          <a:solidFill>
            <a:srgbClr val="0F2942"/>
          </a:solidFill>
        </p:spPr>
      </p:sp>
      <p:sp>
        <p:nvSpPr>
          <p:cNvPr id="1048897" name="Text 4"/>
          <p:cNvSpPr/>
          <p:nvPr/>
        </p:nvSpPr>
        <p:spPr>
          <a:xfrm>
            <a:off x="822960" y="5138928"/>
            <a:ext cx="2743200" cy="320040"/>
          </a:xfrm>
          <a:prstGeom prst="rect"/>
          <a:noFill/>
        </p:spPr>
        <p:txBody>
          <a:bodyPr anchor="ctr" bIns="0" lIns="0" rIns="0" rtlCol="0" tIns="0" wrap="square"/>
          <a:p>
            <a:pPr indent="0" marL="0">
              <a:buNone/>
            </a:pPr>
            <a:r>
              <a:rPr b="1" dirty="0" sz="1100" lang="en-US">
                <a:solidFill>
                  <a:srgbClr val="00B8A9"/>
                </a:solidFill>
                <a:latin typeface="Calibri" pitchFamily="34" charset="0"/>
                <a:ea typeface="Calibri" pitchFamily="34" charset="-122"/>
                <a:cs typeface="Calibri" pitchFamily="34" charset="-120"/>
              </a:rPr>
              <a:t>NEXT LECTURE</a:t>
            </a:r>
            <a:endParaRPr dirty="0" sz="1100" lang="en-US"/>
          </a:p>
        </p:txBody>
      </p:sp>
      <p:sp>
        <p:nvSpPr>
          <p:cNvPr id="1048898" name="Text 5"/>
          <p:cNvSpPr/>
          <p:nvPr/>
        </p:nvSpPr>
        <p:spPr>
          <a:xfrm>
            <a:off x="822960" y="5422392"/>
            <a:ext cx="10058400" cy="548640"/>
          </a:xfrm>
          <a:prstGeom prst="rect"/>
          <a:noFill/>
        </p:spPr>
        <p:txBody>
          <a:bodyPr anchor="ctr" bIns="0" lIns="0" rIns="0" rtlCol="0" tIns="0" wrap="square"/>
          <a:p>
            <a:pPr indent="0" marL="0">
              <a:buNone/>
            </a:pPr>
            <a:r>
              <a:rPr b="1" dirty="0" sz="1550" lang="en-US">
                <a:solidFill>
                  <a:srgbClr val="FFFFFF"/>
                </a:solidFill>
                <a:latin typeface="Calibri" pitchFamily="34" charset="0"/>
                <a:ea typeface="Calibri" pitchFamily="34" charset="-122"/>
                <a:cs typeface="Calibri" pitchFamily="34" charset="-120"/>
              </a:rPr>
              <a:t>Lecture 5 — Single-Station Queueing Models (M/M/1, M/M/c, M/G/1)</a:t>
            </a:r>
            <a:endParaRPr dirty="0" sz="1550" lang="en-US"/>
          </a:p>
        </p:txBody>
      </p:sp>
      <p:sp>
        <p:nvSpPr>
          <p:cNvPr id="1048899" name="Text 6"/>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4: Queueing Theory Fundamentals</a:t>
            </a:r>
            <a:endParaRPr dirty="0" sz="900" lang="en-US"/>
          </a:p>
        </p:txBody>
      </p:sp>
      <p:sp>
        <p:nvSpPr>
          <p:cNvPr id="1048900" name="Text 7"/>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30</a:t>
            </a:r>
            <a:endParaRPr dirty="0" sz="900" lang="en-US"/>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theme>
</file>

<file path=docProps/app.xml><?xml version="1.0" encoding="utf-8"?>
<Properties xmlns="http://schemas.openxmlformats.org/officeDocument/2006/extended-properties">
  <Application>Microsoft Office PowerPoint</Application>
  <ScaleCrop>0</ScaleCrop>
  <Company>PptxGenJS</Company>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PptxGenJS Presentation</dc:title>
  <dc:creator>PptxGenJS</dc:creator>
  <cp:lastModifiedBy>Abdolraheem Khader</cp:lastModifiedBy>
  <dcterms:created xsi:type="dcterms:W3CDTF">2026-07-31T01:36:38Z</dcterms:created>
  <dcterms:modified xsi:type="dcterms:W3CDTF">2026-08-24T12:20:29Z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5e7bb0f6aafc40c889a4f1ff0db381b3_23</vt:lpwstr>
  </property>
</Properties>
</file>