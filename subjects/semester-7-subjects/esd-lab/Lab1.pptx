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799E-0AB5-E983-D4B9-A5A3B00D2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Embedded Systems </a:t>
            </a:r>
            <a:endParaRPr lang="en-S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7405E-B3DC-A32D-8366-2D812532B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1848726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456F-9413-1B66-80A2-F0AE99161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1:interdiction to Embedded Systems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2982D-21A5-3882-0962-EF995ABEE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Embedded systems</a:t>
            </a:r>
          </a:p>
          <a:p>
            <a:r>
              <a:rPr lang="en-US" dirty="0"/>
              <a:t>Lecture 1: interdiction to Embedded systems</a:t>
            </a:r>
          </a:p>
          <a:p>
            <a:r>
              <a:rPr lang="en-US" dirty="0"/>
              <a:t>Prepared by: Salma </a:t>
            </a:r>
            <a:r>
              <a:rPr lang="en-US" dirty="0" err="1"/>
              <a:t>Alzaki</a:t>
            </a:r>
            <a:endParaRPr lang="en-US" dirty="0"/>
          </a:p>
          <a:p>
            <a:r>
              <a:rPr lang="en-US" dirty="0"/>
              <a:t>Faculty of Engineering</a:t>
            </a:r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161524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509A-4465-5732-4974-27FA77DF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097280" y="112889"/>
            <a:ext cx="9153031" cy="869244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US" dirty="0"/>
            </a:br>
            <a:br>
              <a:rPr lang="en-US" dirty="0"/>
            </a:b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E7327-0750-81DC-6A72-AB8E8C440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609600"/>
            <a:ext cx="10058400" cy="6248401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learning objective: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By the end of this lecture ,  students should be able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Embedded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the main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Distinguish between embedded systems and general-purpose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Recognize applications of embedded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basic design requirements.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125104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E96E-1E1A-C647-7713-A5BFE8A5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74463"/>
          </a:xfrm>
        </p:spPr>
        <p:txBody>
          <a:bodyPr>
            <a:normAutofit/>
          </a:bodyPr>
          <a:lstStyle/>
          <a:p>
            <a:r>
              <a:rPr lang="en-US" sz="2400" b="1" dirty="0"/>
              <a:t>what is an Embedded  System?</a:t>
            </a:r>
            <a:endParaRPr lang="en-S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7029-2BAC-BF74-5127-ECE8A4BB7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779" y="1761066"/>
            <a:ext cx="10421902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Embedded system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computer system designed for a specific task.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Integrated into a larger device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Usually performs real-time operations.</a:t>
            </a:r>
          </a:p>
          <a:p>
            <a:pPr marL="0" indent="0">
              <a:buNone/>
            </a:pPr>
            <a:r>
              <a:rPr lang="en-US" b="1" dirty="0"/>
              <a:t> 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Microwave ovens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Washing  machines.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phones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FF3D0-61C9-E024-0573-32F4DD87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Definition</a:t>
            </a:r>
            <a:endParaRPr lang="en-S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5E949-03DC-D496-93FE-F8C3EFC9A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Definition:</a:t>
            </a:r>
          </a:p>
          <a:p>
            <a:r>
              <a:rPr lang="en-US" sz="2400" dirty="0"/>
              <a:t>“An Embedded System is microcontroller or microcontroller-based system</a:t>
            </a:r>
          </a:p>
          <a:p>
            <a:r>
              <a:rPr lang="en-US" sz="2400" dirty="0"/>
              <a:t>Designed to perform dedicated functions within  a larger</a:t>
            </a:r>
          </a:p>
          <a:p>
            <a:r>
              <a:rPr lang="en-US" sz="2400" dirty="0"/>
              <a:t>System.”</a:t>
            </a:r>
          </a:p>
          <a:p>
            <a:endParaRPr lang="en-US" sz="2400" dirty="0"/>
          </a:p>
          <a:p>
            <a:endParaRPr lang="en-SD" sz="2400" dirty="0"/>
          </a:p>
        </p:txBody>
      </p:sp>
    </p:spTree>
    <p:extLst>
      <p:ext uri="{BB962C8B-B14F-4D97-AF65-F5344CB8AC3E}">
        <p14:creationId xmlns:p14="http://schemas.microsoft.com/office/powerpoint/2010/main" val="187668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863D5-9425-E443-1D66-ABFCCCA9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Everyday Examples</a:t>
            </a:r>
            <a:endParaRPr lang="en-S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F7EBF-760E-8B09-AE5B-E6C03C342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Embedded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tv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ATM Machine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camera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Traffic 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Medical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watch</a:t>
            </a:r>
          </a:p>
          <a:p>
            <a:pPr marL="0" indent="0">
              <a:buNone/>
            </a:pPr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182245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BE01-81C1-8F80-1913-76334A27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Compression between Embedded system and general purpose computer:</a:t>
            </a:r>
            <a:endParaRPr lang="en-SD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D1B6CC-0A51-55BA-1347-6D33A3F0AE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980012"/>
              </p:ext>
            </p:extLst>
          </p:nvPr>
        </p:nvGraphicFramePr>
        <p:xfrm>
          <a:off x="1096963" y="1846262"/>
          <a:ext cx="10058400" cy="3825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300852375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06406182"/>
                    </a:ext>
                  </a:extLst>
                </a:gridCol>
              </a:tblGrid>
              <a:tr h="637611">
                <a:tc>
                  <a:txBody>
                    <a:bodyPr/>
                    <a:lstStyle/>
                    <a:p>
                      <a:r>
                        <a:rPr lang="en-US" dirty="0"/>
                        <a:t>Embedded  System</a:t>
                      </a:r>
                      <a:endParaRPr lang="en-S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purpose computer</a:t>
                      </a:r>
                      <a:endParaRPr lang="en-S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628332"/>
                  </a:ext>
                </a:extLst>
              </a:tr>
              <a:tr h="637611">
                <a:tc>
                  <a:txBody>
                    <a:bodyPr/>
                    <a:lstStyle/>
                    <a:p>
                      <a:r>
                        <a:rPr lang="en-US" dirty="0"/>
                        <a:t>Specific function</a:t>
                      </a:r>
                      <a:endParaRPr lang="en-S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function</a:t>
                      </a:r>
                      <a:endParaRPr lang="en-S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956779"/>
                  </a:ext>
                </a:extLst>
              </a:tr>
              <a:tr h="637611">
                <a:tc>
                  <a:txBody>
                    <a:bodyPr/>
                    <a:lstStyle/>
                    <a:p>
                      <a:r>
                        <a:rPr lang="en-US" dirty="0"/>
                        <a:t>Low power</a:t>
                      </a:r>
                      <a:endParaRPr lang="en-S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power  </a:t>
                      </a:r>
                      <a:endParaRPr lang="en-S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19897"/>
                  </a:ext>
                </a:extLst>
              </a:tr>
              <a:tr h="637611">
                <a:tc>
                  <a:txBody>
                    <a:bodyPr/>
                    <a:lstStyle/>
                    <a:p>
                      <a:r>
                        <a:rPr lang="en-US" dirty="0"/>
                        <a:t>Limited memory</a:t>
                      </a:r>
                      <a:endParaRPr lang="en-S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 memory</a:t>
                      </a:r>
                      <a:endParaRPr lang="en-S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228354"/>
                  </a:ext>
                </a:extLst>
              </a:tr>
              <a:tr h="637611">
                <a:tc>
                  <a:txBody>
                    <a:bodyPr/>
                    <a:lstStyle/>
                    <a:p>
                      <a:r>
                        <a:rPr lang="en-US" dirty="0"/>
                        <a:t>Realtime operation </a:t>
                      </a:r>
                      <a:endParaRPr lang="en-S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always real time </a:t>
                      </a:r>
                      <a:endParaRPr lang="en-S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852806"/>
                  </a:ext>
                </a:extLst>
              </a:tr>
              <a:tr h="637611">
                <a:tc>
                  <a:txBody>
                    <a:bodyPr/>
                    <a:lstStyle/>
                    <a:p>
                      <a:r>
                        <a:rPr lang="en-US" dirty="0"/>
                        <a:t>Ex: Washing machine</a:t>
                      </a:r>
                      <a:endParaRPr lang="en-S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Ex: Laptop</a:t>
                      </a:r>
                      <a:endParaRPr lang="en-S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421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513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90B9-FF76-0285-E176-F30AC704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component: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E4D0-0B0A-8693-23E8-6F08DFBBD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component :</a:t>
            </a:r>
          </a:p>
          <a:p>
            <a:r>
              <a:rPr lang="en-US" dirty="0"/>
              <a:t>1. microcontroller</a:t>
            </a:r>
          </a:p>
          <a:p>
            <a:r>
              <a:rPr lang="en-US" dirty="0"/>
              <a:t>2.Memory</a:t>
            </a:r>
          </a:p>
          <a:p>
            <a:r>
              <a:rPr lang="en-US" dirty="0"/>
              <a:t>3. input device</a:t>
            </a:r>
          </a:p>
          <a:p>
            <a:r>
              <a:rPr lang="en-US" dirty="0"/>
              <a:t>4. output device</a:t>
            </a:r>
          </a:p>
          <a:p>
            <a:r>
              <a:rPr lang="en-US" dirty="0"/>
              <a:t>5. sensor</a:t>
            </a:r>
          </a:p>
          <a:p>
            <a:r>
              <a:rPr lang="en-US" dirty="0"/>
              <a:t>6. software</a:t>
            </a:r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4031711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3AE2-C871-12A0-68D5-A2D0C4DE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Microcontroller: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6C9B9-6A70-8AB4-DDD9-A242B41CA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Contain:</a:t>
            </a:r>
          </a:p>
          <a:p>
            <a:r>
              <a:rPr lang="en-US" dirty="0"/>
              <a:t>1. CPU</a:t>
            </a:r>
          </a:p>
          <a:p>
            <a:r>
              <a:rPr lang="en-US" dirty="0"/>
              <a:t>2.Ram</a:t>
            </a:r>
          </a:p>
          <a:p>
            <a:r>
              <a:rPr lang="en-US" dirty="0"/>
              <a:t>3.Rom/flash</a:t>
            </a:r>
          </a:p>
          <a:p>
            <a:r>
              <a:rPr lang="en-US" dirty="0"/>
              <a:t>4.input /output port</a:t>
            </a:r>
          </a:p>
          <a:p>
            <a:r>
              <a:rPr lang="en-US" dirty="0"/>
              <a:t>Ex:</a:t>
            </a:r>
          </a:p>
          <a:p>
            <a:r>
              <a:rPr lang="en-US" dirty="0"/>
              <a:t>Arduino</a:t>
            </a:r>
          </a:p>
          <a:p>
            <a:r>
              <a:rPr lang="en-US" dirty="0"/>
              <a:t>STM32</a:t>
            </a:r>
          </a:p>
          <a:p>
            <a:r>
              <a:rPr lang="en-US" dirty="0"/>
              <a:t>PIC</a:t>
            </a:r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136074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46A5-21A9-0FA4-1DE9-9CAD651C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Types 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B73FF-681F-BC71-8512-1BF180618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RAM</a:t>
            </a:r>
          </a:p>
          <a:p>
            <a:pPr marL="0" indent="0">
              <a:buNone/>
            </a:pPr>
            <a:r>
              <a:rPr lang="en-US" dirty="0"/>
              <a:t>ROM</a:t>
            </a:r>
          </a:p>
          <a:p>
            <a:pPr marL="0" indent="0">
              <a:buNone/>
            </a:pPr>
            <a:r>
              <a:rPr lang="en-US" dirty="0"/>
              <a:t>EEPROM</a:t>
            </a:r>
          </a:p>
          <a:p>
            <a:pPr marL="0" indent="0">
              <a:buNone/>
            </a:pPr>
            <a:r>
              <a:rPr lang="en-US" dirty="0"/>
              <a:t>Flash memory</a:t>
            </a:r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1539668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82F7-A2B5-D648-9988-02AE0975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device: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EC2D-CE92-7DB5-8615-FBFFED134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Sensor</a:t>
            </a:r>
          </a:p>
          <a:p>
            <a:r>
              <a:rPr lang="en-US" dirty="0"/>
              <a:t>Switches</a:t>
            </a:r>
          </a:p>
          <a:p>
            <a:r>
              <a:rPr lang="en-US" dirty="0"/>
              <a:t>Key pad</a:t>
            </a:r>
          </a:p>
          <a:p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3878364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1F46-40F6-9CA9-FFC3-456A44B3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6A330-1036-9B46-AD92-B2D434CAA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Automatic door system</a:t>
            </a:r>
          </a:p>
          <a:p>
            <a:r>
              <a:rPr lang="en-US" dirty="0"/>
              <a:t>* input:  motion sensor</a:t>
            </a:r>
          </a:p>
          <a:p>
            <a:r>
              <a:rPr lang="en-US" dirty="0"/>
              <a:t>* processer: microcontroller</a:t>
            </a:r>
          </a:p>
          <a:p>
            <a:r>
              <a:rPr lang="en-US" dirty="0"/>
              <a:t>*output:  Motor</a:t>
            </a:r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3180507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1196-CDE6-0E4A-00C3-38DBE04B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 characteristic: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3C9B-145E-90D9-0506-90C7D5A30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Real time  operation</a:t>
            </a:r>
          </a:p>
          <a:p>
            <a:r>
              <a:rPr lang="en-US" dirty="0"/>
              <a:t>2. </a:t>
            </a:r>
            <a:r>
              <a:rPr lang="en-US" dirty="0" err="1"/>
              <a:t>Multirate</a:t>
            </a:r>
            <a:r>
              <a:rPr lang="en-US" dirty="0"/>
              <a:t> behavior</a:t>
            </a:r>
          </a:p>
          <a:p>
            <a:r>
              <a:rPr lang="en-US" dirty="0"/>
              <a:t>3. User interface</a:t>
            </a:r>
          </a:p>
          <a:p>
            <a:r>
              <a:rPr lang="en-US" dirty="0"/>
              <a:t>4. Sophistication</a:t>
            </a:r>
          </a:p>
          <a:p>
            <a:pPr marL="0" indent="0">
              <a:buNone/>
            </a:pPr>
            <a:r>
              <a:rPr lang="en-US" dirty="0"/>
              <a:t>5.Power and energy</a:t>
            </a:r>
          </a:p>
          <a:p>
            <a:pPr marL="0" indent="0">
              <a:buNone/>
            </a:pPr>
            <a:r>
              <a:rPr lang="en-US" dirty="0"/>
              <a:t>6. Manufacturing cost</a:t>
            </a:r>
          </a:p>
          <a:p>
            <a:pPr marL="0" indent="0">
              <a:buNone/>
            </a:pPr>
            <a:r>
              <a:rPr lang="en-US" dirty="0"/>
              <a:t>7. memory</a:t>
            </a:r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17480407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167</TotalTime>
  <Words>312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Embedded Systems </vt:lpstr>
      <vt:lpstr>Lecture 1:interdiction to Embedded Systems</vt:lpstr>
      <vt:lpstr>  </vt:lpstr>
      <vt:lpstr>what is an Embedded  System?</vt:lpstr>
      <vt:lpstr>Definition</vt:lpstr>
      <vt:lpstr>Everyday Examples</vt:lpstr>
      <vt:lpstr>Compression between Embedded system and general purpose computer:</vt:lpstr>
      <vt:lpstr>Basic component:</vt:lpstr>
      <vt:lpstr>Microcontroller:</vt:lpstr>
      <vt:lpstr>Memory Types </vt:lpstr>
      <vt:lpstr>Input device:</vt:lpstr>
      <vt:lpstr>Examples:</vt:lpstr>
      <vt:lpstr>Embedded system characteristic: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</dc:creator>
  <cp:lastModifiedBy>GUSTAVO</cp:lastModifiedBy>
  <cp:revision>13</cp:revision>
  <dcterms:created xsi:type="dcterms:W3CDTF">2026-07-30T07:30:13Z</dcterms:created>
  <dcterms:modified xsi:type="dcterms:W3CDTF">2026-07-30T10:53:19Z</dcterms:modified>
</cp:coreProperties>
</file>