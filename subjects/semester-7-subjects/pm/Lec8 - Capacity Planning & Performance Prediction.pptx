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82" d="100"/>
          <a:sy n="82" d="100"/>
        </p:scale>
        <p:origin x="494" y="7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1" name="Slide Image Placeholder 1"/>
          <p:cNvSpPr>
            <a:spLocks noChangeAspect="1" noRot="1" noGrp="1"/>
          </p:cNvSpPr>
          <p:nvPr>
            <p:ph type="sldImg"/>
          </p:nvPr>
        </p:nvSpPr>
        <p:spPr/>
      </p:sp>
      <p:sp>
        <p:nvSpPr>
          <p:cNvPr id="1048582" name="Notes Placeholder 2"/>
          <p:cNvSpPr>
            <a:spLocks noGrp="1"/>
          </p:cNvSpPr>
          <p:nvPr>
            <p:ph type="body" idx="1"/>
          </p:nvPr>
        </p:nvSpPr>
        <p:spPr/>
        <p:txBody>
          <a:bodyPr/>
          <a:p>
            <a:endParaRPr dirty="0" lang="en-US"/>
          </a:p>
        </p:txBody>
      </p:sp>
      <p:sp>
        <p:nvSpPr>
          <p:cNvPr id="1048583"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6" name="Slide Image Placeholder 1"/>
          <p:cNvSpPr>
            <a:spLocks noChangeAspect="1" noRot="1" noGrp="1"/>
          </p:cNvSpPr>
          <p:nvPr>
            <p:ph type="sldImg"/>
          </p:nvPr>
        </p:nvSpPr>
        <p:spPr/>
      </p:sp>
      <p:sp>
        <p:nvSpPr>
          <p:cNvPr id="1048607" name="Notes Placeholder 2"/>
          <p:cNvSpPr>
            <a:spLocks noGrp="1"/>
          </p:cNvSpPr>
          <p:nvPr>
            <p:ph type="body" idx="1"/>
          </p:nvPr>
        </p:nvSpPr>
        <p:spPr/>
        <p:txBody>
          <a:bodyPr/>
          <a:p>
            <a:endParaRPr dirty="0" lang="en-US"/>
          </a:p>
        </p:txBody>
      </p:sp>
      <p:sp>
        <p:nvSpPr>
          <p:cNvPr id="1048608"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6" name="Slide Image Placeholder 1"/>
          <p:cNvSpPr>
            <a:spLocks noChangeAspect="1" noRot="1" noGrp="1"/>
          </p:cNvSpPr>
          <p:nvPr>
            <p:ph type="sldImg"/>
          </p:nvPr>
        </p:nvSpPr>
        <p:spPr/>
      </p:sp>
      <p:sp>
        <p:nvSpPr>
          <p:cNvPr id="1048617" name="Notes Placeholder 2"/>
          <p:cNvSpPr>
            <a:spLocks noGrp="1"/>
          </p:cNvSpPr>
          <p:nvPr>
            <p:ph type="body" idx="1"/>
          </p:nvPr>
        </p:nvSpPr>
        <p:spPr/>
        <p:txBody>
          <a:bodyPr/>
          <a:p>
            <a:endParaRPr dirty="0" lang="en-US"/>
          </a:p>
        </p:txBody>
      </p:sp>
      <p:sp>
        <p:nvSpPr>
          <p:cNvPr id="1048618"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4" name="Slide Image Placeholder 1"/>
          <p:cNvSpPr>
            <a:spLocks noChangeAspect="1" noRot="1" noGrp="1"/>
          </p:cNvSpPr>
          <p:nvPr>
            <p:ph type="sldImg"/>
          </p:nvPr>
        </p:nvSpPr>
        <p:spPr/>
      </p:sp>
      <p:sp>
        <p:nvSpPr>
          <p:cNvPr id="1048625" name="Notes Placeholder 2"/>
          <p:cNvSpPr>
            <a:spLocks noGrp="1"/>
          </p:cNvSpPr>
          <p:nvPr>
            <p:ph type="body" idx="1"/>
          </p:nvPr>
        </p:nvSpPr>
        <p:spPr/>
        <p:txBody>
          <a:bodyPr/>
          <a:p>
            <a:endParaRPr dirty="0" lang="en-US"/>
          </a:p>
        </p:txBody>
      </p:sp>
      <p:sp>
        <p:nvSpPr>
          <p:cNvPr id="1048626"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60" name="Slide Image Placeholder 1"/>
          <p:cNvSpPr>
            <a:spLocks noChangeAspect="1" noRot="1" noGrp="1"/>
          </p:cNvSpPr>
          <p:nvPr>
            <p:ph type="sldImg"/>
          </p:nvPr>
        </p:nvSpPr>
        <p:spPr/>
      </p:sp>
      <p:sp>
        <p:nvSpPr>
          <p:cNvPr id="1048661" name="Notes Placeholder 2"/>
          <p:cNvSpPr>
            <a:spLocks noGrp="1"/>
          </p:cNvSpPr>
          <p:nvPr>
            <p:ph type="body" idx="1"/>
          </p:nvPr>
        </p:nvSpPr>
        <p:spPr/>
        <p:txBody>
          <a:bodyPr/>
          <a:p>
            <a:endParaRPr dirty="0" lang="en-US"/>
          </a:p>
        </p:txBody>
      </p:sp>
      <p:sp>
        <p:nvSpPr>
          <p:cNvPr id="1048662"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70" name="Slide Image Placeholder 1"/>
          <p:cNvSpPr>
            <a:spLocks noChangeAspect="1" noRot="1" noGrp="1"/>
          </p:cNvSpPr>
          <p:nvPr>
            <p:ph type="sldImg"/>
          </p:nvPr>
        </p:nvSpPr>
        <p:spPr/>
      </p:sp>
      <p:sp>
        <p:nvSpPr>
          <p:cNvPr id="1048671" name="Notes Placeholder 2"/>
          <p:cNvSpPr>
            <a:spLocks noGrp="1"/>
          </p:cNvSpPr>
          <p:nvPr>
            <p:ph type="body" idx="1"/>
          </p:nvPr>
        </p:nvSpPr>
        <p:spPr/>
        <p:txBody>
          <a:bodyPr/>
          <a:p>
            <a:endParaRPr dirty="0" lang="en-US"/>
          </a:p>
        </p:txBody>
      </p:sp>
      <p:sp>
        <p:nvSpPr>
          <p:cNvPr id="1048672"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78" name="Slide Image Placeholder 1"/>
          <p:cNvSpPr>
            <a:spLocks noChangeAspect="1" noRot="1" noGrp="1"/>
          </p:cNvSpPr>
          <p:nvPr>
            <p:ph type="sldImg"/>
          </p:nvPr>
        </p:nvSpPr>
        <p:spPr/>
      </p:sp>
      <p:sp>
        <p:nvSpPr>
          <p:cNvPr id="1048679" name="Notes Placeholder 2"/>
          <p:cNvSpPr>
            <a:spLocks noGrp="1"/>
          </p:cNvSpPr>
          <p:nvPr>
            <p:ph type="body" idx="1"/>
          </p:nvPr>
        </p:nvSpPr>
        <p:spPr/>
        <p:txBody>
          <a:bodyPr/>
          <a:p>
            <a:endParaRPr dirty="0" lang="en-US"/>
          </a:p>
        </p:txBody>
      </p:sp>
      <p:sp>
        <p:nvSpPr>
          <p:cNvPr id="1048680"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86" name="Slide Image Placeholder 1"/>
          <p:cNvSpPr>
            <a:spLocks noChangeAspect="1" noRot="1" noGrp="1"/>
          </p:cNvSpPr>
          <p:nvPr>
            <p:ph type="sldImg"/>
          </p:nvPr>
        </p:nvSpPr>
        <p:spPr/>
      </p:sp>
      <p:sp>
        <p:nvSpPr>
          <p:cNvPr id="1048687" name="Notes Placeholder 2"/>
          <p:cNvSpPr>
            <a:spLocks noGrp="1"/>
          </p:cNvSpPr>
          <p:nvPr>
            <p:ph type="body" idx="1"/>
          </p:nvPr>
        </p:nvSpPr>
        <p:spPr/>
        <p:txBody>
          <a:bodyPr/>
          <a:p>
            <a:endParaRPr dirty="0" lang="en-US"/>
          </a:p>
        </p:txBody>
      </p:sp>
      <p:sp>
        <p:nvSpPr>
          <p:cNvPr id="1048688"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93" name="Slide Image Placeholder 1"/>
          <p:cNvSpPr>
            <a:spLocks noChangeAspect="1" noRot="1" noGrp="1"/>
          </p:cNvSpPr>
          <p:nvPr>
            <p:ph type="sldImg"/>
          </p:nvPr>
        </p:nvSpPr>
        <p:spPr/>
      </p:sp>
      <p:sp>
        <p:nvSpPr>
          <p:cNvPr id="1048694" name="Notes Placeholder 2"/>
          <p:cNvSpPr>
            <a:spLocks noGrp="1"/>
          </p:cNvSpPr>
          <p:nvPr>
            <p:ph type="body" idx="1"/>
          </p:nvPr>
        </p:nvSpPr>
        <p:spPr/>
        <p:txBody>
          <a:bodyPr/>
          <a:p>
            <a:endParaRPr dirty="0" lang="en-US"/>
          </a:p>
        </p:txBody>
      </p:sp>
      <p:sp>
        <p:nvSpPr>
          <p:cNvPr id="1048695"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701" name="Slide Image Placeholder 1"/>
          <p:cNvSpPr>
            <a:spLocks noChangeAspect="1" noRot="1" noGrp="1"/>
          </p:cNvSpPr>
          <p:nvPr>
            <p:ph type="sldImg"/>
          </p:nvPr>
        </p:nvSpPr>
        <p:spPr/>
      </p:sp>
      <p:sp>
        <p:nvSpPr>
          <p:cNvPr id="1048702" name="Notes Placeholder 2"/>
          <p:cNvSpPr>
            <a:spLocks noGrp="1"/>
          </p:cNvSpPr>
          <p:nvPr>
            <p:ph type="body" idx="1"/>
          </p:nvPr>
        </p:nvSpPr>
        <p:spPr/>
        <p:txBody>
          <a:bodyPr/>
          <a:p>
            <a:endParaRPr dirty="0" lang="en-US"/>
          </a:p>
        </p:txBody>
      </p:sp>
      <p:sp>
        <p:nvSpPr>
          <p:cNvPr id="1048703"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709" name="Slide Image Placeholder 1"/>
          <p:cNvSpPr>
            <a:spLocks noChangeAspect="1" noRot="1" noGrp="1"/>
          </p:cNvSpPr>
          <p:nvPr>
            <p:ph type="sldImg"/>
          </p:nvPr>
        </p:nvSpPr>
        <p:spPr/>
      </p:sp>
      <p:sp>
        <p:nvSpPr>
          <p:cNvPr id="1048710" name="Notes Placeholder 2"/>
          <p:cNvSpPr>
            <a:spLocks noGrp="1"/>
          </p:cNvSpPr>
          <p:nvPr>
            <p:ph type="body" idx="1"/>
          </p:nvPr>
        </p:nvSpPr>
        <p:spPr/>
        <p:txBody>
          <a:bodyPr/>
          <a:p>
            <a:endParaRPr dirty="0" lang="en-US"/>
          </a:p>
        </p:txBody>
      </p:sp>
      <p:sp>
        <p:nvSpPr>
          <p:cNvPr id="1048711"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739" name="Slide Image Placeholder 1"/>
          <p:cNvSpPr>
            <a:spLocks noChangeAspect="1" noRot="1" noGrp="1"/>
          </p:cNvSpPr>
          <p:nvPr>
            <p:ph type="sldImg"/>
          </p:nvPr>
        </p:nvSpPr>
        <p:spPr/>
      </p:sp>
      <p:sp>
        <p:nvSpPr>
          <p:cNvPr id="1048740" name="Notes Placeholder 2"/>
          <p:cNvSpPr>
            <a:spLocks noGrp="1"/>
          </p:cNvSpPr>
          <p:nvPr>
            <p:ph type="body" idx="1"/>
          </p:nvPr>
        </p:nvSpPr>
        <p:spPr/>
        <p:txBody>
          <a:bodyPr/>
          <a:p>
            <a:endParaRPr dirty="0" lang="en-US"/>
          </a:p>
        </p:txBody>
      </p:sp>
      <p:sp>
        <p:nvSpPr>
          <p:cNvPr id="1048741"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747" name="Slide Image Placeholder 1"/>
          <p:cNvSpPr>
            <a:spLocks noChangeAspect="1" noRot="1" noGrp="1"/>
          </p:cNvSpPr>
          <p:nvPr>
            <p:ph type="sldImg"/>
          </p:nvPr>
        </p:nvSpPr>
        <p:spPr/>
      </p:sp>
      <p:sp>
        <p:nvSpPr>
          <p:cNvPr id="1048748" name="Notes Placeholder 2"/>
          <p:cNvSpPr>
            <a:spLocks noGrp="1"/>
          </p:cNvSpPr>
          <p:nvPr>
            <p:ph type="body" idx="1"/>
          </p:nvPr>
        </p:nvSpPr>
        <p:spPr/>
        <p:txBody>
          <a:bodyPr/>
          <a:p>
            <a:endParaRPr dirty="0" lang="en-US"/>
          </a:p>
        </p:txBody>
      </p:sp>
      <p:sp>
        <p:nvSpPr>
          <p:cNvPr id="1048749" name="Slide Number Placeholder 3"/>
          <p:cNvSpPr>
            <a:spLocks noGrp="1"/>
          </p:cNvSpPr>
          <p:nvPr>
            <p:ph type="sldNum" sz="quarter" idx="10"/>
          </p:nvPr>
        </p:nvSpPr>
        <p:spPr/>
        <p:txBody>
          <a:bodyPr/>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757" name="Slide Image Placeholder 1"/>
          <p:cNvSpPr>
            <a:spLocks noChangeAspect="1" noRot="1" noGrp="1"/>
          </p:cNvSpPr>
          <p:nvPr>
            <p:ph type="sldImg"/>
          </p:nvPr>
        </p:nvSpPr>
        <p:spPr/>
      </p:sp>
      <p:sp>
        <p:nvSpPr>
          <p:cNvPr id="1048758" name="Notes Placeholder 2"/>
          <p:cNvSpPr>
            <a:spLocks noGrp="1"/>
          </p:cNvSpPr>
          <p:nvPr>
            <p:ph type="body" idx="1"/>
          </p:nvPr>
        </p:nvSpPr>
        <p:spPr/>
        <p:txBody>
          <a:bodyPr/>
          <a:p>
            <a:endParaRPr dirty="0" lang="en-US"/>
          </a:p>
        </p:txBody>
      </p:sp>
      <p:sp>
        <p:nvSpPr>
          <p:cNvPr id="1048759" name="Slide Number Placeholder 3"/>
          <p:cNvSpPr>
            <a:spLocks noGrp="1"/>
          </p:cNvSpPr>
          <p:nvPr>
            <p:ph type="sldNum" sz="quarter" idx="10"/>
          </p:nvPr>
        </p:nvSpPr>
        <p:spPr/>
        <p:txBody>
          <a:bodyPr/>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65" name="Slide Image Placeholder 1"/>
          <p:cNvSpPr>
            <a:spLocks noChangeAspect="1" noRot="1" noGrp="1"/>
          </p:cNvSpPr>
          <p:nvPr>
            <p:ph type="sldImg"/>
          </p:nvPr>
        </p:nvSpPr>
        <p:spPr/>
      </p:sp>
      <p:sp>
        <p:nvSpPr>
          <p:cNvPr id="1048766" name="Notes Placeholder 2"/>
          <p:cNvSpPr>
            <a:spLocks noGrp="1"/>
          </p:cNvSpPr>
          <p:nvPr>
            <p:ph type="body" idx="1"/>
          </p:nvPr>
        </p:nvSpPr>
        <p:spPr/>
        <p:txBody>
          <a:bodyPr/>
          <a:p>
            <a:endParaRPr dirty="0" lang="en-US"/>
          </a:p>
        </p:txBody>
      </p:sp>
      <p:sp>
        <p:nvSpPr>
          <p:cNvPr id="1048767" name="Slide Number Placeholder 3"/>
          <p:cNvSpPr>
            <a:spLocks noGrp="1"/>
          </p:cNvSpPr>
          <p:nvPr>
            <p:ph type="sldNum" sz="quarter" idx="10"/>
          </p:nvPr>
        </p:nvSpPr>
        <p:spPr/>
        <p:txBody>
          <a:bodyPr/>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80" name="Slide Image Placeholder 1"/>
          <p:cNvSpPr>
            <a:spLocks noChangeAspect="1" noRot="1" noGrp="1"/>
          </p:cNvSpPr>
          <p:nvPr>
            <p:ph type="sldImg"/>
          </p:nvPr>
        </p:nvSpPr>
        <p:spPr/>
      </p:sp>
      <p:sp>
        <p:nvSpPr>
          <p:cNvPr id="1048781" name="Notes Placeholder 2"/>
          <p:cNvSpPr>
            <a:spLocks noGrp="1"/>
          </p:cNvSpPr>
          <p:nvPr>
            <p:ph type="body" idx="1"/>
          </p:nvPr>
        </p:nvSpPr>
        <p:spPr/>
        <p:txBody>
          <a:bodyPr/>
          <a:p>
            <a:endParaRPr dirty="0" lang="en-US"/>
          </a:p>
        </p:txBody>
      </p:sp>
      <p:sp>
        <p:nvSpPr>
          <p:cNvPr id="1048782" name="Slide Number Placeholder 3"/>
          <p:cNvSpPr>
            <a:spLocks noGrp="1"/>
          </p:cNvSpPr>
          <p:nvPr>
            <p:ph type="sldNum" sz="quarter" idx="10"/>
          </p:nvPr>
        </p:nvSpPr>
        <p:spPr/>
        <p:txBody>
          <a:bodyPr/>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788" name="Slide Image Placeholder 1"/>
          <p:cNvSpPr>
            <a:spLocks noChangeAspect="1" noRot="1" noGrp="1"/>
          </p:cNvSpPr>
          <p:nvPr>
            <p:ph type="sldImg"/>
          </p:nvPr>
        </p:nvSpPr>
        <p:spPr/>
      </p:sp>
      <p:sp>
        <p:nvSpPr>
          <p:cNvPr id="1048789" name="Notes Placeholder 2"/>
          <p:cNvSpPr>
            <a:spLocks noGrp="1"/>
          </p:cNvSpPr>
          <p:nvPr>
            <p:ph type="body" idx="1"/>
          </p:nvPr>
        </p:nvSpPr>
        <p:spPr/>
        <p:txBody>
          <a:bodyPr/>
          <a:p>
            <a:endParaRPr dirty="0" lang="en-US"/>
          </a:p>
        </p:txBody>
      </p:sp>
      <p:sp>
        <p:nvSpPr>
          <p:cNvPr id="1048790" name="Slide Number Placeholder 3"/>
          <p:cNvSpPr>
            <a:spLocks noGrp="1"/>
          </p:cNvSpPr>
          <p:nvPr>
            <p:ph type="sldNum" sz="quarter" idx="10"/>
          </p:nvPr>
        </p:nvSpPr>
        <p:spPr/>
        <p:txBody>
          <a:bodyPr/>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796" name="Slide Image Placeholder 1"/>
          <p:cNvSpPr>
            <a:spLocks noChangeAspect="1" noRot="1" noGrp="1"/>
          </p:cNvSpPr>
          <p:nvPr>
            <p:ph type="sldImg"/>
          </p:nvPr>
        </p:nvSpPr>
        <p:spPr/>
      </p:sp>
      <p:sp>
        <p:nvSpPr>
          <p:cNvPr id="1048797" name="Notes Placeholder 2"/>
          <p:cNvSpPr>
            <a:spLocks noGrp="1"/>
          </p:cNvSpPr>
          <p:nvPr>
            <p:ph type="body" idx="1"/>
          </p:nvPr>
        </p:nvSpPr>
        <p:spPr/>
        <p:txBody>
          <a:bodyPr/>
          <a:p>
            <a:endParaRPr dirty="0" lang="en-US"/>
          </a:p>
        </p:txBody>
      </p:sp>
      <p:sp>
        <p:nvSpPr>
          <p:cNvPr id="1048798" name="Slide Number Placeholder 3"/>
          <p:cNvSpPr>
            <a:spLocks noGrp="1"/>
          </p:cNvSpPr>
          <p:nvPr>
            <p:ph type="sldNum" sz="quarter" idx="10"/>
          </p:nvPr>
        </p:nvSpPr>
        <p:spPr/>
        <p:txBody>
          <a:bodyPr/>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806" name="Slide Image Placeholder 1"/>
          <p:cNvSpPr>
            <a:spLocks noChangeAspect="1" noRot="1" noGrp="1"/>
          </p:cNvSpPr>
          <p:nvPr>
            <p:ph type="sldImg"/>
          </p:nvPr>
        </p:nvSpPr>
        <p:spPr/>
      </p:sp>
      <p:sp>
        <p:nvSpPr>
          <p:cNvPr id="1048807" name="Notes Placeholder 2"/>
          <p:cNvSpPr>
            <a:spLocks noGrp="1"/>
          </p:cNvSpPr>
          <p:nvPr>
            <p:ph type="body" idx="1"/>
          </p:nvPr>
        </p:nvSpPr>
        <p:spPr/>
        <p:txBody>
          <a:bodyPr/>
          <a:p>
            <a:endParaRPr dirty="0" lang="en-US"/>
          </a:p>
        </p:txBody>
      </p:sp>
      <p:sp>
        <p:nvSpPr>
          <p:cNvPr id="1048808" name="Slide Number Placeholder 3"/>
          <p:cNvSpPr>
            <a:spLocks noGrp="1"/>
          </p:cNvSpPr>
          <p:nvPr>
            <p:ph type="sldNum" sz="quarter" idx="10"/>
          </p:nvPr>
        </p:nvSpPr>
        <p:spPr/>
        <p:txBody>
          <a:bodyPr/>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813" name="Slide Image Placeholder 1"/>
          <p:cNvSpPr>
            <a:spLocks noChangeAspect="1" noRot="1" noGrp="1"/>
          </p:cNvSpPr>
          <p:nvPr>
            <p:ph type="sldImg"/>
          </p:nvPr>
        </p:nvSpPr>
        <p:spPr/>
      </p:sp>
      <p:sp>
        <p:nvSpPr>
          <p:cNvPr id="1048814" name="Notes Placeholder 2"/>
          <p:cNvSpPr>
            <a:spLocks noGrp="1"/>
          </p:cNvSpPr>
          <p:nvPr>
            <p:ph type="body" idx="1"/>
          </p:nvPr>
        </p:nvSpPr>
        <p:spPr/>
        <p:txBody>
          <a:bodyPr/>
          <a:p>
            <a:endParaRPr dirty="0" lang="en-US"/>
          </a:p>
        </p:txBody>
      </p:sp>
      <p:sp>
        <p:nvSpPr>
          <p:cNvPr id="1048815" name="Slide Number Placeholder 3"/>
          <p:cNvSpPr>
            <a:spLocks noGrp="1"/>
          </p:cNvSpPr>
          <p:nvPr>
            <p:ph type="sldNum" sz="quarter" idx="10"/>
          </p:nvPr>
        </p:nvSpPr>
        <p:spPr/>
        <p:txBody>
          <a:bodyPr/>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821" name="Slide Image Placeholder 1"/>
          <p:cNvSpPr>
            <a:spLocks noChangeAspect="1" noRot="1" noGrp="1"/>
          </p:cNvSpPr>
          <p:nvPr>
            <p:ph type="sldImg"/>
          </p:nvPr>
        </p:nvSpPr>
        <p:spPr/>
      </p:sp>
      <p:sp>
        <p:nvSpPr>
          <p:cNvPr id="1048822" name="Notes Placeholder 2"/>
          <p:cNvSpPr>
            <a:spLocks noGrp="1"/>
          </p:cNvSpPr>
          <p:nvPr>
            <p:ph type="body" idx="1"/>
          </p:nvPr>
        </p:nvSpPr>
        <p:spPr/>
        <p:txBody>
          <a:bodyPr/>
          <a:p>
            <a:endParaRPr dirty="0" lang="en-US"/>
          </a:p>
        </p:txBody>
      </p:sp>
      <p:sp>
        <p:nvSpPr>
          <p:cNvPr id="1048823" name="Slide Number Placeholder 3"/>
          <p:cNvSpPr>
            <a:spLocks noGrp="1"/>
          </p:cNvSpPr>
          <p:nvPr>
            <p:ph type="sldNum" sz="quarter" idx="10"/>
          </p:nvPr>
        </p:nvSpPr>
        <p:spPr/>
        <p:txBody>
          <a:bodyPr/>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829" name="Slide Image Placeholder 1"/>
          <p:cNvSpPr>
            <a:spLocks noChangeAspect="1" noRot="1" noGrp="1"/>
          </p:cNvSpPr>
          <p:nvPr>
            <p:ph type="sldImg"/>
          </p:nvPr>
        </p:nvSpPr>
        <p:spPr/>
      </p:sp>
      <p:sp>
        <p:nvSpPr>
          <p:cNvPr id="1048830" name="Notes Placeholder 2"/>
          <p:cNvSpPr>
            <a:spLocks noGrp="1"/>
          </p:cNvSpPr>
          <p:nvPr>
            <p:ph type="body" idx="1"/>
          </p:nvPr>
        </p:nvSpPr>
        <p:spPr/>
        <p:txBody>
          <a:bodyPr/>
          <a:p>
            <a:endParaRPr dirty="0" lang="en-US"/>
          </a:p>
        </p:txBody>
      </p:sp>
      <p:sp>
        <p:nvSpPr>
          <p:cNvPr id="1048831" name="Slide Number Placeholder 3"/>
          <p:cNvSpPr>
            <a:spLocks noGrp="1"/>
          </p:cNvSpPr>
          <p:nvPr>
            <p:ph type="sldNum" sz="quarter" idx="10"/>
          </p:nvPr>
        </p:nvSpPr>
        <p:spPr/>
        <p:txBody>
          <a:bodyPr/>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837" name="Slide Image Placeholder 1"/>
          <p:cNvSpPr>
            <a:spLocks noChangeAspect="1" noRot="1" noGrp="1"/>
          </p:cNvSpPr>
          <p:nvPr>
            <p:ph type="sldImg"/>
          </p:nvPr>
        </p:nvSpPr>
        <p:spPr/>
      </p:sp>
      <p:sp>
        <p:nvSpPr>
          <p:cNvPr id="1048838" name="Notes Placeholder 2"/>
          <p:cNvSpPr>
            <a:spLocks noGrp="1"/>
          </p:cNvSpPr>
          <p:nvPr>
            <p:ph type="body" idx="1"/>
          </p:nvPr>
        </p:nvSpPr>
        <p:spPr/>
        <p:txBody>
          <a:bodyPr/>
          <a:p>
            <a:endParaRPr dirty="0" lang="en-US"/>
          </a:p>
        </p:txBody>
      </p:sp>
      <p:sp>
        <p:nvSpPr>
          <p:cNvPr id="1048839" name="Slide Number Placeholder 3"/>
          <p:cNvSpPr>
            <a:spLocks noGrp="1"/>
          </p:cNvSpPr>
          <p:nvPr>
            <p:ph type="sldNum" sz="quarter" idx="10"/>
          </p:nvPr>
        </p:nvSpPr>
        <p:spPr/>
        <p:txBody>
          <a:bodyPr/>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845" name="Slide Image Placeholder 1"/>
          <p:cNvSpPr>
            <a:spLocks noChangeAspect="1" noRot="1" noGrp="1"/>
          </p:cNvSpPr>
          <p:nvPr>
            <p:ph type="sldImg"/>
          </p:nvPr>
        </p:nvSpPr>
        <p:spPr/>
      </p:sp>
      <p:sp>
        <p:nvSpPr>
          <p:cNvPr id="1048846" name="Notes Placeholder 2"/>
          <p:cNvSpPr>
            <a:spLocks noGrp="1"/>
          </p:cNvSpPr>
          <p:nvPr>
            <p:ph type="body" idx="1"/>
          </p:nvPr>
        </p:nvSpPr>
        <p:spPr/>
        <p:txBody>
          <a:bodyPr/>
          <a:p>
            <a:endParaRPr dirty="0" lang="en-US"/>
          </a:p>
        </p:txBody>
      </p:sp>
      <p:sp>
        <p:nvSpPr>
          <p:cNvPr id="1048847" name="Slide Number Placeholder 3"/>
          <p:cNvSpPr>
            <a:spLocks noGrp="1"/>
          </p:cNvSpPr>
          <p:nvPr>
            <p:ph type="sldNum" sz="quarter" idx="10"/>
          </p:nvPr>
        </p:nvSpPr>
        <p:spPr/>
        <p:txBody>
          <a:bodyPr/>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853" name="Slide Image Placeholder 1"/>
          <p:cNvSpPr>
            <a:spLocks noChangeAspect="1" noRot="1" noGrp="1"/>
          </p:cNvSpPr>
          <p:nvPr>
            <p:ph type="sldImg"/>
          </p:nvPr>
        </p:nvSpPr>
        <p:spPr/>
      </p:sp>
      <p:sp>
        <p:nvSpPr>
          <p:cNvPr id="1048854" name="Notes Placeholder 2"/>
          <p:cNvSpPr>
            <a:spLocks noGrp="1"/>
          </p:cNvSpPr>
          <p:nvPr>
            <p:ph type="body" idx="1"/>
          </p:nvPr>
        </p:nvSpPr>
        <p:spPr/>
        <p:txBody>
          <a:bodyPr/>
          <a:p>
            <a:endParaRPr dirty="0" lang="en-US"/>
          </a:p>
        </p:txBody>
      </p:sp>
      <p:sp>
        <p:nvSpPr>
          <p:cNvPr id="1048855" name="Slide Number Placeholder 3"/>
          <p:cNvSpPr>
            <a:spLocks noGrp="1"/>
          </p:cNvSpPr>
          <p:nvPr>
            <p:ph type="sldNum" sz="quarter" idx="10"/>
          </p:nvPr>
        </p:nvSpPr>
        <p:spPr/>
        <p:txBody>
          <a:bodyPr/>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861" name="Slide Image Placeholder 1"/>
          <p:cNvSpPr>
            <a:spLocks noChangeAspect="1" noRot="1" noGrp="1"/>
          </p:cNvSpPr>
          <p:nvPr>
            <p:ph type="sldImg"/>
          </p:nvPr>
        </p:nvSpPr>
        <p:spPr/>
      </p:sp>
      <p:sp>
        <p:nvSpPr>
          <p:cNvPr id="1048862" name="Notes Placeholder 2"/>
          <p:cNvSpPr>
            <a:spLocks noGrp="1"/>
          </p:cNvSpPr>
          <p:nvPr>
            <p:ph type="body" idx="1"/>
          </p:nvPr>
        </p:nvSpPr>
        <p:spPr/>
        <p:txBody>
          <a:bodyPr/>
          <a:p>
            <a:endParaRPr dirty="0" lang="en-US"/>
          </a:p>
        </p:txBody>
      </p:sp>
      <p:sp>
        <p:nvSpPr>
          <p:cNvPr id="1048863" name="Slide Number Placeholder 3"/>
          <p:cNvSpPr>
            <a:spLocks noGrp="1"/>
          </p:cNvSpPr>
          <p:nvPr>
            <p:ph type="sldNum" sz="quarter" idx="10"/>
          </p:nvPr>
        </p:nvSpPr>
        <p:spPr/>
        <p:txBody>
          <a:bodyPr/>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869" name="Slide Image Placeholder 1"/>
          <p:cNvSpPr>
            <a:spLocks noChangeAspect="1" noRot="1" noGrp="1"/>
          </p:cNvSpPr>
          <p:nvPr>
            <p:ph type="sldImg"/>
          </p:nvPr>
        </p:nvSpPr>
        <p:spPr/>
      </p:sp>
      <p:sp>
        <p:nvSpPr>
          <p:cNvPr id="1048870" name="Notes Placeholder 2"/>
          <p:cNvSpPr>
            <a:spLocks noGrp="1"/>
          </p:cNvSpPr>
          <p:nvPr>
            <p:ph type="body" idx="1"/>
          </p:nvPr>
        </p:nvSpPr>
        <p:spPr/>
        <p:txBody>
          <a:bodyPr/>
          <a:p>
            <a:endParaRPr dirty="0" lang="en-US"/>
          </a:p>
        </p:txBody>
      </p:sp>
      <p:sp>
        <p:nvSpPr>
          <p:cNvPr id="1048871" name="Slide Number Placeholder 3"/>
          <p:cNvSpPr>
            <a:spLocks noGrp="1"/>
          </p:cNvSpPr>
          <p:nvPr>
            <p:ph type="sldNum" sz="quarter" idx="10"/>
          </p:nvPr>
        </p:nvSpPr>
        <p:spPr/>
        <p:txBody>
          <a:bodyPr/>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896" name="Slide Image Placeholder 1"/>
          <p:cNvSpPr>
            <a:spLocks noChangeAspect="1" noRot="1" noGrp="1"/>
          </p:cNvSpPr>
          <p:nvPr>
            <p:ph type="sldImg"/>
          </p:nvPr>
        </p:nvSpPr>
        <p:spPr/>
      </p:sp>
      <p:sp>
        <p:nvSpPr>
          <p:cNvPr id="1048897" name="Notes Placeholder 2"/>
          <p:cNvSpPr>
            <a:spLocks noGrp="1"/>
          </p:cNvSpPr>
          <p:nvPr>
            <p:ph type="body" idx="1"/>
          </p:nvPr>
        </p:nvSpPr>
        <p:spPr/>
        <p:txBody>
          <a:bodyPr/>
          <a:p>
            <a:endParaRPr dirty="0" lang="en-US"/>
          </a:p>
        </p:txBody>
      </p:sp>
      <p:sp>
        <p:nvSpPr>
          <p:cNvPr id="1048898" name="Slide Number Placeholder 3"/>
          <p:cNvSpPr>
            <a:spLocks noGrp="1"/>
          </p:cNvSpPr>
          <p:nvPr>
            <p:ph type="sldNum" sz="quarter" idx="10"/>
          </p:nvPr>
        </p:nvSpPr>
        <p:spPr/>
        <p:txBody>
          <a:bodyPr/>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905" name="Slide Image Placeholder 1"/>
          <p:cNvSpPr>
            <a:spLocks noChangeAspect="1" noRot="1" noGrp="1"/>
          </p:cNvSpPr>
          <p:nvPr>
            <p:ph type="sldImg"/>
          </p:nvPr>
        </p:nvSpPr>
        <p:spPr/>
      </p:sp>
      <p:sp>
        <p:nvSpPr>
          <p:cNvPr id="1048906" name="Notes Placeholder 2"/>
          <p:cNvSpPr>
            <a:spLocks noGrp="1"/>
          </p:cNvSpPr>
          <p:nvPr>
            <p:ph type="body" idx="1"/>
          </p:nvPr>
        </p:nvSpPr>
        <p:spPr/>
        <p:txBody>
          <a:bodyPr/>
          <a:p>
            <a:endParaRPr dirty="0" lang="en-US"/>
          </a:p>
        </p:txBody>
      </p:sp>
      <p:sp>
        <p:nvSpPr>
          <p:cNvPr id="1048907" name="Slide Number Placeholder 3"/>
          <p:cNvSpPr>
            <a:spLocks noGrp="1"/>
          </p:cNvSpPr>
          <p:nvPr>
            <p:ph type="sldNum" sz="quarter" idx="10"/>
          </p:nvPr>
        </p:nvSpPr>
        <p:spPr/>
        <p:txBody>
          <a:bodyPr/>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916" name="Slide Image Placeholder 1"/>
          <p:cNvSpPr>
            <a:spLocks noChangeAspect="1" noRot="1" noGrp="1"/>
          </p:cNvSpPr>
          <p:nvPr>
            <p:ph type="sldImg"/>
          </p:nvPr>
        </p:nvSpPr>
        <p:spPr/>
      </p:sp>
      <p:sp>
        <p:nvSpPr>
          <p:cNvPr id="1048917" name="Notes Placeholder 2"/>
          <p:cNvSpPr>
            <a:spLocks noGrp="1"/>
          </p:cNvSpPr>
          <p:nvPr>
            <p:ph type="body" idx="1"/>
          </p:nvPr>
        </p:nvSpPr>
        <p:spPr/>
        <p:txBody>
          <a:bodyPr/>
          <a:p>
            <a:endParaRPr dirty="0" lang="en-US"/>
          </a:p>
        </p:txBody>
      </p:sp>
      <p:sp>
        <p:nvSpPr>
          <p:cNvPr id="1048918" name="Slide Number Placeholder 3"/>
          <p:cNvSpPr>
            <a:spLocks noGrp="1"/>
          </p:cNvSpPr>
          <p:nvPr>
            <p:ph type="sldNum" sz="quarter" idx="10"/>
          </p:nvPr>
        </p:nvSpPr>
        <p:spPr/>
        <p:txBody>
          <a:bodyPr/>
          <a:p>
            <a:fld id="{F7021451-1387-4CA6-816F-3879F97B5CBC}" type="slidenum">
              <a:rPr lang="en-US"/>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5" name=""/>
        <p:cNvGrpSpPr/>
        <p:nvPr/>
      </p:nvGrpSpPr>
      <p:grpSpPr>
        <a:xfrm>
          <a:off x="0" y="0"/>
          <a:ext cx="0" cy="0"/>
          <a:chOff x="0" y="0"/>
          <a:chExt cx="0" cy="0"/>
        </a:xfrm>
      </p:grpSpPr>
      <p:sp>
        <p:nvSpPr>
          <p:cNvPr id="1048576" name="Shape 0"/>
          <p:cNvSpPr/>
          <p:nvPr/>
        </p:nvSpPr>
        <p:spPr>
          <a:xfrm>
            <a:off x="0" y="0"/>
            <a:ext cx="4206240" cy="6858000"/>
          </a:xfrm>
          <a:prstGeom prst="rect"/>
          <a:solidFill>
            <a:srgbClr val="0A1D30"/>
          </a:solidFill>
        </p:spPr>
      </p:sp>
      <p:sp>
        <p:nvSpPr>
          <p:cNvPr id="1048577" name="Text 1"/>
          <p:cNvSpPr/>
          <p:nvPr/>
        </p:nvSpPr>
        <p:spPr>
          <a:xfrm>
            <a:off x="640080" y="2743200"/>
            <a:ext cx="3017520" cy="457200"/>
          </a:xfrm>
          <a:prstGeom prst="rect"/>
          <a:noFill/>
        </p:spPr>
        <p:txBody>
          <a:bodyPr anchor="ctr" bIns="0" lIns="0" rIns="0" rtlCol="0" tIns="0" wrap="square"/>
          <a:p>
            <a:pPr indent="0" marL="0">
              <a:buNone/>
            </a:pPr>
            <a:r>
              <a:rPr b="1" dirty="0" sz="1600" lang="en-US">
                <a:solidFill>
                  <a:srgbClr val="00B8A9"/>
                </a:solidFill>
                <a:latin typeface="Calibri" pitchFamily="34" charset="0"/>
                <a:ea typeface="Calibri" pitchFamily="34" charset="-122"/>
                <a:cs typeface="Calibri" pitchFamily="34" charset="-120"/>
              </a:rPr>
              <a:t>LECTURE 08</a:t>
            </a:r>
            <a:endParaRPr dirty="0" sz="1600" lang="en-US"/>
          </a:p>
        </p:txBody>
      </p:sp>
      <p:sp>
        <p:nvSpPr>
          <p:cNvPr id="1048578" name="Text 2"/>
          <p:cNvSpPr/>
          <p:nvPr/>
        </p:nvSpPr>
        <p:spPr>
          <a:xfrm>
            <a:off x="457200" y="3108960"/>
            <a:ext cx="3291840" cy="2011680"/>
          </a:xfrm>
          <a:prstGeom prst="rect"/>
          <a:noFill/>
        </p:spPr>
        <p:txBody>
          <a:bodyPr anchor="ctr" bIns="0" lIns="0" rIns="0" rtlCol="0" tIns="0" wrap="square"/>
          <a:p>
            <a:pPr indent="0" marL="0">
              <a:buNone/>
            </a:pPr>
            <a:r>
              <a:rPr b="1" dirty="0" sz="10000" lang="en-US">
                <a:solidFill>
                  <a:srgbClr val="1C3A55"/>
                </a:solidFill>
                <a:latin typeface="Calibri" pitchFamily="34" charset="0"/>
                <a:ea typeface="Calibri" pitchFamily="34" charset="-122"/>
                <a:cs typeface="Calibri" pitchFamily="34" charset="-120"/>
              </a:rPr>
              <a:t>08</a:t>
            </a:r>
            <a:endParaRPr dirty="0" sz="10000" lang="en-US"/>
          </a:p>
        </p:txBody>
      </p:sp>
      <p:sp>
        <p:nvSpPr>
          <p:cNvPr id="1048579" name="Text 3"/>
          <p:cNvSpPr/>
          <p:nvPr/>
        </p:nvSpPr>
        <p:spPr>
          <a:xfrm>
            <a:off x="4663440" y="2423160"/>
            <a:ext cx="6949440" cy="1463040"/>
          </a:xfrm>
          <a:prstGeom prst="rect"/>
          <a:noFill/>
        </p:spPr>
        <p:txBody>
          <a:bodyPr anchor="t" bIns="0" lIns="0" rIns="0" rtlCol="0" tIns="0" wrap="square"/>
          <a:p>
            <a:pPr indent="0" marL="0">
              <a:buNone/>
            </a:pPr>
            <a:r>
              <a:rPr b="1" dirty="0" sz="3400" lang="en-US">
                <a:solidFill>
                  <a:srgbClr val="FFFFFF"/>
                </a:solidFill>
                <a:latin typeface="Calibri" pitchFamily="34" charset="0"/>
                <a:ea typeface="Calibri" pitchFamily="34" charset="-122"/>
                <a:cs typeface="Calibri" pitchFamily="34" charset="-120"/>
              </a:rPr>
              <a:t>Capacity Planning &amp; Performance Prediction</a:t>
            </a:r>
            <a:endParaRPr dirty="0" sz="3400" lang="en-US"/>
          </a:p>
        </p:txBody>
      </p:sp>
      <p:sp>
        <p:nvSpPr>
          <p:cNvPr id="1048580" name="Text 4"/>
          <p:cNvSpPr/>
          <p:nvPr/>
        </p:nvSpPr>
        <p:spPr>
          <a:xfrm>
            <a:off x="4709160" y="3977640"/>
            <a:ext cx="6766560" cy="1574074"/>
          </a:xfrm>
          <a:prstGeom prst="rect"/>
          <a:noFill/>
        </p:spPr>
        <p:txBody>
          <a:bodyPr anchor="t" bIns="0" lIns="0" rIns="0" rtlCol="0" tIns="0" wrap="square"/>
          <a:p>
            <a:pPr indent="0" marL="0">
              <a:lnSpc>
                <a:spcPct val="130000"/>
              </a:lnSpc>
              <a:buNone/>
            </a:pPr>
            <a:r>
              <a:rPr dirty="0" sz="2400" lang="en-US">
                <a:solidFill>
                  <a:srgbClr val="C7D0D9"/>
                </a:solidFill>
                <a:latin typeface="Calibri" pitchFamily="34" charset="0"/>
                <a:ea typeface="Calibri" pitchFamily="34" charset="-122"/>
                <a:cs typeface="Calibri" pitchFamily="34" charset="-120"/>
              </a:rPr>
              <a:t>Turning models into decisions: forecasting demand, scalability analysis, safety margins, and answering real 'what-if' business questions.</a:t>
            </a:r>
            <a:endParaRPr dirty="0" sz="24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38" name=""/>
        <p:cNvGrpSpPr/>
        <p:nvPr/>
      </p:nvGrpSpPr>
      <p:grpSpPr>
        <a:xfrm>
          <a:off x="0" y="0"/>
          <a:ext cx="0" cy="0"/>
          <a:chOff x="0" y="0"/>
          <a:chExt cx="0" cy="0"/>
        </a:xfrm>
      </p:grpSpPr>
      <p:sp>
        <p:nvSpPr>
          <p:cNvPr id="1048584" name="Text 0"/>
          <p:cNvSpPr/>
          <p:nvPr/>
        </p:nvSpPr>
        <p:spPr>
          <a:xfrm>
            <a:off x="548640" y="411480"/>
            <a:ext cx="5486400" cy="640080"/>
          </a:xfrm>
          <a:prstGeom prst="rect"/>
          <a:noFill/>
        </p:spPr>
        <p:txBody>
          <a:bodyPr anchor="ctr" bIns="0" lIns="0" rIns="0" rtlCol="0" tIns="0" wrap="square"/>
          <a:p>
            <a:pPr indent="0" marL="0">
              <a:buNone/>
            </a:pPr>
            <a:r>
              <a:rPr b="1" dirty="0" sz="3000" lang="en-US">
                <a:solidFill>
                  <a:srgbClr val="0F2942"/>
                </a:solidFill>
                <a:latin typeface="Calibri" pitchFamily="34" charset="0"/>
                <a:ea typeface="Calibri" pitchFamily="34" charset="-122"/>
                <a:cs typeface="Calibri" pitchFamily="34" charset="-120"/>
              </a:rPr>
              <a:t>Agenda</a:t>
            </a:r>
            <a:endParaRPr dirty="0" sz="3000" lang="en-US"/>
          </a:p>
        </p:txBody>
      </p:sp>
      <p:sp>
        <p:nvSpPr>
          <p:cNvPr id="1048585" name="Shape 1"/>
          <p:cNvSpPr/>
          <p:nvPr/>
        </p:nvSpPr>
        <p:spPr>
          <a:xfrm>
            <a:off x="566928" y="1097280"/>
            <a:ext cx="457200" cy="54864"/>
          </a:xfrm>
          <a:prstGeom prst="rect"/>
          <a:solidFill>
            <a:srgbClr val="00B8A9"/>
          </a:solidFill>
        </p:spPr>
      </p:sp>
      <p:sp>
        <p:nvSpPr>
          <p:cNvPr id="1048586" name="Shape 2"/>
          <p:cNvSpPr/>
          <p:nvPr/>
        </p:nvSpPr>
        <p:spPr>
          <a:xfrm>
            <a:off x="640080" y="1508760"/>
            <a:ext cx="457200" cy="457200"/>
          </a:xfrm>
          <a:prstGeom prst="roundRect">
            <a:avLst>
              <a:gd name="adj" fmla="val 16000"/>
            </a:avLst>
          </a:prstGeom>
          <a:solidFill>
            <a:srgbClr val="EAF6F5"/>
          </a:solidFill>
        </p:spPr>
      </p:sp>
      <p:sp>
        <p:nvSpPr>
          <p:cNvPr id="1048587" name="Text 3"/>
          <p:cNvSpPr/>
          <p:nvPr/>
        </p:nvSpPr>
        <p:spPr>
          <a:xfrm>
            <a:off x="640080" y="15087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1</a:t>
            </a:r>
            <a:endParaRPr dirty="0" sz="1600" lang="en-US"/>
          </a:p>
        </p:txBody>
      </p:sp>
      <p:sp>
        <p:nvSpPr>
          <p:cNvPr id="1048588" name="Text 4"/>
          <p:cNvSpPr/>
          <p:nvPr/>
        </p:nvSpPr>
        <p:spPr>
          <a:xfrm>
            <a:off x="1234439" y="1481328"/>
            <a:ext cx="986899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What is capacity planning, and how does it use everything from Lectures 1-7?</a:t>
            </a:r>
            <a:endParaRPr dirty="0" sz="2400" lang="en-US"/>
          </a:p>
        </p:txBody>
      </p:sp>
      <p:sp>
        <p:nvSpPr>
          <p:cNvPr id="1048589" name="Shape 5"/>
          <p:cNvSpPr/>
          <p:nvPr/>
        </p:nvSpPr>
        <p:spPr>
          <a:xfrm>
            <a:off x="640080" y="2301240"/>
            <a:ext cx="457200" cy="457200"/>
          </a:xfrm>
          <a:prstGeom prst="roundRect">
            <a:avLst>
              <a:gd name="adj" fmla="val 16000"/>
            </a:avLst>
          </a:prstGeom>
          <a:solidFill>
            <a:srgbClr val="EAF6F5"/>
          </a:solidFill>
        </p:spPr>
      </p:sp>
      <p:sp>
        <p:nvSpPr>
          <p:cNvPr id="1048590" name="Text 6"/>
          <p:cNvSpPr/>
          <p:nvPr/>
        </p:nvSpPr>
        <p:spPr>
          <a:xfrm>
            <a:off x="640080" y="230124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2</a:t>
            </a:r>
            <a:endParaRPr dirty="0" sz="1600" lang="en-US"/>
          </a:p>
        </p:txBody>
      </p:sp>
      <p:sp>
        <p:nvSpPr>
          <p:cNvPr id="1048591" name="Text 7"/>
          <p:cNvSpPr/>
          <p:nvPr/>
        </p:nvSpPr>
        <p:spPr>
          <a:xfrm>
            <a:off x="1234439" y="2273808"/>
            <a:ext cx="986899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Demand forecasting: from historical data to future load</a:t>
            </a:r>
            <a:endParaRPr dirty="0" sz="2400" lang="en-US"/>
          </a:p>
        </p:txBody>
      </p:sp>
      <p:sp>
        <p:nvSpPr>
          <p:cNvPr id="1048592" name="Shape 8"/>
          <p:cNvSpPr/>
          <p:nvPr/>
        </p:nvSpPr>
        <p:spPr>
          <a:xfrm>
            <a:off x="640080" y="3093720"/>
            <a:ext cx="457200" cy="457200"/>
          </a:xfrm>
          <a:prstGeom prst="roundRect">
            <a:avLst>
              <a:gd name="adj" fmla="val 16000"/>
            </a:avLst>
          </a:prstGeom>
          <a:solidFill>
            <a:srgbClr val="EAF6F5"/>
          </a:solidFill>
        </p:spPr>
      </p:sp>
      <p:sp>
        <p:nvSpPr>
          <p:cNvPr id="1048593" name="Text 9"/>
          <p:cNvSpPr/>
          <p:nvPr/>
        </p:nvSpPr>
        <p:spPr>
          <a:xfrm>
            <a:off x="640080" y="309372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3</a:t>
            </a:r>
            <a:endParaRPr dirty="0" sz="1600" lang="en-US"/>
          </a:p>
        </p:txBody>
      </p:sp>
      <p:sp>
        <p:nvSpPr>
          <p:cNvPr id="1048594" name="Text 10"/>
          <p:cNvSpPr/>
          <p:nvPr/>
        </p:nvSpPr>
        <p:spPr>
          <a:xfrm>
            <a:off x="1234439" y="3066288"/>
            <a:ext cx="986899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Translating a forecast into a resource requirement</a:t>
            </a:r>
            <a:endParaRPr dirty="0" sz="2400" lang="en-US"/>
          </a:p>
        </p:txBody>
      </p:sp>
      <p:sp>
        <p:nvSpPr>
          <p:cNvPr id="1048595" name="Shape 11"/>
          <p:cNvSpPr/>
          <p:nvPr/>
        </p:nvSpPr>
        <p:spPr>
          <a:xfrm>
            <a:off x="640080" y="3886200"/>
            <a:ext cx="457200" cy="457200"/>
          </a:xfrm>
          <a:prstGeom prst="roundRect">
            <a:avLst>
              <a:gd name="adj" fmla="val 16000"/>
            </a:avLst>
          </a:prstGeom>
          <a:solidFill>
            <a:srgbClr val="EAF6F5"/>
          </a:solidFill>
        </p:spPr>
      </p:sp>
      <p:sp>
        <p:nvSpPr>
          <p:cNvPr id="1048596" name="Text 12"/>
          <p:cNvSpPr/>
          <p:nvPr/>
        </p:nvSpPr>
        <p:spPr>
          <a:xfrm>
            <a:off x="640080" y="388620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4</a:t>
            </a:r>
            <a:endParaRPr dirty="0" sz="1600" lang="en-US"/>
          </a:p>
        </p:txBody>
      </p:sp>
      <p:sp>
        <p:nvSpPr>
          <p:cNvPr id="1048597" name="Text 13"/>
          <p:cNvSpPr/>
          <p:nvPr/>
        </p:nvSpPr>
        <p:spPr>
          <a:xfrm>
            <a:off x="1234439" y="3858768"/>
            <a:ext cx="986899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Scalability analysis: vertical vs. horizontal scaling</a:t>
            </a:r>
            <a:endParaRPr dirty="0" sz="2400" lang="en-US"/>
          </a:p>
        </p:txBody>
      </p:sp>
      <p:sp>
        <p:nvSpPr>
          <p:cNvPr id="1048598" name="Shape 14"/>
          <p:cNvSpPr/>
          <p:nvPr/>
        </p:nvSpPr>
        <p:spPr>
          <a:xfrm>
            <a:off x="640080" y="4678680"/>
            <a:ext cx="457200" cy="457200"/>
          </a:xfrm>
          <a:prstGeom prst="roundRect">
            <a:avLst>
              <a:gd name="adj" fmla="val 16000"/>
            </a:avLst>
          </a:prstGeom>
          <a:solidFill>
            <a:srgbClr val="EAF6F5"/>
          </a:solidFill>
        </p:spPr>
      </p:sp>
      <p:sp>
        <p:nvSpPr>
          <p:cNvPr id="1048599" name="Text 15"/>
          <p:cNvSpPr/>
          <p:nvPr/>
        </p:nvSpPr>
        <p:spPr>
          <a:xfrm>
            <a:off x="640080" y="467868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5</a:t>
            </a:r>
            <a:endParaRPr dirty="0" sz="1600" lang="en-US"/>
          </a:p>
        </p:txBody>
      </p:sp>
      <p:sp>
        <p:nvSpPr>
          <p:cNvPr id="1048600" name="Text 16"/>
          <p:cNvSpPr/>
          <p:nvPr/>
        </p:nvSpPr>
        <p:spPr>
          <a:xfrm>
            <a:off x="1234439" y="4651248"/>
            <a:ext cx="986899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Safety margins and headroom planning</a:t>
            </a:r>
            <a:endParaRPr dirty="0" sz="2400" lang="en-US"/>
          </a:p>
        </p:txBody>
      </p:sp>
      <p:sp>
        <p:nvSpPr>
          <p:cNvPr id="1048601" name="Shape 17"/>
          <p:cNvSpPr/>
          <p:nvPr/>
        </p:nvSpPr>
        <p:spPr>
          <a:xfrm>
            <a:off x="640080" y="5471160"/>
            <a:ext cx="457200" cy="457200"/>
          </a:xfrm>
          <a:prstGeom prst="roundRect">
            <a:avLst>
              <a:gd name="adj" fmla="val 16000"/>
            </a:avLst>
          </a:prstGeom>
          <a:solidFill>
            <a:srgbClr val="EAF6F5"/>
          </a:solidFill>
        </p:spPr>
      </p:sp>
      <p:sp>
        <p:nvSpPr>
          <p:cNvPr id="1048602" name="Text 18"/>
          <p:cNvSpPr/>
          <p:nvPr/>
        </p:nvSpPr>
        <p:spPr>
          <a:xfrm>
            <a:off x="640080" y="54711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6</a:t>
            </a:r>
            <a:endParaRPr dirty="0" sz="1600" lang="en-US"/>
          </a:p>
        </p:txBody>
      </p:sp>
      <p:sp>
        <p:nvSpPr>
          <p:cNvPr id="1048603" name="Text 19"/>
          <p:cNvSpPr/>
          <p:nvPr/>
        </p:nvSpPr>
        <p:spPr>
          <a:xfrm>
            <a:off x="1234439" y="5443728"/>
            <a:ext cx="986899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Answering real 'what-if' business questions</a:t>
            </a:r>
            <a:endParaRPr dirty="0" sz="2400" lang="en-US"/>
          </a:p>
        </p:txBody>
      </p:sp>
      <p:sp>
        <p:nvSpPr>
          <p:cNvPr id="1048604" name="Text 2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605" name="Text 2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a:t>
            </a:r>
            <a:endParaRPr dirty="0" sz="9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942"/>
        </a:solidFill>
        <a:effectLst/>
      </p:bgPr>
    </p:bg>
    <p:spTree>
      <p:nvGrpSpPr>
        <p:cNvPr id="41" name=""/>
        <p:cNvGrpSpPr/>
        <p:nvPr/>
      </p:nvGrpSpPr>
      <p:grpSpPr>
        <a:xfrm>
          <a:off x="0" y="0"/>
          <a:ext cx="0" cy="0"/>
          <a:chOff x="0" y="0"/>
          <a:chExt cx="0" cy="0"/>
        </a:xfrm>
      </p:grpSpPr>
      <p:sp>
        <p:nvSpPr>
          <p:cNvPr id="1048609" name="Shape 0"/>
          <p:cNvSpPr/>
          <p:nvPr/>
        </p:nvSpPr>
        <p:spPr>
          <a:xfrm>
            <a:off x="0" y="0"/>
            <a:ext cx="228600" cy="6858000"/>
          </a:xfrm>
          <a:prstGeom prst="rect"/>
          <a:solidFill>
            <a:srgbClr val="00B8A9"/>
          </a:solidFill>
        </p:spPr>
      </p:sp>
      <p:sp>
        <p:nvSpPr>
          <p:cNvPr id="1048610"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11"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Capacity Planning</a:t>
            </a:r>
            <a:endParaRPr dirty="0" sz="3000" lang="en-US"/>
          </a:p>
        </p:txBody>
      </p:sp>
      <p:sp>
        <p:nvSpPr>
          <p:cNvPr id="1048612"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process of determining the resources (servers, database capacity, network bandwidth) a system will need to meet current and future performance requirements, using workload forecasts and performance models to guide the decision.”</a:t>
            </a:r>
            <a:endParaRPr dirty="0" sz="2400" lang="en-US"/>
          </a:p>
        </p:txBody>
      </p:sp>
      <p:sp>
        <p:nvSpPr>
          <p:cNvPr id="1048613"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Capacity planning is where the theory from Lectures 1-7 becomes a concrete, defensible business decision: how many servers, how much budget, by when</a:t>
            </a:r>
            <a:endParaRPr dirty="0" sz="2400" lang="en-US"/>
          </a:p>
        </p:txBody>
      </p:sp>
      <p:sp>
        <p:nvSpPr>
          <p:cNvPr id="1048614"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615"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a:t>
            </a:r>
            <a:endParaRPr dirty="0" sz="9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44" name=""/>
        <p:cNvGrpSpPr/>
        <p:nvPr/>
      </p:nvGrpSpPr>
      <p:grpSpPr>
        <a:xfrm>
          <a:off x="0" y="0"/>
          <a:ext cx="0" cy="0"/>
          <a:chOff x="0" y="0"/>
          <a:chExt cx="0" cy="0"/>
        </a:xfrm>
      </p:grpSpPr>
      <p:sp>
        <p:nvSpPr>
          <p:cNvPr id="104861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Capacity Planning Pulls Together the Whole Course</a:t>
            </a:r>
            <a:endParaRPr dirty="0" sz="2600" lang="en-US"/>
          </a:p>
        </p:txBody>
      </p:sp>
      <p:sp>
        <p:nvSpPr>
          <p:cNvPr id="1048620" name="Shape 1"/>
          <p:cNvSpPr/>
          <p:nvPr/>
        </p:nvSpPr>
        <p:spPr>
          <a:xfrm>
            <a:off x="566928" y="1005840"/>
            <a:ext cx="411480" cy="45720"/>
          </a:xfrm>
          <a:prstGeom prst="rect"/>
          <a:solidFill>
            <a:srgbClr val="00B8A9"/>
          </a:solidFill>
        </p:spPr>
      </p:sp>
      <p:sp>
        <p:nvSpPr>
          <p:cNvPr id="104862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Workload characterization (Lecture 2)</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What does current and future demand look like?</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Queueing models (Lectures 4-6)</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Given a workload, what response time and utilization result from a given capacity?</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Simulation (Lecture 7)</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For complex scenarios beyond closed-form formulas</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Capacity planning is not a new mathematical technique — it's the disciplined application of everything already covered, aimed at a forward-looking business decision</a:t>
            </a:r>
            <a:endParaRPr dirty="0" sz="2800" lang="en-US"/>
          </a:p>
        </p:txBody>
      </p:sp>
      <p:sp>
        <p:nvSpPr>
          <p:cNvPr id="104862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62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4</a:t>
            </a:r>
            <a:endParaRPr dirty="0" sz="9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47" name=""/>
        <p:cNvGrpSpPr/>
        <p:nvPr/>
      </p:nvGrpSpPr>
      <p:grpSpPr>
        <a:xfrm>
          <a:off x="0" y="0"/>
          <a:ext cx="0" cy="0"/>
          <a:chOff x="0" y="0"/>
          <a:chExt cx="0" cy="0"/>
        </a:xfrm>
      </p:grpSpPr>
      <p:sp>
        <p:nvSpPr>
          <p:cNvPr id="104862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Capacity Planning Process</a:t>
            </a:r>
            <a:endParaRPr dirty="0" sz="2600" lang="en-US"/>
          </a:p>
        </p:txBody>
      </p:sp>
      <p:sp>
        <p:nvSpPr>
          <p:cNvPr id="1048628" name="Shape 1"/>
          <p:cNvSpPr/>
          <p:nvPr/>
        </p:nvSpPr>
        <p:spPr>
          <a:xfrm>
            <a:off x="566928" y="1005840"/>
            <a:ext cx="411480" cy="45720"/>
          </a:xfrm>
          <a:prstGeom prst="rect"/>
          <a:solidFill>
            <a:srgbClr val="00B8A9"/>
          </a:solidFill>
        </p:spPr>
      </p:sp>
      <p:sp>
        <p:nvSpPr>
          <p:cNvPr id="1048629" name="Shape 2"/>
          <p:cNvSpPr/>
          <p:nvPr/>
        </p:nvSpPr>
        <p:spPr>
          <a:xfrm>
            <a:off x="594360" y="2377440"/>
            <a:ext cx="1920240" cy="2377440"/>
          </a:xfrm>
          <a:prstGeom prst="roundRect">
            <a:avLst>
              <a:gd name="adj" fmla="val 4286"/>
            </a:avLst>
          </a:prstGeom>
          <a:solidFill>
            <a:srgbClr val="0F2942"/>
          </a:solidFill>
        </p:spPr>
      </p:sp>
      <p:sp>
        <p:nvSpPr>
          <p:cNvPr id="1048630" name="Shape 3"/>
          <p:cNvSpPr/>
          <p:nvPr/>
        </p:nvSpPr>
        <p:spPr>
          <a:xfrm>
            <a:off x="1298448" y="2103120"/>
            <a:ext cx="512064" cy="512064"/>
          </a:xfrm>
          <a:prstGeom prst="ellipse"/>
          <a:solidFill>
            <a:srgbClr val="00B8A9"/>
          </a:solidFill>
          <a:ln w="25400">
            <a:solidFill>
              <a:srgbClr val="FFFFFF"/>
            </a:solidFill>
            <a:prstDash val="solid"/>
          </a:ln>
        </p:spPr>
      </p:sp>
      <p:sp>
        <p:nvSpPr>
          <p:cNvPr id="1048631" name="Text 4"/>
          <p:cNvSpPr/>
          <p:nvPr/>
        </p:nvSpPr>
        <p:spPr>
          <a:xfrm>
            <a:off x="129844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632" name="Text 5"/>
          <p:cNvSpPr/>
          <p:nvPr/>
        </p:nvSpPr>
        <p:spPr>
          <a:xfrm>
            <a:off x="731520" y="2697480"/>
            <a:ext cx="164592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1. Characterize Current Workload</a:t>
            </a:r>
            <a:endParaRPr dirty="0" sz="1600" lang="en-US"/>
          </a:p>
        </p:txBody>
      </p:sp>
      <p:sp>
        <p:nvSpPr>
          <p:cNvPr id="1048633" name="Text 6"/>
          <p:cNvSpPr/>
          <p:nvPr/>
        </p:nvSpPr>
        <p:spPr>
          <a:xfrm>
            <a:off x="73152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Measure current arrival rates, request mix, and service demands.</a:t>
            </a:r>
            <a:endParaRPr dirty="0" sz="1600" lang="en-US"/>
          </a:p>
        </p:txBody>
      </p:sp>
      <p:sp>
        <p:nvSpPr>
          <p:cNvPr id="1048634" name="Text 7"/>
          <p:cNvSpPr/>
          <p:nvPr/>
        </p:nvSpPr>
        <p:spPr>
          <a:xfrm>
            <a:off x="251460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35" name="Shape 8"/>
          <p:cNvSpPr/>
          <p:nvPr/>
        </p:nvSpPr>
        <p:spPr>
          <a:xfrm>
            <a:off x="2834640" y="2377440"/>
            <a:ext cx="1920240" cy="2377440"/>
          </a:xfrm>
          <a:prstGeom prst="roundRect">
            <a:avLst>
              <a:gd name="adj" fmla="val 4286"/>
            </a:avLst>
          </a:prstGeom>
          <a:solidFill>
            <a:srgbClr val="44546A"/>
          </a:solidFill>
        </p:spPr>
      </p:sp>
      <p:sp>
        <p:nvSpPr>
          <p:cNvPr id="1048636" name="Shape 9"/>
          <p:cNvSpPr/>
          <p:nvPr/>
        </p:nvSpPr>
        <p:spPr>
          <a:xfrm>
            <a:off x="3538728" y="2103120"/>
            <a:ext cx="512064" cy="512064"/>
          </a:xfrm>
          <a:prstGeom prst="ellipse"/>
          <a:solidFill>
            <a:srgbClr val="00B8A9"/>
          </a:solidFill>
          <a:ln w="25400">
            <a:solidFill>
              <a:srgbClr val="FFFFFF"/>
            </a:solidFill>
            <a:prstDash val="solid"/>
          </a:ln>
        </p:spPr>
      </p:sp>
      <p:sp>
        <p:nvSpPr>
          <p:cNvPr id="1048637" name="Text 10"/>
          <p:cNvSpPr/>
          <p:nvPr/>
        </p:nvSpPr>
        <p:spPr>
          <a:xfrm>
            <a:off x="353872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638" name="Text 11"/>
          <p:cNvSpPr/>
          <p:nvPr/>
        </p:nvSpPr>
        <p:spPr>
          <a:xfrm>
            <a:off x="2971800" y="2697480"/>
            <a:ext cx="164592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2. Forecast Future Demand</a:t>
            </a:r>
            <a:endParaRPr dirty="0" sz="1600" lang="en-US"/>
          </a:p>
        </p:txBody>
      </p:sp>
      <p:sp>
        <p:nvSpPr>
          <p:cNvPr id="1048639" name="Text 12"/>
          <p:cNvSpPr/>
          <p:nvPr/>
        </p:nvSpPr>
        <p:spPr>
          <a:xfrm>
            <a:off x="297180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Project how workload will grow over the planning horizon.</a:t>
            </a:r>
            <a:endParaRPr dirty="0" sz="1600" lang="en-US"/>
          </a:p>
        </p:txBody>
      </p:sp>
      <p:sp>
        <p:nvSpPr>
          <p:cNvPr id="1048640" name="Text 13"/>
          <p:cNvSpPr/>
          <p:nvPr/>
        </p:nvSpPr>
        <p:spPr>
          <a:xfrm>
            <a:off x="475488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41" name="Shape 14"/>
          <p:cNvSpPr/>
          <p:nvPr/>
        </p:nvSpPr>
        <p:spPr>
          <a:xfrm>
            <a:off x="5074920" y="2377440"/>
            <a:ext cx="1920240" cy="2377440"/>
          </a:xfrm>
          <a:prstGeom prst="roundRect">
            <a:avLst>
              <a:gd name="adj" fmla="val 4286"/>
            </a:avLst>
          </a:prstGeom>
          <a:solidFill>
            <a:srgbClr val="0F2942"/>
          </a:solidFill>
        </p:spPr>
      </p:sp>
      <p:sp>
        <p:nvSpPr>
          <p:cNvPr id="1048642" name="Shape 15"/>
          <p:cNvSpPr/>
          <p:nvPr/>
        </p:nvSpPr>
        <p:spPr>
          <a:xfrm>
            <a:off x="5779008" y="2103120"/>
            <a:ext cx="512064" cy="512064"/>
          </a:xfrm>
          <a:prstGeom prst="ellipse"/>
          <a:solidFill>
            <a:srgbClr val="00B8A9"/>
          </a:solidFill>
          <a:ln w="25400">
            <a:solidFill>
              <a:srgbClr val="FFFFFF"/>
            </a:solidFill>
            <a:prstDash val="solid"/>
          </a:ln>
        </p:spPr>
      </p:sp>
      <p:sp>
        <p:nvSpPr>
          <p:cNvPr id="1048643" name="Text 16"/>
          <p:cNvSpPr/>
          <p:nvPr/>
        </p:nvSpPr>
        <p:spPr>
          <a:xfrm>
            <a:off x="577900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644" name="Text 17"/>
          <p:cNvSpPr/>
          <p:nvPr/>
        </p:nvSpPr>
        <p:spPr>
          <a:xfrm>
            <a:off x="5212080" y="2697480"/>
            <a:ext cx="164592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3. Model Performance</a:t>
            </a:r>
            <a:endParaRPr dirty="0" sz="1600" lang="en-US"/>
          </a:p>
        </p:txBody>
      </p:sp>
      <p:sp>
        <p:nvSpPr>
          <p:cNvPr id="1048645" name="Text 18"/>
          <p:cNvSpPr/>
          <p:nvPr/>
        </p:nvSpPr>
        <p:spPr>
          <a:xfrm>
            <a:off x="521208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Use queueing/simulation models to predict response time at forecasted load.</a:t>
            </a:r>
            <a:endParaRPr dirty="0" sz="1600" lang="en-US"/>
          </a:p>
        </p:txBody>
      </p:sp>
      <p:sp>
        <p:nvSpPr>
          <p:cNvPr id="1048646" name="Text 19"/>
          <p:cNvSpPr/>
          <p:nvPr/>
        </p:nvSpPr>
        <p:spPr>
          <a:xfrm>
            <a:off x="699516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47" name="Shape 20"/>
          <p:cNvSpPr/>
          <p:nvPr/>
        </p:nvSpPr>
        <p:spPr>
          <a:xfrm>
            <a:off x="7315200" y="2377440"/>
            <a:ext cx="1920240" cy="2377440"/>
          </a:xfrm>
          <a:prstGeom prst="roundRect">
            <a:avLst>
              <a:gd name="adj" fmla="val 4286"/>
            </a:avLst>
          </a:prstGeom>
          <a:solidFill>
            <a:srgbClr val="44546A"/>
          </a:solidFill>
        </p:spPr>
      </p:sp>
      <p:sp>
        <p:nvSpPr>
          <p:cNvPr id="1048648" name="Shape 21"/>
          <p:cNvSpPr/>
          <p:nvPr/>
        </p:nvSpPr>
        <p:spPr>
          <a:xfrm>
            <a:off x="8019288" y="2103120"/>
            <a:ext cx="512064" cy="512064"/>
          </a:xfrm>
          <a:prstGeom prst="ellipse"/>
          <a:solidFill>
            <a:srgbClr val="00B8A9"/>
          </a:solidFill>
          <a:ln w="25400">
            <a:solidFill>
              <a:srgbClr val="FFFFFF"/>
            </a:solidFill>
            <a:prstDash val="solid"/>
          </a:ln>
        </p:spPr>
      </p:sp>
      <p:sp>
        <p:nvSpPr>
          <p:cNvPr id="1048649" name="Text 22"/>
          <p:cNvSpPr/>
          <p:nvPr/>
        </p:nvSpPr>
        <p:spPr>
          <a:xfrm>
            <a:off x="801928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650" name="Text 23"/>
          <p:cNvSpPr/>
          <p:nvPr/>
        </p:nvSpPr>
        <p:spPr>
          <a:xfrm>
            <a:off x="7452360" y="2697480"/>
            <a:ext cx="164592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4. Determine Required Capacity</a:t>
            </a:r>
            <a:endParaRPr dirty="0" sz="1600" lang="en-US"/>
          </a:p>
        </p:txBody>
      </p:sp>
      <p:sp>
        <p:nvSpPr>
          <p:cNvPr id="1048651" name="Text 24"/>
          <p:cNvSpPr/>
          <p:nvPr/>
        </p:nvSpPr>
        <p:spPr>
          <a:xfrm>
            <a:off x="745236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Solve for the resources needed to keep predictions within targets.</a:t>
            </a:r>
            <a:endParaRPr dirty="0" sz="1600" lang="en-US"/>
          </a:p>
        </p:txBody>
      </p:sp>
      <p:sp>
        <p:nvSpPr>
          <p:cNvPr id="1048652" name="Text 25"/>
          <p:cNvSpPr/>
          <p:nvPr/>
        </p:nvSpPr>
        <p:spPr>
          <a:xfrm>
            <a:off x="923544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53" name="Shape 26"/>
          <p:cNvSpPr/>
          <p:nvPr/>
        </p:nvSpPr>
        <p:spPr>
          <a:xfrm>
            <a:off x="9555480" y="2377440"/>
            <a:ext cx="1920240" cy="2377440"/>
          </a:xfrm>
          <a:prstGeom prst="roundRect">
            <a:avLst>
              <a:gd name="adj" fmla="val 4286"/>
            </a:avLst>
          </a:prstGeom>
          <a:solidFill>
            <a:srgbClr val="0F2942"/>
          </a:solidFill>
        </p:spPr>
      </p:sp>
      <p:sp>
        <p:nvSpPr>
          <p:cNvPr id="1048654" name="Shape 27"/>
          <p:cNvSpPr/>
          <p:nvPr/>
        </p:nvSpPr>
        <p:spPr>
          <a:xfrm>
            <a:off x="10259568" y="2103120"/>
            <a:ext cx="512064" cy="512064"/>
          </a:xfrm>
          <a:prstGeom prst="ellipse"/>
          <a:solidFill>
            <a:srgbClr val="00B8A9"/>
          </a:solidFill>
          <a:ln w="25400">
            <a:solidFill>
              <a:srgbClr val="FFFFFF"/>
            </a:solidFill>
            <a:prstDash val="solid"/>
          </a:ln>
        </p:spPr>
      </p:sp>
      <p:sp>
        <p:nvSpPr>
          <p:cNvPr id="1048655" name="Text 28"/>
          <p:cNvSpPr/>
          <p:nvPr/>
        </p:nvSpPr>
        <p:spPr>
          <a:xfrm>
            <a:off x="1025956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656" name="Text 29"/>
          <p:cNvSpPr/>
          <p:nvPr/>
        </p:nvSpPr>
        <p:spPr>
          <a:xfrm>
            <a:off x="9692640" y="2697480"/>
            <a:ext cx="164592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5. Validate &amp; Monitor</a:t>
            </a:r>
            <a:endParaRPr dirty="0" sz="1600" lang="en-US"/>
          </a:p>
        </p:txBody>
      </p:sp>
      <p:sp>
        <p:nvSpPr>
          <p:cNvPr id="1048657" name="Text 30"/>
          <p:cNvSpPr/>
          <p:nvPr/>
        </p:nvSpPr>
        <p:spPr>
          <a:xfrm>
            <a:off x="969264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Track actual growth against forecast; revise plans as needed.</a:t>
            </a:r>
            <a:endParaRPr dirty="0" sz="1600" lang="en-US"/>
          </a:p>
        </p:txBody>
      </p:sp>
      <p:sp>
        <p:nvSpPr>
          <p:cNvPr id="1048658" name="Text 31"/>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659" name="Text 32"/>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5</a:t>
            </a:r>
            <a:endParaRPr dirty="0" sz="9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942"/>
        </a:solidFill>
        <a:effectLst/>
      </p:bgPr>
    </p:bg>
    <p:spTree>
      <p:nvGrpSpPr>
        <p:cNvPr id="50" name=""/>
        <p:cNvGrpSpPr/>
        <p:nvPr/>
      </p:nvGrpSpPr>
      <p:grpSpPr>
        <a:xfrm>
          <a:off x="0" y="0"/>
          <a:ext cx="0" cy="0"/>
          <a:chOff x="0" y="0"/>
          <a:chExt cx="0" cy="0"/>
        </a:xfrm>
      </p:grpSpPr>
      <p:sp>
        <p:nvSpPr>
          <p:cNvPr id="1048663" name="Shape 0"/>
          <p:cNvSpPr/>
          <p:nvPr/>
        </p:nvSpPr>
        <p:spPr>
          <a:xfrm>
            <a:off x="0" y="0"/>
            <a:ext cx="228600" cy="6858000"/>
          </a:xfrm>
          <a:prstGeom prst="rect"/>
          <a:solidFill>
            <a:srgbClr val="00B8A9"/>
          </a:solidFill>
        </p:spPr>
      </p:sp>
      <p:sp>
        <p:nvSpPr>
          <p:cNvPr id="1048664"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65"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Demand Forecasting</a:t>
            </a:r>
            <a:endParaRPr dirty="0" sz="3000" lang="en-US"/>
          </a:p>
        </p:txBody>
      </p:sp>
      <p:sp>
        <p:nvSpPr>
          <p:cNvPr id="1048666"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process of projecting future workload levels — such as request rate or user population — based on historical trends, business growth plans, and known upcoming events.”</a:t>
            </a:r>
            <a:endParaRPr dirty="0" sz="2400" lang="en-US"/>
          </a:p>
        </p:txBody>
      </p:sp>
      <p:sp>
        <p:nvSpPr>
          <p:cNvPr id="1048667"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Forecasting accuracy directly limits capacity planning accuracy: a perfect queueing model fed a wrong forecast will still produce a wrong capacity recommendation</a:t>
            </a:r>
            <a:endParaRPr dirty="0" sz="2400" lang="en-US"/>
          </a:p>
        </p:txBody>
      </p:sp>
      <p:sp>
        <p:nvSpPr>
          <p:cNvPr id="1048668"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669"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6</a:t>
            </a:r>
            <a:endParaRPr dirty="0" sz="9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53" name=""/>
        <p:cNvGrpSpPr/>
        <p:nvPr/>
      </p:nvGrpSpPr>
      <p:grpSpPr>
        <a:xfrm>
          <a:off x="0" y="0"/>
          <a:ext cx="0" cy="0"/>
          <a:chOff x="0" y="0"/>
          <a:chExt cx="0" cy="0"/>
        </a:xfrm>
      </p:grpSpPr>
      <p:sp>
        <p:nvSpPr>
          <p:cNvPr id="104867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Sources of Forecast Input</a:t>
            </a:r>
            <a:endParaRPr dirty="0" sz="2600" lang="en-US"/>
          </a:p>
        </p:txBody>
      </p:sp>
      <p:sp>
        <p:nvSpPr>
          <p:cNvPr id="1048674" name="Shape 1"/>
          <p:cNvSpPr/>
          <p:nvPr/>
        </p:nvSpPr>
        <p:spPr>
          <a:xfrm>
            <a:off x="566928" y="1005840"/>
            <a:ext cx="411480" cy="45720"/>
          </a:xfrm>
          <a:prstGeom prst="rect"/>
          <a:solidFill>
            <a:srgbClr val="00B8A9"/>
          </a:solidFill>
        </p:spPr>
      </p:sp>
      <p:sp>
        <p:nvSpPr>
          <p:cNvPr id="1048675"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Historical growth trends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e.g., 'traffic has grown 8% month-over-month for the past year'</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Business plans and marketing calendars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e.g., 'a major marketing campaign launches in Q3, historically driving 3x traffic'</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Seasonal patterns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Recall diurnal/seasonal patterns from Lecture 2 — Black Friday, tax season, back-to-school</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External events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New feature launches, competitor changes, macroeconomic shifts</a:t>
            </a:r>
            <a:endParaRPr dirty="0" sz="2800" lang="en-US"/>
          </a:p>
        </p:txBody>
      </p:sp>
      <p:sp>
        <p:nvSpPr>
          <p:cNvPr id="104867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67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7</a:t>
            </a:r>
            <a:endParaRPr dirty="0" sz="9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56" name=""/>
        <p:cNvGrpSpPr/>
        <p:nvPr/>
      </p:nvGrpSpPr>
      <p:grpSpPr>
        <a:xfrm>
          <a:off x="0" y="0"/>
          <a:ext cx="0" cy="0"/>
          <a:chOff x="0" y="0"/>
          <a:chExt cx="0" cy="0"/>
        </a:xfrm>
      </p:grpSpPr>
      <p:sp>
        <p:nvSpPr>
          <p:cNvPr id="104868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Simple Trend-Based Forecasting</a:t>
            </a:r>
            <a:endParaRPr dirty="0" sz="2600" lang="en-US"/>
          </a:p>
        </p:txBody>
      </p:sp>
      <p:sp>
        <p:nvSpPr>
          <p:cNvPr id="1048682" name="Shape 1"/>
          <p:cNvSpPr/>
          <p:nvPr/>
        </p:nvSpPr>
        <p:spPr>
          <a:xfrm>
            <a:off x="566928" y="1005840"/>
            <a:ext cx="411480" cy="45720"/>
          </a:xfrm>
          <a:prstGeom prst="rect"/>
          <a:solidFill>
            <a:srgbClr val="00B8A9"/>
          </a:solidFill>
        </p:spPr>
      </p:sp>
      <p:sp>
        <p:nvSpPr>
          <p:cNvPr id="104868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Linear growth model: future demand = current demand + (growth rate × time)</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Exponential growth model: future demand = current demand × (1 + growth rate)^time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Exponential models are appropriate for early-stage, rapidly growing products; linear models often fit more mature, stable systems better</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common mistake: applying an early-stage exponential growth rate indefinitely, wildly overestimating (or a linear model badly underestimating) demand years into the future</a:t>
            </a:r>
            <a:endParaRPr dirty="0" sz="2400" lang="en-US"/>
          </a:p>
        </p:txBody>
      </p:sp>
      <p:sp>
        <p:nvSpPr>
          <p:cNvPr id="104868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68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8</a:t>
            </a:r>
            <a:endParaRPr dirty="0" sz="9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59" name=""/>
        <p:cNvGrpSpPr/>
        <p:nvPr/>
      </p:nvGrpSpPr>
      <p:grpSpPr>
        <a:xfrm>
          <a:off x="0" y="0"/>
          <a:ext cx="0" cy="0"/>
          <a:chOff x="0" y="0"/>
          <a:chExt cx="0" cy="0"/>
        </a:xfrm>
      </p:grpSpPr>
      <p:sp>
        <p:nvSpPr>
          <p:cNvPr id="104868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Worked Example: Forecasting Peak Arrival Rate</a:t>
            </a:r>
            <a:endParaRPr dirty="0" sz="2600" lang="en-US"/>
          </a:p>
        </p:txBody>
      </p:sp>
      <p:sp>
        <p:nvSpPr>
          <p:cNvPr id="1048690" name="Shape 1"/>
          <p:cNvSpPr/>
          <p:nvPr/>
        </p:nvSpPr>
        <p:spPr>
          <a:xfrm>
            <a:off x="566928" y="1005840"/>
            <a:ext cx="411480" cy="45720"/>
          </a:xfrm>
          <a:prstGeom prst="rect"/>
          <a:solidFill>
            <a:srgbClr val="00B8A9"/>
          </a:solidFill>
        </p:spPr>
      </p:sp>
      <p:graphicFrame>
        <p:nvGraphicFramePr>
          <p:cNvPr id="4194304" name="Table 0"/>
          <p:cNvGraphicFramePr>
            <a:graphicFrameLocks noGrp="1"/>
          </p:cNvGraphicFramePr>
          <p:nvPr/>
        </p:nvGraphicFramePr>
        <p:xfrm>
          <a:off x="548640" y="1325880"/>
          <a:ext cx="11064240" cy="4987106"/>
        </p:xfrm>
        <a:graphic>
          <a:graphicData uri="http://schemas.openxmlformats.org/drawingml/2006/table">
            <a:tbl>
              <a:tblPr/>
              <a:tblGrid>
                <a:gridCol w="5532120"/>
                <a:gridCol w="5532120"/>
              </a:tblGrid>
              <a:tr h="692331">
                <a:tc>
                  <a:txBody>
                    <a:bodyPr/>
                    <a:p>
                      <a:pPr indent="0" marL="0">
                        <a:buNone/>
                      </a:pPr>
                      <a:r>
                        <a:rPr b="1" dirty="0" sz="2400" lang="en-US">
                          <a:solidFill>
                            <a:srgbClr val="FFFFFF"/>
                          </a:solidFill>
                          <a:latin typeface="Calibri" pitchFamily="34" charset="0"/>
                          <a:ea typeface="Calibri" pitchFamily="34" charset="-122"/>
                          <a:cs typeface="Calibri" pitchFamily="34" charset="-120"/>
                        </a:rPr>
                        <a:t>Quantity</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Value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Current average arrival rate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200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Current peak-to-average ratio</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3.2x</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Current peak arrival rate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640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Projected growth over 12 months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50%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Forecasted average arrival rate (12 months)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300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Forecasted peak arrival rate (12 months)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960 req/s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bl>
          </a:graphicData>
        </a:graphic>
      </p:graphicFrame>
      <p:sp>
        <p:nvSpPr>
          <p:cNvPr id="1048691"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692"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9</a:t>
            </a:r>
            <a:endParaRPr dirty="0" sz="9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62" name=""/>
        <p:cNvGrpSpPr/>
        <p:nvPr/>
      </p:nvGrpSpPr>
      <p:grpSpPr>
        <a:xfrm>
          <a:off x="0" y="0"/>
          <a:ext cx="0" cy="0"/>
          <a:chOff x="0" y="0"/>
          <a:chExt cx="0" cy="0"/>
        </a:xfrm>
      </p:grpSpPr>
      <p:sp>
        <p:nvSpPr>
          <p:cNvPr id="104869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the Peak-to-Average Ratio Must Be Forecast Too</a:t>
            </a:r>
            <a:endParaRPr dirty="0" sz="2600" lang="en-US"/>
          </a:p>
        </p:txBody>
      </p:sp>
      <p:sp>
        <p:nvSpPr>
          <p:cNvPr id="1048697" name="Shape 1"/>
          <p:cNvSpPr/>
          <p:nvPr/>
        </p:nvSpPr>
        <p:spPr>
          <a:xfrm>
            <a:off x="566928" y="1005840"/>
            <a:ext cx="411480" cy="45720"/>
          </a:xfrm>
          <a:prstGeom prst="rect"/>
          <a:solidFill>
            <a:srgbClr val="00B8A9"/>
          </a:solidFill>
        </p:spPr>
      </p:sp>
      <p:sp>
        <p:nvSpPr>
          <p:cNvPr id="104869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It is not enough to simply forecast average demand and assume the peak-to-average ratio stays constant</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As a product's user base diversifies (e.g., expanding into new time zones or markets), the peak-to-average ratio itself often changes — sometimes smoothing out, sometimes worsening</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Capacity plans should always be built from forecasted PEAK load, per the rule established in Lecture 2 — this worked example forecasts 960 req/s, not just 300 req/s, as the true target</a:t>
            </a:r>
            <a:endParaRPr dirty="0" sz="2400" lang="en-US"/>
          </a:p>
        </p:txBody>
      </p:sp>
      <p:sp>
        <p:nvSpPr>
          <p:cNvPr id="104869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0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10</a:t>
            </a:r>
            <a:endParaRPr dirty="0" sz="9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65" name=""/>
        <p:cNvGrpSpPr/>
        <p:nvPr/>
      </p:nvGrpSpPr>
      <p:grpSpPr>
        <a:xfrm>
          <a:off x="0" y="0"/>
          <a:ext cx="0" cy="0"/>
          <a:chOff x="0" y="0"/>
          <a:chExt cx="0" cy="0"/>
        </a:xfrm>
      </p:grpSpPr>
      <p:sp>
        <p:nvSpPr>
          <p:cNvPr id="104870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From Forecast to Required Capacity</a:t>
            </a:r>
            <a:endParaRPr dirty="0" sz="2600" lang="en-US"/>
          </a:p>
        </p:txBody>
      </p:sp>
      <p:sp>
        <p:nvSpPr>
          <p:cNvPr id="1048705" name="Shape 1"/>
          <p:cNvSpPr/>
          <p:nvPr/>
        </p:nvSpPr>
        <p:spPr>
          <a:xfrm>
            <a:off x="566928" y="1005840"/>
            <a:ext cx="411480" cy="45720"/>
          </a:xfrm>
          <a:prstGeom prst="rect"/>
          <a:solidFill>
            <a:srgbClr val="00B8A9"/>
          </a:solidFill>
        </p:spPr>
      </p:sp>
      <p:sp>
        <p:nvSpPr>
          <p:cNvPr id="1048706"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Once we have a forecasted peak arrival rate, we apply the queueing models from Lectures 5-6 to solve for required capacity</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exactly the reverse of the 'how many servers do we need' worked example from Lecture 5 — but now using forecasted, not current, load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The target is typically expressed as a performance requirement: e.g., 'p95 response time under 300ms at forecasted peak load'</a:t>
            </a:r>
            <a:endParaRPr dirty="0" sz="2400" lang="en-US"/>
          </a:p>
        </p:txBody>
      </p:sp>
      <p:sp>
        <p:nvSpPr>
          <p:cNvPr id="1048707"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08"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11</a:t>
            </a:r>
            <a:endParaRPr dirty="0" sz="90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68" name=""/>
        <p:cNvGrpSpPr/>
        <p:nvPr/>
      </p:nvGrpSpPr>
      <p:grpSpPr>
        <a:xfrm>
          <a:off x="0" y="0"/>
          <a:ext cx="0" cy="0"/>
          <a:chOff x="0" y="0"/>
          <a:chExt cx="0" cy="0"/>
        </a:xfrm>
      </p:grpSpPr>
      <p:sp>
        <p:nvSpPr>
          <p:cNvPr id="104871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Worked Example: Solving for Required Servers</a:t>
            </a:r>
            <a:endParaRPr dirty="0" sz="2600" lang="en-US"/>
          </a:p>
        </p:txBody>
      </p:sp>
      <p:sp>
        <p:nvSpPr>
          <p:cNvPr id="1048713" name="Shape 1"/>
          <p:cNvSpPr/>
          <p:nvPr/>
        </p:nvSpPr>
        <p:spPr>
          <a:xfrm>
            <a:off x="566928" y="1005840"/>
            <a:ext cx="411480" cy="45720"/>
          </a:xfrm>
          <a:prstGeom prst="rect"/>
          <a:solidFill>
            <a:srgbClr val="00B8A9"/>
          </a:solidFill>
        </p:spPr>
      </p:sp>
      <p:sp>
        <p:nvSpPr>
          <p:cNvPr id="1048714" name="Shape 2"/>
          <p:cNvSpPr/>
          <p:nvPr/>
        </p:nvSpPr>
        <p:spPr>
          <a:xfrm>
            <a:off x="594360" y="2377440"/>
            <a:ext cx="2480310" cy="2377440"/>
          </a:xfrm>
          <a:prstGeom prst="roundRect">
            <a:avLst>
              <a:gd name="adj" fmla="val 3462"/>
            </a:avLst>
          </a:prstGeom>
          <a:solidFill>
            <a:srgbClr val="0F2942"/>
          </a:solidFill>
        </p:spPr>
      </p:sp>
      <p:sp>
        <p:nvSpPr>
          <p:cNvPr id="1048715" name="Shape 3"/>
          <p:cNvSpPr/>
          <p:nvPr/>
        </p:nvSpPr>
        <p:spPr>
          <a:xfrm>
            <a:off x="1578483" y="2103120"/>
            <a:ext cx="512064" cy="512064"/>
          </a:xfrm>
          <a:prstGeom prst="ellipse"/>
          <a:solidFill>
            <a:srgbClr val="00B8A9"/>
          </a:solidFill>
          <a:ln w="25400">
            <a:solidFill>
              <a:srgbClr val="FFFFFF"/>
            </a:solidFill>
            <a:prstDash val="solid"/>
          </a:ln>
        </p:spPr>
      </p:sp>
      <p:sp>
        <p:nvSpPr>
          <p:cNvPr id="1048716" name="Text 4"/>
          <p:cNvSpPr/>
          <p:nvPr/>
        </p:nvSpPr>
        <p:spPr>
          <a:xfrm>
            <a:off x="157848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717" name="Text 5"/>
          <p:cNvSpPr/>
          <p:nvPr/>
        </p:nvSpPr>
        <p:spPr>
          <a:xfrm>
            <a:off x="731520" y="2697480"/>
            <a:ext cx="220599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1. Forecasted Peak Load</a:t>
            </a:r>
            <a:endParaRPr dirty="0" lang="en-US"/>
          </a:p>
        </p:txBody>
      </p:sp>
      <p:sp>
        <p:nvSpPr>
          <p:cNvPr id="1048718" name="Text 6"/>
          <p:cNvSpPr/>
          <p:nvPr/>
        </p:nvSpPr>
        <p:spPr>
          <a:xfrm>
            <a:off x="731520" y="3246120"/>
            <a:ext cx="2205990" cy="1417320"/>
          </a:xfrm>
          <a:prstGeom prst="rect"/>
          <a:noFill/>
        </p:spPr>
        <p:txBody>
          <a:bodyPr anchor="t" bIns="0" lIns="0" rIns="0" rtlCol="0" tIns="0" wrap="square"/>
          <a:p>
            <a:pPr algn="ctr" indent="0" marL="0">
              <a:lnSpc>
                <a:spcPct val="115000"/>
              </a:lnSpc>
              <a:buNone/>
            </a:pPr>
            <a:r>
              <a:rPr dirty="0" sz="2000" lang="en-US">
                <a:solidFill>
                  <a:srgbClr val="D8DEE6"/>
                </a:solidFill>
                <a:latin typeface="Calibri" pitchFamily="34" charset="0"/>
                <a:ea typeface="Calibri" pitchFamily="34" charset="-122"/>
                <a:cs typeface="Calibri" pitchFamily="34" charset="-120"/>
              </a:rPr>
              <a:t>Lambda = 960 requests/second (from previous slide).</a:t>
            </a:r>
            <a:endParaRPr dirty="0" sz="2000" lang="en-US"/>
          </a:p>
        </p:txBody>
      </p:sp>
      <p:sp>
        <p:nvSpPr>
          <p:cNvPr id="1048719" name="Text 7"/>
          <p:cNvSpPr/>
          <p:nvPr/>
        </p:nvSpPr>
        <p:spPr>
          <a:xfrm>
            <a:off x="307467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20" name="Shape 8"/>
          <p:cNvSpPr/>
          <p:nvPr/>
        </p:nvSpPr>
        <p:spPr>
          <a:xfrm>
            <a:off x="3394710" y="2377440"/>
            <a:ext cx="2480310" cy="2377440"/>
          </a:xfrm>
          <a:prstGeom prst="roundRect">
            <a:avLst>
              <a:gd name="adj" fmla="val 3462"/>
            </a:avLst>
          </a:prstGeom>
          <a:solidFill>
            <a:srgbClr val="44546A"/>
          </a:solidFill>
        </p:spPr>
      </p:sp>
      <p:sp>
        <p:nvSpPr>
          <p:cNvPr id="1048721" name="Shape 9"/>
          <p:cNvSpPr/>
          <p:nvPr/>
        </p:nvSpPr>
        <p:spPr>
          <a:xfrm>
            <a:off x="4378833" y="2103120"/>
            <a:ext cx="512064" cy="512064"/>
          </a:xfrm>
          <a:prstGeom prst="ellipse"/>
          <a:solidFill>
            <a:srgbClr val="00B8A9"/>
          </a:solidFill>
          <a:ln w="25400">
            <a:solidFill>
              <a:srgbClr val="FFFFFF"/>
            </a:solidFill>
            <a:prstDash val="solid"/>
          </a:ln>
        </p:spPr>
      </p:sp>
      <p:sp>
        <p:nvSpPr>
          <p:cNvPr id="1048722" name="Text 10"/>
          <p:cNvSpPr/>
          <p:nvPr/>
        </p:nvSpPr>
        <p:spPr>
          <a:xfrm>
            <a:off x="437883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723" name="Text 11"/>
          <p:cNvSpPr/>
          <p:nvPr/>
        </p:nvSpPr>
        <p:spPr>
          <a:xfrm>
            <a:off x="3531870" y="2697480"/>
            <a:ext cx="220599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2. Per-Server Capacity</a:t>
            </a:r>
            <a:endParaRPr dirty="0" lang="en-US"/>
          </a:p>
        </p:txBody>
      </p:sp>
      <p:sp>
        <p:nvSpPr>
          <p:cNvPr id="1048724" name="Text 12"/>
          <p:cNvSpPr/>
          <p:nvPr/>
        </p:nvSpPr>
        <p:spPr>
          <a:xfrm>
            <a:off x="3531870" y="3246120"/>
            <a:ext cx="2205990" cy="1417320"/>
          </a:xfrm>
          <a:prstGeom prst="rect"/>
          <a:noFill/>
        </p:spPr>
        <p:txBody>
          <a:bodyPr anchor="t" bIns="0" lIns="0" rIns="0" rtlCol="0" tIns="0" wrap="square"/>
          <a:p>
            <a:pPr algn="ctr" indent="0" marL="0">
              <a:lnSpc>
                <a:spcPct val="115000"/>
              </a:lnSpc>
              <a:buNone/>
            </a:pPr>
            <a:r>
              <a:rPr dirty="0" sz="2000" lang="en-US">
                <a:solidFill>
                  <a:srgbClr val="D8DEE6"/>
                </a:solidFill>
                <a:latin typeface="Calibri" pitchFamily="34" charset="0"/>
                <a:ea typeface="Calibri" pitchFamily="34" charset="-122"/>
                <a:cs typeface="Calibri" pitchFamily="34" charset="-120"/>
              </a:rPr>
              <a:t>Mu = 250 requests/second per server (measured).</a:t>
            </a:r>
            <a:endParaRPr dirty="0" sz="2000" lang="en-US"/>
          </a:p>
        </p:txBody>
      </p:sp>
      <p:sp>
        <p:nvSpPr>
          <p:cNvPr id="1048725" name="Text 13"/>
          <p:cNvSpPr/>
          <p:nvPr/>
        </p:nvSpPr>
        <p:spPr>
          <a:xfrm>
            <a:off x="587502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26" name="Shape 14"/>
          <p:cNvSpPr/>
          <p:nvPr/>
        </p:nvSpPr>
        <p:spPr>
          <a:xfrm>
            <a:off x="6195060" y="2377440"/>
            <a:ext cx="2480310" cy="2377440"/>
          </a:xfrm>
          <a:prstGeom prst="roundRect">
            <a:avLst>
              <a:gd name="adj" fmla="val 3462"/>
            </a:avLst>
          </a:prstGeom>
          <a:solidFill>
            <a:srgbClr val="0F2942"/>
          </a:solidFill>
        </p:spPr>
      </p:sp>
      <p:sp>
        <p:nvSpPr>
          <p:cNvPr id="1048727" name="Shape 15"/>
          <p:cNvSpPr/>
          <p:nvPr/>
        </p:nvSpPr>
        <p:spPr>
          <a:xfrm>
            <a:off x="7179183" y="2103120"/>
            <a:ext cx="512064" cy="512064"/>
          </a:xfrm>
          <a:prstGeom prst="ellipse"/>
          <a:solidFill>
            <a:srgbClr val="00B8A9"/>
          </a:solidFill>
          <a:ln w="25400">
            <a:solidFill>
              <a:srgbClr val="FFFFFF"/>
            </a:solidFill>
            <a:prstDash val="solid"/>
          </a:ln>
        </p:spPr>
      </p:sp>
      <p:sp>
        <p:nvSpPr>
          <p:cNvPr id="1048728" name="Text 16"/>
          <p:cNvSpPr/>
          <p:nvPr/>
        </p:nvSpPr>
        <p:spPr>
          <a:xfrm>
            <a:off x="717918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729" name="Text 17"/>
          <p:cNvSpPr/>
          <p:nvPr/>
        </p:nvSpPr>
        <p:spPr>
          <a:xfrm>
            <a:off x="6332220" y="2697480"/>
            <a:ext cx="220599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3. Target Utilization</a:t>
            </a:r>
            <a:endParaRPr dirty="0" lang="en-US"/>
          </a:p>
        </p:txBody>
      </p:sp>
      <p:sp>
        <p:nvSpPr>
          <p:cNvPr id="1048730" name="Text 18"/>
          <p:cNvSpPr/>
          <p:nvPr/>
        </p:nvSpPr>
        <p:spPr>
          <a:xfrm>
            <a:off x="6332220" y="3246120"/>
            <a:ext cx="2205990" cy="1417320"/>
          </a:xfrm>
          <a:prstGeom prst="rect"/>
          <a:noFill/>
        </p:spPr>
        <p:txBody>
          <a:bodyPr anchor="t" bIns="0" lIns="0" rIns="0" rtlCol="0" tIns="0" wrap="square"/>
          <a:p>
            <a:pPr algn="ctr" indent="0" marL="0">
              <a:lnSpc>
                <a:spcPct val="115000"/>
              </a:lnSpc>
              <a:buNone/>
            </a:pPr>
            <a:r>
              <a:rPr dirty="0" sz="2000" lang="en-US">
                <a:solidFill>
                  <a:srgbClr val="D8DEE6"/>
                </a:solidFill>
                <a:latin typeface="Calibri" pitchFamily="34" charset="0"/>
                <a:ea typeface="Calibri" pitchFamily="34" charset="-122"/>
                <a:cs typeface="Calibri" pitchFamily="34" charset="-120"/>
              </a:rPr>
              <a:t>Keep rho at or below 0.75 for response time safety margin (Lecture 5's 70-80% rule).</a:t>
            </a:r>
            <a:endParaRPr dirty="0" sz="2000" lang="en-US"/>
          </a:p>
        </p:txBody>
      </p:sp>
      <p:sp>
        <p:nvSpPr>
          <p:cNvPr id="1048731" name="Text 19"/>
          <p:cNvSpPr/>
          <p:nvPr/>
        </p:nvSpPr>
        <p:spPr>
          <a:xfrm>
            <a:off x="867537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32" name="Shape 20"/>
          <p:cNvSpPr/>
          <p:nvPr/>
        </p:nvSpPr>
        <p:spPr>
          <a:xfrm>
            <a:off x="8995410" y="2377440"/>
            <a:ext cx="2480310" cy="2377440"/>
          </a:xfrm>
          <a:prstGeom prst="roundRect">
            <a:avLst>
              <a:gd name="adj" fmla="val 3462"/>
            </a:avLst>
          </a:prstGeom>
          <a:solidFill>
            <a:srgbClr val="44546A"/>
          </a:solidFill>
        </p:spPr>
      </p:sp>
      <p:sp>
        <p:nvSpPr>
          <p:cNvPr id="1048733" name="Shape 21"/>
          <p:cNvSpPr/>
          <p:nvPr/>
        </p:nvSpPr>
        <p:spPr>
          <a:xfrm>
            <a:off x="9979533" y="2103120"/>
            <a:ext cx="512064" cy="512064"/>
          </a:xfrm>
          <a:prstGeom prst="ellipse"/>
          <a:solidFill>
            <a:srgbClr val="00B8A9"/>
          </a:solidFill>
          <a:ln w="25400">
            <a:solidFill>
              <a:srgbClr val="FFFFFF"/>
            </a:solidFill>
            <a:prstDash val="solid"/>
          </a:ln>
        </p:spPr>
      </p:sp>
      <p:sp>
        <p:nvSpPr>
          <p:cNvPr id="1048734" name="Text 22"/>
          <p:cNvSpPr/>
          <p:nvPr/>
        </p:nvSpPr>
        <p:spPr>
          <a:xfrm>
            <a:off x="997953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735" name="Text 23"/>
          <p:cNvSpPr/>
          <p:nvPr/>
        </p:nvSpPr>
        <p:spPr>
          <a:xfrm>
            <a:off x="9132570" y="2697480"/>
            <a:ext cx="220599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4. Solve for c</a:t>
            </a:r>
            <a:endParaRPr dirty="0" lang="en-US"/>
          </a:p>
        </p:txBody>
      </p:sp>
      <p:sp>
        <p:nvSpPr>
          <p:cNvPr id="1048736" name="Text 24"/>
          <p:cNvSpPr/>
          <p:nvPr/>
        </p:nvSpPr>
        <p:spPr>
          <a:xfrm>
            <a:off x="9132570" y="3246120"/>
            <a:ext cx="2205990" cy="1417320"/>
          </a:xfrm>
          <a:prstGeom prst="rect"/>
          <a:noFill/>
        </p:spPr>
        <p:txBody>
          <a:bodyPr anchor="t" bIns="0" lIns="0" rIns="0" rtlCol="0" tIns="0" wrap="square"/>
          <a:p>
            <a:pPr algn="ctr" indent="0" marL="0">
              <a:lnSpc>
                <a:spcPct val="115000"/>
              </a:lnSpc>
              <a:buNone/>
            </a:pPr>
            <a:r>
              <a:rPr dirty="0" sz="2000" lang="en-US">
                <a:solidFill>
                  <a:srgbClr val="D8DEE6"/>
                </a:solidFill>
                <a:latin typeface="Calibri" pitchFamily="34" charset="0"/>
                <a:ea typeface="Calibri" pitchFamily="34" charset="-122"/>
                <a:cs typeface="Calibri" pitchFamily="34" charset="-120"/>
              </a:rPr>
              <a:t>c &gt;= lambda / (mu × 0.75) = 960 / (250 × 0.75) = 5.12, round up to 6 servers.</a:t>
            </a:r>
            <a:endParaRPr dirty="0" sz="2000" lang="en-US"/>
          </a:p>
        </p:txBody>
      </p:sp>
      <p:sp>
        <p:nvSpPr>
          <p:cNvPr id="1048737" name="Text 2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38" name="Text 2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12</a:t>
            </a:r>
            <a:endParaRPr dirty="0" sz="9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71" name=""/>
        <p:cNvGrpSpPr/>
        <p:nvPr/>
      </p:nvGrpSpPr>
      <p:grpSpPr>
        <a:xfrm>
          <a:off x="0" y="0"/>
          <a:ext cx="0" cy="0"/>
          <a:chOff x="0" y="0"/>
          <a:chExt cx="0" cy="0"/>
        </a:xfrm>
      </p:grpSpPr>
      <p:sp>
        <p:nvSpPr>
          <p:cNvPr id="104874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We Round Up, and Why the Safety Margin Matters</a:t>
            </a:r>
            <a:endParaRPr dirty="0" sz="2600" lang="en-US"/>
          </a:p>
        </p:txBody>
      </p:sp>
      <p:sp>
        <p:nvSpPr>
          <p:cNvPr id="1048743" name="Shape 1"/>
          <p:cNvSpPr/>
          <p:nvPr/>
        </p:nvSpPr>
        <p:spPr>
          <a:xfrm>
            <a:off x="566928" y="1005840"/>
            <a:ext cx="411480" cy="45720"/>
          </a:xfrm>
          <a:prstGeom prst="rect"/>
          <a:solidFill>
            <a:srgbClr val="00B8A9"/>
          </a:solidFill>
        </p:spPr>
      </p:sp>
      <p:sp>
        <p:nvSpPr>
          <p:cNvPr id="1048744"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Rounding up from 5.12 to 6 servers is not just arithmetic convenience — you cannot deploy a fractional server</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The 0.75 target utilization (rather than solving for exactly rho = 1) builds in the safety margin discussed in Lecture 5</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Without this margin, the system would be exactly at its theoretical capacity limit at forecasted peak — leaving zero room for forecast error, unexpected bursts, or further growth before the next planning cycle</a:t>
            </a:r>
            <a:endParaRPr dirty="0" sz="2400" lang="en-US"/>
          </a:p>
        </p:txBody>
      </p:sp>
      <p:sp>
        <p:nvSpPr>
          <p:cNvPr id="1048745"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46"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13</a:t>
            </a:r>
            <a:endParaRPr dirty="0" sz="90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942"/>
        </a:solidFill>
        <a:effectLst/>
      </p:bgPr>
    </p:bg>
    <p:spTree>
      <p:nvGrpSpPr>
        <p:cNvPr id="74" name=""/>
        <p:cNvGrpSpPr/>
        <p:nvPr/>
      </p:nvGrpSpPr>
      <p:grpSpPr>
        <a:xfrm>
          <a:off x="0" y="0"/>
          <a:ext cx="0" cy="0"/>
          <a:chOff x="0" y="0"/>
          <a:chExt cx="0" cy="0"/>
        </a:xfrm>
      </p:grpSpPr>
      <p:sp>
        <p:nvSpPr>
          <p:cNvPr id="1048750" name="Shape 0"/>
          <p:cNvSpPr/>
          <p:nvPr/>
        </p:nvSpPr>
        <p:spPr>
          <a:xfrm>
            <a:off x="0" y="0"/>
            <a:ext cx="228600" cy="6858000"/>
          </a:xfrm>
          <a:prstGeom prst="rect"/>
          <a:solidFill>
            <a:srgbClr val="00B8A9"/>
          </a:solidFill>
        </p:spPr>
      </p:sp>
      <p:sp>
        <p:nvSpPr>
          <p:cNvPr id="1048751"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52"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Headroom</a:t>
            </a:r>
            <a:endParaRPr dirty="0" sz="3000" lang="en-US"/>
          </a:p>
        </p:txBody>
      </p:sp>
      <p:sp>
        <p:nvSpPr>
          <p:cNvPr id="1048753"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spare capacity built into a system beyond what is strictly required to meet current forecasted peak demand, providing a buffer against forecast error, unexpected load spikes, and time to react before hitting a hard capacity limit.”</a:t>
            </a:r>
            <a:endParaRPr dirty="0" sz="2400" lang="en-US"/>
          </a:p>
        </p:txBody>
      </p:sp>
      <p:sp>
        <p:nvSpPr>
          <p:cNvPr id="1048754"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Headroom is a deliberate engineering and business decision, not an accident — teams explicitly choose how much margin to build in, based on the cost of under- vs. over-provisioning</a:t>
            </a:r>
            <a:endParaRPr dirty="0" sz="2400" lang="en-US"/>
          </a:p>
        </p:txBody>
      </p:sp>
      <p:sp>
        <p:nvSpPr>
          <p:cNvPr id="1048755"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56"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14</a:t>
            </a:r>
            <a:endParaRPr dirty="0" sz="900"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77" name=""/>
        <p:cNvGrpSpPr/>
        <p:nvPr/>
      </p:nvGrpSpPr>
      <p:grpSpPr>
        <a:xfrm>
          <a:off x="0" y="0"/>
          <a:ext cx="0" cy="0"/>
          <a:chOff x="0" y="0"/>
          <a:chExt cx="0" cy="0"/>
        </a:xfrm>
      </p:grpSpPr>
      <p:sp>
        <p:nvSpPr>
          <p:cNvPr id="104876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How Much Headroom Is Enough?</a:t>
            </a:r>
            <a:endParaRPr dirty="0" sz="2600" lang="en-US"/>
          </a:p>
        </p:txBody>
      </p:sp>
      <p:sp>
        <p:nvSpPr>
          <p:cNvPr id="1048761" name="Shape 1"/>
          <p:cNvSpPr/>
          <p:nvPr/>
        </p:nvSpPr>
        <p:spPr>
          <a:xfrm>
            <a:off x="566928" y="1005840"/>
            <a:ext cx="411480" cy="45720"/>
          </a:xfrm>
          <a:prstGeom prst="rect"/>
          <a:solidFill>
            <a:srgbClr val="00B8A9"/>
          </a:solidFill>
        </p:spPr>
      </p:sp>
      <p:sp>
        <p:nvSpPr>
          <p:cNvPr id="1048762"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This is a genuine cost-risk trade-off, not a fixed universal number</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More headroom</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Higher infrastructure cost, but lower risk of an outage during unexpected spikes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Less headroom</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Lower cost, but higher risk of the '70-80% utilization' response time cliff from Lecture 5 being crossed unexpectedly</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Common industry practice: maintain enough headroom to absorb the single largest historical unexpected spike, plus additional buffer for forecast uncertainty</a:t>
            </a:r>
            <a:endParaRPr dirty="0" sz="2800" lang="en-US"/>
          </a:p>
        </p:txBody>
      </p:sp>
      <p:sp>
        <p:nvSpPr>
          <p:cNvPr id="1048763"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64"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15</a:t>
            </a:r>
            <a:endParaRPr dirty="0" sz="90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80" name=""/>
        <p:cNvGrpSpPr/>
        <p:nvPr/>
      </p:nvGrpSpPr>
      <p:grpSpPr>
        <a:xfrm>
          <a:off x="0" y="0"/>
          <a:ext cx="0" cy="0"/>
          <a:chOff x="0" y="0"/>
          <a:chExt cx="0" cy="0"/>
        </a:xfrm>
      </p:grpSpPr>
      <p:sp>
        <p:nvSpPr>
          <p:cNvPr id="104876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Vertical vs. Horizontal Scaling</a:t>
            </a:r>
            <a:endParaRPr dirty="0" sz="2600" lang="en-US"/>
          </a:p>
        </p:txBody>
      </p:sp>
      <p:sp>
        <p:nvSpPr>
          <p:cNvPr id="1048769" name="Shape 1"/>
          <p:cNvSpPr/>
          <p:nvPr/>
        </p:nvSpPr>
        <p:spPr>
          <a:xfrm>
            <a:off x="566928" y="1005840"/>
            <a:ext cx="411480" cy="45720"/>
          </a:xfrm>
          <a:prstGeom prst="rect"/>
          <a:solidFill>
            <a:srgbClr val="00B8A9"/>
          </a:solidFill>
        </p:spPr>
      </p:sp>
      <p:sp>
        <p:nvSpPr>
          <p:cNvPr id="1048770" name="Shape 2"/>
          <p:cNvSpPr/>
          <p:nvPr/>
        </p:nvSpPr>
        <p:spPr>
          <a:xfrm>
            <a:off x="548640" y="1325880"/>
            <a:ext cx="5349240" cy="594360"/>
          </a:xfrm>
          <a:prstGeom prst="roundRect">
            <a:avLst>
              <a:gd name="adj" fmla="val 12308"/>
            </a:avLst>
          </a:prstGeom>
          <a:solidFill>
            <a:srgbClr val="44546A"/>
          </a:solidFill>
        </p:spPr>
      </p:sp>
      <p:sp>
        <p:nvSpPr>
          <p:cNvPr id="1048771" name="Text 3"/>
          <p:cNvSpPr/>
          <p:nvPr/>
        </p:nvSpPr>
        <p:spPr>
          <a:xfrm>
            <a:off x="548640" y="1325880"/>
            <a:ext cx="5349240" cy="594360"/>
          </a:xfrm>
          <a:prstGeom prst="rect"/>
          <a:noFill/>
        </p:spPr>
        <p:txBody>
          <a:bodyPr anchor="ctr" bIns="0" lIns="0" rIns="0" rtlCol="0" tIns="0" wrap="square"/>
          <a:p>
            <a:pPr algn="ctr" indent="0" marL="0">
              <a:buNone/>
            </a:pPr>
            <a:r>
              <a:rPr b="1" dirty="0" sz="2400" lang="en-US">
                <a:solidFill>
                  <a:srgbClr val="FFFFFF"/>
                </a:solidFill>
                <a:latin typeface="Calibri" pitchFamily="34" charset="0"/>
                <a:ea typeface="Calibri" pitchFamily="34" charset="-122"/>
                <a:cs typeface="Calibri" pitchFamily="34" charset="-120"/>
              </a:rPr>
              <a:t>Vertical Scaling (Scale Up)</a:t>
            </a:r>
            <a:endParaRPr dirty="0" sz="2400" lang="en-US"/>
          </a:p>
        </p:txBody>
      </p:sp>
      <p:sp>
        <p:nvSpPr>
          <p:cNvPr id="1048772" name="Shape 4"/>
          <p:cNvSpPr/>
          <p:nvPr/>
        </p:nvSpPr>
        <p:spPr>
          <a:xfrm>
            <a:off x="6263640" y="1325880"/>
            <a:ext cx="5349240" cy="594360"/>
          </a:xfrm>
          <a:prstGeom prst="roundRect">
            <a:avLst>
              <a:gd name="adj" fmla="val 12308"/>
            </a:avLst>
          </a:prstGeom>
          <a:solidFill>
            <a:srgbClr val="00A79A"/>
          </a:solidFill>
        </p:spPr>
      </p:sp>
      <p:sp>
        <p:nvSpPr>
          <p:cNvPr id="1048773" name="Text 5"/>
          <p:cNvSpPr/>
          <p:nvPr/>
        </p:nvSpPr>
        <p:spPr>
          <a:xfrm>
            <a:off x="6263640" y="1325880"/>
            <a:ext cx="5349240" cy="594360"/>
          </a:xfrm>
          <a:prstGeom prst="rect"/>
          <a:noFill/>
        </p:spPr>
        <p:txBody>
          <a:bodyPr anchor="ctr" bIns="0" lIns="0" rIns="0" rtlCol="0" tIns="0" wrap="square"/>
          <a:p>
            <a:pPr algn="ctr" indent="0" marL="0">
              <a:buNone/>
            </a:pPr>
            <a:r>
              <a:rPr b="1" dirty="0" sz="2400" lang="en-US">
                <a:solidFill>
                  <a:srgbClr val="FFFFFF"/>
                </a:solidFill>
                <a:latin typeface="Calibri" pitchFamily="34" charset="0"/>
                <a:ea typeface="Calibri" pitchFamily="34" charset="-122"/>
                <a:cs typeface="Calibri" pitchFamily="34" charset="-120"/>
              </a:rPr>
              <a:t>Horizontal Scaling (Scale Out)</a:t>
            </a:r>
            <a:endParaRPr dirty="0" sz="2400" lang="en-US"/>
          </a:p>
        </p:txBody>
      </p:sp>
      <p:sp>
        <p:nvSpPr>
          <p:cNvPr id="1048774" name="Shape 6"/>
          <p:cNvSpPr/>
          <p:nvPr/>
        </p:nvSpPr>
        <p:spPr>
          <a:xfrm>
            <a:off x="548640" y="2057400"/>
            <a:ext cx="5349240" cy="4297680"/>
          </a:xfrm>
          <a:prstGeom prst="roundRect">
            <a:avLst>
              <a:gd name="adj" fmla="val 1702"/>
            </a:avLst>
          </a:prstGeom>
          <a:solidFill>
            <a:srgbClr val="F4F6F8"/>
          </a:solidFill>
        </p:spPr>
      </p:sp>
      <p:sp>
        <p:nvSpPr>
          <p:cNvPr id="1048775" name="Shape 7"/>
          <p:cNvSpPr/>
          <p:nvPr/>
        </p:nvSpPr>
        <p:spPr>
          <a:xfrm>
            <a:off x="6263640" y="2057400"/>
            <a:ext cx="5349240" cy="4297680"/>
          </a:xfrm>
          <a:prstGeom prst="roundRect">
            <a:avLst>
              <a:gd name="adj" fmla="val 1702"/>
            </a:avLst>
          </a:prstGeom>
          <a:solidFill>
            <a:srgbClr val="F4F6F8"/>
          </a:solidFill>
        </p:spPr>
      </p:sp>
      <p:sp>
        <p:nvSpPr>
          <p:cNvPr id="1048776" name="Text 8"/>
          <p:cNvSpPr/>
          <p:nvPr/>
        </p:nvSpPr>
        <p:spPr>
          <a:xfrm>
            <a:off x="822960" y="2286000"/>
            <a:ext cx="4846320" cy="393192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Add more power to existing servers (CPU, RAM)</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Simpler: often no architectural change needed</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Has a hard ceiling — a single machine has limits</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Single point of failure risk remains</a:t>
            </a:r>
            <a:endParaRPr dirty="0" sz="2400" lang="en-US"/>
          </a:p>
        </p:txBody>
      </p:sp>
      <p:sp>
        <p:nvSpPr>
          <p:cNvPr id="1048777" name="Text 9"/>
          <p:cNvSpPr/>
          <p:nvPr/>
        </p:nvSpPr>
        <p:spPr>
          <a:xfrm>
            <a:off x="6537960" y="2286000"/>
            <a:ext cx="4846320" cy="393192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Add more servers, distributing load across them</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Requires load balancing and often a shared-queue design (recall M/M/c from Lecture 5)</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Near-limitless scaling potential</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Improves fault tolerance — no single machine is critical</a:t>
            </a:r>
            <a:endParaRPr dirty="0" sz="2400" lang="en-US"/>
          </a:p>
        </p:txBody>
      </p:sp>
      <p:sp>
        <p:nvSpPr>
          <p:cNvPr id="1048778" name="Text 1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79" name="Text 1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16</a:t>
            </a:r>
            <a:endParaRPr dirty="0" sz="90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83" name=""/>
        <p:cNvGrpSpPr/>
        <p:nvPr/>
      </p:nvGrpSpPr>
      <p:grpSpPr>
        <a:xfrm>
          <a:off x="0" y="0"/>
          <a:ext cx="0" cy="0"/>
          <a:chOff x="0" y="0"/>
          <a:chExt cx="0" cy="0"/>
        </a:xfrm>
      </p:grpSpPr>
      <p:sp>
        <p:nvSpPr>
          <p:cNvPr id="104878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Choosing Between Vertical and Horizontal Scaling</a:t>
            </a:r>
            <a:endParaRPr dirty="0" sz="2600" lang="en-US"/>
          </a:p>
        </p:txBody>
      </p:sp>
      <p:sp>
        <p:nvSpPr>
          <p:cNvPr id="1048784" name="Shape 1"/>
          <p:cNvSpPr/>
          <p:nvPr/>
        </p:nvSpPr>
        <p:spPr>
          <a:xfrm>
            <a:off x="566928" y="1005840"/>
            <a:ext cx="411480" cy="45720"/>
          </a:xfrm>
          <a:prstGeom prst="rect"/>
          <a:solidFill>
            <a:srgbClr val="00B8A9"/>
          </a:solidFill>
        </p:spPr>
      </p:sp>
      <p:sp>
        <p:nvSpPr>
          <p:cNvPr id="1048785"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Vertical scaling is often the fastest short-term fix, but eventually hits diminishing returns and hard physical limits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Horizontal scaling requires more upfront architectural investment (e.g., making the application stateless — recall Lecture 2's discussion of statelessness enabling horizontal scaling)</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Most mature, high-growth systems eventually must adopt horizontal scaling, since vertical scaling alone cannot sustain indefinite growth</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The M/M/c model from Lecture 5 is the direct analytical tool for reasoning about horizontal scaling decisions</a:t>
            </a:r>
            <a:endParaRPr dirty="0" sz="2400" lang="en-US"/>
          </a:p>
        </p:txBody>
      </p:sp>
      <p:sp>
        <p:nvSpPr>
          <p:cNvPr id="104878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8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17</a:t>
            </a:r>
            <a:endParaRPr dirty="0" sz="90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86" name=""/>
        <p:cNvGrpSpPr/>
        <p:nvPr/>
      </p:nvGrpSpPr>
      <p:grpSpPr>
        <a:xfrm>
          <a:off x="0" y="0"/>
          <a:ext cx="0" cy="0"/>
          <a:chOff x="0" y="0"/>
          <a:chExt cx="0" cy="0"/>
        </a:xfrm>
      </p:grpSpPr>
      <p:sp>
        <p:nvSpPr>
          <p:cNvPr id="104879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Scalability Analysis: Does Adding Capacity Actually Help?</a:t>
            </a:r>
            <a:endParaRPr dirty="0" sz="2600" lang="en-US"/>
          </a:p>
        </p:txBody>
      </p:sp>
      <p:sp>
        <p:nvSpPr>
          <p:cNvPr id="1048792" name="Shape 1"/>
          <p:cNvSpPr/>
          <p:nvPr/>
        </p:nvSpPr>
        <p:spPr>
          <a:xfrm>
            <a:off x="566928" y="1005840"/>
            <a:ext cx="411480" cy="45720"/>
          </a:xfrm>
          <a:prstGeom prst="rect"/>
          <a:solidFill>
            <a:srgbClr val="00B8A9"/>
          </a:solidFill>
        </p:spPr>
      </p:sp>
      <p:sp>
        <p:nvSpPr>
          <p:cNvPr id="104879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A naive assumption: doubling servers always roughly doubles capacity</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Reality is often more complex due to:</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Shared bottlenecks: if the database is the true bottleneck (recall Lecture 6), adding application servers does nothing</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Coordination overhead: more servers can mean more inter-server coordination cost (e.g., cache invalidation, distributed locks)</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This connects directly to Amdahl's Law and the concept of diminishing scalability returns, examined next</a:t>
            </a:r>
            <a:endParaRPr dirty="0" sz="2800" lang="en-US"/>
          </a:p>
        </p:txBody>
      </p:sp>
      <p:sp>
        <p:nvSpPr>
          <p:cNvPr id="104879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79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18</a:t>
            </a:r>
            <a:endParaRPr dirty="0" sz="90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942"/>
        </a:solidFill>
        <a:effectLst/>
      </p:bgPr>
    </p:bg>
    <p:spTree>
      <p:nvGrpSpPr>
        <p:cNvPr id="89" name=""/>
        <p:cNvGrpSpPr/>
        <p:nvPr/>
      </p:nvGrpSpPr>
      <p:grpSpPr>
        <a:xfrm>
          <a:off x="0" y="0"/>
          <a:ext cx="0" cy="0"/>
          <a:chOff x="0" y="0"/>
          <a:chExt cx="0" cy="0"/>
        </a:xfrm>
      </p:grpSpPr>
      <p:sp>
        <p:nvSpPr>
          <p:cNvPr id="1048799" name="Shape 0"/>
          <p:cNvSpPr/>
          <p:nvPr/>
        </p:nvSpPr>
        <p:spPr>
          <a:xfrm>
            <a:off x="0" y="0"/>
            <a:ext cx="228600" cy="6858000"/>
          </a:xfrm>
          <a:prstGeom prst="rect"/>
          <a:solidFill>
            <a:srgbClr val="00B8A9"/>
          </a:solidFill>
        </p:spPr>
      </p:sp>
      <p:sp>
        <p:nvSpPr>
          <p:cNvPr id="1048800"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801"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Amdahl's Law</a:t>
            </a:r>
            <a:endParaRPr dirty="0" sz="3000" lang="en-US"/>
          </a:p>
        </p:txBody>
      </p:sp>
      <p:sp>
        <p:nvSpPr>
          <p:cNvPr id="1048802"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 formula describing the maximum possible speedup from parallelizing a task: Speedup = 1 / ((1 - P) + P/N), where P is the fraction of the task that can be parallelized, and N is the number of parallel resources.”</a:t>
            </a:r>
            <a:endParaRPr dirty="0" sz="2400" lang="en-US"/>
          </a:p>
        </p:txBody>
      </p:sp>
      <p:sp>
        <p:nvSpPr>
          <p:cNvPr id="1048803"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Originally formulated for parallel computing, it applies directly to horizontal scaling: the 'serial fraction' (1-P) represents work that cannot be distributed — e.g., a single shared database write path</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As N grows very large, speedup approaches a hard ceiling of 1/(1-P), no matter how many additional servers are added</a:t>
            </a:r>
            <a:endParaRPr dirty="0" sz="2400" lang="en-US"/>
          </a:p>
        </p:txBody>
      </p:sp>
      <p:sp>
        <p:nvSpPr>
          <p:cNvPr id="1048804"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05"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19</a:t>
            </a:r>
            <a:endParaRPr dirty="0" sz="900"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92" name=""/>
        <p:cNvGrpSpPr/>
        <p:nvPr/>
      </p:nvGrpSpPr>
      <p:grpSpPr>
        <a:xfrm>
          <a:off x="0" y="0"/>
          <a:ext cx="0" cy="0"/>
          <a:chOff x="0" y="0"/>
          <a:chExt cx="0" cy="0"/>
        </a:xfrm>
      </p:grpSpPr>
      <p:sp>
        <p:nvSpPr>
          <p:cNvPr id="104880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Worked Example: Amdahl's Law Ceiling</a:t>
            </a:r>
            <a:endParaRPr dirty="0" sz="2600" lang="en-US"/>
          </a:p>
        </p:txBody>
      </p:sp>
      <p:sp>
        <p:nvSpPr>
          <p:cNvPr id="1048810" name="Shape 1"/>
          <p:cNvSpPr/>
          <p:nvPr/>
        </p:nvSpPr>
        <p:spPr>
          <a:xfrm>
            <a:off x="566928" y="1005840"/>
            <a:ext cx="411480" cy="45720"/>
          </a:xfrm>
          <a:prstGeom prst="rect"/>
          <a:solidFill>
            <a:srgbClr val="00B8A9"/>
          </a:solidFill>
        </p:spPr>
      </p:sp>
      <p:graphicFrame>
        <p:nvGraphicFramePr>
          <p:cNvPr id="4194305" name="Table 0"/>
          <p:cNvGraphicFramePr>
            <a:graphicFrameLocks noGrp="1"/>
          </p:cNvGraphicFramePr>
          <p:nvPr/>
        </p:nvGraphicFramePr>
        <p:xfrm>
          <a:off x="548640" y="1325880"/>
          <a:ext cx="11064240" cy="4846320"/>
        </p:xfrm>
        <a:graphic>
          <a:graphicData uri="http://schemas.openxmlformats.org/drawingml/2006/table">
            <a:tbl>
              <a:tblPr/>
              <a:tblGrid>
                <a:gridCol w="5532120"/>
                <a:gridCol w="5532120"/>
              </a:tblGrid>
              <a:tr h="969264">
                <a:tc>
                  <a:txBody>
                    <a:bodyPr/>
                    <a:p>
                      <a:pPr indent="0" marL="0">
                        <a:buNone/>
                      </a:pPr>
                      <a:r>
                        <a:rPr b="1" dirty="0" sz="2400" lang="en-US">
                          <a:solidFill>
                            <a:srgbClr val="FFFFFF"/>
                          </a:solidFill>
                          <a:latin typeface="Calibri" pitchFamily="34" charset="0"/>
                          <a:ea typeface="Calibri" pitchFamily="34" charset="-122"/>
                          <a:cs typeface="Calibri" pitchFamily="34" charset="-120"/>
                        </a:rPr>
                        <a:t>Parallelizable Fraction (P)</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Max Speedup as N Grows Large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969264">
                <a:tc>
                  <a:txBody>
                    <a:bodyPr/>
                    <a:p>
                      <a:pPr indent="0" marL="0">
                        <a:buNone/>
                      </a:pPr>
                      <a:r>
                        <a:rPr dirty="0" sz="2400" lang="en-US">
                          <a:solidFill>
                            <a:srgbClr val="1A1A2E"/>
                          </a:solidFill>
                          <a:latin typeface="Calibri" pitchFamily="34" charset="0"/>
                          <a:ea typeface="Calibri" pitchFamily="34" charset="-122"/>
                          <a:cs typeface="Calibri" pitchFamily="34" charset="-120"/>
                        </a:rPr>
                        <a:t>50%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2.0x</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969264">
                <a:tc>
                  <a:txBody>
                    <a:bodyPr/>
                    <a:p>
                      <a:pPr indent="0" marL="0">
                        <a:buNone/>
                      </a:pPr>
                      <a:r>
                        <a:rPr dirty="0" sz="2400" lang="en-US">
                          <a:solidFill>
                            <a:srgbClr val="1A1A2E"/>
                          </a:solidFill>
                          <a:latin typeface="Calibri" pitchFamily="34" charset="0"/>
                          <a:ea typeface="Calibri" pitchFamily="34" charset="-122"/>
                          <a:cs typeface="Calibri" pitchFamily="34" charset="-120"/>
                        </a:rPr>
                        <a:t>90%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10.0x</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969264">
                <a:tc>
                  <a:txBody>
                    <a:bodyPr/>
                    <a:p>
                      <a:pPr indent="0" marL="0">
                        <a:buNone/>
                      </a:pPr>
                      <a:r>
                        <a:rPr dirty="0" sz="2400" lang="en-US">
                          <a:solidFill>
                            <a:srgbClr val="1A1A2E"/>
                          </a:solidFill>
                          <a:latin typeface="Calibri" pitchFamily="34" charset="0"/>
                          <a:ea typeface="Calibri" pitchFamily="34" charset="-122"/>
                          <a:cs typeface="Calibri" pitchFamily="34" charset="-120"/>
                        </a:rPr>
                        <a:t>95%</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20.0x</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969264">
                <a:tc>
                  <a:txBody>
                    <a:bodyPr/>
                    <a:p>
                      <a:pPr indent="0" marL="0">
                        <a:buNone/>
                      </a:pPr>
                      <a:r>
                        <a:rPr dirty="0" sz="2400" lang="en-US">
                          <a:solidFill>
                            <a:srgbClr val="1A1A2E"/>
                          </a:solidFill>
                          <a:latin typeface="Calibri" pitchFamily="34" charset="0"/>
                          <a:ea typeface="Calibri" pitchFamily="34" charset="-122"/>
                          <a:cs typeface="Calibri" pitchFamily="34" charset="-120"/>
                        </a:rPr>
                        <a:t>99%</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100.0x</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bl>
          </a:graphicData>
        </a:graphic>
      </p:graphicFrame>
      <p:sp>
        <p:nvSpPr>
          <p:cNvPr id="1048811"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12"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20</a:t>
            </a:r>
            <a:endParaRPr dirty="0" sz="90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95" name=""/>
        <p:cNvGrpSpPr/>
        <p:nvPr/>
      </p:nvGrpSpPr>
      <p:grpSpPr>
        <a:xfrm>
          <a:off x="0" y="0"/>
          <a:ext cx="0" cy="0"/>
          <a:chOff x="0" y="0"/>
          <a:chExt cx="0" cy="0"/>
        </a:xfrm>
      </p:grpSpPr>
      <p:sp>
        <p:nvSpPr>
          <p:cNvPr id="104881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Sobering Lesson of Amdahl's Law</a:t>
            </a:r>
            <a:endParaRPr dirty="0" sz="2600" lang="en-US"/>
          </a:p>
        </p:txBody>
      </p:sp>
      <p:sp>
        <p:nvSpPr>
          <p:cNvPr id="1048817" name="Shape 1"/>
          <p:cNvSpPr/>
          <p:nvPr/>
        </p:nvSpPr>
        <p:spPr>
          <a:xfrm>
            <a:off x="566928" y="1005840"/>
            <a:ext cx="411480" cy="45720"/>
          </a:xfrm>
          <a:prstGeom prst="rect"/>
          <a:solidFill>
            <a:srgbClr val="00B8A9"/>
          </a:solidFill>
        </p:spPr>
      </p:sp>
      <p:sp>
        <p:nvSpPr>
          <p:cNvPr id="104881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Even with only 5% of work being inherently serial (non-parallelizable), maximum speedup is capped at 20x — no matter how many thousands of servers you add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why identifying and eliminating serial bottlenecks (e.g., a single shared write-lock, a single coordinating service) is often more valuable than simply adding more horizontal capacity</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Capacity planning must account for this ceiling explicitly — infinite horizontal scaling is a myth if any meaningful serial fraction remains</a:t>
            </a:r>
            <a:endParaRPr dirty="0" sz="2400" lang="en-US"/>
          </a:p>
        </p:txBody>
      </p:sp>
      <p:sp>
        <p:nvSpPr>
          <p:cNvPr id="104881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2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21</a:t>
            </a:r>
            <a:endParaRPr dirty="0" sz="90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98" name=""/>
        <p:cNvGrpSpPr/>
        <p:nvPr/>
      </p:nvGrpSpPr>
      <p:grpSpPr>
        <a:xfrm>
          <a:off x="0" y="0"/>
          <a:ext cx="0" cy="0"/>
          <a:chOff x="0" y="0"/>
          <a:chExt cx="0" cy="0"/>
        </a:xfrm>
      </p:grpSpPr>
      <p:sp>
        <p:nvSpPr>
          <p:cNvPr id="104882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Cost-Aware Capacity Planning</a:t>
            </a:r>
            <a:endParaRPr dirty="0" sz="2600" lang="en-US"/>
          </a:p>
        </p:txBody>
      </p:sp>
      <p:sp>
        <p:nvSpPr>
          <p:cNvPr id="1048825" name="Shape 1"/>
          <p:cNvSpPr/>
          <p:nvPr/>
        </p:nvSpPr>
        <p:spPr>
          <a:xfrm>
            <a:off x="566928" y="1005840"/>
            <a:ext cx="411480" cy="45720"/>
          </a:xfrm>
          <a:prstGeom prst="rect"/>
          <a:solidFill>
            <a:srgbClr val="00B8A9"/>
          </a:solidFill>
        </p:spPr>
      </p:sp>
      <p:sp>
        <p:nvSpPr>
          <p:cNvPr id="1048826"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Capacity planning is ultimately a business decision balancing performance risk against infrastructure cost</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Cloud environments make this especially concrete: cost scales roughly linearly with provisioned capacity (e.g., number of instances)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 capacity plan should explicitly state: 'X additional servers, costing $Y per month, reduces P99 response time from A to B and supports growth until date Z'</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kind of concrete, quantified trade-off is what makes performance modeling actionable to business stakeholders, not just engineers</a:t>
            </a:r>
            <a:endParaRPr dirty="0" sz="2400" lang="en-US"/>
          </a:p>
        </p:txBody>
      </p:sp>
      <p:sp>
        <p:nvSpPr>
          <p:cNvPr id="1048827"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28"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22</a:t>
            </a:r>
            <a:endParaRPr dirty="0" sz="90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01" name=""/>
        <p:cNvGrpSpPr/>
        <p:nvPr/>
      </p:nvGrpSpPr>
      <p:grpSpPr>
        <a:xfrm>
          <a:off x="0" y="0"/>
          <a:ext cx="0" cy="0"/>
          <a:chOff x="0" y="0"/>
          <a:chExt cx="0" cy="0"/>
        </a:xfrm>
      </p:grpSpPr>
      <p:sp>
        <p:nvSpPr>
          <p:cNvPr id="104883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Auto-Scaling: Dynamic Capacity in the Cloud</a:t>
            </a:r>
            <a:endParaRPr dirty="0" sz="2600" lang="en-US"/>
          </a:p>
        </p:txBody>
      </p:sp>
      <p:sp>
        <p:nvSpPr>
          <p:cNvPr id="1048833" name="Shape 1"/>
          <p:cNvSpPr/>
          <p:nvPr/>
        </p:nvSpPr>
        <p:spPr>
          <a:xfrm>
            <a:off x="566928" y="1005840"/>
            <a:ext cx="411480" cy="45720"/>
          </a:xfrm>
          <a:prstGeom prst="rect"/>
          <a:solidFill>
            <a:srgbClr val="00B8A9"/>
          </a:solidFill>
        </p:spPr>
      </p:sp>
      <p:sp>
        <p:nvSpPr>
          <p:cNvPr id="1048834"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Rather than provisioning fixed capacity for peak load year-round, cloud auto-scaling dynamically adds/removes servers based on real-time demand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reduces cost during low-traffic periods while still providing headroom during peaks — effectively automating part of the capacity planning process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Auto-scaling still requires the same underlying models from this course to set sensible scaling thresholds and targets — e.g., 'scale out when average utilization exceeds 70%', directly derived from Lecture 5's stability and response-time analysis</a:t>
            </a:r>
            <a:endParaRPr dirty="0" sz="2400" lang="en-US"/>
          </a:p>
        </p:txBody>
      </p:sp>
      <p:sp>
        <p:nvSpPr>
          <p:cNvPr id="1048835"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36"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23</a:t>
            </a:r>
            <a:endParaRPr dirty="0" sz="900"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04" name=""/>
        <p:cNvGrpSpPr/>
        <p:nvPr/>
      </p:nvGrpSpPr>
      <p:grpSpPr>
        <a:xfrm>
          <a:off x="0" y="0"/>
          <a:ext cx="0" cy="0"/>
          <a:chOff x="0" y="0"/>
          <a:chExt cx="0" cy="0"/>
        </a:xfrm>
      </p:grpSpPr>
      <p:sp>
        <p:nvSpPr>
          <p:cNvPr id="104884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Answering 'What-If' Questions: The Core Value of Capacity Planning</a:t>
            </a:r>
            <a:endParaRPr dirty="0" sz="2600" lang="en-US"/>
          </a:p>
        </p:txBody>
      </p:sp>
      <p:sp>
        <p:nvSpPr>
          <p:cNvPr id="1048841" name="Shape 1"/>
          <p:cNvSpPr/>
          <p:nvPr/>
        </p:nvSpPr>
        <p:spPr>
          <a:xfrm>
            <a:off x="566928" y="1005840"/>
            <a:ext cx="411480" cy="45720"/>
          </a:xfrm>
          <a:prstGeom prst="rect"/>
          <a:solidFill>
            <a:srgbClr val="00B8A9"/>
          </a:solidFill>
        </p:spPr>
      </p:sp>
      <p:sp>
        <p:nvSpPr>
          <p:cNvPr id="1048842"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"What if traffic triples during our upcoming product launch?"</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Feed the tripled arrival rate into the validated queueing/simulation model and read off predicted response time and required capacity</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"What if we migrate from 4 large servers to 12 smaller servers?"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Use M/M/c formulas (Lecture 5) to compare predicted response time and utilization under both configurations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"What if we add a caching layer that eliminates 40% of database visits?"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Use the Forced Flow and Utilization Laws (Lecture 6) to recompute the new bottleneck and throughput ceiling</a:t>
            </a:r>
            <a:endParaRPr dirty="0" sz="2800" lang="en-US"/>
          </a:p>
        </p:txBody>
      </p:sp>
      <p:sp>
        <p:nvSpPr>
          <p:cNvPr id="1048843"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44"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24</a:t>
            </a:r>
            <a:endParaRPr dirty="0" sz="900"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07" name=""/>
        <p:cNvGrpSpPr/>
        <p:nvPr/>
      </p:nvGrpSpPr>
      <p:grpSpPr>
        <a:xfrm>
          <a:off x="0" y="0"/>
          <a:ext cx="0" cy="0"/>
          <a:chOff x="0" y="0"/>
          <a:chExt cx="0" cy="0"/>
        </a:xfrm>
      </p:grpSpPr>
      <p:sp>
        <p:nvSpPr>
          <p:cNvPr id="104884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Case Study: Planning for a Product Launch</a:t>
            </a:r>
            <a:endParaRPr dirty="0" sz="2600" lang="en-US"/>
          </a:p>
        </p:txBody>
      </p:sp>
      <p:sp>
        <p:nvSpPr>
          <p:cNvPr id="1048849" name="Shape 1"/>
          <p:cNvSpPr/>
          <p:nvPr/>
        </p:nvSpPr>
        <p:spPr>
          <a:xfrm>
            <a:off x="566928" y="1005840"/>
            <a:ext cx="411480" cy="45720"/>
          </a:xfrm>
          <a:prstGeom prst="rect"/>
          <a:solidFill>
            <a:srgbClr val="00B8A9"/>
          </a:solidFill>
        </p:spPr>
      </p:sp>
      <p:sp>
        <p:nvSpPr>
          <p:cNvPr id="1048850"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company plans a major product launch expected to drive 5x current traffic within the first week</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Using workload characterization (Lecture 2), queueing models (Lecture 5), and operational analysis (Lecture 6), the team identifies the database as the bottleneck at 5x load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The capacity plan recommends: add 2 read-replica databases, provision auto-scaling for the application tier up to 20 instances, and maintain 30% headroom above the 5x forecast</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concrete, quantified recommendation — grounded in the models from this entire course — is what separates rigorous capacity planning from guesswork</a:t>
            </a:r>
            <a:endParaRPr dirty="0" sz="2400" lang="en-US"/>
          </a:p>
        </p:txBody>
      </p:sp>
      <p:sp>
        <p:nvSpPr>
          <p:cNvPr id="1048851"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52"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25</a:t>
            </a:r>
            <a:endParaRPr dirty="0" sz="90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10" name=""/>
        <p:cNvGrpSpPr/>
        <p:nvPr/>
      </p:nvGrpSpPr>
      <p:grpSpPr>
        <a:xfrm>
          <a:off x="0" y="0"/>
          <a:ext cx="0" cy="0"/>
          <a:chOff x="0" y="0"/>
          <a:chExt cx="0" cy="0"/>
        </a:xfrm>
      </p:grpSpPr>
      <p:sp>
        <p:nvSpPr>
          <p:cNvPr id="104885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Common Capacity Planning Mistakes</a:t>
            </a:r>
            <a:endParaRPr dirty="0" sz="2600" lang="en-US"/>
          </a:p>
        </p:txBody>
      </p:sp>
      <p:sp>
        <p:nvSpPr>
          <p:cNvPr id="1048857" name="Shape 1"/>
          <p:cNvSpPr/>
          <p:nvPr/>
        </p:nvSpPr>
        <p:spPr>
          <a:xfrm>
            <a:off x="566928" y="1005840"/>
            <a:ext cx="411480" cy="45720"/>
          </a:xfrm>
          <a:prstGeom prst="rect"/>
          <a:solidFill>
            <a:srgbClr val="00B8A9"/>
          </a:solidFill>
        </p:spPr>
      </p:sp>
      <p:sp>
        <p:nvSpPr>
          <p:cNvPr id="104885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Planning for average load instead of forecasted peak load (recall the warning from Lecture 2)</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Assuming capacity scales linearly without checking for Amdahl's Law-style serial bottlenecks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Ignoring the true bottleneck (Lecture 6) and adding capacity to the wrong tier</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Building zero headroom, leaving no margin for forecast error or unexpected spikes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Never revisiting the forecast — treating a capacity plan as a one-time exercise rather than an ongoing process</a:t>
            </a:r>
            <a:endParaRPr dirty="0" sz="2400" lang="en-US"/>
          </a:p>
        </p:txBody>
      </p:sp>
      <p:sp>
        <p:nvSpPr>
          <p:cNvPr id="104885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6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26</a:t>
            </a:r>
            <a:endParaRPr dirty="0" sz="900"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13" name=""/>
        <p:cNvGrpSpPr/>
        <p:nvPr/>
      </p:nvGrpSpPr>
      <p:grpSpPr>
        <a:xfrm>
          <a:off x="0" y="0"/>
          <a:ext cx="0" cy="0"/>
          <a:chOff x="0" y="0"/>
          <a:chExt cx="0" cy="0"/>
        </a:xfrm>
      </p:grpSpPr>
      <p:sp>
        <p:nvSpPr>
          <p:cNvPr id="104886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Capacity Planning as an Ongoing Process</a:t>
            </a:r>
            <a:endParaRPr dirty="0" sz="2600" lang="en-US"/>
          </a:p>
        </p:txBody>
      </p:sp>
      <p:sp>
        <p:nvSpPr>
          <p:cNvPr id="1048865" name="Shape 1"/>
          <p:cNvSpPr/>
          <p:nvPr/>
        </p:nvSpPr>
        <p:spPr>
          <a:xfrm>
            <a:off x="566928" y="1005840"/>
            <a:ext cx="411480" cy="45720"/>
          </a:xfrm>
          <a:prstGeom prst="rect"/>
          <a:solidFill>
            <a:srgbClr val="00B8A9"/>
          </a:solidFill>
        </p:spPr>
      </p:sp>
      <p:sp>
        <p:nvSpPr>
          <p:cNvPr id="1048866"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Real systems change continuously — new features, changing user behavior, infrastructure changes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Capacity plans should be revisited on a regular cadence (e.g., quarterly), comparing actual growth against forecast</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closes the loop back to the performance engineering lifecycle from Lecture 1: characterize, model, validate, predict, and — critically — monitor and refine, continuously</a:t>
            </a:r>
            <a:endParaRPr dirty="0" sz="2400" lang="en-US"/>
          </a:p>
        </p:txBody>
      </p:sp>
      <p:sp>
        <p:nvSpPr>
          <p:cNvPr id="1048867"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68"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27</a:t>
            </a:r>
            <a:endParaRPr dirty="0" sz="90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16" name=""/>
        <p:cNvGrpSpPr/>
        <p:nvPr/>
      </p:nvGrpSpPr>
      <p:grpSpPr>
        <a:xfrm>
          <a:off x="0" y="0"/>
          <a:ext cx="0" cy="0"/>
          <a:chOff x="0" y="0"/>
          <a:chExt cx="0" cy="0"/>
        </a:xfrm>
      </p:grpSpPr>
      <p:sp>
        <p:nvSpPr>
          <p:cNvPr id="1048872" name="Text 0"/>
          <p:cNvSpPr/>
          <p:nvPr/>
        </p:nvSpPr>
        <p:spPr>
          <a:xfrm>
            <a:off x="548640" y="457200"/>
            <a:ext cx="7315200" cy="640080"/>
          </a:xfrm>
          <a:prstGeom prst="rect"/>
          <a:noFill/>
        </p:spPr>
        <p:txBody>
          <a:bodyPr anchor="ctr" bIns="0" lIns="0" rIns="0" rtlCol="0" tIns="0" wrap="square"/>
          <a:p>
            <a:pPr indent="0" marL="0">
              <a:buNone/>
            </a:pPr>
            <a:r>
              <a:rPr b="1" dirty="0" sz="2800" lang="en-US">
                <a:solidFill>
                  <a:srgbClr val="0F2942"/>
                </a:solidFill>
                <a:latin typeface="Calibri" pitchFamily="34" charset="0"/>
                <a:ea typeface="Calibri" pitchFamily="34" charset="-122"/>
                <a:cs typeface="Calibri" pitchFamily="34" charset="-120"/>
              </a:rPr>
              <a:t>Key Takeaways</a:t>
            </a:r>
            <a:endParaRPr dirty="0" sz="2800" lang="en-US"/>
          </a:p>
        </p:txBody>
      </p:sp>
      <p:sp>
        <p:nvSpPr>
          <p:cNvPr id="1048873" name="Shape 1"/>
          <p:cNvSpPr/>
          <p:nvPr/>
        </p:nvSpPr>
        <p:spPr>
          <a:xfrm>
            <a:off x="566928" y="1143000"/>
            <a:ext cx="457200" cy="54864"/>
          </a:xfrm>
          <a:prstGeom prst="rect"/>
          <a:solidFill>
            <a:srgbClr val="00B8A9"/>
          </a:solidFill>
        </p:spPr>
      </p:sp>
      <p:sp>
        <p:nvSpPr>
          <p:cNvPr id="1048874" name="Shape 2"/>
          <p:cNvSpPr/>
          <p:nvPr/>
        </p:nvSpPr>
        <p:spPr>
          <a:xfrm>
            <a:off x="548640" y="1508760"/>
            <a:ext cx="11064240" cy="777240"/>
          </a:xfrm>
          <a:prstGeom prst="roundRect">
            <a:avLst>
              <a:gd name="adj" fmla="val 9412"/>
            </a:avLst>
          </a:prstGeom>
          <a:solidFill>
            <a:srgbClr val="FFFFFF"/>
          </a:solidFill>
        </p:spPr>
      </p:sp>
      <p:sp>
        <p:nvSpPr>
          <p:cNvPr id="1048875" name="Shape 3"/>
          <p:cNvSpPr/>
          <p:nvPr/>
        </p:nvSpPr>
        <p:spPr>
          <a:xfrm>
            <a:off x="777240" y="1673352"/>
            <a:ext cx="457200" cy="457200"/>
          </a:xfrm>
          <a:prstGeom prst="ellipse"/>
          <a:solidFill>
            <a:srgbClr val="00B8A9"/>
          </a:solidFill>
        </p:spPr>
      </p:sp>
      <p:sp>
        <p:nvSpPr>
          <p:cNvPr id="1048876" name="Text 4"/>
          <p:cNvSpPr/>
          <p:nvPr/>
        </p:nvSpPr>
        <p:spPr>
          <a:xfrm>
            <a:off x="777240" y="16733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877" name="Text 5"/>
          <p:cNvSpPr/>
          <p:nvPr/>
        </p:nvSpPr>
        <p:spPr>
          <a:xfrm>
            <a:off x="1417320" y="15087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Capacity planning applies workload forecasting, queueing models, and simulation together to answer concrete business capacity questions</a:t>
            </a:r>
            <a:endParaRPr dirty="0" sz="2000" lang="en-US"/>
          </a:p>
        </p:txBody>
      </p:sp>
      <p:sp>
        <p:nvSpPr>
          <p:cNvPr id="1048878" name="Shape 6"/>
          <p:cNvSpPr/>
          <p:nvPr/>
        </p:nvSpPr>
        <p:spPr>
          <a:xfrm>
            <a:off x="548640" y="2423160"/>
            <a:ext cx="11064240" cy="777240"/>
          </a:xfrm>
          <a:prstGeom prst="roundRect">
            <a:avLst>
              <a:gd name="adj" fmla="val 9412"/>
            </a:avLst>
          </a:prstGeom>
          <a:solidFill>
            <a:srgbClr val="FFFFFF"/>
          </a:solidFill>
        </p:spPr>
      </p:sp>
      <p:sp>
        <p:nvSpPr>
          <p:cNvPr id="1048879" name="Shape 7"/>
          <p:cNvSpPr/>
          <p:nvPr/>
        </p:nvSpPr>
        <p:spPr>
          <a:xfrm>
            <a:off x="777240" y="2587752"/>
            <a:ext cx="457200" cy="457200"/>
          </a:xfrm>
          <a:prstGeom prst="ellipse"/>
          <a:solidFill>
            <a:srgbClr val="00B8A9"/>
          </a:solidFill>
        </p:spPr>
      </p:sp>
      <p:sp>
        <p:nvSpPr>
          <p:cNvPr id="1048880" name="Text 8"/>
          <p:cNvSpPr/>
          <p:nvPr/>
        </p:nvSpPr>
        <p:spPr>
          <a:xfrm>
            <a:off x="777240" y="25877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881" name="Text 9"/>
          <p:cNvSpPr/>
          <p:nvPr/>
        </p:nvSpPr>
        <p:spPr>
          <a:xfrm>
            <a:off x="1417320" y="24231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Capacity plans must be built from forecasted peak load, not average load, and should always include an explicit safety margin (headroom)</a:t>
            </a:r>
            <a:endParaRPr dirty="0" sz="2000" lang="en-US"/>
          </a:p>
        </p:txBody>
      </p:sp>
      <p:sp>
        <p:nvSpPr>
          <p:cNvPr id="1048882" name="Shape 10"/>
          <p:cNvSpPr/>
          <p:nvPr/>
        </p:nvSpPr>
        <p:spPr>
          <a:xfrm>
            <a:off x="548640" y="3337560"/>
            <a:ext cx="11064240" cy="777240"/>
          </a:xfrm>
          <a:prstGeom prst="roundRect">
            <a:avLst>
              <a:gd name="adj" fmla="val 9412"/>
            </a:avLst>
          </a:prstGeom>
          <a:solidFill>
            <a:srgbClr val="FFFFFF"/>
          </a:solidFill>
        </p:spPr>
      </p:sp>
      <p:sp>
        <p:nvSpPr>
          <p:cNvPr id="1048883" name="Shape 11"/>
          <p:cNvSpPr/>
          <p:nvPr/>
        </p:nvSpPr>
        <p:spPr>
          <a:xfrm>
            <a:off x="777240" y="3502152"/>
            <a:ext cx="457200" cy="457200"/>
          </a:xfrm>
          <a:prstGeom prst="ellipse"/>
          <a:solidFill>
            <a:srgbClr val="00B8A9"/>
          </a:solidFill>
        </p:spPr>
      </p:sp>
      <p:sp>
        <p:nvSpPr>
          <p:cNvPr id="1048884" name="Text 12"/>
          <p:cNvSpPr/>
          <p:nvPr/>
        </p:nvSpPr>
        <p:spPr>
          <a:xfrm>
            <a:off x="777240" y="35021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885" name="Text 13"/>
          <p:cNvSpPr/>
          <p:nvPr/>
        </p:nvSpPr>
        <p:spPr>
          <a:xfrm>
            <a:off x="1417320" y="33375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Vertical scaling has hard physical limits; horizontal scaling requires architectural investment but offers far greater long-term potential</a:t>
            </a:r>
            <a:endParaRPr dirty="0" sz="2000" lang="en-US"/>
          </a:p>
        </p:txBody>
      </p:sp>
      <p:sp>
        <p:nvSpPr>
          <p:cNvPr id="1048886" name="Shape 14"/>
          <p:cNvSpPr/>
          <p:nvPr/>
        </p:nvSpPr>
        <p:spPr>
          <a:xfrm>
            <a:off x="548640" y="4251960"/>
            <a:ext cx="11064240" cy="777240"/>
          </a:xfrm>
          <a:prstGeom prst="roundRect">
            <a:avLst>
              <a:gd name="adj" fmla="val 9412"/>
            </a:avLst>
          </a:prstGeom>
          <a:solidFill>
            <a:srgbClr val="FFFFFF"/>
          </a:solidFill>
        </p:spPr>
      </p:sp>
      <p:sp>
        <p:nvSpPr>
          <p:cNvPr id="1048887" name="Shape 15"/>
          <p:cNvSpPr/>
          <p:nvPr/>
        </p:nvSpPr>
        <p:spPr>
          <a:xfrm>
            <a:off x="777240" y="4416552"/>
            <a:ext cx="457200" cy="457200"/>
          </a:xfrm>
          <a:prstGeom prst="ellipse"/>
          <a:solidFill>
            <a:srgbClr val="00B8A9"/>
          </a:solidFill>
        </p:spPr>
      </p:sp>
      <p:sp>
        <p:nvSpPr>
          <p:cNvPr id="1048888" name="Text 16"/>
          <p:cNvSpPr/>
          <p:nvPr/>
        </p:nvSpPr>
        <p:spPr>
          <a:xfrm>
            <a:off x="777240" y="44165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889" name="Text 17"/>
          <p:cNvSpPr/>
          <p:nvPr/>
        </p:nvSpPr>
        <p:spPr>
          <a:xfrm>
            <a:off x="1417320" y="42519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Amdahl's Law shows that even a small serial (non-parallelizable) fraction of work caps the maximum benefit of adding more capacity</a:t>
            </a:r>
            <a:endParaRPr dirty="0" sz="2000" lang="en-US"/>
          </a:p>
        </p:txBody>
      </p:sp>
      <p:sp>
        <p:nvSpPr>
          <p:cNvPr id="1048890" name="Shape 18"/>
          <p:cNvSpPr/>
          <p:nvPr/>
        </p:nvSpPr>
        <p:spPr>
          <a:xfrm>
            <a:off x="548640" y="5166360"/>
            <a:ext cx="11064240" cy="777240"/>
          </a:xfrm>
          <a:prstGeom prst="roundRect">
            <a:avLst>
              <a:gd name="adj" fmla="val 9412"/>
            </a:avLst>
          </a:prstGeom>
          <a:solidFill>
            <a:srgbClr val="FFFFFF"/>
          </a:solidFill>
        </p:spPr>
      </p:sp>
      <p:sp>
        <p:nvSpPr>
          <p:cNvPr id="1048891" name="Shape 19"/>
          <p:cNvSpPr/>
          <p:nvPr/>
        </p:nvSpPr>
        <p:spPr>
          <a:xfrm>
            <a:off x="777240" y="5330952"/>
            <a:ext cx="457200" cy="457200"/>
          </a:xfrm>
          <a:prstGeom prst="ellipse"/>
          <a:solidFill>
            <a:srgbClr val="00B8A9"/>
          </a:solidFill>
        </p:spPr>
      </p:sp>
      <p:sp>
        <p:nvSpPr>
          <p:cNvPr id="1048892" name="Text 20"/>
          <p:cNvSpPr/>
          <p:nvPr/>
        </p:nvSpPr>
        <p:spPr>
          <a:xfrm>
            <a:off x="777240" y="53309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893" name="Text 21"/>
          <p:cNvSpPr/>
          <p:nvPr/>
        </p:nvSpPr>
        <p:spPr>
          <a:xfrm>
            <a:off x="1417320" y="51663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Effective capacity planning translates technical models into concrete, cost-aware business recommendations, and is an ongoing process, not a one-time exercise</a:t>
            </a:r>
            <a:endParaRPr dirty="0" sz="2000" lang="en-US"/>
          </a:p>
        </p:txBody>
      </p:sp>
      <p:sp>
        <p:nvSpPr>
          <p:cNvPr id="1048894" name="Text 2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895" name="Text 2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28</a:t>
            </a:r>
            <a:endParaRPr dirty="0" sz="900"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19" name=""/>
        <p:cNvGrpSpPr/>
        <p:nvPr/>
      </p:nvGrpSpPr>
      <p:grpSpPr>
        <a:xfrm>
          <a:off x="0" y="0"/>
          <a:ext cx="0" cy="0"/>
          <a:chOff x="0" y="0"/>
          <a:chExt cx="0" cy="0"/>
        </a:xfrm>
      </p:grpSpPr>
      <p:sp>
        <p:nvSpPr>
          <p:cNvPr id="1048899" name="Text 0"/>
          <p:cNvSpPr/>
          <p:nvPr/>
        </p:nvSpPr>
        <p:spPr>
          <a:xfrm>
            <a:off x="822960" y="822960"/>
            <a:ext cx="7315200" cy="365760"/>
          </a:xfrm>
          <a:prstGeom prst="rect"/>
          <a:noFill/>
        </p:spPr>
        <p:txBody>
          <a:bodyPr anchor="ctr" bIns="0" lIns="0" rIns="0" rtlCol="0" tIns="0" wrap="square"/>
          <a:p>
            <a:pPr indent="0" marL="0">
              <a:buNone/>
            </a:pPr>
            <a:r>
              <a:rPr b="1" dirty="0" sz="1400" lang="en-US">
                <a:solidFill>
                  <a:srgbClr val="FF6B35"/>
                </a:solidFill>
                <a:latin typeface="Calibri" pitchFamily="34" charset="0"/>
                <a:ea typeface="Calibri" pitchFamily="34" charset="-122"/>
                <a:cs typeface="Calibri" pitchFamily="34" charset="-120"/>
              </a:rPr>
              <a:t>DISCUSSION / REVIEW QUESTION</a:t>
            </a:r>
            <a:endParaRPr dirty="0" sz="1400" lang="en-US"/>
          </a:p>
        </p:txBody>
      </p:sp>
      <p:sp>
        <p:nvSpPr>
          <p:cNvPr id="1048900" name="Text 1"/>
          <p:cNvSpPr/>
          <p:nvPr/>
        </p:nvSpPr>
        <p:spPr>
          <a:xfrm>
            <a:off x="822960" y="1371600"/>
            <a:ext cx="10241280" cy="2011680"/>
          </a:xfrm>
          <a:prstGeom prst="rect"/>
          <a:noFill/>
        </p:spPr>
        <p:txBody>
          <a:bodyPr anchor="t" bIns="0" lIns="0" rIns="0" rtlCol="0" tIns="0" wrap="square"/>
          <a:p>
            <a:pPr indent="0" marL="0">
              <a:lnSpc>
                <a:spcPct val="125000"/>
              </a:lnSpc>
              <a:buNone/>
            </a:pPr>
            <a:r>
              <a:rPr b="1" dirty="0" sz="2400" lang="en-US">
                <a:solidFill>
                  <a:srgbClr val="FFFFFF"/>
                </a:solidFill>
                <a:latin typeface="Calibri" pitchFamily="34" charset="0"/>
                <a:ea typeface="Calibri" pitchFamily="34" charset="-122"/>
                <a:cs typeface="Calibri" pitchFamily="34" charset="-120"/>
              </a:rPr>
              <a:t>A team forecasts that user traffic will grow 4x over the next year and plans to handle this entirely by adding more application servers (horizontal scaling), without examining any other part of the system. Using concepts from this lecture, explain two risks with this plan and what additional analysis should be performed first.</a:t>
            </a:r>
            <a:endParaRPr dirty="0" sz="2400" lang="en-US"/>
          </a:p>
        </p:txBody>
      </p:sp>
      <p:sp>
        <p:nvSpPr>
          <p:cNvPr id="1048901" name="Text 2"/>
          <p:cNvSpPr/>
          <p:nvPr/>
        </p:nvSpPr>
        <p:spPr>
          <a:xfrm>
            <a:off x="822960" y="3749040"/>
            <a:ext cx="5486400" cy="365760"/>
          </a:xfrm>
          <a:prstGeom prst="rect"/>
          <a:noFill/>
        </p:spPr>
        <p:txBody>
          <a:bodyPr anchor="ctr" bIns="0" lIns="0" rIns="0" rtlCol="0" tIns="0" wrap="square"/>
          <a:p>
            <a:pPr indent="0" marL="0">
              <a:buNone/>
            </a:pPr>
            <a:r>
              <a:rPr b="1" dirty="0" sz="2000" lang="en-US">
                <a:solidFill>
                  <a:srgbClr val="00B8A9"/>
                </a:solidFill>
                <a:latin typeface="Calibri" pitchFamily="34" charset="0"/>
                <a:ea typeface="Calibri" pitchFamily="34" charset="-122"/>
                <a:cs typeface="Calibri" pitchFamily="34" charset="-120"/>
              </a:rPr>
              <a:t>Think about:</a:t>
            </a:r>
            <a:endParaRPr dirty="0" sz="2000" lang="en-US"/>
          </a:p>
        </p:txBody>
      </p:sp>
      <p:sp>
        <p:nvSpPr>
          <p:cNvPr id="1048902" name="Text 3"/>
          <p:cNvSpPr/>
          <p:nvPr/>
        </p:nvSpPr>
        <p:spPr>
          <a:xfrm>
            <a:off x="822960" y="4160520"/>
            <a:ext cx="10058400" cy="2011680"/>
          </a:xfrm>
          <a:prstGeom prst="rect"/>
          <a:noFill/>
        </p:spPr>
        <p:txBody>
          <a:bodyPr anchor="t" bIns="0" lIns="0" rIns="0" rtlCol="0" tIns="0" wrap="square"/>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Think about the Bottleneck Law from Lecture 6 — is the application tier necessarily where the true bottleneck lies?</a:t>
            </a:r>
            <a:endParaRPr dirty="0" sz="2000" lang="en-US"/>
          </a:p>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Think about Amdahl's Law — is there likely a serial fraction that limits how much horizontal scaling actually helps?</a:t>
            </a:r>
            <a:endParaRPr dirty="0" sz="2000" lang="en-US"/>
          </a:p>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Consider whether the 4x forecast accounts for peak-to-average ratio, not just average growth</a:t>
            </a:r>
            <a:endParaRPr dirty="0" sz="2000" lang="en-US"/>
          </a:p>
        </p:txBody>
      </p:sp>
      <p:sp>
        <p:nvSpPr>
          <p:cNvPr id="1048903" name="Text 4"/>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904" name="Text 5"/>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29</a:t>
            </a:r>
            <a:endParaRPr dirty="0" sz="900"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22" name=""/>
        <p:cNvGrpSpPr/>
        <p:nvPr/>
      </p:nvGrpSpPr>
      <p:grpSpPr>
        <a:xfrm>
          <a:off x="0" y="0"/>
          <a:ext cx="0" cy="0"/>
          <a:chOff x="0" y="0"/>
          <a:chExt cx="0" cy="0"/>
        </a:xfrm>
      </p:grpSpPr>
      <p:sp>
        <p:nvSpPr>
          <p:cNvPr id="1048908" name="Text 0"/>
          <p:cNvSpPr/>
          <p:nvPr/>
        </p:nvSpPr>
        <p:spPr>
          <a:xfrm>
            <a:off x="548640" y="457200"/>
            <a:ext cx="91440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References &amp; Further Reading</a:t>
            </a:r>
            <a:endParaRPr dirty="0" sz="2600" lang="en-US"/>
          </a:p>
        </p:txBody>
      </p:sp>
      <p:sp>
        <p:nvSpPr>
          <p:cNvPr id="1048909" name="Shape 1"/>
          <p:cNvSpPr/>
          <p:nvPr/>
        </p:nvSpPr>
        <p:spPr>
          <a:xfrm>
            <a:off x="566928" y="1097280"/>
            <a:ext cx="411480" cy="45720"/>
          </a:xfrm>
          <a:prstGeom prst="rect"/>
          <a:solidFill>
            <a:srgbClr val="00B8A9"/>
          </a:solidFill>
        </p:spPr>
      </p:sp>
      <p:sp>
        <p:nvSpPr>
          <p:cNvPr id="1048910" name="Text 2"/>
          <p:cNvSpPr/>
          <p:nvPr/>
        </p:nvSpPr>
        <p:spPr>
          <a:xfrm>
            <a:off x="594360" y="1463040"/>
            <a:ext cx="10789920" cy="3291840"/>
          </a:xfrm>
          <a:prstGeom prst="rect"/>
          <a:noFill/>
        </p:spPr>
        <p:txBody>
          <a:bodyPr anchor="t" bIns="0" lIns="0" rIns="0" rtlCol="0" tIns="0" wrap="square"/>
          <a:p>
            <a:pPr indent="-342900" marL="342900">
              <a:spcAft>
                <a:spcPts val="1000"/>
              </a:spcAft>
              <a:buSzPct val="100000"/>
              <a:buChar char="•"/>
            </a:pPr>
            <a:r>
              <a:rPr dirty="0" sz="2000" lang="en-US">
                <a:solidFill>
                  <a:srgbClr val="1A1A2E"/>
                </a:solidFill>
                <a:latin typeface="Calibri" pitchFamily="34" charset="0"/>
                <a:ea typeface="Calibri" pitchFamily="34" charset="-122"/>
                <a:cs typeface="Calibri" pitchFamily="34" charset="-120"/>
              </a:rPr>
              <a:t>Menasce, D. and Almeida, V. — Capacity Planning for Web Services (the standard practitioner text)</a:t>
            </a:r>
            <a:endParaRPr dirty="0" sz="2000" lang="en-US"/>
          </a:p>
          <a:p>
            <a:pPr indent="-342900" marL="342900">
              <a:spcAft>
                <a:spcPts val="1000"/>
              </a:spcAft>
              <a:buSzPct val="100000"/>
              <a:buChar char="•"/>
            </a:pPr>
            <a:r>
              <a:rPr dirty="0" sz="2000" lang="en-US">
                <a:solidFill>
                  <a:srgbClr val="1A1A2E"/>
                </a:solidFill>
                <a:latin typeface="Calibri" pitchFamily="34" charset="0"/>
                <a:ea typeface="Calibri" pitchFamily="34" charset="-122"/>
                <a:cs typeface="Calibri" pitchFamily="34" charset="-120"/>
              </a:rPr>
              <a:t>Gunther, N. — Guerrilla Capacity Planning</a:t>
            </a:r>
            <a:endParaRPr dirty="0" sz="2000" lang="en-US"/>
          </a:p>
          <a:p>
            <a:pPr indent="-342900" marL="342900">
              <a:spcAft>
                <a:spcPts val="1000"/>
              </a:spcAft>
              <a:buSzPct val="100000"/>
              <a:buChar char="•"/>
            </a:pPr>
            <a:r>
              <a:rPr dirty="0" sz="2000" lang="en-US">
                <a:solidFill>
                  <a:srgbClr val="1A1A2E"/>
                </a:solidFill>
                <a:latin typeface="Calibri" pitchFamily="34" charset="0"/>
                <a:ea typeface="Calibri" pitchFamily="34" charset="-122"/>
                <a:cs typeface="Calibri" pitchFamily="34" charset="-120"/>
              </a:rPr>
              <a:t>Amdahl, G. — Validity of the Single Processor Approach to Achieving Large Scale Computing Capabilities (1967, original paper)</a:t>
            </a:r>
            <a:endParaRPr dirty="0" sz="2000" lang="en-US"/>
          </a:p>
          <a:p>
            <a:pPr indent="-342900" marL="342900">
              <a:spcAft>
                <a:spcPts val="1000"/>
              </a:spcAft>
              <a:buSzPct val="100000"/>
              <a:buChar char="•"/>
            </a:pPr>
            <a:r>
              <a:rPr dirty="0" sz="2000" lang="en-US">
                <a:solidFill>
                  <a:srgbClr val="1A1A2E"/>
                </a:solidFill>
                <a:latin typeface="Calibri" pitchFamily="34" charset="0"/>
                <a:ea typeface="Calibri" pitchFamily="34" charset="-122"/>
                <a:cs typeface="Calibri" pitchFamily="34" charset="-120"/>
              </a:rPr>
              <a:t>Google SRE Workbook — Chapter on Capacity Planning</a:t>
            </a:r>
            <a:endParaRPr dirty="0" sz="2000" lang="en-US"/>
          </a:p>
        </p:txBody>
      </p:sp>
      <p:sp>
        <p:nvSpPr>
          <p:cNvPr id="1048911" name="Shape 3"/>
          <p:cNvSpPr/>
          <p:nvPr/>
        </p:nvSpPr>
        <p:spPr>
          <a:xfrm>
            <a:off x="548640" y="5029200"/>
            <a:ext cx="11064240" cy="1051560"/>
          </a:xfrm>
          <a:prstGeom prst="roundRect">
            <a:avLst>
              <a:gd name="adj" fmla="val 7826"/>
            </a:avLst>
          </a:prstGeom>
          <a:solidFill>
            <a:srgbClr val="0F2942"/>
          </a:solidFill>
        </p:spPr>
      </p:sp>
      <p:sp>
        <p:nvSpPr>
          <p:cNvPr id="1048912" name="Text 4"/>
          <p:cNvSpPr/>
          <p:nvPr/>
        </p:nvSpPr>
        <p:spPr>
          <a:xfrm>
            <a:off x="822960" y="5138928"/>
            <a:ext cx="2743200" cy="320040"/>
          </a:xfrm>
          <a:prstGeom prst="rect"/>
          <a:noFill/>
        </p:spPr>
        <p:txBody>
          <a:bodyPr anchor="ctr" bIns="0" lIns="0" rIns="0" rtlCol="0" tIns="0" wrap="square"/>
          <a:p>
            <a:pPr indent="0" marL="0">
              <a:buNone/>
            </a:pPr>
            <a:r>
              <a:rPr b="1" dirty="0" sz="1100" lang="en-US">
                <a:solidFill>
                  <a:srgbClr val="00B8A9"/>
                </a:solidFill>
                <a:latin typeface="Calibri" pitchFamily="34" charset="0"/>
                <a:ea typeface="Calibri" pitchFamily="34" charset="-122"/>
                <a:cs typeface="Calibri" pitchFamily="34" charset="-120"/>
              </a:rPr>
              <a:t>NEXT LECTURE</a:t>
            </a:r>
            <a:endParaRPr dirty="0" sz="1100" lang="en-US"/>
          </a:p>
        </p:txBody>
      </p:sp>
      <p:sp>
        <p:nvSpPr>
          <p:cNvPr id="1048913" name="Text 5"/>
          <p:cNvSpPr/>
          <p:nvPr/>
        </p:nvSpPr>
        <p:spPr>
          <a:xfrm>
            <a:off x="822960" y="5422392"/>
            <a:ext cx="10058400" cy="548640"/>
          </a:xfrm>
          <a:prstGeom prst="rect"/>
          <a:noFill/>
        </p:spPr>
        <p:txBody>
          <a:bodyPr anchor="ctr" bIns="0" lIns="0" rIns="0" rtlCol="0" tIns="0" wrap="square"/>
          <a:p>
            <a:pPr indent="0" marL="0">
              <a:buNone/>
            </a:pPr>
            <a:r>
              <a:rPr b="1" dirty="0" sz="1550" lang="en-US">
                <a:solidFill>
                  <a:srgbClr val="FFFFFF"/>
                </a:solidFill>
                <a:latin typeface="Calibri" pitchFamily="34" charset="0"/>
                <a:ea typeface="Calibri" pitchFamily="34" charset="-122"/>
                <a:cs typeface="Calibri" pitchFamily="34" charset="-120"/>
              </a:rPr>
              <a:t>Lecture 9 — Case Studies &amp; Benchmarking</a:t>
            </a:r>
            <a:endParaRPr dirty="0" sz="1550" lang="en-US"/>
          </a:p>
        </p:txBody>
      </p:sp>
      <p:sp>
        <p:nvSpPr>
          <p:cNvPr id="1048914" name="Text 6"/>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8: Capacity Planning &amp; Performance Prediction</a:t>
            </a:r>
            <a:endParaRPr dirty="0" sz="900" lang="en-US"/>
          </a:p>
        </p:txBody>
      </p:sp>
      <p:sp>
        <p:nvSpPr>
          <p:cNvPr id="1048915" name="Text 7"/>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30</a:t>
            </a:r>
            <a:endParaRPr dirty="0" sz="9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Abdolraheem Khader</cp:lastModifiedBy>
  <dcterms:created xsi:type="dcterms:W3CDTF">2026-07-31T07:53:41Z</dcterms:created>
  <dcterms:modified xsi:type="dcterms:W3CDTF">2026-09-15T16:56:39Z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fad23261e71741bab627ee93280838b5_23</vt:lpwstr>
  </property>
</Properties>
</file>