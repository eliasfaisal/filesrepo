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611"/>
    <p:restoredTop sz="94610"/>
  </p:normalViewPr>
  <p:slideViewPr>
    <p:cSldViewPr snapToGrid="0" snapToObjects="1">
      <p:cViewPr varScale="1">
        <p:scale>
          <a:sx n="76" d="100"/>
          <a:sy n="76" d="100"/>
        </p:scale>
        <p:origin x="82" y="197"/>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25"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1" name="Slide Image Placeholder 1"/>
          <p:cNvSpPr>
            <a:spLocks noChangeAspect="1" noRot="1" noGrp="1"/>
          </p:cNvSpPr>
          <p:nvPr>
            <p:ph type="sldImg"/>
          </p:nvPr>
        </p:nvSpPr>
        <p:spPr/>
      </p:sp>
      <p:sp>
        <p:nvSpPr>
          <p:cNvPr id="1048582" name="Notes Placeholder 2"/>
          <p:cNvSpPr>
            <a:spLocks noGrp="1"/>
          </p:cNvSpPr>
          <p:nvPr>
            <p:ph type="body" idx="1"/>
          </p:nvPr>
        </p:nvSpPr>
        <p:spPr/>
        <p:txBody>
          <a:bodyPr/>
          <a:p>
            <a:endParaRPr dirty="0" lang="en-US"/>
          </a:p>
        </p:txBody>
      </p:sp>
      <p:sp>
        <p:nvSpPr>
          <p:cNvPr id="1048583"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6" name="Slide Image Placeholder 1"/>
          <p:cNvSpPr>
            <a:spLocks noChangeAspect="1" noRot="1" noGrp="1"/>
          </p:cNvSpPr>
          <p:nvPr>
            <p:ph type="sldImg"/>
          </p:nvPr>
        </p:nvSpPr>
        <p:spPr/>
      </p:sp>
      <p:sp>
        <p:nvSpPr>
          <p:cNvPr id="1048607" name="Notes Placeholder 2"/>
          <p:cNvSpPr>
            <a:spLocks noGrp="1"/>
          </p:cNvSpPr>
          <p:nvPr>
            <p:ph type="body" idx="1"/>
          </p:nvPr>
        </p:nvSpPr>
        <p:spPr/>
        <p:txBody>
          <a:bodyPr/>
          <a:p>
            <a:endParaRPr dirty="0" lang="en-US"/>
          </a:p>
        </p:txBody>
      </p:sp>
      <p:sp>
        <p:nvSpPr>
          <p:cNvPr id="1048608"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4" name="Slide Image Placeholder 1"/>
          <p:cNvSpPr>
            <a:spLocks noChangeAspect="1" noRot="1" noGrp="1"/>
          </p:cNvSpPr>
          <p:nvPr>
            <p:ph type="sldImg"/>
          </p:nvPr>
        </p:nvSpPr>
        <p:spPr/>
      </p:sp>
      <p:sp>
        <p:nvSpPr>
          <p:cNvPr id="1048615" name="Notes Placeholder 2"/>
          <p:cNvSpPr>
            <a:spLocks noGrp="1"/>
          </p:cNvSpPr>
          <p:nvPr>
            <p:ph type="body" idx="1"/>
          </p:nvPr>
        </p:nvSpPr>
        <p:spPr/>
        <p:txBody>
          <a:bodyPr/>
          <a:p>
            <a:endParaRPr dirty="0" lang="en-US"/>
          </a:p>
        </p:txBody>
      </p:sp>
      <p:sp>
        <p:nvSpPr>
          <p:cNvPr id="1048616"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4" name="Slide Image Placeholder 1"/>
          <p:cNvSpPr>
            <a:spLocks noChangeAspect="1" noRot="1" noGrp="1"/>
          </p:cNvSpPr>
          <p:nvPr>
            <p:ph type="sldImg"/>
          </p:nvPr>
        </p:nvSpPr>
        <p:spPr/>
      </p:sp>
      <p:sp>
        <p:nvSpPr>
          <p:cNvPr id="1048625" name="Notes Placeholder 2"/>
          <p:cNvSpPr>
            <a:spLocks noGrp="1"/>
          </p:cNvSpPr>
          <p:nvPr>
            <p:ph type="body" idx="1"/>
          </p:nvPr>
        </p:nvSpPr>
        <p:spPr/>
        <p:txBody>
          <a:bodyPr/>
          <a:p>
            <a:endParaRPr dirty="0" lang="en-US"/>
          </a:p>
        </p:txBody>
      </p:sp>
      <p:sp>
        <p:nvSpPr>
          <p:cNvPr id="1048626"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32" name="Slide Image Placeholder 1"/>
          <p:cNvSpPr>
            <a:spLocks noChangeAspect="1" noRot="1" noGrp="1"/>
          </p:cNvSpPr>
          <p:nvPr>
            <p:ph type="sldImg"/>
          </p:nvPr>
        </p:nvSpPr>
        <p:spPr/>
      </p:sp>
      <p:sp>
        <p:nvSpPr>
          <p:cNvPr id="1048633" name="Notes Placeholder 2"/>
          <p:cNvSpPr>
            <a:spLocks noGrp="1"/>
          </p:cNvSpPr>
          <p:nvPr>
            <p:ph type="body" idx="1"/>
          </p:nvPr>
        </p:nvSpPr>
        <p:spPr/>
        <p:txBody>
          <a:bodyPr/>
          <a:p>
            <a:endParaRPr dirty="0" lang="en-US"/>
          </a:p>
        </p:txBody>
      </p:sp>
      <p:sp>
        <p:nvSpPr>
          <p:cNvPr id="1048634"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42" name="Slide Image Placeholder 1"/>
          <p:cNvSpPr>
            <a:spLocks noChangeAspect="1" noRot="1" noGrp="1"/>
          </p:cNvSpPr>
          <p:nvPr>
            <p:ph type="sldImg"/>
          </p:nvPr>
        </p:nvSpPr>
        <p:spPr/>
      </p:sp>
      <p:sp>
        <p:nvSpPr>
          <p:cNvPr id="1048643" name="Notes Placeholder 2"/>
          <p:cNvSpPr>
            <a:spLocks noGrp="1"/>
          </p:cNvSpPr>
          <p:nvPr>
            <p:ph type="body" idx="1"/>
          </p:nvPr>
        </p:nvSpPr>
        <p:spPr/>
        <p:txBody>
          <a:bodyPr/>
          <a:p>
            <a:endParaRPr dirty="0" lang="en-US"/>
          </a:p>
        </p:txBody>
      </p:sp>
      <p:sp>
        <p:nvSpPr>
          <p:cNvPr id="1048644"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52" name="Slide Image Placeholder 1"/>
          <p:cNvSpPr>
            <a:spLocks noChangeAspect="1" noRot="1" noGrp="1"/>
          </p:cNvSpPr>
          <p:nvPr>
            <p:ph type="sldImg"/>
          </p:nvPr>
        </p:nvSpPr>
        <p:spPr/>
      </p:sp>
      <p:sp>
        <p:nvSpPr>
          <p:cNvPr id="1048653" name="Notes Placeholder 2"/>
          <p:cNvSpPr>
            <a:spLocks noGrp="1"/>
          </p:cNvSpPr>
          <p:nvPr>
            <p:ph type="body" idx="1"/>
          </p:nvPr>
        </p:nvSpPr>
        <p:spPr/>
        <p:txBody>
          <a:bodyPr/>
          <a:p>
            <a:endParaRPr dirty="0" lang="en-US"/>
          </a:p>
        </p:txBody>
      </p:sp>
      <p:sp>
        <p:nvSpPr>
          <p:cNvPr id="1048654"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60" name="Slide Image Placeholder 1"/>
          <p:cNvSpPr>
            <a:spLocks noChangeAspect="1" noRot="1" noGrp="1"/>
          </p:cNvSpPr>
          <p:nvPr>
            <p:ph type="sldImg"/>
          </p:nvPr>
        </p:nvSpPr>
        <p:spPr/>
      </p:sp>
      <p:sp>
        <p:nvSpPr>
          <p:cNvPr id="1048661" name="Notes Placeholder 2"/>
          <p:cNvSpPr>
            <a:spLocks noGrp="1"/>
          </p:cNvSpPr>
          <p:nvPr>
            <p:ph type="body" idx="1"/>
          </p:nvPr>
        </p:nvSpPr>
        <p:spPr/>
        <p:txBody>
          <a:bodyPr/>
          <a:p>
            <a:endParaRPr dirty="0" lang="en-US"/>
          </a:p>
        </p:txBody>
      </p:sp>
      <p:sp>
        <p:nvSpPr>
          <p:cNvPr id="1048662"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70" name="Slide Image Placeholder 1"/>
          <p:cNvSpPr>
            <a:spLocks noChangeAspect="1" noRot="1" noGrp="1"/>
          </p:cNvSpPr>
          <p:nvPr>
            <p:ph type="sldImg"/>
          </p:nvPr>
        </p:nvSpPr>
        <p:spPr/>
      </p:sp>
      <p:sp>
        <p:nvSpPr>
          <p:cNvPr id="1048671" name="Notes Placeholder 2"/>
          <p:cNvSpPr>
            <a:spLocks noGrp="1"/>
          </p:cNvSpPr>
          <p:nvPr>
            <p:ph type="body" idx="1"/>
          </p:nvPr>
        </p:nvSpPr>
        <p:spPr/>
        <p:txBody>
          <a:bodyPr/>
          <a:p>
            <a:endParaRPr dirty="0" lang="en-US"/>
          </a:p>
        </p:txBody>
      </p:sp>
      <p:sp>
        <p:nvSpPr>
          <p:cNvPr id="1048672"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77" name="Slide Image Placeholder 1"/>
          <p:cNvSpPr>
            <a:spLocks noChangeAspect="1" noRot="1" noGrp="1"/>
          </p:cNvSpPr>
          <p:nvPr>
            <p:ph type="sldImg"/>
          </p:nvPr>
        </p:nvSpPr>
        <p:spPr/>
      </p:sp>
      <p:sp>
        <p:nvSpPr>
          <p:cNvPr id="1048678" name="Notes Placeholder 2"/>
          <p:cNvSpPr>
            <a:spLocks noGrp="1"/>
          </p:cNvSpPr>
          <p:nvPr>
            <p:ph type="body" idx="1"/>
          </p:nvPr>
        </p:nvSpPr>
        <p:spPr/>
        <p:txBody>
          <a:bodyPr/>
          <a:p>
            <a:endParaRPr dirty="0" lang="en-US"/>
          </a:p>
        </p:txBody>
      </p:sp>
      <p:sp>
        <p:nvSpPr>
          <p:cNvPr id="1048679"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85" name="Slide Image Placeholder 1"/>
          <p:cNvSpPr>
            <a:spLocks noChangeAspect="1" noRot="1" noGrp="1"/>
          </p:cNvSpPr>
          <p:nvPr>
            <p:ph type="sldImg"/>
          </p:nvPr>
        </p:nvSpPr>
        <p:spPr/>
      </p:sp>
      <p:sp>
        <p:nvSpPr>
          <p:cNvPr id="1048686" name="Notes Placeholder 2"/>
          <p:cNvSpPr>
            <a:spLocks noGrp="1"/>
          </p:cNvSpPr>
          <p:nvPr>
            <p:ph type="body" idx="1"/>
          </p:nvPr>
        </p:nvSpPr>
        <p:spPr/>
        <p:txBody>
          <a:bodyPr/>
          <a:p>
            <a:endParaRPr dirty="0" lang="en-US"/>
          </a:p>
        </p:txBody>
      </p:sp>
      <p:sp>
        <p:nvSpPr>
          <p:cNvPr id="1048687"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93" name="Slide Image Placeholder 1"/>
          <p:cNvSpPr>
            <a:spLocks noChangeAspect="1" noRot="1" noGrp="1"/>
          </p:cNvSpPr>
          <p:nvPr>
            <p:ph type="sldImg"/>
          </p:nvPr>
        </p:nvSpPr>
        <p:spPr/>
      </p:sp>
      <p:sp>
        <p:nvSpPr>
          <p:cNvPr id="1048694" name="Notes Placeholder 2"/>
          <p:cNvSpPr>
            <a:spLocks noGrp="1"/>
          </p:cNvSpPr>
          <p:nvPr>
            <p:ph type="body" idx="1"/>
          </p:nvPr>
        </p:nvSpPr>
        <p:spPr/>
        <p:txBody>
          <a:bodyPr/>
          <a:p>
            <a:endParaRPr dirty="0" lang="en-US"/>
          </a:p>
        </p:txBody>
      </p:sp>
      <p:sp>
        <p:nvSpPr>
          <p:cNvPr id="1048695" name="Slide Number Placeholder 3"/>
          <p:cNvSpPr>
            <a:spLocks noGrp="1"/>
          </p:cNvSpPr>
          <p:nvPr>
            <p:ph type="sldNum" sz="quarter" idx="10"/>
          </p:nvPr>
        </p:nvSpPr>
        <p:spPr/>
        <p:txBody>
          <a:bodyPr/>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709" name="Slide Image Placeholder 1"/>
          <p:cNvSpPr>
            <a:spLocks noChangeAspect="1" noRot="1" noGrp="1"/>
          </p:cNvSpPr>
          <p:nvPr>
            <p:ph type="sldImg"/>
          </p:nvPr>
        </p:nvSpPr>
        <p:spPr/>
      </p:sp>
      <p:sp>
        <p:nvSpPr>
          <p:cNvPr id="1048710" name="Notes Placeholder 2"/>
          <p:cNvSpPr>
            <a:spLocks noGrp="1"/>
          </p:cNvSpPr>
          <p:nvPr>
            <p:ph type="body" idx="1"/>
          </p:nvPr>
        </p:nvSpPr>
        <p:spPr/>
        <p:txBody>
          <a:bodyPr/>
          <a:p>
            <a:endParaRPr dirty="0" lang="en-US"/>
          </a:p>
        </p:txBody>
      </p:sp>
      <p:sp>
        <p:nvSpPr>
          <p:cNvPr id="1048711" name="Slide Number Placeholder 3"/>
          <p:cNvSpPr>
            <a:spLocks noGrp="1"/>
          </p:cNvSpPr>
          <p:nvPr>
            <p:ph type="sldNum" sz="quarter" idx="10"/>
          </p:nvPr>
        </p:nvSpPr>
        <p:spPr/>
        <p:txBody>
          <a:bodyPr/>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717" name="Slide Image Placeholder 1"/>
          <p:cNvSpPr>
            <a:spLocks noChangeAspect="1" noRot="1" noGrp="1"/>
          </p:cNvSpPr>
          <p:nvPr>
            <p:ph type="sldImg"/>
          </p:nvPr>
        </p:nvSpPr>
        <p:spPr/>
      </p:sp>
      <p:sp>
        <p:nvSpPr>
          <p:cNvPr id="1048718" name="Notes Placeholder 2"/>
          <p:cNvSpPr>
            <a:spLocks noGrp="1"/>
          </p:cNvSpPr>
          <p:nvPr>
            <p:ph type="body" idx="1"/>
          </p:nvPr>
        </p:nvSpPr>
        <p:spPr/>
        <p:txBody>
          <a:bodyPr/>
          <a:p>
            <a:endParaRPr dirty="0" lang="en-US"/>
          </a:p>
        </p:txBody>
      </p:sp>
      <p:sp>
        <p:nvSpPr>
          <p:cNvPr id="1048719" name="Slide Number Placeholder 3"/>
          <p:cNvSpPr>
            <a:spLocks noGrp="1"/>
          </p:cNvSpPr>
          <p:nvPr>
            <p:ph type="sldNum" sz="quarter" idx="10"/>
          </p:nvPr>
        </p:nvSpPr>
        <p:spPr/>
        <p:txBody>
          <a:bodyPr/>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725" name="Slide Image Placeholder 1"/>
          <p:cNvSpPr>
            <a:spLocks noChangeAspect="1" noRot="1" noGrp="1"/>
          </p:cNvSpPr>
          <p:nvPr>
            <p:ph type="sldImg"/>
          </p:nvPr>
        </p:nvSpPr>
        <p:spPr/>
      </p:sp>
      <p:sp>
        <p:nvSpPr>
          <p:cNvPr id="1048726" name="Notes Placeholder 2"/>
          <p:cNvSpPr>
            <a:spLocks noGrp="1"/>
          </p:cNvSpPr>
          <p:nvPr>
            <p:ph type="body" idx="1"/>
          </p:nvPr>
        </p:nvSpPr>
        <p:spPr/>
        <p:txBody>
          <a:bodyPr/>
          <a:p>
            <a:endParaRPr dirty="0" lang="en-US"/>
          </a:p>
        </p:txBody>
      </p:sp>
      <p:sp>
        <p:nvSpPr>
          <p:cNvPr id="1048727" name="Slide Number Placeholder 3"/>
          <p:cNvSpPr>
            <a:spLocks noGrp="1"/>
          </p:cNvSpPr>
          <p:nvPr>
            <p:ph type="sldNum" sz="quarter" idx="10"/>
          </p:nvPr>
        </p:nvSpPr>
        <p:spPr/>
        <p:txBody>
          <a:bodyPr/>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735" name="Slide Image Placeholder 1"/>
          <p:cNvSpPr>
            <a:spLocks noChangeAspect="1" noRot="1" noGrp="1"/>
          </p:cNvSpPr>
          <p:nvPr>
            <p:ph type="sldImg"/>
          </p:nvPr>
        </p:nvSpPr>
        <p:spPr/>
      </p:sp>
      <p:sp>
        <p:nvSpPr>
          <p:cNvPr id="1048736" name="Notes Placeholder 2"/>
          <p:cNvSpPr>
            <a:spLocks noGrp="1"/>
          </p:cNvSpPr>
          <p:nvPr>
            <p:ph type="body" idx="1"/>
          </p:nvPr>
        </p:nvSpPr>
        <p:spPr/>
        <p:txBody>
          <a:bodyPr/>
          <a:p>
            <a:endParaRPr dirty="0" lang="en-US"/>
          </a:p>
        </p:txBody>
      </p:sp>
      <p:sp>
        <p:nvSpPr>
          <p:cNvPr id="1048737" name="Slide Number Placeholder 3"/>
          <p:cNvSpPr>
            <a:spLocks noGrp="1"/>
          </p:cNvSpPr>
          <p:nvPr>
            <p:ph type="sldNum" sz="quarter" idx="10"/>
          </p:nvPr>
        </p:nvSpPr>
        <p:spPr/>
        <p:txBody>
          <a:bodyPr/>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765" name="Slide Image Placeholder 1"/>
          <p:cNvSpPr>
            <a:spLocks noChangeAspect="1" noRot="1" noGrp="1"/>
          </p:cNvSpPr>
          <p:nvPr>
            <p:ph type="sldImg"/>
          </p:nvPr>
        </p:nvSpPr>
        <p:spPr/>
      </p:sp>
      <p:sp>
        <p:nvSpPr>
          <p:cNvPr id="1048766" name="Notes Placeholder 2"/>
          <p:cNvSpPr>
            <a:spLocks noGrp="1"/>
          </p:cNvSpPr>
          <p:nvPr>
            <p:ph type="body" idx="1"/>
          </p:nvPr>
        </p:nvSpPr>
        <p:spPr/>
        <p:txBody>
          <a:bodyPr/>
          <a:p>
            <a:endParaRPr dirty="0" lang="en-US"/>
          </a:p>
        </p:txBody>
      </p:sp>
      <p:sp>
        <p:nvSpPr>
          <p:cNvPr id="1048767" name="Slide Number Placeholder 3"/>
          <p:cNvSpPr>
            <a:spLocks noGrp="1"/>
          </p:cNvSpPr>
          <p:nvPr>
            <p:ph type="sldNum" sz="quarter" idx="10"/>
          </p:nvPr>
        </p:nvSpPr>
        <p:spPr/>
        <p:txBody>
          <a:bodyPr/>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773" name="Slide Image Placeholder 1"/>
          <p:cNvSpPr>
            <a:spLocks noChangeAspect="1" noRot="1" noGrp="1"/>
          </p:cNvSpPr>
          <p:nvPr>
            <p:ph type="sldImg"/>
          </p:nvPr>
        </p:nvSpPr>
        <p:spPr/>
      </p:sp>
      <p:sp>
        <p:nvSpPr>
          <p:cNvPr id="1048774" name="Notes Placeholder 2"/>
          <p:cNvSpPr>
            <a:spLocks noGrp="1"/>
          </p:cNvSpPr>
          <p:nvPr>
            <p:ph type="body" idx="1"/>
          </p:nvPr>
        </p:nvSpPr>
        <p:spPr/>
        <p:txBody>
          <a:bodyPr/>
          <a:p>
            <a:endParaRPr dirty="0" lang="en-US"/>
          </a:p>
        </p:txBody>
      </p:sp>
      <p:sp>
        <p:nvSpPr>
          <p:cNvPr id="1048775" name="Slide Number Placeholder 3"/>
          <p:cNvSpPr>
            <a:spLocks noGrp="1"/>
          </p:cNvSpPr>
          <p:nvPr>
            <p:ph type="sldNum" sz="quarter" idx="10"/>
          </p:nvPr>
        </p:nvSpPr>
        <p:spPr/>
        <p:txBody>
          <a:bodyPr/>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781" name="Slide Image Placeholder 1"/>
          <p:cNvSpPr>
            <a:spLocks noChangeAspect="1" noRot="1" noGrp="1"/>
          </p:cNvSpPr>
          <p:nvPr>
            <p:ph type="sldImg"/>
          </p:nvPr>
        </p:nvSpPr>
        <p:spPr/>
      </p:sp>
      <p:sp>
        <p:nvSpPr>
          <p:cNvPr id="1048782" name="Notes Placeholder 2"/>
          <p:cNvSpPr>
            <a:spLocks noGrp="1"/>
          </p:cNvSpPr>
          <p:nvPr>
            <p:ph type="body" idx="1"/>
          </p:nvPr>
        </p:nvSpPr>
        <p:spPr/>
        <p:txBody>
          <a:bodyPr/>
          <a:p>
            <a:endParaRPr dirty="0" lang="en-US"/>
          </a:p>
        </p:txBody>
      </p:sp>
      <p:sp>
        <p:nvSpPr>
          <p:cNvPr id="1048783" name="Slide Number Placeholder 3"/>
          <p:cNvSpPr>
            <a:spLocks noGrp="1"/>
          </p:cNvSpPr>
          <p:nvPr>
            <p:ph type="sldNum" sz="quarter" idx="10"/>
          </p:nvPr>
        </p:nvSpPr>
        <p:spPr/>
        <p:txBody>
          <a:bodyPr/>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788" name="Slide Image Placeholder 1"/>
          <p:cNvSpPr>
            <a:spLocks noChangeAspect="1" noRot="1" noGrp="1"/>
          </p:cNvSpPr>
          <p:nvPr>
            <p:ph type="sldImg"/>
          </p:nvPr>
        </p:nvSpPr>
        <p:spPr/>
      </p:sp>
      <p:sp>
        <p:nvSpPr>
          <p:cNvPr id="1048789" name="Notes Placeholder 2"/>
          <p:cNvSpPr>
            <a:spLocks noGrp="1"/>
          </p:cNvSpPr>
          <p:nvPr>
            <p:ph type="body" idx="1"/>
          </p:nvPr>
        </p:nvSpPr>
        <p:spPr/>
        <p:txBody>
          <a:bodyPr/>
          <a:p>
            <a:endParaRPr dirty="0" lang="en-US"/>
          </a:p>
        </p:txBody>
      </p:sp>
      <p:sp>
        <p:nvSpPr>
          <p:cNvPr id="1048790" name="Slide Number Placeholder 3"/>
          <p:cNvSpPr>
            <a:spLocks noGrp="1"/>
          </p:cNvSpPr>
          <p:nvPr>
            <p:ph type="sldNum" sz="quarter" idx="10"/>
          </p:nvPr>
        </p:nvSpPr>
        <p:spPr/>
        <p:txBody>
          <a:bodyPr/>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796" name="Slide Image Placeholder 1"/>
          <p:cNvSpPr>
            <a:spLocks noChangeAspect="1" noRot="1" noGrp="1"/>
          </p:cNvSpPr>
          <p:nvPr>
            <p:ph type="sldImg"/>
          </p:nvPr>
        </p:nvSpPr>
        <p:spPr/>
      </p:sp>
      <p:sp>
        <p:nvSpPr>
          <p:cNvPr id="1048797" name="Notes Placeholder 2"/>
          <p:cNvSpPr>
            <a:spLocks noGrp="1"/>
          </p:cNvSpPr>
          <p:nvPr>
            <p:ph type="body" idx="1"/>
          </p:nvPr>
        </p:nvSpPr>
        <p:spPr/>
        <p:txBody>
          <a:bodyPr/>
          <a:p>
            <a:endParaRPr dirty="0" lang="en-US"/>
          </a:p>
        </p:txBody>
      </p:sp>
      <p:sp>
        <p:nvSpPr>
          <p:cNvPr id="1048798" name="Slide Number Placeholder 3"/>
          <p:cNvSpPr>
            <a:spLocks noGrp="1"/>
          </p:cNvSpPr>
          <p:nvPr>
            <p:ph type="sldNum" sz="quarter" idx="10"/>
          </p:nvPr>
        </p:nvSpPr>
        <p:spPr/>
        <p:txBody>
          <a:bodyPr/>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804" name="Slide Image Placeholder 1"/>
          <p:cNvSpPr>
            <a:spLocks noChangeAspect="1" noRot="1" noGrp="1"/>
          </p:cNvSpPr>
          <p:nvPr>
            <p:ph type="sldImg"/>
          </p:nvPr>
        </p:nvSpPr>
        <p:spPr/>
      </p:sp>
      <p:sp>
        <p:nvSpPr>
          <p:cNvPr id="1048805" name="Notes Placeholder 2"/>
          <p:cNvSpPr>
            <a:spLocks noGrp="1"/>
          </p:cNvSpPr>
          <p:nvPr>
            <p:ph type="body" idx="1"/>
          </p:nvPr>
        </p:nvSpPr>
        <p:spPr/>
        <p:txBody>
          <a:bodyPr/>
          <a:p>
            <a:endParaRPr dirty="0" lang="en-US"/>
          </a:p>
        </p:txBody>
      </p:sp>
      <p:sp>
        <p:nvSpPr>
          <p:cNvPr id="1048806" name="Slide Number Placeholder 3"/>
          <p:cNvSpPr>
            <a:spLocks noGrp="1"/>
          </p:cNvSpPr>
          <p:nvPr>
            <p:ph type="sldNum" sz="quarter" idx="10"/>
          </p:nvPr>
        </p:nvSpPr>
        <p:spPr/>
        <p:txBody>
          <a:bodyPr/>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812" name="Slide Image Placeholder 1"/>
          <p:cNvSpPr>
            <a:spLocks noChangeAspect="1" noRot="1" noGrp="1"/>
          </p:cNvSpPr>
          <p:nvPr>
            <p:ph type="sldImg"/>
          </p:nvPr>
        </p:nvSpPr>
        <p:spPr/>
      </p:sp>
      <p:sp>
        <p:nvSpPr>
          <p:cNvPr id="1048813" name="Notes Placeholder 2"/>
          <p:cNvSpPr>
            <a:spLocks noGrp="1"/>
          </p:cNvSpPr>
          <p:nvPr>
            <p:ph type="body" idx="1"/>
          </p:nvPr>
        </p:nvSpPr>
        <p:spPr/>
        <p:txBody>
          <a:bodyPr/>
          <a:p>
            <a:endParaRPr dirty="0" lang="en-US"/>
          </a:p>
        </p:txBody>
      </p:sp>
      <p:sp>
        <p:nvSpPr>
          <p:cNvPr id="1048814" name="Slide Number Placeholder 3"/>
          <p:cNvSpPr>
            <a:spLocks noGrp="1"/>
          </p:cNvSpPr>
          <p:nvPr>
            <p:ph type="sldNum" sz="quarter" idx="10"/>
          </p:nvPr>
        </p:nvSpPr>
        <p:spPr/>
        <p:txBody>
          <a:bodyPr/>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820" name="Slide Image Placeholder 1"/>
          <p:cNvSpPr>
            <a:spLocks noChangeAspect="1" noRot="1" noGrp="1"/>
          </p:cNvSpPr>
          <p:nvPr>
            <p:ph type="sldImg"/>
          </p:nvPr>
        </p:nvSpPr>
        <p:spPr/>
      </p:sp>
      <p:sp>
        <p:nvSpPr>
          <p:cNvPr id="1048821" name="Notes Placeholder 2"/>
          <p:cNvSpPr>
            <a:spLocks noGrp="1"/>
          </p:cNvSpPr>
          <p:nvPr>
            <p:ph type="body" idx="1"/>
          </p:nvPr>
        </p:nvSpPr>
        <p:spPr/>
        <p:txBody>
          <a:bodyPr/>
          <a:p>
            <a:endParaRPr dirty="0" lang="en-US"/>
          </a:p>
        </p:txBody>
      </p:sp>
      <p:sp>
        <p:nvSpPr>
          <p:cNvPr id="1048822" name="Slide Number Placeholder 3"/>
          <p:cNvSpPr>
            <a:spLocks noGrp="1"/>
          </p:cNvSpPr>
          <p:nvPr>
            <p:ph type="sldNum" sz="quarter" idx="10"/>
          </p:nvPr>
        </p:nvSpPr>
        <p:spPr/>
        <p:txBody>
          <a:bodyPr/>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828" name="Slide Image Placeholder 1"/>
          <p:cNvSpPr>
            <a:spLocks noChangeAspect="1" noRot="1" noGrp="1"/>
          </p:cNvSpPr>
          <p:nvPr>
            <p:ph type="sldImg"/>
          </p:nvPr>
        </p:nvSpPr>
        <p:spPr/>
      </p:sp>
      <p:sp>
        <p:nvSpPr>
          <p:cNvPr id="1048829" name="Notes Placeholder 2"/>
          <p:cNvSpPr>
            <a:spLocks noGrp="1"/>
          </p:cNvSpPr>
          <p:nvPr>
            <p:ph type="body" idx="1"/>
          </p:nvPr>
        </p:nvSpPr>
        <p:spPr/>
        <p:txBody>
          <a:bodyPr/>
          <a:p>
            <a:endParaRPr dirty="0" lang="en-US"/>
          </a:p>
        </p:txBody>
      </p:sp>
      <p:sp>
        <p:nvSpPr>
          <p:cNvPr id="1048830" name="Slide Number Placeholder 3"/>
          <p:cNvSpPr>
            <a:spLocks noGrp="1"/>
          </p:cNvSpPr>
          <p:nvPr>
            <p:ph type="sldNum" sz="quarter" idx="10"/>
          </p:nvPr>
        </p:nvSpPr>
        <p:spPr/>
        <p:txBody>
          <a:bodyPr/>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836" name="Slide Image Placeholder 1"/>
          <p:cNvSpPr>
            <a:spLocks noChangeAspect="1" noRot="1" noGrp="1"/>
          </p:cNvSpPr>
          <p:nvPr>
            <p:ph type="sldImg"/>
          </p:nvPr>
        </p:nvSpPr>
        <p:spPr/>
      </p:sp>
      <p:sp>
        <p:nvSpPr>
          <p:cNvPr id="1048837" name="Notes Placeholder 2"/>
          <p:cNvSpPr>
            <a:spLocks noGrp="1"/>
          </p:cNvSpPr>
          <p:nvPr>
            <p:ph type="body" idx="1"/>
          </p:nvPr>
        </p:nvSpPr>
        <p:spPr/>
        <p:txBody>
          <a:bodyPr/>
          <a:p>
            <a:endParaRPr dirty="0" lang="en-US"/>
          </a:p>
        </p:txBody>
      </p:sp>
      <p:sp>
        <p:nvSpPr>
          <p:cNvPr id="1048838" name="Slide Number Placeholder 3"/>
          <p:cNvSpPr>
            <a:spLocks noGrp="1"/>
          </p:cNvSpPr>
          <p:nvPr>
            <p:ph type="sldNum" sz="quarter" idx="10"/>
          </p:nvPr>
        </p:nvSpPr>
        <p:spPr/>
        <p:txBody>
          <a:bodyPr/>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844" name="Slide Image Placeholder 1"/>
          <p:cNvSpPr>
            <a:spLocks noChangeAspect="1" noRot="1" noGrp="1"/>
          </p:cNvSpPr>
          <p:nvPr>
            <p:ph type="sldImg"/>
          </p:nvPr>
        </p:nvSpPr>
        <p:spPr/>
      </p:sp>
      <p:sp>
        <p:nvSpPr>
          <p:cNvPr id="1048845" name="Notes Placeholder 2"/>
          <p:cNvSpPr>
            <a:spLocks noGrp="1"/>
          </p:cNvSpPr>
          <p:nvPr>
            <p:ph type="body" idx="1"/>
          </p:nvPr>
        </p:nvSpPr>
        <p:spPr/>
        <p:txBody>
          <a:bodyPr/>
          <a:p>
            <a:endParaRPr dirty="0" lang="en-US"/>
          </a:p>
        </p:txBody>
      </p:sp>
      <p:sp>
        <p:nvSpPr>
          <p:cNvPr id="1048846" name="Slide Number Placeholder 3"/>
          <p:cNvSpPr>
            <a:spLocks noGrp="1"/>
          </p:cNvSpPr>
          <p:nvPr>
            <p:ph type="sldNum" sz="quarter" idx="10"/>
          </p:nvPr>
        </p:nvSpPr>
        <p:spPr/>
        <p:txBody>
          <a:bodyPr/>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871" name="Slide Image Placeholder 1"/>
          <p:cNvSpPr>
            <a:spLocks noChangeAspect="1" noRot="1" noGrp="1"/>
          </p:cNvSpPr>
          <p:nvPr>
            <p:ph type="sldImg"/>
          </p:nvPr>
        </p:nvSpPr>
        <p:spPr/>
      </p:sp>
      <p:sp>
        <p:nvSpPr>
          <p:cNvPr id="1048872" name="Notes Placeholder 2"/>
          <p:cNvSpPr>
            <a:spLocks noGrp="1"/>
          </p:cNvSpPr>
          <p:nvPr>
            <p:ph type="body" idx="1"/>
          </p:nvPr>
        </p:nvSpPr>
        <p:spPr/>
        <p:txBody>
          <a:bodyPr/>
          <a:p>
            <a:endParaRPr dirty="0" lang="en-US"/>
          </a:p>
        </p:txBody>
      </p:sp>
      <p:sp>
        <p:nvSpPr>
          <p:cNvPr id="1048873" name="Slide Number Placeholder 3"/>
          <p:cNvSpPr>
            <a:spLocks noGrp="1"/>
          </p:cNvSpPr>
          <p:nvPr>
            <p:ph type="sldNum" sz="quarter" idx="10"/>
          </p:nvPr>
        </p:nvSpPr>
        <p:spPr/>
        <p:txBody>
          <a:bodyPr/>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880" name="Slide Image Placeholder 1"/>
          <p:cNvSpPr>
            <a:spLocks noChangeAspect="1" noRot="1" noGrp="1"/>
          </p:cNvSpPr>
          <p:nvPr>
            <p:ph type="sldImg"/>
          </p:nvPr>
        </p:nvSpPr>
        <p:spPr/>
      </p:sp>
      <p:sp>
        <p:nvSpPr>
          <p:cNvPr id="1048881" name="Notes Placeholder 2"/>
          <p:cNvSpPr>
            <a:spLocks noGrp="1"/>
          </p:cNvSpPr>
          <p:nvPr>
            <p:ph type="body" idx="1"/>
          </p:nvPr>
        </p:nvSpPr>
        <p:spPr/>
        <p:txBody>
          <a:bodyPr/>
          <a:p>
            <a:endParaRPr dirty="0" lang="en-US"/>
          </a:p>
        </p:txBody>
      </p:sp>
      <p:sp>
        <p:nvSpPr>
          <p:cNvPr id="1048882" name="Slide Number Placeholder 3"/>
          <p:cNvSpPr>
            <a:spLocks noGrp="1"/>
          </p:cNvSpPr>
          <p:nvPr>
            <p:ph type="sldNum" sz="quarter" idx="10"/>
          </p:nvPr>
        </p:nvSpPr>
        <p:spPr/>
        <p:txBody>
          <a:bodyPr/>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891" name="Slide Image Placeholder 1"/>
          <p:cNvSpPr>
            <a:spLocks noChangeAspect="1" noRot="1" noGrp="1"/>
          </p:cNvSpPr>
          <p:nvPr>
            <p:ph type="sldImg"/>
          </p:nvPr>
        </p:nvSpPr>
        <p:spPr/>
      </p:sp>
      <p:sp>
        <p:nvSpPr>
          <p:cNvPr id="1048892" name="Notes Placeholder 2"/>
          <p:cNvSpPr>
            <a:spLocks noGrp="1"/>
          </p:cNvSpPr>
          <p:nvPr>
            <p:ph type="body" idx="1"/>
          </p:nvPr>
        </p:nvSpPr>
        <p:spPr/>
        <p:txBody>
          <a:bodyPr/>
          <a:p>
            <a:endParaRPr dirty="0" lang="en-US"/>
          </a:p>
        </p:txBody>
      </p:sp>
      <p:sp>
        <p:nvSpPr>
          <p:cNvPr id="1048893" name="Slide Number Placeholder 3"/>
          <p:cNvSpPr>
            <a:spLocks noGrp="1"/>
          </p:cNvSpPr>
          <p:nvPr>
            <p:ph type="sldNum" sz="quarter" idx="10"/>
          </p:nvPr>
        </p:nvSpPr>
        <p:spPr/>
        <p:txBody>
          <a:bodyPr/>
          <a:p>
            <a:fld id="{F7021451-1387-4CA6-816F-3879F97B5CBC}" type="slidenum">
              <a:rPr lang="en-US"/>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5" name=""/>
        <p:cNvGrpSpPr/>
        <p:nvPr/>
      </p:nvGrpSpPr>
      <p:grpSpPr>
        <a:xfrm>
          <a:off x="0" y="0"/>
          <a:ext cx="0" cy="0"/>
          <a:chOff x="0" y="0"/>
          <a:chExt cx="0" cy="0"/>
        </a:xfrm>
      </p:grpSpPr>
      <p:sp>
        <p:nvSpPr>
          <p:cNvPr id="1048576" name="Shape 0"/>
          <p:cNvSpPr/>
          <p:nvPr/>
        </p:nvSpPr>
        <p:spPr>
          <a:xfrm>
            <a:off x="0" y="0"/>
            <a:ext cx="4206240" cy="6858000"/>
          </a:xfrm>
          <a:prstGeom prst="rect"/>
          <a:solidFill>
            <a:srgbClr val="0A1D30"/>
          </a:solidFill>
        </p:spPr>
      </p:sp>
      <p:sp>
        <p:nvSpPr>
          <p:cNvPr id="1048577" name="Text 1"/>
          <p:cNvSpPr/>
          <p:nvPr/>
        </p:nvSpPr>
        <p:spPr>
          <a:xfrm>
            <a:off x="640080" y="2743200"/>
            <a:ext cx="3017520" cy="457200"/>
          </a:xfrm>
          <a:prstGeom prst="rect"/>
          <a:noFill/>
        </p:spPr>
        <p:txBody>
          <a:bodyPr anchor="ctr" bIns="0" lIns="0" rIns="0" rtlCol="0" tIns="0" wrap="square"/>
          <a:p>
            <a:pPr indent="0" marL="0">
              <a:buNone/>
            </a:pPr>
            <a:r>
              <a:rPr b="1" dirty="0" sz="1600" lang="en-US">
                <a:solidFill>
                  <a:srgbClr val="00B8A9"/>
                </a:solidFill>
                <a:latin typeface="Calibri" pitchFamily="34" charset="0"/>
                <a:ea typeface="Calibri" pitchFamily="34" charset="-122"/>
                <a:cs typeface="Calibri" pitchFamily="34" charset="-120"/>
              </a:rPr>
              <a:t>LECTURE 06</a:t>
            </a:r>
            <a:endParaRPr dirty="0" sz="1600" lang="en-US"/>
          </a:p>
        </p:txBody>
      </p:sp>
      <p:sp>
        <p:nvSpPr>
          <p:cNvPr id="1048578" name="Text 2"/>
          <p:cNvSpPr/>
          <p:nvPr/>
        </p:nvSpPr>
        <p:spPr>
          <a:xfrm>
            <a:off x="457200" y="3108960"/>
            <a:ext cx="3291840" cy="2011680"/>
          </a:xfrm>
          <a:prstGeom prst="rect"/>
          <a:noFill/>
        </p:spPr>
        <p:txBody>
          <a:bodyPr anchor="ctr" bIns="0" lIns="0" rIns="0" rtlCol="0" tIns="0" wrap="square"/>
          <a:p>
            <a:pPr indent="0" marL="0">
              <a:buNone/>
            </a:pPr>
            <a:r>
              <a:rPr b="1" dirty="0" sz="10000" lang="en-US">
                <a:solidFill>
                  <a:srgbClr val="1C3A55"/>
                </a:solidFill>
                <a:latin typeface="Calibri" pitchFamily="34" charset="0"/>
                <a:ea typeface="Calibri" pitchFamily="34" charset="-122"/>
                <a:cs typeface="Calibri" pitchFamily="34" charset="-120"/>
              </a:rPr>
              <a:t>06</a:t>
            </a:r>
            <a:endParaRPr dirty="0" sz="10000" lang="en-US"/>
          </a:p>
        </p:txBody>
      </p:sp>
      <p:sp>
        <p:nvSpPr>
          <p:cNvPr id="1048579" name="Text 3"/>
          <p:cNvSpPr/>
          <p:nvPr/>
        </p:nvSpPr>
        <p:spPr>
          <a:xfrm>
            <a:off x="4663440" y="2423160"/>
            <a:ext cx="6949440" cy="1463040"/>
          </a:xfrm>
          <a:prstGeom prst="rect"/>
          <a:noFill/>
        </p:spPr>
        <p:txBody>
          <a:bodyPr anchor="t" bIns="0" lIns="0" rIns="0" rtlCol="0" tIns="0" wrap="square"/>
          <a:p>
            <a:pPr indent="0" marL="0">
              <a:buNone/>
            </a:pPr>
            <a:r>
              <a:rPr b="1" dirty="0" sz="3400" lang="en-US">
                <a:solidFill>
                  <a:srgbClr val="FFFFFF"/>
                </a:solidFill>
                <a:latin typeface="Calibri" pitchFamily="34" charset="0"/>
                <a:ea typeface="Calibri" pitchFamily="34" charset="-122"/>
                <a:cs typeface="Calibri" pitchFamily="34" charset="-120"/>
              </a:rPr>
              <a:t>Operational Analysis &amp; Networks of Queues</a:t>
            </a:r>
            <a:endParaRPr dirty="0" sz="3400" lang="en-US"/>
          </a:p>
        </p:txBody>
      </p:sp>
      <p:sp>
        <p:nvSpPr>
          <p:cNvPr id="1048580" name="Text 4"/>
          <p:cNvSpPr/>
          <p:nvPr/>
        </p:nvSpPr>
        <p:spPr>
          <a:xfrm>
            <a:off x="4709160" y="3977639"/>
            <a:ext cx="6766560" cy="1891315"/>
          </a:xfrm>
          <a:prstGeom prst="rect"/>
          <a:noFill/>
        </p:spPr>
        <p:txBody>
          <a:bodyPr anchor="t" bIns="0" lIns="0" rIns="0" rtlCol="0" tIns="0" wrap="square"/>
          <a:p>
            <a:pPr indent="0" marL="0">
              <a:lnSpc>
                <a:spcPct val="130000"/>
              </a:lnSpc>
              <a:buNone/>
            </a:pPr>
            <a:r>
              <a:rPr dirty="0" sz="2400" lang="en-US">
                <a:solidFill>
                  <a:srgbClr val="C7D0D9"/>
                </a:solidFill>
                <a:latin typeface="Calibri" pitchFamily="34" charset="0"/>
                <a:ea typeface="Calibri" pitchFamily="34" charset="-122"/>
                <a:cs typeface="Calibri" pitchFamily="34" charset="-120"/>
              </a:rPr>
              <a:t>Moving from a single resource to a full system: operational laws, open and closed queueing networks, and bottleneck analysis.</a:t>
            </a:r>
            <a:endParaRPr dirty="0" sz="24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38" name=""/>
        <p:cNvGrpSpPr/>
        <p:nvPr/>
      </p:nvGrpSpPr>
      <p:grpSpPr>
        <a:xfrm>
          <a:off x="0" y="0"/>
          <a:ext cx="0" cy="0"/>
          <a:chOff x="0" y="0"/>
          <a:chExt cx="0" cy="0"/>
        </a:xfrm>
      </p:grpSpPr>
      <p:sp>
        <p:nvSpPr>
          <p:cNvPr id="1048584" name="Text 0"/>
          <p:cNvSpPr/>
          <p:nvPr/>
        </p:nvSpPr>
        <p:spPr>
          <a:xfrm>
            <a:off x="548640" y="411480"/>
            <a:ext cx="5486400" cy="640080"/>
          </a:xfrm>
          <a:prstGeom prst="rect"/>
          <a:noFill/>
        </p:spPr>
        <p:txBody>
          <a:bodyPr anchor="ctr" bIns="0" lIns="0" rIns="0" rtlCol="0" tIns="0" wrap="square"/>
          <a:p>
            <a:pPr indent="0" marL="0">
              <a:buNone/>
            </a:pPr>
            <a:r>
              <a:rPr b="1" dirty="0" sz="3000" lang="en-US">
                <a:solidFill>
                  <a:srgbClr val="0F2942"/>
                </a:solidFill>
                <a:latin typeface="Calibri" pitchFamily="34" charset="0"/>
                <a:ea typeface="Calibri" pitchFamily="34" charset="-122"/>
                <a:cs typeface="Calibri" pitchFamily="34" charset="-120"/>
              </a:rPr>
              <a:t>Agenda</a:t>
            </a:r>
            <a:endParaRPr dirty="0" sz="3000" lang="en-US"/>
          </a:p>
        </p:txBody>
      </p:sp>
      <p:sp>
        <p:nvSpPr>
          <p:cNvPr id="1048585" name="Shape 1"/>
          <p:cNvSpPr/>
          <p:nvPr/>
        </p:nvSpPr>
        <p:spPr>
          <a:xfrm>
            <a:off x="566928" y="1097280"/>
            <a:ext cx="457200" cy="54864"/>
          </a:xfrm>
          <a:prstGeom prst="rect"/>
          <a:solidFill>
            <a:srgbClr val="00B8A9"/>
          </a:solidFill>
        </p:spPr>
      </p:sp>
      <p:sp>
        <p:nvSpPr>
          <p:cNvPr id="1048586" name="Shape 2"/>
          <p:cNvSpPr/>
          <p:nvPr/>
        </p:nvSpPr>
        <p:spPr>
          <a:xfrm>
            <a:off x="640080" y="1508760"/>
            <a:ext cx="457200" cy="457200"/>
          </a:xfrm>
          <a:prstGeom prst="roundRect">
            <a:avLst>
              <a:gd name="adj" fmla="val 16000"/>
            </a:avLst>
          </a:prstGeom>
          <a:solidFill>
            <a:srgbClr val="EAF6F5"/>
          </a:solidFill>
        </p:spPr>
      </p:sp>
      <p:sp>
        <p:nvSpPr>
          <p:cNvPr id="1048587" name="Text 3"/>
          <p:cNvSpPr/>
          <p:nvPr/>
        </p:nvSpPr>
        <p:spPr>
          <a:xfrm>
            <a:off x="640080" y="15087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1</a:t>
            </a:r>
            <a:endParaRPr dirty="0" sz="1600" lang="en-US"/>
          </a:p>
        </p:txBody>
      </p:sp>
      <p:sp>
        <p:nvSpPr>
          <p:cNvPr id="1048588" name="Text 4"/>
          <p:cNvSpPr/>
          <p:nvPr/>
        </p:nvSpPr>
        <p:spPr>
          <a:xfrm>
            <a:off x="1234439" y="1481328"/>
            <a:ext cx="10148907"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Why real systems need networks of queues, not just one station</a:t>
            </a:r>
            <a:endParaRPr dirty="0" sz="2400" lang="en-US"/>
          </a:p>
        </p:txBody>
      </p:sp>
      <p:sp>
        <p:nvSpPr>
          <p:cNvPr id="1048589" name="Shape 5"/>
          <p:cNvSpPr/>
          <p:nvPr/>
        </p:nvSpPr>
        <p:spPr>
          <a:xfrm>
            <a:off x="640080" y="2301240"/>
            <a:ext cx="457200" cy="457200"/>
          </a:xfrm>
          <a:prstGeom prst="roundRect">
            <a:avLst>
              <a:gd name="adj" fmla="val 16000"/>
            </a:avLst>
          </a:prstGeom>
          <a:solidFill>
            <a:srgbClr val="EAF6F5"/>
          </a:solidFill>
        </p:spPr>
      </p:sp>
      <p:sp>
        <p:nvSpPr>
          <p:cNvPr id="1048590" name="Text 6"/>
          <p:cNvSpPr/>
          <p:nvPr/>
        </p:nvSpPr>
        <p:spPr>
          <a:xfrm>
            <a:off x="640080" y="230124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2</a:t>
            </a:r>
            <a:endParaRPr dirty="0" sz="1600" lang="en-US"/>
          </a:p>
        </p:txBody>
      </p:sp>
      <p:sp>
        <p:nvSpPr>
          <p:cNvPr id="1048591" name="Text 7"/>
          <p:cNvSpPr/>
          <p:nvPr/>
        </p:nvSpPr>
        <p:spPr>
          <a:xfrm>
            <a:off x="1234439" y="2273808"/>
            <a:ext cx="10148907"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Operational laws: Utilization, Forced Flow, and the Interactive Response Time Law</a:t>
            </a:r>
            <a:endParaRPr dirty="0" sz="2400" lang="en-US"/>
          </a:p>
        </p:txBody>
      </p:sp>
      <p:sp>
        <p:nvSpPr>
          <p:cNvPr id="1048592" name="Shape 8"/>
          <p:cNvSpPr/>
          <p:nvPr/>
        </p:nvSpPr>
        <p:spPr>
          <a:xfrm>
            <a:off x="640080" y="3093720"/>
            <a:ext cx="457200" cy="457200"/>
          </a:xfrm>
          <a:prstGeom prst="roundRect">
            <a:avLst>
              <a:gd name="adj" fmla="val 16000"/>
            </a:avLst>
          </a:prstGeom>
          <a:solidFill>
            <a:srgbClr val="EAF6F5"/>
          </a:solidFill>
        </p:spPr>
      </p:sp>
      <p:sp>
        <p:nvSpPr>
          <p:cNvPr id="1048593" name="Text 9"/>
          <p:cNvSpPr/>
          <p:nvPr/>
        </p:nvSpPr>
        <p:spPr>
          <a:xfrm>
            <a:off x="640080" y="309372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3</a:t>
            </a:r>
            <a:endParaRPr dirty="0" sz="1600" lang="en-US"/>
          </a:p>
        </p:txBody>
      </p:sp>
      <p:sp>
        <p:nvSpPr>
          <p:cNvPr id="1048594" name="Text 10"/>
          <p:cNvSpPr/>
          <p:nvPr/>
        </p:nvSpPr>
        <p:spPr>
          <a:xfrm>
            <a:off x="1234439" y="3066288"/>
            <a:ext cx="10148907"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Open queueing networks and the Bottleneck Law</a:t>
            </a:r>
            <a:endParaRPr dirty="0" sz="2400" lang="en-US"/>
          </a:p>
        </p:txBody>
      </p:sp>
      <p:sp>
        <p:nvSpPr>
          <p:cNvPr id="1048595" name="Shape 11"/>
          <p:cNvSpPr/>
          <p:nvPr/>
        </p:nvSpPr>
        <p:spPr>
          <a:xfrm>
            <a:off x="640080" y="3886200"/>
            <a:ext cx="457200" cy="457200"/>
          </a:xfrm>
          <a:prstGeom prst="roundRect">
            <a:avLst>
              <a:gd name="adj" fmla="val 16000"/>
            </a:avLst>
          </a:prstGeom>
          <a:solidFill>
            <a:srgbClr val="EAF6F5"/>
          </a:solidFill>
        </p:spPr>
      </p:sp>
      <p:sp>
        <p:nvSpPr>
          <p:cNvPr id="1048596" name="Text 12"/>
          <p:cNvSpPr/>
          <p:nvPr/>
        </p:nvSpPr>
        <p:spPr>
          <a:xfrm>
            <a:off x="640080" y="388620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4</a:t>
            </a:r>
            <a:endParaRPr dirty="0" sz="1600" lang="en-US"/>
          </a:p>
        </p:txBody>
      </p:sp>
      <p:sp>
        <p:nvSpPr>
          <p:cNvPr id="1048597" name="Text 13"/>
          <p:cNvSpPr/>
          <p:nvPr/>
        </p:nvSpPr>
        <p:spPr>
          <a:xfrm>
            <a:off x="1234439" y="3858768"/>
            <a:ext cx="10148907"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Closed queueing networks and Mean Value Analysis (MVA)</a:t>
            </a:r>
            <a:endParaRPr dirty="0" sz="2400" lang="en-US"/>
          </a:p>
        </p:txBody>
      </p:sp>
      <p:sp>
        <p:nvSpPr>
          <p:cNvPr id="1048598" name="Shape 14"/>
          <p:cNvSpPr/>
          <p:nvPr/>
        </p:nvSpPr>
        <p:spPr>
          <a:xfrm>
            <a:off x="640080" y="4678680"/>
            <a:ext cx="457200" cy="457200"/>
          </a:xfrm>
          <a:prstGeom prst="roundRect">
            <a:avLst>
              <a:gd name="adj" fmla="val 16000"/>
            </a:avLst>
          </a:prstGeom>
          <a:solidFill>
            <a:srgbClr val="EAF6F5"/>
          </a:solidFill>
        </p:spPr>
      </p:sp>
      <p:sp>
        <p:nvSpPr>
          <p:cNvPr id="1048599" name="Text 15"/>
          <p:cNvSpPr/>
          <p:nvPr/>
        </p:nvSpPr>
        <p:spPr>
          <a:xfrm>
            <a:off x="640080" y="467868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5</a:t>
            </a:r>
            <a:endParaRPr dirty="0" sz="1600" lang="en-US"/>
          </a:p>
        </p:txBody>
      </p:sp>
      <p:sp>
        <p:nvSpPr>
          <p:cNvPr id="1048600" name="Text 16"/>
          <p:cNvSpPr/>
          <p:nvPr/>
        </p:nvSpPr>
        <p:spPr>
          <a:xfrm>
            <a:off x="1234439" y="4651248"/>
            <a:ext cx="10148907"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Identifying and interpreting the system bottleneck</a:t>
            </a:r>
            <a:endParaRPr dirty="0" sz="2400" lang="en-US"/>
          </a:p>
        </p:txBody>
      </p:sp>
      <p:sp>
        <p:nvSpPr>
          <p:cNvPr id="1048601" name="Shape 17"/>
          <p:cNvSpPr/>
          <p:nvPr/>
        </p:nvSpPr>
        <p:spPr>
          <a:xfrm>
            <a:off x="640080" y="5471160"/>
            <a:ext cx="457200" cy="457200"/>
          </a:xfrm>
          <a:prstGeom prst="roundRect">
            <a:avLst>
              <a:gd name="adj" fmla="val 16000"/>
            </a:avLst>
          </a:prstGeom>
          <a:solidFill>
            <a:srgbClr val="EAF6F5"/>
          </a:solidFill>
        </p:spPr>
      </p:sp>
      <p:sp>
        <p:nvSpPr>
          <p:cNvPr id="1048602" name="Text 18"/>
          <p:cNvSpPr/>
          <p:nvPr/>
        </p:nvSpPr>
        <p:spPr>
          <a:xfrm>
            <a:off x="640080" y="54711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6</a:t>
            </a:r>
            <a:endParaRPr dirty="0" sz="1600" lang="en-US"/>
          </a:p>
        </p:txBody>
      </p:sp>
      <p:sp>
        <p:nvSpPr>
          <p:cNvPr id="1048603" name="Text 19"/>
          <p:cNvSpPr/>
          <p:nvPr/>
        </p:nvSpPr>
        <p:spPr>
          <a:xfrm>
            <a:off x="1234439" y="5443728"/>
            <a:ext cx="10148907"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Worked example: a multi-tier web application</a:t>
            </a:r>
            <a:endParaRPr dirty="0" sz="2400" lang="en-US"/>
          </a:p>
        </p:txBody>
      </p:sp>
      <p:sp>
        <p:nvSpPr>
          <p:cNvPr id="1048604" name="Text 2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05" name="Text 2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a:t>
            </a:r>
            <a:endParaRPr dirty="0" sz="9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41" name=""/>
        <p:cNvGrpSpPr/>
        <p:nvPr/>
      </p:nvGrpSpPr>
      <p:grpSpPr>
        <a:xfrm>
          <a:off x="0" y="0"/>
          <a:ext cx="0" cy="0"/>
          <a:chOff x="0" y="0"/>
          <a:chExt cx="0" cy="0"/>
        </a:xfrm>
      </p:grpSpPr>
      <p:sp>
        <p:nvSpPr>
          <p:cNvPr id="104860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From One Station to a Whole System</a:t>
            </a:r>
            <a:endParaRPr dirty="0" sz="2600" lang="en-US"/>
          </a:p>
        </p:txBody>
      </p:sp>
      <p:sp>
        <p:nvSpPr>
          <p:cNvPr id="1048610" name="Shape 1"/>
          <p:cNvSpPr/>
          <p:nvPr/>
        </p:nvSpPr>
        <p:spPr>
          <a:xfrm>
            <a:off x="566928" y="1005840"/>
            <a:ext cx="411480" cy="45720"/>
          </a:xfrm>
          <a:prstGeom prst="rect"/>
          <a:solidFill>
            <a:srgbClr val="00B8A9"/>
          </a:solidFill>
        </p:spPr>
      </p:sp>
      <p:sp>
        <p:nvSpPr>
          <p:cNvPr id="104861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Lecture 5 modeled a single resource — one CPU, one database. Real systems are chains and networks of many such resources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 single web request might touch: a load balancer, a web server, an application server, a database, and a cache — each a queueing station in its own right</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lecture develops the tools to analyze the whole network of stations together, not just one at a time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We start with operational analysis: a set of simple, assumption-light laws that work directly from measured data</a:t>
            </a:r>
            <a:endParaRPr dirty="0" sz="2400" lang="en-US"/>
          </a:p>
        </p:txBody>
      </p:sp>
      <p:sp>
        <p:nvSpPr>
          <p:cNvPr id="104861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1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a:t>
            </a:r>
            <a:endParaRPr dirty="0" sz="9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942"/>
        </a:solidFill>
        <a:effectLst/>
      </p:bgPr>
    </p:bg>
    <p:spTree>
      <p:nvGrpSpPr>
        <p:cNvPr id="44" name=""/>
        <p:cNvGrpSpPr/>
        <p:nvPr/>
      </p:nvGrpSpPr>
      <p:grpSpPr>
        <a:xfrm>
          <a:off x="0" y="0"/>
          <a:ext cx="0" cy="0"/>
          <a:chOff x="0" y="0"/>
          <a:chExt cx="0" cy="0"/>
        </a:xfrm>
      </p:grpSpPr>
      <p:sp>
        <p:nvSpPr>
          <p:cNvPr id="1048617" name="Shape 0"/>
          <p:cNvSpPr/>
          <p:nvPr/>
        </p:nvSpPr>
        <p:spPr>
          <a:xfrm>
            <a:off x="0" y="0"/>
            <a:ext cx="228600" cy="6858000"/>
          </a:xfrm>
          <a:prstGeom prst="rect"/>
          <a:solidFill>
            <a:srgbClr val="00B8A9"/>
          </a:solidFill>
        </p:spPr>
      </p:sp>
      <p:sp>
        <p:nvSpPr>
          <p:cNvPr id="1048618"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19"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Operational Analysis</a:t>
            </a:r>
            <a:endParaRPr dirty="0" sz="3000" lang="en-US"/>
          </a:p>
        </p:txBody>
      </p:sp>
      <p:sp>
        <p:nvSpPr>
          <p:cNvPr id="1048620"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“An approach to performance modeling, pioneered by Jeff Buzen and Peter Denning, that derives useful relationships (operational laws) directly from measurable quantities, without requiring strong probabilistic assumptions like Poisson arrivals or exponential service.”</a:t>
            </a:r>
            <a:endParaRPr dirty="0" sz="2400" lang="en-US"/>
          </a:p>
        </p:txBody>
      </p:sp>
      <p:sp>
        <p:nvSpPr>
          <p:cNvPr id="1048621"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000" lang="en-US">
                <a:solidFill>
                  <a:srgbClr val="C7D0D9"/>
                </a:solidFill>
                <a:latin typeface="Calibri" pitchFamily="34" charset="0"/>
                <a:ea typeface="Calibri" pitchFamily="34" charset="-122"/>
                <a:cs typeface="Calibri" pitchFamily="34" charset="-120"/>
              </a:rPr>
              <a:t>This is a deliberately practical complement to the more assumption-heavy stochastic queueing theory from Lecture 5</a:t>
            </a:r>
            <a:endParaRPr dirty="0" sz="2000" lang="en-US"/>
          </a:p>
          <a:p>
            <a:pPr indent="-342900" marL="342900">
              <a:spcAft>
                <a:spcPts val="800"/>
              </a:spcAft>
              <a:buSzPct val="100000"/>
              <a:buChar char="•"/>
            </a:pPr>
            <a:r>
              <a:rPr dirty="0" sz="2000" lang="en-US">
                <a:solidFill>
                  <a:srgbClr val="C7D0D9"/>
                </a:solidFill>
                <a:latin typeface="Calibri" pitchFamily="34" charset="0"/>
                <a:ea typeface="Calibri" pitchFamily="34" charset="-122"/>
                <a:cs typeface="Calibri" pitchFamily="34" charset="-120"/>
              </a:rPr>
              <a:t>The operational laws are provably true for any observation period, based only on counting events — not on any assumed distribution</a:t>
            </a:r>
            <a:endParaRPr dirty="0" sz="2000" lang="en-US"/>
          </a:p>
        </p:txBody>
      </p:sp>
      <p:sp>
        <p:nvSpPr>
          <p:cNvPr id="1048622"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23"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4</a:t>
            </a:r>
            <a:endParaRPr dirty="0" sz="9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47" name=""/>
        <p:cNvGrpSpPr/>
        <p:nvPr/>
      </p:nvGrpSpPr>
      <p:grpSpPr>
        <a:xfrm>
          <a:off x="0" y="0"/>
          <a:ext cx="0" cy="0"/>
          <a:chOff x="0" y="0"/>
          <a:chExt cx="0" cy="0"/>
        </a:xfrm>
      </p:grpSpPr>
      <p:sp>
        <p:nvSpPr>
          <p:cNvPr id="104862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Operational Analysis Is Attractive in Practice</a:t>
            </a:r>
            <a:endParaRPr dirty="0" sz="2600" lang="en-US"/>
          </a:p>
        </p:txBody>
      </p:sp>
      <p:sp>
        <p:nvSpPr>
          <p:cNvPr id="1048628" name="Shape 1"/>
          <p:cNvSpPr/>
          <p:nvPr/>
        </p:nvSpPr>
        <p:spPr>
          <a:xfrm>
            <a:off x="566928" y="1005840"/>
            <a:ext cx="411480" cy="45720"/>
          </a:xfrm>
          <a:prstGeom prst="rect"/>
          <a:solidFill>
            <a:srgbClr val="00B8A9"/>
          </a:solidFill>
        </p:spPr>
      </p:sp>
      <p:sp>
        <p:nvSpPr>
          <p:cNvPr id="1048629"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No need to verify that arrivals are exactly Poisson or service times exactly exponential</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Every quantity involved (completions, busy time, arrivals) can be directly measured from real system logs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The laws hold as long-run averages over any sufficiently long observation period — a very weak, realistic assumption</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makes operational analysis an excellent complement to the stochastic models from Lecture 5, especially for validation against real measurements</a:t>
            </a:r>
            <a:endParaRPr dirty="0" sz="2400" lang="en-US"/>
          </a:p>
        </p:txBody>
      </p:sp>
      <p:sp>
        <p:nvSpPr>
          <p:cNvPr id="1048630"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31"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5</a:t>
            </a:r>
            <a:endParaRPr dirty="0" sz="9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942"/>
        </a:solidFill>
        <a:effectLst/>
      </p:bgPr>
    </p:bg>
    <p:spTree>
      <p:nvGrpSpPr>
        <p:cNvPr id="50" name=""/>
        <p:cNvGrpSpPr/>
        <p:nvPr/>
      </p:nvGrpSpPr>
      <p:grpSpPr>
        <a:xfrm>
          <a:off x="0" y="0"/>
          <a:ext cx="0" cy="0"/>
          <a:chOff x="0" y="0"/>
          <a:chExt cx="0" cy="0"/>
        </a:xfrm>
      </p:grpSpPr>
      <p:sp>
        <p:nvSpPr>
          <p:cNvPr id="1048635" name="Shape 0"/>
          <p:cNvSpPr/>
          <p:nvPr/>
        </p:nvSpPr>
        <p:spPr>
          <a:xfrm>
            <a:off x="0" y="0"/>
            <a:ext cx="228600" cy="6858000"/>
          </a:xfrm>
          <a:prstGeom prst="rect"/>
          <a:solidFill>
            <a:srgbClr val="00B8A9"/>
          </a:solidFill>
        </p:spPr>
      </p:sp>
      <p:sp>
        <p:nvSpPr>
          <p:cNvPr id="1048636"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37"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The Utilization Law</a:t>
            </a:r>
            <a:endParaRPr dirty="0" sz="3000" lang="en-US"/>
          </a:p>
        </p:txBody>
      </p:sp>
      <p:sp>
        <p:nvSpPr>
          <p:cNvPr id="1048638"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“For resource k: U_k = X × D_k, where X is the system throughput and D_k is the average total service demand a typical request places on resource k across all its visits.”</a:t>
            </a:r>
            <a:endParaRPr dirty="0" sz="2400" lang="en-US"/>
          </a:p>
        </p:txBody>
      </p:sp>
      <p:sp>
        <p:nvSpPr>
          <p:cNvPr id="1048639"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This was previewed informally in Lecture 2 — here we make it rigorous and connect it to the rest of the operational law framework</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D_k = V_k × S_k, where V_k is the average number of visits to resource k per request, and S_k is the average service time per visit</a:t>
            </a:r>
            <a:endParaRPr dirty="0" sz="2400" lang="en-US"/>
          </a:p>
        </p:txBody>
      </p:sp>
      <p:sp>
        <p:nvSpPr>
          <p:cNvPr id="1048640"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41"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6</a:t>
            </a:r>
            <a:endParaRPr dirty="0" sz="9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942"/>
        </a:solidFill>
        <a:effectLst/>
      </p:bgPr>
    </p:bg>
    <p:spTree>
      <p:nvGrpSpPr>
        <p:cNvPr id="53" name=""/>
        <p:cNvGrpSpPr/>
        <p:nvPr/>
      </p:nvGrpSpPr>
      <p:grpSpPr>
        <a:xfrm>
          <a:off x="0" y="0"/>
          <a:ext cx="0" cy="0"/>
          <a:chOff x="0" y="0"/>
          <a:chExt cx="0" cy="0"/>
        </a:xfrm>
      </p:grpSpPr>
      <p:sp>
        <p:nvSpPr>
          <p:cNvPr id="1048645" name="Shape 0"/>
          <p:cNvSpPr/>
          <p:nvPr/>
        </p:nvSpPr>
        <p:spPr>
          <a:xfrm>
            <a:off x="0" y="0"/>
            <a:ext cx="228600" cy="6858000"/>
          </a:xfrm>
          <a:prstGeom prst="rect"/>
          <a:solidFill>
            <a:srgbClr val="00B8A9"/>
          </a:solidFill>
        </p:spPr>
      </p:sp>
      <p:sp>
        <p:nvSpPr>
          <p:cNvPr id="1048646"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47"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The Forced Flow Law</a:t>
            </a:r>
            <a:endParaRPr dirty="0" sz="3000" lang="en-US"/>
          </a:p>
        </p:txBody>
      </p:sp>
      <p:sp>
        <p:nvSpPr>
          <p:cNvPr id="1048648"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“The throughput of resource k, X_k, equals the system throughput X multiplied by the visit ratio V_k: X_k = X × V_k.”</a:t>
            </a:r>
            <a:endParaRPr dirty="0" sz="2400" lang="en-US"/>
          </a:p>
        </p:txBody>
      </p:sp>
      <p:sp>
        <p:nvSpPr>
          <p:cNvPr id="1048649"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This captures a simple but essential idea: if a database is visited twice per user request on average, its throughput must be exactly twice the overall system throughput</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This law is what lets us translate a single 'system-level' throughput number into per-resource throughput for every station in a network</a:t>
            </a:r>
            <a:endParaRPr dirty="0" sz="2400" lang="en-US"/>
          </a:p>
        </p:txBody>
      </p:sp>
      <p:sp>
        <p:nvSpPr>
          <p:cNvPr id="1048650"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51"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7</a:t>
            </a:r>
            <a:endParaRPr dirty="0" sz="9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56" name=""/>
        <p:cNvGrpSpPr/>
        <p:nvPr/>
      </p:nvGrpSpPr>
      <p:grpSpPr>
        <a:xfrm>
          <a:off x="0" y="0"/>
          <a:ext cx="0" cy="0"/>
          <a:chOff x="0" y="0"/>
          <a:chExt cx="0" cy="0"/>
        </a:xfrm>
      </p:grpSpPr>
      <p:sp>
        <p:nvSpPr>
          <p:cNvPr id="1048655"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Worked Example: Applying the Forced Flow and Utilization Laws</a:t>
            </a:r>
            <a:endParaRPr dirty="0" sz="2600" lang="en-US"/>
          </a:p>
        </p:txBody>
      </p:sp>
      <p:sp>
        <p:nvSpPr>
          <p:cNvPr id="1048656" name="Shape 1"/>
          <p:cNvSpPr/>
          <p:nvPr/>
        </p:nvSpPr>
        <p:spPr>
          <a:xfrm>
            <a:off x="566928" y="1005840"/>
            <a:ext cx="411480" cy="45720"/>
          </a:xfrm>
          <a:prstGeom prst="rect"/>
          <a:solidFill>
            <a:srgbClr val="00B8A9"/>
          </a:solidFill>
        </p:spPr>
      </p:sp>
      <p:sp>
        <p:nvSpPr>
          <p:cNvPr id="1048657"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 checkout request visits the application server once and the database 3 times on average (V_db = 3)</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If system throughput X = 50 requests/second, then database throughput X_db = X × V_db = 50 × 3 = 150 queries/second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If each database query takes 4ms on average (S_db = 4ms), then D_db = V_db × S_db = 3 × 4ms = 12ms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Database utilization: U_db = X × D_db = 50 × 0.012 = 0.6 (60%)</a:t>
            </a:r>
            <a:endParaRPr dirty="0" sz="2400" lang="en-US"/>
          </a:p>
        </p:txBody>
      </p:sp>
      <p:sp>
        <p:nvSpPr>
          <p:cNvPr id="1048658"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59"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8</a:t>
            </a:r>
            <a:endParaRPr dirty="0" sz="9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942"/>
        </a:solidFill>
        <a:effectLst/>
      </p:bgPr>
    </p:bg>
    <p:spTree>
      <p:nvGrpSpPr>
        <p:cNvPr id="59" name=""/>
        <p:cNvGrpSpPr/>
        <p:nvPr/>
      </p:nvGrpSpPr>
      <p:grpSpPr>
        <a:xfrm>
          <a:off x="0" y="0"/>
          <a:ext cx="0" cy="0"/>
          <a:chOff x="0" y="0"/>
          <a:chExt cx="0" cy="0"/>
        </a:xfrm>
      </p:grpSpPr>
      <p:sp>
        <p:nvSpPr>
          <p:cNvPr id="1048663" name="Shape 0"/>
          <p:cNvSpPr/>
          <p:nvPr/>
        </p:nvSpPr>
        <p:spPr>
          <a:xfrm>
            <a:off x="0" y="0"/>
            <a:ext cx="228600" cy="6858000"/>
          </a:xfrm>
          <a:prstGeom prst="rect"/>
          <a:solidFill>
            <a:srgbClr val="00B8A9"/>
          </a:solidFill>
        </p:spPr>
      </p:sp>
      <p:sp>
        <p:nvSpPr>
          <p:cNvPr id="1048664"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65"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The Bottleneck Law (and Bottleneck Identification)</a:t>
            </a:r>
            <a:endParaRPr dirty="0" sz="3000" lang="en-US"/>
          </a:p>
        </p:txBody>
      </p:sp>
      <p:sp>
        <p:nvSpPr>
          <p:cNvPr id="1048666"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“The resource k with the highest total service demand D_k is the system bottleneck — it will reach 100% utilization first as system throughput increases, and it caps the maximum achievable system throughput at X_max = 1 / D_max.”</a:t>
            </a:r>
            <a:endParaRPr dirty="0" sz="2400" lang="en-US"/>
          </a:p>
        </p:txBody>
      </p:sp>
      <p:sp>
        <p:nvSpPr>
          <p:cNvPr id="1048667"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This gives a precise, quantitative version of the informal 'bottleneck' concept introduced in Lecture 1</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Finding the bottleneck is often the single most actionable output of an entire performance modeling exercise</a:t>
            </a:r>
            <a:endParaRPr dirty="0" sz="2400" lang="en-US"/>
          </a:p>
        </p:txBody>
      </p:sp>
      <p:sp>
        <p:nvSpPr>
          <p:cNvPr id="1048668"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69"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9</a:t>
            </a:r>
            <a:endParaRPr dirty="0" sz="9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62" name=""/>
        <p:cNvGrpSpPr/>
        <p:nvPr/>
      </p:nvGrpSpPr>
      <p:grpSpPr>
        <a:xfrm>
          <a:off x="0" y="0"/>
          <a:ext cx="0" cy="0"/>
          <a:chOff x="0" y="0"/>
          <a:chExt cx="0" cy="0"/>
        </a:xfrm>
      </p:grpSpPr>
      <p:sp>
        <p:nvSpPr>
          <p:cNvPr id="104867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Worked Example: Finding the Bottleneck</a:t>
            </a:r>
            <a:endParaRPr dirty="0" sz="2600" lang="en-US"/>
          </a:p>
        </p:txBody>
      </p:sp>
      <p:sp>
        <p:nvSpPr>
          <p:cNvPr id="1048674" name="Shape 1"/>
          <p:cNvSpPr/>
          <p:nvPr/>
        </p:nvSpPr>
        <p:spPr>
          <a:xfrm>
            <a:off x="566928" y="1005840"/>
            <a:ext cx="411480" cy="45720"/>
          </a:xfrm>
          <a:prstGeom prst="rect"/>
          <a:solidFill>
            <a:srgbClr val="00B8A9"/>
          </a:solidFill>
        </p:spPr>
      </p:sp>
      <p:graphicFrame>
        <p:nvGraphicFramePr>
          <p:cNvPr id="4194304" name="Table 0"/>
          <p:cNvGraphicFramePr>
            <a:graphicFrameLocks noGrp="1"/>
          </p:cNvGraphicFramePr>
          <p:nvPr/>
        </p:nvGraphicFramePr>
        <p:xfrm>
          <a:off x="548640" y="1325880"/>
          <a:ext cx="11064240" cy="4846320"/>
        </p:xfrm>
        <a:graphic>
          <a:graphicData uri="http://schemas.openxmlformats.org/drawingml/2006/table">
            <a:tbl>
              <a:tblPr/>
              <a:tblGrid>
                <a:gridCol w="2766060"/>
                <a:gridCol w="2766060"/>
                <a:gridCol w="2766060"/>
                <a:gridCol w="2766060"/>
              </a:tblGrid>
              <a:tr h="969264">
                <a:tc>
                  <a:txBody>
                    <a:bodyPr/>
                    <a:p>
                      <a:pPr indent="0" marL="0">
                        <a:buNone/>
                      </a:pPr>
                      <a:r>
                        <a:rPr b="1" dirty="0" sz="2400" lang="en-US">
                          <a:solidFill>
                            <a:srgbClr val="FFFFFF"/>
                          </a:solidFill>
                          <a:latin typeface="Calibri" pitchFamily="34" charset="0"/>
                          <a:ea typeface="Calibri" pitchFamily="34" charset="-122"/>
                          <a:cs typeface="Calibri" pitchFamily="34" charset="-120"/>
                        </a:rPr>
                        <a:t>Resource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Visits/Request (V_k)</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Time/Visit (S_k)</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Demand (D_k = V_k × S_k)</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r>
              <a:tr h="969264">
                <a:tc>
                  <a:txBody>
                    <a:bodyPr/>
                    <a:p>
                      <a:pPr indent="0" marL="0">
                        <a:buNone/>
                      </a:pPr>
                      <a:r>
                        <a:rPr dirty="0" sz="2400" lang="en-US">
                          <a:solidFill>
                            <a:srgbClr val="1A1A2E"/>
                          </a:solidFill>
                          <a:latin typeface="Calibri" pitchFamily="34" charset="0"/>
                          <a:ea typeface="Calibri" pitchFamily="34" charset="-122"/>
                          <a:cs typeface="Calibri" pitchFamily="34" charset="-120"/>
                        </a:rPr>
                        <a:t>Web server (CPU)</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8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8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969264">
                <a:tc>
                  <a:txBody>
                    <a:bodyPr/>
                    <a:p>
                      <a:pPr indent="0" marL="0">
                        <a:buNone/>
                      </a:pPr>
                      <a:r>
                        <a:rPr dirty="0" sz="2400" lang="en-US">
                          <a:solidFill>
                            <a:srgbClr val="1A1A2E"/>
                          </a:solidFill>
                          <a:latin typeface="Calibri" pitchFamily="34" charset="0"/>
                          <a:ea typeface="Calibri" pitchFamily="34" charset="-122"/>
                          <a:cs typeface="Calibri" pitchFamily="34" charset="-120"/>
                        </a:rPr>
                        <a:t>Application server (CPU)</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15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15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969264">
                <a:tc>
                  <a:txBody>
                    <a:bodyPr/>
                    <a:p>
                      <a:pPr indent="0" marL="0">
                        <a:buNone/>
                      </a:pPr>
                      <a:r>
                        <a:rPr dirty="0" sz="2400" lang="en-US">
                          <a:solidFill>
                            <a:srgbClr val="1A1A2E"/>
                          </a:solidFill>
                          <a:latin typeface="Calibri" pitchFamily="34" charset="0"/>
                          <a:ea typeface="Calibri" pitchFamily="34" charset="-122"/>
                          <a:cs typeface="Calibri" pitchFamily="34" charset="-120"/>
                        </a:rPr>
                        <a:t>Database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3</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12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36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969264">
                <a:tc>
                  <a:txBody>
                    <a:bodyPr/>
                    <a:p>
                      <a:pPr indent="0" marL="0">
                        <a:buNone/>
                      </a:pPr>
                      <a:r>
                        <a:rPr dirty="0" sz="2400" lang="en-US">
                          <a:solidFill>
                            <a:srgbClr val="1A1A2E"/>
                          </a:solidFill>
                          <a:latin typeface="Calibri" pitchFamily="34" charset="0"/>
                          <a:ea typeface="Calibri" pitchFamily="34" charset="-122"/>
                          <a:cs typeface="Calibri" pitchFamily="34" charset="-120"/>
                        </a:rPr>
                        <a:t>Cache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2</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2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bl>
          </a:graphicData>
        </a:graphic>
      </p:graphicFrame>
      <p:sp>
        <p:nvSpPr>
          <p:cNvPr id="1048675" name="Text 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76" name="Text 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10</a:t>
            </a:r>
            <a:endParaRPr dirty="0" sz="9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65" name=""/>
        <p:cNvGrpSpPr/>
        <p:nvPr/>
      </p:nvGrpSpPr>
      <p:grpSpPr>
        <a:xfrm>
          <a:off x="0" y="0"/>
          <a:ext cx="0" cy="0"/>
          <a:chOff x="0" y="0"/>
          <a:chExt cx="0" cy="0"/>
        </a:xfrm>
      </p:grpSpPr>
      <p:sp>
        <p:nvSpPr>
          <p:cNvPr id="1048680"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Interpreting the Bottleneck Table</a:t>
            </a:r>
            <a:endParaRPr dirty="0" sz="2600" lang="en-US"/>
          </a:p>
        </p:txBody>
      </p:sp>
      <p:sp>
        <p:nvSpPr>
          <p:cNvPr id="1048681" name="Shape 1"/>
          <p:cNvSpPr/>
          <p:nvPr/>
        </p:nvSpPr>
        <p:spPr>
          <a:xfrm>
            <a:off x="566928" y="1005840"/>
            <a:ext cx="411480" cy="45720"/>
          </a:xfrm>
          <a:prstGeom prst="rect"/>
          <a:solidFill>
            <a:srgbClr val="00B8A9"/>
          </a:solidFill>
        </p:spPr>
      </p:sp>
      <p:sp>
        <p:nvSpPr>
          <p:cNvPr id="1048682"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The database has the highest demand (36ms) — it is the system bottleneck</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Maximum possible system throughput: X_max = 1 / D_max = 1 / 0.036 = 27.8 requests/second</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No matter how much the web server or application server are optimized, throughput cannot exceed 27.8 req/s until the database demand is reduced</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the exact quantitative answer to the informal 'wrong resource optimized' story from Lecture 1 — here we can calculate, not just describe, the bottleneck</a:t>
            </a:r>
            <a:endParaRPr dirty="0" sz="2400" lang="en-US"/>
          </a:p>
        </p:txBody>
      </p:sp>
      <p:sp>
        <p:nvSpPr>
          <p:cNvPr id="1048683"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84"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11</a:t>
            </a:r>
            <a:endParaRPr dirty="0" sz="90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68" name=""/>
        <p:cNvGrpSpPr/>
        <p:nvPr/>
      </p:nvGrpSpPr>
      <p:grpSpPr>
        <a:xfrm>
          <a:off x="0" y="0"/>
          <a:ext cx="0" cy="0"/>
          <a:chOff x="0" y="0"/>
          <a:chExt cx="0" cy="0"/>
        </a:xfrm>
      </p:grpSpPr>
      <p:sp>
        <p:nvSpPr>
          <p:cNvPr id="104868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Reducing the Bottleneck: Design Implications</a:t>
            </a:r>
            <a:endParaRPr dirty="0" sz="2600" lang="en-US"/>
          </a:p>
        </p:txBody>
      </p:sp>
      <p:sp>
        <p:nvSpPr>
          <p:cNvPr id="1048689" name="Shape 1"/>
          <p:cNvSpPr/>
          <p:nvPr/>
        </p:nvSpPr>
        <p:spPr>
          <a:xfrm>
            <a:off x="566928" y="1005840"/>
            <a:ext cx="411480" cy="45720"/>
          </a:xfrm>
          <a:prstGeom prst="rect"/>
          <a:solidFill>
            <a:srgbClr val="00B8A9"/>
          </a:solidFill>
        </p:spPr>
      </p:sp>
      <p:sp>
        <p:nvSpPr>
          <p:cNvPr id="1048690"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Reduce visits: cache database results to cut V_db from 3 to 1 visit per request</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Reduce time per visit: add a database index to cut S_db from 12ms to 4ms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Either change reduces D_db and raises the ceiling on achievable system throughput — and operational analysis lets us calculate the exact new throughput ceiling before implementing anything</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a direct, practical link between performance modeling and system design decisions</a:t>
            </a:r>
            <a:endParaRPr dirty="0" sz="2400" lang="en-US"/>
          </a:p>
        </p:txBody>
      </p:sp>
      <p:sp>
        <p:nvSpPr>
          <p:cNvPr id="1048691"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692"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12</a:t>
            </a:r>
            <a:endParaRPr dirty="0" sz="90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71" name=""/>
        <p:cNvGrpSpPr/>
        <p:nvPr/>
      </p:nvGrpSpPr>
      <p:grpSpPr>
        <a:xfrm>
          <a:off x="0" y="0"/>
          <a:ext cx="0" cy="0"/>
          <a:chOff x="0" y="0"/>
          <a:chExt cx="0" cy="0"/>
        </a:xfrm>
      </p:grpSpPr>
      <p:sp>
        <p:nvSpPr>
          <p:cNvPr id="104869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Open vs. Closed Queueing Networks — Formal View</a:t>
            </a:r>
            <a:endParaRPr dirty="0" sz="2600" lang="en-US"/>
          </a:p>
        </p:txBody>
      </p:sp>
      <p:sp>
        <p:nvSpPr>
          <p:cNvPr id="1048697" name="Shape 1"/>
          <p:cNvSpPr/>
          <p:nvPr/>
        </p:nvSpPr>
        <p:spPr>
          <a:xfrm>
            <a:off x="566928" y="1005840"/>
            <a:ext cx="411480" cy="45720"/>
          </a:xfrm>
          <a:prstGeom prst="rect"/>
          <a:solidFill>
            <a:srgbClr val="00B8A9"/>
          </a:solidFill>
        </p:spPr>
      </p:sp>
      <p:sp>
        <p:nvSpPr>
          <p:cNvPr id="1048698" name="Shape 2"/>
          <p:cNvSpPr/>
          <p:nvPr/>
        </p:nvSpPr>
        <p:spPr>
          <a:xfrm>
            <a:off x="822960" y="1325880"/>
            <a:ext cx="6949440" cy="2377440"/>
          </a:xfrm>
          <a:prstGeom prst="roundRect">
            <a:avLst>
              <a:gd name="adj" fmla="val 2692"/>
            </a:avLst>
          </a:prstGeom>
          <a:solidFill>
            <a:srgbClr val="00A79A"/>
          </a:solidFill>
        </p:spPr>
      </p:sp>
      <p:sp>
        <p:nvSpPr>
          <p:cNvPr id="1048699" name="Text 3"/>
          <p:cNvSpPr/>
          <p:nvPr/>
        </p:nvSpPr>
        <p:spPr>
          <a:xfrm>
            <a:off x="1051560" y="1325880"/>
            <a:ext cx="6492240" cy="237744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Open Network</a:t>
            </a:r>
            <a:endParaRPr dirty="0" lang="en-US"/>
          </a:p>
        </p:txBody>
      </p:sp>
      <p:sp>
        <p:nvSpPr>
          <p:cNvPr id="1048700" name="Text 4"/>
          <p:cNvSpPr/>
          <p:nvPr/>
        </p:nvSpPr>
        <p:spPr>
          <a:xfrm>
            <a:off x="1051560" y="1325880"/>
            <a:ext cx="6492240" cy="2377440"/>
          </a:xfrm>
          <a:prstGeom prst="rect"/>
          <a:noFill/>
        </p:spPr>
        <p:txBody>
          <a:bodyPr anchor="ctr" bIns="0" lIns="0" rIns="0" rtlCol="0" tIns="0" wrap="square"/>
          <a:p>
            <a:pPr algn="r" indent="0" marL="0">
              <a:buNone/>
            </a:pPr>
            <a:r>
              <a:rPr dirty="0" lang="en-US">
                <a:solidFill>
                  <a:srgbClr val="E4E9EE"/>
                </a:solidFill>
                <a:latin typeface="Calibri" pitchFamily="34" charset="0"/>
                <a:ea typeface="Calibri" pitchFamily="34" charset="-122"/>
                <a:cs typeface="Calibri" pitchFamily="34" charset="-120"/>
              </a:rPr>
              <a:t>Requests arrive from outside, pass through</a:t>
            </a:r>
          </a:p>
          <a:p>
            <a:pPr algn="r" indent="0" marL="0">
              <a:buNone/>
            </a:pPr>
            <a:r>
              <a:rPr dirty="0" lang="en-US">
                <a:solidFill>
                  <a:srgbClr val="E4E9EE"/>
                </a:solidFill>
                <a:latin typeface="Calibri" pitchFamily="34" charset="0"/>
                <a:ea typeface="Calibri" pitchFamily="34" charset="-122"/>
                <a:cs typeface="Calibri" pitchFamily="34" charset="-120"/>
              </a:rPr>
              <a:t> stations, then leave the system entirely</a:t>
            </a:r>
            <a:endParaRPr dirty="0" lang="en-US"/>
          </a:p>
        </p:txBody>
      </p:sp>
      <p:sp>
        <p:nvSpPr>
          <p:cNvPr id="1048701" name="Shape 5"/>
          <p:cNvSpPr/>
          <p:nvPr/>
        </p:nvSpPr>
        <p:spPr>
          <a:xfrm>
            <a:off x="822960" y="3840480"/>
            <a:ext cx="6949440" cy="2377440"/>
          </a:xfrm>
          <a:prstGeom prst="roundRect">
            <a:avLst>
              <a:gd name="adj" fmla="val 2692"/>
            </a:avLst>
          </a:prstGeom>
          <a:solidFill>
            <a:srgbClr val="44546A"/>
          </a:solidFill>
        </p:spPr>
      </p:sp>
      <p:sp>
        <p:nvSpPr>
          <p:cNvPr id="1048702" name="Text 6"/>
          <p:cNvSpPr/>
          <p:nvPr/>
        </p:nvSpPr>
        <p:spPr>
          <a:xfrm>
            <a:off x="1051560" y="3840480"/>
            <a:ext cx="6492240" cy="237744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Closed Network</a:t>
            </a:r>
            <a:endParaRPr dirty="0" lang="en-US"/>
          </a:p>
        </p:txBody>
      </p:sp>
      <p:sp>
        <p:nvSpPr>
          <p:cNvPr id="1048703" name="Text 7"/>
          <p:cNvSpPr/>
          <p:nvPr/>
        </p:nvSpPr>
        <p:spPr>
          <a:xfrm>
            <a:off x="1051560" y="3840480"/>
            <a:ext cx="6492240" cy="2377440"/>
          </a:xfrm>
          <a:prstGeom prst="rect"/>
          <a:noFill/>
        </p:spPr>
        <p:txBody>
          <a:bodyPr anchor="ctr" bIns="0" lIns="0" rIns="0" rtlCol="0" tIns="0" wrap="square"/>
          <a:p>
            <a:pPr algn="r" indent="0" marL="0">
              <a:buNone/>
            </a:pPr>
            <a:r>
              <a:rPr dirty="0" lang="en-US">
                <a:solidFill>
                  <a:srgbClr val="E4E9EE"/>
                </a:solidFill>
                <a:latin typeface="Calibri" pitchFamily="34" charset="0"/>
                <a:ea typeface="Calibri" pitchFamily="34" charset="-122"/>
                <a:cs typeface="Calibri" pitchFamily="34" charset="-120"/>
              </a:rPr>
              <a:t>A fixed set of N 'jobs' or users circulate perpetually</a:t>
            </a:r>
          </a:p>
          <a:p>
            <a:pPr algn="r" indent="0" marL="0">
              <a:buNone/>
            </a:pPr>
            <a:r>
              <a:rPr dirty="0" lang="en-US">
                <a:solidFill>
                  <a:srgbClr val="E4E9EE"/>
                </a:solidFill>
                <a:latin typeface="Calibri" pitchFamily="34" charset="0"/>
                <a:ea typeface="Calibri" pitchFamily="34" charset="-122"/>
                <a:cs typeface="Calibri" pitchFamily="34" charset="-120"/>
              </a:rPr>
              <a:t> between stations and 'think time'</a:t>
            </a:r>
            <a:endParaRPr dirty="0" lang="en-US"/>
          </a:p>
        </p:txBody>
      </p:sp>
      <p:sp>
        <p:nvSpPr>
          <p:cNvPr id="1048704" name="Shape 8"/>
          <p:cNvSpPr/>
          <p:nvPr/>
        </p:nvSpPr>
        <p:spPr>
          <a:xfrm>
            <a:off x="8001000" y="1325880"/>
            <a:ext cx="3566160" cy="4892040"/>
          </a:xfrm>
          <a:prstGeom prst="roundRect">
            <a:avLst>
              <a:gd name="adj" fmla="val 2564"/>
            </a:avLst>
          </a:prstGeom>
          <a:solidFill>
            <a:srgbClr val="EAF6F5"/>
          </a:solidFill>
        </p:spPr>
      </p:sp>
      <p:sp>
        <p:nvSpPr>
          <p:cNvPr id="1048705" name="Text 9"/>
          <p:cNvSpPr/>
          <p:nvPr/>
        </p:nvSpPr>
        <p:spPr>
          <a:xfrm>
            <a:off x="8183880" y="1481328"/>
            <a:ext cx="3200400" cy="365760"/>
          </a:xfrm>
          <a:prstGeom prst="rect"/>
          <a:noFill/>
        </p:spPr>
        <p:txBody>
          <a:bodyPr anchor="ctr" bIns="0" lIns="0" rIns="0" rtlCol="0" tIns="0" wrap="square"/>
          <a:p>
            <a:pPr indent="0" marL="0">
              <a:buNone/>
            </a:pPr>
            <a:r>
              <a:rPr b="1" dirty="0" sz="2000" lang="en-US">
                <a:solidFill>
                  <a:srgbClr val="00B8A9"/>
                </a:solidFill>
                <a:latin typeface="Calibri" pitchFamily="34" charset="0"/>
                <a:ea typeface="Calibri" pitchFamily="34" charset="-122"/>
                <a:cs typeface="Calibri" pitchFamily="34" charset="-120"/>
              </a:rPr>
              <a:t>Connecting Back</a:t>
            </a:r>
            <a:endParaRPr dirty="0" sz="2000" lang="en-US"/>
          </a:p>
        </p:txBody>
      </p:sp>
      <p:sp>
        <p:nvSpPr>
          <p:cNvPr id="1048706" name="Text 10"/>
          <p:cNvSpPr/>
          <p:nvPr/>
        </p:nvSpPr>
        <p:spPr>
          <a:xfrm>
            <a:off x="8183880" y="1874520"/>
            <a:ext cx="3200400" cy="4206240"/>
          </a:xfrm>
          <a:prstGeom prst="rect"/>
          <a:noFill/>
        </p:spPr>
        <p:txBody>
          <a:bodyPr anchor="t" bIns="0" lIns="0" rIns="0" rtlCol="0" tIns="0" wrap="square"/>
          <a:p>
            <a:pPr indent="0" marL="0">
              <a:lnSpc>
                <a:spcPct val="125000"/>
              </a:lnSpc>
              <a:buNone/>
            </a:pPr>
            <a:r>
              <a:rPr dirty="0" sz="2400" lang="en-US">
                <a:solidFill>
                  <a:srgbClr val="33394A"/>
                </a:solidFill>
                <a:latin typeface="Calibri" pitchFamily="34" charset="0"/>
                <a:ea typeface="Calibri" pitchFamily="34" charset="-122"/>
                <a:cs typeface="Calibri" pitchFamily="34" charset="-120"/>
              </a:rPr>
              <a:t>This formalizes the open vs. closed distinction from Lecture 2 (workloads) and Lecture 4 (queueing systems) into a full network context, with multiple connected stations rather than just one.</a:t>
            </a:r>
            <a:endParaRPr dirty="0" sz="2400" lang="en-US"/>
          </a:p>
        </p:txBody>
      </p:sp>
      <p:sp>
        <p:nvSpPr>
          <p:cNvPr id="1048707" name="Text 11"/>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708" name="Text 12"/>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13</a:t>
            </a:r>
            <a:endParaRPr dirty="0" sz="90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74" name=""/>
        <p:cNvGrpSpPr/>
        <p:nvPr/>
      </p:nvGrpSpPr>
      <p:grpSpPr>
        <a:xfrm>
          <a:off x="0" y="0"/>
          <a:ext cx="0" cy="0"/>
          <a:chOff x="0" y="0"/>
          <a:chExt cx="0" cy="0"/>
        </a:xfrm>
      </p:grpSpPr>
      <p:sp>
        <p:nvSpPr>
          <p:cNvPr id="104871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Open Queueing Networks</a:t>
            </a:r>
            <a:endParaRPr dirty="0" sz="2600" lang="en-US"/>
          </a:p>
        </p:txBody>
      </p:sp>
      <p:sp>
        <p:nvSpPr>
          <p:cNvPr id="1048713" name="Shape 1"/>
          <p:cNvSpPr/>
          <p:nvPr/>
        </p:nvSpPr>
        <p:spPr>
          <a:xfrm>
            <a:off x="566928" y="1005840"/>
            <a:ext cx="411480" cy="45720"/>
          </a:xfrm>
          <a:prstGeom prst="rect"/>
          <a:solidFill>
            <a:srgbClr val="00B8A9"/>
          </a:solidFill>
        </p:spPr>
      </p:sp>
      <p:sp>
        <p:nvSpPr>
          <p:cNvPr id="1048714"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Models: public web traffic, API gateways, any system where 'the internet' generates arrivals independent of system load</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Each station is analyzed with its own effective arrival rate, computed via the Forced Flow Law</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If any station's traffic intensity rho_k is greater than or equal to 1, the entire network is unstable, even if other stations have spare capacity</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Open networks are generally easier to analyze — each station's formulas from Lecture 5 (M/M/1, M/M/c, etc.) can often be applied fairly directly, station by station</a:t>
            </a:r>
            <a:endParaRPr dirty="0" sz="2400" lang="en-US"/>
          </a:p>
        </p:txBody>
      </p:sp>
      <p:sp>
        <p:nvSpPr>
          <p:cNvPr id="1048715"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716"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14</a:t>
            </a:r>
            <a:endParaRPr dirty="0" sz="900"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77" name=""/>
        <p:cNvGrpSpPr/>
        <p:nvPr/>
      </p:nvGrpSpPr>
      <p:grpSpPr>
        <a:xfrm>
          <a:off x="0" y="0"/>
          <a:ext cx="0" cy="0"/>
          <a:chOff x="0" y="0"/>
          <a:chExt cx="0" cy="0"/>
        </a:xfrm>
      </p:grpSpPr>
      <p:sp>
        <p:nvSpPr>
          <p:cNvPr id="1048720"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Closed Queueing Networks</a:t>
            </a:r>
            <a:endParaRPr dirty="0" sz="2600" lang="en-US"/>
          </a:p>
        </p:txBody>
      </p:sp>
      <p:sp>
        <p:nvSpPr>
          <p:cNvPr id="1048721" name="Shape 1"/>
          <p:cNvSpPr/>
          <p:nvPr/>
        </p:nvSpPr>
        <p:spPr>
          <a:xfrm>
            <a:off x="566928" y="1005840"/>
            <a:ext cx="411480" cy="45720"/>
          </a:xfrm>
          <a:prstGeom prst="rect"/>
          <a:solidFill>
            <a:srgbClr val="00B8A9"/>
          </a:solidFill>
        </p:spPr>
      </p:sp>
      <p:sp>
        <p:nvSpPr>
          <p:cNvPr id="1048722"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Models: a fixed number of active users/terminals/batch jobs, each alternating between 'thinking' and being processed by the system</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Unlike open networks, throughput here is fundamentally bounded by the population size N, not by an external arrival rate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As N grows, throughput increases — but only up to the point determined by the bottleneck resource, after which adding more users just increases queueing delay without raising throughput further</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behavior is precisely what Mean Value Analysis, introduced next, lets us calculate exactly</a:t>
            </a:r>
            <a:endParaRPr dirty="0" sz="2400" lang="en-US"/>
          </a:p>
        </p:txBody>
      </p:sp>
      <p:sp>
        <p:nvSpPr>
          <p:cNvPr id="1048723"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724"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15</a:t>
            </a:r>
            <a:endParaRPr dirty="0" sz="900"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942"/>
        </a:solidFill>
        <a:effectLst/>
      </p:bgPr>
    </p:bg>
    <p:spTree>
      <p:nvGrpSpPr>
        <p:cNvPr id="80" name=""/>
        <p:cNvGrpSpPr/>
        <p:nvPr/>
      </p:nvGrpSpPr>
      <p:grpSpPr>
        <a:xfrm>
          <a:off x="0" y="0"/>
          <a:ext cx="0" cy="0"/>
          <a:chOff x="0" y="0"/>
          <a:chExt cx="0" cy="0"/>
        </a:xfrm>
      </p:grpSpPr>
      <p:sp>
        <p:nvSpPr>
          <p:cNvPr id="1048728" name="Shape 0"/>
          <p:cNvSpPr/>
          <p:nvPr/>
        </p:nvSpPr>
        <p:spPr>
          <a:xfrm>
            <a:off x="0" y="0"/>
            <a:ext cx="228600" cy="6858000"/>
          </a:xfrm>
          <a:prstGeom prst="rect"/>
          <a:solidFill>
            <a:srgbClr val="00B8A9"/>
          </a:solidFill>
        </p:spPr>
      </p:sp>
      <p:sp>
        <p:nvSpPr>
          <p:cNvPr id="1048729"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730"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Mean Value Analysis (MVA)</a:t>
            </a:r>
            <a:endParaRPr dirty="0" sz="3000" lang="en-US"/>
          </a:p>
        </p:txBody>
      </p:sp>
      <p:sp>
        <p:nvSpPr>
          <p:cNvPr id="1048731"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“An efficient, exact iterative algorithm for computing average response time, queue length, and throughput in a closed queueing network, by solving for increasing population sizes from 1 up to N.”</a:t>
            </a:r>
            <a:endParaRPr dirty="0" sz="2400" lang="en-US"/>
          </a:p>
        </p:txBody>
      </p:sp>
      <p:sp>
        <p:nvSpPr>
          <p:cNvPr id="1048732"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Developed by Reiser and Lavenberg (1980), MVA avoids the need to solve the full, exponentially large state space of the network directly</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It is the standard technique used in real capacity planning tools for systems with a fixed user or terminal population</a:t>
            </a:r>
            <a:endParaRPr dirty="0" sz="2400" lang="en-US"/>
          </a:p>
        </p:txBody>
      </p:sp>
      <p:sp>
        <p:nvSpPr>
          <p:cNvPr id="1048733"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734"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16</a:t>
            </a:r>
            <a:endParaRPr dirty="0" sz="90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83" name=""/>
        <p:cNvGrpSpPr/>
        <p:nvPr/>
      </p:nvGrpSpPr>
      <p:grpSpPr>
        <a:xfrm>
          <a:off x="0" y="0"/>
          <a:ext cx="0" cy="0"/>
          <a:chOff x="0" y="0"/>
          <a:chExt cx="0" cy="0"/>
        </a:xfrm>
      </p:grpSpPr>
      <p:sp>
        <p:nvSpPr>
          <p:cNvPr id="104873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The MVA Algorithm — Core Idea</a:t>
            </a:r>
            <a:endParaRPr dirty="0" sz="2600" lang="en-US"/>
          </a:p>
        </p:txBody>
      </p:sp>
      <p:sp>
        <p:nvSpPr>
          <p:cNvPr id="1048739" name="Shape 1"/>
          <p:cNvSpPr/>
          <p:nvPr/>
        </p:nvSpPr>
        <p:spPr>
          <a:xfrm>
            <a:off x="566928" y="1005840"/>
            <a:ext cx="411480" cy="45720"/>
          </a:xfrm>
          <a:prstGeom prst="rect"/>
          <a:solidFill>
            <a:srgbClr val="00B8A9"/>
          </a:solidFill>
        </p:spPr>
      </p:sp>
      <p:sp>
        <p:nvSpPr>
          <p:cNvPr id="1048740" name="Shape 2"/>
          <p:cNvSpPr/>
          <p:nvPr/>
        </p:nvSpPr>
        <p:spPr>
          <a:xfrm>
            <a:off x="594360" y="2377440"/>
            <a:ext cx="2480310" cy="2377440"/>
          </a:xfrm>
          <a:prstGeom prst="roundRect">
            <a:avLst>
              <a:gd name="adj" fmla="val 3462"/>
            </a:avLst>
          </a:prstGeom>
          <a:solidFill>
            <a:srgbClr val="0F2942"/>
          </a:solidFill>
        </p:spPr>
      </p:sp>
      <p:sp>
        <p:nvSpPr>
          <p:cNvPr id="1048741" name="Shape 3"/>
          <p:cNvSpPr/>
          <p:nvPr/>
        </p:nvSpPr>
        <p:spPr>
          <a:xfrm>
            <a:off x="1578483" y="2103120"/>
            <a:ext cx="512064" cy="512064"/>
          </a:xfrm>
          <a:prstGeom prst="ellipse"/>
          <a:solidFill>
            <a:srgbClr val="00B8A9"/>
          </a:solidFill>
          <a:ln w="25400">
            <a:solidFill>
              <a:srgbClr val="FFFFFF"/>
            </a:solidFill>
            <a:prstDash val="solid"/>
          </a:ln>
        </p:spPr>
      </p:sp>
      <p:sp>
        <p:nvSpPr>
          <p:cNvPr id="1048742" name="Text 4"/>
          <p:cNvSpPr/>
          <p:nvPr/>
        </p:nvSpPr>
        <p:spPr>
          <a:xfrm>
            <a:off x="157848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743" name="Text 5"/>
          <p:cNvSpPr/>
          <p:nvPr/>
        </p:nvSpPr>
        <p:spPr>
          <a:xfrm>
            <a:off x="731520" y="2697480"/>
            <a:ext cx="220599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1. Start at N=0</a:t>
            </a:r>
            <a:endParaRPr dirty="0" lang="en-US"/>
          </a:p>
        </p:txBody>
      </p:sp>
      <p:sp>
        <p:nvSpPr>
          <p:cNvPr id="1048744" name="Text 6"/>
          <p:cNvSpPr/>
          <p:nvPr/>
        </p:nvSpPr>
        <p:spPr>
          <a:xfrm>
            <a:off x="731520" y="3246120"/>
            <a:ext cx="220599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Initialize queue lengths at each station to 0.</a:t>
            </a:r>
            <a:endParaRPr dirty="0" sz="1600" lang="en-US"/>
          </a:p>
        </p:txBody>
      </p:sp>
      <p:sp>
        <p:nvSpPr>
          <p:cNvPr id="1048745" name="Text 7"/>
          <p:cNvSpPr/>
          <p:nvPr/>
        </p:nvSpPr>
        <p:spPr>
          <a:xfrm>
            <a:off x="307467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46" name="Shape 8"/>
          <p:cNvSpPr/>
          <p:nvPr/>
        </p:nvSpPr>
        <p:spPr>
          <a:xfrm>
            <a:off x="3394710" y="2377440"/>
            <a:ext cx="2480310" cy="2377440"/>
          </a:xfrm>
          <a:prstGeom prst="roundRect">
            <a:avLst>
              <a:gd name="adj" fmla="val 3462"/>
            </a:avLst>
          </a:prstGeom>
          <a:solidFill>
            <a:srgbClr val="44546A"/>
          </a:solidFill>
        </p:spPr>
      </p:sp>
      <p:sp>
        <p:nvSpPr>
          <p:cNvPr id="1048747" name="Shape 9"/>
          <p:cNvSpPr/>
          <p:nvPr/>
        </p:nvSpPr>
        <p:spPr>
          <a:xfrm>
            <a:off x="4378833" y="2103120"/>
            <a:ext cx="512064" cy="512064"/>
          </a:xfrm>
          <a:prstGeom prst="ellipse"/>
          <a:solidFill>
            <a:srgbClr val="00B8A9"/>
          </a:solidFill>
          <a:ln w="25400">
            <a:solidFill>
              <a:srgbClr val="FFFFFF"/>
            </a:solidFill>
            <a:prstDash val="solid"/>
          </a:ln>
        </p:spPr>
      </p:sp>
      <p:sp>
        <p:nvSpPr>
          <p:cNvPr id="1048748" name="Text 10"/>
          <p:cNvSpPr/>
          <p:nvPr/>
        </p:nvSpPr>
        <p:spPr>
          <a:xfrm>
            <a:off x="437883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749" name="Text 11"/>
          <p:cNvSpPr/>
          <p:nvPr/>
        </p:nvSpPr>
        <p:spPr>
          <a:xfrm>
            <a:off x="3531870" y="2697480"/>
            <a:ext cx="220599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2. Compute response time</a:t>
            </a:r>
            <a:endParaRPr dirty="0" lang="en-US"/>
          </a:p>
        </p:txBody>
      </p:sp>
      <p:sp>
        <p:nvSpPr>
          <p:cNvPr id="1048750" name="Text 12"/>
          <p:cNvSpPr/>
          <p:nvPr/>
        </p:nvSpPr>
        <p:spPr>
          <a:xfrm>
            <a:off x="3531870" y="3246120"/>
            <a:ext cx="220599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For population n, response time at station k depends on the queue length left behind by the previous customer.</a:t>
            </a:r>
            <a:endParaRPr dirty="0" sz="1600" lang="en-US"/>
          </a:p>
        </p:txBody>
      </p:sp>
      <p:sp>
        <p:nvSpPr>
          <p:cNvPr id="1048751" name="Text 13"/>
          <p:cNvSpPr/>
          <p:nvPr/>
        </p:nvSpPr>
        <p:spPr>
          <a:xfrm>
            <a:off x="587502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52" name="Shape 14"/>
          <p:cNvSpPr/>
          <p:nvPr/>
        </p:nvSpPr>
        <p:spPr>
          <a:xfrm>
            <a:off x="6195060" y="2377440"/>
            <a:ext cx="2480310" cy="2377440"/>
          </a:xfrm>
          <a:prstGeom prst="roundRect">
            <a:avLst>
              <a:gd name="adj" fmla="val 3462"/>
            </a:avLst>
          </a:prstGeom>
          <a:solidFill>
            <a:srgbClr val="0F2942"/>
          </a:solidFill>
        </p:spPr>
      </p:sp>
      <p:sp>
        <p:nvSpPr>
          <p:cNvPr id="1048753" name="Shape 15"/>
          <p:cNvSpPr/>
          <p:nvPr/>
        </p:nvSpPr>
        <p:spPr>
          <a:xfrm>
            <a:off x="7179183" y="2103120"/>
            <a:ext cx="512064" cy="512064"/>
          </a:xfrm>
          <a:prstGeom prst="ellipse"/>
          <a:solidFill>
            <a:srgbClr val="00B8A9"/>
          </a:solidFill>
          <a:ln w="25400">
            <a:solidFill>
              <a:srgbClr val="FFFFFF"/>
            </a:solidFill>
            <a:prstDash val="solid"/>
          </a:ln>
        </p:spPr>
      </p:sp>
      <p:sp>
        <p:nvSpPr>
          <p:cNvPr id="1048754" name="Text 16"/>
          <p:cNvSpPr/>
          <p:nvPr/>
        </p:nvSpPr>
        <p:spPr>
          <a:xfrm>
            <a:off x="717918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755" name="Text 17"/>
          <p:cNvSpPr/>
          <p:nvPr/>
        </p:nvSpPr>
        <p:spPr>
          <a:xfrm>
            <a:off x="6332220" y="2697480"/>
            <a:ext cx="220599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3. Apply Little's Law</a:t>
            </a:r>
            <a:endParaRPr dirty="0" lang="en-US"/>
          </a:p>
        </p:txBody>
      </p:sp>
      <p:sp>
        <p:nvSpPr>
          <p:cNvPr id="1048756" name="Text 18"/>
          <p:cNvSpPr/>
          <p:nvPr/>
        </p:nvSpPr>
        <p:spPr>
          <a:xfrm>
            <a:off x="6332220" y="3246120"/>
            <a:ext cx="220599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Compute system throughput X(n) and queue lengths for population n.</a:t>
            </a:r>
            <a:endParaRPr dirty="0" sz="1600" lang="en-US"/>
          </a:p>
        </p:txBody>
      </p:sp>
      <p:sp>
        <p:nvSpPr>
          <p:cNvPr id="1048757" name="Text 19"/>
          <p:cNvSpPr/>
          <p:nvPr/>
        </p:nvSpPr>
        <p:spPr>
          <a:xfrm>
            <a:off x="867537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58" name="Shape 20"/>
          <p:cNvSpPr/>
          <p:nvPr/>
        </p:nvSpPr>
        <p:spPr>
          <a:xfrm>
            <a:off x="8995410" y="2377440"/>
            <a:ext cx="2480310" cy="2377440"/>
          </a:xfrm>
          <a:prstGeom prst="roundRect">
            <a:avLst>
              <a:gd name="adj" fmla="val 3462"/>
            </a:avLst>
          </a:prstGeom>
          <a:solidFill>
            <a:srgbClr val="44546A"/>
          </a:solidFill>
        </p:spPr>
      </p:sp>
      <p:sp>
        <p:nvSpPr>
          <p:cNvPr id="1048759" name="Shape 21"/>
          <p:cNvSpPr/>
          <p:nvPr/>
        </p:nvSpPr>
        <p:spPr>
          <a:xfrm>
            <a:off x="9979533" y="2103120"/>
            <a:ext cx="512064" cy="512064"/>
          </a:xfrm>
          <a:prstGeom prst="ellipse"/>
          <a:solidFill>
            <a:srgbClr val="00B8A9"/>
          </a:solidFill>
          <a:ln w="25400">
            <a:solidFill>
              <a:srgbClr val="FFFFFF"/>
            </a:solidFill>
            <a:prstDash val="solid"/>
          </a:ln>
        </p:spPr>
      </p:sp>
      <p:sp>
        <p:nvSpPr>
          <p:cNvPr id="1048760" name="Text 22"/>
          <p:cNvSpPr/>
          <p:nvPr/>
        </p:nvSpPr>
        <p:spPr>
          <a:xfrm>
            <a:off x="997953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761" name="Text 23"/>
          <p:cNvSpPr/>
          <p:nvPr/>
        </p:nvSpPr>
        <p:spPr>
          <a:xfrm>
            <a:off x="9132570" y="2697480"/>
            <a:ext cx="220599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4. Increment n</a:t>
            </a:r>
            <a:endParaRPr dirty="0" lang="en-US"/>
          </a:p>
        </p:txBody>
      </p:sp>
      <p:sp>
        <p:nvSpPr>
          <p:cNvPr id="1048762" name="Text 24"/>
          <p:cNvSpPr/>
          <p:nvPr/>
        </p:nvSpPr>
        <p:spPr>
          <a:xfrm>
            <a:off x="9132570" y="3246120"/>
            <a:ext cx="220599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Repeat for n = 1, 2, ..., N, reusing each step's results for the next.</a:t>
            </a:r>
            <a:endParaRPr dirty="0" sz="1600" lang="en-US"/>
          </a:p>
        </p:txBody>
      </p:sp>
      <p:sp>
        <p:nvSpPr>
          <p:cNvPr id="1048763" name="Text 2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764" name="Text 2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17</a:t>
            </a:r>
            <a:endParaRPr dirty="0" sz="90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86" name=""/>
        <p:cNvGrpSpPr/>
        <p:nvPr/>
      </p:nvGrpSpPr>
      <p:grpSpPr>
        <a:xfrm>
          <a:off x="0" y="0"/>
          <a:ext cx="0" cy="0"/>
          <a:chOff x="0" y="0"/>
          <a:chExt cx="0" cy="0"/>
        </a:xfrm>
      </p:grpSpPr>
      <p:sp>
        <p:nvSpPr>
          <p:cNvPr id="104876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MVA Is 'Exact' Yet Efficient</a:t>
            </a:r>
            <a:endParaRPr dirty="0" sz="2600" lang="en-US"/>
          </a:p>
        </p:txBody>
      </p:sp>
      <p:sp>
        <p:nvSpPr>
          <p:cNvPr id="1048769" name="Shape 1"/>
          <p:cNvSpPr/>
          <p:nvPr/>
        </p:nvSpPr>
        <p:spPr>
          <a:xfrm>
            <a:off x="566928" y="1005840"/>
            <a:ext cx="411480" cy="45720"/>
          </a:xfrm>
          <a:prstGeom prst="rect"/>
          <a:solidFill>
            <a:srgbClr val="00B8A9"/>
          </a:solidFill>
        </p:spPr>
      </p:sp>
      <p:sp>
        <p:nvSpPr>
          <p:cNvPr id="1048770"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 brute-force solution of a closed network's full state space grows combinatorially with the number of stations and population size — computationally infeasible for realistic systems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MVA sidesteps this by iterating only over population size (1 to N), reusing previously computed results at each step</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makes it practical to compute performance for networks with dozens of stations and large user populations — a genuine engineering tool, not just a theoretical exercise</a:t>
            </a:r>
            <a:endParaRPr dirty="0" sz="2400" lang="en-US"/>
          </a:p>
        </p:txBody>
      </p:sp>
      <p:sp>
        <p:nvSpPr>
          <p:cNvPr id="1048771"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772"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18</a:t>
            </a:r>
            <a:endParaRPr dirty="0" sz="90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89" name=""/>
        <p:cNvGrpSpPr/>
        <p:nvPr/>
      </p:nvGrpSpPr>
      <p:grpSpPr>
        <a:xfrm>
          <a:off x="0" y="0"/>
          <a:ext cx="0" cy="0"/>
          <a:chOff x="0" y="0"/>
          <a:chExt cx="0" cy="0"/>
        </a:xfrm>
      </p:grpSpPr>
      <p:sp>
        <p:nvSpPr>
          <p:cNvPr id="104877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The Interactive Response Time Law</a:t>
            </a:r>
            <a:endParaRPr dirty="0" sz="2600" lang="en-US"/>
          </a:p>
        </p:txBody>
      </p:sp>
      <p:sp>
        <p:nvSpPr>
          <p:cNvPr id="1048777" name="Shape 1"/>
          <p:cNvSpPr/>
          <p:nvPr/>
        </p:nvSpPr>
        <p:spPr>
          <a:xfrm>
            <a:off x="566928" y="1005840"/>
            <a:ext cx="411480" cy="45720"/>
          </a:xfrm>
          <a:prstGeom prst="rect"/>
          <a:solidFill>
            <a:srgbClr val="00B8A9"/>
          </a:solidFill>
        </p:spPr>
      </p:sp>
      <p:sp>
        <p:nvSpPr>
          <p:cNvPr id="1048778"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For a closed network with population N, think time Z, and throughput X(N): R(N) = N/X(N) - Z</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a direct algebraic consequence of Little's Law applied to the entire closed system (queueing plus thinking)</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It lets us compute overall response time R(N) purely from population size, measured throughput, and average think time — without needing to solve for every individual station</a:t>
            </a:r>
            <a:endParaRPr dirty="0" sz="2400" lang="en-US"/>
          </a:p>
        </p:txBody>
      </p:sp>
      <p:sp>
        <p:nvSpPr>
          <p:cNvPr id="1048779"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780"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19</a:t>
            </a:r>
            <a:endParaRPr dirty="0" sz="900"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92" name=""/>
        <p:cNvGrpSpPr/>
        <p:nvPr/>
      </p:nvGrpSpPr>
      <p:grpSpPr>
        <a:xfrm>
          <a:off x="0" y="0"/>
          <a:ext cx="0" cy="0"/>
          <a:chOff x="0" y="0"/>
          <a:chExt cx="0" cy="0"/>
        </a:xfrm>
      </p:grpSpPr>
      <p:sp>
        <p:nvSpPr>
          <p:cNvPr id="104878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Worked Example: Closed Network Throughput vs. Population</a:t>
            </a:r>
            <a:endParaRPr dirty="0" sz="2600" lang="en-US"/>
          </a:p>
        </p:txBody>
      </p:sp>
      <p:sp>
        <p:nvSpPr>
          <p:cNvPr id="1048785" name="Shape 1"/>
          <p:cNvSpPr/>
          <p:nvPr/>
        </p:nvSpPr>
        <p:spPr>
          <a:xfrm>
            <a:off x="566928" y="1005840"/>
            <a:ext cx="411480" cy="45720"/>
          </a:xfrm>
          <a:prstGeom prst="rect"/>
          <a:solidFill>
            <a:srgbClr val="00B8A9"/>
          </a:solidFill>
        </p:spPr>
      </p:sp>
      <p:graphicFrame>
        <p:nvGraphicFramePr>
          <p:cNvPr id="4194305" name="Table 0"/>
          <p:cNvGraphicFramePr>
            <a:graphicFrameLocks noGrp="1"/>
          </p:cNvGraphicFramePr>
          <p:nvPr/>
        </p:nvGraphicFramePr>
        <p:xfrm>
          <a:off x="548640" y="1325880"/>
          <a:ext cx="11064240" cy="4846320"/>
        </p:xfrm>
        <a:graphic>
          <a:graphicData uri="http://schemas.openxmlformats.org/drawingml/2006/table">
            <a:tbl>
              <a:tblPr/>
              <a:tblGrid>
                <a:gridCol w="3688080"/>
                <a:gridCol w="3688080"/>
                <a:gridCol w="3688080"/>
              </a:tblGrid>
              <a:tr h="807720">
                <a:tc>
                  <a:txBody>
                    <a:bodyPr/>
                    <a:p>
                      <a:pPr indent="0" marL="0">
                        <a:buNone/>
                      </a:pPr>
                      <a:r>
                        <a:rPr b="1" dirty="0" sz="2400" lang="en-US">
                          <a:solidFill>
                            <a:srgbClr val="FFFFFF"/>
                          </a:solidFill>
                          <a:latin typeface="Calibri" pitchFamily="34" charset="0"/>
                          <a:ea typeface="Calibri" pitchFamily="34" charset="-122"/>
                          <a:cs typeface="Calibri" pitchFamily="34" charset="-120"/>
                        </a:rPr>
                        <a:t>Population (N)</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Throughput X(N)</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Response Time R(N)</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10</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8.5 req/s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0.18 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30</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22.1 req/s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0.36 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60</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27.3 req/s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1.20 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100</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27.7 req/s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ar-SA">
                          <a:solidFill>
                            <a:srgbClr val="1A1A2E"/>
                          </a:solidFill>
                          <a:latin typeface="Calibri" pitchFamily="34" charset="0"/>
                          <a:ea typeface="Calibri" pitchFamily="34" charset="-122"/>
                          <a:cs typeface="Calibri" pitchFamily="34" charset="-120"/>
                        </a:rPr>
                        <a:t>2</a:t>
                      </a:r>
                      <a:r>
                        <a:rPr dirty="0" sz="2400" lang="en-US">
                          <a:solidFill>
                            <a:srgbClr val="1A1A2E"/>
                          </a:solidFill>
                          <a:latin typeface="Calibri" pitchFamily="34" charset="0"/>
                          <a:ea typeface="Calibri" pitchFamily="34" charset="-122"/>
                          <a:cs typeface="Calibri" pitchFamily="34" charset="-120"/>
                        </a:rPr>
                        <a:t>.31 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150</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27.8 req/s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ar-SA">
                          <a:solidFill>
                            <a:srgbClr val="1A1A2E"/>
                          </a:solidFill>
                          <a:latin typeface="Calibri" pitchFamily="34" charset="0"/>
                          <a:ea typeface="Calibri" pitchFamily="34" charset="-122"/>
                          <a:cs typeface="Calibri" pitchFamily="34" charset="-120"/>
                        </a:rPr>
                        <a:t>4</a:t>
                      </a:r>
                      <a:r>
                        <a:rPr dirty="0" sz="2400" lang="en-US">
                          <a:solidFill>
                            <a:srgbClr val="1A1A2E"/>
                          </a:solidFill>
                          <a:latin typeface="Calibri" pitchFamily="34" charset="0"/>
                          <a:ea typeface="Calibri" pitchFamily="34" charset="-122"/>
                          <a:cs typeface="Calibri" pitchFamily="34" charset="-120"/>
                        </a:rPr>
                        <a:t>.30 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1048786" name="Text 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787" name="Text 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20</a:t>
            </a:r>
            <a:endParaRPr dirty="0" sz="90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95" name=""/>
        <p:cNvGrpSpPr/>
        <p:nvPr/>
      </p:nvGrpSpPr>
      <p:grpSpPr>
        <a:xfrm>
          <a:off x="0" y="0"/>
          <a:ext cx="0" cy="0"/>
          <a:chOff x="0" y="0"/>
          <a:chExt cx="0" cy="0"/>
        </a:xfrm>
      </p:grpSpPr>
      <p:sp>
        <p:nvSpPr>
          <p:cNvPr id="104879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Reading the Closed Network Table</a:t>
            </a:r>
            <a:endParaRPr dirty="0" sz="2600" lang="en-US"/>
          </a:p>
        </p:txBody>
      </p:sp>
      <p:sp>
        <p:nvSpPr>
          <p:cNvPr id="1048792" name="Shape 1"/>
          <p:cNvSpPr/>
          <p:nvPr/>
        </p:nvSpPr>
        <p:spPr>
          <a:xfrm>
            <a:off x="566928" y="1005840"/>
            <a:ext cx="411480" cy="45720"/>
          </a:xfrm>
          <a:prstGeom prst="rect"/>
          <a:solidFill>
            <a:srgbClr val="00B8A9"/>
          </a:solidFill>
        </p:spPr>
      </p:sp>
      <p:sp>
        <p:nvSpPr>
          <p:cNvPr id="104879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Notice throughput approaches a ceiling (about 27.8 req/s) as N grows — this matches the bottleneck throughput ceiling calculated earlier in this lecture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Beyond roughly N = 60, adding more users barely increases throughput at all, but response time keeps climbing steeply</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the closed-network equivalent of the M/M/1 'response time explosion near saturation' from Lecture 5 — same underlying phenomenon, different network structure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table is exactly the kind of output a capacity planning exercise (Lecture 8) would use to recommend a maximum supported user population</a:t>
            </a:r>
            <a:endParaRPr dirty="0" sz="2400" lang="en-US"/>
          </a:p>
        </p:txBody>
      </p:sp>
      <p:sp>
        <p:nvSpPr>
          <p:cNvPr id="104879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79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21</a:t>
            </a:r>
            <a:endParaRPr dirty="0" sz="900"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98" name=""/>
        <p:cNvGrpSpPr/>
        <p:nvPr/>
      </p:nvGrpSpPr>
      <p:grpSpPr>
        <a:xfrm>
          <a:off x="0" y="0"/>
          <a:ext cx="0" cy="0"/>
          <a:chOff x="0" y="0"/>
          <a:chExt cx="0" cy="0"/>
        </a:xfrm>
      </p:grpSpPr>
      <p:sp>
        <p:nvSpPr>
          <p:cNvPr id="104879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Think Time's Role in Closed Networks</a:t>
            </a:r>
            <a:endParaRPr dirty="0" sz="2600" lang="en-US"/>
          </a:p>
        </p:txBody>
      </p:sp>
      <p:sp>
        <p:nvSpPr>
          <p:cNvPr id="1048800" name="Shape 1"/>
          <p:cNvSpPr/>
          <p:nvPr/>
        </p:nvSpPr>
        <p:spPr>
          <a:xfrm>
            <a:off x="566928" y="1005840"/>
            <a:ext cx="411480" cy="45720"/>
          </a:xfrm>
          <a:prstGeom prst="rect"/>
          <a:solidFill>
            <a:srgbClr val="00B8A9"/>
          </a:solidFill>
        </p:spPr>
      </p:sp>
      <p:sp>
        <p:nvSpPr>
          <p:cNvPr id="104880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Recall from Lecture 2: think time Z is the average time a user spends between receiving a response and submitting the next request</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Higher think time means each user generates requests less frequently, so a larger population N is needed to achieve the same throughput</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why capacity planning for interactive systems (e.g., internal enterprise tools with real human users) must carefully measure think time, not just server-side service times</a:t>
            </a:r>
            <a:endParaRPr dirty="0" sz="2400" lang="en-US"/>
          </a:p>
        </p:txBody>
      </p:sp>
      <p:sp>
        <p:nvSpPr>
          <p:cNvPr id="104880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80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22</a:t>
            </a:r>
            <a:endParaRPr dirty="0" sz="900"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01" name=""/>
        <p:cNvGrpSpPr/>
        <p:nvPr/>
      </p:nvGrpSpPr>
      <p:grpSpPr>
        <a:xfrm>
          <a:off x="0" y="0"/>
          <a:ext cx="0" cy="0"/>
          <a:chOff x="0" y="0"/>
          <a:chExt cx="0" cy="0"/>
        </a:xfrm>
      </p:grpSpPr>
      <p:sp>
        <p:nvSpPr>
          <p:cNvPr id="104880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Combining Open and Closed: Mixed Networks</a:t>
            </a:r>
            <a:endParaRPr dirty="0" sz="2600" lang="en-US"/>
          </a:p>
        </p:txBody>
      </p:sp>
      <p:sp>
        <p:nvSpPr>
          <p:cNvPr id="1048808" name="Shape 1"/>
          <p:cNvSpPr/>
          <p:nvPr/>
        </p:nvSpPr>
        <p:spPr>
          <a:xfrm>
            <a:off x="566928" y="1005840"/>
            <a:ext cx="411480" cy="45720"/>
          </a:xfrm>
          <a:prstGeom prst="rect"/>
          <a:solidFill>
            <a:srgbClr val="00B8A9"/>
          </a:solidFill>
        </p:spPr>
      </p:sp>
      <p:sp>
        <p:nvSpPr>
          <p:cNvPr id="1048809"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Real systems often have BOTH: a fixed population of internal users (closed) AND unrestricted public API traffic (open), sharing the same backend resources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Mixed queueing networks require combining both analysis techniques — open-network arrival rates are added directly to the demand placed by the closed-network population</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common in practice: e.g., a SaaS platform serving both its own internal admin dashboard (closed, fixed staff) and public customer API traffic (open, unbounded)</a:t>
            </a:r>
            <a:endParaRPr dirty="0" sz="2400" lang="en-US"/>
          </a:p>
        </p:txBody>
      </p:sp>
      <p:sp>
        <p:nvSpPr>
          <p:cNvPr id="1048810"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811"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23</a:t>
            </a:r>
            <a:endParaRPr dirty="0" sz="900"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04" name=""/>
        <p:cNvGrpSpPr/>
        <p:nvPr/>
      </p:nvGrpSpPr>
      <p:grpSpPr>
        <a:xfrm>
          <a:off x="0" y="0"/>
          <a:ext cx="0" cy="0"/>
          <a:chOff x="0" y="0"/>
          <a:chExt cx="0" cy="0"/>
        </a:xfrm>
      </p:grpSpPr>
      <p:sp>
        <p:nvSpPr>
          <p:cNvPr id="1048815"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Asymptotic Bounds: Fast Sanity Checks</a:t>
            </a:r>
            <a:endParaRPr dirty="0" sz="2600" lang="en-US"/>
          </a:p>
        </p:txBody>
      </p:sp>
      <p:sp>
        <p:nvSpPr>
          <p:cNvPr id="1048816" name="Shape 1"/>
          <p:cNvSpPr/>
          <p:nvPr/>
        </p:nvSpPr>
        <p:spPr>
          <a:xfrm>
            <a:off x="566928" y="1005840"/>
            <a:ext cx="411480" cy="45720"/>
          </a:xfrm>
          <a:prstGeom prst="rect"/>
          <a:solidFill>
            <a:srgbClr val="00B8A9"/>
          </a:solidFill>
        </p:spPr>
      </p:sp>
      <p:sp>
        <p:nvSpPr>
          <p:cNvPr id="1048817"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Before running full MVA, simple asymptotic bounds give a fast sanity check on network behavior:</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Throughput bound: X(N) is at most 1 / D_max (limited by the bottleneck, regardless of population)</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Throughput bound: X(N) is at most N / (Z + sum of all D_k) (limited by population and total demand)</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These bounds don't require the full MVA algorithm and can quickly catch unrealistic modeling assumptions before deeper analysis</a:t>
            </a:r>
            <a:endParaRPr dirty="0" sz="2800" lang="en-US"/>
          </a:p>
        </p:txBody>
      </p:sp>
      <p:sp>
        <p:nvSpPr>
          <p:cNvPr id="1048818"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819"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24</a:t>
            </a:r>
            <a:endParaRPr dirty="0" sz="900"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07" name=""/>
        <p:cNvGrpSpPr/>
        <p:nvPr/>
      </p:nvGrpSpPr>
      <p:grpSpPr>
        <a:xfrm>
          <a:off x="0" y="0"/>
          <a:ext cx="0" cy="0"/>
          <a:chOff x="0" y="0"/>
          <a:chExt cx="0" cy="0"/>
        </a:xfrm>
      </p:grpSpPr>
      <p:sp>
        <p:nvSpPr>
          <p:cNvPr id="104882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Case Study: A Multi-Tier Web Application</a:t>
            </a:r>
            <a:endParaRPr dirty="0" sz="2600" lang="en-US"/>
          </a:p>
        </p:txBody>
      </p:sp>
      <p:sp>
        <p:nvSpPr>
          <p:cNvPr id="1048824" name="Shape 1"/>
          <p:cNvSpPr/>
          <p:nvPr/>
        </p:nvSpPr>
        <p:spPr>
          <a:xfrm>
            <a:off x="566928" y="1005840"/>
            <a:ext cx="411480" cy="45720"/>
          </a:xfrm>
          <a:prstGeom prst="rect"/>
          <a:solidFill>
            <a:srgbClr val="00B8A9"/>
          </a:solidFill>
        </p:spPr>
      </p:sp>
      <p:sp>
        <p:nvSpPr>
          <p:cNvPr id="1048825"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 3-tier system: load balancer, then application servers, then database, serving open (public) traffic</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Applying the Utilization and Forced Flow Laws to each tier reveals the database, not the application servers, is the true bottleneck — despite the application tier 'feeling' slower under casual observation</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The team's instinct was to add more application servers; operational analysis instead correctly points to database optimization or read-replica scaling as the effective fix</a:t>
            </a:r>
            <a:endParaRPr dirty="0" sz="2400" lang="en-US"/>
          </a:p>
        </p:txBody>
      </p:sp>
      <p:sp>
        <p:nvSpPr>
          <p:cNvPr id="1048826"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827"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25</a:t>
            </a:r>
            <a:endParaRPr dirty="0" sz="900"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10" name=""/>
        <p:cNvGrpSpPr/>
        <p:nvPr/>
      </p:nvGrpSpPr>
      <p:grpSpPr>
        <a:xfrm>
          <a:off x="0" y="0"/>
          <a:ext cx="0" cy="0"/>
          <a:chOff x="0" y="0"/>
          <a:chExt cx="0" cy="0"/>
        </a:xfrm>
      </p:grpSpPr>
      <p:sp>
        <p:nvSpPr>
          <p:cNvPr id="104883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Practical Workflow: From Measurement to Bottleneck Identification</a:t>
            </a:r>
            <a:endParaRPr dirty="0" sz="2600" lang="en-US"/>
          </a:p>
        </p:txBody>
      </p:sp>
      <p:sp>
        <p:nvSpPr>
          <p:cNvPr id="1048832" name="Shape 1"/>
          <p:cNvSpPr/>
          <p:nvPr/>
        </p:nvSpPr>
        <p:spPr>
          <a:xfrm>
            <a:off x="566928" y="1005840"/>
            <a:ext cx="411480" cy="45720"/>
          </a:xfrm>
          <a:prstGeom prst="rect"/>
          <a:solidFill>
            <a:srgbClr val="00B8A9"/>
          </a:solidFill>
        </p:spPr>
      </p:sp>
      <p:sp>
        <p:nvSpPr>
          <p:cNvPr id="104883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1. Measure throughput X and total busy time for each resource over a representative period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2. Compute utilization U_k for each resource directly (U_k = busy time / total time)</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3. Derive service demand D_k = U_k / X for each resource using the Utilization Law</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4. Identify the resource with maximum D_k as the bottleneck</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entire workflow requires only measured data — no probability distribution assumptions — which is the core practical strength of operational analysis</a:t>
            </a:r>
            <a:endParaRPr dirty="0" sz="2400" lang="en-US"/>
          </a:p>
        </p:txBody>
      </p:sp>
      <p:sp>
        <p:nvSpPr>
          <p:cNvPr id="104883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83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26</a:t>
            </a:r>
            <a:endParaRPr dirty="0" sz="900"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13" name=""/>
        <p:cNvGrpSpPr/>
        <p:nvPr/>
      </p:nvGrpSpPr>
      <p:grpSpPr>
        <a:xfrm>
          <a:off x="0" y="0"/>
          <a:ext cx="0" cy="0"/>
          <a:chOff x="0" y="0"/>
          <a:chExt cx="0" cy="0"/>
        </a:xfrm>
      </p:grpSpPr>
      <p:sp>
        <p:nvSpPr>
          <p:cNvPr id="104883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Limits of Operational Analysis</a:t>
            </a:r>
            <a:endParaRPr dirty="0" sz="2600" lang="en-US"/>
          </a:p>
        </p:txBody>
      </p:sp>
      <p:sp>
        <p:nvSpPr>
          <p:cNvPr id="1048840" name="Shape 1"/>
          <p:cNvSpPr/>
          <p:nvPr/>
        </p:nvSpPr>
        <p:spPr>
          <a:xfrm>
            <a:off x="566928" y="1005840"/>
            <a:ext cx="411480" cy="45720"/>
          </a:xfrm>
          <a:prstGeom prst="rect"/>
          <a:solidFill>
            <a:srgbClr val="00B8A9"/>
          </a:solidFill>
        </p:spPr>
      </p:sp>
      <p:sp>
        <p:nvSpPr>
          <p:cNvPr id="104884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Operational laws give averages and bounds, but not full probability distributions (e.g., they cannot directly give you p99 response time)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They assume the system reaches a form of steady-state balance over the measurement period — heavily transient or rapidly changing workloads are not well captured</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For distributional detail (percentiles, tail behavior) or highly dynamic/transient scenarios, discrete-event simulation — covered next in Lecture 7 — becomes the appropriate tool</a:t>
            </a:r>
            <a:endParaRPr dirty="0" sz="2400" lang="en-US"/>
          </a:p>
        </p:txBody>
      </p:sp>
      <p:sp>
        <p:nvSpPr>
          <p:cNvPr id="104884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84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27</a:t>
            </a:r>
            <a:endParaRPr dirty="0" sz="900"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6F5"/>
        </a:solidFill>
        <a:effectLst/>
      </p:bgPr>
    </p:bg>
    <p:spTree>
      <p:nvGrpSpPr>
        <p:cNvPr id="116" name=""/>
        <p:cNvGrpSpPr/>
        <p:nvPr/>
      </p:nvGrpSpPr>
      <p:grpSpPr>
        <a:xfrm>
          <a:off x="0" y="0"/>
          <a:ext cx="0" cy="0"/>
          <a:chOff x="0" y="0"/>
          <a:chExt cx="0" cy="0"/>
        </a:xfrm>
      </p:grpSpPr>
      <p:sp>
        <p:nvSpPr>
          <p:cNvPr id="1048847" name="Text 0"/>
          <p:cNvSpPr/>
          <p:nvPr/>
        </p:nvSpPr>
        <p:spPr>
          <a:xfrm>
            <a:off x="548640" y="457200"/>
            <a:ext cx="7315200" cy="640080"/>
          </a:xfrm>
          <a:prstGeom prst="rect"/>
          <a:noFill/>
        </p:spPr>
        <p:txBody>
          <a:bodyPr anchor="ctr" bIns="0" lIns="0" rIns="0" rtlCol="0" tIns="0" wrap="square"/>
          <a:p>
            <a:pPr indent="0" marL="0">
              <a:buNone/>
            </a:pPr>
            <a:r>
              <a:rPr b="1" dirty="0" sz="2800" lang="en-US">
                <a:solidFill>
                  <a:srgbClr val="0F2942"/>
                </a:solidFill>
                <a:latin typeface="Calibri" pitchFamily="34" charset="0"/>
                <a:ea typeface="Calibri" pitchFamily="34" charset="-122"/>
                <a:cs typeface="Calibri" pitchFamily="34" charset="-120"/>
              </a:rPr>
              <a:t>Key Takeaways</a:t>
            </a:r>
            <a:endParaRPr dirty="0" sz="2800" lang="en-US"/>
          </a:p>
        </p:txBody>
      </p:sp>
      <p:sp>
        <p:nvSpPr>
          <p:cNvPr id="1048848" name="Shape 1"/>
          <p:cNvSpPr/>
          <p:nvPr/>
        </p:nvSpPr>
        <p:spPr>
          <a:xfrm>
            <a:off x="566928" y="1143000"/>
            <a:ext cx="457200" cy="54864"/>
          </a:xfrm>
          <a:prstGeom prst="rect"/>
          <a:solidFill>
            <a:srgbClr val="00B8A9"/>
          </a:solidFill>
        </p:spPr>
      </p:sp>
      <p:sp>
        <p:nvSpPr>
          <p:cNvPr id="1048849" name="Shape 2"/>
          <p:cNvSpPr/>
          <p:nvPr/>
        </p:nvSpPr>
        <p:spPr>
          <a:xfrm>
            <a:off x="548640" y="1508760"/>
            <a:ext cx="11064240" cy="777240"/>
          </a:xfrm>
          <a:prstGeom prst="roundRect">
            <a:avLst>
              <a:gd name="adj" fmla="val 9412"/>
            </a:avLst>
          </a:prstGeom>
          <a:solidFill>
            <a:srgbClr val="FFFFFF"/>
          </a:solidFill>
        </p:spPr>
      </p:sp>
      <p:sp>
        <p:nvSpPr>
          <p:cNvPr id="1048850" name="Shape 3"/>
          <p:cNvSpPr/>
          <p:nvPr/>
        </p:nvSpPr>
        <p:spPr>
          <a:xfrm>
            <a:off x="777240" y="1673352"/>
            <a:ext cx="457200" cy="457200"/>
          </a:xfrm>
          <a:prstGeom prst="ellipse"/>
          <a:solidFill>
            <a:srgbClr val="00B8A9"/>
          </a:solidFill>
        </p:spPr>
      </p:sp>
      <p:sp>
        <p:nvSpPr>
          <p:cNvPr id="1048851" name="Text 4"/>
          <p:cNvSpPr/>
          <p:nvPr/>
        </p:nvSpPr>
        <p:spPr>
          <a:xfrm>
            <a:off x="777240" y="16733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852" name="Text 5"/>
          <p:cNvSpPr/>
          <p:nvPr/>
        </p:nvSpPr>
        <p:spPr>
          <a:xfrm>
            <a:off x="1417320" y="15087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Operational laws (Utilization, Forced Flow, Bottleneck) derive directly from measurable data, without requiring distributional assumptions</a:t>
            </a:r>
            <a:endParaRPr dirty="0" sz="2000" lang="en-US"/>
          </a:p>
        </p:txBody>
      </p:sp>
      <p:sp>
        <p:nvSpPr>
          <p:cNvPr id="1048853" name="Shape 6"/>
          <p:cNvSpPr/>
          <p:nvPr/>
        </p:nvSpPr>
        <p:spPr>
          <a:xfrm>
            <a:off x="548640" y="2423160"/>
            <a:ext cx="11064240" cy="777240"/>
          </a:xfrm>
          <a:prstGeom prst="roundRect">
            <a:avLst>
              <a:gd name="adj" fmla="val 9412"/>
            </a:avLst>
          </a:prstGeom>
          <a:solidFill>
            <a:srgbClr val="FFFFFF"/>
          </a:solidFill>
        </p:spPr>
      </p:sp>
      <p:sp>
        <p:nvSpPr>
          <p:cNvPr id="1048854" name="Shape 7"/>
          <p:cNvSpPr/>
          <p:nvPr/>
        </p:nvSpPr>
        <p:spPr>
          <a:xfrm>
            <a:off x="777240" y="2587752"/>
            <a:ext cx="457200" cy="457200"/>
          </a:xfrm>
          <a:prstGeom prst="ellipse"/>
          <a:solidFill>
            <a:srgbClr val="00B8A9"/>
          </a:solidFill>
        </p:spPr>
      </p:sp>
      <p:sp>
        <p:nvSpPr>
          <p:cNvPr id="1048855" name="Text 8"/>
          <p:cNvSpPr/>
          <p:nvPr/>
        </p:nvSpPr>
        <p:spPr>
          <a:xfrm>
            <a:off x="777240" y="25877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856" name="Text 9"/>
          <p:cNvSpPr/>
          <p:nvPr/>
        </p:nvSpPr>
        <p:spPr>
          <a:xfrm>
            <a:off x="1417320" y="24231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The Bottleneck Law identifies the resource with maximum service demand D_k, which caps system throughput at 1/D_max</a:t>
            </a:r>
            <a:endParaRPr dirty="0" sz="2000" lang="en-US"/>
          </a:p>
        </p:txBody>
      </p:sp>
      <p:sp>
        <p:nvSpPr>
          <p:cNvPr id="1048857" name="Shape 10"/>
          <p:cNvSpPr/>
          <p:nvPr/>
        </p:nvSpPr>
        <p:spPr>
          <a:xfrm>
            <a:off x="548640" y="3337560"/>
            <a:ext cx="11064240" cy="777240"/>
          </a:xfrm>
          <a:prstGeom prst="roundRect">
            <a:avLst>
              <a:gd name="adj" fmla="val 9412"/>
            </a:avLst>
          </a:prstGeom>
          <a:solidFill>
            <a:srgbClr val="FFFFFF"/>
          </a:solidFill>
        </p:spPr>
      </p:sp>
      <p:sp>
        <p:nvSpPr>
          <p:cNvPr id="1048858" name="Shape 11"/>
          <p:cNvSpPr/>
          <p:nvPr/>
        </p:nvSpPr>
        <p:spPr>
          <a:xfrm>
            <a:off x="777240" y="3502152"/>
            <a:ext cx="457200" cy="457200"/>
          </a:xfrm>
          <a:prstGeom prst="ellipse"/>
          <a:solidFill>
            <a:srgbClr val="00B8A9"/>
          </a:solidFill>
        </p:spPr>
      </p:sp>
      <p:sp>
        <p:nvSpPr>
          <p:cNvPr id="1048859" name="Text 12"/>
          <p:cNvSpPr/>
          <p:nvPr/>
        </p:nvSpPr>
        <p:spPr>
          <a:xfrm>
            <a:off x="777240" y="35021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860" name="Text 13"/>
          <p:cNvSpPr/>
          <p:nvPr/>
        </p:nvSpPr>
        <p:spPr>
          <a:xfrm>
            <a:off x="1417320" y="33375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Open networks model unbounded external arrivals; closed networks model a fixed population cycling through think time and service</a:t>
            </a:r>
            <a:endParaRPr dirty="0" sz="2000" lang="en-US"/>
          </a:p>
        </p:txBody>
      </p:sp>
      <p:sp>
        <p:nvSpPr>
          <p:cNvPr id="1048861" name="Shape 14"/>
          <p:cNvSpPr/>
          <p:nvPr/>
        </p:nvSpPr>
        <p:spPr>
          <a:xfrm>
            <a:off x="548640" y="4251960"/>
            <a:ext cx="11064240" cy="777240"/>
          </a:xfrm>
          <a:prstGeom prst="roundRect">
            <a:avLst>
              <a:gd name="adj" fmla="val 9412"/>
            </a:avLst>
          </a:prstGeom>
          <a:solidFill>
            <a:srgbClr val="FFFFFF"/>
          </a:solidFill>
        </p:spPr>
      </p:sp>
      <p:sp>
        <p:nvSpPr>
          <p:cNvPr id="1048862" name="Shape 15"/>
          <p:cNvSpPr/>
          <p:nvPr/>
        </p:nvSpPr>
        <p:spPr>
          <a:xfrm>
            <a:off x="777240" y="4416552"/>
            <a:ext cx="457200" cy="457200"/>
          </a:xfrm>
          <a:prstGeom prst="ellipse"/>
          <a:solidFill>
            <a:srgbClr val="00B8A9"/>
          </a:solidFill>
        </p:spPr>
      </p:sp>
      <p:sp>
        <p:nvSpPr>
          <p:cNvPr id="1048863" name="Text 16"/>
          <p:cNvSpPr/>
          <p:nvPr/>
        </p:nvSpPr>
        <p:spPr>
          <a:xfrm>
            <a:off x="777240" y="44165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864" name="Text 17"/>
          <p:cNvSpPr/>
          <p:nvPr/>
        </p:nvSpPr>
        <p:spPr>
          <a:xfrm>
            <a:off x="1417320" y="42519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Mean Value Analysis (MVA) efficiently and exactly computes response time and throughput for closed networks across increasing population sizes</a:t>
            </a:r>
            <a:endParaRPr dirty="0" sz="2000" lang="en-US"/>
          </a:p>
        </p:txBody>
      </p:sp>
      <p:sp>
        <p:nvSpPr>
          <p:cNvPr id="1048865" name="Shape 18"/>
          <p:cNvSpPr/>
          <p:nvPr/>
        </p:nvSpPr>
        <p:spPr>
          <a:xfrm>
            <a:off x="548640" y="5166360"/>
            <a:ext cx="11064240" cy="777240"/>
          </a:xfrm>
          <a:prstGeom prst="roundRect">
            <a:avLst>
              <a:gd name="adj" fmla="val 9412"/>
            </a:avLst>
          </a:prstGeom>
          <a:solidFill>
            <a:srgbClr val="FFFFFF"/>
          </a:solidFill>
        </p:spPr>
      </p:sp>
      <p:sp>
        <p:nvSpPr>
          <p:cNvPr id="1048866" name="Shape 19"/>
          <p:cNvSpPr/>
          <p:nvPr/>
        </p:nvSpPr>
        <p:spPr>
          <a:xfrm>
            <a:off x="777240" y="5330952"/>
            <a:ext cx="457200" cy="457200"/>
          </a:xfrm>
          <a:prstGeom prst="ellipse"/>
          <a:solidFill>
            <a:srgbClr val="00B8A9"/>
          </a:solidFill>
        </p:spPr>
      </p:sp>
      <p:sp>
        <p:nvSpPr>
          <p:cNvPr id="1048867" name="Text 20"/>
          <p:cNvSpPr/>
          <p:nvPr/>
        </p:nvSpPr>
        <p:spPr>
          <a:xfrm>
            <a:off x="777240" y="53309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5</a:t>
            </a:r>
            <a:endParaRPr dirty="0" sz="1500" lang="en-US"/>
          </a:p>
        </p:txBody>
      </p:sp>
      <p:sp>
        <p:nvSpPr>
          <p:cNvPr id="1048868" name="Text 21"/>
          <p:cNvSpPr/>
          <p:nvPr/>
        </p:nvSpPr>
        <p:spPr>
          <a:xfrm>
            <a:off x="1417320" y="51663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Real systems often require mixed open/closed analysis, and asymptotic bounds provide fast sanity checks before full analysis</a:t>
            </a:r>
            <a:endParaRPr dirty="0" sz="2000" lang="en-US"/>
          </a:p>
        </p:txBody>
      </p:sp>
      <p:sp>
        <p:nvSpPr>
          <p:cNvPr id="1048869" name="Text 2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870" name="Text 2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28</a:t>
            </a:r>
            <a:endParaRPr dirty="0" sz="900"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942"/>
        </a:solidFill>
        <a:effectLst/>
      </p:bgPr>
    </p:bg>
    <p:spTree>
      <p:nvGrpSpPr>
        <p:cNvPr id="119" name=""/>
        <p:cNvGrpSpPr/>
        <p:nvPr/>
      </p:nvGrpSpPr>
      <p:grpSpPr>
        <a:xfrm>
          <a:off x="0" y="0"/>
          <a:ext cx="0" cy="0"/>
          <a:chOff x="0" y="0"/>
          <a:chExt cx="0" cy="0"/>
        </a:xfrm>
      </p:grpSpPr>
      <p:sp>
        <p:nvSpPr>
          <p:cNvPr id="1048874" name="Text 0"/>
          <p:cNvSpPr/>
          <p:nvPr/>
        </p:nvSpPr>
        <p:spPr>
          <a:xfrm>
            <a:off x="822960" y="822960"/>
            <a:ext cx="7315200" cy="365760"/>
          </a:xfrm>
          <a:prstGeom prst="rect"/>
          <a:noFill/>
        </p:spPr>
        <p:txBody>
          <a:bodyPr anchor="ctr" bIns="0" lIns="0" rIns="0" rtlCol="0" tIns="0" wrap="square"/>
          <a:p>
            <a:pPr indent="0" marL="0">
              <a:buNone/>
            </a:pPr>
            <a:r>
              <a:rPr b="1" dirty="0" sz="1400" lang="en-US">
                <a:solidFill>
                  <a:srgbClr val="FF6B35"/>
                </a:solidFill>
                <a:latin typeface="Calibri" pitchFamily="34" charset="0"/>
                <a:ea typeface="Calibri" pitchFamily="34" charset="-122"/>
                <a:cs typeface="Calibri" pitchFamily="34" charset="-120"/>
              </a:rPr>
              <a:t>DISCUSSION / REVIEW QUESTION</a:t>
            </a:r>
            <a:endParaRPr dirty="0" sz="1400" lang="en-US"/>
          </a:p>
        </p:txBody>
      </p:sp>
      <p:sp>
        <p:nvSpPr>
          <p:cNvPr id="1048875" name="Text 1"/>
          <p:cNvSpPr/>
          <p:nvPr/>
        </p:nvSpPr>
        <p:spPr>
          <a:xfrm>
            <a:off x="822960" y="1371600"/>
            <a:ext cx="10241280" cy="2011680"/>
          </a:xfrm>
          <a:prstGeom prst="rect"/>
          <a:noFill/>
        </p:spPr>
        <p:txBody>
          <a:bodyPr anchor="t" bIns="0" lIns="0" rIns="0" rtlCol="0" tIns="0" wrap="square"/>
          <a:p>
            <a:pPr indent="0" marL="0">
              <a:lnSpc>
                <a:spcPct val="125000"/>
              </a:lnSpc>
              <a:buNone/>
            </a:pPr>
            <a:r>
              <a:rPr b="1" dirty="0" sz="2400" lang="en-US">
                <a:solidFill>
                  <a:srgbClr val="FFFFFF"/>
                </a:solidFill>
                <a:latin typeface="Calibri" pitchFamily="34" charset="0"/>
                <a:ea typeface="Calibri" pitchFamily="34" charset="-122"/>
                <a:cs typeface="Calibri" pitchFamily="34" charset="-120"/>
              </a:rPr>
              <a:t>A performance team measures the following service demands: Web tier D=10ms, App tier D=18ms, Database tier D=42ms, Cache D=3ms. The team is debating whether to invest engineering time in optimizing the application tier or the database tier. Using the concepts in this lecture, which should they prioritize, and what is the theoretical maximum throughput of the system as currently configured?</a:t>
            </a:r>
            <a:endParaRPr dirty="0" sz="2400" lang="en-US"/>
          </a:p>
        </p:txBody>
      </p:sp>
      <p:sp>
        <p:nvSpPr>
          <p:cNvPr id="1048876" name="Text 2"/>
          <p:cNvSpPr/>
          <p:nvPr/>
        </p:nvSpPr>
        <p:spPr>
          <a:xfrm>
            <a:off x="822960" y="4224906"/>
            <a:ext cx="5486400" cy="365760"/>
          </a:xfrm>
          <a:prstGeom prst="rect"/>
          <a:noFill/>
        </p:spPr>
        <p:txBody>
          <a:bodyPr anchor="ctr" bIns="0" lIns="0" rIns="0" rtlCol="0" tIns="0" wrap="square"/>
          <a:p>
            <a:pPr indent="0" marL="0">
              <a:buNone/>
            </a:pPr>
            <a:r>
              <a:rPr b="1" dirty="0" sz="2000" lang="en-US">
                <a:solidFill>
                  <a:srgbClr val="00B8A9"/>
                </a:solidFill>
                <a:latin typeface="Calibri" pitchFamily="34" charset="0"/>
                <a:ea typeface="Calibri" pitchFamily="34" charset="-122"/>
                <a:cs typeface="Calibri" pitchFamily="34" charset="-120"/>
              </a:rPr>
              <a:t>Think about:</a:t>
            </a:r>
            <a:endParaRPr dirty="0" sz="2000" lang="en-US"/>
          </a:p>
        </p:txBody>
      </p:sp>
      <p:sp>
        <p:nvSpPr>
          <p:cNvPr id="1048877" name="Text 3"/>
          <p:cNvSpPr/>
          <p:nvPr/>
        </p:nvSpPr>
        <p:spPr>
          <a:xfrm>
            <a:off x="822960" y="4636386"/>
            <a:ext cx="10058400" cy="2011680"/>
          </a:xfrm>
          <a:prstGeom prst="rect"/>
          <a:noFill/>
        </p:spPr>
        <p:txBody>
          <a:bodyPr anchor="t" bIns="0" lIns="0" rIns="0" rtlCol="0" tIns="0" wrap="square"/>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Apply the Bottleneck Law to identify which resource has the maximum demand</a:t>
            </a:r>
            <a:endParaRPr dirty="0" sz="2000" lang="en-US"/>
          </a:p>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Use X_max = 1 / D_max to compute the throughput ceiling</a:t>
            </a:r>
            <a:endParaRPr dirty="0" sz="2000" lang="en-US"/>
          </a:p>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Consider what would happen to throughput if they optimized the application tier instead of the actual bottleneck</a:t>
            </a:r>
            <a:endParaRPr dirty="0" sz="2000" lang="en-US"/>
          </a:p>
        </p:txBody>
      </p:sp>
      <p:sp>
        <p:nvSpPr>
          <p:cNvPr id="1048878" name="Text 4"/>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879" name="Text 5"/>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29</a:t>
            </a:r>
            <a:endParaRPr dirty="0" sz="900"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22" name=""/>
        <p:cNvGrpSpPr/>
        <p:nvPr/>
      </p:nvGrpSpPr>
      <p:grpSpPr>
        <a:xfrm>
          <a:off x="0" y="0"/>
          <a:ext cx="0" cy="0"/>
          <a:chOff x="0" y="0"/>
          <a:chExt cx="0" cy="0"/>
        </a:xfrm>
      </p:grpSpPr>
      <p:sp>
        <p:nvSpPr>
          <p:cNvPr id="1048883" name="Text 0"/>
          <p:cNvSpPr/>
          <p:nvPr/>
        </p:nvSpPr>
        <p:spPr>
          <a:xfrm>
            <a:off x="548640" y="457200"/>
            <a:ext cx="91440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References &amp; Further Reading</a:t>
            </a:r>
            <a:endParaRPr dirty="0" sz="2600" lang="en-US"/>
          </a:p>
        </p:txBody>
      </p:sp>
      <p:sp>
        <p:nvSpPr>
          <p:cNvPr id="1048884" name="Shape 1"/>
          <p:cNvSpPr/>
          <p:nvPr/>
        </p:nvSpPr>
        <p:spPr>
          <a:xfrm>
            <a:off x="566928" y="1097280"/>
            <a:ext cx="411480" cy="45720"/>
          </a:xfrm>
          <a:prstGeom prst="rect"/>
          <a:solidFill>
            <a:srgbClr val="00B8A9"/>
          </a:solidFill>
        </p:spPr>
      </p:sp>
      <p:sp>
        <p:nvSpPr>
          <p:cNvPr id="1048885" name="Text 2"/>
          <p:cNvSpPr/>
          <p:nvPr/>
        </p:nvSpPr>
        <p:spPr>
          <a:xfrm>
            <a:off x="594360" y="1463040"/>
            <a:ext cx="10789920" cy="3291840"/>
          </a:xfrm>
          <a:prstGeom prst="rect"/>
          <a:noFill/>
        </p:spPr>
        <p:txBody>
          <a:bodyPr anchor="t" bIns="0" lIns="0" rIns="0" rtlCol="0" tIns="0" wrap="square"/>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Denning, P. and Buzen, J. — The Operational Analysis of Queueing Network Models (1978)</a:t>
            </a:r>
            <a:endParaRPr dirty="0" lang="en-US"/>
          </a:p>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Reiser, M. and Lavenberg, S. — Mean-Value Analysis of Closed Multichain Queueing Networks (1980)</a:t>
            </a:r>
            <a:endParaRPr dirty="0" lang="en-US"/>
          </a:p>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Lazowska et al. — Quantitative System Performance, Ch. 5-8 (free online)</a:t>
            </a:r>
            <a:endParaRPr dirty="0" lang="en-US"/>
          </a:p>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Menasce, D. and Almeida, V. — Capacity Planning for Web Services, Ch. 4-5</a:t>
            </a:r>
            <a:endParaRPr dirty="0" lang="en-US"/>
          </a:p>
        </p:txBody>
      </p:sp>
      <p:sp>
        <p:nvSpPr>
          <p:cNvPr id="1048886" name="Shape 3"/>
          <p:cNvSpPr/>
          <p:nvPr/>
        </p:nvSpPr>
        <p:spPr>
          <a:xfrm>
            <a:off x="548640" y="5029200"/>
            <a:ext cx="11064240" cy="1051560"/>
          </a:xfrm>
          <a:prstGeom prst="roundRect">
            <a:avLst>
              <a:gd name="adj" fmla="val 7826"/>
            </a:avLst>
          </a:prstGeom>
          <a:solidFill>
            <a:srgbClr val="0F2942"/>
          </a:solidFill>
        </p:spPr>
      </p:sp>
      <p:sp>
        <p:nvSpPr>
          <p:cNvPr id="1048887" name="Text 4"/>
          <p:cNvSpPr/>
          <p:nvPr/>
        </p:nvSpPr>
        <p:spPr>
          <a:xfrm>
            <a:off x="822960" y="5138928"/>
            <a:ext cx="2743200" cy="320040"/>
          </a:xfrm>
          <a:prstGeom prst="rect"/>
          <a:noFill/>
        </p:spPr>
        <p:txBody>
          <a:bodyPr anchor="ctr" bIns="0" lIns="0" rIns="0" rtlCol="0" tIns="0" wrap="square"/>
          <a:p>
            <a:pPr indent="0" marL="0">
              <a:buNone/>
            </a:pPr>
            <a:r>
              <a:rPr b="1" dirty="0" sz="1100" lang="en-US">
                <a:solidFill>
                  <a:srgbClr val="00B8A9"/>
                </a:solidFill>
                <a:latin typeface="Calibri" pitchFamily="34" charset="0"/>
                <a:ea typeface="Calibri" pitchFamily="34" charset="-122"/>
                <a:cs typeface="Calibri" pitchFamily="34" charset="-120"/>
              </a:rPr>
              <a:t>NEXT LECTURE</a:t>
            </a:r>
            <a:endParaRPr dirty="0" sz="1100" lang="en-US"/>
          </a:p>
        </p:txBody>
      </p:sp>
      <p:sp>
        <p:nvSpPr>
          <p:cNvPr id="1048888" name="Text 5"/>
          <p:cNvSpPr/>
          <p:nvPr/>
        </p:nvSpPr>
        <p:spPr>
          <a:xfrm>
            <a:off x="822960" y="5422392"/>
            <a:ext cx="10058400" cy="548640"/>
          </a:xfrm>
          <a:prstGeom prst="rect"/>
          <a:noFill/>
        </p:spPr>
        <p:txBody>
          <a:bodyPr anchor="ctr" bIns="0" lIns="0" rIns="0" rtlCol="0" tIns="0" wrap="square"/>
          <a:p>
            <a:pPr indent="0" marL="0">
              <a:buNone/>
            </a:pPr>
            <a:r>
              <a:rPr b="1" dirty="0" sz="1550" lang="en-US">
                <a:solidFill>
                  <a:srgbClr val="FFFFFF"/>
                </a:solidFill>
                <a:latin typeface="Calibri" pitchFamily="34" charset="0"/>
                <a:ea typeface="Calibri" pitchFamily="34" charset="-122"/>
                <a:cs typeface="Calibri" pitchFamily="34" charset="-120"/>
              </a:rPr>
              <a:t>Lecture 7 — Discrete-Event Simulation</a:t>
            </a:r>
            <a:endParaRPr dirty="0" sz="1550" lang="en-US"/>
          </a:p>
        </p:txBody>
      </p:sp>
      <p:sp>
        <p:nvSpPr>
          <p:cNvPr id="1048889" name="Text 6"/>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6: Operational Analysis &amp; Networks of Queues</a:t>
            </a:r>
            <a:endParaRPr dirty="0" sz="900" lang="en-US"/>
          </a:p>
        </p:txBody>
      </p:sp>
      <p:sp>
        <p:nvSpPr>
          <p:cNvPr id="1048890" name="Text 7"/>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30</a:t>
            </a:r>
            <a:endParaRPr dirty="0" sz="9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Abdolraheem Khader</cp:lastModifiedBy>
  <dcterms:created xsi:type="dcterms:W3CDTF">2026-07-31T01:41:01Z</dcterms:created>
  <dcterms:modified xsi:type="dcterms:W3CDTF">2026-09-06T11:02:42Z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bfc14146f3584fae8b6ff16c1c47bd51_23</vt:lpwstr>
  </property>
</Properties>
</file>