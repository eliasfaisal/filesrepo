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311" r:id="rId5"/>
    <p:sldId id="334" r:id="rId6"/>
    <p:sldId id="312" r:id="rId7"/>
    <p:sldId id="331" r:id="rId8"/>
    <p:sldId id="313" r:id="rId9"/>
    <p:sldId id="314" r:id="rId10"/>
    <p:sldId id="315" r:id="rId11"/>
    <p:sldId id="316" r:id="rId12"/>
    <p:sldId id="317" r:id="rId13"/>
    <p:sldId id="336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6" r:id="rId22"/>
    <p:sldId id="332" r:id="rId23"/>
    <p:sldId id="327" r:id="rId24"/>
    <p:sldId id="333" r:id="rId25"/>
    <p:sldId id="328" r:id="rId26"/>
    <p:sldId id="330" r:id="rId27"/>
    <p:sldId id="33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84" autoAdjust="0"/>
  </p:normalViewPr>
  <p:slideViewPr>
    <p:cSldViewPr>
      <p:cViewPr>
        <p:scale>
          <a:sx n="56" d="100"/>
          <a:sy n="56" d="100"/>
        </p:scale>
        <p:origin x="1040" y="-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FA652-3BC9-494C-BB2E-427F9D4B4B4F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37213-1C98-4FB2-B2DD-EC0CD6CA5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6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733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47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47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1DD25-4E08-4CA9-8183-ECB59A81356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9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0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5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3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02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2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6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2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9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83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51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E415-AF29-43F9-80DA-93ED0779D8D8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FDE5B-19C3-46BB-9375-2894A7C188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5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434" y="2314211"/>
            <a:ext cx="4267200" cy="35531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Topics</a:t>
            </a:r>
            <a:endParaRPr lang="en-US" sz="31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478" y="1486786"/>
            <a:ext cx="3255111" cy="778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800" y="1691318"/>
            <a:ext cx="155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 a  n  b  a  n</a:t>
            </a:r>
          </a:p>
        </p:txBody>
      </p:sp>
    </p:spTree>
    <p:extLst>
      <p:ext uri="{BB962C8B-B14F-4D97-AF65-F5344CB8AC3E}">
        <p14:creationId xmlns:p14="http://schemas.microsoft.com/office/powerpoint/2010/main" val="366688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: Vanguard / for front Workbench*</a:t>
            </a:r>
            <a:endParaRPr lang="en-US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2968"/>
            <a:ext cx="4953000" cy="3441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problems:</a:t>
            </a: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Releases were often delayed</a:t>
            </a: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Requirements weren’t clear</a:t>
            </a: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Uncertainty about what we really needed or wanted in the tool</a:t>
            </a: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41884"/>
            <a:ext cx="2438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23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6172200" cy="11430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: Survey</a:t>
            </a:r>
            <a:endParaRPr lang="en-US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798637"/>
            <a:ext cx="8534399" cy="391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problems: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No collaboration with anyone who understood the requirements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Development done on all surveys but not any one survey fully completed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Surveys deployed with defects</a:t>
            </a: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142" y="685800"/>
            <a:ext cx="2486458" cy="15685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06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</a:t>
            </a:r>
            <a:endParaRPr lang="en-US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534399" cy="1600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79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Kanban?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Process developed by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</a:rPr>
              <a:t>Taiichi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</a:rPr>
              <a:t>Ohno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 at Toyota to find a system </a:t>
            </a:r>
            <a:r>
              <a:rPr lang="en-US" sz="2400" b="1" dirty="0">
                <a:solidFill>
                  <a:srgbClr val="FF0000"/>
                </a:solidFill>
              </a:rPr>
              <a:t>to improve and maintain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a high level of production.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Utilizes a “pull” system based on the actual demand of the customers (</a:t>
            </a:r>
            <a:r>
              <a:rPr lang="en-US" sz="2400" b="1" dirty="0">
                <a:solidFill>
                  <a:schemeClr val="tx2"/>
                </a:solidFill>
              </a:rPr>
              <a:t>make what’s needed instead of making all we can just in case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).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A method for JIT (just-in-time) production.</a:t>
            </a:r>
          </a:p>
          <a:p>
            <a:pPr marL="0" indent="0">
              <a:buNone/>
            </a:pPr>
            <a:endParaRPr lang="en-US" sz="400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59" y="4495800"/>
            <a:ext cx="38751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079" y="5351102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376945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423" y="5376945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231" y="4627033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079" y="4627033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220" y="4648200"/>
            <a:ext cx="58615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472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4191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Kanban is not a software development methodology, it is a method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</a:rPr>
              <a:t>Requires that a process is already in place so that Kanban incrementally changes the underlying process</a:t>
            </a:r>
            <a:endParaRPr lang="en-US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205526" y="4626483"/>
            <a:ext cx="838200" cy="0"/>
          </a:xfrm>
          <a:prstGeom prst="line">
            <a:avLst/>
          </a:prstGeom>
          <a:ln w="25400">
            <a:solidFill>
              <a:schemeClr val="tx1"/>
            </a:solidFill>
            <a:headEnd type="arrow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8280" y="4495638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predictive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67526" y="4626483"/>
            <a:ext cx="1495633" cy="0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339126" y="4626483"/>
            <a:ext cx="2929046" cy="1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7355136" y="4623795"/>
            <a:ext cx="479790" cy="2688"/>
          </a:xfrm>
          <a:prstGeom prst="line">
            <a:avLst/>
          </a:prstGeom>
          <a:ln w="25400">
            <a:solidFill>
              <a:schemeClr val="tx1"/>
            </a:solidFill>
            <a:headEnd type="arrow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5742" y="3346852"/>
            <a:ext cx="1195968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/>
              <a:t>Waterfall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600" y="3762350"/>
            <a:ext cx="1135119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Spiral Waterfall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873" y="3485351"/>
            <a:ext cx="1596527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/>
              <a:t>eXtreme Programming</a:t>
            </a:r>
          </a:p>
        </p:txBody>
      </p:sp>
      <p:cxnSp>
        <p:nvCxnSpPr>
          <p:cNvPr id="17" name="Straight Arrow Connector 16"/>
          <p:cNvCxnSpPr>
            <a:stCxn id="14" idx="2"/>
          </p:cNvCxnSpPr>
          <p:nvPr/>
        </p:nvCxnSpPr>
        <p:spPr>
          <a:xfrm>
            <a:off x="2043726" y="3623851"/>
            <a:ext cx="0" cy="9750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2"/>
          </p:cNvCxnSpPr>
          <p:nvPr/>
        </p:nvCxnSpPr>
        <p:spPr>
          <a:xfrm>
            <a:off x="3463160" y="4039349"/>
            <a:ext cx="0" cy="55951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355136" y="3759592"/>
            <a:ext cx="1" cy="83927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89710" y="4485295"/>
            <a:ext cx="727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adaptive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0721" y="4923261"/>
            <a:ext cx="1421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rigid methodologies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4929139"/>
            <a:ext cx="166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iterative methodologies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0336" y="4929139"/>
            <a:ext cx="14421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agile methodologies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4400" y="3603851"/>
            <a:ext cx="447558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RUP</a:t>
            </a:r>
          </a:p>
        </p:txBody>
      </p:sp>
      <p:cxnSp>
        <p:nvCxnSpPr>
          <p:cNvPr id="34" name="Straight Arrow Connector 33"/>
          <p:cNvCxnSpPr>
            <a:stCxn id="33" idx="2"/>
          </p:cNvCxnSpPr>
          <p:nvPr/>
        </p:nvCxnSpPr>
        <p:spPr>
          <a:xfrm>
            <a:off x="4948179" y="3880850"/>
            <a:ext cx="758" cy="7180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491526" y="4623795"/>
            <a:ext cx="1456654" cy="2689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79471" y="3924470"/>
            <a:ext cx="577402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Scrum</a:t>
            </a:r>
          </a:p>
        </p:txBody>
      </p:sp>
      <p:cxnSp>
        <p:nvCxnSpPr>
          <p:cNvPr id="45" name="Straight Arrow Connector 44"/>
          <p:cNvCxnSpPr>
            <a:stCxn id="44" idx="2"/>
          </p:cNvCxnSpPr>
          <p:nvPr/>
        </p:nvCxnSpPr>
        <p:spPr>
          <a:xfrm>
            <a:off x="6268172" y="4201469"/>
            <a:ext cx="0" cy="39739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268172" y="4623794"/>
            <a:ext cx="1086965" cy="1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eft Brace 49"/>
          <p:cNvSpPr/>
          <p:nvPr/>
        </p:nvSpPr>
        <p:spPr>
          <a:xfrm rot="5400000">
            <a:off x="4267200" y="-444805"/>
            <a:ext cx="457200" cy="6858000"/>
          </a:xfrm>
          <a:prstGeom prst="leftBrace">
            <a:avLst/>
          </a:prstGeom>
          <a:ln>
            <a:solidFill>
              <a:schemeClr val="tx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042663" y="2362200"/>
            <a:ext cx="90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</a:t>
            </a:r>
          </a:p>
        </p:txBody>
      </p:sp>
    </p:spTree>
    <p:extLst>
      <p:ext uri="{BB962C8B-B14F-4D97-AF65-F5344CB8AC3E}">
        <p14:creationId xmlns:p14="http://schemas.microsoft.com/office/powerpoint/2010/main" val="183035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1"/>
            <a:ext cx="8229600" cy="4267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Traditional Project Management – </a:t>
            </a:r>
            <a:r>
              <a:rPr lang="en-US" sz="1800" dirty="0"/>
              <a:t>triple constraint: scope, schedule, budget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Agile Project Management – </a:t>
            </a:r>
            <a:r>
              <a:rPr lang="en-US" sz="1800" dirty="0"/>
              <a:t>possibly agreed upon schedule but scope is negotiable; still similar to traditional project management during the iteration/sprint</a:t>
            </a:r>
            <a:endParaRPr lang="en-US" sz="1800" b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Kanban – </a:t>
            </a:r>
            <a:r>
              <a:rPr lang="en-US" sz="1800" dirty="0"/>
              <a:t>no promises based on uncertainty as with traditional or agile project management; it offers a commitment to a level of service and to things that customers truly value based on their priorities </a:t>
            </a:r>
          </a:p>
          <a:p>
            <a:pPr marL="0" indent="0">
              <a:buNone/>
            </a:pPr>
            <a:r>
              <a:rPr lang="en-US" sz="1800" i="1" dirty="0"/>
              <a:t>The traditional approach to forming a commitment around scope, schedule, and budget is indicative of a one-off transaction.  It implies there is no ongoing relationship.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i="1" dirty="0" err="1"/>
              <a:t>Kanban</a:t>
            </a:r>
            <a:r>
              <a:rPr lang="en-US" sz="1800" i="1" dirty="0"/>
              <a:t> is based on the notion that the team will stay together and engage in a relationship over a long period of time.  It implies a commitment to a relationship not just to a piece of work and therefore a higher level of trust.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8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Promoting and upgrade incremental change has been controversial in the Agile software development community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Kanban suggests that teams should not adopt a defined method or process template.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Kanban might empower individuals and teams evolve their own unique process solutions, which allows for innovation / creativity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88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One project could have several different teams, each with their own kanban board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/>
              <a:t>Each team’s situation is different and evolves their process to fit their context. </a:t>
            </a:r>
          </a:p>
          <a:p>
            <a:pPr marL="0" indent="0" algn="ctr">
              <a:buNone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However, the processes are derived from the same principles.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65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/>
              <a:t>Kanban</a:t>
            </a:r>
            <a:r>
              <a:rPr lang="en-US" sz="1800" b="1" dirty="0"/>
              <a:t> principles:</a:t>
            </a:r>
          </a:p>
          <a:p>
            <a:pPr>
              <a:buFont typeface="Wingdings" pitchFamily="2" charset="2"/>
              <a:buChar char="Ø"/>
            </a:pPr>
            <a:endParaRPr lang="en-US" sz="1600" b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Start with what you do now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Agree to pursue/ follow incremental, evolutionary change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Respect the current process, roles, responsibilities &amp; titles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Visualize the workflow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Limit Work In Progress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Manage Flow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Make Process Policies Explicit and clear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Improve Collaboratively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91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Kanban</a:t>
            </a:r>
            <a:r>
              <a:rPr lang="en-US" sz="2800" b="1" dirty="0"/>
              <a:t> principles in action: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Focus on Quality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Reduce Work-in-Progress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Deliver Often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Balance Demand Against Throughput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Prioritize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Attack Sources of Variability to Improve Predictability</a:t>
            </a:r>
          </a:p>
          <a:p>
            <a:pPr marL="342900" lvl="1" indent="-342900">
              <a:buFont typeface="Wingdings" pitchFamily="2" charset="2"/>
              <a:buChar char="Ø"/>
            </a:pPr>
            <a:endParaRPr lang="en-US" b="1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lvl="1" indent="0" algn="ctr">
              <a:buNone/>
            </a:pPr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Enables Lean/Agile/Collaborative Culture</a:t>
            </a: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0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Focusing on Quality</a:t>
            </a:r>
          </a:p>
          <a:p>
            <a:pPr lvl="1"/>
            <a:endParaRPr lang="en-US" sz="1800" dirty="0"/>
          </a:p>
          <a:p>
            <a:pPr lvl="1"/>
            <a:r>
              <a:rPr lang="en-US" sz="2400" dirty="0"/>
              <a:t>   Code inspections</a:t>
            </a:r>
          </a:p>
          <a:p>
            <a:pPr lvl="1"/>
            <a:r>
              <a:rPr lang="en-US" sz="2400" dirty="0"/>
              <a:t>	Collaborative analysis</a:t>
            </a:r>
          </a:p>
          <a:p>
            <a:pPr lvl="1"/>
            <a:r>
              <a:rPr lang="en-US" sz="2400" dirty="0"/>
              <a:t>	Use of design patterns</a:t>
            </a:r>
          </a:p>
          <a:p>
            <a:pPr lvl="1"/>
            <a:r>
              <a:rPr lang="en-US" sz="2400" dirty="0"/>
              <a:t>	Modern development tools</a:t>
            </a:r>
          </a:p>
          <a:p>
            <a:pPr lvl="1"/>
            <a:r>
              <a:rPr lang="en-US" sz="2400" dirty="0"/>
              <a:t>	Reduce quantity of design-in-progress</a:t>
            </a:r>
          </a:p>
        </p:txBody>
      </p:sp>
    </p:spTree>
    <p:extLst>
      <p:ext uri="{BB962C8B-B14F-4D97-AF65-F5344CB8AC3E}">
        <p14:creationId xmlns:p14="http://schemas.microsoft.com/office/powerpoint/2010/main" val="388004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Reducing Work-in-Progress</a:t>
            </a:r>
          </a:p>
          <a:p>
            <a:pPr lvl="1"/>
            <a:endParaRPr lang="en-US" sz="1800" dirty="0"/>
          </a:p>
          <a:p>
            <a:pPr lvl="1"/>
            <a:r>
              <a:rPr lang="en-US" sz="2000" b="1" dirty="0"/>
              <a:t>Shorten iterations to drive higher quality</a:t>
            </a:r>
          </a:p>
          <a:p>
            <a:pPr lvl="1"/>
            <a:r>
              <a:rPr lang="en-US" sz="2000" b="1" dirty="0"/>
              <a:t>Limit work in progress</a:t>
            </a:r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r>
              <a:rPr lang="en-US" sz="2000" b="1" i="1" dirty="0"/>
              <a:t>There is a causation between quantity of work-in-progress and average lead time</a:t>
            </a:r>
            <a:r>
              <a:rPr lang="en-US" sz="1800" i="1" dirty="0"/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133600"/>
            <a:ext cx="2482280" cy="21536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1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3535363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Delivering Often</a:t>
            </a:r>
          </a:p>
          <a:p>
            <a:pPr lvl="1"/>
            <a:endParaRPr lang="en-US" sz="1800" dirty="0"/>
          </a:p>
          <a:p>
            <a:pPr lvl="1"/>
            <a:r>
              <a:rPr lang="en-US" dirty="0"/>
              <a:t>Frequent releases build trust</a:t>
            </a:r>
          </a:p>
          <a:p>
            <a:pPr lvl="1"/>
            <a:r>
              <a:rPr lang="en-US" dirty="0"/>
              <a:t>Small releases provide evidence that software development teams can deliver and are committed to providing value</a:t>
            </a:r>
          </a:p>
          <a:p>
            <a:pPr lvl="1"/>
            <a:r>
              <a:rPr lang="en-US" dirty="0"/>
              <a:t>Reducing W.I.P reduces lead time and shorter lead times mean more releases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62200" y="5727204"/>
            <a:ext cx="47477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cap="none" spc="0" dirty="0">
                <a:ln w="50800"/>
                <a:solidFill>
                  <a:schemeClr val="bg1">
                    <a:shade val="50000"/>
                  </a:schemeClr>
                </a:solidFill>
                <a:effectLst/>
              </a:rPr>
              <a:t>In Gunnison We Trust</a:t>
            </a:r>
          </a:p>
        </p:txBody>
      </p:sp>
    </p:spTree>
    <p:extLst>
      <p:ext uri="{BB962C8B-B14F-4D97-AF65-F5344CB8AC3E}">
        <p14:creationId xmlns:p14="http://schemas.microsoft.com/office/powerpoint/2010/main" val="2129177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51037"/>
            <a:ext cx="87630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Balancing Demand Against Throughput</a:t>
            </a:r>
            <a:endParaRPr lang="en-US" sz="1800" dirty="0"/>
          </a:p>
          <a:p>
            <a:pPr lvl="1"/>
            <a:r>
              <a:rPr lang="en-US" sz="2400" dirty="0"/>
              <a:t>Set the rate at which new requirements are accepted into the software development pipeline</a:t>
            </a:r>
          </a:p>
          <a:p>
            <a:pPr lvl="1"/>
            <a:r>
              <a:rPr lang="en-US" sz="2400" dirty="0"/>
              <a:t>Doing so effectively fixes the work-in-progress to a given size</a:t>
            </a:r>
          </a:p>
          <a:p>
            <a:pPr lvl="1"/>
            <a:r>
              <a:rPr lang="en-US" sz="2400" dirty="0"/>
              <a:t>As work is delivered, more requirements are pulled from the people creating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8006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Limiting W.I.P and create slack.  Slack enables continuous improvement.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503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048000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Prioritizing</a:t>
            </a:r>
          </a:p>
          <a:p>
            <a:pPr lvl="1"/>
            <a:endParaRPr lang="en-US" sz="1800" dirty="0"/>
          </a:p>
          <a:p>
            <a:pPr lvl="1"/>
            <a:r>
              <a:rPr lang="en-US" sz="2400" dirty="0"/>
              <a:t>Optimize value being delivered</a:t>
            </a:r>
          </a:p>
          <a:p>
            <a:pPr lvl="1"/>
            <a:r>
              <a:rPr lang="en-US" sz="2400" dirty="0"/>
              <a:t>Can only be done after team has learned to consistently build high-quality code, reducing WIP, shortening lead time, releasing often, and balancing demand against throughput</a:t>
            </a:r>
          </a:p>
          <a:p>
            <a:pPr lvl="1"/>
            <a:r>
              <a:rPr lang="en-US" sz="2400" dirty="0"/>
              <a:t>Take action to optimize business value </a:t>
            </a:r>
          </a:p>
          <a:p>
            <a:pPr marL="457200" lvl="1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34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534400" cy="3124200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Attacking Sources of Variability to Improve Predictability</a:t>
            </a:r>
          </a:p>
          <a:p>
            <a:pPr lvl="1"/>
            <a:endParaRPr lang="en-US" sz="1800" dirty="0"/>
          </a:p>
          <a:p>
            <a:pPr lvl="1"/>
            <a:r>
              <a:rPr lang="en-US" sz="2400" dirty="0"/>
              <a:t>Requires knowledge workers to change the way they work, learn new techniques, and change their personal behavior</a:t>
            </a:r>
          </a:p>
          <a:p>
            <a:pPr lvl="1"/>
            <a:r>
              <a:rPr lang="en-US" sz="2400" dirty="0"/>
              <a:t>For mature organizations</a:t>
            </a:r>
          </a:p>
          <a:p>
            <a:pPr lvl="1"/>
            <a:r>
              <a:rPr lang="en-US" sz="2400" dirty="0"/>
              <a:t>Variability results in more WIP and longer lead times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143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will cut costs:</a:t>
            </a:r>
          </a:p>
          <a:p>
            <a:pPr marL="0" lvl="1" indent="0">
              <a:buNone/>
            </a:pPr>
            <a:endParaRPr lang="en-US" sz="18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</a:rPr>
              <a:t>Transactional costs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– setup activities, cleanup, delivery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</a:rPr>
              <a:t>Coordination costs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– scheduling, emails, meetings, stand-ups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</a:rPr>
              <a:t>Failure load costs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– new value-added work generated because of an earlier failing; work that uses capacity that could have been used for new value-added, revenue-generating features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for </a:t>
            </a:r>
            <a:br>
              <a:rPr lang="en-US" sz="3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3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 to our problems: Vanguard Workbench</a:t>
            </a:r>
            <a:endParaRPr lang="en-US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2968"/>
            <a:ext cx="4953000" cy="228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problems:</a:t>
            </a: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Releases were often delayed</a:t>
            </a:r>
          </a:p>
          <a:p>
            <a:pPr marL="514350" indent="-514350"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Requirements weren’t clear</a:t>
            </a:r>
          </a:p>
          <a:p>
            <a:pPr marL="514350" indent="-514350"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Uncertainty about what we really needed or wanted in the tool</a:t>
            </a: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209800"/>
            <a:ext cx="2438400" cy="160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600" y="45720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did we utilize Kanban to solve this?</a:t>
            </a:r>
          </a:p>
        </p:txBody>
      </p:sp>
    </p:spTree>
    <p:extLst>
      <p:ext uri="{BB962C8B-B14F-4D97-AF65-F5344CB8AC3E}">
        <p14:creationId xmlns:p14="http://schemas.microsoft.com/office/powerpoint/2010/main" val="24536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at NCS: Vanguard Workbench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solution:</a:t>
            </a: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Introduced Kanban to the S-3’s software development effort for Workbench.</a:t>
            </a: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Visual management via kanban board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Limit the work-in-progress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Closer collaboration to determine their priorities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Make Workbench development effort completely transparent to everyone</a:t>
            </a:r>
          </a:p>
        </p:txBody>
      </p:sp>
    </p:spTree>
    <p:extLst>
      <p:ext uri="{BB962C8B-B14F-4D97-AF65-F5344CB8AC3E}">
        <p14:creationId xmlns:p14="http://schemas.microsoft.com/office/powerpoint/2010/main" val="426275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 to our problems: Survey</a:t>
            </a:r>
            <a:endParaRPr lang="en-US" sz="31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130843"/>
            <a:ext cx="2486458" cy="15685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219200" y="441960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did we utilize Kanban to solve this?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1" y="1798637"/>
            <a:ext cx="853439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problems: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No collaboration with anyone who understood the requirements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Development done on all surveys but not any one survey fully completed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Surveys deployed with defects</a:t>
            </a: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8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Kanban at NCS: LimeSurvey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solution:</a:t>
            </a:r>
          </a:p>
          <a:p>
            <a:pPr marL="0" indent="0"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Introduced Kanban to the instrument development effort for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LimeSurvey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Documented their workflow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Focused on quality – found over 150 defects in first phase of testing—this built trust with LimeSurvey developers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Introduced work-in-progress limits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Balanced Demand Against Throughput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Prioritization</a:t>
            </a:r>
          </a:p>
          <a:p>
            <a:pPr marL="342900" lvl="1" indent="-342900">
              <a:buFont typeface="Wingdings" pitchFamily="2" charset="2"/>
              <a:buChar char="ü"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Deployed 4 defect-free surveys in 4 weeks.  Zero completed in the prior 6 months.</a:t>
            </a:r>
          </a:p>
          <a:p>
            <a:pPr marL="0" lvl="1" indent="0">
              <a:buNone/>
            </a:pPr>
            <a:endParaRPr lang="en-US" sz="1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0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Gunnison’s </a:t>
            </a:r>
            <a:b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Test Management Solution</a:t>
            </a:r>
            <a:endParaRPr lang="en-US" sz="3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Agile/Lean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Leverages Kanban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be implemented with a variety of tools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disruptive to existing processes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2948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Questions?</a:t>
            </a:r>
            <a:endParaRPr lang="en-US" sz="3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2514600"/>
            <a:ext cx="5098473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9000" y="2971800"/>
            <a:ext cx="192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 n d</a:t>
            </a:r>
          </a:p>
        </p:txBody>
      </p:sp>
    </p:spTree>
    <p:extLst>
      <p:ext uri="{BB962C8B-B14F-4D97-AF65-F5344CB8AC3E}">
        <p14:creationId xmlns:p14="http://schemas.microsoft.com/office/powerpoint/2010/main" val="378151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4EAFC1B99D8A4994D2B88E9B9991EA" ma:contentTypeVersion="1" ma:contentTypeDescription="Create a new document." ma:contentTypeScope="" ma:versionID="443dd59d169008876594b86990db0a45">
  <xsd:schema xmlns:xsd="http://www.w3.org/2001/XMLSchema" xmlns:xs="http://www.w3.org/2001/XMLSchema" xmlns:p="http://schemas.microsoft.com/office/2006/metadata/properties" xmlns:ns2="http://schemas.microsoft.com/sharepoint/v4" targetNamespace="http://schemas.microsoft.com/office/2006/metadata/properties" ma:root="true" ma:fieldsID="c79c8594d4fa4c9fd200c91a62336472" ns2:_=""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2D4312-B761-467C-AFD1-F715006A387C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34C0542C-60AB-4A5F-87E5-8754389B06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3C2C45-A79C-452C-AC93-FAA5F42BC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1077</Words>
  <Application>Microsoft Office PowerPoint</Application>
  <PresentationFormat>On-screen Show (4:3)</PresentationFormat>
  <Paragraphs>211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Office Theme</vt:lpstr>
      <vt:lpstr>Topics</vt:lpstr>
      <vt:lpstr>Kanban : Vanguard / for front Workbench*</vt:lpstr>
      <vt:lpstr>Kanban : Survey</vt:lpstr>
      <vt:lpstr>Our Solution</vt:lpstr>
      <vt:lpstr>What is Kanban?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</vt:lpstr>
      <vt:lpstr>Kanban for  Software Development </vt:lpstr>
      <vt:lpstr>Back to our problems: Vanguard Workbench</vt:lpstr>
      <vt:lpstr>Kanban at NCS: Vanguard Workbench </vt:lpstr>
      <vt:lpstr>Back to our problems: Survey</vt:lpstr>
      <vt:lpstr>Kanban at NCS: LimeSurvey </vt:lpstr>
      <vt:lpstr>Gunnison’s  Visual Test Management Solution</vt:lpstr>
      <vt:lpstr>Questions?</vt:lpstr>
    </vt:vector>
  </TitlesOfParts>
  <Company>Social &amp; Scientific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Bell, Angela</dc:creator>
  <cp:lastModifiedBy>user</cp:lastModifiedBy>
  <cp:revision>82</cp:revision>
  <dcterms:created xsi:type="dcterms:W3CDTF">2012-02-13T18:25:58Z</dcterms:created>
  <dcterms:modified xsi:type="dcterms:W3CDTF">2024-12-11T05:57:50Z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0x0101000C4EAFC1B99D8A4994D2B88E9B9991EA</vt:lpwstr>
  </property>
</Properties>
</file>