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3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 rtl="0" saveSubsetFonts="0" serverZoom="0" showSpecialPlsOnTitleSld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type="screen4x3" cy="6858000" cx="9144000"/>
  <p:notesSz cx="6858000" cy="9144000"/>
  <p:defaultTextStyle>
    <a:lvl1pPr algn="l" eaLnBrk="0" fontAlgn="base" hangingPunct="0" indent="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34" charset="0"/>
        <a:ea typeface="Arial" pitchFamily="34" charset="0"/>
        <a:sym typeface="Arial" pitchFamily="34" charset="0"/>
      </a:defRPr>
    </a:lvl1pPr>
    <a:lvl2pPr algn="l" eaLnBrk="0" fontAlgn="base" hangingPunct="0" indent="0" latinLnBrk="0" marL="4572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34" charset="0"/>
        <a:ea typeface="Arial" pitchFamily="34" charset="0"/>
        <a:sym typeface="Arial" pitchFamily="34" charset="0"/>
      </a:defRPr>
    </a:lvl2pPr>
    <a:lvl3pPr algn="l" eaLnBrk="0" fontAlgn="base" hangingPunct="0" indent="0" latinLnBrk="0" marL="9144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34" charset="0"/>
        <a:ea typeface="Arial" pitchFamily="34" charset="0"/>
        <a:sym typeface="Arial" pitchFamily="34" charset="0"/>
      </a:defRPr>
    </a:lvl3pPr>
    <a:lvl4pPr algn="l" eaLnBrk="0" fontAlgn="base" hangingPunct="0" indent="0" latinLnBrk="0" marL="13716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34" charset="0"/>
        <a:ea typeface="Arial" pitchFamily="34" charset="0"/>
        <a:sym typeface="Arial" pitchFamily="34" charset="0"/>
      </a:defRPr>
    </a:lvl4pPr>
    <a:lvl5pPr algn="l" eaLnBrk="0" fontAlgn="base" hangingPunct="0" indent="0" latinLnBrk="0" marL="18288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34" charset="0"/>
        <a:ea typeface="Arial" pitchFamily="34" charset="0"/>
        <a:sym typeface="Arial" pitchFamily="34" charset="0"/>
      </a:defRPr>
    </a:lvl5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View">
  <p:normalViewPr showOutlineIcons="1" snapVertSplitter="0" vertBarState="restored" horzBarState="maximized" preferSingleView="0">
    <p:restoredLeft sz="16985" autoAdjust="0"/>
    <p:restoredTop sz="94652" autoAdjust="0"/>
  </p:normalViewPr>
  <p:slideViewPr>
    <p:cSldViewPr showGuides="0" snapToGrid="1" snapToObjects="0">
      <p:cViewPr varScale="1">
        <p:scale>
          <a:sx n="73" d="100"/>
          <a:sy n="73" d="100"/>
        </p:scale>
        <p:origin x="-1236" y="-102"/>
      </p:cViewPr>
      <p:guideLst>
        <p:guide orient="horz" pos="2160"/>
        <p:guide orient="vert" pos="2880"/>
      </p:guideLst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ableStyles" Target="tableStyle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5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4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7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/>
            </a:lvl1pPr>
            <a:lvl2pPr indent="0" marL="457200">
              <a:buNone/>
              <a:defRPr sz="1800"/>
            </a:lvl2pPr>
            <a:lvl3pPr indent="0" marL="914400">
              <a:buNone/>
              <a:defRPr sz="1600"/>
            </a:lvl3pPr>
            <a:lvl4pPr indent="0" marL="1371600">
              <a:buNone/>
              <a:defRPr sz="1400"/>
            </a:lvl4pPr>
            <a:lvl5pPr indent="0" marL="1828800">
              <a:buNone/>
              <a:defRPr sz="1400"/>
            </a:lvl5pPr>
            <a:lvl6pPr indent="0" marL="2286000">
              <a:buNone/>
              <a:defRPr sz="1400"/>
            </a:lvl6pPr>
            <a:lvl7pPr indent="0" marL="2743200">
              <a:buNone/>
              <a:defRPr sz="1400"/>
            </a:lvl7pPr>
            <a:lvl8pPr indent="0" marL="3200400">
              <a:buNone/>
              <a:defRPr sz="1400"/>
            </a:lvl8pPr>
            <a:lvl9pPr indent="0" marL="365760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9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0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2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3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5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8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9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1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baseline="0" b="0" cap="none" sz="3200" i="0" kern="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52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jpeg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blipFill rotWithShape="0">
          <a:blip xmlns:r="http://schemas.openxmlformats.org/officeDocument/2006/relationships" r:embed="rId12">
            <a:alphaModFix amt="100000"/>
          </a:blip>
          <a:srcRect/>
          <a:stretch>
            <a:fillRect/>
          </a:stretch>
        </a:blipFill>
      </p:bgPr>
    </p:bg>
    <p:spTree>
      <p:nvGrpSpPr>
        <p:cNvPr id="2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76" name="Rectangle 2"/>
          <p:cNvSpPr/>
          <p:nvPr>
            <p:ph type="title" sz="full" idx="0"/>
          </p:nvPr>
        </p:nvSpPr>
        <p:spPr>
          <a:xfrm rot="0">
            <a:off x="457200" y="274637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p>
            <a:pPr lvl="0"/>
            <a:r>
              <a:rPr altLang="ar-EG" lang="es-ES"/>
              <a:t>Haga clic para cambiar el estilo de título	</a:t>
            </a:r>
          </a:p>
        </p:txBody>
      </p:sp>
      <p:sp>
        <p:nvSpPr>
          <p:cNvPr id="1048577" name="Rectangle 3"/>
          <p:cNvSpPr/>
          <p:nvPr>
            <p:ph type="body" sz="full" idx="1"/>
          </p:nvPr>
        </p:nvSpPr>
        <p:spPr>
          <a:xfrm rot="0">
            <a:off x="457200" y="1600200"/>
            <a:ext cx="8229600" cy="4525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ar-EG" lang="es-ES"/>
              <a:t>Haga clic para modificar el estilo de texto del patrón</a:t>
            </a:r>
          </a:p>
          <a:p>
            <a:pPr lvl="1"/>
            <a:r>
              <a:rPr altLang="ar-EG" lang="es-ES"/>
              <a:t>Segundo nivel</a:t>
            </a:r>
          </a:p>
          <a:p>
            <a:pPr lvl="2"/>
            <a:r>
              <a:rPr altLang="ar-EG" lang="es-ES"/>
              <a:t>Tercer nivel</a:t>
            </a:r>
          </a:p>
          <a:p>
            <a:pPr lvl="3"/>
            <a:r>
              <a:rPr altLang="ar-EG" lang="es-ES"/>
              <a:t>Cuarto nivel</a:t>
            </a:r>
          </a:p>
          <a:p>
            <a:pPr lvl="4"/>
            <a:r>
              <a:rPr altLang="ar-EG" lang="es-ES"/>
              <a:t>Quinto nivel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sldNum="0"/>
  <p:txStyles>
    <p:titleStyle>
      <a:lvl1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eaLnBrk="0" fontAlgn="base" hangingPunct="0" indent="-342900" marL="342900" rtl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85750" marL="742950" rtl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algn="l" eaLnBrk="0" fontAlgn="base" hangingPunct="0" indent="-228600" marL="1143000" rtl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algn="l" eaLnBrk="0" fontAlgn="base" hangingPunct="0" indent="-228600" marL="1600200" rtl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algn="l" eaLnBrk="0" fontAlgn="base" hangingPunct="0" indent="-228600" marL="20574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algn="l" fontAlgn="base" indent="-228600" marL="25146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algn="l" fontAlgn="base" indent="-228600" marL="29718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algn="l" fontAlgn="base" indent="-228600" marL="34290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algn="l" fontAlgn="base" indent="-228600" marL="38862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1" name="Rectangle 173"/>
          <p:cNvSpPr/>
          <p:nvPr/>
        </p:nvSpPr>
        <p:spPr>
          <a:xfrm rot="0">
            <a:off x="1357312" y="981075"/>
            <a:ext cx="6408737" cy="29527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ctr" eaLnBrk="1" hangingPunct="1" lvl="0" rtl="1">
              <a:lnSpc>
                <a:spcPct val="90000"/>
              </a:lnSpc>
              <a:spcBef>
                <a:spcPct val="20000"/>
              </a:spcBef>
            </a:pPr>
            <a:r>
              <a:rPr altLang="ar-EG" b="1" sz="3200" lang="ar-SA">
                <a:solidFill>
                  <a:srgbClr val="FF0000"/>
                </a:solidFill>
                <a:latin typeface="Segoe UI" pitchFamily="34" charset="0"/>
                <a:ea typeface="Segoe UI" pitchFamily="34" charset="0"/>
              </a:rPr>
              <a:t>الوسائط المتعددة</a:t>
            </a:r>
          </a:p>
          <a:p>
            <a:pPr algn="ctr" eaLnBrk="1" hangingPunct="1" lvl="0" rtl="1">
              <a:lnSpc>
                <a:spcPct val="90000"/>
              </a:lnSpc>
              <a:spcBef>
                <a:spcPct val="20000"/>
              </a:spcBef>
            </a:pPr>
            <a:endParaRPr altLang="ar-EG" b="1" sz="4400" lang="ar-SA"/>
          </a:p>
          <a:p>
            <a:pPr algn="ctr" eaLnBrk="1" hangingPunct="1" lvl="0" rtl="1">
              <a:lnSpc>
                <a:spcPct val="90000"/>
              </a:lnSpc>
              <a:spcBef>
                <a:spcPct val="20000"/>
              </a:spcBef>
            </a:pPr>
            <a:r>
              <a:rPr altLang="ar-EG" b="1" sz="4400" lang="en-US"/>
              <a:t> </a:t>
            </a:r>
            <a:r>
              <a:rPr altLang="ar-EG" b="1" sz="7200" lang="ar-SA"/>
              <a:t>معالجة الصــور</a:t>
            </a:r>
          </a:p>
          <a:p>
            <a:pPr algn="ctr" eaLnBrk="1" hangingPunct="1" lvl="0" rtl="1">
              <a:lnSpc>
                <a:spcPct val="90000"/>
              </a:lnSpc>
              <a:spcBef>
                <a:spcPct val="20000"/>
              </a:spcBef>
            </a:pPr>
            <a:r>
              <a:rPr altLang="ar-EG" b="1" sz="4000" lang="en-US">
                <a:solidFill>
                  <a:srgbClr val="FF0000"/>
                </a:solidFill>
              </a:rPr>
              <a:t>Image processing</a:t>
            </a:r>
          </a:p>
        </p:txBody>
      </p:sp>
      <p:sp>
        <p:nvSpPr>
          <p:cNvPr id="1048582" name="Rectangle 177"/>
          <p:cNvSpPr/>
          <p:nvPr/>
        </p:nvSpPr>
        <p:spPr>
          <a:xfrm rot="0">
            <a:off x="3429000" y="4714875"/>
            <a:ext cx="5365750" cy="5762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r" eaLnBrk="1" hangingPunct="1" lvl="0"/>
            <a:r>
              <a:rPr altLang="en-US" sz="2400" lang="ar-SA">
                <a:latin typeface="Arabic Typesetting" pitchFamily="0" charset="1"/>
                <a:ea typeface="Arabic Typesetting" pitchFamily="0" charset="1"/>
              </a:rPr>
              <a:t>أ.أبوبكر عبد الرحيم الجاك</a:t>
            </a:r>
            <a:r>
              <a:rPr altLang="en-US" sz="3200" lang="ar-SA">
                <a:latin typeface="Arabic Typesetting" pitchFamily="0" charset="1"/>
                <a:ea typeface="Arabic Typesetting" pitchFamily="0" charset="1"/>
              </a:rPr>
              <a:t> </a:t>
            </a:r>
          </a:p>
          <a:p>
            <a:pPr algn="r" eaLnBrk="1" hangingPunct="1" lvl="0"/>
            <a:r>
              <a:rPr altLang="en-US" sz="1600" lang="en-US">
                <a:latin typeface="Arabic Typesetting" pitchFamily="0" charset="1"/>
                <a:ea typeface="Arabic Typesetting" pitchFamily="0" charset="1"/>
              </a:rPr>
              <a:t>abobakraljack10@gmail.com</a:t>
            </a:r>
          </a:p>
        </p:txBody>
      </p:sp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5" name="Rectangle 2"/>
          <p:cNvSpPr/>
          <p:nvPr>
            <p:ph type="title" sz="full" idx="0"/>
          </p:nvPr>
        </p:nvSpPr>
        <p:spPr>
          <a:xfrm rot="0">
            <a:off x="539750" y="142875"/>
            <a:ext cx="8229600" cy="1125537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</a:lstStyle>
          <a:p>
            <a:pPr lvl="0" rtl="1"/>
            <a:r>
              <a:rPr altLang="ar-EG" b="1" lang="ar-SA"/>
              <a:t>أهمية الصور</a:t>
            </a:r>
          </a:p>
        </p:txBody>
      </p:sp>
      <p:sp>
        <p:nvSpPr>
          <p:cNvPr id="1048586" name="Rectangle 3"/>
          <p:cNvSpPr/>
          <p:nvPr>
            <p:ph type="body" sz="full" idx="1"/>
          </p:nvPr>
        </p:nvSpPr>
        <p:spPr>
          <a:xfrm rot="0">
            <a:off x="457200" y="1460500"/>
            <a:ext cx="8229600" cy="496887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r" lvl="0" rtl="1"/>
            <a:r>
              <a:rPr altLang="ar-EG" lang="ar-SA"/>
              <a:t>من أهم ميزات الجيل الخامس للحواسيب التعامل مع الإنسان بالصوت و الصورة بالإضافة إلى لوحة المفاتيح. </a:t>
            </a:r>
          </a:p>
          <a:p>
            <a:pPr algn="r" lvl="0" rtl="1"/>
            <a:r>
              <a:rPr altLang="ar-EG" lang="ar-SA"/>
              <a:t>ولذلك تعتبر معالجة الصور الرقمية أحد أهم مجالات علوم الحاسوب. </a:t>
            </a:r>
          </a:p>
          <a:p>
            <a:pPr algn="just" lvl="0" rtl="1"/>
            <a:r>
              <a:rPr altLang="ar-EG" lang="ar-SA"/>
              <a:t>وقد استخدم هذا العلم في برامج الفضاء كما استخدم في معالجة وتحسين الصور التى أرسلت من القمر عام 1964 بواسطة المركبة الفضائية (رينجر7). </a:t>
            </a:r>
          </a:p>
          <a:p>
            <a:pPr algn="r" eaLnBrk="1" hangingPunct="1" lvl="0" rtl="1"/>
            <a:endParaRPr altLang="ar-EG" lang="en-US">
              <a:solidFill>
                <a:srgbClr val="1C1C1C"/>
              </a:solidFill>
            </a:endParaRPr>
          </a:p>
        </p:txBody>
      </p: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9" name="Title 1"/>
          <p:cNvSpPr/>
          <p:nvPr>
            <p:ph type="title" sz="full" idx="0"/>
          </p:nvPr>
        </p:nvSpPr>
        <p:spPr>
          <a:xfrm rot="0">
            <a:off x="457200" y="274637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</a:lstStyle>
          <a:p>
            <a:pPr lvl="0" rtl="1"/>
            <a:r>
              <a:rPr altLang="ar-EG" b="1" lang="ar-SA"/>
              <a:t>أهمية الصور</a:t>
            </a:r>
          </a:p>
        </p:txBody>
      </p:sp>
      <p:sp>
        <p:nvSpPr>
          <p:cNvPr id="1048590" name="Content Placeholder 2"/>
          <p:cNvSpPr/>
          <p:nvPr>
            <p:ph sz="full" idx="1"/>
          </p:nvPr>
        </p:nvSpPr>
        <p:spPr>
          <a:xfrm rot="0">
            <a:off x="457200" y="1600200"/>
            <a:ext cx="8229600" cy="4525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just" lvl="0" rtl="1"/>
            <a:r>
              <a:rPr altLang="ar-EG" lang="ar-SA"/>
              <a:t>وتطور هذا العلم ليشمل معالجة الصور </a:t>
            </a:r>
            <a:r>
              <a:rPr altLang="ar-EG" lang="ar-SA">
                <a:solidFill>
                  <a:srgbClr val="FF0000"/>
                </a:solidFill>
              </a:rPr>
              <a:t>الطبية</a:t>
            </a:r>
            <a:r>
              <a:rPr altLang="ar-EG" lang="ar-SA"/>
              <a:t> لمساعدة الطبيب في التشخيص وفي تمييز الأهداف في المجالات </a:t>
            </a:r>
            <a:r>
              <a:rPr altLang="ar-EG" lang="ar-SA">
                <a:solidFill>
                  <a:srgbClr val="FF0000"/>
                </a:solidFill>
              </a:rPr>
              <a:t>العسكرية</a:t>
            </a:r>
            <a:r>
              <a:rPr altLang="ar-EG" lang="ar-SA"/>
              <a:t> وتوجيه الصواريخ الحديثة كما استخدم أيضا في الكشف عن </a:t>
            </a:r>
            <a:r>
              <a:rPr altLang="ar-EG" lang="ar-SA">
                <a:solidFill>
                  <a:srgbClr val="FF0000"/>
                </a:solidFill>
              </a:rPr>
              <a:t>ثروات</a:t>
            </a:r>
            <a:r>
              <a:rPr altLang="ar-EG" lang="ar-SA"/>
              <a:t> باطن الارض</a:t>
            </a:r>
            <a:r>
              <a:rPr altLang="ar-EG" lang="en-US"/>
              <a:t>.</a:t>
            </a:r>
            <a:r>
              <a:rPr altLang="ar-EG" lang="ar-SA"/>
              <a:t> </a:t>
            </a:r>
          </a:p>
          <a:p>
            <a:pPr algn="just" lvl="0" rtl="1"/>
            <a:r>
              <a:rPr altLang="ar-EG" lang="ar-SA"/>
              <a:t>ولذا فإن تطبيقات معالجة الصور اصبحت غير محدودة وقديما قالوا (إن صورة واحدة تغنى عن أكثر من عشرة الاف كلمة).</a:t>
            </a:r>
            <a:r>
              <a:rPr altLang="ar-EG" lang="en-US"/>
              <a:t> </a:t>
            </a:r>
          </a:p>
        </p:txBody>
      </p:sp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1" name="Title 1"/>
          <p:cNvSpPr/>
          <p:nvPr>
            <p:ph type="title" sz="full" idx="0"/>
          </p:nvPr>
        </p:nvSpPr>
        <p:spPr>
          <a:xfrm rot="0">
            <a:off x="457200" y="274637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</a:lstStyle>
          <a:p>
            <a:pPr eaLnBrk="1" hangingPunct="1" lvl="0"/>
            <a:r>
              <a:rPr altLang="ar-EG" b="1" lang="ar-SA"/>
              <a:t>عناصر نظام معالجة الصورة الرقمية</a:t>
            </a:r>
          </a:p>
        </p:txBody>
      </p:sp>
      <p:pic>
        <p:nvPicPr>
          <p:cNvPr id="2097152" name="Picture 5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755650" y="1628775"/>
            <a:ext cx="7937500" cy="460851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2" name="Title 1"/>
          <p:cNvSpPr/>
          <p:nvPr>
            <p:ph type="title" sz="full" idx="0"/>
          </p:nvPr>
        </p:nvSpPr>
        <p:spPr>
          <a:xfrm rot="0">
            <a:off x="1042987" y="115887"/>
            <a:ext cx="7543800" cy="1000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</a:lstStyle>
          <a:p>
            <a:pPr eaLnBrk="1" hangingPunct="1" lvl="0" rtl="1"/>
            <a:r>
              <a:rPr altLang="ar-EG" b="1" sz="5400" lang="ar-SA"/>
              <a:t>تمثيل الصورة الرقمية</a:t>
            </a:r>
          </a:p>
        </p:txBody>
      </p:sp>
      <p:sp>
        <p:nvSpPr>
          <p:cNvPr id="1048593" name="Content Placeholder 2"/>
          <p:cNvSpPr/>
          <p:nvPr>
            <p:ph sz="full" idx="1"/>
          </p:nvPr>
        </p:nvSpPr>
        <p:spPr>
          <a:xfrm rot="0">
            <a:off x="107950" y="1268412"/>
            <a:ext cx="8928100" cy="53292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just" eaLnBrk="1" hangingPunct="1" lvl="0" rtl="1"/>
            <a:r>
              <a:rPr altLang="ar-EG" lang="ar-SA"/>
              <a:t> يمكننا أن نرمــز للصورة آحــادية اللــون </a:t>
            </a:r>
            <a:r>
              <a:rPr altLang="ar-EG" b="1" sz="2400" lang="en-US"/>
              <a:t>(</a:t>
            </a:r>
            <a:r>
              <a:rPr altLang="ar-EG" b="1" sz="2000" lang="en-US"/>
              <a:t>Monochrome image) </a:t>
            </a:r>
          </a:p>
          <a:p>
            <a:pPr algn="just" eaLnBrk="1" hangingPunct="1" lvl="0" rtl="1">
              <a:buFontTx/>
              <a:buNone/>
            </a:pPr>
            <a:r>
              <a:rPr altLang="ar-EG" lang="ar-SA"/>
              <a:t>   بدالة تعبر عن شدة إضاءة ثنائية الأبعاد (1</a:t>
            </a:r>
            <a:r>
              <a:rPr altLang="ar-EG" lang="en-US"/>
              <a:t>,</a:t>
            </a:r>
            <a:r>
              <a:rPr altLang="ar-EG" lang="ar-SA"/>
              <a:t>1)……(</a:t>
            </a:r>
            <a:r>
              <a:rPr altLang="ar-EG" lang="en-US"/>
              <a:t>x,y</a:t>
            </a:r>
            <a:r>
              <a:rPr altLang="ar-EG" lang="ar-SA"/>
              <a:t>)</a:t>
            </a:r>
            <a:r>
              <a:rPr altLang="ar-EG" lang="en-US"/>
              <a:t>f</a:t>
            </a:r>
          </a:p>
          <a:p>
            <a:pPr algn="just" eaLnBrk="1" hangingPunct="1" lvl="0" rtl="1">
              <a:buFontTx/>
              <a:buNone/>
            </a:pPr>
            <a:r>
              <a:rPr altLang="ar-EG" lang="ar-SA"/>
              <a:t>   حيث إن (</a:t>
            </a:r>
            <a:r>
              <a:rPr altLang="ar-EG" lang="en-US"/>
              <a:t>x,y</a:t>
            </a:r>
            <a:r>
              <a:rPr altLang="ar-EG" lang="ar-SA"/>
              <a:t>) ترمز إلى </a:t>
            </a:r>
            <a:r>
              <a:rPr altLang="ar-EG" lang="ar-SA">
                <a:solidFill>
                  <a:srgbClr val="FF0000"/>
                </a:solidFill>
              </a:rPr>
              <a:t>الاحداثيات الحيزية </a:t>
            </a:r>
            <a:r>
              <a:rPr altLang="ar-EG" b="1" sz="2000" lang="en-US"/>
              <a:t>(Spatial Coordinate)</a:t>
            </a:r>
            <a:r>
              <a:rPr altLang="ar-EG" b="1" sz="2000" lang="ar-SA"/>
              <a:t>    </a:t>
            </a:r>
            <a:r>
              <a:rPr altLang="ar-EG" lang="ar-SA"/>
              <a:t>وقيمة </a:t>
            </a:r>
            <a:r>
              <a:rPr altLang="ar-EG" lang="en-US"/>
              <a:t>f</a:t>
            </a:r>
            <a:r>
              <a:rPr altLang="ar-EG" lang="ar-SA"/>
              <a:t>عن أى نقطـــة (</a:t>
            </a:r>
            <a:r>
              <a:rPr altLang="ar-EG" lang="en-US"/>
              <a:t>x,y</a:t>
            </a:r>
            <a:r>
              <a:rPr altLang="ar-EG" lang="ar-SA"/>
              <a:t>) تتناسب مع اللمعان (أو الدرجه  الرمادية) للصورة عند تلك النقطة</a:t>
            </a:r>
          </a:p>
          <a:p>
            <a:pPr algn="just" eaLnBrk="1" hangingPunct="1" lvl="0" rtl="1"/>
            <a:r>
              <a:rPr altLang="ar-EG" lang="ar-SA"/>
              <a:t> وتعد الصورة الرقمية مصفوفة يحدد دليلاً صفها وعمودها مكان النقطة في الصورة، وقيمة عنصر المصفوفة الموافق يحدد قيمة السوية الرمادية عند تلك النقطة. </a:t>
            </a:r>
          </a:p>
          <a:p>
            <a:pPr algn="r" eaLnBrk="1" hangingPunct="1" lvl="0" rtl="1"/>
            <a:endParaRPr altLang="ar-EG" lang="en-US"/>
          </a:p>
        </p:txBody>
      </p:sp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4" name="Title 1"/>
          <p:cNvSpPr/>
          <p:nvPr>
            <p:ph type="title" sz="full" idx="0"/>
          </p:nvPr>
        </p:nvSpPr>
        <p:spPr>
          <a:xfrm rot="0">
            <a:off x="428625" y="0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</a:lstStyle>
          <a:p>
            <a:pPr eaLnBrk="1" hangingPunct="1" lvl="0" rtl="1"/>
            <a:r>
              <a:rPr altLang="ar-EG" b="1" lang="ar-SA"/>
              <a:t>تمثيل الصورة الرقمية</a:t>
            </a:r>
          </a:p>
        </p:txBody>
      </p:sp>
      <p:sp>
        <p:nvSpPr>
          <p:cNvPr id="1048595" name="Content Placeholder 2"/>
          <p:cNvSpPr/>
          <p:nvPr>
            <p:ph sz="full" idx="1"/>
          </p:nvPr>
        </p:nvSpPr>
        <p:spPr>
          <a:xfrm rot="0">
            <a:off x="214312" y="1000125"/>
            <a:ext cx="8472488" cy="57150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just" eaLnBrk="1" hangingPunct="1" lvl="0" rtl="1"/>
            <a:r>
              <a:rPr altLang="en-US" lang="ar-SA"/>
              <a:t>إن عناصر المصفوفة الرقمية تسمى عناصر الصورة </a:t>
            </a:r>
            <a:r>
              <a:rPr altLang="en-US" lang="en-US"/>
              <a:t>Picture element image </a:t>
            </a:r>
            <a:r>
              <a:rPr altLang="en-US" lang="ar-SA"/>
              <a:t>،</a:t>
            </a:r>
            <a:r>
              <a:rPr altLang="en-US" lang="en-US"/>
              <a:t> Pixels </a:t>
            </a:r>
            <a:r>
              <a:rPr altLang="en-US" lang="ar-SA"/>
              <a:t>أو </a:t>
            </a:r>
            <a:r>
              <a:rPr altLang="en-US" lang="en-US"/>
              <a:t>Pels </a:t>
            </a:r>
            <a:r>
              <a:rPr altLang="en-US" lang="ar-SA"/>
              <a:t>و الاسمان الأخيران هما اختصاران يستعملان بشكل شائع للمصطلح الـ</a:t>
            </a:r>
            <a:r>
              <a:rPr altLang="en-US" lang="en-US"/>
              <a:t>Picture elements</a:t>
            </a:r>
            <a:r>
              <a:rPr altLang="en-US" lang="ar-SA"/>
              <a:t>  ويمكن أعتبار التلفزيون الأبيض و الأسود مصفوفة أبعادها 512</a:t>
            </a:r>
            <a:r>
              <a:rPr altLang="en-US" lang="ar-SA"/>
              <a:t>*512 وفيها 128 سوية رمادية.  </a:t>
            </a:r>
          </a:p>
          <a:p>
            <a:pPr algn="r" eaLnBrk="1" hangingPunct="1" lvl="0" rtl="1">
              <a:buFontTx/>
              <a:buNone/>
            </a:pPr>
            <a:endParaRPr altLang="ar-EG" b="1" lang="ar-SA"/>
          </a:p>
        </p:txBody>
      </p:sp>
      <p:sp>
        <p:nvSpPr>
          <p:cNvPr id="1048596" name="Rectangle 3"/>
          <p:cNvSpPr/>
          <p:nvPr/>
        </p:nvSpPr>
        <p:spPr>
          <a:xfrm rot="0">
            <a:off x="1403350" y="4292600"/>
            <a:ext cx="2952750" cy="1800225"/>
          </a:xfrm>
          <a:prstGeom prst="rect"/>
          <a:solidFill>
            <a:schemeClr val="accent1"/>
          </a:solidFill>
          <a:ln w="25400" cap="flat" cmpd="sng">
            <a:solidFill>
              <a:srgbClr val="89A4A7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ctr" eaLnBrk="1" hangingPunct="1" lvl="0"/>
            <a:r>
              <a:rPr altLang="en-US" sz="4800" lang="en-US"/>
              <a:t>.</a:t>
            </a:r>
            <a:r>
              <a:rPr altLang="en-US" sz="3200" lang="en-US">
                <a:solidFill>
                  <a:srgbClr val="FF0000"/>
                </a:solidFill>
              </a:rPr>
              <a:t> </a:t>
            </a:r>
            <a:r>
              <a:rPr altLang="en-US" lang="en-US">
                <a:solidFill>
                  <a:srgbClr val="FF0000"/>
                </a:solidFill>
              </a:rPr>
              <a:t>F(x,y)=</a:t>
            </a:r>
            <a:r>
              <a:rPr altLang="en-US" b="1" sz="1200" lang="ar-SA">
                <a:solidFill>
                  <a:srgbClr val="FF0000"/>
                </a:solidFill>
              </a:rPr>
              <a:t>قيمة السوية الرمادية </a:t>
            </a:r>
          </a:p>
        </p:txBody>
      </p:sp>
      <p:cxnSp>
        <p:nvCxnSpPr>
          <p:cNvPr id="3145728" name="Straight Connector 5"/>
          <p:cNvCxnSpPr>
            <a:cxnSpLocks/>
          </p:cNvCxnSpPr>
          <p:nvPr/>
        </p:nvCxnSpPr>
        <p:spPr>
          <a:xfrm rot="0" flipH="1">
            <a:off x="1476375" y="4437062"/>
            <a:ext cx="71437" cy="287337"/>
          </a:xfrm>
          <a:prstGeom prst="line"/>
          <a:noFill/>
          <a:ln w="9525" cap="flat" cmpd="sng">
            <a:solidFill>
              <a:srgbClr val="B6DCDF">
                <a:alpha val="100000"/>
              </a:srgbClr>
            </a:solidFill>
            <a:prstDash val="solid"/>
            <a:round/>
          </a:ln>
        </p:spPr>
      </p:cxnSp>
      <p:sp>
        <p:nvSpPr>
          <p:cNvPr id="1048597" name="Right Arrow 6"/>
          <p:cNvSpPr/>
          <p:nvPr/>
        </p:nvSpPr>
        <p:spPr>
          <a:xfrm rot="202531" flipV="1">
            <a:off x="4583112" y="5818187"/>
            <a:ext cx="704850" cy="357187"/>
          </a:xfrm>
          <a:prstGeom prst="rightArrow">
            <a:avLst>
              <a:gd name="adj1" fmla="val 50000"/>
              <a:gd name="adj2" fmla="val 49991"/>
            </a:avLst>
          </a:prstGeom>
          <a:solidFill>
            <a:schemeClr val="accent1"/>
          </a:solidFill>
          <a:ln w="25400" cap="flat" cmpd="sng">
            <a:solidFill>
              <a:srgbClr val="89A4A7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ctr" eaLnBrk="1" hangingPunct="1" lvl="0"/>
            <a:r>
              <a:rPr altLang="en-US" lang="en-US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048598" name="Up Arrow 8"/>
          <p:cNvSpPr/>
          <p:nvPr/>
        </p:nvSpPr>
        <p:spPr>
          <a:xfrm rot="0">
            <a:off x="1331912" y="3716337"/>
            <a:ext cx="287337" cy="433387"/>
          </a:xfrm>
          <a:prstGeom prst="upArrow">
            <a:avLst>
              <a:gd name="adj1" fmla="val 50000"/>
              <a:gd name="adj2" fmla="val 50276"/>
            </a:avLst>
          </a:prstGeom>
          <a:solidFill>
            <a:schemeClr val="accent1"/>
          </a:solidFill>
          <a:ln w="25400" cap="flat" cmpd="sng">
            <a:solidFill>
              <a:srgbClr val="89A4A7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ctr" eaLnBrk="1" hangingPunct="1" lvl="0"/>
            <a:r>
              <a:rPr altLang="en-US" lang="en-US">
                <a:solidFill>
                  <a:srgbClr val="FF0000"/>
                </a:solidFill>
              </a:rPr>
              <a:t>Y</a:t>
            </a:r>
          </a:p>
        </p:txBody>
      </p:sp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9" name="Title 1"/>
          <p:cNvSpPr/>
          <p:nvPr>
            <p:ph type="title" sz="full" idx="0"/>
          </p:nvPr>
        </p:nvSpPr>
        <p:spPr>
          <a:xfrm rot="0">
            <a:off x="590550" y="125412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</a:lstStyle>
          <a:p>
            <a:pPr eaLnBrk="1" hangingPunct="1" lvl="0" rtl="1"/>
            <a:r>
              <a:rPr altLang="ar-EG" b="1" sz="4000" lang="ar-SA"/>
              <a:t>إصطلاح استخدام المحور لتمثيل الصورة الرقمية</a:t>
            </a:r>
          </a:p>
        </p:txBody>
      </p:sp>
      <p:pic>
        <p:nvPicPr>
          <p:cNvPr id="2097153" name="Picture 4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116012" y="1322387"/>
            <a:ext cx="7056437" cy="3906837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0" name="Title 1"/>
          <p:cNvSpPr/>
          <p:nvPr>
            <p:ph type="title" sz="full" idx="0"/>
          </p:nvPr>
        </p:nvSpPr>
        <p:spPr>
          <a:xfrm rot="0">
            <a:off x="428625" y="-214312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</a:lstStyle>
          <a:p>
            <a:pPr eaLnBrk="1" hangingPunct="1" lvl="0" rtl="1"/>
            <a:r>
              <a:rPr altLang="ar-EG" b="1" lang="ar-SA"/>
              <a:t>تمثيل الصورة الرقمية</a:t>
            </a:r>
          </a:p>
        </p:txBody>
      </p:sp>
      <p:sp>
        <p:nvSpPr>
          <p:cNvPr id="1048601" name="Content Placeholder 2"/>
          <p:cNvSpPr/>
          <p:nvPr>
            <p:ph sz="full" idx="1"/>
          </p:nvPr>
        </p:nvSpPr>
        <p:spPr>
          <a:xfrm rot="0">
            <a:off x="142875" y="714375"/>
            <a:ext cx="8786812" cy="53070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r" eaLnBrk="1" hangingPunct="1" lvl="0" rtl="1"/>
            <a:r>
              <a:rPr altLang="en-US" sz="2800" lang="ar-SA"/>
              <a:t>بما أن (</a:t>
            </a:r>
            <a:r>
              <a:rPr altLang="en-US" sz="2800" lang="en-US"/>
              <a:t>x,y</a:t>
            </a:r>
            <a:r>
              <a:rPr altLang="en-US" sz="2800" lang="ar-SA"/>
              <a:t>)</a:t>
            </a:r>
            <a:r>
              <a:rPr altLang="en-US" sz="2800" lang="en-US"/>
              <a:t>f</a:t>
            </a:r>
            <a:r>
              <a:rPr altLang="en-US" sz="2800" lang="ar-SA"/>
              <a:t> تعطي كثافة (لمعان) الصورة عن احداثيين حيزين (</a:t>
            </a:r>
            <a:r>
              <a:rPr altLang="en-US" sz="2800" lang="en-US"/>
              <a:t>x,y</a:t>
            </a:r>
            <a:r>
              <a:rPr altLang="en-US" sz="2800" lang="ar-SA"/>
              <a:t>) فإن (</a:t>
            </a:r>
            <a:r>
              <a:rPr altLang="en-US" sz="2800" lang="en-US"/>
              <a:t>x,y</a:t>
            </a:r>
            <a:r>
              <a:rPr altLang="en-US" sz="2800" lang="ar-SA"/>
              <a:t>)</a:t>
            </a:r>
            <a:r>
              <a:rPr altLang="en-US" sz="2800" lang="en-US"/>
              <a:t>f</a:t>
            </a:r>
            <a:r>
              <a:rPr altLang="en-US" sz="2800" lang="ar-SA"/>
              <a:t> بحيث </a:t>
            </a:r>
            <a:r>
              <a:rPr altLang="en-US" sz="2800" lang="ar-SA">
                <a:solidFill>
                  <a:srgbClr val="FF0000"/>
                </a:solidFill>
              </a:rPr>
              <a:t>أن </a:t>
            </a:r>
            <a:r>
              <a:rPr altLang="en-US" sz="2800" lang="ar-SA">
                <a:solidFill>
                  <a:srgbClr val="FF0000"/>
                </a:solidFill>
              </a:rPr>
              <a:t>لا تكون </a:t>
            </a:r>
            <a:r>
              <a:rPr altLang="en-US" sz="2800" lang="ar-SA">
                <a:solidFill>
                  <a:srgbClr val="FF0000"/>
                </a:solidFill>
              </a:rPr>
              <a:t>صفرا وأن تكون محدودة</a:t>
            </a:r>
            <a:r>
              <a:rPr altLang="en-US" sz="2800" lang="en-US">
                <a:solidFill>
                  <a:srgbClr val="FF0000"/>
                </a:solidFill>
              </a:rPr>
              <a:t>. </a:t>
            </a:r>
          </a:p>
          <a:p>
            <a:pPr algn="ctr" eaLnBrk="1" hangingPunct="1" lvl="0" rtl="1">
              <a:buFontTx/>
              <a:buNone/>
            </a:pPr>
            <a:r>
              <a:rPr altLang="en-US" sz="2800" lang="en-US"/>
              <a:t> </a:t>
            </a:r>
            <a:r>
              <a:rPr altLang="en-US" sz="2800" lang="ar-SA"/>
              <a:t>(1.2).........</a:t>
            </a:r>
            <a:r>
              <a:rPr altLang="en-US" sz="2800" lang="en-US"/>
              <a:t>&lt; f(x,y) &lt;</a:t>
            </a:r>
            <a:r>
              <a:rPr altLang="en-US" sz="2800" lang="en-US">
                <a:sym typeface="Symbol" pitchFamily="18" charset="2"/>
              </a:rPr>
              <a:t></a:t>
            </a:r>
            <a:r>
              <a:rPr altLang="en-US" sz="2800" lang="en-US"/>
              <a:t> </a:t>
            </a:r>
            <a:r>
              <a:rPr altLang="en-US" sz="2800" lang="ar-SA"/>
              <a:t>0</a:t>
            </a:r>
          </a:p>
          <a:p>
            <a:pPr algn="ctr" lvl="0" rtl="1"/>
            <a:r>
              <a:rPr altLang="en-US" sz="2800" lang="ar-SA"/>
              <a:t>وفي الحقيقة إن الصورة التى نراها في حياتنا اليومية تتألف من </a:t>
            </a:r>
            <a:r>
              <a:rPr altLang="en-US" sz="2800" lang="ar-SA">
                <a:solidFill>
                  <a:srgbClr val="FF0000"/>
                </a:solidFill>
              </a:rPr>
              <a:t>ضوء منعكس </a:t>
            </a:r>
            <a:r>
              <a:rPr altLang="en-US" sz="2800" lang="ar-SA"/>
              <a:t>عن الأجسام </a:t>
            </a:r>
            <a:r>
              <a:rPr altLang="en-US" sz="2800" lang="ar-SA">
                <a:solidFill>
                  <a:srgbClr val="FF0000"/>
                </a:solidFill>
              </a:rPr>
              <a:t>وضوء ساقط </a:t>
            </a:r>
            <a:r>
              <a:rPr altLang="en-US" sz="2800" lang="ar-SA"/>
              <a:t>على الاجسام لذا </a:t>
            </a:r>
            <a:r>
              <a:rPr altLang="en-US" sz="2800" lang="ar-SA"/>
              <a:t>فإن</a:t>
            </a:r>
            <a:r>
              <a:rPr altLang="en-US" sz="2800" lang="en-US"/>
              <a:t>    </a:t>
            </a:r>
            <a:r>
              <a:rPr altLang="en-US" sz="2800" lang="ar-SA"/>
              <a:t> (1.3).........(</a:t>
            </a:r>
            <a:r>
              <a:rPr altLang="en-US" sz="2800" lang="en-US"/>
              <a:t>x,y</a:t>
            </a:r>
            <a:r>
              <a:rPr altLang="en-US" sz="2800" lang="ar-SA"/>
              <a:t>)</a:t>
            </a:r>
            <a:r>
              <a:rPr altLang="en-US" sz="2800" lang="en-US"/>
              <a:t> r</a:t>
            </a:r>
            <a:r>
              <a:rPr altLang="en-US" sz="2800" lang="ar-SA"/>
              <a:t>(</a:t>
            </a:r>
            <a:r>
              <a:rPr altLang="en-US" sz="2800" lang="en-US"/>
              <a:t>x,y</a:t>
            </a:r>
            <a:r>
              <a:rPr altLang="en-US" sz="2800" lang="ar-SA"/>
              <a:t>)</a:t>
            </a:r>
            <a:r>
              <a:rPr altLang="en-US" sz="2800" lang="en-US"/>
              <a:t>j</a:t>
            </a:r>
            <a:r>
              <a:rPr altLang="en-US" sz="2800" lang="ar-SA"/>
              <a:t> = (</a:t>
            </a:r>
            <a:r>
              <a:rPr altLang="en-US" sz="2800" lang="en-US"/>
              <a:t>x,y</a:t>
            </a:r>
            <a:r>
              <a:rPr altLang="en-US" sz="2800" lang="ar-SA"/>
              <a:t>)</a:t>
            </a:r>
            <a:r>
              <a:rPr altLang="en-US" sz="2800" lang="en-US"/>
              <a:t>f</a:t>
            </a:r>
            <a:r>
              <a:rPr altLang="en-US" sz="2800" lang="ar-EG"/>
              <a:t>  </a:t>
            </a:r>
          </a:p>
          <a:p>
            <a:pPr algn="ctr" lvl="0" rtl="1">
              <a:buFontTx/>
              <a:buNone/>
            </a:pPr>
            <a:r>
              <a:rPr altLang="en-US" sz="2800" lang="ar-SA"/>
              <a:t>حيث </a:t>
            </a:r>
            <a:r>
              <a:rPr altLang="en-US" sz="2800" lang="ar-SA"/>
              <a:t>(1.4) </a:t>
            </a:r>
            <a:r>
              <a:rPr altLang="en-US" sz="2800" lang="en-US"/>
              <a:t>&lt; j(x,y) &lt;</a:t>
            </a:r>
            <a:r>
              <a:rPr altLang="en-US" sz="2800" lang="en-US">
                <a:sym typeface="Symbol" pitchFamily="18" charset="2"/>
              </a:rPr>
              <a:t></a:t>
            </a:r>
            <a:r>
              <a:rPr altLang="en-US" sz="2800" lang="en-US"/>
              <a:t>... </a:t>
            </a:r>
            <a:r>
              <a:rPr altLang="en-US" sz="2800" lang="ar-SA"/>
              <a:t>0      (</a:t>
            </a:r>
            <a:r>
              <a:rPr altLang="en-US" sz="2800" lang="ar-SA">
                <a:solidFill>
                  <a:srgbClr val="FF0000"/>
                </a:solidFill>
              </a:rPr>
              <a:t>الساقط</a:t>
            </a:r>
            <a:r>
              <a:rPr altLang="en-US" sz="2800" lang="ar-SA"/>
              <a:t>)</a:t>
            </a:r>
          </a:p>
          <a:p>
            <a:pPr algn="ctr" lvl="0" rtl="1">
              <a:buFontTx/>
              <a:buNone/>
            </a:pPr>
            <a:r>
              <a:rPr altLang="en-US" sz="2800" lang="ar-SA"/>
              <a:t>حيث (1.5) </a:t>
            </a:r>
            <a:r>
              <a:rPr altLang="en-US" sz="2800" lang="en-US"/>
              <a:t>&lt; r(x,y) &lt;</a:t>
            </a:r>
            <a:r>
              <a:rPr altLang="en-US" sz="2800" lang="en-US">
                <a:sym typeface="Symbol" pitchFamily="18" charset="2"/>
              </a:rPr>
              <a:t></a:t>
            </a:r>
            <a:r>
              <a:rPr altLang="en-US" sz="2800" lang="en-US"/>
              <a:t>... </a:t>
            </a:r>
            <a:r>
              <a:rPr altLang="en-US" sz="2800" lang="ar-SA"/>
              <a:t>0     (</a:t>
            </a:r>
            <a:r>
              <a:rPr altLang="en-US" sz="2800" lang="ar-SA">
                <a:solidFill>
                  <a:srgbClr val="FF0000"/>
                </a:solidFill>
              </a:rPr>
              <a:t>المنعكس</a:t>
            </a:r>
            <a:r>
              <a:rPr altLang="en-US" sz="2800" lang="ar-SA"/>
              <a:t>)</a:t>
            </a:r>
          </a:p>
          <a:p>
            <a:pPr algn="r" lvl="0" rtl="1"/>
            <a:r>
              <a:rPr altLang="en-US" sz="2800" lang="ar-SA"/>
              <a:t>نلاحظ حقيقة أن الانعكاسية </a:t>
            </a:r>
            <a:r>
              <a:rPr altLang="en-US" sz="2800" lang="ar-SA"/>
              <a:t>مقيدة </a:t>
            </a:r>
            <a:r>
              <a:rPr altLang="en-US" sz="2800" lang="ar-SA">
                <a:solidFill>
                  <a:srgbClr val="FF0000"/>
                </a:solidFill>
              </a:rPr>
              <a:t>بالصفر </a:t>
            </a:r>
            <a:r>
              <a:rPr altLang="en-US" sz="2800" lang="ar-SA"/>
              <a:t>(الامتصاص الكامل) و </a:t>
            </a:r>
            <a:r>
              <a:rPr altLang="en-US" sz="2800" lang="ar-SA">
                <a:solidFill>
                  <a:srgbClr val="FF0000"/>
                </a:solidFill>
              </a:rPr>
              <a:t>الواحد</a:t>
            </a:r>
            <a:r>
              <a:rPr altLang="en-US" sz="2800" lang="ar-SA"/>
              <a:t> (الانعكاس الكامل).</a:t>
            </a:r>
          </a:p>
          <a:p>
            <a:pPr algn="r" lvl="0" rtl="1"/>
            <a:r>
              <a:rPr altLang="en-US" sz="2800" lang="ar-SA"/>
              <a:t>وتتحدد طبيعة المركبة </a:t>
            </a:r>
            <a:r>
              <a:rPr altLang="en-US" sz="2800" lang="en-US"/>
              <a:t>  j(x.y)</a:t>
            </a:r>
            <a:r>
              <a:rPr altLang="en-US" sz="2800" lang="ar-SA"/>
              <a:t> </a:t>
            </a:r>
            <a:r>
              <a:rPr altLang="en-US" sz="2800" lang="ar-SA">
                <a:solidFill>
                  <a:srgbClr val="FF0000"/>
                </a:solidFill>
              </a:rPr>
              <a:t>بمصدر الضوء </a:t>
            </a:r>
            <a:r>
              <a:rPr altLang="en-US" sz="2800" lang="ar-SA"/>
              <a:t>حيث إن المركبة (</a:t>
            </a:r>
            <a:r>
              <a:rPr altLang="en-US" sz="2800" lang="en-US"/>
              <a:t>x,y</a:t>
            </a:r>
            <a:r>
              <a:rPr altLang="en-US" sz="2800" lang="ar-SA"/>
              <a:t>)</a:t>
            </a:r>
            <a:r>
              <a:rPr altLang="en-US" sz="2800" lang="en-US"/>
              <a:t>r</a:t>
            </a:r>
            <a:r>
              <a:rPr altLang="en-US" sz="2800" lang="ar-SA"/>
              <a:t> تتحددد </a:t>
            </a:r>
            <a:r>
              <a:rPr altLang="en-US" sz="2800" lang="ar-SA">
                <a:solidFill>
                  <a:srgbClr val="FF0000"/>
                </a:solidFill>
              </a:rPr>
              <a:t>بخصائص </a:t>
            </a:r>
            <a:r>
              <a:rPr altLang="en-US" sz="2800" lang="ar-SA"/>
              <a:t>الأجسام الموجودة في المشهد.</a:t>
            </a:r>
          </a:p>
          <a:p>
            <a:pPr algn="r" eaLnBrk="1" hangingPunct="1" lvl="0" rtl="1">
              <a:buFontTx/>
              <a:buNone/>
            </a:pPr>
            <a:endParaRPr altLang="en-US" sz="2800" lang="en-US"/>
          </a:p>
        </p:txBody>
      </p:sp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2" name="Title 1"/>
          <p:cNvSpPr/>
          <p:nvPr>
            <p:ph type="title" sz="full" idx="0"/>
          </p:nvPr>
        </p:nvSpPr>
        <p:spPr>
          <a:xfrm rot="0">
            <a:off x="457200" y="274637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</a:lstStyle>
          <a:p>
            <a:pPr eaLnBrk="1" hangingPunct="1" lvl="0" rtl="1"/>
            <a:r>
              <a:rPr altLang="ar-EG" b="1" lang="ar-SA"/>
              <a:t>معالجة الصور</a:t>
            </a:r>
          </a:p>
        </p:txBody>
      </p:sp>
      <p:sp>
        <p:nvSpPr>
          <p:cNvPr id="1048603" name="Content Placeholder 2"/>
          <p:cNvSpPr/>
          <p:nvPr>
            <p:ph sz="full" idx="1"/>
          </p:nvPr>
        </p:nvSpPr>
        <p:spPr>
          <a:xfrm rot="0">
            <a:off x="242887" y="1600200"/>
            <a:ext cx="8686800" cy="4525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r" lvl="0" rtl="1"/>
            <a:r>
              <a:rPr altLang="ar-EG" sz="2400" lang="ar-SA"/>
              <a:t>عندما تكون الصورة متباعدة بانتظام بشكل مصفوفة مربعة </a:t>
            </a:r>
            <a:r>
              <a:rPr altLang="ar-EG" sz="2400" lang="en-US"/>
              <a:t>N</a:t>
            </a:r>
            <a:r>
              <a:rPr altLang="ar-EG" sz="2400" lang="en-US"/>
              <a:t>*N</a:t>
            </a:r>
            <a:r>
              <a:rPr altLang="ar-EG" sz="2400" lang="ar-SA"/>
              <a:t> حيث إن كل عنصر من المصفوفة هو كمية منفصلة.</a:t>
            </a:r>
          </a:p>
          <a:p>
            <a:pPr algn="r" lvl="0" rtl="1"/>
            <a:endParaRPr altLang="ar-EG" sz="2400" lang="ar-EG"/>
          </a:p>
          <a:p>
            <a:pPr algn="r" lvl="0" rtl="1"/>
            <a:endParaRPr altLang="ar-EG" sz="2400" lang="ar-EG"/>
          </a:p>
          <a:p>
            <a:pPr algn="r" lvl="0" rtl="1"/>
            <a:endParaRPr altLang="ar-EG" sz="2400" lang="ar-EG"/>
          </a:p>
          <a:p>
            <a:pPr algn="r" lvl="0" rtl="1"/>
            <a:endParaRPr altLang="ar-EG" sz="2400" lang="en-US"/>
          </a:p>
          <a:p>
            <a:pPr algn="r" lvl="0" rtl="1"/>
            <a:r>
              <a:rPr altLang="ar-EG" sz="2400" lang="ar-SA"/>
              <a:t>و الجانب الأيمن من المعادلة هو عبارة عن الصورة الرقمية. </a:t>
            </a:r>
            <a:r>
              <a:rPr altLang="ar-EG" sz="2400" lang="en-US"/>
              <a:t>Digital Image</a:t>
            </a:r>
            <a:r>
              <a:rPr altLang="ar-EG" sz="2400" lang="ar-SA"/>
              <a:t> حيث إن كل عنصر من المصفوفة يرمز اليه عنصر الصورة  </a:t>
            </a:r>
            <a:r>
              <a:rPr altLang="ar-EG" sz="2400" lang="en-US"/>
              <a:t>image element, Picture element, pixel  </a:t>
            </a:r>
            <a:r>
              <a:rPr altLang="ar-EG" lang="ar-SA"/>
              <a:t>. </a:t>
            </a:r>
          </a:p>
          <a:p>
            <a:pPr algn="r" eaLnBrk="1" hangingPunct="1" lvl="0" rtl="1"/>
            <a:endParaRPr altLang="ar-EG" lang="en-US"/>
          </a:p>
        </p:txBody>
      </p:sp>
      <p:pic>
        <p:nvPicPr>
          <p:cNvPr id="2097154" name="Picture 4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3424237" y="2492375"/>
            <a:ext cx="2295525" cy="156051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4" name="Title 1"/>
          <p:cNvSpPr/>
          <p:nvPr>
            <p:ph type="title" sz="full" idx="0"/>
          </p:nvPr>
        </p:nvSpPr>
        <p:spPr>
          <a:xfrm rot="0">
            <a:off x="457200" y="274637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</a:lstStyle>
          <a:p>
            <a:pPr eaLnBrk="1" hangingPunct="1" lvl="0" rtl="1"/>
            <a:r>
              <a:rPr altLang="ar-EG" b="1" sz="4000" lang="ar-SA"/>
              <a:t>العلاقات الاساسية بين عناصر الصورة </a:t>
            </a:r>
          </a:p>
        </p:txBody>
      </p:sp>
      <p:sp>
        <p:nvSpPr>
          <p:cNvPr id="1048605" name="Content Placeholder 2"/>
          <p:cNvSpPr/>
          <p:nvPr>
            <p:ph sz="full" idx="1"/>
          </p:nvPr>
        </p:nvSpPr>
        <p:spPr>
          <a:xfrm rot="0">
            <a:off x="457200" y="1600200"/>
            <a:ext cx="8218487" cy="485298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just" eaLnBrk="1" hangingPunct="1" indent="0" lvl="0" marL="0" rtl="1">
              <a:buFontTx/>
              <a:buNone/>
            </a:pPr>
            <a:r>
              <a:rPr altLang="en-US" sz="2800" lang="ar-SA"/>
              <a:t>يرمز للصورة بـ (</a:t>
            </a:r>
            <a:r>
              <a:rPr altLang="en-US" sz="2800" lang="en-US"/>
              <a:t>x,y</a:t>
            </a:r>
            <a:r>
              <a:rPr altLang="en-US" sz="2800" lang="ar-SA"/>
              <a:t>)</a:t>
            </a:r>
            <a:r>
              <a:rPr altLang="en-US" sz="2800" lang="en-US"/>
              <a:t>f</a:t>
            </a:r>
            <a:r>
              <a:rPr altLang="en-US" sz="2800" lang="ar-SA"/>
              <a:t> عند الرجوع الى </a:t>
            </a:r>
            <a:r>
              <a:rPr altLang="en-US" sz="2800" lang="ar-SA">
                <a:solidFill>
                  <a:schemeClr val="accent2"/>
                </a:solidFill>
              </a:rPr>
              <a:t>عنصر صورة محدد </a:t>
            </a:r>
            <a:r>
              <a:rPr altLang="en-US" sz="2800" lang="ar-SA"/>
              <a:t>وتستخدم الأحرف الطباعية الصغيرة مثل </a:t>
            </a:r>
            <a:r>
              <a:rPr altLang="en-US" sz="2800" lang="en-US">
                <a:solidFill>
                  <a:schemeClr val="accent2"/>
                </a:solidFill>
              </a:rPr>
              <a:t>p</a:t>
            </a:r>
            <a:r>
              <a:rPr altLang="en-US" sz="2800" lang="ar-SA"/>
              <a:t> و </a:t>
            </a:r>
            <a:r>
              <a:rPr altLang="en-US" sz="2800" lang="en-US">
                <a:solidFill>
                  <a:schemeClr val="accent2"/>
                </a:solidFill>
              </a:rPr>
              <a:t>q</a:t>
            </a:r>
            <a:r>
              <a:rPr altLang="en-US" sz="2800" lang="ar-SA"/>
              <a:t> للرمز للعنصر أما بالنسبة </a:t>
            </a:r>
            <a:r>
              <a:rPr altLang="en-US" sz="2800" lang="ar-SA">
                <a:solidFill>
                  <a:srgbClr val="FF0000"/>
                </a:solidFill>
              </a:rPr>
              <a:t>للمجموعة الجزئية </a:t>
            </a:r>
            <a:r>
              <a:rPr altLang="en-US" sz="2800" lang="ar-SA"/>
              <a:t>من عناصر الصورة (</a:t>
            </a:r>
            <a:r>
              <a:rPr altLang="en-US" sz="2800" lang="en-US"/>
              <a:t>x,y</a:t>
            </a:r>
            <a:r>
              <a:rPr altLang="en-US" sz="2800" lang="ar-SA"/>
              <a:t>)</a:t>
            </a:r>
            <a:r>
              <a:rPr altLang="en-US" sz="2800" lang="en-US"/>
              <a:t>f</a:t>
            </a:r>
            <a:r>
              <a:rPr altLang="en-US" sz="2800" lang="ar-SA"/>
              <a:t> فيرمز لها </a:t>
            </a:r>
            <a:r>
              <a:rPr altLang="en-US" sz="2800" lang="ar-SA"/>
              <a:t>بـ </a:t>
            </a:r>
            <a:r>
              <a:rPr altLang="en-US" sz="2800" lang="en-US">
                <a:solidFill>
                  <a:srgbClr val="FF0000"/>
                </a:solidFill>
              </a:rPr>
              <a:t>S</a:t>
            </a:r>
            <a:r>
              <a:rPr altLang="en-US" sz="2800" lang="ar-SA"/>
              <a:t>. </a:t>
            </a:r>
          </a:p>
          <a:p>
            <a:pPr algn="r" indent="0" lvl="0" marL="0" rtl="1">
              <a:buFont typeface="Wingdings" pitchFamily="2" charset="2"/>
              <a:buChar char="ü"/>
            </a:pPr>
            <a:r>
              <a:rPr altLang="en-US" b="1" lang="ar-SA"/>
              <a:t>جيران </a:t>
            </a:r>
            <a:r>
              <a:rPr altLang="en-US" b="1" lang="ar-SA"/>
              <a:t>العنصر</a:t>
            </a:r>
          </a:p>
          <a:p>
            <a:pPr algn="r" indent="0" lvl="0" marL="0" rtl="1"/>
            <a:r>
              <a:rPr altLang="en-US" sz="2800" lang="ar-SA"/>
              <a:t>للعنصر</a:t>
            </a:r>
            <a:r>
              <a:rPr altLang="en-US" sz="2800" lang="en-US"/>
              <a:t>P</a:t>
            </a:r>
            <a:r>
              <a:rPr altLang="en-US" sz="2800" lang="ar-SA"/>
              <a:t> عند الاحداثيين (</a:t>
            </a:r>
            <a:r>
              <a:rPr altLang="en-US" sz="2800" lang="en-US"/>
              <a:t>x,y</a:t>
            </a:r>
            <a:r>
              <a:rPr altLang="en-US" sz="2800" lang="ar-SA"/>
              <a:t>) أربعة جيران أفقية وعمودية تعطي إحداثياتها كما يلي: </a:t>
            </a:r>
          </a:p>
          <a:p>
            <a:pPr algn="r" indent="0" lvl="0" marL="0" rtl="1"/>
            <a:r>
              <a:rPr altLang="en-US" sz="2800" lang="en-US"/>
              <a:t>(x+1,y), (x-1,y)(x,y+1)(x,y-1)</a:t>
            </a:r>
          </a:p>
          <a:p>
            <a:pPr algn="just" indent="0" lvl="0" marL="0" rtl="1"/>
            <a:r>
              <a:rPr altLang="en-US" sz="2800" lang="ar-SA"/>
              <a:t>هذه المجموعة تسمى </a:t>
            </a:r>
            <a:r>
              <a:rPr altLang="en-US" sz="2800" lang="ar-SA">
                <a:solidFill>
                  <a:srgbClr val="FF0000"/>
                </a:solidFill>
              </a:rPr>
              <a:t>الجيران الاربعة </a:t>
            </a:r>
            <a:r>
              <a:rPr altLang="en-US" sz="2800" lang="en-US"/>
              <a:t>4 neighbors</a:t>
            </a:r>
            <a:r>
              <a:rPr altLang="en-US" sz="2800" lang="ar-SA"/>
              <a:t> للعنصر </a:t>
            </a:r>
            <a:r>
              <a:rPr altLang="en-US" sz="2800" lang="en-US"/>
              <a:t>P</a:t>
            </a:r>
            <a:r>
              <a:rPr altLang="en-US" sz="2800" lang="ar-SA"/>
              <a:t>  ويرمز لها عـادة بـ(</a:t>
            </a:r>
            <a:r>
              <a:rPr altLang="en-US" sz="2800" lang="en-US"/>
              <a:t>P</a:t>
            </a:r>
            <a:r>
              <a:rPr altLang="en-US" sz="2800" lang="ar-SA"/>
              <a:t>)</a:t>
            </a:r>
            <a:r>
              <a:rPr altLang="en-US" sz="2800" lang="en-US"/>
              <a:t>N</a:t>
            </a:r>
            <a:r>
              <a:rPr altLang="en-US" sz="2000" lang="en-US"/>
              <a:t>4</a:t>
            </a:r>
            <a:r>
              <a:rPr altLang="en-US" sz="2800" lang="ar-SA"/>
              <a:t> كما يلاحظ أن بعض جيران </a:t>
            </a:r>
            <a:r>
              <a:rPr altLang="en-US" sz="2800" lang="en-US"/>
              <a:t>P</a:t>
            </a:r>
            <a:r>
              <a:rPr altLang="en-US" sz="2800" lang="ar-SA"/>
              <a:t> تقع خارج الصورة الـرقمية اذا كـان الاحداثيان (</a:t>
            </a:r>
            <a:r>
              <a:rPr altLang="en-US" sz="2800" lang="en-US"/>
              <a:t>x,y</a:t>
            </a:r>
            <a:r>
              <a:rPr altLang="en-US" sz="2800" lang="ar-SA"/>
              <a:t>) على حدود الصورة.</a:t>
            </a:r>
          </a:p>
          <a:p>
            <a:pPr algn="r" eaLnBrk="1" hangingPunct="1" indent="0" lvl="0" marL="0" rtl="1">
              <a:buFontTx/>
              <a:buNone/>
            </a:pPr>
            <a:endParaRPr altLang="en-US" sz="2800" lang="en-US"/>
          </a:p>
          <a:p>
            <a:pPr algn="r" eaLnBrk="1" hangingPunct="1" indent="0" lvl="0" marL="0" rtl="1">
              <a:buFontTx/>
              <a:buNone/>
            </a:pPr>
            <a:endParaRPr altLang="ar-EG" sz="2800" lang="en-US"/>
          </a:p>
        </p:txBody>
      </p:sp>
      <p:graphicFrame>
        <p:nvGraphicFramePr>
          <p:cNvPr id="4194304" name=""/>
          <p:cNvGraphicFramePr>
            <a:graphicFrameLocks/>
          </p:cNvGraphicFramePr>
          <p:nvPr/>
        </p:nvGraphicFramePr>
        <p:xfrm rot="0">
          <a:off x="1417637" y="4005262"/>
          <a:ext cx="1425575" cy="1204912"/>
        </p:xfrm>
        <a:graphic>
          <a:graphicData uri="http://schemas.openxmlformats.org/drawingml/2006/table">
            <a:tbl>
              <a:tblPr/>
              <a:tblGrid>
                <a:gridCol w="373062"/>
                <a:gridCol w="611187"/>
                <a:gridCol w="441325"/>
              </a:tblGrid>
              <a:tr h="366712">
                <a:tc>
                  <a:txBody>
                    <a:bodyPr/>
                    <a:p>
                      <a:pPr algn="l" eaLnBrk="1" hangingPunct="1" lvl="0" rtl="1"/>
                      <a:endParaRPr altLang="en-US" b="1" lang="ar-SA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 eaLnBrk="1" hangingPunct="1" lvl="0" rtl="1"/>
                      <a:r>
                        <a:rPr altLang="en-US" b="1" sz="1800" lang="en-US">
                          <a:solidFill>
                            <a:srgbClr val="FFC000"/>
                          </a:solidFill>
                        </a:rPr>
                        <a:t>1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l" eaLnBrk="1" hangingPunct="1" lvl="0" rtl="1"/>
                      <a:endParaRPr altLang="en-US" b="1" lang="ar-SA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chemeClr val="accent1"/>
                    </a:solidFill>
                  </a:tcPr>
                </a:tc>
              </a:tr>
              <a:tr h="473074">
                <a:tc>
                  <a:txBody>
                    <a:bodyPr/>
                    <a:p>
                      <a:pPr algn="l" eaLnBrk="1" hangingPunct="1" lvl="0" rtl="1"/>
                      <a:r>
                        <a:rPr altLang="en-US" b="0" sz="1800" lang="en-US">
                          <a:solidFill>
                            <a:srgbClr val="FFC000"/>
                          </a:solidFill>
                        </a:rPr>
                        <a:t>4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l" eaLnBrk="1" hangingPunct="1" lvl="0" rtl="1"/>
                      <a:r>
                        <a:rPr altLang="en-US" b="0" sz="1000" lang="en-US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altLang="en-US" b="0" sz="1000" lang="ar-SA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altLang="en-US" b="0" sz="1000" lang="en-US">
                          <a:solidFill>
                            <a:srgbClr val="FF0000"/>
                          </a:solidFill>
                        </a:rPr>
                        <a:t>x,y</a:t>
                      </a:r>
                      <a:r>
                        <a:rPr altLang="en-US" b="0" sz="1000" lang="ar-SA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altLang="en-US" b="1" sz="1600" lang="en-US">
                          <a:solidFill>
                            <a:srgbClr val="FF0000"/>
                          </a:solidFill>
                        </a:rPr>
                        <a:t>P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algn="l" eaLnBrk="1" hangingPunct="1" lvl="0" rtl="1"/>
                      <a:r>
                        <a:rPr altLang="en-US" b="0" sz="1800" lang="en-US">
                          <a:solidFill>
                            <a:srgbClr val="FFC000"/>
                          </a:solidFill>
                        </a:rPr>
                        <a:t>2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chemeClr val="accent2"/>
                    </a:solidFill>
                  </a:tcPr>
                </a:tc>
              </a:tr>
              <a:tr h="365124">
                <a:tc>
                  <a:txBody>
                    <a:bodyPr/>
                    <a:p>
                      <a:pPr algn="l" eaLnBrk="1" hangingPunct="1" lvl="0" rtl="1"/>
                      <a:endParaRPr altLang="en-US" lang="ar-SA">
                        <a:solidFill>
                          <a:srgbClr val="000000"/>
                        </a:solidFill>
                      </a:endParaRP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algn="l" eaLnBrk="1" hangingPunct="1" lvl="0" rtl="1"/>
                      <a:r>
                        <a:rPr altLang="en-US" b="0" sz="1800" lang="en-US">
                          <a:solidFill>
                            <a:srgbClr val="FFC000"/>
                          </a:solidFill>
                        </a:rPr>
                        <a:t>3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l" eaLnBrk="1" hangingPunct="1" lvl="0" rtl="1"/>
                      <a:endParaRPr altLang="en-US" lang="ar-SA">
                        <a:solidFill>
                          <a:srgbClr val="000000"/>
                        </a:solidFill>
                      </a:endParaRP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dk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  <p:sp>
        <p:nvSpPr>
          <p:cNvPr id="1048623" name="Right Arrow 4"/>
          <p:cNvSpPr/>
          <p:nvPr/>
        </p:nvSpPr>
        <p:spPr>
          <a:xfrm rot="0">
            <a:off x="2916237" y="4797425"/>
            <a:ext cx="431800" cy="360362"/>
          </a:xfrm>
          <a:prstGeom prst="rightArrow">
            <a:avLst>
              <a:gd name="adj1" fmla="val 50000"/>
              <a:gd name="adj2" fmla="val 49926"/>
            </a:avLst>
          </a:prstGeom>
          <a:solidFill>
            <a:schemeClr val="accent1"/>
          </a:solidFill>
          <a:ln w="25400" cap="flat" cmpd="sng">
            <a:solidFill>
              <a:srgbClr val="89A4A7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ctr" eaLnBrk="1" hangingPunct="1" lvl="0"/>
            <a:r>
              <a:rPr altLang="en-US" b="1" lang="en-US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048624" name="Up Arrow 6"/>
          <p:cNvSpPr/>
          <p:nvPr/>
        </p:nvSpPr>
        <p:spPr>
          <a:xfrm rot="0">
            <a:off x="1116012" y="4076700"/>
            <a:ext cx="287337" cy="360362"/>
          </a:xfrm>
          <a:prstGeom prst="upArrow">
            <a:avLst>
              <a:gd name="adj1" fmla="val 50000"/>
              <a:gd name="adj2" fmla="val 50165"/>
            </a:avLst>
          </a:prstGeom>
          <a:solidFill>
            <a:schemeClr val="accent1"/>
          </a:solidFill>
          <a:ln w="25400" cap="flat" cmpd="sng">
            <a:solidFill>
              <a:srgbClr val="89A4A7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ctr" eaLnBrk="1" hangingPunct="1" lvl="0"/>
            <a:r>
              <a:rPr altLang="en-US" b="1" lang="en-US">
                <a:solidFill>
                  <a:srgbClr val="FF0000"/>
                </a:solidFill>
              </a:rPr>
              <a:t>Y</a:t>
            </a:r>
          </a:p>
        </p:txBody>
      </p:sp>
    </p:spTree>
  </p:cSld>
  <p:clrMapOvr>
    <a:masterClrMapping/>
  </p:clrMapOvr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5" name="Content Placeholder 2"/>
          <p:cNvSpPr/>
          <p:nvPr>
            <p:ph sz="full" idx="1"/>
          </p:nvPr>
        </p:nvSpPr>
        <p:spPr>
          <a:xfrm rot="0">
            <a:off x="107950" y="549275"/>
            <a:ext cx="8928100" cy="56880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r" lvl="0" rtl="1"/>
            <a:r>
              <a:rPr altLang="en-US" lang="ar-SA"/>
              <a:t>الجيران الأربعة القطرية لـ</a:t>
            </a:r>
            <a:r>
              <a:rPr altLang="en-US" lang="en-US"/>
              <a:t>P</a:t>
            </a:r>
            <a:r>
              <a:rPr altLang="en-US" lang="ar-SA"/>
              <a:t> لها الاحداثيات التالية: </a:t>
            </a:r>
          </a:p>
          <a:p>
            <a:pPr algn="ctr" lvl="0" rtl="1">
              <a:buFontTx/>
              <a:buNone/>
            </a:pPr>
            <a:r>
              <a:rPr altLang="en-US" lang="en-US"/>
              <a:t>(x+1,y+1), (x+1,y-1),(x-1,y+1),(x-1,y-1)</a:t>
            </a:r>
          </a:p>
          <a:p>
            <a:pPr algn="r" lvl="0" rtl="1"/>
            <a:r>
              <a:rPr altLang="en-US" lang="ar-SA"/>
              <a:t>ويرمز لها (</a:t>
            </a:r>
            <a:r>
              <a:rPr altLang="en-US" lang="en-US"/>
              <a:t>P</a:t>
            </a:r>
            <a:r>
              <a:rPr altLang="en-US" lang="ar-SA"/>
              <a:t>)</a:t>
            </a:r>
            <a:r>
              <a:rPr altLang="en-US" lang="en-US"/>
              <a:t>N</a:t>
            </a:r>
            <a:r>
              <a:rPr altLang="en-US" baseline="-25000" lang="en-US"/>
              <a:t>D</a:t>
            </a:r>
          </a:p>
          <a:p>
            <a:pPr algn="just" lvl="0" rtl="1"/>
            <a:r>
              <a:rPr altLang="en-US" lang="ar-SA"/>
              <a:t>وهذه النقاط تدعى الجيران الثمانية </a:t>
            </a:r>
            <a:r>
              <a:rPr altLang="en-US" lang="en-US"/>
              <a:t>8 neighbors</a:t>
            </a:r>
            <a:r>
              <a:rPr altLang="en-US" lang="ar-SA"/>
              <a:t> لـ</a:t>
            </a:r>
            <a:r>
              <a:rPr altLang="en-US" lang="en-US"/>
              <a:t>P</a:t>
            </a:r>
            <a:r>
              <a:rPr altLang="en-US" lang="ar-SA"/>
              <a:t> ويرمز لها (</a:t>
            </a:r>
            <a:r>
              <a:rPr altLang="en-US" lang="en-US"/>
              <a:t>P</a:t>
            </a:r>
            <a:r>
              <a:rPr altLang="en-US" lang="ar-SA"/>
              <a:t>)</a:t>
            </a:r>
            <a:r>
              <a:rPr altLang="en-US" lang="en-US"/>
              <a:t>N</a:t>
            </a:r>
            <a:r>
              <a:rPr altLang="en-US" baseline="-25000" lang="en-US"/>
              <a:t>8</a:t>
            </a:r>
            <a:r>
              <a:rPr altLang="en-US" lang="ar-SA"/>
              <a:t> وكما هي بالنسبة للجيران الأربعة فإن النقاط في (</a:t>
            </a:r>
            <a:r>
              <a:rPr altLang="en-US" lang="en-US"/>
              <a:t>P</a:t>
            </a:r>
            <a:r>
              <a:rPr altLang="en-US" lang="ar-SA"/>
              <a:t>)</a:t>
            </a:r>
            <a:r>
              <a:rPr altLang="en-US" lang="en-US"/>
              <a:t>N</a:t>
            </a:r>
            <a:r>
              <a:rPr altLang="en-US" baseline="-25000" lang="en-US"/>
              <a:t>D</a:t>
            </a:r>
            <a:r>
              <a:rPr altLang="en-US" lang="ar-SA"/>
              <a:t> و (</a:t>
            </a:r>
            <a:r>
              <a:rPr altLang="en-US" lang="en-US"/>
              <a:t>P</a:t>
            </a:r>
            <a:r>
              <a:rPr altLang="en-US" lang="ar-SA"/>
              <a:t>)</a:t>
            </a:r>
            <a:r>
              <a:rPr altLang="en-US" lang="en-US"/>
              <a:t>N</a:t>
            </a:r>
            <a:r>
              <a:rPr altLang="en-US" baseline="-25000" lang="en-US"/>
              <a:t>8  </a:t>
            </a:r>
            <a:r>
              <a:rPr altLang="en-US" lang="ar-SA"/>
              <a:t>تقع خارج الصورة إذا كان (</a:t>
            </a:r>
            <a:r>
              <a:rPr altLang="en-US" lang="en-US"/>
              <a:t>x,y</a:t>
            </a:r>
            <a:r>
              <a:rPr altLang="en-US" lang="ar-SA"/>
              <a:t>) تقع على حدود الصورة.</a:t>
            </a:r>
          </a:p>
          <a:p>
            <a:pPr algn="r" lvl="0" rtl="1">
              <a:buFont typeface="Wingdings" pitchFamily="2" charset="2"/>
              <a:buChar char="ü"/>
            </a:pPr>
            <a:r>
              <a:rPr altLang="en-US" b="1" lang="ar-SA"/>
              <a:t>الاتصالية </a:t>
            </a:r>
            <a:r>
              <a:rPr altLang="en-US" b="1" lang="en-US"/>
              <a:t>Connectivity</a:t>
            </a:r>
            <a:r>
              <a:rPr altLang="en-US" b="1" lang="ar-EG"/>
              <a:t> :</a:t>
            </a:r>
          </a:p>
          <a:p>
            <a:pPr algn="r" lvl="0" rtl="1"/>
            <a:r>
              <a:rPr altLang="en-US" lang="ar-SA"/>
              <a:t>هو مفهوم  يستعمل في تعيين حدود الأجسام ومركبات المناطق في الصورة.</a:t>
            </a:r>
          </a:p>
          <a:p>
            <a:pPr algn="r" eaLnBrk="1" hangingPunct="1" lvl="0" rtl="1"/>
            <a:endParaRPr altLang="ar-EG" lang="en-US"/>
          </a:p>
        </p:txBody>
      </p:sp>
    </p:spTree>
  </p:cSld>
  <p:clrMapOvr>
    <a:masterClrMapping/>
  </p:clrMapOvr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6" name="Content Placeholder 2"/>
          <p:cNvSpPr/>
          <p:nvPr>
            <p:ph sz="full" idx="1"/>
          </p:nvPr>
        </p:nvSpPr>
        <p:spPr>
          <a:xfrm rot="0">
            <a:off x="107950" y="476250"/>
            <a:ext cx="8661400" cy="61214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r" lvl="0" rtl="1">
              <a:buFont typeface="Wingdings" pitchFamily="2" charset="2"/>
              <a:buChar char="ü"/>
            </a:pPr>
            <a:r>
              <a:rPr altLang="en-US" b="1" lang="ar-SA"/>
              <a:t>قياسات </a:t>
            </a:r>
            <a:r>
              <a:rPr altLang="en-US" b="1" lang="ar-SA"/>
              <a:t>المسافة </a:t>
            </a:r>
            <a:r>
              <a:rPr altLang="en-US" b="1" lang="en-US"/>
              <a:t> : Distance Measure </a:t>
            </a:r>
          </a:p>
          <a:p>
            <a:pPr algn="r" lvl="0" rtl="1"/>
            <a:r>
              <a:rPr altLang="en-US" lang="ar-SA"/>
              <a:t>اذا كان لدينا ثلاثة عناصر </a:t>
            </a:r>
            <a:r>
              <a:rPr altLang="en-US" lang="en-US"/>
              <a:t>p,q,z</a:t>
            </a:r>
            <a:r>
              <a:rPr altLang="en-US" lang="ar-SA"/>
              <a:t> التى إحداثياتها </a:t>
            </a:r>
            <a:r>
              <a:rPr altLang="en-US" lang="en-US"/>
              <a:t>p(x,y</a:t>
            </a:r>
            <a:r>
              <a:rPr altLang="en-US" lang="en-US"/>
              <a:t>), </a:t>
            </a:r>
            <a:r>
              <a:rPr altLang="en-US" lang="en-US"/>
              <a:t>q(s,t</a:t>
            </a:r>
            <a:r>
              <a:rPr altLang="en-US" lang="en-US"/>
              <a:t>), </a:t>
            </a:r>
            <a:r>
              <a:rPr altLang="en-US" lang="en-US"/>
              <a:t>z(u,v</a:t>
            </a:r>
            <a:r>
              <a:rPr altLang="en-US" lang="en-US"/>
              <a:t>)</a:t>
            </a:r>
            <a:r>
              <a:rPr altLang="en-US" lang="ar-SA"/>
              <a:t> على التوالي. تسمى </a:t>
            </a:r>
            <a:r>
              <a:rPr altLang="en-US" lang="en-US"/>
              <a:t>D</a:t>
            </a:r>
            <a:r>
              <a:rPr altLang="en-US" lang="ar-SA"/>
              <a:t> دالة مسافة </a:t>
            </a:r>
            <a:r>
              <a:rPr altLang="en-US" b="1" sz="2400" lang="en-US"/>
              <a:t>Distance Function </a:t>
            </a:r>
            <a:r>
              <a:rPr altLang="en-US" b="1" sz="2400" lang="ar-SA"/>
              <a:t> </a:t>
            </a:r>
            <a:r>
              <a:rPr altLang="en-US" lang="ar-SA"/>
              <a:t>إذا كان </a:t>
            </a:r>
            <a:r>
              <a:rPr altLang="en-US" lang="ar-SA"/>
              <a:t>:</a:t>
            </a:r>
          </a:p>
          <a:p>
            <a:pPr algn="r" lvl="0" rtl="1"/>
            <a:r>
              <a:rPr altLang="en-US" lang="ar-SA"/>
              <a:t>اذا كانت </a:t>
            </a:r>
            <a:r>
              <a:rPr altLang="en-US" lang="en-US"/>
              <a:t>P=q</a:t>
            </a:r>
          </a:p>
          <a:p>
            <a:pPr algn="ctr" lvl="0" rtl="1">
              <a:buFontTx/>
              <a:buNone/>
            </a:pPr>
            <a:r>
              <a:rPr altLang="en-US" lang="en-US"/>
              <a:t>= O </a:t>
            </a:r>
            <a:r>
              <a:rPr altLang="en-US" lang="ar-SA"/>
              <a:t>(</a:t>
            </a:r>
            <a:r>
              <a:rPr altLang="en-US" lang="en-US"/>
              <a:t>q, p</a:t>
            </a:r>
            <a:r>
              <a:rPr altLang="en-US" lang="ar-SA"/>
              <a:t>)</a:t>
            </a:r>
            <a:r>
              <a:rPr altLang="en-US" lang="en-US"/>
              <a:t>D</a:t>
            </a:r>
            <a:r>
              <a:rPr altLang="en-US" lang="ar-SA"/>
              <a:t>  </a:t>
            </a:r>
            <a:r>
              <a:rPr altLang="en-US" lang="en-US"/>
              <a:t>O,</a:t>
            </a:r>
            <a:r>
              <a:rPr altLang="en-US" lang="ar-SA"/>
              <a:t> =(</a:t>
            </a:r>
            <a:r>
              <a:rPr altLang="en-US" lang="en-US"/>
              <a:t>p,q</a:t>
            </a:r>
            <a:r>
              <a:rPr altLang="en-US" lang="ar-SA"/>
              <a:t>)</a:t>
            </a:r>
            <a:r>
              <a:rPr altLang="en-US" lang="en-US"/>
              <a:t>D</a:t>
            </a:r>
          </a:p>
          <a:p>
            <a:pPr algn="r" lvl="0" rtl="1"/>
            <a:r>
              <a:rPr altLang="en-US" lang="en-US"/>
              <a:t>D(p,q</a:t>
            </a:r>
            <a:r>
              <a:rPr altLang="en-US" lang="en-US"/>
              <a:t>)= </a:t>
            </a:r>
            <a:r>
              <a:rPr altLang="en-US" lang="en-US"/>
              <a:t>D(q,p)=0</a:t>
            </a:r>
          </a:p>
          <a:p>
            <a:pPr algn="r" lvl="0" rtl="1"/>
            <a:r>
              <a:rPr altLang="en-US" lang="en-US"/>
              <a:t>D(p,z</a:t>
            </a:r>
            <a:r>
              <a:rPr altLang="en-US" lang="en-US"/>
              <a:t>)≤D(p,q)+D(q,z)</a:t>
            </a:r>
          </a:p>
          <a:p>
            <a:pPr algn="r" lvl="0" rtl="1"/>
            <a:r>
              <a:rPr altLang="en-US" lang="ar-SA"/>
              <a:t>و المسافة الاكليدية </a:t>
            </a:r>
            <a:r>
              <a:rPr altLang="en-US" lang="en-US"/>
              <a:t>Euclidean distance </a:t>
            </a:r>
            <a:r>
              <a:rPr altLang="en-US" lang="ar-SA"/>
              <a:t> بين </a:t>
            </a:r>
            <a:r>
              <a:rPr altLang="en-US" lang="en-US"/>
              <a:t>q,p</a:t>
            </a:r>
            <a:r>
              <a:rPr altLang="en-US" lang="ar-SA"/>
              <a:t> تعرف كما يلي </a:t>
            </a:r>
          </a:p>
          <a:p>
            <a:pPr algn="ctr" lvl="0" rtl="1">
              <a:buFontTx/>
              <a:buNone/>
            </a:pPr>
            <a:r>
              <a:rPr altLang="en-US" lang="en-US"/>
              <a:t>D</a:t>
            </a:r>
            <a:r>
              <a:rPr altLang="en-US" baseline="-25000" lang="en-US"/>
              <a:t>e</a:t>
            </a:r>
            <a:r>
              <a:rPr altLang="en-US" lang="en-US"/>
              <a:t>(p,q) = [(x-s)</a:t>
            </a:r>
            <a:r>
              <a:rPr altLang="en-US" baseline="30000" lang="en-US"/>
              <a:t>2</a:t>
            </a:r>
            <a:r>
              <a:rPr altLang="en-US" lang="en-US"/>
              <a:t>+(y-t)</a:t>
            </a:r>
            <a:r>
              <a:rPr altLang="en-US" baseline="30000" lang="en-US"/>
              <a:t>2</a:t>
            </a:r>
            <a:r>
              <a:rPr altLang="en-US" lang="en-US"/>
              <a:t>]</a:t>
            </a:r>
            <a:r>
              <a:rPr altLang="en-US" baseline="30000" lang="en-US"/>
              <a:t>1</a:t>
            </a:r>
            <a:r>
              <a:rPr altLang="en-US" lang="en-US"/>
              <a:t>/</a:t>
            </a:r>
            <a:r>
              <a:rPr altLang="en-US" baseline="-25000" lang="en-US"/>
              <a:t>2</a:t>
            </a:r>
          </a:p>
          <a:p>
            <a:pPr algn="r" eaLnBrk="1" hangingPunct="1" lvl="0" rtl="1">
              <a:buFontTx/>
              <a:buNone/>
            </a:pPr>
            <a:endParaRPr altLang="ar-EG" lang="en-US"/>
          </a:p>
        </p:txBody>
      </p:sp>
      <p:sp>
        <p:nvSpPr>
          <p:cNvPr id="1048627" name="Rectangle 2"/>
          <p:cNvSpPr/>
          <p:nvPr/>
        </p:nvSpPr>
        <p:spPr>
          <a:xfrm rot="0">
            <a:off x="323850" y="2565400"/>
            <a:ext cx="1871662" cy="1871662"/>
          </a:xfrm>
          <a:prstGeom prst="rect"/>
          <a:solidFill>
            <a:schemeClr val="accent1"/>
          </a:solidFill>
          <a:ln w="25400" cap="flat" cmpd="sng">
            <a:solidFill>
              <a:srgbClr val="89A4A7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ctr" eaLnBrk="1" hangingPunct="1" lvl="0"/>
            <a:r>
              <a:rPr altLang="en-US" b="1" lang="en-US">
                <a:solidFill>
                  <a:srgbClr val="FF0000"/>
                </a:solidFill>
              </a:rPr>
              <a:t>q</a:t>
            </a:r>
            <a:r>
              <a:rPr altLang="en-US" b="1" lang="ar-SA">
                <a:solidFill>
                  <a:srgbClr val="002060"/>
                </a:solidFill>
              </a:rPr>
              <a:t>.</a:t>
            </a:r>
            <a:r>
              <a:rPr altLang="en-US" b="1" lang="ar-SA">
                <a:solidFill>
                  <a:srgbClr val="FF0000"/>
                </a:solidFill>
              </a:rPr>
              <a:t>.</a:t>
            </a:r>
            <a:r>
              <a:rPr altLang="en-US" b="1" lang="en-US">
                <a:solidFill>
                  <a:srgbClr val="002060"/>
                </a:solidFill>
              </a:rPr>
              <a:t>p</a:t>
            </a:r>
          </a:p>
          <a:p>
            <a:pPr algn="ctr" eaLnBrk="1" hangingPunct="1" lvl="0"/>
            <a:r>
              <a:rPr altLang="en-US" b="1" lang="ar-SA"/>
              <a:t> </a:t>
            </a:r>
          </a:p>
          <a:p>
            <a:pPr algn="ctr" eaLnBrk="1" hangingPunct="1" lvl="0"/>
            <a:endParaRPr altLang="en-US" b="1" lang="ar-SA"/>
          </a:p>
          <a:p>
            <a:pPr algn="ctr" eaLnBrk="1" hangingPunct="1" lvl="0"/>
            <a:r>
              <a:rPr altLang="en-US" b="1" lang="ar-SA"/>
              <a:t>.</a:t>
            </a:r>
            <a:r>
              <a:rPr altLang="en-US" b="1" lang="en-US"/>
              <a:t>z</a:t>
            </a:r>
          </a:p>
          <a:p>
            <a:pPr algn="ctr" eaLnBrk="1" hangingPunct="1" lvl="0"/>
            <a:endParaRPr altLang="en-US" b="1" lang="ar-SA">
              <a:solidFill>
                <a:srgbClr val="FF0000"/>
              </a:solidFill>
            </a:endParaRPr>
          </a:p>
        </p:txBody>
      </p:sp>
      <p:sp>
        <p:nvSpPr>
          <p:cNvPr id="1048628" name="Rectangle 4"/>
          <p:cNvSpPr/>
          <p:nvPr/>
        </p:nvSpPr>
        <p:spPr>
          <a:xfrm rot="0">
            <a:off x="4448175" y="3244850"/>
            <a:ext cx="247650" cy="368300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ctr" eaLnBrk="1" hangingPunct="1" lvl="0"/>
            <a:r>
              <a:rPr altLang="en-US" lang="ar-SA"/>
              <a:t>.</a:t>
            </a:r>
          </a:p>
        </p:txBody>
      </p:sp>
    </p:spTree>
  </p:cSld>
  <p:clrMapOvr>
    <a:masterClrMapping/>
  </p:clrMapOvr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9" name="Content Placeholder 2"/>
          <p:cNvSpPr/>
          <p:nvPr>
            <p:ph sz="full" idx="1"/>
          </p:nvPr>
        </p:nvSpPr>
        <p:spPr>
          <a:xfrm rot="0">
            <a:off x="179387" y="1052512"/>
            <a:ext cx="8821738" cy="4525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r" lvl="0" rtl="1">
              <a:buFont typeface="Wingdings" pitchFamily="2" charset="2"/>
              <a:buChar char="ü"/>
            </a:pPr>
            <a:r>
              <a:rPr altLang="en-US" b="1" lang="ar-SA"/>
              <a:t> المسافة </a:t>
            </a:r>
            <a:r>
              <a:rPr altLang="en-US" b="1" lang="ar-SA"/>
              <a:t>الرباعية </a:t>
            </a:r>
            <a:r>
              <a:rPr altLang="en-US" b="1" lang="en-US"/>
              <a:t>D4 distance</a:t>
            </a:r>
          </a:p>
          <a:p>
            <a:pPr algn="r" lvl="0" rtl="1"/>
            <a:r>
              <a:rPr altLang="en-US" lang="ar-SA"/>
              <a:t>تسمى مسافة مساحة المدينة (</a:t>
            </a:r>
            <a:r>
              <a:rPr altLang="en-US" lang="en-US"/>
              <a:t>City-block distance</a:t>
            </a:r>
            <a:r>
              <a:rPr altLang="en-US" lang="ar-SA"/>
              <a:t>) بين </a:t>
            </a:r>
            <a:r>
              <a:rPr altLang="en-US" lang="en-US"/>
              <a:t>q,p</a:t>
            </a:r>
            <a:r>
              <a:rPr altLang="en-US" lang="ar-SA"/>
              <a:t> تعرف كما يلي:</a:t>
            </a:r>
          </a:p>
          <a:p>
            <a:pPr algn="ctr" lvl="0" rtl="1">
              <a:buFontTx/>
              <a:buNone/>
            </a:pPr>
            <a:r>
              <a:rPr altLang="en-US" lang="en-US"/>
              <a:t>D</a:t>
            </a:r>
            <a:r>
              <a:rPr altLang="en-US" baseline="-25000" lang="en-US"/>
              <a:t>4</a:t>
            </a:r>
            <a:r>
              <a:rPr altLang="en-US" lang="en-US"/>
              <a:t>(p,q)= |x-s| + |y-t|</a:t>
            </a:r>
          </a:p>
          <a:p>
            <a:pPr algn="r" lvl="0" rtl="1"/>
            <a:r>
              <a:rPr altLang="en-US" lang="ar-SA"/>
              <a:t>في هذه الحالة العناصر التى تبعد عن (</a:t>
            </a:r>
            <a:r>
              <a:rPr altLang="en-US" lang="en-US"/>
              <a:t>x,y</a:t>
            </a:r>
            <a:r>
              <a:rPr altLang="en-US" lang="ar-SA"/>
              <a:t>) مسافة رباعية أقل أو تساوي قيمة معينة </a:t>
            </a:r>
            <a:r>
              <a:rPr altLang="en-US" lang="en-US"/>
              <a:t>r</a:t>
            </a:r>
            <a:r>
              <a:rPr altLang="en-US" lang="ar-SA"/>
              <a:t>تشكل </a:t>
            </a:r>
            <a:r>
              <a:rPr altLang="en-US" lang="ar-SA">
                <a:solidFill>
                  <a:srgbClr val="FF0000"/>
                </a:solidFill>
              </a:rPr>
              <a:t>معينا</a:t>
            </a:r>
            <a:r>
              <a:rPr altLang="en-US" lang="ar-SA"/>
              <a:t> مركزه (</a:t>
            </a:r>
            <a:r>
              <a:rPr altLang="en-US" lang="en-US"/>
              <a:t>x,y</a:t>
            </a:r>
            <a:r>
              <a:rPr altLang="en-US" lang="ar-SA"/>
              <a:t>).</a:t>
            </a:r>
          </a:p>
          <a:p>
            <a:pPr algn="r" eaLnBrk="1" hangingPunct="1" lvl="0" rtl="1"/>
            <a:endParaRPr altLang="ar-EG" lang="en-US"/>
          </a:p>
        </p:txBody>
      </p:sp>
    </p:spTree>
  </p:cSld>
  <p:clrMapOvr>
    <a:masterClrMapping/>
  </p:clrMapOvr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0" name="Title 1"/>
          <p:cNvSpPr/>
          <p:nvPr>
            <p:ph type="title" sz="full" idx="0"/>
          </p:nvPr>
        </p:nvSpPr>
        <p:spPr>
          <a:xfrm rot="0">
            <a:off x="407987" y="115887"/>
            <a:ext cx="8229600" cy="8509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</a:lstStyle>
          <a:p>
            <a:pPr indent="114300" lvl="0" rtl="1"/>
            <a:r>
              <a:rPr altLang="ar-EG" b="1" sz="3600" lang="ar-SA">
                <a:solidFill>
                  <a:schemeClr val="dk1"/>
                </a:solidFill>
                <a:latin typeface="Simplified Arabic" pitchFamily="18" charset="-78"/>
                <a:ea typeface="Times New Roman" pitchFamily="18" charset="0"/>
              </a:rPr>
              <a:t>مثال</a:t>
            </a:r>
            <a:r>
              <a:rPr altLang="ar-EG" b="1" sz="3600" lang="ar-SA">
                <a:solidFill>
                  <a:schemeClr val="dk1"/>
                </a:solidFill>
                <a:ea typeface="Times New Roman" pitchFamily="18" charset="0"/>
              </a:rPr>
              <a:t> </a:t>
            </a:r>
            <a:r>
              <a:rPr altLang="ar-EG" b="1" sz="3600" lang="ar-SA">
                <a:solidFill>
                  <a:schemeClr val="dk1"/>
                </a:solidFill>
                <a:latin typeface="Simplified Arabic" pitchFamily="18" charset="-78"/>
                <a:ea typeface="Times New Roman" pitchFamily="18" charset="0"/>
              </a:rPr>
              <a:t>(1)</a:t>
            </a:r>
          </a:p>
        </p:txBody>
      </p:sp>
      <p:sp>
        <p:nvSpPr>
          <p:cNvPr id="1048631" name="Rectangle 21"/>
          <p:cNvSpPr/>
          <p:nvPr/>
        </p:nvSpPr>
        <p:spPr>
          <a:xfrm rot="0">
            <a:off x="407987" y="995362"/>
            <a:ext cx="8485188" cy="5862637"/>
          </a:xfrm>
          <a:prstGeom prst="rect"/>
          <a:noFill/>
          <a:ln>
            <a:noFill/>
          </a:ln>
        </p:spPr>
        <p:txBody>
          <a:bodyPr anchor="ctr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just" indent="-457200" lvl="0" marL="457200" rtl="1">
              <a:buFontTx/>
              <a:buChar char="•"/>
            </a:pPr>
            <a:r>
              <a:rPr altLang="ar-EG" sz="2800" lang="ar-SA">
                <a:latin typeface="Simplified Arabic" pitchFamily="18" charset="-78"/>
                <a:ea typeface="Times New Roman" pitchFamily="18" charset="0"/>
              </a:rPr>
              <a:t>العناصر التى تبعد عن (</a:t>
            </a:r>
            <a:r>
              <a:rPr altLang="ar-EG" sz="2800" lang="en-US">
                <a:ea typeface="Times New Roman" pitchFamily="18" charset="0"/>
              </a:rPr>
              <a:t>x,y</a:t>
            </a:r>
            <a:r>
              <a:rPr altLang="ar-EG" sz="2800" lang="ar-SA">
                <a:latin typeface="Simplified Arabic" pitchFamily="18" charset="-78"/>
                <a:ea typeface="Times New Roman" pitchFamily="18" charset="0"/>
              </a:rPr>
              <a:t>) (نقطة المركز) </a:t>
            </a:r>
            <a:r>
              <a:rPr altLang="ar-EG" sz="2800" lang="ar-SA">
                <a:solidFill>
                  <a:srgbClr val="FF0000"/>
                </a:solidFill>
                <a:latin typeface="Simplified Arabic" pitchFamily="18" charset="-78"/>
                <a:ea typeface="Times New Roman" pitchFamily="18" charset="0"/>
              </a:rPr>
              <a:t>مسافة رباعية </a:t>
            </a:r>
            <a:r>
              <a:rPr altLang="ar-EG" sz="2800" lang="ar-SA">
                <a:latin typeface="Simplified Arabic" pitchFamily="18" charset="-78"/>
                <a:ea typeface="Times New Roman" pitchFamily="18" charset="0"/>
              </a:rPr>
              <a:t>أقل أو تساوى 2 تشكل كفافات </a:t>
            </a:r>
            <a:r>
              <a:rPr altLang="ar-EG" sz="2800" lang="en-US">
                <a:ea typeface="Times New Roman" pitchFamily="18" charset="0"/>
              </a:rPr>
              <a:t>Contours</a:t>
            </a:r>
            <a:r>
              <a:rPr altLang="ar-EG" sz="2800" lang="ar-SA">
                <a:latin typeface="Simplified Arabic" pitchFamily="18" charset="-78"/>
                <a:ea typeface="Times New Roman" pitchFamily="18" charset="0"/>
              </a:rPr>
              <a:t> المسافة الثابتة التالية :</a:t>
            </a:r>
          </a:p>
          <a:p>
            <a:pPr algn="just" indent="-457200" lvl="0" marL="457200" rtl="1">
              <a:buFontTx/>
              <a:buChar char="•"/>
            </a:pPr>
            <a:endParaRPr altLang="ar-EG" sz="2800" lang="ar-SA">
              <a:latin typeface="Simplified Arabic" pitchFamily="18" charset="-78"/>
            </a:endParaRPr>
          </a:p>
          <a:p>
            <a:pPr algn="just" indent="-457200" lvl="0" marL="457200" rtl="1">
              <a:buFontTx/>
              <a:buChar char="•"/>
            </a:pPr>
            <a:endParaRPr altLang="ar-EG" sz="2800" lang="ar-SA">
              <a:latin typeface="Simplified Arabic" pitchFamily="18" charset="-78"/>
            </a:endParaRPr>
          </a:p>
          <a:p>
            <a:pPr algn="just" indent="-457200" lvl="0" marL="457200" rtl="1">
              <a:buFontTx/>
              <a:buChar char="•"/>
            </a:pPr>
            <a:endParaRPr altLang="ar-EG" sz="2800" lang="ar-SA">
              <a:latin typeface="Simplified Arabic" pitchFamily="18" charset="-78"/>
            </a:endParaRPr>
          </a:p>
          <a:p>
            <a:pPr algn="just" indent="-457200" lvl="0" marL="457200" rtl="1">
              <a:buFontTx/>
              <a:buChar char="•"/>
            </a:pPr>
            <a:endParaRPr altLang="ar-EG" sz="2800" lang="ar-SA">
              <a:latin typeface="Simplified Arabic" pitchFamily="18" charset="-78"/>
            </a:endParaRPr>
          </a:p>
          <a:p>
            <a:pPr algn="just" indent="-457200" lvl="0" marL="457200" rtl="1">
              <a:buFontTx/>
              <a:buChar char="•"/>
            </a:pPr>
            <a:endParaRPr altLang="ar-EG" sz="2800" lang="ar-SA">
              <a:latin typeface="Simplified Arabic" pitchFamily="18" charset="-78"/>
            </a:endParaRPr>
          </a:p>
          <a:p>
            <a:pPr algn="just" indent="-457200" lvl="0" marL="457200" rtl="1">
              <a:buFontTx/>
              <a:buChar char="•"/>
            </a:pPr>
            <a:endParaRPr altLang="ar-EG" sz="1100" lang="en-US"/>
          </a:p>
          <a:p>
            <a:pPr algn="just" indent="-457200" lvl="0" marL="457200" rtl="1"/>
            <a:r>
              <a:rPr altLang="ar-EG" sz="2800" lang="ar-SA">
                <a:latin typeface="Simplified Arabic" pitchFamily="18" charset="-78"/>
                <a:ea typeface="Times New Roman" pitchFamily="18" charset="0"/>
              </a:rPr>
              <a:t>ويلاحظ أن العناصر التى تبعد مسافة </a:t>
            </a:r>
            <a:r>
              <a:rPr altLang="ar-EG" sz="2800" lang="en-US">
                <a:ea typeface="Times New Roman" pitchFamily="18" charset="0"/>
              </a:rPr>
              <a:t>D</a:t>
            </a:r>
            <a:r>
              <a:rPr altLang="ar-EG" baseline="-30000" sz="2800" lang="en-US">
                <a:ea typeface="Times New Roman" pitchFamily="18" charset="0"/>
              </a:rPr>
              <a:t>4</a:t>
            </a:r>
            <a:r>
              <a:rPr altLang="ar-EG" sz="2800" lang="en-US">
                <a:ea typeface="Times New Roman" pitchFamily="18" charset="0"/>
              </a:rPr>
              <a:t>=1</a:t>
            </a:r>
            <a:r>
              <a:rPr altLang="ar-EG" sz="2800" lang="ar-SA">
                <a:latin typeface="Simplified Arabic" pitchFamily="18" charset="-78"/>
                <a:ea typeface="Times New Roman" pitchFamily="18" charset="0"/>
              </a:rPr>
              <a:t> هي الجيران الأربعة لـ(</a:t>
            </a:r>
            <a:r>
              <a:rPr altLang="ar-EG" sz="2800" lang="en-US">
                <a:ea typeface="Times New Roman" pitchFamily="18" charset="0"/>
              </a:rPr>
              <a:t>x,y</a:t>
            </a:r>
            <a:r>
              <a:rPr altLang="ar-EG" sz="2800" lang="ar-SA">
                <a:latin typeface="Simplified Arabic" pitchFamily="18" charset="-78"/>
                <a:ea typeface="Times New Roman" pitchFamily="18" charset="0"/>
              </a:rPr>
              <a:t>).</a:t>
            </a:r>
          </a:p>
          <a:p>
            <a:pPr algn="just" indent="-457200" lvl="0" marL="457200" rtl="1">
              <a:buFontTx/>
              <a:buChar char="•"/>
            </a:pPr>
            <a:r>
              <a:rPr altLang="ar-EG" sz="2800" lang="ar-SA">
                <a:solidFill>
                  <a:srgbClr val="FF0000"/>
                </a:solidFill>
                <a:latin typeface="Simplified Arabic" pitchFamily="18" charset="-78"/>
                <a:ea typeface="Times New Roman" pitchFamily="18" charset="0"/>
              </a:rPr>
              <a:t>المسافة الثمانية </a:t>
            </a:r>
            <a:r>
              <a:rPr altLang="ar-EG" sz="2800" lang="ar-SA">
                <a:latin typeface="Simplified Arabic" pitchFamily="18" charset="-78"/>
                <a:ea typeface="Times New Roman" pitchFamily="18" charset="0"/>
              </a:rPr>
              <a:t>أيضا تسمى رقعة الشطرنج </a:t>
            </a:r>
            <a:r>
              <a:rPr altLang="ar-EG" sz="2800" lang="en-US">
                <a:ea typeface="Times New Roman" pitchFamily="18" charset="0"/>
              </a:rPr>
              <a:t>chessboard distance</a:t>
            </a:r>
            <a:r>
              <a:rPr altLang="ar-EG" sz="2800" lang="ar-SA">
                <a:latin typeface="Simplified Arabic" pitchFamily="18" charset="-78"/>
                <a:ea typeface="Times New Roman" pitchFamily="18" charset="0"/>
              </a:rPr>
              <a:t> بين </a:t>
            </a:r>
            <a:r>
              <a:rPr altLang="ar-EG" sz="2800" lang="en-US">
                <a:ea typeface="Times New Roman" pitchFamily="18" charset="0"/>
              </a:rPr>
              <a:t>p,q</a:t>
            </a:r>
            <a:r>
              <a:rPr altLang="ar-EG" sz="2800" lang="ar-SA">
                <a:latin typeface="Simplified Arabic" pitchFamily="18" charset="-78"/>
                <a:ea typeface="Times New Roman" pitchFamily="18" charset="0"/>
              </a:rPr>
              <a:t> تعرف كما يلى: </a:t>
            </a:r>
          </a:p>
          <a:p>
            <a:pPr algn="ctr" indent="-457200" lvl="0" marL="457200" rtl="1"/>
            <a:r>
              <a:rPr altLang="ar-EG" sz="2800" lang="en-US">
                <a:ea typeface="Times New Roman" pitchFamily="18" charset="0"/>
              </a:rPr>
              <a:t>D</a:t>
            </a:r>
            <a:r>
              <a:rPr altLang="ar-EG" baseline="-30000" sz="2800" lang="en-US">
                <a:ea typeface="Times New Roman" pitchFamily="18" charset="0"/>
              </a:rPr>
              <a:t>8</a:t>
            </a:r>
            <a:r>
              <a:rPr altLang="ar-EG" sz="2800" lang="en-US">
                <a:ea typeface="Times New Roman" pitchFamily="18" charset="0"/>
              </a:rPr>
              <a:t>(p,q) = max (| x-s |, | y-r |)</a:t>
            </a:r>
          </a:p>
          <a:p>
            <a:pPr algn="r" indent="-457200" lvl="0" marL="457200" rtl="1">
              <a:buFontTx/>
              <a:buChar char="•"/>
            </a:pPr>
            <a:r>
              <a:rPr altLang="ar-EG" sz="2800" lang="ar-SA">
                <a:latin typeface="Simplified Arabic" pitchFamily="18" charset="-78"/>
                <a:ea typeface="Times New Roman" pitchFamily="18" charset="0"/>
              </a:rPr>
              <a:t>في هذه الحالة العناصر التى تبعد عن (</a:t>
            </a:r>
            <a:r>
              <a:rPr altLang="ar-EG" sz="2800" lang="en-US">
                <a:ea typeface="Times New Roman" pitchFamily="18" charset="0"/>
              </a:rPr>
              <a:t>x,y</a:t>
            </a:r>
            <a:r>
              <a:rPr altLang="ar-EG" sz="2800" lang="ar-SA">
                <a:latin typeface="Simplified Arabic" pitchFamily="18" charset="-78"/>
                <a:ea typeface="Times New Roman" pitchFamily="18" charset="0"/>
              </a:rPr>
              <a:t>) مسافة ثمانية أو أقل تساوي قيمة محددة </a:t>
            </a:r>
            <a:r>
              <a:rPr altLang="ar-EG" sz="2800" lang="en-US">
                <a:ea typeface="Times New Roman" pitchFamily="18" charset="0"/>
              </a:rPr>
              <a:t>r</a:t>
            </a:r>
            <a:r>
              <a:rPr altLang="ar-EG" sz="2800" lang="ar-SA">
                <a:latin typeface="Simplified Arabic" pitchFamily="18" charset="-78"/>
                <a:ea typeface="Times New Roman" pitchFamily="18" charset="0"/>
              </a:rPr>
              <a:t> تشكل </a:t>
            </a:r>
            <a:r>
              <a:rPr altLang="ar-EG" sz="2800" lang="ar-SA">
                <a:solidFill>
                  <a:srgbClr val="FF0000"/>
                </a:solidFill>
                <a:latin typeface="Simplified Arabic" pitchFamily="18" charset="-78"/>
                <a:ea typeface="Times New Roman" pitchFamily="18" charset="0"/>
              </a:rPr>
              <a:t>مربعا</a:t>
            </a:r>
            <a:r>
              <a:rPr altLang="ar-EG" sz="2800" lang="ar-SA">
                <a:latin typeface="Simplified Arabic" pitchFamily="18" charset="-78"/>
                <a:ea typeface="Times New Roman" pitchFamily="18" charset="0"/>
              </a:rPr>
              <a:t> مركزه في (</a:t>
            </a:r>
            <a:r>
              <a:rPr altLang="ar-EG" sz="2800" lang="en-US">
                <a:ea typeface="Times New Roman" pitchFamily="18" charset="0"/>
              </a:rPr>
              <a:t>x,y</a:t>
            </a:r>
            <a:r>
              <a:rPr altLang="ar-EG" sz="2800" lang="ar-SA">
                <a:latin typeface="Simplified Arabic" pitchFamily="18" charset="-78"/>
                <a:ea typeface="Times New Roman" pitchFamily="18" charset="0"/>
              </a:rPr>
              <a:t>).</a:t>
            </a:r>
          </a:p>
        </p:txBody>
      </p:sp>
      <p:pic>
        <p:nvPicPr>
          <p:cNvPr id="2097155" name="Picture 2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3563937" y="2205037"/>
            <a:ext cx="2503487" cy="184785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2" name="Title 1"/>
          <p:cNvSpPr/>
          <p:nvPr>
            <p:ph type="title" sz="full" idx="0"/>
          </p:nvPr>
        </p:nvSpPr>
        <p:spPr>
          <a:xfrm rot="0">
            <a:off x="-214312" y="69850"/>
            <a:ext cx="9501188" cy="8382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</a:lstStyle>
          <a:p>
            <a:pPr eaLnBrk="1" hangingPunct="1" lvl="0"/>
            <a:r>
              <a:rPr altLang="ar-EG" b="1" sz="3600" lang="ar-SA">
                <a:solidFill>
                  <a:schemeClr val="dk1"/>
                </a:solidFill>
                <a:latin typeface="Simplified Arabic" pitchFamily="18" charset="-78"/>
                <a:ea typeface="Times New Roman" pitchFamily="18" charset="0"/>
              </a:rPr>
              <a:t>مثال</a:t>
            </a:r>
            <a:r>
              <a:rPr altLang="ar-EG" b="1" sz="3600" lang="ar-SA">
                <a:solidFill>
                  <a:schemeClr val="dk1"/>
                </a:solidFill>
                <a:ea typeface="Times New Roman" pitchFamily="18" charset="0"/>
              </a:rPr>
              <a:t> </a:t>
            </a:r>
            <a:r>
              <a:rPr altLang="ar-EG" b="1" sz="3600" lang="ar-SA">
                <a:solidFill>
                  <a:schemeClr val="dk1"/>
                </a:solidFill>
                <a:latin typeface="Simplified Arabic" pitchFamily="18" charset="-78"/>
                <a:ea typeface="Times New Roman" pitchFamily="18" charset="0"/>
              </a:rPr>
              <a:t>(2)</a:t>
            </a:r>
          </a:p>
        </p:txBody>
      </p:sp>
      <p:sp>
        <p:nvSpPr>
          <p:cNvPr id="1048633" name="Content Placeholder 2"/>
          <p:cNvSpPr/>
          <p:nvPr>
            <p:ph sz="full" idx="1"/>
          </p:nvPr>
        </p:nvSpPr>
        <p:spPr>
          <a:xfrm rot="0">
            <a:off x="107950" y="908050"/>
            <a:ext cx="8928100" cy="56896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just" eaLnBrk="1" hangingPunct="1" lvl="0" rtl="1"/>
            <a:r>
              <a:rPr altLang="en-US" lang="ar-SA"/>
              <a:t>العناصر التى تبعد عن (</a:t>
            </a:r>
            <a:r>
              <a:rPr altLang="en-US" lang="en-US"/>
              <a:t>x,y</a:t>
            </a:r>
            <a:r>
              <a:rPr altLang="en-US" lang="ar-SA"/>
              <a:t>)  (نقطة المركز) مسافة ثمانية أقل أو تساوى 2 تشكل كفافات المسافة الثابتة التالية</a:t>
            </a:r>
            <a:r>
              <a:rPr altLang="en-US" lang="ar-SA"/>
              <a:t>:</a:t>
            </a:r>
          </a:p>
          <a:p>
            <a:pPr algn="just" eaLnBrk="1" hangingPunct="1" lvl="0" rtl="1"/>
            <a:endParaRPr altLang="en-US" lang="ar-SA"/>
          </a:p>
          <a:p>
            <a:pPr algn="just" eaLnBrk="1" hangingPunct="1" lvl="0" rtl="1"/>
            <a:endParaRPr altLang="en-US" lang="ar-SA"/>
          </a:p>
          <a:p>
            <a:pPr algn="just" eaLnBrk="1" hangingPunct="1" lvl="0" rtl="1">
              <a:buFontTx/>
              <a:buNone/>
            </a:pPr>
            <a:endParaRPr altLang="en-US" lang="ar-SA"/>
          </a:p>
          <a:p>
            <a:pPr algn="r" lvl="0" rtl="1"/>
            <a:r>
              <a:rPr altLang="en-US" sz="2800" lang="ar-SA"/>
              <a:t>يلاحظ أن العناصر التى تبعد مسافة 1 هي الجيران الثمانية لـ(</a:t>
            </a:r>
            <a:r>
              <a:rPr altLang="en-US" sz="2800" lang="en-US"/>
              <a:t>x,y</a:t>
            </a:r>
            <a:r>
              <a:rPr altLang="en-US" sz="2800" lang="ar-SA"/>
              <a:t>).</a:t>
            </a:r>
          </a:p>
          <a:p>
            <a:pPr algn="just" lvl="0" rtl="1"/>
            <a:r>
              <a:rPr altLang="en-US" sz="2800" lang="ar-SA"/>
              <a:t>من المهم أن نلاحظ أن المسافة الرباعية بين النقطتين </a:t>
            </a:r>
            <a:r>
              <a:rPr altLang="en-US" sz="2800" lang="en-US"/>
              <a:t>p,q</a:t>
            </a:r>
            <a:r>
              <a:rPr altLang="en-US" sz="2800" lang="ar-SA"/>
              <a:t> تساوى طول اقصر ممر رباعي </a:t>
            </a:r>
            <a:r>
              <a:rPr altLang="en-US" sz="2800" lang="en-US"/>
              <a:t>shortest 4- path</a:t>
            </a:r>
            <a:r>
              <a:rPr altLang="en-US" sz="2800" lang="ar-SA"/>
              <a:t> بين هاتين النقطتين.</a:t>
            </a:r>
          </a:p>
          <a:p>
            <a:pPr algn="just" lvl="0" rtl="1"/>
            <a:r>
              <a:rPr altLang="en-US" sz="2800" lang="ar-SA"/>
              <a:t>كما يمكن أن ناخذ بعين الاعتبار كلتا المسافتين الرباعية و الثمانية بين النقطتين </a:t>
            </a:r>
            <a:r>
              <a:rPr altLang="en-US" sz="2800" lang="en-US"/>
              <a:t>q,p </a:t>
            </a:r>
            <a:r>
              <a:rPr altLang="en-US" sz="2800" lang="ar-SA"/>
              <a:t> بغض النظر عما اذا كان هناك ممر موصل بينها لان تعريف هاتين المسافتين يتضمن إحداثياتها فقط.</a:t>
            </a:r>
          </a:p>
          <a:p>
            <a:pPr algn="just" eaLnBrk="1" hangingPunct="1" lvl="0" rtl="1"/>
            <a:endParaRPr altLang="en-US" lang="ar-SA"/>
          </a:p>
          <a:p>
            <a:pPr algn="just" eaLnBrk="1" hangingPunct="1" lvl="0" rtl="1"/>
            <a:endParaRPr altLang="ar-EG" lang="en-US"/>
          </a:p>
        </p:txBody>
      </p:sp>
      <p:pic>
        <p:nvPicPr>
          <p:cNvPr id="2097156" name="Picture 4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3635375" y="1933575"/>
            <a:ext cx="2089150" cy="173355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4" name="Title 1"/>
          <p:cNvSpPr/>
          <p:nvPr>
            <p:ph type="title" sz="full" idx="0"/>
          </p:nvPr>
        </p:nvSpPr>
        <p:spPr>
          <a:xfrm rot="0">
            <a:off x="457200" y="274637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</a:lstStyle>
          <a:p>
            <a:endParaRPr altLang="ar-EG" lang="en-US"/>
          </a:p>
        </p:txBody>
      </p:sp>
      <p:sp>
        <p:nvSpPr>
          <p:cNvPr id="1048635" name="Content Placeholder 2"/>
          <p:cNvSpPr/>
          <p:nvPr>
            <p:ph sz="full" idx="1"/>
          </p:nvPr>
        </p:nvSpPr>
        <p:spPr>
          <a:xfrm rot="0">
            <a:off x="457200" y="1600200"/>
            <a:ext cx="8229600" cy="4525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34" charset="0"/>
                <a:ea typeface="Arial" pitchFamily="34" charset="0"/>
                <a:sym typeface="Arial" pitchFamily="34" charset="0"/>
              </a:defRPr>
            </a:lvl5pPr>
          </a:lstStyle>
          <a:p>
            <a:pPr algn="ctr" lvl="0">
              <a:buFontTx/>
              <a:buNone/>
            </a:pPr>
            <a:endParaRPr altLang="en-US" b="1" lang="en-US"/>
          </a:p>
          <a:p>
            <a:pPr algn="ctr" lvl="0"/>
            <a:endParaRPr altLang="en-US" b="1" lang="en-US"/>
          </a:p>
          <a:p>
            <a:pPr algn="ctr" lvl="0">
              <a:buFontTx/>
              <a:buNone/>
            </a:pPr>
            <a:r>
              <a:rPr altLang="en-US" b="1" sz="7200" lang="en-US"/>
              <a:t>Question?</a:t>
            </a:r>
          </a:p>
        </p:txBody>
      </p:sp>
    </p:spTree>
  </p:cSld>
  <p:clrMapOvr>
    <a:masterClrMapping/>
  </p:clrMapOvr>
  <p:timing/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808080"/>
      </a:dk2>
      <a:lt2>
        <a:srgbClr val="00000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</a:extraClrScheme>
    <a:extraClrScheme>
      <a:clrScheme name="Default Color Scheme 2">
        <a:dk1>
          <a:srgbClr val="000000"/>
        </a:dk1>
        <a:lt1>
          <a:srgbClr val="FFFFFF"/>
        </a:lt1>
        <a:dk2>
          <a:srgbClr val="969696"/>
        </a:dk2>
        <a:lt2>
          <a:srgbClr val="000000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</a:extraClrScheme>
    <a:extraClrScheme>
      <a:clrScheme name="Default Color Scheme 3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</a:extraClrScheme>
    <a:extraClrScheme>
      <a:clrScheme name="Default Color Scheme 4">
        <a:dk1>
          <a:srgbClr val="000000"/>
        </a:dk1>
        <a:lt1>
          <a:srgbClr val="DEF6F1"/>
        </a:lt1>
        <a:dk2>
          <a:srgbClr val="969696"/>
        </a:dk2>
        <a:lt2>
          <a:srgbClr val="000000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</a:extraClrScheme>
    <a:extraClrScheme>
      <a:clrScheme name="Default Color Scheme 5">
        <a:dk1>
          <a:srgbClr val="000000"/>
        </a:dk1>
        <a:lt1>
          <a:srgbClr val="FFFFD9"/>
        </a:lt1>
        <a:dk2>
          <a:srgbClr val="777777"/>
        </a:dk2>
        <a:lt2>
          <a:srgbClr val="000000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</a:extraClrScheme>
    <a:extraClrScheme>
      <a:clrScheme name="Default Color Scheme 6">
        <a:dk1>
          <a:srgbClr val="FFFFFF"/>
        </a:dk1>
        <a:lt1>
          <a:srgbClr val="008080"/>
        </a:lt1>
        <a:dk2>
          <a:srgbClr val="005A58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</a:extraClrScheme>
    <a:extraClrScheme>
      <a:clrScheme name="Default Color Scheme 7">
        <a:dk1>
          <a:srgbClr val="FFFFFF"/>
        </a:dk1>
        <a:lt1>
          <a:srgbClr val="800000"/>
        </a:lt1>
        <a:dk2>
          <a:srgbClr val="5C1F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</a:extraClrScheme>
    <a:extraClrScheme>
      <a:clrScheme name="Default Color Scheme 8">
        <a:dk1>
          <a:srgbClr val="FFFFFF"/>
        </a:dk1>
        <a:lt1>
          <a:srgbClr val="000099"/>
        </a:lt1>
        <a:dk2>
          <a:srgbClr val="003366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</a:extraClrScheme>
    <a:extraClrScheme>
      <a:clrScheme name="Default Color Scheme 9">
        <a:dk1>
          <a:srgbClr val="FFFFFF"/>
        </a:dk1>
        <a:lt1>
          <a:srgbClr val="000000"/>
        </a:lt1>
        <a:dk2>
          <a:srgbClr val="336699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</a:extraClrScheme>
    <a:extraClrScheme>
      <a:clrScheme name="Default Color Scheme 10">
        <a:dk1>
          <a:srgbClr val="FFFFFF"/>
        </a:dk1>
        <a:lt1>
          <a:srgbClr val="686B5D"/>
        </a:lt1>
        <a:dk2>
          <a:srgbClr val="777777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</a:extraClrScheme>
    <a:extraClrScheme>
      <a:clrScheme name="Default Color Scheme 11">
        <a:dk1>
          <a:srgbClr val="FFFFFF"/>
        </a:dk1>
        <a:lt1>
          <a:srgbClr val="666699"/>
        </a:lt1>
        <a:dk2>
          <a:srgbClr val="3E3E5C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</a:extraClrScheme>
    <a:extraClrScheme>
      <a:clrScheme name="Default Color Scheme 12">
        <a:dk1>
          <a:srgbClr val="FFFFFF"/>
        </a:dk1>
        <a:lt1>
          <a:srgbClr val="523E26"/>
        </a:lt1>
        <a:dk2>
          <a:srgbClr val="2D2015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Diapositiva 1</dc:title>
  <dc:creator>Mariajose</dc:creator>
  <cp:lastModifiedBy>Helwa</cp:lastModifiedBy>
  <dcterms:created xsi:type="dcterms:W3CDTF">2010-05-23T11:28:12Z</dcterms:created>
  <dcterms:modified xsi:type="dcterms:W3CDTF">2026-09-24T04:16:16Z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03a06f2e9b8641b6a897f18434611341_23</vt:lpwstr>
  </property>
</Properties>
</file>