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handoutMasters/handoutMaster1.xml" ContentType="application/vnd.openxmlformats-officedocument.presentationml.handoutMaster+xml"/>
  <Override PartName="/ppt/theme/theme3.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Slides/notesSlide2.xml" ContentType="application/vnd.openxmlformats-officedocument.presentationml.notes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theme/theme4.xml" ContentType="application/vnd.openxmlformats-officedocument.theme+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firstSlideNum="1" rtl="1" saveSubsetFonts="0" serverZoom="0" showSpecialPlsOnTitleSld="0">
  <p:sldMasterIdLst>
    <p:sldMasterId id="2147483648" r:id="rId1"/>
  </p:sldMasterIdLst>
  <p:notesMasterIdLst>
    <p:notesMasterId r:id="rId2"/>
  </p:notesMasterIdLst>
  <p:handoutMasterIdLst>
    <p:handoutMasterId r:id="rId3"/>
  </p:handoutMasterIdLst>
  <p:sldIdLst>
    <p:sldId id="256" r:id="rId4"/>
    <p:sldId id="257" r:id="rId5"/>
    <p:sldId id="258" r:id="rId6"/>
    <p:sldId id="259" r:id="rId7"/>
    <p:sldId id="260" r:id="rId8"/>
    <p:sldId id="261" r:id="rId9"/>
    <p:sldId id="262" r:id="rId10"/>
    <p:sldId id="263" r:id="rId11"/>
    <p:sldId id="264" r:id="rId12"/>
    <p:sldId id="265"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Lst>
  <p:sldSz type="screen4x3" cy="6858000" cx="9144000"/>
  <p:notesSz cx="6858000" cy="9144000"/>
  <p:defaultTex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View">
  <p:normalViewPr showOutlineIcons="1" snapVertSplitter="0" vertBarState="restored" horzBarState="maximized" preferSingleView="0">
    <p:restoredLeft sz="84380"/>
    <p:restoredTop sz="94660"/>
  </p:normalViewPr>
  <p:slideViewPr>
    <p:cSldViewPr showGuides="0" snapToGrid="1" snapToObjects="0">
      <p:cViewPr varScale="1">
        <p:scale>
          <a:sx n="86" d="100"/>
          <a:sy n="86" d="100"/>
        </p:scale>
        <p:origin x="-894" y="-78"/>
      </p:cViewPr>
      <p:guideLst>
        <p:guide orient="horz" pos="2160"/>
        <p:guide orient="vert" pos="2880"/>
      </p:guideLst>
    </p:cSldViewPr>
  </p:slideViewPr>
  <p:gridSpacing cx="0" cy="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tableStyles" Target="tableStyles.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white">
      <p:bgPr>
        <a:solidFill>
          <a:schemeClr val="lt1"/>
        </a:solidFill>
      </p:bgPr>
    </p:bg>
    <p:spTree>
      <p:nvGrpSpPr>
        <p:cNvPr id="117" name=""/>
        <p:cNvGrpSpPr/>
        <p:nvPr/>
      </p:nvGrpSpPr>
      <p:grpSpPr>
        <a:xfrm rot="0">
          <a:off x="0" y="0"/>
          <a:ext cx="0" cy="0"/>
          <a:chOff x="0" y="0"/>
          <a:chExt cx="0" cy="0"/>
        </a:xfrm>
      </p:grpSpPr>
      <p:sp>
        <p:nvSpPr>
          <p:cNvPr id="1048889" name="Header Placeholder 1"/>
          <p:cNvSpPr/>
          <p:nvPr>
            <p:ph type="hdr" sz="quarter" idx="0"/>
          </p:nvPr>
        </p:nvSpPr>
        <p:spPr>
          <a:xfrm rot="0">
            <a:off x="3886200" y="0"/>
            <a:ext cx="2971800" cy="457200"/>
          </a:xfrm>
          <a:prstGeom prst="rect"/>
          <a:noFill/>
          <a:ln>
            <a:noFill/>
          </a:ln>
        </p:spPr>
        <p:txBody>
          <a:bodyPr anchor="t" bIns="45720" lIns="91440" rIns="91440" tIns="45720" vert="horz"/>
          <a:p>
            <a:pPr eaLnBrk="1" hangingPunct="1" lvl="0"/>
            <a:endParaRPr altLang="en-US" sz="1200" lang="ar-SA"/>
          </a:p>
        </p:txBody>
      </p:sp>
      <p:sp>
        <p:nvSpPr>
          <p:cNvPr id="1048890" name="Date Placeholder 2"/>
          <p:cNvSpPr/>
          <p:nvPr>
            <p:ph type="dt" sz="quarter" idx="1"/>
          </p:nvPr>
        </p:nvSpPr>
        <p:spPr>
          <a:xfrm rot="0">
            <a:off x="1587" y="0"/>
            <a:ext cx="2971800" cy="457200"/>
          </a:xfrm>
          <a:prstGeom prst="rect"/>
          <a:noFill/>
          <a:ln>
            <a:noFill/>
          </a:ln>
        </p:spPr>
        <p:txBody>
          <a:bodyPr anchor="t" bIns="45720" lIns="91440" rIns="91440" tIns="45720" vert="horz"/>
          <a:p>
            <a:pPr algn="l" eaLnBrk="1" hangingPunct="1" lvl="0"/>
            <a:fld id="{566ABCEB-ACFC-4714-9973-3DA970169C29}" type="datetime1">
              <a:rPr altLang="en-US" sz="1200" lang="ar-SA"/>
              <a:pPr algn="l" eaLnBrk="1" hangingPunct="1" lvl="0"/>
            </a:fld>
            <a:endParaRPr altLang="en-US" sz="1200" lang="ar-SA"/>
          </a:p>
        </p:txBody>
      </p:sp>
      <p:sp>
        <p:nvSpPr>
          <p:cNvPr id="1048891" name="Footer Placeholder 3"/>
          <p:cNvSpPr/>
          <p:nvPr>
            <p:ph type="ftr" sz="quarter" idx="2"/>
          </p:nvPr>
        </p:nvSpPr>
        <p:spPr>
          <a:xfrm rot="0">
            <a:off x="3886200" y="8685212"/>
            <a:ext cx="2971800" cy="457200"/>
          </a:xfrm>
          <a:prstGeom prst="rect"/>
          <a:noFill/>
          <a:ln>
            <a:noFill/>
          </a:ln>
        </p:spPr>
        <p:txBody>
          <a:bodyPr anchor="b" bIns="45720" lIns="91440" rIns="91440" tIns="45720" vert="horz"/>
          <a:p>
            <a:pPr eaLnBrk="1" hangingPunct="1" lvl="0"/>
            <a:endParaRPr altLang="en-US" sz="1200" lang="ar-SA"/>
          </a:p>
        </p:txBody>
      </p:sp>
      <p:sp>
        <p:nvSpPr>
          <p:cNvPr id="1048892" name="Slide Number Placeholder 4"/>
          <p:cNvSpPr/>
          <p:nvPr>
            <p:ph type="sldNum" sz="quarter" idx="3"/>
          </p:nvPr>
        </p:nvSpPr>
        <p:spPr>
          <a:xfrm rot="0">
            <a:off x="1587" y="8685212"/>
            <a:ext cx="2971800" cy="457200"/>
          </a:xfrm>
          <a:prstGeom prst="rect"/>
          <a:noFill/>
          <a:ln>
            <a:noFill/>
          </a:ln>
        </p:spPr>
        <p:txBody>
          <a:bodyPr anchor="b" bIns="45720" lIns="91440" rIns="91440" tIns="45720" vert="horz"/>
          <a:p>
            <a:pPr algn="l" eaLnBrk="1" hangingPunct="1" lvl="0"/>
            <a:fld id="{566ABCEB-ACFC-4714-9973-3DA970169C29}" type="slidenum">
              <a:rPr altLang="en-US" sz="1200" lang="ar-SA"/>
              <a:pPr algn="l" eaLnBrk="1" hangingPunct="1" lvl="0"/>
            </a:fld>
            <a:endParaRPr altLang="en-US" sz="1200" lang="ar-SA"/>
          </a:p>
        </p:txBody>
      </p:sp>
    </p:spTree>
  </p:cSld>
  <p:clrMap accent1="dk1" accent2="dk1" accent3="dk1" accent4="dk1" accent5="dk1" accent6="dk1" bg1="dk1" bg2="dk1" tx1="dk1" tx2="dk1" hlink="dk1" folHlink="dk1"/>
</p:handoutMaster>
</file>

<file path=ppt/ink/ink2.xml><?xml version="1.0" encoding="utf-8"?>
<ink xmlns="http://www.w3.org/2003/InkML">
  <definitions>
    <brush xml:id="mybrush0">
      <brushProperty name="shape" value="round"/>
      <brushProperty name="color" value="#ff0000"/>
      <brushProperty name="transparency" value="0"/>
      <brushProperty name="width" value="0.097" units="cm"/>
      <brushProperty name="fitToCurve" value="1"/>
      <brushProperty name="type" value="regular"/>
      <brushProperty name="height" value="0.097" units="cm"/>
    </brush>
    <context xml:id="mycontext">
      <inkSource xml:id="myinksource">
        <traceFormat>
          <channel name="X" max="1920" units="cm" defaultValue="0" type="decimal"/>
          <channel name="Y" max="1080" units="cm" defaultValue="0" type="decimal"/>
        </traceFormat>
        <channelProperties>
          <channelProperty channel="X" name="resolution" value="28.36041" units="1/cm"/>
          <channelProperty channel="Y" name="resolution" value="28.34646" units="1/cm"/>
        </channelProperties>
      </inkSource>
    </context>
  </definitions>
  <trace timeOffset="0.0" brushRef="#mybrush0" contextRef="#mycontext"> 6215.062 12977.812</trace>
</ink>
</file>

<file path=ppt/ink/ink3.xml><?xml version="1.0" encoding="utf-8"?>
<ink xmlns="http://www.w3.org/2003/InkML">
  <definitions>
    <brush xml:id="mybrush0">
      <brushProperty name="shape" value="round"/>
      <brushProperty name="color" value="#ff0000"/>
      <brushProperty name="transparency" value="0"/>
      <brushProperty name="width" value="0.097" units="cm"/>
      <brushProperty name="fitToCurve" value="1"/>
      <brushProperty name="type" value="regular"/>
      <brushProperty name="height" value="0.097" units="cm"/>
    </brush>
    <context xml:id="mycontext">
      <inkSource xml:id="myinksource">
        <traceFormat>
          <channel name="X" max="1920" units="cm" defaultValue="0" type="decimal"/>
          <channel name="Y" max="1080" units="cm" defaultValue="0" type="decimal"/>
        </traceFormat>
        <channelProperties>
          <channelProperty channel="X" name="resolution" value="28.36041" units="1/cm"/>
          <channelProperty channel="Y" name="resolution" value="28.34646" units="1/cm"/>
        </channelProperties>
      </inkSource>
    </context>
  </definitions>
  <trace timeOffset="0.0" brushRef="#mybrush0" contextRef="#mycontext"> 4619.625 15430.499</trace>
</ink>
</file>

<file path=ppt/ink/ink4.xml><?xml version="1.0" encoding="utf-8"?>
<ink xmlns="http://www.w3.org/2003/InkML">
  <definitions>
    <brush xml:id="mybrush0">
      <brushProperty name="shape" value="round"/>
      <brushProperty name="color" value="#ff0000"/>
      <brushProperty name="transparency" value="0"/>
      <brushProperty name="width" value="0.053" units="cm"/>
      <brushProperty name="fitToCurve" value="1"/>
      <brushProperty name="type" value="regular"/>
      <brushProperty name="height" value="0.053" units="cm"/>
    </brush>
    <context xml:id="mycontext">
      <inkSource xml:id="myinksource">
        <traceFormat>
          <channel name="X" max="1920" units="cm" defaultValue="0" type="decimal"/>
          <channel name="Y" max="1080" units="cm" defaultValue="0" type="decimal"/>
        </traceFormat>
        <channelProperties>
          <channelProperty channel="X" name="resolution" value="28.36041" units="1/cm"/>
          <channelProperty channel="Y" name="resolution" value="28.34646" units="1/cm"/>
        </channelProperties>
      </inkSource>
    </context>
  </definitions>
  <trace timeOffset="0.0" brushRef="#mybrush0" contextRef="#mycontext"> 6477 17954.623</trace>
</ink>
</file>

<file path=ppt/ink/ink5.xml><?xml version="1.0" encoding="utf-8"?>
<ink xmlns="http://www.w3.org/2003/InkML">
  <definitions>
    <brush xml:id="mybrush0">
      <brushProperty name="shape" value="round"/>
      <brushProperty name="color" value="#ff0000"/>
      <brushProperty name="transparency" value="0"/>
      <brushProperty name="width" value="0.097" units="cm"/>
      <brushProperty name="fitToCurve" value="1"/>
      <brushProperty name="type" value="regular"/>
      <brushProperty name="height" value="0.097" units="cm"/>
    </brush>
    <context xml:id="mycontext">
      <inkSource xml:id="myinksource">
        <traceFormat>
          <channel name="X" max="1920" units="cm" defaultValue="0" type="decimal"/>
          <channel name="Y" max="1080" units="cm" defaultValue="0" type="decimal"/>
        </traceFormat>
        <channelProperties>
          <channelProperty channel="X" name="resolution" value="28.36041" units="1/cm"/>
          <channelProperty channel="Y" name="resolution" value="28.34646" units="1/cm"/>
        </channelProperties>
      </inkSource>
    </context>
  </definitions>
  <trace timeOffset="0.0" brushRef="#mybrush0" contextRef="#mycontext"> 10120.312 10358.437</trace>
</ink>
</file>

<file path=ppt/ink/ink6.xml><?xml version="1.0" encoding="utf-8"?>
<ink xmlns="http://www.w3.org/2003/InkML">
  <definitions>
    <brush xml:id="mybrush0">
      <brushProperty name="shape" value="round"/>
      <brushProperty name="color" value="#ff0000"/>
      <brushProperty name="transparency" value="0"/>
      <brushProperty name="width" value="0.097" units="cm"/>
      <brushProperty name="fitToCurve" value="1"/>
      <brushProperty name="type" value="regular"/>
      <brushProperty name="height" value="0.097" units="cm"/>
    </brush>
    <context xml:id="mycontext">
      <inkSource xml:id="myinksource">
        <traceFormat>
          <channel name="X" max="1920" units="cm" defaultValue="0" type="decimal"/>
          <channel name="Y" max="1080" units="cm" defaultValue="0" type="decimal"/>
        </traceFormat>
        <channelProperties>
          <channelProperty channel="X" name="resolution" value="28.36041" units="1/cm"/>
          <channelProperty channel="Y" name="resolution" value="28.34646" units="1/cm"/>
        </channelProperties>
      </inkSource>
    </context>
  </definitions>
  <trace timeOffset="0.0" brushRef="#mybrush0" contextRef="#mycontext"> 12311.062 7739.062</trace>
</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15" name=""/>
        <p:cNvGrpSpPr/>
        <p:nvPr/>
      </p:nvGrpSpPr>
      <p:grpSpPr>
        <a:xfrm rot="0">
          <a:off x="0" y="0"/>
          <a:ext cx="0" cy="0"/>
          <a:chOff x="0" y="0"/>
          <a:chExt cx="0" cy="0"/>
        </a:xfrm>
      </p:grpSpPr>
      <p:sp>
        <p:nvSpPr>
          <p:cNvPr id="1048883" name="Rectangle 2"/>
          <p:cNvSpPr/>
          <p:nvPr>
            <p:ph type="hdr" sz="quarter" idx="0"/>
          </p:nvPr>
        </p:nvSpPr>
        <p:spPr>
          <a:xfrm rot="0">
            <a:off x="3886200" y="0"/>
            <a:ext cx="2971800" cy="457200"/>
          </a:xfrm>
          <a:prstGeom prst="rect"/>
          <a:noFill/>
          <a:ln>
            <a:noFill/>
          </a:ln>
        </p:spPr>
        <p:txBody>
          <a:bodyPr anchor="t" bIns="45720" lIns="91440" rIns="91440" tIns="45720" vert="horz"/>
          <a:p>
            <a:pPr eaLnBrk="1" hangingPunct="1" lvl="0"/>
            <a:endParaRPr altLang="en-US" sz="1200" lang="en-US"/>
          </a:p>
        </p:txBody>
      </p:sp>
      <p:sp>
        <p:nvSpPr>
          <p:cNvPr id="1048884" name="Rectangle 3"/>
          <p:cNvSpPr/>
          <p:nvPr>
            <p:ph type="dt" sz="full" idx="1"/>
          </p:nvPr>
        </p:nvSpPr>
        <p:spPr>
          <a:xfrm rot="0">
            <a:off x="1587" y="0"/>
            <a:ext cx="2971800" cy="457200"/>
          </a:xfrm>
          <a:prstGeom prst="rect"/>
          <a:noFill/>
          <a:ln>
            <a:noFill/>
          </a:ln>
        </p:spPr>
        <p:txBody>
          <a:bodyPr anchor="t" bIns="45720" lIns="91440" rIns="91440" tIns="45720" vert="horz"/>
          <a:p>
            <a:pPr algn="l" eaLnBrk="1" hangingPunct="1" lvl="0"/>
            <a:endParaRPr altLang="en-US" sz="1200" lang="en-US"/>
          </a:p>
        </p:txBody>
      </p:sp>
      <p:sp>
        <p:nvSpPr>
          <p:cNvPr id="1048885" name="Rectangle 4"/>
          <p:cNvSpPr/>
          <p:nvPr>
            <p:ph type="sldImg" sz="full" idx="2"/>
          </p:nvPr>
        </p:nvSpPr>
        <p:spPr>
          <a:xfrm rot="0">
            <a:off x="1143000" y="685800"/>
            <a:ext cx="4572000" cy="3429000"/>
          </a:xfrm>
          <a:prstGeom prst="rect"/>
          <a:noFill/>
          <a:ln w="9525" cap="flat" cmpd="sng">
            <a:solidFill>
              <a:srgbClr val="000000">
                <a:alpha val="100000"/>
              </a:srgbClr>
            </a:solidFill>
            <a:prstDash val="solid"/>
            <a:round/>
          </a:ln>
        </p:spPr>
        <p:txBody>
          <a:bodyPr anchor="ctr" bIns="45720" lIns="91440" rIns="91440" tIns="45720" vert="horz"/>
          <a:p/>
        </p:txBody>
      </p:sp>
      <p:sp>
        <p:nvSpPr>
          <p:cNvPr id="1048886" name="Rectangle 5"/>
          <p:cNvSpPr/>
          <p:nvPr>
            <p:ph type="body" sz="quarter" idx="3"/>
          </p:nvPr>
        </p:nvSpPr>
        <p:spPr>
          <a:xfrm rot="0">
            <a:off x="685800" y="4343400"/>
            <a:ext cx="5486400" cy="4114800"/>
          </a:xfrm>
          <a:prstGeom prst="rect"/>
          <a:noFill/>
          <a:ln>
            <a:noFill/>
          </a:ln>
        </p:spPr>
        <p:txBody>
          <a:bodyPr anchor="t" bIns="45720" lIns="91440" rIns="91440" tIns="45720" vert="horz"/>
          <a:p>
            <a:pPr lvl="0"/>
            <a:r>
              <a:rPr altLang="en-US" lang="ar-SA"/>
              <a:t>انقر لتحرير أنماط النص الرئيسي</a:t>
            </a:r>
          </a:p>
          <a:p>
            <a:pPr lvl="1"/>
            <a:r>
              <a:rPr altLang="en-US" lang="ar-SA"/>
              <a:t>المستوى الثاني</a:t>
            </a:r>
          </a:p>
          <a:p>
            <a:pPr lvl="2"/>
            <a:r>
              <a:rPr altLang="en-US" lang="ar-SA"/>
              <a:t>المستوى الثالث</a:t>
            </a:r>
          </a:p>
          <a:p>
            <a:pPr lvl="3"/>
            <a:r>
              <a:rPr altLang="en-US" lang="ar-SA"/>
              <a:t>المستوى الرابع</a:t>
            </a:r>
          </a:p>
          <a:p>
            <a:pPr lvl="4"/>
            <a:r>
              <a:rPr altLang="en-US" lang="ar-SA"/>
              <a:t>المستوى الخامس</a:t>
            </a:r>
          </a:p>
        </p:txBody>
      </p:sp>
      <p:sp>
        <p:nvSpPr>
          <p:cNvPr id="1048887" name="Rectangle 6"/>
          <p:cNvSpPr/>
          <p:nvPr>
            <p:ph type="ftr" sz="quarter" idx="4"/>
          </p:nvPr>
        </p:nvSpPr>
        <p:spPr>
          <a:xfrm rot="0">
            <a:off x="3886200" y="8685212"/>
            <a:ext cx="2971800" cy="457200"/>
          </a:xfrm>
          <a:prstGeom prst="rect"/>
          <a:noFill/>
          <a:ln>
            <a:noFill/>
          </a:ln>
        </p:spPr>
        <p:txBody>
          <a:bodyPr anchor="b" bIns="45720" lIns="91440" rIns="91440" tIns="45720" vert="horz"/>
          <a:p>
            <a:pPr eaLnBrk="1" hangingPunct="1" lvl="0"/>
            <a:endParaRPr altLang="en-US" sz="1200" lang="en-US"/>
          </a:p>
        </p:txBody>
      </p:sp>
      <p:sp>
        <p:nvSpPr>
          <p:cNvPr id="1048888" name="Rectangle 7"/>
          <p:cNvSpPr/>
          <p:nvPr>
            <p:ph type="sldNum" sz="quarter" idx="5"/>
          </p:nvPr>
        </p:nvSpPr>
        <p:spPr>
          <a:xfrm rot="0">
            <a:off x="1587" y="8685212"/>
            <a:ext cx="2971800" cy="457200"/>
          </a:xfrm>
          <a:prstGeom prst="rect"/>
          <a:noFill/>
          <a:ln>
            <a:noFill/>
          </a:ln>
        </p:spPr>
        <p:txBody>
          <a:bodyPr anchor="b" bIns="45720" lIns="91440" rIns="91440" tIns="45720" vert="horz"/>
          <a:p>
            <a:pPr algn="l" eaLnBrk="1" hangingPunct="1" lvl="0"/>
            <a:fld id="{566ABCEB-ACFC-4714-9973-3DA970169C29}" type="slidenum">
              <a:rPr altLang="en-US" sz="1200" lang="ar-SA"/>
              <a:pPr algn="l" eaLnBrk="1" hangingPunct="1" lvl="0"/>
            </a:fld>
            <a:endParaRPr altLang="en-US" sz="1200" lang="ar-SA"/>
          </a:p>
        </p:txBody>
      </p:sp>
    </p:spTree>
  </p:cSld>
  <p:clrMap accent1="dk1" accent2="dk1" accent3="dk1" accent4="dk1" accent5="dk1" accent6="dk1" bg1="dk1" bg2="dk1" tx1="dk1" tx2="dk1" hlink="dk1" folHlink="dk1"/>
  <p:notesStyle>
    <a:lvl1pPr algn="r" eaLnBrk="0" fontAlgn="base" hangingPunct="0" indent="0" latinLnBrk="0" marL="0" rtl="1">
      <a:lnSpc>
        <a:spcPct val="100000"/>
      </a:lnSpc>
      <a:spcBef>
        <a:spcPct val="30000"/>
      </a:spcBef>
      <a:spcAft>
        <a:spcPct val="0"/>
      </a:spcAft>
      <a:buFontTx/>
      <a:buNone/>
      <a:defRPr baseline="0" b="0" sz="12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30000"/>
      </a:spcBef>
      <a:spcAft>
        <a:spcPct val="0"/>
      </a:spcAft>
      <a:buFontTx/>
      <a:buNone/>
      <a:defRPr baseline="0" b="0" sz="12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30000"/>
      </a:spcBef>
      <a:spcAft>
        <a:spcPct val="0"/>
      </a:spcAft>
      <a:buFontTx/>
      <a:buNone/>
      <a:defRPr baseline="0" b="0" sz="12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30000"/>
      </a:spcBef>
      <a:spcAft>
        <a:spcPct val="0"/>
      </a:spcAft>
      <a:buFontTx/>
      <a:buNone/>
      <a:defRPr baseline="0" b="0" sz="12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30000"/>
      </a:spcBef>
      <a:spcAft>
        <a:spcPct val="0"/>
      </a:spcAft>
      <a:buFontTx/>
      <a:buNone/>
      <a:defRPr baseline="0" b="0" sz="1200" i="0" u="none">
        <a:solidFill>
          <a:schemeClr val="dk1"/>
        </a:solidFill>
        <a:latin typeface="Arial" pitchFamily="34" charset="0"/>
        <a:ea typeface="Arial" pitchFamily="34" charset="0"/>
        <a:sym typeface="Arial" pitchFamily="34" charset="0"/>
      </a:defRPr>
    </a:lvl5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6" name=""/>
        <p:cNvGrpSpPr/>
        <p:nvPr/>
      </p:nvGrpSpPr>
      <p:grpSpPr>
        <a:xfrm rot="0">
          <a:off x="0" y="0"/>
          <a:ext cx="0" cy="0"/>
          <a:chOff x="0" y="0"/>
          <a:chExt cx="0" cy="0"/>
        </a:xfrm>
      </p:grpSpPr>
      <p:sp>
        <p:nvSpPr>
          <p:cNvPr id="1048587" name="Slide Image Placeholder 1"/>
          <p:cNvSpPr/>
          <p:nvPr>
            <p:ph type="sldImg" sz="full" idx="0"/>
          </p:nvPr>
        </p:nvSpPr>
        <p:spPr>
          <a:xfrm rot="0">
            <a:off x="1143000" y="685800"/>
            <a:ext cx="4572000" cy="3429000"/>
          </a:xfrm>
          <a:prstGeom prst="rect"/>
        </p:spPr>
        <p:txBody>
          <a:bodyPr anchor="ctr" bIns="45720" lIns="91440" rIns="91440" tIns="45720" vert="horz"/>
          <a:p/>
        </p:txBody>
      </p:sp>
      <p:sp>
        <p:nvSpPr>
          <p:cNvPr id="1048588" name="Notes Placeholder 2"/>
          <p:cNvSpPr/>
          <p:nvPr>
            <p:ph type="body" sz="full" idx="1"/>
          </p:nvPr>
        </p:nvSpPr>
        <p:spPr>
          <a:xfrm rot="0">
            <a:off x="685800" y="4343400"/>
            <a:ext cx="5486400" cy="4114800"/>
          </a:xfrm>
          <a:prstGeom prst="rect"/>
          <a:noFill/>
        </p:spPr>
        <p:txBody>
          <a:bodyPr anchor="t" bIns="45720" lIns="91440" rIns="91440" tIns="45720" vert="horz"/>
          <a:p>
            <a:endParaRPr altLang="en-US" lang="ar-SA"/>
          </a:p>
        </p:txBody>
      </p:sp>
      <p:sp>
        <p:nvSpPr>
          <p:cNvPr id="1048589" name="Slide Number Placeholder 3"/>
          <p:cNvSpPr txBox="1"/>
          <p:nvPr/>
        </p:nvSpPr>
        <p:spPr>
          <a:xfrm rot="0">
            <a:off x="1587" y="8685212"/>
            <a:ext cx="2971800" cy="457200"/>
          </a:xfrm>
          <a:prstGeom prst="rect"/>
          <a:noFill/>
          <a:ln>
            <a:noFill/>
          </a:ln>
        </p:spPr>
        <p:txBody>
          <a:bodyPr anchor="b" bIns="45720" lIns="91440" rIns="91440" tIns="45720" vert="horz"/>
          <a:p>
            <a:pPr algn="l" eaLnBrk="1" hangingPunct="1" lvl="0"/>
            <a:fld id="{566ABCEB-ACFC-4714-9973-3DA970169C29}" type="slidenum">
              <a:rPr altLang="en-US" sz="1200" lang="ar-SA"/>
              <a:pPr algn="l" eaLnBrk="1" hangingPunct="1" lvl="0"/>
            </a:fld>
            <a:endParaRPr altLang="en-US" sz="1200" lang="ar-SA"/>
          </a:p>
        </p:txBody>
      </p:sp>
      <p:sp>
        <p:nvSpPr>
          <p:cNvPr id="1048590" name="Footer Placeholder 4"/>
          <p:cNvSpPr txBox="1"/>
          <p:nvPr/>
        </p:nvSpPr>
        <p:spPr>
          <a:xfrm rot="0">
            <a:off x="3886200" y="8685212"/>
            <a:ext cx="2971800" cy="457200"/>
          </a:xfrm>
          <a:prstGeom prst="rect"/>
          <a:noFill/>
          <a:ln>
            <a:noFill/>
          </a:ln>
        </p:spPr>
        <p:txBody>
          <a:bodyPr anchor="b" bIns="45720" lIns="91440" rIns="91440" tIns="45720" vert="horz"/>
          <a:p>
            <a:pPr eaLnBrk="1" hangingPunct="1" lvl="0"/>
            <a:endParaRPr altLang="en-US" sz="1200"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79" name=""/>
        <p:cNvGrpSpPr/>
        <p:nvPr/>
      </p:nvGrpSpPr>
      <p:grpSpPr>
        <a:xfrm rot="0">
          <a:off x="0" y="0"/>
          <a:ext cx="0" cy="0"/>
          <a:chOff x="0" y="0"/>
          <a:chExt cx="0" cy="0"/>
        </a:xfrm>
      </p:grpSpPr>
      <p:sp>
        <p:nvSpPr>
          <p:cNvPr id="1048740" name="Slide Image Placeholder 1"/>
          <p:cNvSpPr/>
          <p:nvPr>
            <p:ph type="sldImg" sz="full" idx="0"/>
          </p:nvPr>
        </p:nvSpPr>
        <p:spPr>
          <a:xfrm rot="0">
            <a:off x="1143000" y="685800"/>
            <a:ext cx="4572000" cy="3429000"/>
          </a:xfrm>
          <a:prstGeom prst="rect"/>
        </p:spPr>
        <p:txBody>
          <a:bodyPr anchor="ctr" bIns="45720" lIns="91440" rIns="91440" tIns="45720" vert="horz"/>
          <a:p/>
        </p:txBody>
      </p:sp>
      <p:sp>
        <p:nvSpPr>
          <p:cNvPr id="1048741" name="Notes Placeholder 2"/>
          <p:cNvSpPr/>
          <p:nvPr>
            <p:ph type="body" sz="full" idx="1"/>
          </p:nvPr>
        </p:nvSpPr>
        <p:spPr>
          <a:xfrm rot="0">
            <a:off x="685800" y="4343400"/>
            <a:ext cx="5486400" cy="4114800"/>
          </a:xfrm>
          <a:prstGeom prst="rect"/>
          <a:noFill/>
        </p:spPr>
        <p:txBody>
          <a:bodyPr anchor="t" bIns="45720" lIns="91440" rIns="91440" tIns="45720" vert="horz"/>
          <a:p>
            <a:endParaRPr altLang="en-US" lang="ar-SA"/>
          </a:p>
        </p:txBody>
      </p:sp>
      <p:sp>
        <p:nvSpPr>
          <p:cNvPr id="1048742" name="Slide Number Placeholder 3"/>
          <p:cNvSpPr txBox="1"/>
          <p:nvPr/>
        </p:nvSpPr>
        <p:spPr>
          <a:xfrm rot="0">
            <a:off x="1587" y="8685212"/>
            <a:ext cx="2971800" cy="457200"/>
          </a:xfrm>
          <a:prstGeom prst="rect"/>
          <a:noFill/>
          <a:ln>
            <a:noFill/>
          </a:ln>
        </p:spPr>
        <p:txBody>
          <a:bodyPr anchor="b" bIns="45720" lIns="91440" rIns="91440" tIns="45720" vert="horz"/>
          <a:p>
            <a:pPr algn="l" eaLnBrk="1" hangingPunct="1" lvl="0"/>
            <a:fld id="{566ABCEB-ACFC-4714-9973-3DA970169C29}" type="slidenum">
              <a:rPr altLang="en-US" sz="1200" lang="ar-SA"/>
              <a:pPr algn="l" eaLnBrk="1" hangingPunct="1" lvl="0"/>
            </a:fld>
            <a:endParaRPr altLang="en-US" sz="1200" lang="ar-SA"/>
          </a:p>
        </p:txBody>
      </p:sp>
      <p:sp>
        <p:nvSpPr>
          <p:cNvPr id="1048743" name="Footer Placeholder 4"/>
          <p:cNvSpPr txBox="1"/>
          <p:nvPr/>
        </p:nvSpPr>
        <p:spPr>
          <a:xfrm rot="0">
            <a:off x="3886200" y="8685212"/>
            <a:ext cx="2971800" cy="457200"/>
          </a:xfrm>
          <a:prstGeom prst="rect"/>
          <a:noFill/>
          <a:ln>
            <a:noFill/>
          </a:ln>
        </p:spPr>
        <p:txBody>
          <a:bodyPr anchor="b" bIns="45720" lIns="91440" rIns="91440" tIns="45720" vert="horz"/>
          <a:p>
            <a:pPr eaLnBrk="1" hangingPunct="1" lvl="0"/>
            <a:endParaRPr altLang="en-US" sz="1200"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4" name=""/>
        <p:cNvGrpSpPr/>
        <p:nvPr/>
      </p:nvGrpSpPr>
      <p:grpSpPr>
        <a:xfrm>
          <a:off x="0" y="0"/>
          <a:ext cx="0" cy="0"/>
          <a:chOff x="0" y="0"/>
          <a:chExt cx="0" cy="0"/>
        </a:xfrm>
      </p:grpSpPr>
      <p:sp>
        <p:nvSpPr>
          <p:cNvPr id="1048585" name="Title 1"/>
          <p:cNvSpPr>
            <a:spLocks noGrp="1"/>
          </p:cNvSpPr>
          <p:nvPr>
            <p:ph type="ctrTitle"/>
          </p:nvPr>
        </p:nvSpPr>
        <p:spPr>
          <a:xfrm>
            <a:off x="685800" y="2130425"/>
            <a:ext cx="7772400" cy="1470025"/>
          </a:xfrm>
        </p:spPr>
        <p:txBody>
          <a:bodyPr/>
          <a:p>
            <a:r>
              <a:rPr lang="en-US" smtClean="0"/>
              <a:t>Click to edit Master title style</a:t>
            </a:r>
            <a:endParaRPr lang="ar-SA"/>
          </a:p>
        </p:txBody>
      </p:sp>
      <p:sp>
        <p:nvSpPr>
          <p:cNvPr id="1048586" name="Subtitle 2"/>
          <p:cNvSpPr>
            <a:spLocks noGrp="1"/>
          </p:cNvSpPr>
          <p:nvPr>
            <p:ph type="subTitle" idx="1"/>
          </p:nvPr>
        </p:nvSpPr>
        <p:spPr>
          <a:xfrm>
            <a:off x="1371600" y="3886200"/>
            <a:ext cx="6400800" cy="1752600"/>
          </a:xfrm>
        </p:spPr>
        <p:txBody>
          <a:bodyPr/>
          <a:lstStyle>
            <a:lvl1pPr algn="ctr" indent="0" marL="0">
              <a:buNone/>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lang="en-US" smtClean="0"/>
              <a:t>Click to edit Master subtitle style</a:t>
            </a:r>
            <a:endParaRPr lang="ar-SA"/>
          </a:p>
        </p:txBody>
      </p:sp>
      <p:sp>
        <p:nvSpPr>
          <p:cNvPr id="1048579" name="Rectangle 5"/>
          <p:cNvSpPr/>
          <p:nvPr>
            <p:ph type="ftr" sz="quarter" idx="3"/>
          </p:nvPr>
        </p:nvSpPr>
        <p:spPr>
          <a:xfrm rot="0">
            <a:off x="468312" y="6337300"/>
            <a:ext cx="8207375" cy="476250"/>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b="1" lang="zh-CN">
                <a:effectLst>
                  <a:outerShdw algn="tl" blurRad="38100" dir="2700000" dist="38100">
                    <a:srgbClr val="C0C0C0"/>
                  </a:outerShdw>
                </a:effectLst>
                <a:ea typeface="Simplified Arabic" pitchFamily="18" charset="-78"/>
              </a:rPr>
              <a:t>الوسائط المتعددة وإدارتها       --------------      م. وجدي الأحمد</a:t>
            </a:r>
          </a:p>
        </p:txBody>
      </p:sp>
    </p:spTree>
  </p:cSld>
  <p:clrMapOvr>
    <a:masterClrMapping/>
  </p:clrMapOvr>
  <p:transition advClick="0">
    <p:wheel spokes="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61" name=""/>
        <p:cNvGrpSpPr/>
        <p:nvPr/>
      </p:nvGrpSpPr>
      <p:grpSpPr>
        <a:xfrm>
          <a:off x="0" y="0"/>
          <a:ext cx="0" cy="0"/>
          <a:chOff x="0" y="0"/>
          <a:chExt cx="0" cy="0"/>
        </a:xfrm>
      </p:grpSpPr>
      <p:sp>
        <p:nvSpPr>
          <p:cNvPr id="1048615" name="Title 1"/>
          <p:cNvSpPr>
            <a:spLocks noGrp="1"/>
          </p:cNvSpPr>
          <p:nvPr>
            <p:ph type="title"/>
          </p:nvPr>
        </p:nvSpPr>
        <p:spPr/>
        <p:txBody>
          <a:bodyPr/>
          <a:p>
            <a:r>
              <a:rPr lang="en-US" smtClean="0"/>
              <a:t>Click to edit Master title style</a:t>
            </a:r>
            <a:endParaRPr lang="ar-SA"/>
          </a:p>
        </p:txBody>
      </p:sp>
      <p:sp>
        <p:nvSpPr>
          <p:cNvPr id="1048616"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1048579" name="Rectangle 5"/>
          <p:cNvSpPr/>
          <p:nvPr>
            <p:ph type="ftr" sz="quarter" idx="3"/>
          </p:nvPr>
        </p:nvSpPr>
        <p:spPr>
          <a:xfrm rot="0">
            <a:off x="468312" y="6337300"/>
            <a:ext cx="8207375" cy="476250"/>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b="1" lang="zh-CN">
                <a:effectLst>
                  <a:outerShdw algn="tl" blurRad="38100" dir="2700000" dist="38100">
                    <a:srgbClr val="C0C0C0"/>
                  </a:outerShdw>
                </a:effectLst>
                <a:ea typeface="Simplified Arabic" pitchFamily="18" charset="-78"/>
              </a:rPr>
              <a:t>الوسائط المتعددة وإدارتها       --------------      م. وجدي الأحمد</a:t>
            </a:r>
          </a:p>
        </p:txBody>
      </p:sp>
    </p:spTree>
  </p:cSld>
  <p:clrMapOvr>
    <a:masterClrMapping/>
  </p:clrMapOvr>
  <p:transition advClick="0">
    <p:wheel spokes="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05" name=""/>
        <p:cNvGrpSpPr/>
        <p:nvPr/>
      </p:nvGrpSpPr>
      <p:grpSpPr>
        <a:xfrm>
          <a:off x="0" y="0"/>
          <a:ext cx="0" cy="0"/>
          <a:chOff x="0" y="0"/>
          <a:chExt cx="0" cy="0"/>
        </a:xfrm>
      </p:grpSpPr>
      <p:sp>
        <p:nvSpPr>
          <p:cNvPr id="1048862" name="Title 1"/>
          <p:cNvSpPr>
            <a:spLocks noGrp="1"/>
          </p:cNvSpPr>
          <p:nvPr>
            <p:ph type="title"/>
          </p:nvPr>
        </p:nvSpPr>
        <p:spPr>
          <a:xfrm>
            <a:off x="722313" y="4406900"/>
            <a:ext cx="7772400" cy="1362075"/>
          </a:xfrm>
        </p:spPr>
        <p:txBody>
          <a:bodyPr anchor="t"/>
          <a:lstStyle>
            <a:lvl1pPr algn="r">
              <a:defRPr b="1" cap="all" sz="4000"/>
            </a:lvl1pPr>
          </a:lstStyle>
          <a:p>
            <a:r>
              <a:rPr lang="en-US" smtClean="0"/>
              <a:t>Click to edit Master title style</a:t>
            </a:r>
            <a:endParaRPr lang="ar-SA"/>
          </a:p>
        </p:txBody>
      </p:sp>
      <p:sp>
        <p:nvSpPr>
          <p:cNvPr id="1048863" name="Text Placeholder 2"/>
          <p:cNvSpPr>
            <a:spLocks noGrp="1"/>
          </p:cNvSpPr>
          <p:nvPr>
            <p:ph type="body" idx="1"/>
          </p:nvPr>
        </p:nvSpPr>
        <p:spPr>
          <a:xfrm>
            <a:off x="722313" y="2906713"/>
            <a:ext cx="7772400" cy="1500187"/>
          </a:xfrm>
        </p:spPr>
        <p:txBody>
          <a:bodyPr anchor="b"/>
          <a:lstStyle>
            <a:lvl1pPr indent="0" marL="0">
              <a:buNone/>
              <a:defRPr sz="2000"/>
            </a:lvl1pPr>
            <a:lvl2pPr indent="0" marL="457200">
              <a:buNone/>
              <a:defRPr sz="1800"/>
            </a:lvl2pPr>
            <a:lvl3pPr indent="0" marL="914400">
              <a:buNone/>
              <a:defRPr sz="1600"/>
            </a:lvl3pPr>
            <a:lvl4pPr indent="0" marL="1371600">
              <a:buNone/>
              <a:defRPr sz="1400"/>
            </a:lvl4pPr>
            <a:lvl5pPr indent="0" marL="1828800">
              <a:buNone/>
              <a:defRPr sz="1400"/>
            </a:lvl5pPr>
            <a:lvl6pPr indent="0" marL="2286000">
              <a:buNone/>
              <a:defRPr sz="1400"/>
            </a:lvl6pPr>
            <a:lvl7pPr indent="0" marL="2743200">
              <a:buNone/>
              <a:defRPr sz="1400"/>
            </a:lvl7pPr>
            <a:lvl8pPr indent="0" marL="3200400">
              <a:buNone/>
              <a:defRPr sz="1400"/>
            </a:lvl8pPr>
            <a:lvl9pPr indent="0" marL="3657600">
              <a:buNone/>
              <a:defRPr sz="1400"/>
            </a:lvl9pPr>
          </a:lstStyle>
          <a:p>
            <a:pPr lvl="0"/>
            <a:r>
              <a:rPr lang="en-US" smtClean="0"/>
              <a:t>Click to edit Master text styles</a:t>
            </a:r>
          </a:p>
        </p:txBody>
      </p:sp>
      <p:sp>
        <p:nvSpPr>
          <p:cNvPr id="1048579" name="Rectangle 5"/>
          <p:cNvSpPr/>
          <p:nvPr>
            <p:ph type="ftr" sz="quarter" idx="3"/>
          </p:nvPr>
        </p:nvSpPr>
        <p:spPr>
          <a:xfrm rot="0">
            <a:off x="468312" y="6337300"/>
            <a:ext cx="8207375" cy="476250"/>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b="1" lang="zh-CN">
                <a:effectLst>
                  <a:outerShdw algn="tl" blurRad="38100" dir="2700000" dist="38100">
                    <a:srgbClr val="C0C0C0"/>
                  </a:outerShdw>
                </a:effectLst>
                <a:ea typeface="Simplified Arabic" pitchFamily="18" charset="-78"/>
              </a:rPr>
              <a:t>الوسائط المتعددة وإدارتها       --------------      م. وجدي الأحمد</a:t>
            </a:r>
          </a:p>
        </p:txBody>
      </p:sp>
    </p:spTree>
  </p:cSld>
  <p:clrMapOvr>
    <a:masterClrMapping/>
  </p:clrMapOvr>
  <p:transition advClick="0">
    <p:wheel spokes="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06" name=""/>
        <p:cNvGrpSpPr/>
        <p:nvPr/>
      </p:nvGrpSpPr>
      <p:grpSpPr>
        <a:xfrm>
          <a:off x="0" y="0"/>
          <a:ext cx="0" cy="0"/>
          <a:chOff x="0" y="0"/>
          <a:chExt cx="0" cy="0"/>
        </a:xfrm>
      </p:grpSpPr>
      <p:sp>
        <p:nvSpPr>
          <p:cNvPr id="1048864" name="Title 1"/>
          <p:cNvSpPr>
            <a:spLocks noGrp="1"/>
          </p:cNvSpPr>
          <p:nvPr>
            <p:ph type="title"/>
          </p:nvPr>
        </p:nvSpPr>
        <p:spPr/>
        <p:txBody>
          <a:bodyPr/>
          <a:p>
            <a:r>
              <a:rPr lang="en-US" smtClean="0"/>
              <a:t>Click to edit Master title style</a:t>
            </a:r>
            <a:endParaRPr lang="ar-SA"/>
          </a:p>
        </p:txBody>
      </p:sp>
      <p:sp>
        <p:nvSpPr>
          <p:cNvPr id="1048865"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1048866"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1048579" name="Rectangle 5"/>
          <p:cNvSpPr/>
          <p:nvPr>
            <p:ph type="ftr" sz="quarter" idx="3"/>
          </p:nvPr>
        </p:nvSpPr>
        <p:spPr>
          <a:xfrm rot="0">
            <a:off x="468312" y="6337300"/>
            <a:ext cx="8207375" cy="476250"/>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b="1" lang="zh-CN">
                <a:effectLst>
                  <a:outerShdw algn="tl" blurRad="38100" dir="2700000" dist="38100">
                    <a:srgbClr val="C0C0C0"/>
                  </a:outerShdw>
                </a:effectLst>
                <a:ea typeface="Simplified Arabic" pitchFamily="18" charset="-78"/>
              </a:rPr>
              <a:t>الوسائط المتعددة وإدارتها       --------------      م. وجدي الأحمد</a:t>
            </a:r>
          </a:p>
        </p:txBody>
      </p:sp>
    </p:spTree>
  </p:cSld>
  <p:clrMapOvr>
    <a:masterClrMapping/>
  </p:clrMapOvr>
  <p:transition advClick="0">
    <p:wheel spokes="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07" name=""/>
        <p:cNvGrpSpPr/>
        <p:nvPr/>
      </p:nvGrpSpPr>
      <p:grpSpPr>
        <a:xfrm>
          <a:off x="0" y="0"/>
          <a:ext cx="0" cy="0"/>
          <a:chOff x="0" y="0"/>
          <a:chExt cx="0" cy="0"/>
        </a:xfrm>
      </p:grpSpPr>
      <p:sp>
        <p:nvSpPr>
          <p:cNvPr id="1048867" name="Title 1"/>
          <p:cNvSpPr>
            <a:spLocks noGrp="1"/>
          </p:cNvSpPr>
          <p:nvPr>
            <p:ph type="title"/>
          </p:nvPr>
        </p:nvSpPr>
        <p:spPr/>
        <p:txBody>
          <a:bodyPr/>
          <a:p>
            <a:r>
              <a:rPr lang="en-US" smtClean="0"/>
              <a:t>Click to edit Master title style</a:t>
            </a:r>
            <a:endParaRPr lang="ar-SA"/>
          </a:p>
        </p:txBody>
      </p:sp>
      <p:sp>
        <p:nvSpPr>
          <p:cNvPr id="1048868"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869"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1048870"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871"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1048579" name="Rectangle 5"/>
          <p:cNvSpPr/>
          <p:nvPr>
            <p:ph type="ftr" sz="quarter" idx="3"/>
          </p:nvPr>
        </p:nvSpPr>
        <p:spPr>
          <a:xfrm rot="0">
            <a:off x="468312" y="6337300"/>
            <a:ext cx="8207375" cy="476250"/>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b="1" lang="zh-CN">
                <a:effectLst>
                  <a:outerShdw algn="tl" blurRad="38100" dir="2700000" dist="38100">
                    <a:srgbClr val="C0C0C0"/>
                  </a:outerShdw>
                </a:effectLst>
                <a:ea typeface="Simplified Arabic" pitchFamily="18" charset="-78"/>
              </a:rPr>
              <a:t>الوسائط المتعددة وإدارتها       --------------      م. وجدي الأحمد</a:t>
            </a:r>
          </a:p>
        </p:txBody>
      </p:sp>
    </p:spTree>
  </p:cSld>
  <p:clrMapOvr>
    <a:masterClrMapping/>
  </p:clrMapOvr>
  <p:transition advClick="0">
    <p:wheel spokes="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08" name=""/>
        <p:cNvGrpSpPr/>
        <p:nvPr/>
      </p:nvGrpSpPr>
      <p:grpSpPr>
        <a:xfrm>
          <a:off x="0" y="0"/>
          <a:ext cx="0" cy="0"/>
          <a:chOff x="0" y="0"/>
          <a:chExt cx="0" cy="0"/>
        </a:xfrm>
      </p:grpSpPr>
      <p:sp>
        <p:nvSpPr>
          <p:cNvPr id="1048872" name="Title 1"/>
          <p:cNvSpPr>
            <a:spLocks noGrp="1"/>
          </p:cNvSpPr>
          <p:nvPr>
            <p:ph type="title"/>
          </p:nvPr>
        </p:nvSpPr>
        <p:spPr/>
        <p:txBody>
          <a:bodyPr/>
          <a:p>
            <a:r>
              <a:rPr lang="en-US" smtClean="0"/>
              <a:t>Click to edit Master title style</a:t>
            </a:r>
            <a:endParaRPr lang="ar-SA"/>
          </a:p>
        </p:txBody>
      </p:sp>
      <p:sp>
        <p:nvSpPr>
          <p:cNvPr id="1048579" name="Rectangle 5"/>
          <p:cNvSpPr/>
          <p:nvPr>
            <p:ph type="ftr" sz="quarter" idx="3"/>
          </p:nvPr>
        </p:nvSpPr>
        <p:spPr>
          <a:xfrm rot="0">
            <a:off x="468312" y="6337300"/>
            <a:ext cx="8207375" cy="476250"/>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b="1" lang="zh-CN">
                <a:effectLst>
                  <a:outerShdw algn="tl" blurRad="38100" dir="2700000" dist="38100">
                    <a:srgbClr val="C0C0C0"/>
                  </a:outerShdw>
                </a:effectLst>
                <a:ea typeface="Simplified Arabic" pitchFamily="18" charset="-78"/>
              </a:rPr>
              <a:t>الوسائط المتعددة وإدارتها       --------------      م. وجدي الأحمد</a:t>
            </a:r>
          </a:p>
        </p:txBody>
      </p:sp>
    </p:spTree>
  </p:cSld>
  <p:clrMapOvr>
    <a:masterClrMapping/>
  </p:clrMapOvr>
  <p:transition advClick="0">
    <p:wheel spokes="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09" name=""/>
        <p:cNvGrpSpPr/>
        <p:nvPr/>
      </p:nvGrpSpPr>
      <p:grpSpPr>
        <a:xfrm>
          <a:off x="0" y="0"/>
          <a:ext cx="0" cy="0"/>
          <a:chOff x="0" y="0"/>
          <a:chExt cx="0" cy="0"/>
        </a:xfrm>
      </p:grpSpPr>
      <p:sp>
        <p:nvSpPr>
          <p:cNvPr id="1048579" name="Rectangle 5"/>
          <p:cNvSpPr/>
          <p:nvPr>
            <p:ph type="ftr" sz="quarter" idx="3"/>
          </p:nvPr>
        </p:nvSpPr>
        <p:spPr>
          <a:xfrm rot="0">
            <a:off x="468312" y="6337300"/>
            <a:ext cx="8207375" cy="476250"/>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b="1" lang="zh-CN">
                <a:effectLst>
                  <a:outerShdw algn="tl" blurRad="38100" dir="2700000" dist="38100">
                    <a:srgbClr val="C0C0C0"/>
                  </a:outerShdw>
                </a:effectLst>
                <a:ea typeface="Simplified Arabic" pitchFamily="18" charset="-78"/>
              </a:rPr>
              <a:t>الوسائط المتعددة وإدارتها       --------------      م. وجدي الأحمد</a:t>
            </a:r>
          </a:p>
        </p:txBody>
      </p:sp>
    </p:spTree>
  </p:cSld>
  <p:clrMapOvr>
    <a:masterClrMapping/>
  </p:clrMapOvr>
  <p:transition advClick="0">
    <p:wheel spokes="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10" name=""/>
        <p:cNvGrpSpPr/>
        <p:nvPr/>
      </p:nvGrpSpPr>
      <p:grpSpPr>
        <a:xfrm>
          <a:off x="0" y="0"/>
          <a:ext cx="0" cy="0"/>
          <a:chOff x="0" y="0"/>
          <a:chExt cx="0" cy="0"/>
        </a:xfrm>
      </p:grpSpPr>
      <p:sp>
        <p:nvSpPr>
          <p:cNvPr id="1048873" name="Title 1"/>
          <p:cNvSpPr>
            <a:spLocks noGrp="1"/>
          </p:cNvSpPr>
          <p:nvPr>
            <p:ph type="title"/>
          </p:nvPr>
        </p:nvSpPr>
        <p:spPr>
          <a:xfrm>
            <a:off x="457200" y="273050"/>
            <a:ext cx="3008313" cy="1162050"/>
          </a:xfrm>
        </p:spPr>
        <p:txBody>
          <a:bodyPr anchor="b"/>
          <a:lstStyle>
            <a:lvl1pPr algn="r">
              <a:defRPr b="1" sz="2000"/>
            </a:lvl1pPr>
          </a:lstStyle>
          <a:p>
            <a:r>
              <a:rPr lang="en-US" smtClean="0"/>
              <a:t>Click to edit Master title style</a:t>
            </a:r>
            <a:endParaRPr lang="ar-SA"/>
          </a:p>
        </p:txBody>
      </p:sp>
      <p:sp>
        <p:nvSpPr>
          <p:cNvPr id="1048874"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1048875"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579" name="Rectangle 5"/>
          <p:cNvSpPr/>
          <p:nvPr>
            <p:ph type="ftr" sz="quarter" idx="3"/>
          </p:nvPr>
        </p:nvSpPr>
        <p:spPr>
          <a:xfrm rot="0">
            <a:off x="468312" y="6337300"/>
            <a:ext cx="8207375" cy="476250"/>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b="1" lang="zh-CN">
                <a:effectLst>
                  <a:outerShdw algn="tl" blurRad="38100" dir="2700000" dist="38100">
                    <a:srgbClr val="C0C0C0"/>
                  </a:outerShdw>
                </a:effectLst>
                <a:ea typeface="Simplified Arabic" pitchFamily="18" charset="-78"/>
              </a:rPr>
              <a:t>الوسائط المتعددة وإدارتها       --------------      م. وجدي الأحمد</a:t>
            </a:r>
          </a:p>
        </p:txBody>
      </p:sp>
    </p:spTree>
  </p:cSld>
  <p:clrMapOvr>
    <a:masterClrMapping/>
  </p:clrMapOvr>
  <p:transition advClick="0">
    <p:wheel spokes="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11" name=""/>
        <p:cNvGrpSpPr/>
        <p:nvPr/>
      </p:nvGrpSpPr>
      <p:grpSpPr>
        <a:xfrm>
          <a:off x="0" y="0"/>
          <a:ext cx="0" cy="0"/>
          <a:chOff x="0" y="0"/>
          <a:chExt cx="0" cy="0"/>
        </a:xfrm>
      </p:grpSpPr>
      <p:sp>
        <p:nvSpPr>
          <p:cNvPr id="1048876" name="Title 1"/>
          <p:cNvSpPr>
            <a:spLocks noGrp="1"/>
          </p:cNvSpPr>
          <p:nvPr>
            <p:ph type="title"/>
          </p:nvPr>
        </p:nvSpPr>
        <p:spPr>
          <a:xfrm>
            <a:off x="1792288" y="4800600"/>
            <a:ext cx="5486400" cy="566738"/>
          </a:xfrm>
        </p:spPr>
        <p:txBody>
          <a:bodyPr anchor="b"/>
          <a:lstStyle>
            <a:lvl1pPr algn="r">
              <a:defRPr b="1" sz="2000"/>
            </a:lvl1pPr>
          </a:lstStyle>
          <a:p>
            <a:r>
              <a:rPr lang="en-US" smtClean="0"/>
              <a:t>Click to edit Master title style</a:t>
            </a:r>
            <a:endParaRPr lang="ar-SA"/>
          </a:p>
        </p:txBody>
      </p:sp>
      <p:sp>
        <p:nvSpPr>
          <p:cNvPr id="1048877" name="Picture Placeholder 2"/>
          <p:cNvSpPr>
            <a:spLocks noGrp="1"/>
          </p:cNvSpPr>
          <p:nvPr>
            <p:ph type="pic" idx="1"/>
          </p:nvPr>
        </p:nvSpPr>
        <p:spPr>
          <a:xfrm>
            <a:off x="1792288" y="612775"/>
            <a:ext cx="5486400" cy="4114800"/>
          </a:xfrm>
        </p:spPr>
        <p:txBody>
          <a:bodyPr anchor="t" anchorCtr="0" bIns="45720" compatLnSpc="1" lIns="91440" numCol="1" rIns="91440" tIns="45720" vert="horz" wrap="square">
            <a:prstTxWarp prst="textNoShape"/>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pPr algn="r" defTabSz="914400" eaLnBrk="0" fontAlgn="base" hangingPunct="0" indent="0" latinLnBrk="0" lvl="0" marL="0" marR="0" rtl="1">
              <a:lnSpc>
                <a:spcPct val="100000"/>
              </a:lnSpc>
              <a:spcBef>
                <a:spcPct val="20000"/>
              </a:spcBef>
              <a:spcAft>
                <a:spcPct val="0"/>
              </a:spcAft>
              <a:buClrTx/>
              <a:buSzTx/>
              <a:buFontTx/>
              <a:buNone/>
            </a:pPr>
            <a:endParaRPr baseline="0" b="0" cap="none" sz="3200" i="0" kern="0" kumimoji="0" lang="ar-SA" noProof="0" normalizeH="0" spc="0" strike="noStrike" u="none" smtClean="0">
              <a:ln>
                <a:noFill/>
              </a:ln>
              <a:solidFill>
                <a:schemeClr val="tx1"/>
              </a:solidFill>
              <a:effectLst/>
              <a:uLnTx/>
              <a:uFillTx/>
              <a:latin typeface="+mn-lt"/>
              <a:ea typeface="+mn-ea"/>
              <a:cs typeface="+mn-cs"/>
            </a:endParaRPr>
          </a:p>
        </p:txBody>
      </p:sp>
      <p:sp>
        <p:nvSpPr>
          <p:cNvPr id="1048878"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579" name="Rectangle 5"/>
          <p:cNvSpPr/>
          <p:nvPr>
            <p:ph type="ftr" sz="quarter" idx="3"/>
          </p:nvPr>
        </p:nvSpPr>
        <p:spPr>
          <a:xfrm rot="0">
            <a:off x="468312" y="6337300"/>
            <a:ext cx="8207375" cy="476250"/>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b="1" lang="zh-CN">
                <a:effectLst>
                  <a:outerShdw algn="tl" blurRad="38100" dir="2700000" dist="38100">
                    <a:srgbClr val="C0C0C0"/>
                  </a:outerShdw>
                </a:effectLst>
                <a:ea typeface="Simplified Arabic" pitchFamily="18" charset="-78"/>
              </a:rPr>
              <a:t>الوسائط المتعددة وإدارتها       --------------      م. وجدي الأحمد</a:t>
            </a:r>
          </a:p>
        </p:txBody>
      </p:sp>
    </p:spTree>
  </p:cSld>
  <p:clrMapOvr>
    <a:masterClrMapping/>
  </p:clrMapOvr>
  <p:transition advClick="0">
    <p:wheel spokes="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12" name=""/>
        <p:cNvGrpSpPr/>
        <p:nvPr/>
      </p:nvGrpSpPr>
      <p:grpSpPr>
        <a:xfrm>
          <a:off x="0" y="0"/>
          <a:ext cx="0" cy="0"/>
          <a:chOff x="0" y="0"/>
          <a:chExt cx="0" cy="0"/>
        </a:xfrm>
      </p:grpSpPr>
      <p:sp>
        <p:nvSpPr>
          <p:cNvPr id="1048879" name="Title 1"/>
          <p:cNvSpPr>
            <a:spLocks noGrp="1"/>
          </p:cNvSpPr>
          <p:nvPr>
            <p:ph type="title"/>
          </p:nvPr>
        </p:nvSpPr>
        <p:spPr/>
        <p:txBody>
          <a:bodyPr/>
          <a:p>
            <a:r>
              <a:rPr lang="en-US" smtClean="0"/>
              <a:t>Click to edit Master title style</a:t>
            </a:r>
            <a:endParaRPr lang="ar-SA"/>
          </a:p>
        </p:txBody>
      </p:sp>
      <p:sp>
        <p:nvSpPr>
          <p:cNvPr id="1048880"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1048579" name="Rectangle 5"/>
          <p:cNvSpPr/>
          <p:nvPr>
            <p:ph type="ftr" sz="quarter" idx="3"/>
          </p:nvPr>
        </p:nvSpPr>
        <p:spPr>
          <a:xfrm rot="0">
            <a:off x="468312" y="6337300"/>
            <a:ext cx="8207375" cy="476250"/>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b="1" lang="zh-CN">
                <a:effectLst>
                  <a:outerShdw algn="tl" blurRad="38100" dir="2700000" dist="38100">
                    <a:srgbClr val="C0C0C0"/>
                  </a:outerShdw>
                </a:effectLst>
                <a:ea typeface="Simplified Arabic" pitchFamily="18" charset="-78"/>
              </a:rPr>
              <a:t>الوسائط المتعددة وإدارتها       --------------      م. وجدي الأحمد</a:t>
            </a:r>
          </a:p>
        </p:txBody>
      </p:sp>
    </p:spTree>
  </p:cSld>
  <p:clrMapOvr>
    <a:masterClrMapping/>
  </p:clrMapOvr>
  <p:transition advClick="0">
    <p:wheel spokes="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13" name=""/>
        <p:cNvGrpSpPr/>
        <p:nvPr/>
      </p:nvGrpSpPr>
      <p:grpSpPr>
        <a:xfrm>
          <a:off x="0" y="0"/>
          <a:ext cx="0" cy="0"/>
          <a:chOff x="0" y="0"/>
          <a:chExt cx="0" cy="0"/>
        </a:xfrm>
      </p:grpSpPr>
      <p:sp>
        <p:nvSpPr>
          <p:cNvPr id="1048881" name="Vertical Title 1"/>
          <p:cNvSpPr>
            <a:spLocks noGrp="1"/>
          </p:cNvSpPr>
          <p:nvPr>
            <p:ph type="title" orient="vert"/>
          </p:nvPr>
        </p:nvSpPr>
        <p:spPr>
          <a:xfrm>
            <a:off x="6629400" y="274638"/>
            <a:ext cx="2057400" cy="5851525"/>
          </a:xfrm>
        </p:spPr>
        <p:txBody>
          <a:bodyPr vert="eaVert"/>
          <a:p>
            <a:r>
              <a:rPr lang="en-US" smtClean="0"/>
              <a:t>Click to edit Master title style</a:t>
            </a:r>
            <a:endParaRPr lang="ar-SA"/>
          </a:p>
        </p:txBody>
      </p:sp>
      <p:sp>
        <p:nvSpPr>
          <p:cNvPr id="1048882" name="Vertical Text Placeholder 2"/>
          <p:cNvSpPr>
            <a:spLocks noGrp="1"/>
          </p:cNvSpPr>
          <p:nvPr>
            <p:ph type="body" orient="vert" idx="1"/>
          </p:nvPr>
        </p:nvSpPr>
        <p:spPr>
          <a:xfrm>
            <a:off x="457200" y="274638"/>
            <a:ext cx="6019800" cy="5851525"/>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1048579" name="Rectangle 5"/>
          <p:cNvSpPr/>
          <p:nvPr>
            <p:ph type="ftr" sz="quarter" idx="3"/>
          </p:nvPr>
        </p:nvSpPr>
        <p:spPr>
          <a:xfrm rot="0">
            <a:off x="468312" y="6337300"/>
            <a:ext cx="8207375" cy="476250"/>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b="1" lang="zh-CN">
                <a:effectLst>
                  <a:outerShdw algn="tl" blurRad="38100" dir="2700000" dist="38100">
                    <a:srgbClr val="C0C0C0"/>
                  </a:outerShdw>
                </a:effectLst>
                <a:ea typeface="Simplified Arabic" pitchFamily="18" charset="-78"/>
              </a:rPr>
              <a:t>الوسائط المتعددة وإدارتها       --------------      م. وجدي الأحمد</a:t>
            </a:r>
          </a:p>
        </p:txBody>
      </p:sp>
    </p:spTree>
  </p:cSld>
  <p:clrMapOvr>
    <a:masterClrMapping/>
  </p:clrMapOvr>
  <p:transition advClick="0">
    <p:wheel spokes="1"/>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white">
      <p:bgPr>
        <a:solidFill>
          <a:srgbClr val="663300"/>
        </a:solidFill>
      </p:bgPr>
    </p:bg>
    <p:spTree>
      <p:nvGrpSpPr>
        <p:cNvPr id="22" name=""/>
        <p:cNvGrpSpPr/>
        <p:nvPr/>
      </p:nvGrpSpPr>
      <p:grpSpPr>
        <a:xfrm rot="0">
          <a:off x="0" y="0"/>
          <a:ext cx="0" cy="0"/>
          <a:chOff x="0" y="0"/>
          <a:chExt cx="0" cy="0"/>
        </a:xfrm>
      </p:grpSpPr>
      <p:sp>
        <p:nvSpPr>
          <p:cNvPr id="1048576" name="Rectangle 7"/>
          <p:cNvSpPr/>
          <p:nvPr/>
        </p:nvSpPr>
        <p:spPr>
          <a:xfrm rot="0">
            <a:off x="88900" y="93662"/>
            <a:ext cx="8964612" cy="6669087"/>
          </a:xfrm>
          <a:prstGeom prst="rect"/>
          <a:gradFill rotWithShape="1">
            <a:gsLst>
              <a:gs pos="0">
                <a:srgbClr val="FFE2C5">
                  <a:alpha val="100000"/>
                </a:srgbClr>
              </a:gs>
              <a:gs pos="100000">
                <a:srgbClr val="CD9B69">
                  <a:alpha val="100000"/>
                </a:srgbClr>
              </a:gs>
            </a:gsLst>
            <a:lin ang="0" scaled="1"/>
          </a:gradFill>
          <a:ln>
            <a:noFill/>
          </a:ln>
        </p:spPr>
        <p:txBody>
          <a:bodyPr anchor="ctr" bIns="45720" lIns="91440" rIns="91440" tIns="45720" vert="horz" wrap="none"/>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
        <p:nvSpPr>
          <p:cNvPr id="1048577" name="Rectangle 2"/>
          <p:cNvSpPr/>
          <p:nvPr>
            <p:ph type="title" sz="full" idx="0"/>
          </p:nvPr>
        </p:nvSpPr>
        <p:spPr>
          <a:xfrm rot="0">
            <a:off x="457200" y="274637"/>
            <a:ext cx="8229600" cy="1143000"/>
          </a:xfrm>
          <a:prstGeom prst="rect"/>
          <a:noFill/>
          <a:ln>
            <a:noFill/>
          </a:ln>
        </p:spPr>
        <p:txBody>
          <a:bodyPr anchor="ctr" bIns="45720" lIns="91440" rIns="91440" tIns="45720" vert="horz"/>
          <a:p>
            <a:pPr lvl="0"/>
            <a:r>
              <a:rPr altLang="en-US" lang="ar-SA"/>
              <a:t>انقر لتحرير نمط العنوان الرئيسي</a:t>
            </a:r>
          </a:p>
        </p:txBody>
      </p:sp>
      <p:sp>
        <p:nvSpPr>
          <p:cNvPr id="1048578" name="Rectangle 3"/>
          <p:cNvSpPr/>
          <p:nvPr>
            <p:ph type="body" sz="full" idx="1"/>
          </p:nvPr>
        </p:nvSpPr>
        <p:spPr>
          <a:xfrm rot="0">
            <a:off x="457200" y="1600200"/>
            <a:ext cx="8229600" cy="4525962"/>
          </a:xfrm>
          <a:prstGeom prst="rect"/>
          <a:noFill/>
          <a:ln>
            <a:noFill/>
          </a:ln>
        </p:spPr>
        <p:txBody>
          <a:bodyPr anchor="t" bIns="45720" lIns="91440" rIns="91440" tIns="45720" vert="horz"/>
          <a:p>
            <a:pPr lvl="0"/>
            <a:r>
              <a:rPr altLang="en-US" lang="ar-SA"/>
              <a:t>انقر لتحرير أنماط النص الرئيسي</a:t>
            </a:r>
          </a:p>
          <a:p>
            <a:pPr lvl="1"/>
            <a:r>
              <a:rPr altLang="en-US" lang="ar-SA"/>
              <a:t>المستوى الثاني</a:t>
            </a:r>
          </a:p>
          <a:p>
            <a:pPr lvl="2"/>
            <a:r>
              <a:rPr altLang="en-US" lang="ar-SA"/>
              <a:t>المستوى الثالث</a:t>
            </a:r>
          </a:p>
          <a:p>
            <a:pPr lvl="3"/>
            <a:r>
              <a:rPr altLang="en-US" lang="ar-SA"/>
              <a:t>المستوى الرابع</a:t>
            </a:r>
          </a:p>
          <a:p>
            <a:pPr lvl="4"/>
            <a:r>
              <a:rPr altLang="en-US" lang="ar-SA"/>
              <a:t>المستوى الخامس</a:t>
            </a:r>
          </a:p>
        </p:txBody>
      </p:sp>
      <p:sp>
        <p:nvSpPr>
          <p:cNvPr id="1048579" name="Rectangle 5"/>
          <p:cNvSpPr/>
          <p:nvPr>
            <p:ph type="ftr" sz="quarter" idx="3"/>
          </p:nvPr>
        </p:nvSpPr>
        <p:spPr>
          <a:xfrm rot="0">
            <a:off x="468312" y="6337300"/>
            <a:ext cx="8207375" cy="476250"/>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b="1" lang="zh-CN">
                <a:effectLst>
                  <a:outerShdw algn="tl" blurRad="38100" dir="2700000" dist="38100">
                    <a:srgbClr val="C0C0C0"/>
                  </a:outerShdw>
                </a:effectLst>
                <a:ea typeface="Simplified Arabic" pitchFamily="18" charset="-78"/>
              </a:rPr>
              <a:t>الوسائط المتعددة وإدارتها       --------------      م. وجدي الأحمد</a:t>
            </a:r>
          </a:p>
        </p:txBody>
      </p:sp>
      <p:sp>
        <p:nvSpPr>
          <p:cNvPr id="1048580" name="Rectangle 8"/>
          <p:cNvSpPr/>
          <p:nvPr/>
        </p:nvSpPr>
        <p:spPr>
          <a:xfrm rot="0" flipH="1">
            <a:off x="163512" y="149225"/>
            <a:ext cx="8816975" cy="6559550"/>
          </a:xfrm>
          <a:prstGeom prst="rect"/>
          <a:gradFill rotWithShape="1">
            <a:gsLst>
              <a:gs pos="0">
                <a:srgbClr val="FFE2C5">
                  <a:alpha val="100000"/>
                </a:srgbClr>
              </a:gs>
              <a:gs pos="100000">
                <a:srgbClr val="CD9B69">
                  <a:alpha val="100000"/>
                </a:srgbClr>
              </a:gs>
            </a:gsLst>
            <a:lin ang="0" scaled="1"/>
          </a:gradFill>
          <a:ln>
            <a:noFill/>
          </a:ln>
        </p:spPr>
        <p:txBody>
          <a:bodyPr anchor="ctr" bIns="45720" lIns="91440" rIns="91440" tIns="45720" vert="horz" wrap="none"/>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Tree>
  </p:cSld>
  <p:clrMap accent1="accent1" accent2="accent2" accent3="accent3" accent4="accent4" accent5="accent5" accent6="accent6" bg1="lt1" bg2="dk2" tx1="dk1" tx2="lt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1"/>
  <p:txStyles>
    <p:titleStyle>
      <a:lvl1pPr algn="ctr" eaLnBrk="0" fontAlgn="base" hangingPunct="0" rtl="1">
        <a:spcBef>
          <a:spcPct val="0"/>
        </a:spcBef>
        <a:spcAft>
          <a:spcPct val="0"/>
        </a:spcAft>
        <a:defRPr sz="4400">
          <a:solidFill>
            <a:schemeClr val="tx2"/>
          </a:solidFill>
          <a:latin typeface="+mj-lt"/>
          <a:ea typeface="+mj-ea"/>
          <a:cs typeface="+mj-cs"/>
        </a:defRPr>
      </a:lvl1pPr>
      <a:lvl2pPr algn="ctr" eaLnBrk="0" fontAlgn="base" hangingPunct="0" rtl="1">
        <a:spcBef>
          <a:spcPct val="0"/>
        </a:spcBef>
        <a:spcAft>
          <a:spcPct val="0"/>
        </a:spcAft>
        <a:defRPr sz="4400">
          <a:solidFill>
            <a:schemeClr val="tx2"/>
          </a:solidFill>
          <a:latin typeface="Arial" pitchFamily="34" charset="0"/>
          <a:cs typeface="Arial" pitchFamily="34" charset="0"/>
        </a:defRPr>
      </a:lvl2pPr>
      <a:lvl3pPr algn="ctr" eaLnBrk="0" fontAlgn="base" hangingPunct="0" rtl="1">
        <a:spcBef>
          <a:spcPct val="0"/>
        </a:spcBef>
        <a:spcAft>
          <a:spcPct val="0"/>
        </a:spcAft>
        <a:defRPr sz="4400">
          <a:solidFill>
            <a:schemeClr val="tx2"/>
          </a:solidFill>
          <a:latin typeface="Arial" pitchFamily="34" charset="0"/>
          <a:cs typeface="Arial" pitchFamily="34" charset="0"/>
        </a:defRPr>
      </a:lvl3pPr>
      <a:lvl4pPr algn="ctr" eaLnBrk="0" fontAlgn="base" hangingPunct="0" rtl="1">
        <a:spcBef>
          <a:spcPct val="0"/>
        </a:spcBef>
        <a:spcAft>
          <a:spcPct val="0"/>
        </a:spcAft>
        <a:defRPr sz="4400">
          <a:solidFill>
            <a:schemeClr val="tx2"/>
          </a:solidFill>
          <a:latin typeface="Arial" pitchFamily="34" charset="0"/>
          <a:cs typeface="Arial" pitchFamily="34" charset="0"/>
        </a:defRPr>
      </a:lvl4pPr>
      <a:lvl5pPr algn="ctr" eaLnBrk="0" fontAlgn="base" hangingPunct="0" rtl="1">
        <a:spcBef>
          <a:spcPct val="0"/>
        </a:spcBef>
        <a:spcAft>
          <a:spcPct val="0"/>
        </a:spcAft>
        <a:defRPr sz="4400">
          <a:solidFill>
            <a:schemeClr val="tx2"/>
          </a:solidFill>
          <a:latin typeface="Arial" pitchFamily="34" charset="0"/>
          <a:cs typeface="Arial" pitchFamily="34" charset="0"/>
        </a:defRPr>
      </a:lvl5pPr>
      <a:lvl6pPr algn="ctr" fontAlgn="base" marL="457200" rtl="1">
        <a:spcBef>
          <a:spcPct val="0"/>
        </a:spcBef>
        <a:spcAft>
          <a:spcPct val="0"/>
        </a:spcAft>
        <a:defRPr sz="4400">
          <a:solidFill>
            <a:schemeClr val="tx2"/>
          </a:solidFill>
          <a:latin typeface="Arial" pitchFamily="34" charset="0"/>
          <a:cs typeface="Arial" pitchFamily="34" charset="0"/>
        </a:defRPr>
      </a:lvl6pPr>
      <a:lvl7pPr algn="ctr" fontAlgn="base" marL="914400" rtl="1">
        <a:spcBef>
          <a:spcPct val="0"/>
        </a:spcBef>
        <a:spcAft>
          <a:spcPct val="0"/>
        </a:spcAft>
        <a:defRPr sz="4400">
          <a:solidFill>
            <a:schemeClr val="tx2"/>
          </a:solidFill>
          <a:latin typeface="Arial" pitchFamily="34" charset="0"/>
          <a:cs typeface="Arial" pitchFamily="34" charset="0"/>
        </a:defRPr>
      </a:lvl7pPr>
      <a:lvl8pPr algn="ctr" fontAlgn="base" marL="1371600" rtl="1">
        <a:spcBef>
          <a:spcPct val="0"/>
        </a:spcBef>
        <a:spcAft>
          <a:spcPct val="0"/>
        </a:spcAft>
        <a:defRPr sz="4400">
          <a:solidFill>
            <a:schemeClr val="tx2"/>
          </a:solidFill>
          <a:latin typeface="Arial" pitchFamily="34" charset="0"/>
          <a:cs typeface="Arial" pitchFamily="34" charset="0"/>
        </a:defRPr>
      </a:lvl8pPr>
      <a:lvl9pPr algn="ctr" fontAlgn="base" marL="1828800" rtl="1">
        <a:spcBef>
          <a:spcPct val="0"/>
        </a:spcBef>
        <a:spcAft>
          <a:spcPct val="0"/>
        </a:spcAft>
        <a:defRPr sz="4400">
          <a:solidFill>
            <a:schemeClr val="tx2"/>
          </a:solidFill>
          <a:latin typeface="Arial" pitchFamily="34" charset="0"/>
          <a:cs typeface="Arial" pitchFamily="34" charset="0"/>
        </a:defRPr>
      </a:lvl9pPr>
    </p:titleStyle>
    <p:bodyStyle>
      <a:lvl1pPr algn="r" eaLnBrk="0" fontAlgn="base" hangingPunct="0" indent="-342900" marL="342900" rtl="1">
        <a:spcBef>
          <a:spcPct val="20000"/>
        </a:spcBef>
        <a:spcAft>
          <a:spcPct val="0"/>
        </a:spcAft>
        <a:buChar char="•"/>
        <a:defRPr sz="3200">
          <a:solidFill>
            <a:schemeClr val="tx1"/>
          </a:solidFill>
          <a:latin typeface="+mn-lt"/>
          <a:ea typeface="+mn-ea"/>
          <a:cs typeface="+mn-cs"/>
        </a:defRPr>
      </a:lvl1pPr>
      <a:lvl2pPr algn="r" eaLnBrk="0" fontAlgn="base" hangingPunct="0" indent="-285750" marL="742950" rtl="1">
        <a:spcBef>
          <a:spcPct val="20000"/>
        </a:spcBef>
        <a:spcAft>
          <a:spcPct val="0"/>
        </a:spcAft>
        <a:buChar char="–"/>
        <a:defRPr sz="2800">
          <a:solidFill>
            <a:schemeClr val="tx1"/>
          </a:solidFill>
          <a:latin typeface="+mn-lt"/>
          <a:cs typeface="+mn-cs"/>
        </a:defRPr>
      </a:lvl2pPr>
      <a:lvl3pPr algn="r" eaLnBrk="0" fontAlgn="base" hangingPunct="0" indent="-228600" marL="1143000" rtl="1">
        <a:spcBef>
          <a:spcPct val="20000"/>
        </a:spcBef>
        <a:spcAft>
          <a:spcPct val="0"/>
        </a:spcAft>
        <a:buChar char="•"/>
        <a:defRPr sz="2400">
          <a:solidFill>
            <a:schemeClr val="tx1"/>
          </a:solidFill>
          <a:latin typeface="+mn-lt"/>
          <a:cs typeface="+mn-cs"/>
        </a:defRPr>
      </a:lvl3pPr>
      <a:lvl4pPr algn="r" eaLnBrk="0" fontAlgn="base" hangingPunct="0" indent="-228600" marL="1600200" rtl="1">
        <a:spcBef>
          <a:spcPct val="20000"/>
        </a:spcBef>
        <a:spcAft>
          <a:spcPct val="0"/>
        </a:spcAft>
        <a:buChar char="–"/>
        <a:defRPr sz="2000">
          <a:solidFill>
            <a:schemeClr val="tx1"/>
          </a:solidFill>
          <a:latin typeface="+mn-lt"/>
          <a:cs typeface="+mn-cs"/>
        </a:defRPr>
      </a:lvl4pPr>
      <a:lvl5pPr algn="r" eaLnBrk="0" fontAlgn="base" hangingPunct="0" indent="-228600" marL="2057400" rtl="1">
        <a:spcBef>
          <a:spcPct val="20000"/>
        </a:spcBef>
        <a:spcAft>
          <a:spcPct val="0"/>
        </a:spcAft>
        <a:buChar char="»"/>
        <a:defRPr sz="2000">
          <a:solidFill>
            <a:schemeClr val="tx1"/>
          </a:solidFill>
          <a:latin typeface="+mn-lt"/>
          <a:cs typeface="+mn-cs"/>
        </a:defRPr>
      </a:lvl5pPr>
      <a:lvl6pPr algn="r" fontAlgn="base" indent="-228600" marL="2514600" rtl="1">
        <a:spcBef>
          <a:spcPct val="20000"/>
        </a:spcBef>
        <a:spcAft>
          <a:spcPct val="0"/>
        </a:spcAft>
        <a:buChar char="»"/>
        <a:defRPr sz="2000">
          <a:solidFill>
            <a:schemeClr val="tx1"/>
          </a:solidFill>
          <a:latin typeface="+mn-lt"/>
          <a:cs typeface="+mn-cs"/>
        </a:defRPr>
      </a:lvl6pPr>
      <a:lvl7pPr algn="r" fontAlgn="base" indent="-228600" marL="2971800" rtl="1">
        <a:spcBef>
          <a:spcPct val="20000"/>
        </a:spcBef>
        <a:spcAft>
          <a:spcPct val="0"/>
        </a:spcAft>
        <a:buChar char="»"/>
        <a:defRPr sz="2000">
          <a:solidFill>
            <a:schemeClr val="tx1"/>
          </a:solidFill>
          <a:latin typeface="+mn-lt"/>
          <a:cs typeface="+mn-cs"/>
        </a:defRPr>
      </a:lvl7pPr>
      <a:lvl8pPr algn="r" fontAlgn="base" indent="-228600" marL="3429000" rtl="1">
        <a:spcBef>
          <a:spcPct val="20000"/>
        </a:spcBef>
        <a:spcAft>
          <a:spcPct val="0"/>
        </a:spcAft>
        <a:buChar char="»"/>
        <a:defRPr sz="2000">
          <a:solidFill>
            <a:schemeClr val="tx1"/>
          </a:solidFill>
          <a:latin typeface="+mn-lt"/>
          <a:cs typeface="+mn-cs"/>
        </a:defRPr>
      </a:lvl8pPr>
      <a:lvl9pPr algn="r" fontAlgn="base" indent="-228600" marL="3886200" rtl="1">
        <a:spcBef>
          <a:spcPct val="20000"/>
        </a:spcBef>
        <a:spcAft>
          <a:spcPct val="0"/>
        </a:spcAft>
        <a:buChar char="»"/>
        <a:defRPr sz="2000">
          <a:solidFill>
            <a:schemeClr val="tx1"/>
          </a:solidFill>
          <a:latin typeface="+mn-lt"/>
          <a:cs typeface="+mn-cs"/>
        </a:defRPr>
      </a:lvl9pPr>
    </p:bodyStyle>
    <p:otherStyle>
      <a:defPPr>
        <a:defRPr lang="ar-SA"/>
      </a:defPPr>
      <a:lvl1pPr algn="r" defTabSz="914400" eaLnBrk="1" hangingPunct="1" latinLnBrk="0" marL="0" rtl="1">
        <a:defRPr sz="1800" kern="1200">
          <a:solidFill>
            <a:schemeClr val="tx1"/>
          </a:solidFill>
          <a:latin typeface="+mn-lt"/>
          <a:ea typeface="+mn-ea"/>
          <a:cs typeface="+mn-cs"/>
        </a:defRPr>
      </a:lvl1pPr>
      <a:lvl2pPr algn="r" defTabSz="914400" eaLnBrk="1" hangingPunct="1" latinLnBrk="0" marL="457200" rtl="1">
        <a:defRPr sz="1800" kern="1200">
          <a:solidFill>
            <a:schemeClr val="tx1"/>
          </a:solidFill>
          <a:latin typeface="+mn-lt"/>
          <a:ea typeface="+mn-ea"/>
          <a:cs typeface="+mn-cs"/>
        </a:defRPr>
      </a:lvl2pPr>
      <a:lvl3pPr algn="r" defTabSz="914400" eaLnBrk="1" hangingPunct="1" latinLnBrk="0" marL="914400" rtl="1">
        <a:defRPr sz="1800" kern="1200">
          <a:solidFill>
            <a:schemeClr val="tx1"/>
          </a:solidFill>
          <a:latin typeface="+mn-lt"/>
          <a:ea typeface="+mn-ea"/>
          <a:cs typeface="+mn-cs"/>
        </a:defRPr>
      </a:lvl3pPr>
      <a:lvl4pPr algn="r" defTabSz="914400" eaLnBrk="1" hangingPunct="1" latinLnBrk="0" marL="1371600" rtl="1">
        <a:defRPr sz="1800" kern="1200">
          <a:solidFill>
            <a:schemeClr val="tx1"/>
          </a:solidFill>
          <a:latin typeface="+mn-lt"/>
          <a:ea typeface="+mn-ea"/>
          <a:cs typeface="+mn-cs"/>
        </a:defRPr>
      </a:lvl4pPr>
      <a:lvl5pPr algn="r" defTabSz="914400" eaLnBrk="1" hangingPunct="1" latinLnBrk="0" marL="1828800" rtl="1">
        <a:defRPr sz="1800" kern="1200">
          <a:solidFill>
            <a:schemeClr val="tx1"/>
          </a:solidFill>
          <a:latin typeface="+mn-lt"/>
          <a:ea typeface="+mn-ea"/>
          <a:cs typeface="+mn-cs"/>
        </a:defRPr>
      </a:lvl5pPr>
      <a:lvl6pPr algn="r" defTabSz="914400" eaLnBrk="1" hangingPunct="1" latinLnBrk="0" marL="2286000" rtl="1">
        <a:defRPr sz="1800" kern="1200">
          <a:solidFill>
            <a:schemeClr val="tx1"/>
          </a:solidFill>
          <a:latin typeface="+mn-lt"/>
          <a:ea typeface="+mn-ea"/>
          <a:cs typeface="+mn-cs"/>
        </a:defRPr>
      </a:lvl6pPr>
      <a:lvl7pPr algn="r" defTabSz="914400" eaLnBrk="1" hangingPunct="1" latinLnBrk="0" marL="2743200" rtl="1">
        <a:defRPr sz="1800" kern="1200">
          <a:solidFill>
            <a:schemeClr val="tx1"/>
          </a:solidFill>
          <a:latin typeface="+mn-lt"/>
          <a:ea typeface="+mn-ea"/>
          <a:cs typeface="+mn-cs"/>
        </a:defRPr>
      </a:lvl7pPr>
      <a:lvl8pPr algn="r" defTabSz="914400" eaLnBrk="1" hangingPunct="1" latinLnBrk="0" marL="3200400" rtl="1">
        <a:defRPr sz="1800" kern="1200">
          <a:solidFill>
            <a:schemeClr val="tx1"/>
          </a:solidFill>
          <a:latin typeface="+mn-lt"/>
          <a:ea typeface="+mn-ea"/>
          <a:cs typeface="+mn-cs"/>
        </a:defRPr>
      </a:lvl8pPr>
      <a:lvl9pPr algn="r" defTabSz="914400" eaLnBrk="1" hangingPunct="1" latinLnBrk="0" marL="3657600" rtl="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4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7.xml"/><Relationship Id="rId5" Type="http://schemas.openxmlformats.org/officeDocument/2006/relationships/slide" Target="slide18.xml"/><Relationship Id="rId6" Type="http://schemas.openxmlformats.org/officeDocument/2006/relationships/customXml" Target="../ink/ink2.xml"/><Relationship Id="rId7" Type="http://schemas.openxmlformats.org/officeDocument/2006/relationships/customXml" Target="../ink/ink3.xml"/><Relationship Id="rId8" Type="http://schemas.openxmlformats.org/officeDocument/2006/relationships/customXml" Target="../ink/ink4.xml"/><Relationship Id="rId9" Type="http://schemas.openxmlformats.org/officeDocument/2006/relationships/customXml" Target="../ink/ink5.xml"/><Relationship Id="rId10" Type="http://schemas.openxmlformats.org/officeDocument/2006/relationships/customXml" Target="../ink/ink6.xml"/><Relationship Id="rId1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 Target="slide2.xml"/><Relationship Id="rId3"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 Target="slide6.xml"/><Relationship Id="rId3" Type="http://schemas.openxmlformats.org/officeDocument/2006/relationships/slide" Target="slide2.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 Target="slide2.xml"/><Relationship Id="rId3"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hyperlink" Target="http://ar.wikipedia.org/w/index.php?title=Text&amp;action=edit&amp;redlink=1" TargetMode="External"/><Relationship Id="rId2" Type="http://schemas.openxmlformats.org/officeDocument/2006/relationships/hyperlink" Target="http://ar.wikipedia.org/w/index.php?title=Image&amp;action=edit&amp;redlink=1" TargetMode="External"/><Relationship Id="rId3" Type="http://schemas.openxmlformats.org/officeDocument/2006/relationships/hyperlink" Target="http://ar.wikipedia.org/wiki/Animation" TargetMode="External"/><Relationship Id="rId4" Type="http://schemas.openxmlformats.org/officeDocument/2006/relationships/hyperlink" Target="http://ar.wikipedia.org/w/index.php?title=Sound&amp;action=edit&amp;redlink=1" TargetMode="External"/><Relationship Id="rId5" Type="http://schemas.openxmlformats.org/officeDocument/2006/relationships/hyperlink" Target="http://ar.wikipedia.org/w/index.php?title=Video&amp;action=edit&amp;redlink=1" TargetMode="External"/><Relationship Id="rId6" Type="http://schemas.openxmlformats.org/officeDocument/2006/relationships/hyperlink" Target="http://ar.wikipedia.org/wiki/%25D8%25A7%25D9%2584%25D9%2585%25D8%25AD%25D8%25A7%25D9%2583%25D8%25A7%25D8%25A9" TargetMode="External"/><Relationship Id="rId7" Type="http://schemas.openxmlformats.org/officeDocument/2006/relationships/slide" Target="slide2.xml"/><Relationship Id="rId8"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15.xml"/><Relationship Id="rId3"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 Target="slide15.xml"/><Relationship Id="rId3"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 Target="slide42.xml"/><Relationship Id="rId3"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 Target="slide15.xml"/><Relationship Id="rId2" Type="http://schemas.openxmlformats.org/officeDocument/2006/relationships/slide" Target="slide7.xml"/><Relationship Id="rId3"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 Target="slide15.xml"/><Relationship Id="rId2" Type="http://schemas.openxmlformats.org/officeDocument/2006/relationships/slide" Target="slide7.xml"/><Relationship Id="rId3"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29.xml"/><Relationship Id="rId3" Type="http://schemas.openxmlformats.org/officeDocument/2006/relationships/slide" Target="slide18.xml"/><Relationship Id="rId4" Type="http://schemas.openxmlformats.org/officeDocument/2006/relationships/slide" Target="slide30.xml"/><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19.xml.rels><?xml version="1.0" encoding="UTF-8" standalone="yes"?>
<Relationships xmlns="http://schemas.openxmlformats.org/package/2006/relationships"><Relationship Id="rId1" Type="http://schemas.openxmlformats.org/officeDocument/2006/relationships/slide" Target="slide19.xml"/><Relationship Id="rId2" Type="http://schemas.openxmlformats.org/officeDocument/2006/relationships/slide" Target="slide20.xml"/><Relationship Id="rId3"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 Target="slide21.xml"/><Relationship Id="rId3"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hyperlink" Target="http://ar.wikipedia.org/wiki/E-mail" TargetMode="External"/><Relationship Id="rId3" Type="http://schemas.openxmlformats.org/officeDocument/2006/relationships/hyperlink" Target="http://ar.wikipedia.org/w/index.php?title=Computer_Conferencing&amp;action=edit&amp;redlink=1" TargetMode="External"/><Relationship Id="rId4" Type="http://schemas.openxmlformats.org/officeDocument/2006/relationships/hyperlink" Target="http://ar.wikipedia.org/w/index.php?title=Audio_Conferencing&amp;action=edit&amp;redlink=1" TargetMode="External"/><Relationship Id="rId5" Type="http://schemas.openxmlformats.org/officeDocument/2006/relationships/hyperlink" Target="http://ar.wikipedia.org/w/index.php?title=Video_Conferncing&amp;action=edit&amp;redlink=1" TargetMode="External"/><Relationship Id="rId6"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 Target="slide14.xml"/><Relationship Id="rId3" Type="http://schemas.openxmlformats.org/officeDocument/2006/relationships/slide" Target="slide43.xml"/><Relationship Id="rId4"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14.xml"/><Relationship Id="rId3"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1" showMasterSp="1">
  <p:cSld>
    <p:spTree>
      <p:nvGrpSpPr>
        <p:cNvPr id="23" name=""/>
        <p:cNvGrpSpPr/>
        <p:nvPr/>
      </p:nvGrpSpPr>
      <p:grpSpPr>
        <a:xfrm rot="0">
          <a:off x="0" y="0"/>
          <a:ext cx="0" cy="0"/>
          <a:chOff x="0" y="0"/>
          <a:chExt cx="0" cy="0"/>
        </a:xfrm>
      </p:grpSpPr>
      <p:sp>
        <p:nvSpPr>
          <p:cNvPr id="1048581" name="AutoShape 5"/>
          <p:cNvSpPr/>
          <p:nvPr/>
        </p:nvSpPr>
        <p:spPr>
          <a:xfrm rot="0">
            <a:off x="323850" y="1555750"/>
            <a:ext cx="8280400" cy="5257800"/>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
        <p:nvSpPr>
          <p:cNvPr id="1048582" name="Rectangle 2"/>
          <p:cNvSpPr/>
          <p:nvPr>
            <p:ph type="ctrTitle" sz="full" idx="0"/>
          </p:nvPr>
        </p:nvSpPr>
        <p:spPr>
          <a:xfrm rot="0">
            <a:off x="571500" y="1285875"/>
            <a:ext cx="7772400" cy="1008062"/>
          </a:xfrm>
          <a:prstGeom prst="rect"/>
          <a:noFill/>
          <a:ln>
            <a:noFill/>
          </a:ln>
        </p:spPr>
        <p:txBody>
          <a:bodyPr anchor="ctr" bIns="45720" lIns="91440" rIns="91440" tIns="45720" vert="horz"/>
          <a:lstStyle>
            <a:lvl1pPr algn="ctr">
              <a:defRPr sz="4400"/>
            </a:lvl1pPr>
          </a:lstStyle>
          <a:p>
            <a:pPr eaLnBrk="1" hangingPunct="1" lvl="0"/>
            <a:r>
              <a:rPr altLang="en-US" sz="4000" lang="zh-CN">
                <a:ea typeface="Mudir MT" pitchFamily="2" charset="-78"/>
              </a:rPr>
              <a:t>الفصل الأول</a:t>
            </a:r>
          </a:p>
        </p:txBody>
      </p:sp>
      <p:sp>
        <p:nvSpPr>
          <p:cNvPr id="1048583" name="Rectangle 3"/>
          <p:cNvSpPr/>
          <p:nvPr>
            <p:ph type="subTitle" sz="full" idx="1"/>
          </p:nvPr>
        </p:nvSpPr>
        <p:spPr>
          <a:xfrm rot="0">
            <a:off x="1357312" y="2428875"/>
            <a:ext cx="6400800" cy="1752600"/>
          </a:xfrm>
          <a:prstGeom prst="rect"/>
          <a:noFill/>
          <a:ln>
            <a:noFill/>
          </a:ln>
        </p:spPr>
        <p:txBody>
          <a:bodyPr anchor="ctr" bIns="45720" lIns="91440" rIns="91440" tIns="45720" vert="horz"/>
          <a:lstStyle>
            <a:lvl1pPr algn="ctr" marL="0">
              <a:buFontTx/>
              <a:buNone/>
              <a:defRPr sz="3200">
                <a:solidFill>
                  <a:schemeClr val="dk1"/>
                </a:solidFill>
              </a:defRPr>
            </a:lvl1pPr>
            <a:lvl2pPr algn="ctr" marL="457200">
              <a:buFontTx/>
              <a:buNone/>
            </a:lvl2pPr>
            <a:lvl3pPr algn="ctr" marL="914400">
              <a:buFontTx/>
              <a:buNone/>
            </a:lvl3pPr>
            <a:lvl4pPr algn="ctr" marL="1371600">
              <a:buFontTx/>
              <a:buNone/>
            </a:lvl4pPr>
            <a:lvl5pPr algn="ctr" marL="1828800">
              <a:buFontTx/>
              <a:buNone/>
            </a:lvl5pPr>
          </a:lstStyle>
          <a:p>
            <a:pPr eaLnBrk="1" hangingPunct="1" lvl="0">
              <a:spcBef>
                <a:spcPct val="0"/>
              </a:spcBef>
            </a:pPr>
            <a:r>
              <a:rPr altLang="en-US" b="1" sz="6000" lang="en-US">
                <a:latin typeface="Arabic Typesetting" pitchFamily="66" charset="-78"/>
                <a:ea typeface="Arabic Typesetting" pitchFamily="66" charset="-78"/>
              </a:rPr>
              <a:t>الوسائط المتعددة</a:t>
            </a:r>
          </a:p>
          <a:p>
            <a:pPr eaLnBrk="1" hangingPunct="1" lvl="0">
              <a:spcBef>
                <a:spcPct val="0"/>
              </a:spcBef>
            </a:pPr>
            <a:r>
              <a:rPr altLang="en-US" sz="6000" lang="zh-CN">
                <a:solidFill>
                  <a:schemeClr val="lt2"/>
                </a:solidFill>
                <a:ea typeface="PT Bold Heading" pitchFamily="2" charset="-78"/>
              </a:rPr>
              <a:t>مــــــــــــقدمة وتعــــــــــــــــريفات</a:t>
            </a:r>
          </a:p>
        </p:txBody>
      </p:sp>
      <p:sp>
        <p:nvSpPr>
          <p:cNvPr id="1048584" name="Rectangle 2"/>
          <p:cNvSpPr txBox="1"/>
          <p:nvPr/>
        </p:nvSpPr>
        <p:spPr>
          <a:xfrm rot="0">
            <a:off x="714375" y="4725987"/>
            <a:ext cx="7772400" cy="1006475"/>
          </a:xfrm>
          <a:prstGeom prst="rect"/>
          <a:noFill/>
          <a:ln>
            <a:noFill/>
          </a:ln>
        </p:spPr>
        <p:txBody>
          <a:bodyPr anchor="ctr"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b="1" sz="4000" lang="zh-CN">
                <a:solidFill>
                  <a:schemeClr val="lt2"/>
                </a:solidFill>
                <a:ea typeface="Mudir MT" pitchFamily="2" charset="-78"/>
              </a:rPr>
              <a:t>رائد مهندس : أبوبكر عبد الرحيم الجاك</a:t>
            </a:r>
          </a:p>
        </p:txBody>
      </p:sp>
    </p:spTree>
  </p:cSld>
  <p:clrMapOvr>
    <a:masterClrMapping/>
  </p:clrMapOvr>
  <p:transition spd="fast" advClick="0">
    <p:wheel spokes="1"/>
  </p:transition>
  <p:timing/>
</p:sld>
</file>

<file path=ppt/slides/slide2.xml><?xml version="1.0" encoding="utf-8"?>
<p:sld xmlns:a="http://schemas.openxmlformats.org/drawingml/2006/main" xmlns:r="http://schemas.openxmlformats.org/officeDocument/2006/relationships" xmlns:p="http://schemas.openxmlformats.org/presentationml/2006/main" show="1" showMasterSp="1">
  <p:cSld>
    <p:spTree>
      <p:nvGrpSpPr>
        <p:cNvPr id="60" name=""/>
        <p:cNvGrpSpPr/>
        <p:nvPr/>
      </p:nvGrpSpPr>
      <p:grpSpPr>
        <a:xfrm rot="0">
          <a:off x="0" y="0"/>
          <a:ext cx="0" cy="0"/>
          <a:chOff x="0" y="0"/>
          <a:chExt cx="0" cy="0"/>
        </a:xfrm>
      </p:grpSpPr>
      <p:sp>
        <p:nvSpPr>
          <p:cNvPr id="1048591" name="AutoShape 26"/>
          <p:cNvSpPr/>
          <p:nvPr/>
        </p:nvSpPr>
        <p:spPr>
          <a:xfrm rot="0">
            <a:off x="323850" y="1052512"/>
            <a:ext cx="8496300" cy="5040312"/>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
        <p:nvSpPr>
          <p:cNvPr id="1048592" name="Rectangle 6"/>
          <p:cNvSpPr/>
          <p:nvPr/>
        </p:nvSpPr>
        <p:spPr>
          <a:xfrm rot="0">
            <a:off x="6589712" y="1071562"/>
            <a:ext cx="1077912" cy="792162"/>
          </a:xfrm>
          <a:prstGeom prst="rect"/>
          <a:noFill/>
          <a:ln>
            <a:noFill/>
          </a:ln>
        </p:spPr>
        <p:txBody>
          <a:bodyPr anchor="ctr"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sz="3200" lang="zh-CN">
                <a:solidFill>
                  <a:schemeClr val="lt2"/>
                </a:solidFill>
                <a:ea typeface="Mudir MT" pitchFamily="2" charset="-78"/>
              </a:rPr>
              <a:t>مقدمة</a:t>
            </a:r>
          </a:p>
        </p:txBody>
      </p:sp>
      <p:sp>
        <p:nvSpPr>
          <p:cNvPr id="1048593" name="Rectangle 8"/>
          <p:cNvSpPr/>
          <p:nvPr/>
        </p:nvSpPr>
        <p:spPr>
          <a:xfrm rot="0">
            <a:off x="3714750" y="1579562"/>
            <a:ext cx="3817937" cy="865187"/>
          </a:xfrm>
          <a:prstGeom prst="rect"/>
          <a:noFill/>
          <a:ln>
            <a:noFill/>
          </a:ln>
        </p:spPr>
        <p:txBody>
          <a:bodyPr anchor="ctr"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sz="3200" lang="zh-CN">
                <a:solidFill>
                  <a:schemeClr val="lt2"/>
                </a:solidFill>
                <a:ea typeface="Mudir MT" pitchFamily="2" charset="-78"/>
              </a:rPr>
              <a:t>تعريف الوسائط المتعددة</a:t>
            </a:r>
          </a:p>
        </p:txBody>
      </p:sp>
      <p:sp>
        <p:nvSpPr>
          <p:cNvPr id="1048594" name="Rectangle 9"/>
          <p:cNvSpPr/>
          <p:nvPr/>
        </p:nvSpPr>
        <p:spPr>
          <a:xfrm rot="0">
            <a:off x="2743200" y="2916237"/>
            <a:ext cx="4824412" cy="782637"/>
          </a:xfrm>
          <a:prstGeom prst="rect"/>
          <a:noFill/>
          <a:ln>
            <a:noFill/>
          </a:ln>
        </p:spPr>
        <p:txBody>
          <a:bodyPr anchor="ctr"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sz="3200" lang="zh-CN">
                <a:solidFill>
                  <a:schemeClr val="lt2"/>
                </a:solidFill>
                <a:ea typeface="Mudir MT" pitchFamily="2" charset="-78"/>
              </a:rPr>
              <a:t>خصائص الوسائط المتعددة</a:t>
            </a:r>
          </a:p>
        </p:txBody>
      </p:sp>
      <p:sp>
        <p:nvSpPr>
          <p:cNvPr id="1048595" name="AutoShape 15">
            <a:hlinkClick r:id="rId1" action="ppaction://hlinksldjump"/>
          </p:cNvPr>
          <p:cNvSpPr/>
          <p:nvPr/>
        </p:nvSpPr>
        <p:spPr>
          <a:xfrm rot="0">
            <a:off x="7648575" y="5619750"/>
            <a:ext cx="322262" cy="363537"/>
          </a:xfrm>
          <a:prstGeom prst="octagon"/>
          <a:solidFill>
            <a:srgbClr val="FFCC99"/>
          </a:solidFill>
          <a:ln w="57150" cap="flat" cmpd="thinThick">
            <a:solidFill>
              <a:srgbClr val="FF9900">
                <a:alpha val="100000"/>
              </a:srgbClr>
            </a:solidFill>
            <a:prstDash val="solid"/>
            <a:round/>
          </a:ln>
          <a:effectLst>
            <a:outerShdw algn="ctr" dir="18900000" dist="53881" kx="0" sx="100000" sy="100000">
              <a:schemeClr val="dk2">
                <a:alpha val="50000"/>
              </a:schemeClr>
            </a:outerShdw>
          </a:effectLst>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
        <p:nvSpPr>
          <p:cNvPr id="1048596" name="Rectangle 18"/>
          <p:cNvSpPr/>
          <p:nvPr>
            <p:ph type="title" sz="full" idx="0"/>
          </p:nvPr>
        </p:nvSpPr>
        <p:spPr>
          <a:xfrm rot="0">
            <a:off x="2268537" y="115887"/>
            <a:ext cx="5040312" cy="936625"/>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eaLnBrk="1" hangingPunct="1" lvl="0"/>
            <a:r>
              <a:rPr altLang="en-US" sz="5000" lang="zh-CN">
                <a:ea typeface="PT Bold Heading" pitchFamily="2" charset="-78"/>
              </a:rPr>
              <a:t>مقدمة وتعريفات</a:t>
            </a:r>
          </a:p>
        </p:txBody>
      </p:sp>
      <p:sp>
        <p:nvSpPr>
          <p:cNvPr id="1048597" name="Rectangle 19"/>
          <p:cNvSpPr/>
          <p:nvPr/>
        </p:nvSpPr>
        <p:spPr>
          <a:xfrm rot="0">
            <a:off x="2598737" y="5289550"/>
            <a:ext cx="4968875" cy="854075"/>
          </a:xfrm>
          <a:prstGeom prst="rect"/>
          <a:noFill/>
          <a:ln>
            <a:noFill/>
          </a:ln>
        </p:spPr>
        <p:txBody>
          <a:bodyPr anchor="ctr"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sz="3200" lang="zh-CN">
                <a:solidFill>
                  <a:schemeClr val="lt2"/>
                </a:solidFill>
                <a:ea typeface="Mudir MT" pitchFamily="2" charset="-78"/>
              </a:rPr>
              <a:t>ميزات وعيوب  الوسائط المتعددة</a:t>
            </a:r>
          </a:p>
        </p:txBody>
      </p:sp>
      <p:sp>
        <p:nvSpPr>
          <p:cNvPr id="1048598" name="AutoShape 20">
            <a:hlinkClick r:id="rId2" action="ppaction://hlinksldjump"/>
          </p:cNvPr>
          <p:cNvSpPr/>
          <p:nvPr/>
        </p:nvSpPr>
        <p:spPr>
          <a:xfrm rot="0">
            <a:off x="7678737" y="1357312"/>
            <a:ext cx="322262" cy="363537"/>
          </a:xfrm>
          <a:prstGeom prst="octagon"/>
          <a:solidFill>
            <a:srgbClr val="FFCC99"/>
          </a:solidFill>
          <a:ln w="57150" cap="flat" cmpd="thinThick">
            <a:solidFill>
              <a:srgbClr val="FF9900">
                <a:alpha val="100000"/>
              </a:srgbClr>
            </a:solidFill>
            <a:prstDash val="solid"/>
            <a:round/>
          </a:ln>
          <a:effectLst>
            <a:outerShdw algn="ctr" dir="18900000" dist="53881" kx="0" sx="100000" sy="100000">
              <a:schemeClr val="dk2">
                <a:alpha val="50000"/>
              </a:schemeClr>
            </a:outerShdw>
          </a:effectLst>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
        <p:nvSpPr>
          <p:cNvPr id="1048599" name="AutoShape 21">
            <a:hlinkClick r:id="rId3" action="ppaction://hlinksldjump"/>
          </p:cNvPr>
          <p:cNvSpPr/>
          <p:nvPr/>
        </p:nvSpPr>
        <p:spPr>
          <a:xfrm rot="0">
            <a:off x="7643812" y="1928812"/>
            <a:ext cx="322262" cy="363537"/>
          </a:xfrm>
          <a:prstGeom prst="octagon"/>
          <a:solidFill>
            <a:srgbClr val="FFCC99"/>
          </a:solidFill>
          <a:ln w="57150" cap="flat" cmpd="thinThick">
            <a:solidFill>
              <a:srgbClr val="FF9900">
                <a:alpha val="100000"/>
              </a:srgbClr>
            </a:solidFill>
            <a:prstDash val="solid"/>
            <a:round/>
          </a:ln>
          <a:effectLst>
            <a:outerShdw algn="ctr" dir="18900000" dist="53881" kx="0" sx="100000" sy="100000">
              <a:schemeClr val="dk2">
                <a:alpha val="50000"/>
              </a:schemeClr>
            </a:outerShdw>
          </a:effectLst>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
        <p:nvSpPr>
          <p:cNvPr id="1048600" name="AutoShape 22">
            <a:hlinkClick r:id="rId4" action="ppaction://hlinksldjump"/>
          </p:cNvPr>
          <p:cNvSpPr/>
          <p:nvPr/>
        </p:nvSpPr>
        <p:spPr>
          <a:xfrm rot="0">
            <a:off x="7648575" y="3197225"/>
            <a:ext cx="322262" cy="363537"/>
          </a:xfrm>
          <a:prstGeom prst="octagon"/>
          <a:solidFill>
            <a:srgbClr val="FFCC99"/>
          </a:solidFill>
          <a:ln w="57150" cap="flat" cmpd="thinThick">
            <a:solidFill>
              <a:srgbClr val="FF9900">
                <a:alpha val="100000"/>
              </a:srgbClr>
            </a:solidFill>
            <a:prstDash val="solid"/>
            <a:round/>
          </a:ln>
          <a:effectLst>
            <a:outerShdw algn="ctr" dir="18900000" dist="53881" kx="0" sx="100000" sy="100000">
              <a:schemeClr val="dk2">
                <a:alpha val="50000"/>
              </a:schemeClr>
            </a:outerShdw>
          </a:effectLst>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
        <p:nvSpPr>
          <p:cNvPr id="1048601" name="AutoShape 23"/>
          <p:cNvSpPr/>
          <p:nvPr/>
        </p:nvSpPr>
        <p:spPr>
          <a:xfrm rot="0">
            <a:off x="179387" y="5824537"/>
            <a:ext cx="433387" cy="431800"/>
          </a:xfrm>
          <a:prstGeom prst="flowChartSummingJunction"/>
          <a:solidFill>
            <a:srgbClr val="CD9B69"/>
          </a:solidFill>
          <a:ln w="57150" cap="flat" cmpd="sng">
            <a:solidFill>
              <a:srgbClr val="FF33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
        <p:nvSpPr>
          <p:cNvPr id="1048602" name="AutoShape 27">
            <a:hlinkClick r:id="rId5" action="ppaction://hlinksldjump"/>
          </p:cNvPr>
          <p:cNvSpPr/>
          <p:nvPr/>
        </p:nvSpPr>
        <p:spPr>
          <a:xfrm rot="0">
            <a:off x="7648575" y="3836987"/>
            <a:ext cx="322262" cy="363537"/>
          </a:xfrm>
          <a:prstGeom prst="octagon"/>
          <a:solidFill>
            <a:srgbClr val="FFCC99"/>
          </a:solidFill>
          <a:ln w="57150" cap="flat" cmpd="thinThick">
            <a:solidFill>
              <a:srgbClr val="FF9900">
                <a:alpha val="100000"/>
              </a:srgbClr>
            </a:solidFill>
            <a:prstDash val="solid"/>
            <a:round/>
          </a:ln>
          <a:effectLst>
            <a:outerShdw algn="ctr" dir="18900000" dist="53881" kx="0" sx="100000" sy="100000">
              <a:schemeClr val="dk2">
                <a:alpha val="50000"/>
              </a:schemeClr>
            </a:outerShdw>
          </a:effectLst>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
        <p:nvSpPr>
          <p:cNvPr id="1048603" name="Rectangle 28"/>
          <p:cNvSpPr/>
          <p:nvPr/>
        </p:nvSpPr>
        <p:spPr>
          <a:xfrm rot="0">
            <a:off x="2286000" y="3503612"/>
            <a:ext cx="5256212" cy="854075"/>
          </a:xfrm>
          <a:prstGeom prst="rect"/>
          <a:noFill/>
          <a:ln>
            <a:noFill/>
          </a:ln>
        </p:spPr>
        <p:txBody>
          <a:bodyPr anchor="ctr"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sz="3200" lang="zh-CN">
                <a:solidFill>
                  <a:schemeClr val="lt2"/>
                </a:solidFill>
                <a:ea typeface="Mudir MT" pitchFamily="2" charset="-78"/>
              </a:rPr>
              <a:t>مجالات استخدام الوسائط المتعددة</a:t>
            </a:r>
          </a:p>
        </p:txBody>
      </p:sp>
      <p:sp>
        <p:nvSpPr>
          <p:cNvPr id="1048604" name="AutoShape 27">
            <a:hlinkClick r:id="rId5" action="ppaction://hlinksldjump"/>
          </p:cNvPr>
          <p:cNvSpPr/>
          <p:nvPr/>
        </p:nvSpPr>
        <p:spPr>
          <a:xfrm rot="0">
            <a:off x="7651750" y="4440237"/>
            <a:ext cx="322262" cy="363537"/>
          </a:xfrm>
          <a:prstGeom prst="octagon"/>
          <a:solidFill>
            <a:srgbClr val="FFCC99"/>
          </a:solidFill>
          <a:ln w="57150" cap="flat" cmpd="thinThick">
            <a:solidFill>
              <a:srgbClr val="FF9900">
                <a:alpha val="100000"/>
              </a:srgbClr>
            </a:solidFill>
            <a:prstDash val="solid"/>
            <a:round/>
          </a:ln>
          <a:effectLst>
            <a:outerShdw algn="ctr" dir="18900000" dist="53881" kx="0" sx="100000" sy="100000">
              <a:schemeClr val="dk2">
                <a:alpha val="50000"/>
              </a:schemeClr>
            </a:outerShdw>
          </a:effectLst>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l" eaLnBrk="1" hangingPunct="1" lvl="0" rtl="0"/>
            <a:endParaRPr altLang="en-US" lang="ar-SA"/>
          </a:p>
        </p:txBody>
      </p:sp>
      <p:sp>
        <p:nvSpPr>
          <p:cNvPr id="1048605" name="Rectangle 28"/>
          <p:cNvSpPr/>
          <p:nvPr/>
        </p:nvSpPr>
        <p:spPr>
          <a:xfrm rot="0">
            <a:off x="2314575" y="4148137"/>
            <a:ext cx="5256212" cy="854075"/>
          </a:xfrm>
          <a:prstGeom prst="rect"/>
          <a:noFill/>
          <a:ln>
            <a:noFill/>
          </a:ln>
        </p:spPr>
        <p:txBody>
          <a:bodyPr anchor="ctr"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rtl="0"/>
            <a:r>
              <a:rPr altLang="en-US" sz="3200" lang="zh-CN">
                <a:solidFill>
                  <a:schemeClr val="lt2"/>
                </a:solidFill>
                <a:ea typeface="Mudir MT" pitchFamily="2" charset="-78"/>
              </a:rPr>
              <a:t>إمكانات الوسائط المتعددة</a:t>
            </a:r>
          </a:p>
        </p:txBody>
      </p:sp>
      <p:sp>
        <p:nvSpPr>
          <p:cNvPr id="1048606" name="Rectangle 8"/>
          <p:cNvSpPr/>
          <p:nvPr/>
        </p:nvSpPr>
        <p:spPr>
          <a:xfrm rot="0">
            <a:off x="3683000" y="2206625"/>
            <a:ext cx="3817937" cy="865187"/>
          </a:xfrm>
          <a:prstGeom prst="rect"/>
          <a:noFill/>
          <a:ln>
            <a:noFill/>
          </a:ln>
        </p:spPr>
        <p:txBody>
          <a:bodyPr anchor="ctr"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rtl="0"/>
            <a:r>
              <a:rPr altLang="en-US" sz="3200" lang="zh-CN">
                <a:solidFill>
                  <a:schemeClr val="lt2"/>
                </a:solidFill>
                <a:ea typeface="Mudir MT" pitchFamily="2" charset="-78"/>
              </a:rPr>
              <a:t>عناصر الوسائط المتعددة</a:t>
            </a:r>
          </a:p>
        </p:txBody>
      </p:sp>
      <p:sp>
        <p:nvSpPr>
          <p:cNvPr id="1048607" name="AutoShape 21">
            <a:hlinkClick r:id="rId3" action="ppaction://hlinksldjump"/>
          </p:cNvPr>
          <p:cNvSpPr/>
          <p:nvPr/>
        </p:nvSpPr>
        <p:spPr>
          <a:xfrm rot="0">
            <a:off x="7651750" y="2562225"/>
            <a:ext cx="322262" cy="363537"/>
          </a:xfrm>
          <a:prstGeom prst="octagon"/>
          <a:solidFill>
            <a:srgbClr val="FFCC99"/>
          </a:solidFill>
          <a:ln w="57150" cap="flat" cmpd="thinThick">
            <a:solidFill>
              <a:srgbClr val="FF9900">
                <a:alpha val="100000"/>
              </a:srgbClr>
            </a:solidFill>
            <a:prstDash val="solid"/>
            <a:round/>
          </a:ln>
          <a:effectLst>
            <a:outerShdw algn="ctr" dir="18900000" dist="53881" kx="0" sx="100000" sy="100000">
              <a:schemeClr val="dk2">
                <a:alpha val="50000"/>
              </a:schemeClr>
            </a:outerShdw>
          </a:effectLst>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l" eaLnBrk="1" hangingPunct="1" lvl="0" rtl="0"/>
            <a:endParaRPr altLang="en-US" lang="ar-SA"/>
          </a:p>
        </p:txBody>
      </p:sp>
      <p:sp>
        <p:nvSpPr>
          <p:cNvPr id="1048608" name="AutoShape 15">
            <a:hlinkClick r:id="rId1" action="ppaction://hlinksldjump"/>
          </p:cNvPr>
          <p:cNvSpPr/>
          <p:nvPr/>
        </p:nvSpPr>
        <p:spPr>
          <a:xfrm rot="0">
            <a:off x="7648575" y="5033962"/>
            <a:ext cx="322262" cy="363537"/>
          </a:xfrm>
          <a:prstGeom prst="octagon"/>
          <a:solidFill>
            <a:srgbClr val="FFCC99"/>
          </a:solidFill>
          <a:ln w="57150" cap="flat" cmpd="thinThick">
            <a:solidFill>
              <a:srgbClr val="FF9900">
                <a:alpha val="100000"/>
              </a:srgbClr>
            </a:solidFill>
            <a:prstDash val="solid"/>
            <a:round/>
          </a:ln>
          <a:effectLst>
            <a:outerShdw algn="ctr" dir="18900000" dist="53881" kx="0" sx="100000" sy="100000">
              <a:schemeClr val="dk2">
                <a:alpha val="50000"/>
              </a:schemeClr>
            </a:outerShdw>
          </a:effectLst>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l" eaLnBrk="1" hangingPunct="1" lvl="0" rtl="0"/>
            <a:endParaRPr altLang="en-US" lang="ar-SA"/>
          </a:p>
        </p:txBody>
      </p:sp>
      <p:sp>
        <p:nvSpPr>
          <p:cNvPr id="1048609" name="Rectangle 19"/>
          <p:cNvSpPr/>
          <p:nvPr/>
        </p:nvSpPr>
        <p:spPr>
          <a:xfrm rot="0">
            <a:off x="1428750" y="4703762"/>
            <a:ext cx="6138862" cy="854075"/>
          </a:xfrm>
          <a:prstGeom prst="rect"/>
          <a:noFill/>
          <a:ln>
            <a:noFill/>
          </a:ln>
        </p:spPr>
        <p:txBody>
          <a:bodyPr anchor="ctr"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rtl="0"/>
            <a:r>
              <a:rPr altLang="en-US" sz="3200" lang="zh-CN">
                <a:solidFill>
                  <a:schemeClr val="lt2"/>
                </a:solidFill>
                <a:ea typeface="Mudir MT" pitchFamily="2" charset="-78"/>
              </a:rPr>
              <a:t>معايير الجودة في تقويم الوسائط المتعددة</a:t>
            </a:r>
          </a:p>
        </p:txBody>
      </p:sp>
      <mc:AlternateContent xmlns:mc="http://schemas.openxmlformats.org/markup-compatibility/2006">
        <mc:Choice xmlns:p14="http://schemas.microsoft.com/office/powerpoint/2010/main" Requires="p14">
          <p:contentPart p14:bwMode="auto" r:id="rId6">
            <p14:nvContentPartPr>
              <p14:cNvPr id="1048610" name="Ink 34"/>
              <p14:cNvContentPartPr/>
              <p14:nvPr/>
            </p14:nvContentPartPr>
            <p14:xfrm rot="0">
              <a:off x="1328737" y="4672012"/>
              <a:ext cx="1587" cy="1587"/>
            </p14:xfrm>
          </p:contentPart>
        </mc:Choice>
        <mc:Fallback>
          <p:sp>
            <p:nvSpPr>
              <p:cNvPr id="1048610" name="Ink 34"/>
              <p:cNvSpPr/>
              <p:nvPr/>
            </p:nvSpPr>
            <p:spPr>
              <a:xfrm rot="0">
                <a:off x="1328737" y="4672012"/>
                <a:ext cx="1587" cy="1587"/>
              </a:xfrm>
              <a:custGeom>
                <a:avLst/>
                <a:ahLst/>
                <a:rect l="0" t="0" r="r" b="b"/>
                <a:pathLst>
                  <a:path w="1" h="1">
                    <a:moveTo>
                      <a:pt x="0" y="0"/>
                    </a:moveTo>
                    <a:lnTo>
                      <a:pt x="0" y="0"/>
                    </a:lnTo>
                  </a:path>
                </a:pathLst>
              </a:custGeom>
              <a:noFill/>
              <a:ln w="34925" cap="rnd" cmpd="sng">
                <a:solidFill>
                  <a:srgbClr val="FF0000">
                    <a:alpha val="100000"/>
                  </a:srgbClr>
                </a:solidFill>
                <a:prstDash val="solid"/>
                <a:round/>
              </a:ln>
            </p:spPr>
          </p:sp>
        </mc:Fallback>
      </mc:AlternateContent>
      <mc:AlternateContent xmlns:mc="http://schemas.openxmlformats.org/markup-compatibility/2006">
        <mc:Choice xmlns:p14="http://schemas.microsoft.com/office/powerpoint/2010/main" Requires="p14">
          <p:contentPart p14:bwMode="auto" r:id="rId7">
            <p14:nvContentPartPr>
              <p14:cNvPr id="1048611" name="Ink 35"/>
              <p14:cNvContentPartPr/>
              <p14:nvPr/>
            </p14:nvContentPartPr>
            <p14:xfrm rot="0">
              <a:off x="754062" y="5554662"/>
              <a:ext cx="1587" cy="1587"/>
            </p14:xfrm>
          </p:contentPart>
        </mc:Choice>
        <mc:Fallback>
          <p:sp>
            <p:nvSpPr>
              <p:cNvPr id="1048611" name="Ink 35"/>
              <p:cNvSpPr/>
              <p:nvPr/>
            </p:nvSpPr>
            <p:spPr>
              <a:xfrm rot="0">
                <a:off x="754062" y="5554662"/>
                <a:ext cx="1587" cy="1587"/>
              </a:xfrm>
              <a:custGeom>
                <a:avLst/>
                <a:ahLst/>
                <a:rect l="0" t="0" r="r" b="b"/>
                <a:pathLst>
                  <a:path w="1" h="1">
                    <a:moveTo>
                      <a:pt x="0" y="0"/>
                    </a:moveTo>
                    <a:lnTo>
                      <a:pt x="0" y="0"/>
                    </a:lnTo>
                  </a:path>
                </a:pathLst>
              </a:custGeom>
              <a:noFill/>
              <a:ln w="34925" cap="rnd" cmpd="sng">
                <a:solidFill>
                  <a:srgbClr val="FF0000">
                    <a:alpha val="100000"/>
                  </a:srgbClr>
                </a:solidFill>
                <a:prstDash val="solid"/>
                <a:round/>
              </a:ln>
            </p:spPr>
          </p:sp>
        </mc:Fallback>
      </mc:AlternateContent>
      <mc:AlternateContent xmlns:mc="http://schemas.openxmlformats.org/markup-compatibility/2006">
        <mc:Choice xmlns:p14="http://schemas.microsoft.com/office/powerpoint/2010/main" Requires="p14">
          <p:contentPart p14:bwMode="auto" r:id="rId8">
            <p14:nvContentPartPr>
              <p14:cNvPr id="1048612" name="Ink 36"/>
              <p14:cNvContentPartPr/>
              <p14:nvPr/>
            </p14:nvContentPartPr>
            <p14:xfrm rot="0">
              <a:off x="1422400" y="6464300"/>
              <a:ext cx="1587" cy="1587"/>
            </p14:xfrm>
          </p:contentPart>
        </mc:Choice>
        <mc:Fallback>
          <p:sp>
            <p:nvSpPr>
              <p:cNvPr id="1048612" name="Ink 36"/>
              <p:cNvSpPr/>
              <p:nvPr/>
            </p:nvSpPr>
            <p:spPr>
              <a:xfrm rot="0">
                <a:off x="1422400" y="6464300"/>
                <a:ext cx="1587" cy="1587"/>
              </a:xfrm>
              <a:custGeom>
                <a:avLst/>
                <a:ahLst/>
                <a:rect l="0" t="0" r="r" b="b"/>
                <a:pathLst>
                  <a:path w="1" h="1">
                    <a:moveTo>
                      <a:pt x="0" y="0"/>
                    </a:moveTo>
                    <a:lnTo>
                      <a:pt x="0" y="0"/>
                    </a:lnTo>
                  </a:path>
                </a:pathLst>
              </a:custGeom>
              <a:noFill/>
              <a:ln w="19050" cap="rnd" cmpd="sng">
                <a:solidFill>
                  <a:srgbClr val="FF0000">
                    <a:alpha val="100000"/>
                  </a:srgbClr>
                </a:solidFill>
                <a:prstDash val="solid"/>
                <a:round/>
              </a:ln>
            </p:spPr>
          </p:sp>
        </mc:Fallback>
      </mc:AlternateContent>
      <mc:AlternateContent xmlns:mc="http://schemas.openxmlformats.org/markup-compatibility/2006">
        <mc:Choice xmlns:p14="http://schemas.microsoft.com/office/powerpoint/2010/main" Requires="p14">
          <p:contentPart p14:bwMode="auto" r:id="rId9">
            <p14:nvContentPartPr>
              <p14:cNvPr id="1048613" name="Ink 37"/>
              <p14:cNvContentPartPr/>
              <p14:nvPr/>
            </p14:nvContentPartPr>
            <p14:xfrm rot="0">
              <a:off x="2735262" y="3729037"/>
              <a:ext cx="1587" cy="1587"/>
            </p14:xfrm>
          </p:contentPart>
        </mc:Choice>
        <mc:Fallback>
          <p:sp>
            <p:nvSpPr>
              <p:cNvPr id="1048613" name="Ink 37"/>
              <p:cNvSpPr/>
              <p:nvPr/>
            </p:nvSpPr>
            <p:spPr>
              <a:xfrm rot="0">
                <a:off x="2735262" y="3729037"/>
                <a:ext cx="1587" cy="1587"/>
              </a:xfrm>
              <a:custGeom>
                <a:avLst/>
                <a:ahLst/>
                <a:rect l="0" t="0" r="r" b="b"/>
                <a:pathLst>
                  <a:path w="1" h="1">
                    <a:moveTo>
                      <a:pt x="0" y="0"/>
                    </a:moveTo>
                    <a:lnTo>
                      <a:pt x="0" y="0"/>
                    </a:lnTo>
                  </a:path>
                </a:pathLst>
              </a:custGeom>
              <a:noFill/>
              <a:ln w="34925" cap="rnd" cmpd="sng">
                <a:solidFill>
                  <a:srgbClr val="FF0000">
                    <a:alpha val="100000"/>
                  </a:srgbClr>
                </a:solidFill>
                <a:prstDash val="solid"/>
                <a:round/>
              </a:ln>
            </p:spPr>
          </p:sp>
        </mc:Fallback>
      </mc:AlternateContent>
      <mc:AlternateContent xmlns:mc="http://schemas.openxmlformats.org/markup-compatibility/2006">
        <mc:Choice xmlns:p14="http://schemas.microsoft.com/office/powerpoint/2010/main" Requires="p14">
          <p:contentPart p14:bwMode="auto" r:id="rId10">
            <p14:nvContentPartPr>
              <p14:cNvPr id="1048614" name="Ink 38"/>
              <p14:cNvContentPartPr/>
              <p14:nvPr/>
            </p14:nvContentPartPr>
            <p14:xfrm rot="0">
              <a:off x="3522662" y="2786062"/>
              <a:ext cx="1587" cy="1587"/>
            </p14:xfrm>
          </p:contentPart>
        </mc:Choice>
        <mc:Fallback>
          <p:sp>
            <p:nvSpPr>
              <p:cNvPr id="1048614" name="Ink 38"/>
              <p:cNvSpPr/>
              <p:nvPr/>
            </p:nvSpPr>
            <p:spPr>
              <a:xfrm rot="0">
                <a:off x="3522662" y="2786062"/>
                <a:ext cx="1587" cy="1587"/>
              </a:xfrm>
              <a:custGeom>
                <a:avLst/>
                <a:ahLst/>
                <a:rect l="0" t="0" r="r" b="b"/>
                <a:pathLst>
                  <a:path w="1" h="1">
                    <a:moveTo>
                      <a:pt x="0" y="0"/>
                    </a:moveTo>
                    <a:lnTo>
                      <a:pt x="0" y="0"/>
                    </a:lnTo>
                  </a:path>
                </a:pathLst>
              </a:custGeom>
              <a:noFill/>
              <a:ln w="34925" cap="rnd" cmpd="sng">
                <a:solidFill>
                  <a:srgbClr val="FF0000">
                    <a:alpha val="100000"/>
                  </a:srgbClr>
                </a:solidFill>
                <a:prstDash val="solid"/>
                <a:round/>
              </a:ln>
            </p:spPr>
          </p:sp>
        </mc:Fallback>
      </mc:AlternateContent>
    </p:spTree>
  </p:cSld>
  <p:clrMapOvr>
    <a:masterClrMapping/>
  </p:clrMapOvr>
  <p:transition spd="fast" advClick="0">
    <p:wheel spokes="1"/>
  </p:transition>
  <p:timing/>
</p:sld>
</file>

<file path=ppt/slides/slide3.xml><?xml version="1.0" encoding="utf-8"?>
<p:sld xmlns:a="http://schemas.openxmlformats.org/drawingml/2006/main" xmlns:r="http://schemas.openxmlformats.org/officeDocument/2006/relationships" xmlns:p="http://schemas.openxmlformats.org/presentationml/2006/main" show="1" showMasterSp="1">
  <p:cSld>
    <p:spTree>
      <p:nvGrpSpPr>
        <p:cNvPr id="62" name=""/>
        <p:cNvGrpSpPr/>
        <p:nvPr/>
      </p:nvGrpSpPr>
      <p:grpSpPr>
        <a:xfrm rot="0">
          <a:off x="0" y="0"/>
          <a:ext cx="0" cy="0"/>
          <a:chOff x="0" y="0"/>
          <a:chExt cx="0" cy="0"/>
        </a:xfrm>
      </p:grpSpPr>
      <p:sp>
        <p:nvSpPr>
          <p:cNvPr id="1048617" name="AutoShape 10"/>
          <p:cNvSpPr/>
          <p:nvPr/>
        </p:nvSpPr>
        <p:spPr>
          <a:xfrm rot="0">
            <a:off x="323850" y="571500"/>
            <a:ext cx="8496300" cy="5876925"/>
          </a:xfrm>
          <a:prstGeom prst="roundRect">
            <a:avLst>
              <a:gd name="adj" fmla="val 6542"/>
            </a:avLst>
          </a:prstGeom>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618" name="Rectangle 7"/>
          <p:cNvSpPr/>
          <p:nvPr>
            <p:ph type="title" sz="full" idx="0"/>
          </p:nvPr>
        </p:nvSpPr>
        <p:spPr>
          <a:xfrm rot="0">
            <a:off x="6948487" y="0"/>
            <a:ext cx="1765300" cy="647700"/>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eaLnBrk="1" hangingPunct="1" lvl="0"/>
            <a:r>
              <a:rPr altLang="en-US" sz="3500" lang="zh-CN">
                <a:ea typeface="PT Bold Heading" pitchFamily="2" charset="-78"/>
              </a:rPr>
              <a:t>مقدمة:</a:t>
            </a:r>
          </a:p>
        </p:txBody>
      </p:sp>
      <p:sp>
        <p:nvSpPr>
          <p:cNvPr id="1048619" name="Text Box 8"/>
          <p:cNvSpPr txBox="1"/>
          <p:nvPr/>
        </p:nvSpPr>
        <p:spPr>
          <a:xfrm rot="0">
            <a:off x="428625" y="571500"/>
            <a:ext cx="8215312" cy="6591300"/>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2800" lang="zh-CN">
                <a:ea typeface="Simplified Arabic" pitchFamily="18" charset="-78"/>
              </a:rPr>
              <a:t>ظهر مفهوم الوسائط المتعددة متزامناً مع تطور الحاسب الآلي، خاصة في أجياله الحديثة، ويعود ذلك إلى الستينيات من القرن العشرين، ولكن مفهوم الوسائط المتعددة اشتهر وانتشر بشكل واسع وسريع في التسعينات من القرن الماضي حيث الحاسبات السريعة كبيرة السعة.</a:t>
            </a:r>
            <a:r>
              <a:rPr altLang="zh-CN" b="1" sz="2800" lang="ar-SA"/>
              <a:t> </a:t>
            </a:r>
          </a:p>
          <a:p>
            <a:pPr algn="just" eaLnBrk="1" hangingPunct="1" lvl="0">
              <a:spcBef>
                <a:spcPct val="50000"/>
              </a:spcBef>
            </a:pPr>
            <a:r>
              <a:rPr altLang="zh-CN" b="1" sz="2800" lang="ar-SA"/>
              <a:t>  كما عرفت الوسائط المتعددة في مجال تكنولوجيا التعليم منذ الستينات وتتكون كلمة</a:t>
            </a:r>
            <a:r>
              <a:rPr altLang="zh-CN" b="1" sz="2800" lang="en-US">
                <a:ea typeface="SimSun" pitchFamily="2" charset="-122"/>
              </a:rPr>
              <a:t> Multimedia </a:t>
            </a:r>
            <a:r>
              <a:rPr altLang="zh-CN" b="1" sz="2800" lang="ar-SA"/>
              <a:t>من جزأين هما</a:t>
            </a:r>
            <a:r>
              <a:rPr altLang="zh-CN" b="1" sz="2800" lang="en-US">
                <a:ea typeface="SimSun" pitchFamily="2" charset="-122"/>
              </a:rPr>
              <a:t> Multi </a:t>
            </a:r>
            <a:r>
              <a:rPr altLang="zh-CN" b="1" sz="2800" lang="ar-SA">
                <a:ea typeface="SimSun" pitchFamily="2" charset="-122"/>
              </a:rPr>
              <a:t> </a:t>
            </a:r>
            <a:r>
              <a:rPr altLang="zh-CN" b="1" sz="2800" lang="ar-SA"/>
              <a:t>وهى تستخدم في اللغة الإنجليزية بمعنى التعددية، و</a:t>
            </a:r>
            <a:r>
              <a:rPr altLang="zh-CN" b="1" sz="2800" lang="en-US">
                <a:ea typeface="SimSun" pitchFamily="2" charset="-122"/>
              </a:rPr>
              <a:t> Media </a:t>
            </a:r>
            <a:r>
              <a:rPr altLang="zh-CN" b="1" sz="2800" lang="ar-SA"/>
              <a:t>تشير إلى الوسائط الحاملة للمعلومات كالورق والأشرطة والأقراص السمعية والبصرية الممغنطة. (عبد العظيم عبد السلام الفرجانى، 1997، ص211 ) .</a:t>
            </a:r>
          </a:p>
          <a:p>
            <a:pPr algn="just" eaLnBrk="1" hangingPunct="1" lvl="0"/>
            <a:r>
              <a:rPr altLang="en-US" b="1" sz="2800" lang="ar-SA"/>
              <a:t>   الوسائط المتعددة (</a:t>
            </a:r>
            <a:r>
              <a:rPr altLang="en-US" b="1" sz="2800" lang="en-US"/>
              <a:t>Multimedia</a:t>
            </a:r>
            <a:r>
              <a:rPr altLang="en-US" b="1" sz="2800" lang="ar-SA"/>
              <a:t>) وهو مصطلح واسع الانتشار في عالم الحاسوب يرمز إلى استعمال عدة أجهزة إعلام مختلفة لحمل المعلومات مثل (النص، الصوت، الرسومات، الصور المتحركة، الفيديو ).</a:t>
            </a:r>
          </a:p>
        </p:txBody>
      </p:sp>
      <p:sp>
        <p:nvSpPr>
          <p:cNvPr id="1048620" name="AutoShape 11">
            <a:hlinkClick r:id="rId1" action="ppaction://hlinksldjump"/>
          </p:cNvPr>
          <p:cNvSpPr/>
          <p:nvPr/>
        </p:nvSpPr>
        <p:spPr>
          <a:xfrm rot="0">
            <a:off x="4500562" y="6429375"/>
            <a:ext cx="714375" cy="384175"/>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Tree>
  </p:cSld>
  <p:clrMapOvr>
    <a:masterClrMapping/>
  </p:clrMapOvr>
  <p:transition spd="fast" advClick="0">
    <p:wheel spokes="1"/>
  </p:transition>
  <p:timing/>
</p:sld>
</file>

<file path=ppt/slides/slide4.xml><?xml version="1.0" encoding="utf-8"?>
<p:sld xmlns:a="http://schemas.openxmlformats.org/drawingml/2006/main" xmlns:r="http://schemas.openxmlformats.org/officeDocument/2006/relationships" xmlns:p="http://schemas.openxmlformats.org/presentationml/2006/main" show="1" showMasterSp="1">
  <p:cSld>
    <p:spTree>
      <p:nvGrpSpPr>
        <p:cNvPr id="63" name=""/>
        <p:cNvGrpSpPr/>
        <p:nvPr/>
      </p:nvGrpSpPr>
      <p:grpSpPr>
        <a:xfrm rot="0">
          <a:off x="0" y="0"/>
          <a:ext cx="0" cy="0"/>
          <a:chOff x="0" y="0"/>
          <a:chExt cx="0" cy="0"/>
        </a:xfrm>
      </p:grpSpPr>
      <p:sp>
        <p:nvSpPr>
          <p:cNvPr id="1048621" name="Rectangle 2"/>
          <p:cNvSpPr/>
          <p:nvPr>
            <p:ph type="title" sz="full" idx="0"/>
          </p:nvPr>
        </p:nvSpPr>
        <p:spPr>
          <a:xfrm rot="0">
            <a:off x="4787900" y="188912"/>
            <a:ext cx="3898900"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eaLnBrk="1" hangingPunct="1" lvl="0"/>
            <a:r>
              <a:rPr altLang="en-US" sz="3000" lang="zh-CN">
                <a:ea typeface="PT Bold Heading" pitchFamily="2" charset="-78"/>
              </a:rPr>
              <a:t>تعريف الوسائط المتعددة</a:t>
            </a:r>
          </a:p>
        </p:txBody>
      </p:sp>
      <p:sp>
        <p:nvSpPr>
          <p:cNvPr id="1048622" name="AutoShape 9"/>
          <p:cNvSpPr/>
          <p:nvPr/>
        </p:nvSpPr>
        <p:spPr>
          <a:xfrm rot="0">
            <a:off x="323850" y="1125537"/>
            <a:ext cx="8496300" cy="1798637"/>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623" name="Text Box 10"/>
          <p:cNvSpPr txBox="1"/>
          <p:nvPr/>
        </p:nvSpPr>
        <p:spPr>
          <a:xfrm rot="0">
            <a:off x="539750" y="1477962"/>
            <a:ext cx="8064500" cy="980441"/>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000" lang="zh-CN">
                <a:ea typeface="Simplified Arabic" pitchFamily="18" charset="-78"/>
              </a:rPr>
              <a:t>هناك جدل كبير في تحديد مفهوم الوسائط المتعددة، أو كما تسمى الوسائط الجديدة، أو الوسائط المتكاملة.</a:t>
            </a:r>
          </a:p>
        </p:txBody>
      </p:sp>
      <p:sp>
        <p:nvSpPr>
          <p:cNvPr id="1048624" name="AutoShape 12">
            <a:hlinkClick r:id="rId1" action="ppaction://hlinksldjump"/>
          </p:cNvPr>
          <p:cNvSpPr/>
          <p:nvPr/>
        </p:nvSpPr>
        <p:spPr>
          <a:xfrm rot="0">
            <a:off x="214312" y="6000750"/>
            <a:ext cx="714375" cy="669925"/>
          </a:xfrm>
          <a:prstGeom prst="leftArrow">
            <a:avLst>
              <a:gd name="adj1" fmla="val 58564"/>
              <a:gd name="adj2" fmla="val 48454"/>
            </a:avLst>
          </a:prstGeom>
          <a:solidFill>
            <a:srgbClr val="FFCC99"/>
          </a:solidFill>
          <a:ln w="57150" cap="flat" cmpd="thinThick">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التالي</a:t>
            </a:r>
          </a:p>
        </p:txBody>
      </p:sp>
      <p:sp>
        <p:nvSpPr>
          <p:cNvPr id="1048625" name="AutoShape 13"/>
          <p:cNvSpPr/>
          <p:nvPr/>
        </p:nvSpPr>
        <p:spPr>
          <a:xfrm rot="0">
            <a:off x="323850" y="4078287"/>
            <a:ext cx="8496300" cy="1798637"/>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626" name="Rectangle 14"/>
          <p:cNvSpPr/>
          <p:nvPr/>
        </p:nvSpPr>
        <p:spPr>
          <a:xfrm rot="0">
            <a:off x="6156325" y="3429000"/>
            <a:ext cx="2530475" cy="647700"/>
          </a:xfrm>
          <a:prstGeom prst="rect"/>
          <a:noFill/>
          <a:ln>
            <a:noFill/>
          </a:ln>
        </p:spPr>
        <p:txBody>
          <a:bodyPr anchor="ctr"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sz="3000" lang="zh-CN">
                <a:solidFill>
                  <a:schemeClr val="lt2"/>
                </a:solidFill>
                <a:ea typeface="PT Bold Heading" pitchFamily="2" charset="-78"/>
              </a:rPr>
              <a:t>التعريف الأول:</a:t>
            </a:r>
          </a:p>
        </p:txBody>
      </p:sp>
      <p:sp>
        <p:nvSpPr>
          <p:cNvPr id="1048627" name="Text Box 15"/>
          <p:cNvSpPr txBox="1"/>
          <p:nvPr/>
        </p:nvSpPr>
        <p:spPr>
          <a:xfrm rot="0">
            <a:off x="357187" y="4237037"/>
            <a:ext cx="8358187" cy="1869440"/>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000" lang="zh-CN">
                <a:ea typeface="Simplified Arabic" pitchFamily="18" charset="-78"/>
              </a:rPr>
              <a:t>استخدام الحاسب الآلي في عرض يشترك فيه النص المكتوب، مع الرسوم المصحوبة بالصوت، والصورة المتحركة، بعد ربطها بوسائل تسمح بالإمساك بزمام عملية التعامل مع المادة المتضمنة.</a:t>
            </a:r>
          </a:p>
        </p:txBody>
      </p:sp>
      <p:sp>
        <p:nvSpPr>
          <p:cNvPr id="1048628" name="AutoShape 16">
            <a:hlinkClick r:id="rId2" action="ppaction://hlinksldjump"/>
          </p:cNvPr>
          <p:cNvSpPr/>
          <p:nvPr/>
        </p:nvSpPr>
        <p:spPr>
          <a:xfrm rot="0">
            <a:off x="4500562" y="6067425"/>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Tree>
  </p:cSld>
  <p:clrMapOvr>
    <a:masterClrMapping/>
  </p:clrMapOvr>
  <p:transition spd="fast" advClick="0">
    <p:wheel spokes="1"/>
  </p:transition>
  <p:timing/>
</p:sld>
</file>

<file path=ppt/slides/slide5.xml><?xml version="1.0" encoding="utf-8"?>
<p:sld xmlns:a="http://schemas.openxmlformats.org/drawingml/2006/main" xmlns:r="http://schemas.openxmlformats.org/officeDocument/2006/relationships" xmlns:p="http://schemas.openxmlformats.org/presentationml/2006/main" show="1" showMasterSp="1">
  <p:cSld>
    <p:spTree>
      <p:nvGrpSpPr>
        <p:cNvPr id="64" name=""/>
        <p:cNvGrpSpPr/>
        <p:nvPr/>
      </p:nvGrpSpPr>
      <p:grpSpPr>
        <a:xfrm rot="0">
          <a:off x="0" y="0"/>
          <a:ext cx="0" cy="0"/>
          <a:chOff x="0" y="0"/>
          <a:chExt cx="0" cy="0"/>
        </a:xfrm>
      </p:grpSpPr>
      <p:sp>
        <p:nvSpPr>
          <p:cNvPr id="1048629" name="Rectangle 2"/>
          <p:cNvSpPr/>
          <p:nvPr>
            <p:ph type="title" sz="full" idx="0"/>
          </p:nvPr>
        </p:nvSpPr>
        <p:spPr>
          <a:xfrm rot="0">
            <a:off x="4211637" y="188912"/>
            <a:ext cx="4475162"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eaLnBrk="1" hangingPunct="1" lvl="0"/>
            <a:r>
              <a:rPr altLang="en-US" sz="3000" lang="zh-CN">
                <a:ea typeface="PT Bold Heading" pitchFamily="2" charset="-78"/>
              </a:rPr>
              <a:t>تابع: تعريف الوسائط المتعددة</a:t>
            </a:r>
          </a:p>
        </p:txBody>
      </p:sp>
      <p:sp>
        <p:nvSpPr>
          <p:cNvPr id="1048630" name="AutoShape 5">
            <a:hlinkClick r:id="rId1" action="ppaction://hlinksldjump"/>
          </p:cNvPr>
          <p:cNvSpPr/>
          <p:nvPr/>
        </p:nvSpPr>
        <p:spPr>
          <a:xfrm rot="0">
            <a:off x="1116012" y="6165850"/>
            <a:ext cx="720725" cy="576262"/>
          </a:xfrm>
          <a:prstGeom prst="leftArrow">
            <a:avLst>
              <a:gd name="adj1" fmla="val 49898"/>
              <a:gd name="adj2" fmla="val 48452"/>
            </a:avLst>
          </a:prstGeom>
          <a:solidFill>
            <a:srgbClr val="FFCC99"/>
          </a:solidFill>
          <a:ln w="57150" cap="flat" cmpd="thinThick">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عودة</a:t>
            </a:r>
          </a:p>
        </p:txBody>
      </p:sp>
      <p:sp>
        <p:nvSpPr>
          <p:cNvPr id="1048631" name="AutoShape 6">
            <a:hlinkClick r:id="rId2" action="ppaction://hlinksldjump"/>
          </p:cNvPr>
          <p:cNvSpPr/>
          <p:nvPr/>
        </p:nvSpPr>
        <p:spPr>
          <a:xfrm rot="0" flipH="1">
            <a:off x="7523162" y="6165850"/>
            <a:ext cx="720725" cy="576262"/>
          </a:xfrm>
          <a:prstGeom prst="leftArrow">
            <a:avLst>
              <a:gd name="adj1" fmla="val 49898"/>
              <a:gd name="adj2" fmla="val 48452"/>
            </a:avLst>
          </a:prstGeom>
          <a:solidFill>
            <a:srgbClr val="FFCC99"/>
          </a:solidFill>
          <a:ln w="57150" cap="flat" cmpd="thinThick">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التالي</a:t>
            </a:r>
          </a:p>
        </p:txBody>
      </p:sp>
      <p:sp>
        <p:nvSpPr>
          <p:cNvPr id="1048632" name="AutoShape 7"/>
          <p:cNvSpPr/>
          <p:nvPr/>
        </p:nvSpPr>
        <p:spPr>
          <a:xfrm rot="0">
            <a:off x="323850" y="1557337"/>
            <a:ext cx="8496300" cy="1798637"/>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633" name="Rectangle 8"/>
          <p:cNvSpPr/>
          <p:nvPr/>
        </p:nvSpPr>
        <p:spPr>
          <a:xfrm rot="0">
            <a:off x="6156325" y="928687"/>
            <a:ext cx="2530475" cy="647700"/>
          </a:xfrm>
          <a:prstGeom prst="rect"/>
          <a:noFill/>
          <a:ln>
            <a:noFill/>
          </a:ln>
        </p:spPr>
        <p:txBody>
          <a:bodyPr anchor="ctr"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sz="3000" lang="zh-CN">
                <a:solidFill>
                  <a:schemeClr val="lt2"/>
                </a:solidFill>
                <a:ea typeface="PT Bold Heading" pitchFamily="2" charset="-78"/>
              </a:rPr>
              <a:t>التعريف الثاني:</a:t>
            </a:r>
          </a:p>
        </p:txBody>
      </p:sp>
      <p:sp>
        <p:nvSpPr>
          <p:cNvPr id="1048634" name="Text Box 9"/>
          <p:cNvSpPr txBox="1"/>
          <p:nvPr/>
        </p:nvSpPr>
        <p:spPr>
          <a:xfrm rot="0">
            <a:off x="468312" y="1700212"/>
            <a:ext cx="8135937" cy="14636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000" lang="zh-CN">
                <a:ea typeface="Simplified Arabic" pitchFamily="18" charset="-78"/>
              </a:rPr>
              <a:t>أي تكوين من النصوص والرسوم الفنية والصوت والرسوم المتحركة والفيديو عن طريق الحاسب الآلي، أو أي وسيلة إلكترونية أخرى.</a:t>
            </a:r>
          </a:p>
        </p:txBody>
      </p:sp>
      <p:sp>
        <p:nvSpPr>
          <p:cNvPr id="1048635" name="AutoShape 10"/>
          <p:cNvSpPr/>
          <p:nvPr/>
        </p:nvSpPr>
        <p:spPr>
          <a:xfrm rot="0">
            <a:off x="323850" y="3933825"/>
            <a:ext cx="8496300" cy="2087562"/>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636" name="Rectangle 11"/>
          <p:cNvSpPr/>
          <p:nvPr/>
        </p:nvSpPr>
        <p:spPr>
          <a:xfrm rot="0">
            <a:off x="6156325" y="3371850"/>
            <a:ext cx="2530475" cy="647700"/>
          </a:xfrm>
          <a:prstGeom prst="rect"/>
          <a:noFill/>
          <a:ln>
            <a:noFill/>
          </a:ln>
        </p:spPr>
        <p:txBody>
          <a:bodyPr anchor="ctr"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sz="3000" lang="zh-CN">
                <a:solidFill>
                  <a:schemeClr val="lt2"/>
                </a:solidFill>
                <a:ea typeface="PT Bold Heading" pitchFamily="2" charset="-78"/>
              </a:rPr>
              <a:t>التعريف الثالث:</a:t>
            </a:r>
          </a:p>
        </p:txBody>
      </p:sp>
      <p:sp>
        <p:nvSpPr>
          <p:cNvPr id="1048637" name="Text Box 12"/>
          <p:cNvSpPr txBox="1"/>
          <p:nvPr/>
        </p:nvSpPr>
        <p:spPr>
          <a:xfrm rot="0">
            <a:off x="468312" y="4076700"/>
            <a:ext cx="8135937" cy="19208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000" lang="zh-CN">
                <a:ea typeface="Simplified Arabic" pitchFamily="18" charset="-78"/>
              </a:rPr>
              <a:t>إدخال النصوص والصوت والصور في برنامج متكامل يتفاعل معه المستخدم عن طريق الحاسب أو شاشة التلفاز، وعندها يمكن للمستخدم التجول في البرنامج بالضغط على مفتاح، أو زر الفارة، أو لمس الشاشة عند نقطة ما.</a:t>
            </a:r>
          </a:p>
        </p:txBody>
      </p:sp>
      <p:sp>
        <p:nvSpPr>
          <p:cNvPr id="1048638" name="AutoShape 13">
            <a:hlinkClick r:id="rId3"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Tree>
  </p:cSld>
  <p:clrMapOvr>
    <a:masterClrMapping/>
  </p:clrMapOvr>
  <p:transition spd="fast" advClick="0">
    <p:wheel spokes="1"/>
  </p:transition>
  <p:timing/>
</p:sld>
</file>

<file path=ppt/slides/slide6.xml><?xml version="1.0" encoding="utf-8"?>
<p:sld xmlns:a="http://schemas.openxmlformats.org/drawingml/2006/main" xmlns:r="http://schemas.openxmlformats.org/officeDocument/2006/relationships" xmlns:p="http://schemas.openxmlformats.org/presentationml/2006/main" show="1" showMasterSp="1">
  <p:cSld>
    <p:spTree>
      <p:nvGrpSpPr>
        <p:cNvPr id="65" name=""/>
        <p:cNvGrpSpPr/>
        <p:nvPr/>
      </p:nvGrpSpPr>
      <p:grpSpPr>
        <a:xfrm rot="0">
          <a:off x="0" y="0"/>
          <a:ext cx="0" cy="0"/>
          <a:chOff x="0" y="0"/>
          <a:chExt cx="0" cy="0"/>
        </a:xfrm>
      </p:grpSpPr>
      <p:sp>
        <p:nvSpPr>
          <p:cNvPr id="1048639" name="Rectangle 2"/>
          <p:cNvSpPr/>
          <p:nvPr>
            <p:ph type="title" sz="full" idx="0"/>
          </p:nvPr>
        </p:nvSpPr>
        <p:spPr>
          <a:xfrm rot="0">
            <a:off x="4211637" y="188912"/>
            <a:ext cx="4475162"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eaLnBrk="1" hangingPunct="1" lvl="0"/>
            <a:r>
              <a:rPr altLang="en-US" sz="3000" lang="zh-CN">
                <a:ea typeface="PT Bold Heading" pitchFamily="2" charset="-78"/>
              </a:rPr>
              <a:t>تابع: تعريف الوسائط المتعددة</a:t>
            </a:r>
          </a:p>
        </p:txBody>
      </p:sp>
      <p:sp>
        <p:nvSpPr>
          <p:cNvPr id="1048640" name="AutoShape 3">
            <a:hlinkClick r:id="rId1" action="ppaction://hlinksldjump"/>
          </p:cNvPr>
          <p:cNvSpPr/>
          <p:nvPr/>
        </p:nvSpPr>
        <p:spPr>
          <a:xfrm rot="0">
            <a:off x="1116012" y="6165850"/>
            <a:ext cx="720725" cy="576262"/>
          </a:xfrm>
          <a:prstGeom prst="leftArrow">
            <a:avLst>
              <a:gd name="adj1" fmla="val 49898"/>
              <a:gd name="adj2" fmla="val 48452"/>
            </a:avLst>
          </a:prstGeom>
          <a:solidFill>
            <a:srgbClr val="FFCC99"/>
          </a:solidFill>
          <a:ln w="57150" cap="flat" cmpd="thinThick">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عودة</a:t>
            </a:r>
          </a:p>
        </p:txBody>
      </p:sp>
      <p:sp>
        <p:nvSpPr>
          <p:cNvPr id="1048641" name="AutoShape 4">
            <a:hlinkClick r:id="rId1" action="ppaction://hlinksldjump"/>
          </p:cNvPr>
          <p:cNvSpPr/>
          <p:nvPr/>
        </p:nvSpPr>
        <p:spPr>
          <a:xfrm rot="0" flipH="1">
            <a:off x="7523162" y="6165850"/>
            <a:ext cx="720725" cy="576262"/>
          </a:xfrm>
          <a:prstGeom prst="leftArrow">
            <a:avLst>
              <a:gd name="adj1" fmla="val 49898"/>
              <a:gd name="adj2" fmla="val 48452"/>
            </a:avLst>
          </a:prstGeom>
          <a:solidFill>
            <a:srgbClr val="FFCC99"/>
          </a:solidFill>
          <a:ln w="57150" cap="flat" cmpd="thinThick">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التالي</a:t>
            </a:r>
          </a:p>
        </p:txBody>
      </p:sp>
      <p:sp>
        <p:nvSpPr>
          <p:cNvPr id="1048642" name="AutoShape 5"/>
          <p:cNvSpPr/>
          <p:nvPr/>
        </p:nvSpPr>
        <p:spPr>
          <a:xfrm rot="0">
            <a:off x="323850" y="1557337"/>
            <a:ext cx="8496300" cy="1798637"/>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643" name="Rectangle 6"/>
          <p:cNvSpPr/>
          <p:nvPr/>
        </p:nvSpPr>
        <p:spPr>
          <a:xfrm rot="0">
            <a:off x="6156325" y="1000125"/>
            <a:ext cx="2530475" cy="647700"/>
          </a:xfrm>
          <a:prstGeom prst="rect"/>
          <a:noFill/>
          <a:ln>
            <a:noFill/>
          </a:ln>
        </p:spPr>
        <p:txBody>
          <a:bodyPr anchor="ctr"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sz="3000" lang="zh-CN">
                <a:solidFill>
                  <a:schemeClr val="lt2"/>
                </a:solidFill>
                <a:ea typeface="PT Bold Heading" pitchFamily="2" charset="-78"/>
              </a:rPr>
              <a:t>التعريف الرابع:</a:t>
            </a:r>
          </a:p>
        </p:txBody>
      </p:sp>
      <p:sp>
        <p:nvSpPr>
          <p:cNvPr id="1048644" name="Text Box 7"/>
          <p:cNvSpPr txBox="1"/>
          <p:nvPr/>
        </p:nvSpPr>
        <p:spPr>
          <a:xfrm rot="0">
            <a:off x="468312" y="1700212"/>
            <a:ext cx="8135937" cy="14636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000" lang="zh-CN">
                <a:ea typeface="Simplified Arabic" pitchFamily="18" charset="-78"/>
              </a:rPr>
              <a:t>برامج حاسب آلي تتكامل فيها عدة وسائط للاتصال مثل النص والصوت والموسيقى والصور الثابتة والمتحركة والرسوم الثابتة والمتحركة والتي يتعامل معها المستخدم بشكل تفاعلي.</a:t>
            </a:r>
          </a:p>
        </p:txBody>
      </p:sp>
      <p:sp>
        <p:nvSpPr>
          <p:cNvPr id="1048645" name="AutoShape 8"/>
          <p:cNvSpPr/>
          <p:nvPr/>
        </p:nvSpPr>
        <p:spPr>
          <a:xfrm rot="0">
            <a:off x="323850" y="3933825"/>
            <a:ext cx="8496300" cy="2087562"/>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646" name="Rectangle 9"/>
          <p:cNvSpPr/>
          <p:nvPr/>
        </p:nvSpPr>
        <p:spPr>
          <a:xfrm rot="0">
            <a:off x="5795962" y="3357562"/>
            <a:ext cx="2890837" cy="647700"/>
          </a:xfrm>
          <a:prstGeom prst="rect"/>
          <a:noFill/>
          <a:ln>
            <a:noFill/>
          </a:ln>
        </p:spPr>
        <p:txBody>
          <a:bodyPr anchor="ctr"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sz="3000" lang="zh-CN">
                <a:solidFill>
                  <a:schemeClr val="lt2"/>
                </a:solidFill>
                <a:ea typeface="PT Bold Heading" pitchFamily="2" charset="-78"/>
              </a:rPr>
              <a:t>التعريف الخامس:</a:t>
            </a:r>
          </a:p>
        </p:txBody>
      </p:sp>
      <p:sp>
        <p:nvSpPr>
          <p:cNvPr id="1048647" name="Text Box 10"/>
          <p:cNvSpPr txBox="1"/>
          <p:nvPr/>
        </p:nvSpPr>
        <p:spPr>
          <a:xfrm rot="0">
            <a:off x="468312" y="4076700"/>
            <a:ext cx="8135937" cy="19208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000" lang="zh-CN">
                <a:ea typeface="Simplified Arabic" pitchFamily="18" charset="-78"/>
              </a:rPr>
              <a:t>طائفة من تطبيقات الحاسب التي يمكنها تخزين المعلومات بأشكال متعددة، تشتمل على النصوص والأصوات والرسوم المتحركة، وعرض هـذه المعلومات بطريقة تفاعلية وفقـاً لمسـار يتحكم فيه المستخدم.</a:t>
            </a:r>
          </a:p>
        </p:txBody>
      </p:sp>
      <p:sp>
        <p:nvSpPr>
          <p:cNvPr id="1048648" name="AutoShape 11">
            <a:hlinkClick r:id="rId2"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Tree>
  </p:cSld>
  <p:clrMapOvr>
    <a:masterClrMapping/>
  </p:clrMapOvr>
  <p:transition spd="fast" advClick="0">
    <p:wheel spokes="1"/>
  </p:transition>
  <p:timing/>
</p:sld>
</file>

<file path=ppt/slides/slide7.xml><?xml version="1.0" encoding="utf-8"?>
<p:sld xmlns:a="http://schemas.openxmlformats.org/drawingml/2006/main" xmlns:r="http://schemas.openxmlformats.org/officeDocument/2006/relationships" xmlns:p="http://schemas.openxmlformats.org/presentationml/2006/main" show="1" showMasterSp="1">
  <p:cSld>
    <p:spTree>
      <p:nvGrpSpPr>
        <p:cNvPr id="66" name=""/>
        <p:cNvGrpSpPr/>
        <p:nvPr/>
      </p:nvGrpSpPr>
      <p:grpSpPr>
        <a:xfrm rot="0">
          <a:off x="0" y="0"/>
          <a:ext cx="0" cy="0"/>
          <a:chOff x="0" y="0"/>
          <a:chExt cx="0" cy="0"/>
        </a:xfrm>
      </p:grpSpPr>
      <p:sp>
        <p:nvSpPr>
          <p:cNvPr id="1048649" name="Rectangle 2"/>
          <p:cNvSpPr/>
          <p:nvPr>
            <p:ph type="title" sz="full" idx="0"/>
          </p:nvPr>
        </p:nvSpPr>
        <p:spPr>
          <a:xfrm rot="0">
            <a:off x="4859337" y="188912"/>
            <a:ext cx="3827462"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000" lang="zh-CN">
                <a:ea typeface="PT Bold Heading" pitchFamily="2" charset="-78"/>
              </a:rPr>
              <a:t>عناصر الوسائط المتعددة</a:t>
            </a:r>
          </a:p>
        </p:txBody>
      </p:sp>
      <p:sp>
        <p:nvSpPr>
          <p:cNvPr id="1048650" name="AutoShape 7"/>
          <p:cNvSpPr/>
          <p:nvPr/>
        </p:nvSpPr>
        <p:spPr>
          <a:xfrm rot="0">
            <a:off x="323850" y="1125537"/>
            <a:ext cx="8496300" cy="4803775"/>
          </a:xfrm>
          <a:prstGeom prst="roundRect">
            <a:avLst>
              <a:gd name="adj" fmla="val 7301"/>
            </a:avLst>
          </a:prstGeom>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651" name="Text Box 10"/>
          <p:cNvSpPr txBox="1"/>
          <p:nvPr/>
        </p:nvSpPr>
        <p:spPr>
          <a:xfrm rot="0">
            <a:off x="357187" y="1143000"/>
            <a:ext cx="8429625" cy="48291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lnSpc>
                <a:spcPct val="90000"/>
              </a:lnSpc>
              <a:buChar char="•"/>
            </a:pPr>
            <a:r>
              <a:rPr altLang="en-US" b="1" sz="2800" lang="zh-CN">
                <a:ea typeface="Simplified Arabic" pitchFamily="18" charset="-78"/>
              </a:rPr>
              <a:t>النص </a:t>
            </a:r>
            <a:r>
              <a:rPr altLang="en-US" b="1" sz="2200" lang="en-US">
                <a:ea typeface="Simplified Arabic" pitchFamily="18" charset="-78"/>
                <a:hlinkClick r:id="rId1"/>
              </a:rPr>
              <a:t>Text</a:t>
            </a:r>
            <a:r>
              <a:rPr altLang="en-US" b="1" sz="2200" lang="zh-CN">
                <a:ea typeface="Simplified Arabic" pitchFamily="18" charset="-78"/>
              </a:rPr>
              <a:t>  : وهوالمادة التعليمية التي </a:t>
            </a:r>
            <a:r>
              <a:rPr altLang="en-US" b="1" sz="2200" lang="en-US">
                <a:latin typeface="Script MT Bold" pitchFamily="66" charset="0"/>
                <a:ea typeface="Simplified Arabic" pitchFamily="18" charset="-78"/>
              </a:rPr>
              <a:t>تفرض على المتعلم بشكل مطبوع </a:t>
            </a:r>
            <a:r>
              <a:rPr altLang="en-US" b="1" sz="2200" lang="zh-CN">
                <a:ea typeface="Simplified Arabic" pitchFamily="18" charset="-78"/>
              </a:rPr>
              <a:t>، ويتم نقلها إلى الحاسوب بأشكال أكثر تشويقا .</a:t>
            </a:r>
          </a:p>
          <a:p>
            <a:pPr algn="just" eaLnBrk="1" hangingPunct="1" lvl="0">
              <a:lnSpc>
                <a:spcPct val="90000"/>
              </a:lnSpc>
              <a:buChar char="•"/>
            </a:pPr>
            <a:r>
              <a:rPr altLang="en-US" b="1" sz="2800" lang="zh-CN">
                <a:ea typeface="Simplified Arabic" pitchFamily="18" charset="-78"/>
              </a:rPr>
              <a:t>الصورة </a:t>
            </a:r>
            <a:r>
              <a:rPr altLang="en-US" b="1" sz="2200" lang="en-US">
                <a:ea typeface="Simplified Arabic" pitchFamily="18" charset="-78"/>
                <a:hlinkClick r:id="rId2"/>
              </a:rPr>
              <a:t>Image</a:t>
            </a:r>
            <a:r>
              <a:rPr altLang="en-US" b="1" sz="2200" lang="zh-CN">
                <a:ea typeface="Simplified Arabic" pitchFamily="18" charset="-78"/>
              </a:rPr>
              <a:t> : تستخدم على شكل سلسلة متتابعة لتكون عملا متكاملا ويجب أن يراعي فيها الوضوح والنقاء وأن تكون معبرة ومتصلة بالموضوع الأساسي للمادة التعليمية </a:t>
            </a:r>
          </a:p>
          <a:p>
            <a:pPr algn="just" eaLnBrk="1" hangingPunct="1" lvl="0">
              <a:lnSpc>
                <a:spcPct val="90000"/>
              </a:lnSpc>
              <a:buChar char="•"/>
            </a:pPr>
            <a:r>
              <a:rPr altLang="zh-CN" b="1" sz="2800" lang="ar-SA">
                <a:ea typeface="Simplified Arabic" pitchFamily="18" charset="-78"/>
              </a:rPr>
              <a:t>الرسوم المتحركة </a:t>
            </a:r>
            <a:r>
              <a:rPr altLang="zh-CN" b="1" sz="2200" lang="en-US">
                <a:ea typeface="SimSun" pitchFamily="2" charset="-122"/>
                <a:hlinkClick r:id="rId3"/>
              </a:rPr>
              <a:t>Animation</a:t>
            </a:r>
            <a:r>
              <a:rPr altLang="zh-CN" b="1" sz="2200" lang="ar-SA">
                <a:ea typeface="Simplified Arabic" pitchFamily="18" charset="-78"/>
              </a:rPr>
              <a:t> : وذلك أن الصور المتحركة أفضل وقعا على نفس المتعلم لأنها تزيد من الجاذبية والتشويق في البرنامج التعليمي .</a:t>
            </a:r>
            <a:r>
              <a:rPr altLang="zh-CN" b="1" sz="2200" lang="en-US">
                <a:ea typeface="SimSun" pitchFamily="2" charset="-122"/>
              </a:rPr>
              <a:t> </a:t>
            </a:r>
          </a:p>
          <a:p>
            <a:pPr algn="just" eaLnBrk="1" hangingPunct="1" lvl="0">
              <a:lnSpc>
                <a:spcPct val="80000"/>
              </a:lnSpc>
              <a:buChar char="•"/>
            </a:pPr>
            <a:r>
              <a:rPr altLang="en-US" b="1" sz="2800" lang="zh-CN">
                <a:ea typeface="Simplified Arabic" pitchFamily="18" charset="-78"/>
              </a:rPr>
              <a:t>الصوت </a:t>
            </a:r>
            <a:r>
              <a:rPr altLang="en-US" b="1" sz="2200" lang="en-US">
                <a:ea typeface="Simplified Arabic" pitchFamily="18" charset="-78"/>
                <a:hlinkClick r:id="rId4"/>
              </a:rPr>
              <a:t>Sound</a:t>
            </a:r>
            <a:r>
              <a:rPr altLang="en-US" b="1" sz="2200" lang="zh-CN">
                <a:ea typeface="Simplified Arabic" pitchFamily="18" charset="-78"/>
              </a:rPr>
              <a:t>: وقد يستخدم أحيانا كبديل لاستخدام النص في العملية التعليمية شريطة توظيفه بشكل جيد، سواء كان قراءة نصوص أو مؤثرات صوتية بما يخدم المحتوى التعليمي.</a:t>
            </a:r>
          </a:p>
          <a:p>
            <a:pPr algn="just" eaLnBrk="1" hangingPunct="1" lvl="0">
              <a:lnSpc>
                <a:spcPct val="80000"/>
              </a:lnSpc>
              <a:buChar char="•"/>
            </a:pPr>
            <a:r>
              <a:rPr altLang="en-US" b="1" sz="2800" lang="zh-CN">
                <a:ea typeface="Simplified Arabic" pitchFamily="18" charset="-78"/>
              </a:rPr>
              <a:t>الفيديو </a:t>
            </a:r>
            <a:r>
              <a:rPr altLang="en-US" b="1" sz="2200" lang="en-US">
                <a:ea typeface="Simplified Arabic" pitchFamily="18" charset="-78"/>
                <a:hlinkClick r:id="rId5"/>
              </a:rPr>
              <a:t>Video</a:t>
            </a:r>
            <a:r>
              <a:rPr altLang="en-US" b="1" sz="2200" lang="zh-CN">
                <a:ea typeface="Simplified Arabic" pitchFamily="18" charset="-78"/>
              </a:rPr>
              <a:t> : يعتبر الفيديو أقوى الوسائل التعليمية التي استخدمتها العملية التعليمية في العصر الحديث ، وقد أعطت التكنولوجيا الحديثة الصلاحية لمطوِّر المادة التعليمية ومستخدم الحاسوب ؛ لإدخال تسجيلات الفيديو إلى الحاسوب وبذلك تكاملت عناصر الوسائط المتعددة كلها : النص ، الصوت ، الصورة ، الحركة . · برامج التأليف الإبداعية ، مثل : </a:t>
            </a:r>
            <a:r>
              <a:rPr altLang="en-US" b="1" sz="2200" lang="en-US">
                <a:ea typeface="Simplified Arabic" pitchFamily="18" charset="-78"/>
              </a:rPr>
              <a:t>Director </a:t>
            </a:r>
            <a:r>
              <a:rPr altLang="en-US" b="1" sz="2200" lang="zh-CN">
                <a:ea typeface="Simplified Arabic" pitchFamily="18" charset="-78"/>
              </a:rPr>
              <a:t>، </a:t>
            </a:r>
            <a:r>
              <a:rPr altLang="en-US" b="1" sz="2200" lang="en-US">
                <a:ea typeface="Simplified Arabic" pitchFamily="18" charset="-78"/>
              </a:rPr>
              <a:t>Authorware</a:t>
            </a:r>
          </a:p>
          <a:p>
            <a:pPr algn="just" eaLnBrk="1" hangingPunct="1" lvl="0">
              <a:lnSpc>
                <a:spcPct val="80000"/>
              </a:lnSpc>
              <a:buChar char="•"/>
            </a:pPr>
            <a:r>
              <a:rPr altLang="en-US" b="1" sz="2800" lang="zh-CN">
                <a:ea typeface="Simplified Arabic" pitchFamily="18" charset="-78"/>
              </a:rPr>
              <a:t>برامج </a:t>
            </a:r>
            <a:r>
              <a:rPr altLang="en-US" b="1" sz="2200" lang="zh-CN">
                <a:ea typeface="Simplified Arabic" pitchFamily="18" charset="-78"/>
                <a:hlinkClick r:id="rId6"/>
              </a:rPr>
              <a:t>المحاكاة</a:t>
            </a:r>
            <a:r>
              <a:rPr altLang="en-US" b="1" sz="2200" lang="zh-CN">
                <a:ea typeface="Simplified Arabic" pitchFamily="18" charset="-78"/>
              </a:rPr>
              <a:t> وبرامج إنتاج البيانات وبعض لغات البرمجة.</a:t>
            </a:r>
          </a:p>
        </p:txBody>
      </p:sp>
      <p:sp>
        <p:nvSpPr>
          <p:cNvPr id="1048652" name="AutoShape 11">
            <a:hlinkClick r:id="rId7"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Tree>
  </p:cSld>
  <p:clrMapOvr>
    <a:masterClrMapping/>
  </p:clrMapOvr>
  <p:transition spd="fast" advClick="0">
    <p:wheel spokes="1"/>
  </p:transition>
  <p:timing/>
</p:sld>
</file>

<file path=ppt/slides/slide8.xml><?xml version="1.0" encoding="utf-8"?>
<p:sld xmlns:a="http://schemas.openxmlformats.org/drawingml/2006/main" xmlns:r="http://schemas.openxmlformats.org/officeDocument/2006/relationships" xmlns:p="http://schemas.openxmlformats.org/presentationml/2006/main" show="1" showMasterSp="1">
  <p:cSld>
    <p:spTree>
      <p:nvGrpSpPr>
        <p:cNvPr id="67" name=""/>
        <p:cNvGrpSpPr/>
        <p:nvPr/>
      </p:nvGrpSpPr>
      <p:grpSpPr>
        <a:xfrm rot="0">
          <a:off x="0" y="0"/>
          <a:ext cx="0" cy="0"/>
          <a:chOff x="0" y="0"/>
          <a:chExt cx="0" cy="0"/>
        </a:xfrm>
      </p:grpSpPr>
      <p:sp>
        <p:nvSpPr>
          <p:cNvPr id="1048653" name="Rectangle 2"/>
          <p:cNvSpPr/>
          <p:nvPr>
            <p:ph type="title" sz="full" idx="0"/>
          </p:nvPr>
        </p:nvSpPr>
        <p:spPr>
          <a:xfrm rot="0">
            <a:off x="4859337" y="188912"/>
            <a:ext cx="3827462"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000" lang="zh-CN">
                <a:ea typeface="PT Bold Heading" pitchFamily="2" charset="-78"/>
              </a:rPr>
              <a:t>خصائص الوسائط المتعددة</a:t>
            </a:r>
          </a:p>
        </p:txBody>
      </p:sp>
      <p:sp>
        <p:nvSpPr>
          <p:cNvPr id="1048654" name="AutoShape 7"/>
          <p:cNvSpPr/>
          <p:nvPr/>
        </p:nvSpPr>
        <p:spPr>
          <a:xfrm rot="0">
            <a:off x="323850" y="1125537"/>
            <a:ext cx="8496300" cy="1798637"/>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655" name="Text Box 10"/>
          <p:cNvSpPr txBox="1"/>
          <p:nvPr/>
        </p:nvSpPr>
        <p:spPr>
          <a:xfrm rot="0">
            <a:off x="539750" y="1477962"/>
            <a:ext cx="8064500" cy="10826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000" lang="zh-CN">
                <a:ea typeface="Simplified Arabic" pitchFamily="18" charset="-78"/>
              </a:rPr>
              <a:t>تتميز برامـج الوسائـط المتعـددة بعـدة خصائـص أهمهـا: </a:t>
            </a:r>
            <a:r>
              <a:rPr altLang="en-US" b="1" sz="3500" lang="zh-CN">
                <a:solidFill>
                  <a:srgbClr val="CD9B69"/>
                </a:solidFill>
                <a:effectLst>
                  <a:outerShdw algn="tl" blurRad="38100" dir="2700000" dist="38100">
                    <a:srgbClr val="C0C0C0"/>
                  </a:outerShdw>
                </a:effectLst>
                <a:ea typeface="Simplified Arabic" pitchFamily="18" charset="-78"/>
              </a:rPr>
              <a:t>التكاملية</a:t>
            </a:r>
            <a:r>
              <a:rPr altLang="en-US" b="1" sz="3000" lang="zh-CN">
                <a:ea typeface="Simplified Arabic" pitchFamily="18" charset="-78"/>
              </a:rPr>
              <a:t> و </a:t>
            </a:r>
            <a:r>
              <a:rPr altLang="en-US" b="1" sz="3500" lang="zh-CN">
                <a:solidFill>
                  <a:srgbClr val="CD9B69"/>
                </a:solidFill>
                <a:effectLst>
                  <a:outerShdw algn="tl" blurRad="38100" dir="2700000" dist="38100">
                    <a:srgbClr val="C0C0C0"/>
                  </a:outerShdw>
                </a:effectLst>
                <a:ea typeface="Simplified Arabic" pitchFamily="18" charset="-78"/>
              </a:rPr>
              <a:t>التفاعلية</a:t>
            </a:r>
            <a:r>
              <a:rPr altLang="en-US" b="1" sz="3000" lang="zh-CN">
                <a:ea typeface="Simplified Arabic" pitchFamily="18" charset="-78"/>
              </a:rPr>
              <a:t>.</a:t>
            </a:r>
          </a:p>
        </p:txBody>
      </p:sp>
      <p:sp>
        <p:nvSpPr>
          <p:cNvPr id="1048656" name="AutoShape 11">
            <a:hlinkClick r:id="rId1"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657" name="Rectangle 12"/>
          <p:cNvSpPr/>
          <p:nvPr/>
        </p:nvSpPr>
        <p:spPr>
          <a:xfrm rot="0">
            <a:off x="2268537" y="4579937"/>
            <a:ext cx="3817937" cy="865187"/>
          </a:xfrm>
          <a:prstGeom prst="rect"/>
          <a:noFill/>
          <a:ln>
            <a:noFill/>
          </a:ln>
        </p:spPr>
        <p:txBody>
          <a:bodyPr anchor="ctr"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sz="3200" lang="zh-CN">
                <a:solidFill>
                  <a:schemeClr val="lt2"/>
                </a:solidFill>
                <a:ea typeface="Mudir MT" pitchFamily="2" charset="-78"/>
              </a:rPr>
              <a:t>التكاملية </a:t>
            </a:r>
            <a:r>
              <a:rPr altLang="en-US" sz="3200" lang="en-US">
                <a:solidFill>
                  <a:schemeClr val="lt2"/>
                </a:solidFill>
                <a:ea typeface="Mudir MT" pitchFamily="2" charset="-78"/>
              </a:rPr>
              <a:t>Integration</a:t>
            </a:r>
          </a:p>
        </p:txBody>
      </p:sp>
      <p:sp>
        <p:nvSpPr>
          <p:cNvPr id="1048658" name="Rectangle 13"/>
          <p:cNvSpPr/>
          <p:nvPr/>
        </p:nvSpPr>
        <p:spPr>
          <a:xfrm rot="0">
            <a:off x="1979612" y="3644900"/>
            <a:ext cx="4824412" cy="782637"/>
          </a:xfrm>
          <a:prstGeom prst="rect"/>
          <a:noFill/>
          <a:ln>
            <a:noFill/>
          </a:ln>
        </p:spPr>
        <p:txBody>
          <a:bodyPr anchor="ctr"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sz="3200" lang="zh-CN">
                <a:solidFill>
                  <a:schemeClr val="lt2"/>
                </a:solidFill>
                <a:ea typeface="Mudir MT" pitchFamily="2" charset="-78"/>
              </a:rPr>
              <a:t>التفاعلية </a:t>
            </a:r>
            <a:r>
              <a:rPr altLang="en-US" sz="3200" lang="en-US">
                <a:solidFill>
                  <a:schemeClr val="lt2"/>
                </a:solidFill>
                <a:ea typeface="Mudir MT" pitchFamily="2" charset="-78"/>
              </a:rPr>
              <a:t>Interaction</a:t>
            </a:r>
          </a:p>
        </p:txBody>
      </p:sp>
      <p:sp>
        <p:nvSpPr>
          <p:cNvPr id="1048659" name="AutoShape 14">
            <a:hlinkClick r:id="rId2" action="ppaction://hlinksldjump"/>
          </p:cNvPr>
          <p:cNvSpPr/>
          <p:nvPr/>
        </p:nvSpPr>
        <p:spPr>
          <a:xfrm rot="0">
            <a:off x="6373812" y="4797425"/>
            <a:ext cx="504825" cy="504825"/>
          </a:xfrm>
          <a:prstGeom prst="octagon"/>
          <a:solidFill>
            <a:srgbClr val="FFCC99"/>
          </a:solidFill>
          <a:ln w="57150" cap="flat" cmpd="thinThick">
            <a:solidFill>
              <a:srgbClr val="FF9900">
                <a:alpha val="100000"/>
              </a:srgbClr>
            </a:solidFill>
            <a:prstDash val="solid"/>
            <a:round/>
          </a:ln>
          <a:effectLst>
            <a:outerShdw algn="ctr" dir="18900000" dist="53881" kx="0" sx="100000" sy="100000">
              <a:schemeClr val="dk2">
                <a:alpha val="50000"/>
              </a:schemeClr>
            </a:outerShdw>
          </a:effectLst>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
        <p:nvSpPr>
          <p:cNvPr id="1048660" name="AutoShape 15">
            <a:hlinkClick r:id="rId2" action="ppaction://hlinksldjump"/>
          </p:cNvPr>
          <p:cNvSpPr/>
          <p:nvPr/>
        </p:nvSpPr>
        <p:spPr>
          <a:xfrm rot="0">
            <a:off x="7000875" y="3779837"/>
            <a:ext cx="504825" cy="504825"/>
          </a:xfrm>
          <a:prstGeom prst="octagon"/>
          <a:solidFill>
            <a:srgbClr val="FFCC99"/>
          </a:solidFill>
          <a:ln w="57150" cap="flat" cmpd="thinThick">
            <a:solidFill>
              <a:srgbClr val="FF9900">
                <a:alpha val="100000"/>
              </a:srgbClr>
            </a:solidFill>
            <a:prstDash val="solid"/>
            <a:round/>
          </a:ln>
          <a:effectLst>
            <a:outerShdw algn="ctr" dir="18900000" dist="53881" kx="0" sx="100000" sy="100000">
              <a:schemeClr val="dk2">
                <a:alpha val="50000"/>
              </a:schemeClr>
            </a:outerShdw>
          </a:effectLst>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Tree>
  </p:cSld>
  <p:clrMapOvr>
    <a:masterClrMapping/>
  </p:clrMapOvr>
  <p:transition spd="fast" advClick="0">
    <p:wheel spokes="1"/>
  </p:transition>
  <p:timing/>
</p:sld>
</file>

<file path=ppt/slides/slide9.xml><?xml version="1.0" encoding="utf-8"?>
<p:sld xmlns:a="http://schemas.openxmlformats.org/drawingml/2006/main" xmlns:r="http://schemas.openxmlformats.org/officeDocument/2006/relationships" xmlns:p="http://schemas.openxmlformats.org/presentationml/2006/main" show="1" showMasterSp="1">
  <p:cSld>
    <p:spTree>
      <p:nvGrpSpPr>
        <p:cNvPr id="68" name=""/>
        <p:cNvGrpSpPr/>
        <p:nvPr/>
      </p:nvGrpSpPr>
      <p:grpSpPr>
        <a:xfrm rot="0">
          <a:off x="0" y="0"/>
          <a:ext cx="0" cy="0"/>
          <a:chOff x="0" y="0"/>
          <a:chExt cx="0" cy="0"/>
        </a:xfrm>
      </p:grpSpPr>
      <p:sp>
        <p:nvSpPr>
          <p:cNvPr id="1048661" name="Rectangle 2"/>
          <p:cNvSpPr/>
          <p:nvPr>
            <p:ph type="title" sz="full" idx="0"/>
          </p:nvPr>
        </p:nvSpPr>
        <p:spPr>
          <a:xfrm rot="0">
            <a:off x="3348037" y="188912"/>
            <a:ext cx="5338762"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000" lang="zh-CN">
                <a:ea typeface="PT Bold Heading" pitchFamily="2" charset="-78"/>
              </a:rPr>
              <a:t>التفاعلية:</a:t>
            </a:r>
          </a:p>
        </p:txBody>
      </p:sp>
      <p:sp>
        <p:nvSpPr>
          <p:cNvPr id="1048662" name="AutoShape 7">
            <a:hlinkClick r:id="rId1" action="ppaction://hlinksldjump"/>
          </p:cNvPr>
          <p:cNvSpPr/>
          <p:nvPr/>
        </p:nvSpPr>
        <p:spPr>
          <a:xfrm rot="0">
            <a:off x="4500562" y="609600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663" name="AutoShape 8"/>
          <p:cNvSpPr/>
          <p:nvPr/>
        </p:nvSpPr>
        <p:spPr>
          <a:xfrm rot="0">
            <a:off x="323850" y="1557337"/>
            <a:ext cx="8496300" cy="3800475"/>
          </a:xfrm>
          <a:prstGeom prst="roundRect">
            <a:avLst>
              <a:gd name="adj" fmla="val 7565"/>
            </a:avLst>
          </a:prstGeom>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664" name="Rectangle 9"/>
          <p:cNvSpPr/>
          <p:nvPr/>
        </p:nvSpPr>
        <p:spPr>
          <a:xfrm rot="0">
            <a:off x="5724525" y="857250"/>
            <a:ext cx="2962275" cy="647700"/>
          </a:xfrm>
          <a:prstGeom prst="rect"/>
          <a:noFill/>
          <a:ln>
            <a:noFill/>
          </a:ln>
        </p:spPr>
        <p:txBody>
          <a:bodyPr anchor="ctr"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sz="3000" lang="zh-CN">
                <a:solidFill>
                  <a:schemeClr val="lt2"/>
                </a:solidFill>
                <a:ea typeface="PT Bold Heading" pitchFamily="2" charset="-78"/>
              </a:rPr>
              <a:t>تعريف التفاعلية:</a:t>
            </a:r>
          </a:p>
        </p:txBody>
      </p:sp>
      <p:sp>
        <p:nvSpPr>
          <p:cNvPr id="1048665" name="Text Box 10"/>
          <p:cNvSpPr txBox="1"/>
          <p:nvPr/>
        </p:nvSpPr>
        <p:spPr>
          <a:xfrm rot="0">
            <a:off x="357187" y="1571625"/>
            <a:ext cx="8358187" cy="3754437"/>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r>
              <a:rPr altLang="en-US" b="1" sz="3000" lang="zh-CN">
                <a:ea typeface="Simplified Arabic" pitchFamily="18" charset="-78"/>
              </a:rPr>
              <a:t>يعرف التفاعل في برامج الوسائط المتعددة إلى الفعل وردة الفعل بين ما يعرضه البرنامج والمستخدم (المتعلم)، وهو يشير إلى قدرة المستخدم على التحكم بالبرنامج وضبطه وتسلسله والخيارات المتاحة والتجول بين الخيارات. وتنقسم الوسائط التفاعلية إلى قسمين هما:</a:t>
            </a:r>
          </a:p>
          <a:p>
            <a:pPr eaLnBrk="1" hangingPunct="1" lvl="0">
              <a:lnSpc>
                <a:spcPct val="80000"/>
              </a:lnSpc>
            </a:pPr>
            <a:endParaRPr altLang="en-US" b="1" sz="3000" lang="zh-CN">
              <a:ea typeface="Simplified Arabic" pitchFamily="18" charset="-78"/>
            </a:endParaRPr>
          </a:p>
          <a:p>
            <a:pPr eaLnBrk="1" hangingPunct="1" lvl="0">
              <a:lnSpc>
                <a:spcPct val="80000"/>
              </a:lnSpc>
            </a:pPr>
            <a:r>
              <a:rPr altLang="en-US" b="1" sz="3000" lang="zh-CN">
                <a:ea typeface="Simplified Arabic" pitchFamily="18" charset="-78"/>
              </a:rPr>
              <a:t>    الوسائط </a:t>
            </a:r>
            <a:r>
              <a:rPr altLang="zh-CN" b="1" sz="3000" lang="ar-SA">
                <a:ea typeface="Simplified Arabic" pitchFamily="18" charset="-78"/>
              </a:rPr>
              <a:t>الخطية(غير التفاعلية)</a:t>
            </a:r>
            <a:r>
              <a:rPr altLang="zh-CN" b="1" sz="3000" lang="en-US">
                <a:ea typeface="SimSun" pitchFamily="2" charset="-122"/>
              </a:rPr>
              <a:t> liner Media</a:t>
            </a:r>
          </a:p>
          <a:p>
            <a:pPr eaLnBrk="1" hangingPunct="1" lvl="0">
              <a:lnSpc>
                <a:spcPct val="80000"/>
              </a:lnSpc>
            </a:pPr>
            <a:endParaRPr altLang="en-US" b="1" sz="2000" lang="zh-CN">
              <a:ea typeface="Simplified Arabic" pitchFamily="18" charset="-78"/>
            </a:endParaRPr>
          </a:p>
          <a:p>
            <a:pPr eaLnBrk="1" hangingPunct="1" lvl="0">
              <a:lnSpc>
                <a:spcPct val="80000"/>
              </a:lnSpc>
            </a:pPr>
            <a:r>
              <a:rPr altLang="zh-CN" b="1" sz="3000" lang="ar-SA">
                <a:ea typeface="Simplified Arabic" pitchFamily="18" charset="-78"/>
              </a:rPr>
              <a:t>       الوسائط غير الخطية(التفاعلية)</a:t>
            </a:r>
            <a:r>
              <a:rPr altLang="zh-CN" b="1" sz="3000" lang="en-US">
                <a:ea typeface="SimSun" pitchFamily="2" charset="-122"/>
              </a:rPr>
              <a:t> Non-liner Media</a:t>
            </a:r>
          </a:p>
        </p:txBody>
      </p:sp>
      <p:sp>
        <p:nvSpPr>
          <p:cNvPr id="1048666" name="AutoShape 15">
            <a:hlinkClick r:id="rId2" action="ppaction://hlinksldjump"/>
          </p:cNvPr>
          <p:cNvSpPr/>
          <p:nvPr/>
        </p:nvSpPr>
        <p:spPr>
          <a:xfrm rot="0">
            <a:off x="8358187" y="4281487"/>
            <a:ext cx="357187" cy="361950"/>
          </a:xfrm>
          <a:prstGeom prst="octagon"/>
          <a:solidFill>
            <a:srgbClr val="FFCC99"/>
          </a:solidFill>
          <a:ln w="57150" cap="flat" cmpd="thinThick">
            <a:solidFill>
              <a:srgbClr val="FF9900">
                <a:alpha val="100000"/>
              </a:srgbClr>
            </a:solidFill>
            <a:prstDash val="solid"/>
            <a:round/>
          </a:ln>
          <a:effectLst>
            <a:outerShdw algn="ctr" dir="18900000" dist="53881" kx="0" sx="100000" sy="100000">
              <a:schemeClr val="dk2">
                <a:alpha val="50000"/>
              </a:schemeClr>
            </a:outerShdw>
          </a:effectLst>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
        <p:nvSpPr>
          <p:cNvPr id="1048667" name="AutoShape 15">
            <a:hlinkClick r:id="rId2" action="ppaction://hlinksldjump"/>
          </p:cNvPr>
          <p:cNvSpPr/>
          <p:nvPr/>
        </p:nvSpPr>
        <p:spPr>
          <a:xfrm rot="0">
            <a:off x="8001000" y="4857750"/>
            <a:ext cx="357187" cy="361950"/>
          </a:xfrm>
          <a:prstGeom prst="octagon"/>
          <a:solidFill>
            <a:srgbClr val="FFCC99"/>
          </a:solidFill>
          <a:ln w="57150" cap="flat" cmpd="thinThick">
            <a:solidFill>
              <a:srgbClr val="FF9900">
                <a:alpha val="100000"/>
              </a:srgbClr>
            </a:solidFill>
            <a:prstDash val="solid"/>
            <a:round/>
          </a:ln>
          <a:effectLst>
            <a:outerShdw algn="ctr" dir="18900000" dist="53881" kx="0" sx="100000" sy="100000">
              <a:schemeClr val="dk2">
                <a:alpha val="50000"/>
              </a:schemeClr>
            </a:outerShdw>
          </a:effectLst>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l" eaLnBrk="1" hangingPunct="1" lvl="0" rtl="0"/>
            <a:endParaRPr altLang="en-US" lang="ar-SA"/>
          </a:p>
        </p:txBody>
      </p:sp>
    </p:spTree>
  </p:cSld>
  <p:clrMapOvr>
    <a:masterClrMapping/>
  </p:clrMapOvr>
  <p:transition spd="fast" advClick="0">
    <p:wheel spokes="1"/>
  </p:transition>
  <p:timing/>
</p:sld>
</file>

<file path=ppt/slides/slide10.xml><?xml version="1.0" encoding="utf-8"?>
<p:sld xmlns:a="http://schemas.openxmlformats.org/drawingml/2006/main" xmlns:r="http://schemas.openxmlformats.org/officeDocument/2006/relationships" xmlns:p="http://schemas.openxmlformats.org/presentationml/2006/main" show="1" showMasterSp="1">
  <p:cSld>
    <p:spTree>
      <p:nvGrpSpPr>
        <p:cNvPr id="69" name=""/>
        <p:cNvGrpSpPr/>
        <p:nvPr/>
      </p:nvGrpSpPr>
      <p:grpSpPr>
        <a:xfrm rot="0">
          <a:off x="0" y="0"/>
          <a:ext cx="0" cy="0"/>
          <a:chOff x="0" y="0"/>
          <a:chExt cx="0" cy="0"/>
        </a:xfrm>
      </p:grpSpPr>
      <p:sp>
        <p:nvSpPr>
          <p:cNvPr id="1048668" name="Rectangle 2"/>
          <p:cNvSpPr/>
          <p:nvPr>
            <p:ph type="title" sz="full" idx="0"/>
          </p:nvPr>
        </p:nvSpPr>
        <p:spPr>
          <a:xfrm rot="0">
            <a:off x="3348037" y="188912"/>
            <a:ext cx="5338762"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000" lang="zh-CN">
                <a:ea typeface="PT Bold Heading" pitchFamily="2" charset="-78"/>
              </a:rPr>
              <a:t>التفاعلية:</a:t>
            </a:r>
          </a:p>
        </p:txBody>
      </p:sp>
      <p:sp>
        <p:nvSpPr>
          <p:cNvPr id="1048669" name="AutoShape 7">
            <a:hlinkClick r:id="rId1" action="ppaction://hlinksldjump"/>
          </p:cNvPr>
          <p:cNvSpPr/>
          <p:nvPr/>
        </p:nvSpPr>
        <p:spPr>
          <a:xfrm rot="0">
            <a:off x="4500562" y="609600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670" name="AutoShape 8"/>
          <p:cNvSpPr/>
          <p:nvPr/>
        </p:nvSpPr>
        <p:spPr>
          <a:xfrm rot="0">
            <a:off x="323850" y="1557337"/>
            <a:ext cx="8496300" cy="3586162"/>
          </a:xfrm>
          <a:prstGeom prst="roundRect">
            <a:avLst>
              <a:gd name="adj" fmla="val 7565"/>
            </a:avLst>
          </a:prstGeom>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671" name="Rectangle 9"/>
          <p:cNvSpPr/>
          <p:nvPr/>
        </p:nvSpPr>
        <p:spPr>
          <a:xfrm rot="0">
            <a:off x="2000250" y="857250"/>
            <a:ext cx="6686550" cy="647700"/>
          </a:xfrm>
          <a:prstGeom prst="rect"/>
          <a:noFill/>
          <a:ln>
            <a:noFill/>
          </a:ln>
        </p:spPr>
        <p:txBody>
          <a:bodyPr anchor="ctr"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sz="3000" lang="zh-CN">
                <a:solidFill>
                  <a:schemeClr val="lt2"/>
                </a:solidFill>
                <a:ea typeface="PT Bold Heading" pitchFamily="2" charset="-78"/>
              </a:rPr>
              <a:t>الوسائط الخطية (غير التفاعلية): </a:t>
            </a:r>
            <a:r>
              <a:rPr altLang="en-US" b="1" sz="2800" lang="en-US">
                <a:solidFill>
                  <a:schemeClr val="lt2"/>
                </a:solidFill>
                <a:ea typeface="PT Bold Heading" pitchFamily="2" charset="-78"/>
              </a:rPr>
              <a:t>Liner Media</a:t>
            </a:r>
          </a:p>
        </p:txBody>
      </p:sp>
      <p:sp>
        <p:nvSpPr>
          <p:cNvPr id="1048672" name="Text Box 10"/>
          <p:cNvSpPr txBox="1"/>
          <p:nvPr/>
        </p:nvSpPr>
        <p:spPr>
          <a:xfrm rot="0">
            <a:off x="357187" y="1571625"/>
            <a:ext cx="8358187" cy="3354387"/>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r>
              <a:rPr altLang="zh-CN" b="1" sz="2000" lang="ar-SA">
                <a:ea typeface="Simplified Arabic" pitchFamily="18" charset="-78"/>
              </a:rPr>
              <a:t>يعرف</a:t>
            </a:r>
            <a:r>
              <a:rPr altLang="zh-CN" b="1" sz="2000" lang="ar-EG">
                <a:ea typeface="Simplified Arabic" pitchFamily="18" charset="-78"/>
              </a:rPr>
              <a:t>ها</a:t>
            </a:r>
            <a:r>
              <a:rPr altLang="zh-CN" b="1" sz="2000" lang="en-US">
                <a:ea typeface="SimSun" pitchFamily="2" charset="-122"/>
              </a:rPr>
              <a:t> Hillmaa , 1998</a:t>
            </a:r>
            <a:r>
              <a:rPr altLang="zh-CN" b="1" sz="2000" lang="ar-SA">
                <a:ea typeface="Simplified Arabic" pitchFamily="18" charset="-78"/>
              </a:rPr>
              <a:t>بأنها</a:t>
            </a:r>
            <a:r>
              <a:rPr altLang="zh-CN" b="1" sz="2000" lang="en-US">
                <a:ea typeface="SimSun" pitchFamily="2" charset="-122"/>
              </a:rPr>
              <a:t> </a:t>
            </a:r>
            <a:r>
              <a:rPr altLang="zh-CN" b="1" sz="2000" lang="ar-EG">
                <a:ea typeface="Simplified Arabic" pitchFamily="18" charset="-78"/>
              </a:rPr>
              <a:t>:</a:t>
            </a:r>
          </a:p>
          <a:p>
            <a:pPr algn="just" eaLnBrk="1" hangingPunct="1" lvl="0">
              <a:buFont typeface="Wingdings" pitchFamily="2" charset="2"/>
              <a:buNone/>
            </a:pPr>
            <a:r>
              <a:rPr altLang="zh-CN" b="1" sz="3200" lang="ar-SA">
                <a:ea typeface="Simplified Arabic" pitchFamily="18" charset="-78"/>
              </a:rPr>
              <a:t>هي عروض الوسائط الخطية</a:t>
            </a:r>
            <a:r>
              <a:rPr altLang="zh-CN" b="1" sz="3200" lang="en-US">
                <a:ea typeface="SimSun" pitchFamily="2" charset="-122"/>
              </a:rPr>
              <a:t> </a:t>
            </a:r>
            <a:r>
              <a:rPr altLang="zh-CN" b="1" sz="2800" lang="en-US">
                <a:ea typeface="SimSun" pitchFamily="2" charset="-122"/>
              </a:rPr>
              <a:t>liner Media </a:t>
            </a:r>
            <a:r>
              <a:rPr altLang="zh-CN" b="1" sz="3200" lang="ar-SA">
                <a:ea typeface="Simplified Arabic" pitchFamily="18" charset="-78"/>
              </a:rPr>
              <a:t>التى يشاهدها المستخدم من البداية إلى النهاية دون أن يتحكم فى القفز إلى اختيار أجزاء معينة من المحتوى0 </a:t>
            </a:r>
          </a:p>
          <a:p>
            <a:pPr algn="just" eaLnBrk="1" hangingPunct="1" lvl="0">
              <a:buFont typeface="Wingdings" pitchFamily="2" charset="2"/>
              <a:buNone/>
            </a:pPr>
            <a:r>
              <a:rPr altLang="en-US" b="1" sz="3000" lang="zh-CN">
                <a:ea typeface="Simplified Arabic" pitchFamily="18" charset="-78"/>
              </a:rPr>
              <a:t>بينما </a:t>
            </a:r>
            <a:r>
              <a:rPr altLang="zh-CN" b="1" sz="3200" lang="ar-SA">
                <a:ea typeface="Simplified Arabic" pitchFamily="18" charset="-78"/>
              </a:rPr>
              <a:t>يشير(</a:t>
            </a:r>
            <a:r>
              <a:rPr altLang="zh-CN" b="1" sz="2000" lang="ar-SA">
                <a:ea typeface="Simplified Arabic" pitchFamily="18" charset="-78"/>
              </a:rPr>
              <a:t>كمال عبدالحميد زيتون</a:t>
            </a:r>
            <a:r>
              <a:rPr altLang="zh-CN" b="1" sz="2400" lang="ar-SA">
                <a:ea typeface="Simplified Arabic" pitchFamily="18" charset="-78"/>
              </a:rPr>
              <a:t>، </a:t>
            </a:r>
            <a:r>
              <a:rPr altLang="zh-CN" b="1" sz="2000" lang="ar-SA">
                <a:ea typeface="Simplified Arabic" pitchFamily="18" charset="-78"/>
              </a:rPr>
              <a:t>2002</a:t>
            </a:r>
            <a:r>
              <a:rPr altLang="zh-CN" b="1" sz="3200" lang="ar-EG">
                <a:ea typeface="Simplified Arabic" pitchFamily="18" charset="-78"/>
              </a:rPr>
              <a:t>)</a:t>
            </a:r>
            <a:r>
              <a:rPr altLang="zh-CN" b="1" sz="3200" lang="ar-SA">
                <a:ea typeface="Simplified Arabic" pitchFamily="18" charset="-78"/>
              </a:rPr>
              <a:t>،</a:t>
            </a:r>
            <a:r>
              <a:rPr altLang="zh-CN" b="1" sz="3200" lang="ar-EG">
                <a:ea typeface="Simplified Arabic" pitchFamily="18" charset="-78"/>
              </a:rPr>
              <a:t> </a:t>
            </a:r>
            <a:r>
              <a:rPr altLang="zh-CN" b="1" sz="3200" lang="ar-SA">
                <a:ea typeface="Simplified Arabic" pitchFamily="18" charset="-78"/>
              </a:rPr>
              <a:t>إلى أن الوسائط المتعددة الخطية(غير التفاعلية) هي وسائط ذات طرق اتصال من جانب واحد </a:t>
            </a:r>
            <a:r>
              <a:rPr altLang="zh-CN" b="1" sz="3200" lang="en-US">
                <a:ea typeface="SimSun" pitchFamily="2" charset="-122"/>
              </a:rPr>
              <a:t> </a:t>
            </a:r>
            <a:r>
              <a:rPr altLang="zh-CN" b="1" sz="2800" lang="en-US">
                <a:ea typeface="SimSun" pitchFamily="2" charset="-122"/>
              </a:rPr>
              <a:t>One-Way</a:t>
            </a:r>
            <a:r>
              <a:rPr altLang="zh-CN" b="1" sz="3200" lang="en-US">
                <a:ea typeface="SimSun" pitchFamily="2" charset="-122"/>
              </a:rPr>
              <a:t> </a:t>
            </a:r>
            <a:r>
              <a:rPr altLang="zh-CN" b="1" sz="2800" lang="en-US">
                <a:ea typeface="SimSun" pitchFamily="2" charset="-122"/>
              </a:rPr>
              <a:t>Communication</a:t>
            </a:r>
          </a:p>
        </p:txBody>
      </p:sp>
    </p:spTree>
  </p:cSld>
  <p:clrMapOvr>
    <a:masterClrMapping/>
  </p:clrMapOvr>
  <p:transition spd="fast" advClick="0">
    <p:wheel spokes="1"/>
  </p:transition>
  <p:timing/>
</p:sld>
</file>

<file path=ppt/slides/slide11.xml><?xml version="1.0" encoding="utf-8"?>
<p:sld xmlns:a="http://schemas.openxmlformats.org/drawingml/2006/main" xmlns:r="http://schemas.openxmlformats.org/officeDocument/2006/relationships" xmlns:p="http://schemas.openxmlformats.org/presentationml/2006/main" show="1" showMasterSp="1">
  <p:cSld>
    <p:spTree>
      <p:nvGrpSpPr>
        <p:cNvPr id="70" name=""/>
        <p:cNvGrpSpPr/>
        <p:nvPr/>
      </p:nvGrpSpPr>
      <p:grpSpPr>
        <a:xfrm rot="0">
          <a:off x="0" y="0"/>
          <a:ext cx="0" cy="0"/>
          <a:chOff x="0" y="0"/>
          <a:chExt cx="0" cy="0"/>
        </a:xfrm>
      </p:grpSpPr>
      <p:sp>
        <p:nvSpPr>
          <p:cNvPr id="1048673" name="Rectangle 2"/>
          <p:cNvSpPr/>
          <p:nvPr>
            <p:ph type="title" sz="full" idx="0"/>
          </p:nvPr>
        </p:nvSpPr>
        <p:spPr>
          <a:xfrm rot="0">
            <a:off x="3348037" y="188912"/>
            <a:ext cx="5338762"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000" lang="zh-CN">
                <a:ea typeface="PT Bold Heading" pitchFamily="2" charset="-78"/>
              </a:rPr>
              <a:t>التفاعلية:</a:t>
            </a:r>
          </a:p>
        </p:txBody>
      </p:sp>
      <p:sp>
        <p:nvSpPr>
          <p:cNvPr id="1048674" name="AutoShape 7">
            <a:hlinkClick r:id="rId1" action="ppaction://hlinksldjump"/>
          </p:cNvPr>
          <p:cNvSpPr/>
          <p:nvPr/>
        </p:nvSpPr>
        <p:spPr>
          <a:xfrm rot="0">
            <a:off x="4500562" y="609600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675" name="AutoShape 8"/>
          <p:cNvSpPr/>
          <p:nvPr/>
        </p:nvSpPr>
        <p:spPr>
          <a:xfrm rot="0">
            <a:off x="323850" y="1557337"/>
            <a:ext cx="8496300" cy="4464050"/>
          </a:xfrm>
          <a:prstGeom prst="roundRect">
            <a:avLst>
              <a:gd name="adj" fmla="val 7565"/>
            </a:avLst>
          </a:prstGeom>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676" name="Text Box 10"/>
          <p:cNvSpPr txBox="1"/>
          <p:nvPr/>
        </p:nvSpPr>
        <p:spPr>
          <a:xfrm rot="0">
            <a:off x="357187" y="1484312"/>
            <a:ext cx="8358187" cy="4862512"/>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r>
              <a:rPr altLang="zh-CN" b="1" sz="3000" lang="ar-SA">
                <a:ea typeface="Simplified Arabic" pitchFamily="18" charset="-78"/>
              </a:rPr>
              <a:t>1- الدمج لجميع عناصر الوسائط المتعددة فى تقديم هذه العروض(على الأقل ثلاثة عناصر) كالنص والصوت والرسومات الخطية .</a:t>
            </a:r>
          </a:p>
          <a:p>
            <a:pPr algn="just" eaLnBrk="1" hangingPunct="1" lvl="0"/>
            <a:r>
              <a:rPr altLang="zh-CN" b="1" sz="3000" lang="ar-SA">
                <a:ea typeface="Simplified Arabic" pitchFamily="18" charset="-78"/>
              </a:rPr>
              <a:t>2-  بداية البرنامج تكون بداية نموذجية للعروض التليفزيونية لا يتحكم فيها المستخدم بينما نهاية البرنامج تخضع لتحكم المستخدم .</a:t>
            </a:r>
          </a:p>
          <a:p>
            <a:pPr algn="just" eaLnBrk="1" hangingPunct="1" lvl="0"/>
            <a:r>
              <a:rPr altLang="zh-CN" b="1" sz="3000" lang="ar-SA">
                <a:ea typeface="Simplified Arabic" pitchFamily="18" charset="-78"/>
              </a:rPr>
              <a:t>3- البرنامج يسير بصورة إجرائية تحت تحكم المستخدم بالضغط على الفأرة أو أحد المفاتيح لمشاهدة المعلومات التالية .</a:t>
            </a:r>
          </a:p>
          <a:p>
            <a:pPr algn="just" eaLnBrk="1" hangingPunct="1" lvl="0"/>
            <a:r>
              <a:rPr altLang="zh-CN" b="1" sz="3000" lang="ar-SA">
                <a:ea typeface="Simplified Arabic" pitchFamily="18" charset="-78"/>
              </a:rPr>
              <a:t>4-  تغير الشاشات من الواحدة إلى التى تليها بطريقة آلية تبعا للزمن المحدد لكل شاشة .</a:t>
            </a:r>
          </a:p>
        </p:txBody>
      </p:sp>
      <p:sp>
        <p:nvSpPr>
          <p:cNvPr id="1048677" name="Rectangle 9"/>
          <p:cNvSpPr/>
          <p:nvPr/>
        </p:nvSpPr>
        <p:spPr>
          <a:xfrm rot="0">
            <a:off x="571500" y="857250"/>
            <a:ext cx="8115300" cy="647700"/>
          </a:xfrm>
          <a:prstGeom prst="rect"/>
          <a:noFill/>
          <a:ln>
            <a:noFill/>
          </a:ln>
        </p:spPr>
        <p:txBody>
          <a:bodyPr anchor="ctr"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sz="3000" lang="zh-CN">
                <a:solidFill>
                  <a:schemeClr val="lt2"/>
                </a:solidFill>
                <a:ea typeface="PT Bold Heading" pitchFamily="2" charset="-78"/>
              </a:rPr>
              <a:t>خصائص الوسائط الخطية (غير التفاعلية): </a:t>
            </a:r>
            <a:r>
              <a:rPr altLang="en-US" b="1" sz="2800" lang="en-US">
                <a:solidFill>
                  <a:schemeClr val="lt2"/>
                </a:solidFill>
                <a:ea typeface="PT Bold Heading" pitchFamily="2" charset="-78"/>
              </a:rPr>
              <a:t>Liner Media</a:t>
            </a:r>
          </a:p>
        </p:txBody>
      </p:sp>
    </p:spTree>
  </p:cSld>
  <p:clrMapOvr>
    <a:masterClrMapping/>
  </p:clrMapOvr>
  <p:transition spd="fast" advClick="0">
    <p:wheel spokes="1"/>
  </p:transition>
  <p:timing/>
</p:sld>
</file>

<file path=ppt/slides/slide12.xml><?xml version="1.0" encoding="utf-8"?>
<p:sld xmlns:a="http://schemas.openxmlformats.org/drawingml/2006/main" xmlns:r="http://schemas.openxmlformats.org/officeDocument/2006/relationships" xmlns:p="http://schemas.openxmlformats.org/presentationml/2006/main" show="1" showMasterSp="1">
  <p:cSld>
    <p:spTree>
      <p:nvGrpSpPr>
        <p:cNvPr id="71" name=""/>
        <p:cNvGrpSpPr/>
        <p:nvPr/>
      </p:nvGrpSpPr>
      <p:grpSpPr>
        <a:xfrm rot="0">
          <a:off x="0" y="0"/>
          <a:ext cx="0" cy="0"/>
          <a:chOff x="0" y="0"/>
          <a:chExt cx="0" cy="0"/>
        </a:xfrm>
      </p:grpSpPr>
      <p:sp>
        <p:nvSpPr>
          <p:cNvPr id="1048678" name="Rectangle 2"/>
          <p:cNvSpPr/>
          <p:nvPr>
            <p:ph type="title" sz="full" idx="0"/>
          </p:nvPr>
        </p:nvSpPr>
        <p:spPr>
          <a:xfrm rot="0">
            <a:off x="3348037" y="188912"/>
            <a:ext cx="5338762"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000" lang="zh-CN">
                <a:ea typeface="PT Bold Heading" pitchFamily="2" charset="-78"/>
              </a:rPr>
              <a:t>التفاعلية:</a:t>
            </a:r>
          </a:p>
        </p:txBody>
      </p:sp>
      <p:sp>
        <p:nvSpPr>
          <p:cNvPr id="1048679" name="AutoShape 7">
            <a:hlinkClick r:id="rId1" action="ppaction://hlinksldjump"/>
          </p:cNvPr>
          <p:cNvSpPr/>
          <p:nvPr/>
        </p:nvSpPr>
        <p:spPr>
          <a:xfrm rot="0">
            <a:off x="4500562" y="609600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680" name="AutoShape 8"/>
          <p:cNvSpPr/>
          <p:nvPr/>
        </p:nvSpPr>
        <p:spPr>
          <a:xfrm rot="0">
            <a:off x="323850" y="1557337"/>
            <a:ext cx="8496300" cy="4464050"/>
          </a:xfrm>
          <a:prstGeom prst="roundRect">
            <a:avLst>
              <a:gd name="adj" fmla="val 7565"/>
            </a:avLst>
          </a:prstGeom>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681" name="Rectangle 9"/>
          <p:cNvSpPr/>
          <p:nvPr/>
        </p:nvSpPr>
        <p:spPr>
          <a:xfrm rot="0">
            <a:off x="357187" y="857250"/>
            <a:ext cx="8329612" cy="647700"/>
          </a:xfrm>
          <a:prstGeom prst="rect"/>
          <a:noFill/>
          <a:ln>
            <a:noFill/>
          </a:ln>
        </p:spPr>
        <p:txBody>
          <a:bodyPr anchor="ctr"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sz="3000" lang="zh-CN">
                <a:solidFill>
                  <a:schemeClr val="lt2"/>
                </a:solidFill>
                <a:ea typeface="PT Bold Heading" pitchFamily="2" charset="-78"/>
              </a:rPr>
              <a:t>الوسائط غير الخطية (التفاعلية): </a:t>
            </a:r>
            <a:r>
              <a:rPr altLang="en-US" b="1" sz="3000" lang="en-US">
                <a:solidFill>
                  <a:schemeClr val="lt2"/>
                </a:solidFill>
                <a:ea typeface="PT Bold Heading" pitchFamily="2" charset="-78"/>
              </a:rPr>
              <a:t>Non-</a:t>
            </a:r>
            <a:r>
              <a:rPr altLang="en-US" b="1" sz="2800" lang="en-US">
                <a:solidFill>
                  <a:schemeClr val="lt2"/>
                </a:solidFill>
                <a:ea typeface="PT Bold Heading" pitchFamily="2" charset="-78"/>
              </a:rPr>
              <a:t>Liner Media</a:t>
            </a:r>
          </a:p>
        </p:txBody>
      </p:sp>
      <p:sp>
        <p:nvSpPr>
          <p:cNvPr id="1048682" name="Text Box 10"/>
          <p:cNvSpPr txBox="1"/>
          <p:nvPr/>
        </p:nvSpPr>
        <p:spPr>
          <a:xfrm rot="0">
            <a:off x="357187" y="1539875"/>
            <a:ext cx="8358187" cy="4246562"/>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r>
              <a:rPr altLang="zh-CN" b="1" sz="3000" lang="ar-SA">
                <a:ea typeface="Simplified Arabic" pitchFamily="18" charset="-78"/>
              </a:rPr>
              <a:t>هى التى تعتمد فقط على الكمبيوتر، وهى عروض تستخدم جميع وسائط الاتصالات المستخدمة فى الوسائط المتعددة من نص مكتوب، وصوت مسموع، وصورة ثابتة أو متحركة، ورسوم، وجداول وفيديو كما أنها تمكن المتعلم من التحكم المباشر فى تتابع المعلومات، حيث تسمح له بالتحكم فى اختيار وعرض المحتوى والخروج والانتهاء من البرنامج من أى نقطة أو فى أى وقت شاء</a:t>
            </a:r>
            <a:r>
              <a:rPr altLang="zh-CN" b="1" sz="3000" lang="en-US">
                <a:ea typeface="SimSun" pitchFamily="2" charset="-122"/>
              </a:rPr>
              <a:t> </a:t>
            </a:r>
            <a:r>
              <a:rPr altLang="en-US" b="1" sz="3000" lang="zh-CN">
                <a:ea typeface="Simplified Arabic" pitchFamily="18" charset="-78"/>
              </a:rPr>
              <a:t>ويكثر استخدام خاصية التفاعلية في برامج الوسائط المتعددة في الحالات منها: اختبارات التحصيل(الاختيار من المتعدد)، والانتقال من مستوى لآخر.</a:t>
            </a:r>
          </a:p>
        </p:txBody>
      </p:sp>
    </p:spTree>
  </p:cSld>
  <p:clrMapOvr>
    <a:masterClrMapping/>
  </p:clrMapOvr>
  <p:transition spd="fast" advClick="0">
    <p:wheel spokes="1"/>
  </p:transition>
  <p:timing/>
</p:sld>
</file>

<file path=ppt/slides/slide13.xml><?xml version="1.0" encoding="utf-8"?>
<p:sld xmlns:a="http://schemas.openxmlformats.org/drawingml/2006/main" xmlns:r="http://schemas.openxmlformats.org/officeDocument/2006/relationships" xmlns:p="http://schemas.openxmlformats.org/presentationml/2006/main" show="1" showMasterSp="1">
  <p:cSld>
    <p:spTree>
      <p:nvGrpSpPr>
        <p:cNvPr id="72" name=""/>
        <p:cNvGrpSpPr/>
        <p:nvPr/>
      </p:nvGrpSpPr>
      <p:grpSpPr>
        <a:xfrm rot="0">
          <a:off x="0" y="0"/>
          <a:ext cx="0" cy="0"/>
          <a:chOff x="0" y="0"/>
          <a:chExt cx="0" cy="0"/>
        </a:xfrm>
      </p:grpSpPr>
      <p:sp>
        <p:nvSpPr>
          <p:cNvPr id="1048683" name="Rectangle 2"/>
          <p:cNvSpPr/>
          <p:nvPr>
            <p:ph type="title" sz="full" idx="0"/>
          </p:nvPr>
        </p:nvSpPr>
        <p:spPr>
          <a:xfrm rot="0">
            <a:off x="3348037" y="188912"/>
            <a:ext cx="5338762"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000" lang="zh-CN">
                <a:ea typeface="PT Bold Heading" pitchFamily="2" charset="-78"/>
              </a:rPr>
              <a:t>التفاعلية:</a:t>
            </a:r>
          </a:p>
        </p:txBody>
      </p:sp>
      <p:sp>
        <p:nvSpPr>
          <p:cNvPr id="1048684" name="AutoShape 7">
            <a:hlinkClick r:id="rId1" action="ppaction://hlinksldjump"/>
          </p:cNvPr>
          <p:cNvSpPr/>
          <p:nvPr/>
        </p:nvSpPr>
        <p:spPr>
          <a:xfrm rot="0">
            <a:off x="4500562" y="609600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685" name="AutoShape 8"/>
          <p:cNvSpPr/>
          <p:nvPr/>
        </p:nvSpPr>
        <p:spPr>
          <a:xfrm rot="0">
            <a:off x="323850" y="1557337"/>
            <a:ext cx="8496300" cy="4464050"/>
          </a:xfrm>
          <a:prstGeom prst="roundRect">
            <a:avLst>
              <a:gd name="adj" fmla="val 7565"/>
            </a:avLst>
          </a:prstGeom>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686" name="Rectangle 9"/>
          <p:cNvSpPr/>
          <p:nvPr/>
        </p:nvSpPr>
        <p:spPr>
          <a:xfrm rot="0">
            <a:off x="0" y="857250"/>
            <a:ext cx="8929688" cy="647700"/>
          </a:xfrm>
          <a:prstGeom prst="rect"/>
          <a:noFill/>
          <a:ln>
            <a:noFill/>
          </a:ln>
        </p:spPr>
        <p:txBody>
          <a:bodyPr anchor="ctr"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sz="3000" lang="zh-CN">
                <a:solidFill>
                  <a:schemeClr val="lt2"/>
                </a:solidFill>
                <a:ea typeface="PT Bold Heading" pitchFamily="2" charset="-78"/>
              </a:rPr>
              <a:t>خصائص الوسائط غير الخطية (التفاعلية): </a:t>
            </a:r>
            <a:r>
              <a:rPr altLang="en-US" b="1" sz="3000" lang="en-US">
                <a:solidFill>
                  <a:schemeClr val="lt2"/>
                </a:solidFill>
                <a:ea typeface="PT Bold Heading" pitchFamily="2" charset="-78"/>
              </a:rPr>
              <a:t>Non-</a:t>
            </a:r>
            <a:r>
              <a:rPr altLang="en-US" b="1" sz="2800" lang="en-US">
                <a:solidFill>
                  <a:schemeClr val="lt2"/>
                </a:solidFill>
                <a:ea typeface="PT Bold Heading" pitchFamily="2" charset="-78"/>
              </a:rPr>
              <a:t>Liner Media</a:t>
            </a:r>
          </a:p>
        </p:txBody>
      </p:sp>
      <p:sp>
        <p:nvSpPr>
          <p:cNvPr id="1048687" name="Text Box 10"/>
          <p:cNvSpPr txBox="1"/>
          <p:nvPr/>
        </p:nvSpPr>
        <p:spPr>
          <a:xfrm rot="0">
            <a:off x="357187" y="1539875"/>
            <a:ext cx="8358187" cy="4522787"/>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r>
              <a:rPr altLang="zh-CN" b="1" sz="3200" lang="ar-SA"/>
              <a:t> 1- أنماط الوسائط المتعددة ( النص ، الصوت ، الفيديو ، الرسوم ،0000) .</a:t>
            </a:r>
          </a:p>
          <a:p>
            <a:pPr algn="just" eaLnBrk="1" hangingPunct="1" lvl="0"/>
            <a:r>
              <a:rPr altLang="zh-CN" b="1" sz="3200" lang="ar-SA"/>
              <a:t>2- البيئة غير خطية ( السير فى عرض المحتوى وفقا لرغبة المستخدم و اختياره ) .</a:t>
            </a:r>
          </a:p>
          <a:p>
            <a:pPr algn="just" eaLnBrk="1" hangingPunct="1" lvl="0"/>
            <a:r>
              <a:rPr altLang="zh-CN" b="1" sz="3200" lang="ar-SA"/>
              <a:t>3-  المستخدمين كمنتجين ( تفاعل المستخدم مع البرنامج ) .</a:t>
            </a:r>
          </a:p>
          <a:p>
            <a:pPr algn="just" eaLnBrk="1" hangingPunct="1" lvl="0"/>
            <a:r>
              <a:rPr altLang="zh-CN" b="1" sz="3200" lang="ar-SA"/>
              <a:t>وهذا يعنى أن الوسائط المتعددة التفاعلية تسمح للمستخدم باستقبال البيانات والمعلومات والمشاركة الفعالة فى عرض محتوياتها أى أنها "</a:t>
            </a:r>
            <a:r>
              <a:rPr altLang="zh-CN" b="1" sz="3200" lang="ar-EG"/>
              <a:t>(</a:t>
            </a:r>
            <a:r>
              <a:rPr altLang="zh-CN" b="1" sz="3200" lang="ar-SA"/>
              <a:t> وسائط ذات طرق اتصال مزدوجة)</a:t>
            </a:r>
          </a:p>
          <a:p>
            <a:pPr algn="just" eaLnBrk="1" hangingPunct="1" lvl="0"/>
            <a:r>
              <a:rPr altLang="zh-CN" b="1" sz="3200" lang="en-US">
                <a:ea typeface="SimSun" pitchFamily="2" charset="-122"/>
              </a:rPr>
              <a:t> </a:t>
            </a:r>
            <a:r>
              <a:rPr altLang="zh-CN" b="1" sz="2400" lang="en-US">
                <a:ea typeface="SimSun" pitchFamily="2" charset="-122"/>
              </a:rPr>
              <a:t>Two -  Way Communication </a:t>
            </a:r>
            <a:r>
              <a:rPr altLang="zh-CN" b="1" sz="2400" lang="ar-SA">
                <a:ea typeface="SimSun" pitchFamily="2" charset="-122"/>
              </a:rPr>
              <a:t>(</a:t>
            </a:r>
            <a:r>
              <a:rPr altLang="zh-CN" b="1" sz="2000" lang="ar-SA"/>
              <a:t>كمال عبد الحميد زيتون ، 2002 ، ص399</a:t>
            </a:r>
            <a:r>
              <a:rPr altLang="zh-CN" b="1" sz="2000" lang="en-US">
                <a:ea typeface="SimSun" pitchFamily="2" charset="-122"/>
              </a:rPr>
              <a:t> (</a:t>
            </a:r>
          </a:p>
        </p:txBody>
      </p:sp>
    </p:spTree>
  </p:cSld>
  <p:clrMapOvr>
    <a:masterClrMapping/>
  </p:clrMapOvr>
  <p:transition spd="fast" advClick="0">
    <p:wheel spokes="1"/>
  </p:transition>
  <p:timing/>
</p:sld>
</file>

<file path=ppt/slides/slide14.xml><?xml version="1.0" encoding="utf-8"?>
<p:sld xmlns:a="http://schemas.openxmlformats.org/drawingml/2006/main" xmlns:r="http://schemas.openxmlformats.org/officeDocument/2006/relationships" xmlns:p="http://schemas.openxmlformats.org/presentationml/2006/main" show="1" showMasterSp="1">
  <p:cSld>
    <p:spTree>
      <p:nvGrpSpPr>
        <p:cNvPr id="73" name=""/>
        <p:cNvGrpSpPr/>
        <p:nvPr/>
      </p:nvGrpSpPr>
      <p:grpSpPr>
        <a:xfrm rot="0">
          <a:off x="0" y="0"/>
          <a:ext cx="0" cy="0"/>
          <a:chOff x="0" y="0"/>
          <a:chExt cx="0" cy="0"/>
        </a:xfrm>
      </p:grpSpPr>
      <p:sp>
        <p:nvSpPr>
          <p:cNvPr id="1048688" name="Rectangle 2"/>
          <p:cNvSpPr/>
          <p:nvPr>
            <p:ph type="title" sz="full" idx="0"/>
          </p:nvPr>
        </p:nvSpPr>
        <p:spPr>
          <a:xfrm rot="0">
            <a:off x="2786062" y="565150"/>
            <a:ext cx="5900737"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000" lang="zh-CN">
                <a:ea typeface="PT Bold Heading" pitchFamily="2" charset="-78"/>
              </a:rPr>
              <a:t>الوسائط المتعددة الفائقة: </a:t>
            </a:r>
            <a:r>
              <a:rPr altLang="en-US" b="1" sz="3000" lang="en-US">
                <a:ea typeface="PT Bold Heading" pitchFamily="2" charset="-78"/>
              </a:rPr>
              <a:t>Hypermedia</a:t>
            </a:r>
          </a:p>
        </p:txBody>
      </p:sp>
      <p:sp>
        <p:nvSpPr>
          <p:cNvPr id="1048689" name="AutoShape 7">
            <a:hlinkClick r:id="rId1" action="ppaction://hlinksldjump"/>
          </p:cNvPr>
          <p:cNvSpPr/>
          <p:nvPr/>
        </p:nvSpPr>
        <p:spPr>
          <a:xfrm rot="0">
            <a:off x="4500562" y="609600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690" name="AutoShape 8"/>
          <p:cNvSpPr/>
          <p:nvPr/>
        </p:nvSpPr>
        <p:spPr>
          <a:xfrm rot="0">
            <a:off x="323850" y="1557337"/>
            <a:ext cx="8496300" cy="2728912"/>
          </a:xfrm>
          <a:prstGeom prst="roundRect">
            <a:avLst>
              <a:gd name="adj" fmla="val 7565"/>
            </a:avLst>
          </a:prstGeom>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691" name="Text Box 10"/>
          <p:cNvSpPr txBox="1"/>
          <p:nvPr/>
        </p:nvSpPr>
        <p:spPr>
          <a:xfrm rot="0">
            <a:off x="357187" y="1660525"/>
            <a:ext cx="8358187" cy="2062162"/>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r>
              <a:rPr altLang="zh-CN" b="1" sz="3200" lang="ar-SA">
                <a:ea typeface="Simplified Arabic" pitchFamily="18" charset="-78"/>
              </a:rPr>
              <a:t>     هي أداه تكنولوجيا تعتمد على تقديم المعلومات بواسطة الكمبيوتر وتتضمن هذه المعلومات أشكالا متعددة من وسائط الاتصال من خلال ارتباطات داخلية غير خطية</a:t>
            </a:r>
            <a:r>
              <a:rPr altLang="zh-CN" b="1" sz="3200" lang="en-US">
                <a:ea typeface="SimSun" pitchFamily="2" charset="-122"/>
              </a:rPr>
              <a:t> </a:t>
            </a:r>
            <a:r>
              <a:rPr altLang="zh-CN" b="1" sz="2800" lang="en-US">
                <a:ea typeface="SimSun" pitchFamily="2" charset="-122"/>
              </a:rPr>
              <a:t>Non-Linear </a:t>
            </a:r>
            <a:r>
              <a:rPr altLang="zh-CN" b="1" sz="2800" lang="ar-SA">
                <a:ea typeface="Simplified Arabic" pitchFamily="18" charset="-78"/>
              </a:rPr>
              <a:t> </a:t>
            </a:r>
            <a:r>
              <a:rPr altLang="zh-CN" b="1" sz="3200" lang="ar-SA">
                <a:ea typeface="Simplified Arabic" pitchFamily="18" charset="-78"/>
                <a:hlinkClick r:id="rId2" action="ppaction://hlinksldjump"/>
              </a:rPr>
              <a:t>تسمح للمتعلم بتصفح واستعراض المعلومات بطريقة سريعة </a:t>
            </a:r>
            <a:r>
              <a:rPr altLang="zh-CN" b="1" sz="3200" lang="ar-SA">
                <a:ea typeface="Simplified Arabic" pitchFamily="18" charset="-78"/>
              </a:rPr>
              <a:t>.</a:t>
            </a:r>
            <a:r>
              <a:rPr altLang="zh-CN" b="1" sz="3200" lang="en-US">
                <a:ea typeface="SimSun" pitchFamily="2" charset="-122"/>
              </a:rPr>
              <a:t> </a:t>
            </a:r>
          </a:p>
        </p:txBody>
      </p:sp>
    </p:spTree>
  </p:cSld>
  <p:clrMapOvr>
    <a:masterClrMapping/>
  </p:clrMapOvr>
  <p:transition spd="fast" advClick="0">
    <p:wheel spokes="1"/>
  </p:transition>
  <p:timing/>
</p:sld>
</file>

<file path=ppt/slides/slide15.xml><?xml version="1.0" encoding="utf-8"?>
<p:sld xmlns:a="http://schemas.openxmlformats.org/drawingml/2006/main" xmlns:r="http://schemas.openxmlformats.org/officeDocument/2006/relationships" xmlns:p="http://schemas.openxmlformats.org/presentationml/2006/main" show="1" showMasterSp="1">
  <p:cSld>
    <p:spTree>
      <p:nvGrpSpPr>
        <p:cNvPr id="74" name=""/>
        <p:cNvGrpSpPr/>
        <p:nvPr/>
      </p:nvGrpSpPr>
      <p:grpSpPr>
        <a:xfrm rot="0">
          <a:off x="0" y="0"/>
          <a:ext cx="0" cy="0"/>
          <a:chOff x="0" y="0"/>
          <a:chExt cx="0" cy="0"/>
        </a:xfrm>
      </p:grpSpPr>
      <p:sp>
        <p:nvSpPr>
          <p:cNvPr id="1048692" name="Rectangle 2"/>
          <p:cNvSpPr/>
          <p:nvPr>
            <p:ph type="title" sz="full" idx="0"/>
          </p:nvPr>
        </p:nvSpPr>
        <p:spPr>
          <a:xfrm rot="0">
            <a:off x="3348037" y="188912"/>
            <a:ext cx="5338762"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000" lang="zh-CN">
                <a:ea typeface="PT Bold Heading" pitchFamily="2" charset="-78"/>
              </a:rPr>
              <a:t>خصائص الوسائط المتعددة</a:t>
            </a:r>
            <a:r>
              <a:rPr altLang="en-US" sz="3000" lang="en-US">
                <a:ea typeface="PT Bold Heading" pitchFamily="2" charset="-78"/>
              </a:rPr>
              <a:t>:</a:t>
            </a:r>
            <a:r>
              <a:rPr altLang="en-US" sz="3000" lang="zh-CN">
                <a:ea typeface="PT Bold Heading" pitchFamily="2" charset="-78"/>
              </a:rPr>
              <a:t> التكامل</a:t>
            </a:r>
          </a:p>
        </p:txBody>
      </p:sp>
      <p:sp>
        <p:nvSpPr>
          <p:cNvPr id="1048693" name="AutoShape 3">
            <a:hlinkClick r:id="rId1" action="ppaction://hlinksldjump"/>
          </p:cNvPr>
          <p:cNvSpPr/>
          <p:nvPr/>
        </p:nvSpPr>
        <p:spPr>
          <a:xfrm rot="0">
            <a:off x="214312" y="5900737"/>
            <a:ext cx="714375" cy="785812"/>
          </a:xfrm>
          <a:prstGeom prst="leftArrow">
            <a:avLst>
              <a:gd name="adj1" fmla="val 49898"/>
              <a:gd name="adj2" fmla="val 50990"/>
            </a:avLst>
          </a:prstGeom>
          <a:solidFill>
            <a:srgbClr val="FFCC99"/>
          </a:solidFill>
          <a:ln w="57150" cap="flat" cmpd="thinThick">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التالي</a:t>
            </a:r>
          </a:p>
        </p:txBody>
      </p:sp>
      <p:sp>
        <p:nvSpPr>
          <p:cNvPr id="1048694" name="AutoShape 4">
            <a:hlinkClick r:id="rId2" action="ppaction://hlinksldjump"/>
          </p:cNvPr>
          <p:cNvSpPr/>
          <p:nvPr/>
        </p:nvSpPr>
        <p:spPr>
          <a:xfrm rot="0">
            <a:off x="4500562" y="6043612"/>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695" name="AutoShape 5"/>
          <p:cNvSpPr/>
          <p:nvPr/>
        </p:nvSpPr>
        <p:spPr>
          <a:xfrm rot="0">
            <a:off x="323850" y="1416050"/>
            <a:ext cx="8496300" cy="1798637"/>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696" name="Rectangle 6"/>
          <p:cNvSpPr/>
          <p:nvPr/>
        </p:nvSpPr>
        <p:spPr>
          <a:xfrm rot="0">
            <a:off x="6156325" y="857250"/>
            <a:ext cx="2530475" cy="647700"/>
          </a:xfrm>
          <a:prstGeom prst="rect"/>
          <a:noFill/>
          <a:ln>
            <a:noFill/>
          </a:ln>
        </p:spPr>
        <p:txBody>
          <a:bodyPr anchor="ctr"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sz="3000" lang="zh-CN">
                <a:solidFill>
                  <a:schemeClr val="lt2"/>
                </a:solidFill>
                <a:ea typeface="PT Bold Heading" pitchFamily="2" charset="-78"/>
              </a:rPr>
              <a:t>تعريف التكامل:</a:t>
            </a:r>
          </a:p>
        </p:txBody>
      </p:sp>
      <p:sp>
        <p:nvSpPr>
          <p:cNvPr id="1048697" name="Text Box 7"/>
          <p:cNvSpPr txBox="1"/>
          <p:nvPr/>
        </p:nvSpPr>
        <p:spPr>
          <a:xfrm rot="0">
            <a:off x="468312" y="1631950"/>
            <a:ext cx="8135937" cy="14636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000" lang="zh-CN">
                <a:ea typeface="Simplified Arabic" pitchFamily="18" charset="-78"/>
              </a:rPr>
              <a:t>استخدام أكثر من وسيطين في الإطار الواحد بشكل تفاعلي وليس بشكل مستقل. وحتى يتحقق التكامل بشكل جيد لابد من التقيد بعدة أمور منها:</a:t>
            </a:r>
          </a:p>
        </p:txBody>
      </p:sp>
      <p:sp>
        <p:nvSpPr>
          <p:cNvPr id="1048698" name="AutoShape 8"/>
          <p:cNvSpPr/>
          <p:nvPr/>
        </p:nvSpPr>
        <p:spPr>
          <a:xfrm rot="0">
            <a:off x="323850" y="3432175"/>
            <a:ext cx="8496300" cy="1150937"/>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699" name="Text Box 9"/>
          <p:cNvSpPr txBox="1"/>
          <p:nvPr/>
        </p:nvSpPr>
        <p:spPr>
          <a:xfrm rot="0">
            <a:off x="468312" y="3503612"/>
            <a:ext cx="8135937" cy="10064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000" lang="zh-CN">
                <a:ea typeface="Simplified Arabic" pitchFamily="18" charset="-78"/>
              </a:rPr>
              <a:t>  عدم استخدام الصوت منفرداً دون مصاحبة بعض المواد البصرية.</a:t>
            </a:r>
          </a:p>
        </p:txBody>
      </p:sp>
      <p:sp>
        <p:nvSpPr>
          <p:cNvPr id="1048700" name="AutoShape 10"/>
          <p:cNvSpPr/>
          <p:nvPr/>
        </p:nvSpPr>
        <p:spPr>
          <a:xfrm rot="0">
            <a:off x="8426450" y="3611562"/>
            <a:ext cx="288925" cy="288925"/>
          </a:xfrm>
          <a:prstGeom prst="star16"/>
          <a:solidFill>
            <a:srgbClr val="CD9B69"/>
          </a:solidFill>
          <a:ln w="9525"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
        <p:nvSpPr>
          <p:cNvPr id="1048701" name="AutoShape 11"/>
          <p:cNvSpPr/>
          <p:nvPr/>
        </p:nvSpPr>
        <p:spPr>
          <a:xfrm rot="0">
            <a:off x="323850" y="4729162"/>
            <a:ext cx="8496300" cy="1150937"/>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702" name="Text Box 12"/>
          <p:cNvSpPr txBox="1"/>
          <p:nvPr/>
        </p:nvSpPr>
        <p:spPr>
          <a:xfrm rot="0">
            <a:off x="468312" y="4800600"/>
            <a:ext cx="8135937" cy="10064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000" lang="zh-CN">
                <a:ea typeface="Simplified Arabic" pitchFamily="18" charset="-78"/>
              </a:rPr>
              <a:t>  عدم التعليق الصوتي على محتوى النص المكتوب، واقتصار التعليق الصوتي على العناوين والنقاط الرئيسة.</a:t>
            </a:r>
          </a:p>
        </p:txBody>
      </p:sp>
      <p:sp>
        <p:nvSpPr>
          <p:cNvPr id="1048703" name="AutoShape 13"/>
          <p:cNvSpPr/>
          <p:nvPr/>
        </p:nvSpPr>
        <p:spPr>
          <a:xfrm rot="0">
            <a:off x="8389938" y="4929187"/>
            <a:ext cx="288925" cy="288925"/>
          </a:xfrm>
          <a:prstGeom prst="star16"/>
          <a:solidFill>
            <a:srgbClr val="CD9B69"/>
          </a:solidFill>
          <a:ln w="9525"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Tree>
  </p:cSld>
  <p:clrMapOvr>
    <a:masterClrMapping/>
  </p:clrMapOvr>
  <p:transition spd="fast" advClick="0">
    <p:wheel spokes="1"/>
  </p:transition>
  <p:timing/>
</p:sld>
</file>

<file path=ppt/slides/slide16.xml><?xml version="1.0" encoding="utf-8"?>
<p:sld xmlns:a="http://schemas.openxmlformats.org/drawingml/2006/main" xmlns:r="http://schemas.openxmlformats.org/officeDocument/2006/relationships" xmlns:p="http://schemas.openxmlformats.org/presentationml/2006/main" show="1" showMasterSp="1">
  <p:cSld>
    <p:spTree>
      <p:nvGrpSpPr>
        <p:cNvPr id="75" name=""/>
        <p:cNvGrpSpPr/>
        <p:nvPr/>
      </p:nvGrpSpPr>
      <p:grpSpPr>
        <a:xfrm rot="0">
          <a:off x="0" y="0"/>
          <a:ext cx="0" cy="0"/>
          <a:chOff x="0" y="0"/>
          <a:chExt cx="0" cy="0"/>
        </a:xfrm>
      </p:grpSpPr>
      <p:sp>
        <p:nvSpPr>
          <p:cNvPr id="1048704" name="Rectangle 2"/>
          <p:cNvSpPr/>
          <p:nvPr>
            <p:ph type="title" sz="full" idx="0"/>
          </p:nvPr>
        </p:nvSpPr>
        <p:spPr>
          <a:xfrm rot="0">
            <a:off x="3348037" y="188912"/>
            <a:ext cx="5338762"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000" lang="zh-CN">
                <a:ea typeface="PT Bold Heading" pitchFamily="2" charset="-78"/>
              </a:rPr>
              <a:t>التكامل:</a:t>
            </a:r>
          </a:p>
        </p:txBody>
      </p:sp>
      <p:sp>
        <p:nvSpPr>
          <p:cNvPr id="1048705" name="AutoShape 4">
            <a:hlinkClick r:id="rId1" action="ppaction://hlinksldjump"/>
          </p:cNvPr>
          <p:cNvSpPr/>
          <p:nvPr/>
        </p:nvSpPr>
        <p:spPr>
          <a:xfrm rot="0" flipH="1">
            <a:off x="7523162" y="6165850"/>
            <a:ext cx="720725" cy="576262"/>
          </a:xfrm>
          <a:prstGeom prst="leftArrow">
            <a:avLst>
              <a:gd name="adj1" fmla="val 49898"/>
              <a:gd name="adj2" fmla="val 48452"/>
            </a:avLst>
          </a:prstGeom>
          <a:solidFill>
            <a:srgbClr val="FFCC99"/>
          </a:solidFill>
          <a:ln w="57150" cap="flat" cmpd="thinThick">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التالي</a:t>
            </a:r>
          </a:p>
        </p:txBody>
      </p:sp>
      <p:sp>
        <p:nvSpPr>
          <p:cNvPr id="1048706" name="AutoShape 5">
            <a:hlinkClick r:id="rId2"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707" name="AutoShape 9"/>
          <p:cNvSpPr/>
          <p:nvPr/>
        </p:nvSpPr>
        <p:spPr>
          <a:xfrm rot="0">
            <a:off x="323850" y="1052512"/>
            <a:ext cx="8496300" cy="1150937"/>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708" name="Text Box 10"/>
          <p:cNvSpPr txBox="1"/>
          <p:nvPr/>
        </p:nvSpPr>
        <p:spPr>
          <a:xfrm rot="0">
            <a:off x="468312" y="1123950"/>
            <a:ext cx="8135937" cy="5492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000" lang="zh-CN">
                <a:ea typeface="Simplified Arabic" pitchFamily="18" charset="-78"/>
              </a:rPr>
              <a:t>  لا يجوز التعليق الصوتي قبل ظهور الصورة موضوع التعليق.</a:t>
            </a:r>
          </a:p>
        </p:txBody>
      </p:sp>
      <p:sp>
        <p:nvSpPr>
          <p:cNvPr id="1048709" name="AutoShape 11"/>
          <p:cNvSpPr/>
          <p:nvPr/>
        </p:nvSpPr>
        <p:spPr>
          <a:xfrm rot="0">
            <a:off x="8316912" y="1266825"/>
            <a:ext cx="288925" cy="288925"/>
          </a:xfrm>
          <a:prstGeom prst="star16"/>
          <a:solidFill>
            <a:srgbClr val="CD9B69"/>
          </a:solidFill>
          <a:ln w="9525"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
        <p:nvSpPr>
          <p:cNvPr id="1048710" name="AutoShape 12"/>
          <p:cNvSpPr/>
          <p:nvPr/>
        </p:nvSpPr>
        <p:spPr>
          <a:xfrm rot="0">
            <a:off x="323850" y="2349500"/>
            <a:ext cx="8496300" cy="1150937"/>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711" name="Text Box 13"/>
          <p:cNvSpPr txBox="1"/>
          <p:nvPr/>
        </p:nvSpPr>
        <p:spPr>
          <a:xfrm rot="0">
            <a:off x="468312" y="2420937"/>
            <a:ext cx="8135937" cy="5492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000" lang="zh-CN">
                <a:ea typeface="Simplified Arabic" pitchFamily="18" charset="-78"/>
              </a:rPr>
              <a:t>  عدم الجمع بين وسيلتين بصريتين في نفس الوقت.</a:t>
            </a:r>
          </a:p>
        </p:txBody>
      </p:sp>
      <p:sp>
        <p:nvSpPr>
          <p:cNvPr id="1048712" name="AutoShape 14"/>
          <p:cNvSpPr/>
          <p:nvPr/>
        </p:nvSpPr>
        <p:spPr>
          <a:xfrm rot="0">
            <a:off x="8316912" y="2563812"/>
            <a:ext cx="288925" cy="288925"/>
          </a:xfrm>
          <a:prstGeom prst="star16"/>
          <a:solidFill>
            <a:srgbClr val="CD9B69"/>
          </a:solidFill>
          <a:ln w="9525"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
        <p:nvSpPr>
          <p:cNvPr id="1048713" name="AutoShape 15"/>
          <p:cNvSpPr/>
          <p:nvPr/>
        </p:nvSpPr>
        <p:spPr>
          <a:xfrm rot="0">
            <a:off x="323850" y="3644900"/>
            <a:ext cx="8496300" cy="1150937"/>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714" name="Text Box 16"/>
          <p:cNvSpPr txBox="1"/>
          <p:nvPr/>
        </p:nvSpPr>
        <p:spPr>
          <a:xfrm rot="0">
            <a:off x="468312" y="3716337"/>
            <a:ext cx="8135937" cy="10064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000" lang="zh-CN">
                <a:ea typeface="Simplified Arabic" pitchFamily="18" charset="-78"/>
              </a:rPr>
              <a:t>  استخدام التعليق المسموع بدل المكتوب عند عرض مجموعة من الرسوم الثابتة المتتابعة لعرض مفهوم أو مهارة ما.</a:t>
            </a:r>
          </a:p>
        </p:txBody>
      </p:sp>
      <p:sp>
        <p:nvSpPr>
          <p:cNvPr id="1048715" name="AutoShape 17"/>
          <p:cNvSpPr/>
          <p:nvPr/>
        </p:nvSpPr>
        <p:spPr>
          <a:xfrm rot="0">
            <a:off x="8316912" y="3859212"/>
            <a:ext cx="288925" cy="288925"/>
          </a:xfrm>
          <a:prstGeom prst="star16"/>
          <a:solidFill>
            <a:srgbClr val="CD9B69"/>
          </a:solidFill>
          <a:ln w="9525"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
        <p:nvSpPr>
          <p:cNvPr id="1048716" name="AutoShape 18"/>
          <p:cNvSpPr/>
          <p:nvPr/>
        </p:nvSpPr>
        <p:spPr>
          <a:xfrm rot="0">
            <a:off x="323850" y="4941887"/>
            <a:ext cx="8496300" cy="1150937"/>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717" name="Text Box 19"/>
          <p:cNvSpPr txBox="1"/>
          <p:nvPr/>
        </p:nvSpPr>
        <p:spPr>
          <a:xfrm rot="0">
            <a:off x="468312" y="5013325"/>
            <a:ext cx="8135937" cy="10064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000" lang="zh-CN">
                <a:ea typeface="Simplified Arabic" pitchFamily="18" charset="-78"/>
              </a:rPr>
              <a:t>  إدخال النص المكتوب يكون في نفس النافذة التي تعرض الرسوم المتحركة وليس بعيداً عنها.</a:t>
            </a:r>
          </a:p>
        </p:txBody>
      </p:sp>
      <p:sp>
        <p:nvSpPr>
          <p:cNvPr id="1048718" name="AutoShape 20"/>
          <p:cNvSpPr/>
          <p:nvPr/>
        </p:nvSpPr>
        <p:spPr>
          <a:xfrm rot="0">
            <a:off x="8316912" y="5156200"/>
            <a:ext cx="288925" cy="288925"/>
          </a:xfrm>
          <a:prstGeom prst="star16"/>
          <a:solidFill>
            <a:srgbClr val="CD9B69"/>
          </a:solidFill>
          <a:ln w="9525"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Tree>
  </p:cSld>
  <p:clrMapOvr>
    <a:masterClrMapping/>
  </p:clrMapOvr>
  <p:transition spd="fast" advClick="0">
    <p:wheel spokes="1"/>
  </p:transition>
  <p:timing/>
</p:sld>
</file>

<file path=ppt/slides/slide17.xml><?xml version="1.0" encoding="utf-8"?>
<p:sld xmlns:a="http://schemas.openxmlformats.org/drawingml/2006/main" xmlns:r="http://schemas.openxmlformats.org/officeDocument/2006/relationships" xmlns:p="http://schemas.openxmlformats.org/presentationml/2006/main" show="1" showMasterSp="1">
  <p:cSld>
    <p:spTree>
      <p:nvGrpSpPr>
        <p:cNvPr id="76" name=""/>
        <p:cNvGrpSpPr/>
        <p:nvPr/>
      </p:nvGrpSpPr>
      <p:grpSpPr>
        <a:xfrm rot="0">
          <a:off x="0" y="0"/>
          <a:ext cx="0" cy="0"/>
          <a:chOff x="0" y="0"/>
          <a:chExt cx="0" cy="0"/>
        </a:xfrm>
      </p:grpSpPr>
      <p:sp>
        <p:nvSpPr>
          <p:cNvPr id="1048719" name="Rectangle 2"/>
          <p:cNvSpPr/>
          <p:nvPr>
            <p:ph type="title" sz="full" idx="0"/>
          </p:nvPr>
        </p:nvSpPr>
        <p:spPr>
          <a:xfrm rot="0">
            <a:off x="3348037" y="188912"/>
            <a:ext cx="5338762"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000" lang="zh-CN">
                <a:ea typeface="PT Bold Heading" pitchFamily="2" charset="-78"/>
              </a:rPr>
              <a:t>التكامل:</a:t>
            </a:r>
          </a:p>
        </p:txBody>
      </p:sp>
      <p:sp>
        <p:nvSpPr>
          <p:cNvPr id="1048720" name="AutoShape 5">
            <a:hlinkClick r:id="rId1"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721" name="AutoShape 6"/>
          <p:cNvSpPr/>
          <p:nvPr/>
        </p:nvSpPr>
        <p:spPr>
          <a:xfrm rot="0">
            <a:off x="323850" y="1052512"/>
            <a:ext cx="8496300" cy="1150937"/>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722" name="Text Box 7"/>
          <p:cNvSpPr txBox="1"/>
          <p:nvPr/>
        </p:nvSpPr>
        <p:spPr>
          <a:xfrm rot="0">
            <a:off x="468312" y="1123950"/>
            <a:ext cx="8135937" cy="10064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000" lang="zh-CN">
                <a:ea typeface="Simplified Arabic" pitchFamily="18" charset="-78"/>
              </a:rPr>
              <a:t>  ربط الصور والرسوم التي تتحدث عن فكرة معينة أو مفهوم محدد بواسطة خلفية صوتية واحدة غير متقطعة.</a:t>
            </a:r>
          </a:p>
        </p:txBody>
      </p:sp>
      <p:sp>
        <p:nvSpPr>
          <p:cNvPr id="1048723" name="AutoShape 8"/>
          <p:cNvSpPr/>
          <p:nvPr/>
        </p:nvSpPr>
        <p:spPr>
          <a:xfrm rot="0">
            <a:off x="8426450" y="1266825"/>
            <a:ext cx="288925" cy="288925"/>
          </a:xfrm>
          <a:prstGeom prst="star16"/>
          <a:solidFill>
            <a:srgbClr val="CD9B69"/>
          </a:solidFill>
          <a:ln w="9525"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
        <p:nvSpPr>
          <p:cNvPr id="1048724" name="AutoShape 9"/>
          <p:cNvSpPr/>
          <p:nvPr/>
        </p:nvSpPr>
        <p:spPr>
          <a:xfrm rot="0">
            <a:off x="323850" y="2349500"/>
            <a:ext cx="8496300" cy="1150937"/>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725" name="Text Box 10"/>
          <p:cNvSpPr txBox="1"/>
          <p:nvPr/>
        </p:nvSpPr>
        <p:spPr>
          <a:xfrm rot="0">
            <a:off x="468312" y="2420937"/>
            <a:ext cx="8135937" cy="10064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000" lang="zh-CN">
                <a:ea typeface="Simplified Arabic" pitchFamily="18" charset="-78"/>
              </a:rPr>
              <a:t>  عند استخدام المؤثرات الصوتية مع التعليق الصوتي فلابد أن تكون هذه المؤثرات خافتة مع وضوح التعليق الصوتي.</a:t>
            </a:r>
          </a:p>
        </p:txBody>
      </p:sp>
      <p:sp>
        <p:nvSpPr>
          <p:cNvPr id="1048726" name="AutoShape 11"/>
          <p:cNvSpPr/>
          <p:nvPr/>
        </p:nvSpPr>
        <p:spPr>
          <a:xfrm rot="0">
            <a:off x="8375650" y="2528887"/>
            <a:ext cx="288925" cy="288925"/>
          </a:xfrm>
          <a:prstGeom prst="star16"/>
          <a:solidFill>
            <a:srgbClr val="CD9B69"/>
          </a:solidFill>
          <a:ln w="9525"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
        <p:nvSpPr>
          <p:cNvPr id="1048727" name="AutoShape 12"/>
          <p:cNvSpPr/>
          <p:nvPr/>
        </p:nvSpPr>
        <p:spPr>
          <a:xfrm rot="0">
            <a:off x="323850" y="3644900"/>
            <a:ext cx="8496300" cy="1655762"/>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728" name="Text Box 13"/>
          <p:cNvSpPr txBox="1"/>
          <p:nvPr/>
        </p:nvSpPr>
        <p:spPr>
          <a:xfrm rot="0">
            <a:off x="468312" y="3716337"/>
            <a:ext cx="8135937" cy="14636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000" lang="zh-CN">
                <a:ea typeface="Simplified Arabic" pitchFamily="18" charset="-78"/>
              </a:rPr>
              <a:t>  عند إدخال التعليق الصوتي على نقطة بصرية (رسم متحرك أو لقطة فيديو أو صورة ثابتة) يستحسن من دمج الصوت في نفس ملف الفيديو لتلافي عيوب التزامن بين الصوت والصورة.</a:t>
            </a:r>
          </a:p>
        </p:txBody>
      </p:sp>
      <p:sp>
        <p:nvSpPr>
          <p:cNvPr id="1048729" name="AutoShape 14"/>
          <p:cNvSpPr/>
          <p:nvPr/>
        </p:nvSpPr>
        <p:spPr>
          <a:xfrm rot="0">
            <a:off x="8375650" y="3844925"/>
            <a:ext cx="288925" cy="288925"/>
          </a:xfrm>
          <a:prstGeom prst="star16"/>
          <a:solidFill>
            <a:srgbClr val="CD9B69"/>
          </a:solidFill>
          <a:ln w="9525"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Tree>
  </p:cSld>
  <p:clrMapOvr>
    <a:masterClrMapping/>
  </p:clrMapOvr>
  <p:transition spd="fast" advClick="0">
    <p:wheel spokes="1"/>
  </p:transition>
  <p:timing/>
</p:sld>
</file>

<file path=ppt/slides/slide18.xml><?xml version="1.0" encoding="utf-8"?>
<p:sld xmlns:a="http://schemas.openxmlformats.org/drawingml/2006/main" xmlns:r="http://schemas.openxmlformats.org/officeDocument/2006/relationships" xmlns:p="http://schemas.openxmlformats.org/presentationml/2006/main" show="1" showMasterSp="1">
  <p:cSld>
    <p:spTree>
      <p:nvGrpSpPr>
        <p:cNvPr id="77" name=""/>
        <p:cNvGrpSpPr/>
        <p:nvPr/>
      </p:nvGrpSpPr>
      <p:grpSpPr>
        <a:xfrm rot="0">
          <a:off x="0" y="0"/>
          <a:ext cx="0" cy="0"/>
          <a:chOff x="0" y="0"/>
          <a:chExt cx="0" cy="0"/>
        </a:xfrm>
      </p:grpSpPr>
      <p:sp>
        <p:nvSpPr>
          <p:cNvPr id="1048730" name="Rectangle 2"/>
          <p:cNvSpPr/>
          <p:nvPr>
            <p:ph type="title" sz="full" idx="0"/>
          </p:nvPr>
        </p:nvSpPr>
        <p:spPr>
          <a:xfrm rot="0">
            <a:off x="3635375" y="188912"/>
            <a:ext cx="5051425"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000" lang="zh-CN">
                <a:ea typeface="PT Bold Heading" pitchFamily="2" charset="-78"/>
              </a:rPr>
              <a:t>مجالات استخدام الوسائط المتعددة</a:t>
            </a:r>
          </a:p>
        </p:txBody>
      </p:sp>
      <p:sp>
        <p:nvSpPr>
          <p:cNvPr id="1048731" name="AutoShape 3">
            <a:hlinkClick r:id="rId1" action="ppaction://hlinksldjump"/>
          </p:cNvPr>
          <p:cNvSpPr/>
          <p:nvPr/>
        </p:nvSpPr>
        <p:spPr>
          <a:xfrm rot="0">
            <a:off x="4500562" y="59499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732" name="AutoShape 4"/>
          <p:cNvSpPr/>
          <p:nvPr/>
        </p:nvSpPr>
        <p:spPr>
          <a:xfrm rot="0">
            <a:off x="323850" y="1052512"/>
            <a:ext cx="8496300" cy="1150937"/>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733" name="Text Box 5"/>
          <p:cNvSpPr txBox="1"/>
          <p:nvPr/>
        </p:nvSpPr>
        <p:spPr>
          <a:xfrm rot="0">
            <a:off x="468312" y="1123950"/>
            <a:ext cx="8135937" cy="10064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000" lang="zh-CN">
                <a:ea typeface="Simplified Arabic" pitchFamily="18" charset="-78"/>
              </a:rPr>
              <a:t>أدى التطور السريع في أنظمة وبرامج الوسائط المتعددة إلى انتشار استخدامها في العديد من المجالات، نذكر منها:</a:t>
            </a:r>
          </a:p>
        </p:txBody>
      </p:sp>
      <p:sp>
        <p:nvSpPr>
          <p:cNvPr id="1048734" name="Rectangle 13"/>
          <p:cNvSpPr/>
          <p:nvPr/>
        </p:nvSpPr>
        <p:spPr>
          <a:xfrm rot="0">
            <a:off x="2846387" y="3141662"/>
            <a:ext cx="3817937" cy="865187"/>
          </a:xfrm>
          <a:prstGeom prst="rect"/>
          <a:noFill/>
          <a:ln>
            <a:noFill/>
          </a:ln>
        </p:spPr>
        <p:txBody>
          <a:bodyPr anchor="ctr"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sz="3200" lang="zh-CN">
                <a:solidFill>
                  <a:schemeClr val="lt2"/>
                </a:solidFill>
                <a:ea typeface="Mudir MT" pitchFamily="2" charset="-78"/>
              </a:rPr>
              <a:t>الأعمال التجارية</a:t>
            </a:r>
          </a:p>
        </p:txBody>
      </p:sp>
      <p:sp>
        <p:nvSpPr>
          <p:cNvPr id="1048735" name="Rectangle 14"/>
          <p:cNvSpPr/>
          <p:nvPr/>
        </p:nvSpPr>
        <p:spPr>
          <a:xfrm rot="0">
            <a:off x="2557462" y="2492375"/>
            <a:ext cx="4824412" cy="782637"/>
          </a:xfrm>
          <a:prstGeom prst="rect"/>
          <a:noFill/>
          <a:ln>
            <a:noFill/>
          </a:ln>
        </p:spPr>
        <p:txBody>
          <a:bodyPr anchor="ctr"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sz="3200" lang="zh-CN">
                <a:solidFill>
                  <a:schemeClr val="lt2"/>
                </a:solidFill>
                <a:ea typeface="Mudir MT" pitchFamily="2" charset="-78"/>
              </a:rPr>
              <a:t>التعليم والتدريب</a:t>
            </a:r>
          </a:p>
        </p:txBody>
      </p:sp>
      <p:sp>
        <p:nvSpPr>
          <p:cNvPr id="1048736" name="AutoShape 15">
            <a:hlinkClick r:id="rId2" action="ppaction://hlinksldjump"/>
          </p:cNvPr>
          <p:cNvSpPr/>
          <p:nvPr/>
        </p:nvSpPr>
        <p:spPr>
          <a:xfrm rot="0">
            <a:off x="6951662" y="3359150"/>
            <a:ext cx="504825" cy="504825"/>
          </a:xfrm>
          <a:prstGeom prst="octagon"/>
          <a:solidFill>
            <a:srgbClr val="FFCC99"/>
          </a:solidFill>
          <a:ln w="57150" cap="flat" cmpd="thinThick">
            <a:solidFill>
              <a:srgbClr val="FF9900">
                <a:alpha val="100000"/>
              </a:srgbClr>
            </a:solidFill>
            <a:prstDash val="solid"/>
            <a:round/>
          </a:ln>
          <a:effectLst>
            <a:outerShdw algn="ctr" dir="18900000" dist="53881" kx="0" sx="100000" sy="100000">
              <a:schemeClr val="dk2">
                <a:alpha val="50000"/>
              </a:schemeClr>
            </a:outerShdw>
          </a:effectLst>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
        <p:nvSpPr>
          <p:cNvPr id="1048737" name="AutoShape 16">
            <a:hlinkClick r:id="rId3" action="ppaction://hlinksldjump"/>
          </p:cNvPr>
          <p:cNvSpPr/>
          <p:nvPr/>
        </p:nvSpPr>
        <p:spPr>
          <a:xfrm rot="0">
            <a:off x="7596187" y="2627312"/>
            <a:ext cx="504825" cy="504825"/>
          </a:xfrm>
          <a:prstGeom prst="octagon"/>
          <a:solidFill>
            <a:srgbClr val="FFCC99"/>
          </a:solidFill>
          <a:ln w="57150" cap="flat" cmpd="thinThick">
            <a:solidFill>
              <a:srgbClr val="FF9900">
                <a:alpha val="100000"/>
              </a:srgbClr>
            </a:solidFill>
            <a:prstDash val="solid"/>
            <a:round/>
          </a:ln>
          <a:effectLst>
            <a:outerShdw algn="ctr" dir="18900000" dist="53881" kx="0" sx="100000" sy="100000">
              <a:schemeClr val="dk2">
                <a:alpha val="50000"/>
              </a:schemeClr>
            </a:outerShdw>
          </a:effectLst>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
        <p:nvSpPr>
          <p:cNvPr id="1048738" name="Rectangle 18"/>
          <p:cNvSpPr/>
          <p:nvPr/>
        </p:nvSpPr>
        <p:spPr>
          <a:xfrm rot="0">
            <a:off x="1044575" y="4005262"/>
            <a:ext cx="4824412" cy="782637"/>
          </a:xfrm>
          <a:prstGeom prst="rect"/>
          <a:noFill/>
          <a:ln>
            <a:noFill/>
          </a:ln>
        </p:spPr>
        <p:txBody>
          <a:bodyPr anchor="ctr"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r>
              <a:rPr altLang="en-US" sz="3200" lang="zh-CN">
                <a:solidFill>
                  <a:schemeClr val="lt2"/>
                </a:solidFill>
                <a:ea typeface="Mudir MT" pitchFamily="2" charset="-78"/>
              </a:rPr>
              <a:t>الاستخدام المنزلي</a:t>
            </a:r>
          </a:p>
        </p:txBody>
      </p:sp>
      <p:sp>
        <p:nvSpPr>
          <p:cNvPr id="1048739" name="AutoShape 20">
            <a:hlinkClick r:id="rId4" action="ppaction://hlinksldjump"/>
          </p:cNvPr>
          <p:cNvSpPr/>
          <p:nvPr/>
        </p:nvSpPr>
        <p:spPr>
          <a:xfrm rot="0">
            <a:off x="6083300" y="4140200"/>
            <a:ext cx="504825" cy="504825"/>
          </a:xfrm>
          <a:prstGeom prst="octagon"/>
          <a:solidFill>
            <a:srgbClr val="FFCC99"/>
          </a:solidFill>
          <a:ln w="57150" cap="flat" cmpd="thinThick">
            <a:solidFill>
              <a:srgbClr val="FF9900">
                <a:alpha val="100000"/>
              </a:srgbClr>
            </a:solidFill>
            <a:prstDash val="solid"/>
            <a:round/>
          </a:ln>
          <a:effectLst>
            <a:outerShdw algn="ctr" dir="18900000" dist="53881" kx="0" sx="100000" sy="100000">
              <a:schemeClr val="dk2">
                <a:alpha val="50000"/>
              </a:schemeClr>
            </a:outerShdw>
          </a:effectLst>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Tree>
  </p:cSld>
  <p:clrMapOvr>
    <a:masterClrMapping/>
  </p:clrMapOvr>
  <p:transition spd="fast" advClick="0">
    <p:wheel spokes="1"/>
  </p:transition>
  <p:timing/>
</p:sld>
</file>

<file path=ppt/slides/slide19.xml><?xml version="1.0" encoding="utf-8"?>
<p:sld xmlns:a="http://schemas.openxmlformats.org/drawingml/2006/main" xmlns:r="http://schemas.openxmlformats.org/officeDocument/2006/relationships" xmlns:p="http://schemas.openxmlformats.org/presentationml/2006/main" show="1" showMasterSp="1">
  <p:cSld>
    <p:spTree>
      <p:nvGrpSpPr>
        <p:cNvPr id="80" name=""/>
        <p:cNvGrpSpPr/>
        <p:nvPr/>
      </p:nvGrpSpPr>
      <p:grpSpPr>
        <a:xfrm rot="0">
          <a:off x="0" y="0"/>
          <a:ext cx="0" cy="0"/>
          <a:chOff x="0" y="0"/>
          <a:chExt cx="0" cy="0"/>
        </a:xfrm>
      </p:grpSpPr>
      <p:sp>
        <p:nvSpPr>
          <p:cNvPr id="1048744" name="Rectangle 2"/>
          <p:cNvSpPr/>
          <p:nvPr>
            <p:ph type="title" sz="full" idx="0"/>
          </p:nvPr>
        </p:nvSpPr>
        <p:spPr>
          <a:xfrm rot="0">
            <a:off x="714375" y="188912"/>
            <a:ext cx="7972425"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400" lang="zh-CN">
                <a:ea typeface="PT Bold Heading" pitchFamily="2" charset="-78"/>
              </a:rPr>
              <a:t>التعليم والتدريب </a:t>
            </a:r>
            <a:r>
              <a:rPr altLang="en-US" b="1" sz="3200" lang="en-US">
                <a:ea typeface="PT Bold Heading" pitchFamily="2" charset="-78"/>
              </a:rPr>
              <a:t>Learning &amp; Training</a:t>
            </a:r>
          </a:p>
        </p:txBody>
      </p:sp>
      <p:sp>
        <p:nvSpPr>
          <p:cNvPr id="1048745" name="AutoShape 3">
            <a:hlinkClick r:id="rId1"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746" name="AutoShape 4"/>
          <p:cNvSpPr/>
          <p:nvPr/>
        </p:nvSpPr>
        <p:spPr>
          <a:xfrm rot="0">
            <a:off x="323850" y="1052512"/>
            <a:ext cx="8496300" cy="3529012"/>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747" name="Text Box 5"/>
          <p:cNvSpPr txBox="1"/>
          <p:nvPr/>
        </p:nvSpPr>
        <p:spPr>
          <a:xfrm rot="0">
            <a:off x="468312" y="1123950"/>
            <a:ext cx="8135937" cy="32924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000" lang="zh-CN">
                <a:ea typeface="Simplified Arabic" pitchFamily="18" charset="-78"/>
              </a:rPr>
              <a:t>تعاني معظم المؤسسات التعليمية والتدريبية من عوائق كثيرة لأداء مهامها، منها: قلة عدد المدرسين المتخصصين، البطء في إدخال العلوم والتقنيات الحديثة في المناهج التعليمية، عدم التوازن القائم بين عدد المدرسين وأعداد الطلبة. لذلك كان البحث عن وسائل مساعدة (ليست بديلة) للمدرسين في التعليم والتدريب، فظهر مفهوم </a:t>
            </a:r>
            <a:r>
              <a:rPr altLang="en-US" b="1" sz="2500" lang="zh-CN">
                <a:ea typeface="Simplified Arabic" pitchFamily="18" charset="-78"/>
              </a:rPr>
              <a:t>(</a:t>
            </a:r>
            <a:r>
              <a:rPr altLang="en-US" b="1" sz="2500" lang="en-US">
                <a:ea typeface="Simplified Arabic" pitchFamily="18" charset="-78"/>
              </a:rPr>
              <a:t>Hyper Media</a:t>
            </a:r>
            <a:r>
              <a:rPr altLang="en-US" b="1" sz="2500" lang="zh-CN">
                <a:ea typeface="Simplified Arabic" pitchFamily="18" charset="-78"/>
              </a:rPr>
              <a:t>)</a:t>
            </a:r>
            <a:r>
              <a:rPr altLang="en-US" b="1" sz="3000" lang="zh-CN">
                <a:ea typeface="Simplified Arabic" pitchFamily="18" charset="-78"/>
              </a:rPr>
              <a:t>، وكان الحاسب الآلي أهم تقنية روجت وساعدت في لهذا المفهوم، (لماذا؟).</a:t>
            </a:r>
          </a:p>
        </p:txBody>
      </p:sp>
      <p:sp>
        <p:nvSpPr>
          <p:cNvPr id="1048748" name="AutoShape 13">
            <a:hlinkClick r:id="rId2" action="ppaction://hlinksldjump"/>
          </p:cNvPr>
          <p:cNvSpPr/>
          <p:nvPr/>
        </p:nvSpPr>
        <p:spPr>
          <a:xfrm rot="0" flipH="1">
            <a:off x="7523162" y="6165850"/>
            <a:ext cx="720725" cy="576262"/>
          </a:xfrm>
          <a:prstGeom prst="leftArrow">
            <a:avLst>
              <a:gd name="adj1" fmla="val 49898"/>
              <a:gd name="adj2" fmla="val 48452"/>
            </a:avLst>
          </a:prstGeom>
          <a:solidFill>
            <a:srgbClr val="FFCC99"/>
          </a:solidFill>
          <a:ln w="57150" cap="flat" cmpd="thinThick">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التالي</a:t>
            </a:r>
          </a:p>
        </p:txBody>
      </p:sp>
    </p:spTree>
  </p:cSld>
  <p:clrMapOvr>
    <a:masterClrMapping/>
  </p:clrMapOvr>
  <p:transition spd="fast" advClick="0">
    <p:wheel spokes="1"/>
  </p:transition>
  <p:timing/>
</p:sld>
</file>

<file path=ppt/slides/slide20.xml><?xml version="1.0" encoding="utf-8"?>
<p:sld xmlns:a="http://schemas.openxmlformats.org/drawingml/2006/main" xmlns:r="http://schemas.openxmlformats.org/officeDocument/2006/relationships" xmlns:p="http://schemas.openxmlformats.org/presentationml/2006/main" show="1" showMasterSp="1">
  <p:cSld>
    <p:spTree>
      <p:nvGrpSpPr>
        <p:cNvPr id="81" name=""/>
        <p:cNvGrpSpPr/>
        <p:nvPr/>
      </p:nvGrpSpPr>
      <p:grpSpPr>
        <a:xfrm rot="0">
          <a:off x="0" y="0"/>
          <a:ext cx="0" cy="0"/>
          <a:chOff x="0" y="0"/>
          <a:chExt cx="0" cy="0"/>
        </a:xfrm>
      </p:grpSpPr>
      <p:sp>
        <p:nvSpPr>
          <p:cNvPr id="1048749" name="Rectangle 2"/>
          <p:cNvSpPr/>
          <p:nvPr>
            <p:ph type="title" sz="full" idx="0"/>
          </p:nvPr>
        </p:nvSpPr>
        <p:spPr>
          <a:xfrm rot="0">
            <a:off x="4500562" y="188912"/>
            <a:ext cx="4186237"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400" lang="zh-CN">
                <a:ea typeface="PT Bold Heading" pitchFamily="2" charset="-78"/>
              </a:rPr>
              <a:t>تابع: التعليم والتدريب</a:t>
            </a:r>
          </a:p>
        </p:txBody>
      </p:sp>
      <p:sp>
        <p:nvSpPr>
          <p:cNvPr id="1048750" name="AutoShape 3">
            <a:hlinkClick r:id="rId1" action="ppaction://hlinksldjump"/>
          </p:cNvPr>
          <p:cNvSpPr/>
          <p:nvPr/>
        </p:nvSpPr>
        <p:spPr>
          <a:xfrm rot="0">
            <a:off x="4500562" y="6021387"/>
            <a:ext cx="792162" cy="576262"/>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751" name="AutoShape 4"/>
          <p:cNvSpPr/>
          <p:nvPr/>
        </p:nvSpPr>
        <p:spPr>
          <a:xfrm rot="0">
            <a:off x="323850" y="1052512"/>
            <a:ext cx="8496300" cy="2016125"/>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752" name="Text Box 5"/>
          <p:cNvSpPr txBox="1"/>
          <p:nvPr/>
        </p:nvSpPr>
        <p:spPr>
          <a:xfrm rot="0">
            <a:off x="468312" y="1196975"/>
            <a:ext cx="8135937" cy="1754187"/>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500" lang="zh-CN">
                <a:effectLst>
                  <a:outerShdw algn="tl" blurRad="38100" dir="2700000" dist="38100">
                    <a:srgbClr val="C0C0C0"/>
                  </a:outerShdw>
                </a:effectLst>
                <a:ea typeface="Simplified Arabic" pitchFamily="18" charset="-78"/>
              </a:rPr>
              <a:t>التعليم الالكتروني والتعليم عن بعد:</a:t>
            </a:r>
            <a:r>
              <a:rPr altLang="en-US" sz="3000" lang="zh-CN">
                <a:ea typeface="Simplified Arabic" pitchFamily="18" charset="-78"/>
              </a:rPr>
              <a:t> </a:t>
            </a:r>
            <a:r>
              <a:rPr altLang="en-US" b="1" sz="2800" lang="en-US">
                <a:ea typeface="Simplified Arabic" pitchFamily="18" charset="-78"/>
              </a:rPr>
              <a:t>e-Learning</a:t>
            </a:r>
          </a:p>
          <a:p>
            <a:pPr algn="just" eaLnBrk="1" hangingPunct="1" lvl="0">
              <a:spcBef>
                <a:spcPct val="50000"/>
              </a:spcBef>
            </a:pPr>
            <a:r>
              <a:rPr altLang="en-US" b="1" sz="3000" lang="zh-CN">
                <a:ea typeface="Simplified Arabic" pitchFamily="18" charset="-78"/>
              </a:rPr>
              <a:t>     </a:t>
            </a:r>
            <a:r>
              <a:rPr altLang="en-US" b="1" sz="2800" lang="zh-CN">
                <a:ea typeface="Simplified Arabic" pitchFamily="18" charset="-78"/>
              </a:rPr>
              <a:t>نظام تعليمي يتم فيه تقديم التعليمات والإرشادات التعليمية بين مدرسين وطلاب يفصلهم الزمان والمكان.</a:t>
            </a:r>
          </a:p>
        </p:txBody>
      </p:sp>
      <p:sp>
        <p:nvSpPr>
          <p:cNvPr id="1048753" name="AutoShape 6">
            <a:hlinkClick r:id="rId2" action="ppaction://hlinksldjump"/>
          </p:cNvPr>
          <p:cNvSpPr/>
          <p:nvPr/>
        </p:nvSpPr>
        <p:spPr>
          <a:xfrm rot="0" flipH="1">
            <a:off x="7523162" y="6165850"/>
            <a:ext cx="720725" cy="431800"/>
          </a:xfrm>
          <a:prstGeom prst="leftArrow">
            <a:avLst>
              <a:gd name="adj1" fmla="val 49898"/>
              <a:gd name="adj2" fmla="val 50722"/>
            </a:avLst>
          </a:prstGeom>
          <a:solidFill>
            <a:srgbClr val="FFCC99"/>
          </a:solidFill>
          <a:ln w="57150" cap="flat" cmpd="thinThick">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التالي</a:t>
            </a:r>
          </a:p>
        </p:txBody>
      </p:sp>
      <p:sp>
        <p:nvSpPr>
          <p:cNvPr id="1048754" name="AutoShape 7"/>
          <p:cNvSpPr/>
          <p:nvPr/>
        </p:nvSpPr>
        <p:spPr>
          <a:xfrm rot="0">
            <a:off x="323850" y="3284537"/>
            <a:ext cx="8496300" cy="2592387"/>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755" name="Text Box 8"/>
          <p:cNvSpPr txBox="1"/>
          <p:nvPr/>
        </p:nvSpPr>
        <p:spPr>
          <a:xfrm rot="0">
            <a:off x="468312" y="3286125"/>
            <a:ext cx="8135937" cy="2570162"/>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500" lang="zh-CN">
                <a:effectLst>
                  <a:outerShdw algn="tl" blurRad="38100" dir="2700000" dist="38100">
                    <a:srgbClr val="C0C0C0"/>
                  </a:outerShdw>
                </a:effectLst>
                <a:ea typeface="Simplified Arabic" pitchFamily="18" charset="-78"/>
              </a:rPr>
              <a:t>التعليم المنزلي:</a:t>
            </a:r>
            <a:r>
              <a:rPr altLang="en-US" sz="3000" lang="zh-CN">
                <a:ea typeface="Simplified Arabic" pitchFamily="18" charset="-78"/>
              </a:rPr>
              <a:t> </a:t>
            </a:r>
          </a:p>
          <a:p>
            <a:pPr algn="just" eaLnBrk="1" hangingPunct="1" lvl="0">
              <a:spcBef>
                <a:spcPct val="50000"/>
              </a:spcBef>
            </a:pPr>
            <a:r>
              <a:rPr altLang="en-US" b="1" sz="2800" lang="zh-CN">
                <a:ea typeface="Simplified Arabic" pitchFamily="18" charset="-78"/>
              </a:rPr>
              <a:t>نظام تعليمي يعتمد أساساً على ربط الطالب بجهاز الحاسب الآلي من خلال برنامج الوسائط المتعددة المعد اساساً لتدريس المقررات الدراسية إما من خلال قاعدة بيانات مركزية متصلة بشبكة المدرسة، أو مخزنة على أقراص مدمجة.</a:t>
            </a:r>
          </a:p>
        </p:txBody>
      </p:sp>
    </p:spTree>
  </p:cSld>
  <p:clrMapOvr>
    <a:masterClrMapping/>
  </p:clrMapOvr>
  <p:transition spd="fast" advClick="0">
    <p:wheel spokes="1"/>
  </p:transition>
  <p:timing/>
</p:sld>
</file>

<file path=ppt/slides/slide21.xml><?xml version="1.0" encoding="utf-8"?>
<p:sld xmlns:a="http://schemas.openxmlformats.org/drawingml/2006/main" xmlns:r="http://schemas.openxmlformats.org/officeDocument/2006/relationships" xmlns:p="http://schemas.openxmlformats.org/presentationml/2006/main" show="1" showMasterSp="1">
  <p:cSld>
    <p:spTree>
      <p:nvGrpSpPr>
        <p:cNvPr id="82" name=""/>
        <p:cNvGrpSpPr/>
        <p:nvPr/>
      </p:nvGrpSpPr>
      <p:grpSpPr>
        <a:xfrm rot="0">
          <a:off x="0" y="0"/>
          <a:ext cx="0" cy="0"/>
          <a:chOff x="0" y="0"/>
          <a:chExt cx="0" cy="0"/>
        </a:xfrm>
      </p:grpSpPr>
      <p:sp>
        <p:nvSpPr>
          <p:cNvPr id="1048756" name="Rectangle 2"/>
          <p:cNvSpPr/>
          <p:nvPr>
            <p:ph type="title" sz="full" idx="0"/>
          </p:nvPr>
        </p:nvSpPr>
        <p:spPr>
          <a:xfrm rot="0">
            <a:off x="4500562" y="188912"/>
            <a:ext cx="4186237"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400" lang="zh-CN">
                <a:ea typeface="PT Bold Heading" pitchFamily="2" charset="-78"/>
              </a:rPr>
              <a:t>تابع: التعليم والتدريب</a:t>
            </a:r>
          </a:p>
        </p:txBody>
      </p:sp>
      <p:sp>
        <p:nvSpPr>
          <p:cNvPr id="1048757" name="AutoShape 3">
            <a:hlinkClick r:id="rId1" action="ppaction://hlinksldjump"/>
          </p:cNvPr>
          <p:cNvSpPr/>
          <p:nvPr/>
        </p:nvSpPr>
        <p:spPr>
          <a:xfrm rot="0">
            <a:off x="4500562" y="6092825"/>
            <a:ext cx="792162" cy="504825"/>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758" name="AutoShape 7"/>
          <p:cNvSpPr/>
          <p:nvPr/>
        </p:nvSpPr>
        <p:spPr>
          <a:xfrm rot="0">
            <a:off x="323850" y="1125537"/>
            <a:ext cx="8496300" cy="2016125"/>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759" name="Text Box 8"/>
          <p:cNvSpPr txBox="1"/>
          <p:nvPr/>
        </p:nvSpPr>
        <p:spPr>
          <a:xfrm rot="0">
            <a:off x="468312" y="1360487"/>
            <a:ext cx="8135937" cy="1554162"/>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500" lang="zh-CN">
                <a:effectLst>
                  <a:outerShdw algn="tl" blurRad="38100" dir="2700000" dist="38100">
                    <a:srgbClr val="C0C0C0"/>
                  </a:outerShdw>
                </a:effectLst>
                <a:ea typeface="Simplified Arabic" pitchFamily="18" charset="-78"/>
              </a:rPr>
              <a:t>الحقيقة الوهمية (الافتراضية):</a:t>
            </a:r>
            <a:r>
              <a:rPr altLang="en-US" b="1" sz="3200" lang="en-US">
                <a:effectLst>
                  <a:outerShdw algn="tl" blurRad="38100" dir="2700000" dist="38100">
                    <a:srgbClr val="C0C0C0"/>
                  </a:outerShdw>
                </a:effectLst>
                <a:ea typeface="Simplified Arabic" pitchFamily="18" charset="-78"/>
              </a:rPr>
              <a:t>Virtual Real</a:t>
            </a:r>
            <a:r>
              <a:rPr altLang="en-US" b="1" sz="2800" lang="zh-CN">
                <a:ea typeface="Simplified Arabic" pitchFamily="18" charset="-78"/>
              </a:rPr>
              <a:t> </a:t>
            </a:r>
          </a:p>
          <a:p>
            <a:pPr algn="just" eaLnBrk="1" hangingPunct="1" lvl="0">
              <a:spcBef>
                <a:spcPct val="50000"/>
              </a:spcBef>
            </a:pPr>
            <a:r>
              <a:rPr altLang="en-US" b="1" sz="2400" lang="zh-CN">
                <a:ea typeface="Simplified Arabic" pitchFamily="18" charset="-78"/>
              </a:rPr>
              <a:t>أنظمة حاسب آلي تمكّن المستخدم من خلالها أن يستكشف عوالم مبتدعة بواسطة الأجهزة والبرامج، تحمل قدراً من</a:t>
            </a:r>
            <a:r>
              <a:rPr altLang="en-US" b="1" sz="2400" lang="en-US">
                <a:ea typeface="Simplified Arabic" pitchFamily="18" charset="-78"/>
              </a:rPr>
              <a:t> </a:t>
            </a:r>
            <a:r>
              <a:rPr altLang="en-US" b="1" sz="2400" lang="zh-CN">
                <a:ea typeface="Simplified Arabic" pitchFamily="18" charset="-78"/>
              </a:rPr>
              <a:t>المشابهة بالحقيقة.</a:t>
            </a:r>
          </a:p>
        </p:txBody>
      </p:sp>
      <p:sp>
        <p:nvSpPr>
          <p:cNvPr id="1048760" name="AutoShape 9"/>
          <p:cNvSpPr/>
          <p:nvPr/>
        </p:nvSpPr>
        <p:spPr>
          <a:xfrm rot="0">
            <a:off x="395287" y="3357562"/>
            <a:ext cx="8496300" cy="1511300"/>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761" name="Text Box 10"/>
          <p:cNvSpPr txBox="1"/>
          <p:nvPr/>
        </p:nvSpPr>
        <p:spPr>
          <a:xfrm rot="0">
            <a:off x="539750" y="3286125"/>
            <a:ext cx="8135937" cy="1554162"/>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500" lang="zh-CN">
                <a:effectLst>
                  <a:outerShdw algn="tl" blurRad="38100" dir="2700000" dist="38100">
                    <a:srgbClr val="C0C0C0"/>
                  </a:outerShdw>
                </a:effectLst>
                <a:ea typeface="Simplified Arabic" pitchFamily="18" charset="-78"/>
              </a:rPr>
              <a:t>ندوات(مؤتمرات) الفيديو:</a:t>
            </a:r>
            <a:r>
              <a:rPr altLang="en-US" sz="3000" lang="zh-CN">
                <a:ea typeface="Simplified Arabic" pitchFamily="18" charset="-78"/>
              </a:rPr>
              <a:t> </a:t>
            </a:r>
            <a:r>
              <a:rPr altLang="en-US" b="1" sz="2800" lang="en-US">
                <a:ea typeface="Simplified Arabic" pitchFamily="18" charset="-78"/>
              </a:rPr>
              <a:t>Video Conferences</a:t>
            </a:r>
          </a:p>
          <a:p>
            <a:pPr algn="just" eaLnBrk="1" hangingPunct="1" lvl="0">
              <a:spcBef>
                <a:spcPct val="50000"/>
              </a:spcBef>
            </a:pPr>
            <a:r>
              <a:rPr altLang="en-US" b="1" sz="2400" lang="zh-CN">
                <a:ea typeface="Simplified Arabic" pitchFamily="18" charset="-78"/>
              </a:rPr>
              <a:t>توفر ندوات الفيديو اتصالاً مباشراً بين طرفين أو أكثر بواسطة الحاسب الآلي بالصوت والصورة معاً.</a:t>
            </a:r>
          </a:p>
        </p:txBody>
      </p:sp>
    </p:spTree>
  </p:cSld>
  <p:clrMapOvr>
    <a:masterClrMapping/>
  </p:clrMapOvr>
  <p:transition spd="fast" advClick="0">
    <p:wheel spokes="1"/>
  </p:transition>
  <p:timing/>
</p:sld>
</file>

<file path=ppt/slides/slide22.xml><?xml version="1.0" encoding="utf-8"?>
<p:sld xmlns:a="http://schemas.openxmlformats.org/drawingml/2006/main" xmlns:r="http://schemas.openxmlformats.org/officeDocument/2006/relationships" xmlns:p="http://schemas.openxmlformats.org/presentationml/2006/main" show="1" showMasterSp="1">
  <p:cSld>
    <p:spTree>
      <p:nvGrpSpPr>
        <p:cNvPr id="83" name=""/>
        <p:cNvGrpSpPr/>
        <p:nvPr/>
      </p:nvGrpSpPr>
      <p:grpSpPr>
        <a:xfrm rot="0">
          <a:off x="0" y="0"/>
          <a:ext cx="0" cy="0"/>
          <a:chOff x="0" y="0"/>
          <a:chExt cx="0" cy="0"/>
        </a:xfrm>
      </p:grpSpPr>
      <p:sp>
        <p:nvSpPr>
          <p:cNvPr id="1048762" name="Rectangle 2"/>
          <p:cNvSpPr/>
          <p:nvPr>
            <p:ph type="title" sz="full" idx="0"/>
          </p:nvPr>
        </p:nvSpPr>
        <p:spPr>
          <a:xfrm rot="0">
            <a:off x="4500562" y="188912"/>
            <a:ext cx="4186237"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400" lang="zh-CN">
                <a:ea typeface="PT Bold Heading" pitchFamily="2" charset="-78"/>
              </a:rPr>
              <a:t>تابع: التعليم والتدريب</a:t>
            </a:r>
          </a:p>
        </p:txBody>
      </p:sp>
      <p:sp>
        <p:nvSpPr>
          <p:cNvPr id="1048763" name="AutoShape 3">
            <a:hlinkClick r:id="rId1"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764" name="AutoShape 7"/>
          <p:cNvSpPr/>
          <p:nvPr/>
        </p:nvSpPr>
        <p:spPr>
          <a:xfrm rot="0">
            <a:off x="323850" y="1125537"/>
            <a:ext cx="8496300" cy="4875212"/>
          </a:xfrm>
          <a:prstGeom prst="roundRect">
            <a:avLst>
              <a:gd name="adj" fmla="val 8926"/>
            </a:avLst>
          </a:prstGeom>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765" name="Text Box 8"/>
          <p:cNvSpPr txBox="1"/>
          <p:nvPr/>
        </p:nvSpPr>
        <p:spPr>
          <a:xfrm rot="0">
            <a:off x="285750" y="1360487"/>
            <a:ext cx="8318500" cy="47275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lnSpc>
                <a:spcPct val="90000"/>
              </a:lnSpc>
            </a:pPr>
            <a:r>
              <a:rPr altLang="en-US" b="1" sz="4400" lang="ar-SA"/>
              <a:t>أنواع الوسائط المتعددة التعليمية:</a:t>
            </a:r>
          </a:p>
          <a:p>
            <a:pPr eaLnBrk="1" hangingPunct="1" lvl="0"/>
            <a:r>
              <a:rPr altLang="zh-CN" b="1" sz="3600" lang="ar-SA" u="sng"/>
              <a:t>1- البرامج الحاسوبية</a:t>
            </a:r>
            <a:r>
              <a:rPr altLang="zh-CN" sz="3600" lang="ar-SA"/>
              <a:t> </a:t>
            </a:r>
          </a:p>
          <a:p>
            <a:pPr eaLnBrk="1" hangingPunct="1" lvl="0">
              <a:lnSpc>
                <a:spcPct val="80000"/>
              </a:lnSpc>
            </a:pPr>
            <a:r>
              <a:rPr altLang="zh-CN" b="1" sz="3200" lang="ar-SA" u="sng">
                <a:solidFill>
                  <a:srgbClr val="800000"/>
                </a:solidFill>
              </a:rPr>
              <a:t>وتنقسم إلى</a:t>
            </a:r>
            <a:r>
              <a:rPr altLang="zh-CN" b="1" sz="3200" lang="en-US" u="sng">
                <a:solidFill>
                  <a:srgbClr val="800000"/>
                </a:solidFill>
                <a:ea typeface="SimSun" pitchFamily="2" charset="-122"/>
              </a:rPr>
              <a:t>:</a:t>
            </a:r>
          </a:p>
          <a:p>
            <a:pPr eaLnBrk="1" hangingPunct="1" lvl="0"/>
            <a:r>
              <a:rPr altLang="zh-CN" b="1" sz="3600" lang="ar-SA">
                <a:solidFill>
                  <a:srgbClr val="800000"/>
                </a:solidFill>
              </a:rPr>
              <a:t>أ- البرامج المخصصة للعروض مثل</a:t>
            </a:r>
            <a:r>
              <a:rPr altLang="zh-CN" b="1" sz="3600" lang="en-US">
                <a:solidFill>
                  <a:srgbClr val="800000"/>
                </a:solidFill>
                <a:ea typeface="SimSun" pitchFamily="2" charset="-122"/>
              </a:rPr>
              <a:t> :</a:t>
            </a:r>
            <a:r>
              <a:rPr altLang="zh-CN" b="1" sz="3600" lang="en-US">
                <a:ea typeface="SimSun" pitchFamily="2" charset="-122"/>
              </a:rPr>
              <a:t> </a:t>
            </a:r>
            <a:br>
              <a:rPr altLang="zh-CN" b="1" sz="3600" lang="en-US">
                <a:ea typeface="SimSun" pitchFamily="2" charset="-122"/>
              </a:rPr>
            </a:br>
            <a:r>
              <a:rPr altLang="zh-CN" b="1" sz="2400" lang="ar-SA">
                <a:ea typeface="Simplified Arabic" pitchFamily="18" charset="-78"/>
              </a:rPr>
              <a:t>1- برنامج </a:t>
            </a:r>
            <a:r>
              <a:rPr altLang="zh-CN" b="1" sz="2400" lang="en-US">
                <a:ea typeface="SimSun" pitchFamily="2" charset="-122"/>
              </a:rPr>
              <a:t>Power point</a:t>
            </a:r>
            <a:br>
              <a:rPr altLang="zh-CN" b="1" sz="2400" lang="en-US">
                <a:ea typeface="SimSun" pitchFamily="2" charset="-122"/>
              </a:rPr>
            </a:br>
            <a:r>
              <a:rPr altLang="zh-CN" b="1" sz="2400" lang="ar-SA">
                <a:ea typeface="Simplified Arabic" pitchFamily="18" charset="-78"/>
              </a:rPr>
              <a:t>2- برنامج </a:t>
            </a:r>
            <a:r>
              <a:rPr altLang="zh-CN" b="1" sz="2400" lang="en-US">
                <a:ea typeface="SimSun" pitchFamily="2" charset="-122"/>
              </a:rPr>
              <a:t>Front page</a:t>
            </a:r>
          </a:p>
          <a:p>
            <a:pPr eaLnBrk="1" hangingPunct="1" lvl="0"/>
            <a:r>
              <a:rPr altLang="zh-CN" b="1" sz="2400" lang="ar-SA">
                <a:ea typeface="Simplified Arabic" pitchFamily="18" charset="-78"/>
              </a:rPr>
              <a:t>3- برامج عرض الصور</a:t>
            </a:r>
          </a:p>
          <a:p>
            <a:pPr algn="just" eaLnBrk="1" hangingPunct="1" lvl="0"/>
            <a:r>
              <a:rPr altLang="zh-CN" b="1" sz="3600" lang="ar-SA">
                <a:solidFill>
                  <a:srgbClr val="800000"/>
                </a:solidFill>
              </a:rPr>
              <a:t>ب </a:t>
            </a:r>
            <a:r>
              <a:rPr altLang="zh-CN" b="1" sz="3600" lang="en-US">
                <a:solidFill>
                  <a:srgbClr val="800000"/>
                </a:solidFill>
                <a:ea typeface="SimSun" pitchFamily="2" charset="-122"/>
              </a:rPr>
              <a:t>- </a:t>
            </a:r>
            <a:r>
              <a:rPr altLang="zh-CN" b="1" sz="3600" lang="ar-SA">
                <a:solidFill>
                  <a:srgbClr val="800000"/>
                </a:solidFill>
              </a:rPr>
              <a:t>البرامج الكاملة:</a:t>
            </a:r>
            <a:r>
              <a:rPr altLang="zh-CN" b="1" sz="3600" lang="ar-SA"/>
              <a:t> </a:t>
            </a:r>
            <a:r>
              <a:rPr altLang="zh-CN" b="1" sz="2800" lang="ar-SA"/>
              <a:t>وهي عبارة عن برامج جاهزة ومعدة مسبقاً باستخدام لغة من اللغات البرمجية مثل لغة الفيجويل بيسك وتتضمن شرحاً مفصلاً لموضوع ما سواءً كان موضوعاً نظرياً أو عملياً</a:t>
            </a:r>
            <a:r>
              <a:rPr altLang="zh-CN" b="1" sz="2800" lang="en-US">
                <a:ea typeface="SimSun" pitchFamily="2" charset="-122"/>
              </a:rPr>
              <a:t> .</a:t>
            </a:r>
          </a:p>
        </p:txBody>
      </p:sp>
    </p:spTree>
  </p:cSld>
  <p:clrMapOvr>
    <a:masterClrMapping/>
  </p:clrMapOvr>
  <p:transition spd="fast" advClick="0">
    <p:wheel spokes="1"/>
  </p:transition>
  <p:timing/>
</p:sld>
</file>

<file path=ppt/slides/slide23.xml><?xml version="1.0" encoding="utf-8"?>
<p:sld xmlns:a="http://schemas.openxmlformats.org/drawingml/2006/main" xmlns:r="http://schemas.openxmlformats.org/officeDocument/2006/relationships" xmlns:p="http://schemas.openxmlformats.org/presentationml/2006/main" show="1" showMasterSp="1">
  <p:cSld>
    <p:spTree>
      <p:nvGrpSpPr>
        <p:cNvPr id="84" name=""/>
        <p:cNvGrpSpPr/>
        <p:nvPr/>
      </p:nvGrpSpPr>
      <p:grpSpPr>
        <a:xfrm rot="0">
          <a:off x="0" y="0"/>
          <a:ext cx="0" cy="0"/>
          <a:chOff x="0" y="0"/>
          <a:chExt cx="0" cy="0"/>
        </a:xfrm>
      </p:grpSpPr>
      <p:sp>
        <p:nvSpPr>
          <p:cNvPr id="1048766" name="Rectangle 2"/>
          <p:cNvSpPr/>
          <p:nvPr>
            <p:ph type="title" sz="full" idx="0"/>
          </p:nvPr>
        </p:nvSpPr>
        <p:spPr>
          <a:xfrm rot="0">
            <a:off x="4500562" y="188912"/>
            <a:ext cx="4186237"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400" lang="zh-CN">
                <a:ea typeface="PT Bold Heading" pitchFamily="2" charset="-78"/>
              </a:rPr>
              <a:t>تابع: التعليم والتدريب</a:t>
            </a:r>
          </a:p>
        </p:txBody>
      </p:sp>
      <p:sp>
        <p:nvSpPr>
          <p:cNvPr id="1048767" name="AutoShape 3">
            <a:hlinkClick r:id="rId1"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768" name="AutoShape 7"/>
          <p:cNvSpPr/>
          <p:nvPr/>
        </p:nvSpPr>
        <p:spPr>
          <a:xfrm rot="0">
            <a:off x="323850" y="1125537"/>
            <a:ext cx="8496300" cy="4875212"/>
          </a:xfrm>
          <a:prstGeom prst="roundRect">
            <a:avLst>
              <a:gd name="adj" fmla="val 8926"/>
            </a:avLst>
          </a:prstGeom>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769" name="Text Box 8"/>
          <p:cNvSpPr txBox="1"/>
          <p:nvPr/>
        </p:nvSpPr>
        <p:spPr>
          <a:xfrm rot="0">
            <a:off x="468312" y="1341437"/>
            <a:ext cx="8135937" cy="37242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lnSpc>
                <a:spcPct val="90000"/>
              </a:lnSpc>
            </a:pPr>
            <a:r>
              <a:rPr altLang="en-US" b="1" sz="4400" lang="ar-SA"/>
              <a:t>أنواع الوسائط المتعددة التعليمية:</a:t>
            </a:r>
          </a:p>
          <a:p>
            <a:pPr eaLnBrk="1" hangingPunct="1" lvl="0"/>
            <a:r>
              <a:rPr altLang="zh-CN" b="1" sz="3600" lang="ar-SA" u="sng"/>
              <a:t>2- عروض المالتي ميديا التفاعلية</a:t>
            </a:r>
            <a:r>
              <a:rPr altLang="zh-CN" sz="3600" lang="ar-SA"/>
              <a:t> </a:t>
            </a:r>
          </a:p>
          <a:p>
            <a:pPr eaLnBrk="1" hangingPunct="1" lvl="1"/>
            <a:r>
              <a:rPr altLang="zh-CN" b="1" sz="3200" lang="ar-SA"/>
              <a:t>أ- عروض الفلاش</a:t>
            </a:r>
            <a:r>
              <a:rPr altLang="zh-CN" b="1" sz="3200" lang="en-US">
                <a:ea typeface="SimSun" pitchFamily="2" charset="-122"/>
              </a:rPr>
              <a:t> .</a:t>
            </a:r>
            <a:br>
              <a:rPr altLang="zh-CN" b="1" sz="3200" lang="en-US">
                <a:ea typeface="SimSun" pitchFamily="2" charset="-122"/>
              </a:rPr>
            </a:br>
            <a:r>
              <a:rPr altLang="zh-CN" b="1" sz="3200" lang="ar-SA"/>
              <a:t>ب- عروض</a:t>
            </a:r>
            <a:r>
              <a:rPr altLang="zh-CN" b="1" sz="3200" lang="en-US">
                <a:ea typeface="SimSun" pitchFamily="2" charset="-122"/>
              </a:rPr>
              <a:t>. Shock wave </a:t>
            </a:r>
            <a:br>
              <a:rPr altLang="zh-CN" b="1" sz="3200" lang="en-US">
                <a:ea typeface="SimSun" pitchFamily="2" charset="-122"/>
              </a:rPr>
            </a:br>
            <a:r>
              <a:rPr altLang="zh-CN" b="1" sz="3200" lang="ar-SA"/>
              <a:t>جـ - عروض الصور ثلاثية الأبعاد</a:t>
            </a:r>
            <a:r>
              <a:rPr altLang="zh-CN" b="1" sz="3200" lang="en-US">
                <a:ea typeface="SimSun" pitchFamily="2" charset="-122"/>
              </a:rPr>
              <a:t>3D </a:t>
            </a:r>
            <a:r>
              <a:rPr altLang="zh-CN" b="1" sz="3200" lang="ar-SA">
                <a:ea typeface="SimSun" pitchFamily="2" charset="-122"/>
              </a:rPr>
              <a:t>.</a:t>
            </a:r>
            <a:br>
              <a:rPr altLang="zh-CN" b="1" sz="3200" lang="en-US">
                <a:ea typeface="SimSun" pitchFamily="2" charset="-122"/>
              </a:rPr>
            </a:br>
            <a:r>
              <a:rPr altLang="zh-CN" b="1" sz="3200" lang="ar-SA"/>
              <a:t>د - عروض </a:t>
            </a:r>
            <a:r>
              <a:rPr altLang="zh-CN" b="1" sz="3200" lang="en-US">
                <a:ea typeface="SimSun" pitchFamily="2" charset="-122"/>
              </a:rPr>
              <a:t>Author ware</a:t>
            </a:r>
            <a:r>
              <a:rPr altLang="zh-CN" sz="3200" lang="en-US">
                <a:ea typeface="SimSun" pitchFamily="2" charset="-122"/>
              </a:rPr>
              <a:t> </a:t>
            </a:r>
            <a:r>
              <a:rPr altLang="zh-CN" sz="3200" lang="ar-SA">
                <a:ea typeface="SimSun" pitchFamily="2" charset="-122"/>
              </a:rPr>
              <a:t>.</a:t>
            </a:r>
          </a:p>
          <a:p>
            <a:pPr eaLnBrk="1" hangingPunct="1" lvl="0">
              <a:lnSpc>
                <a:spcPct val="90000"/>
              </a:lnSpc>
            </a:pPr>
            <a:endParaRPr altLang="en-US" sz="3600" lang="en-US"/>
          </a:p>
        </p:txBody>
      </p:sp>
    </p:spTree>
  </p:cSld>
  <p:clrMapOvr>
    <a:masterClrMapping/>
  </p:clrMapOvr>
  <p:transition spd="fast" advClick="0">
    <p:wheel spokes="1"/>
  </p:transition>
  <p:timing/>
</p:sld>
</file>

<file path=ppt/slides/slide24.xml><?xml version="1.0" encoding="utf-8"?>
<p:sld xmlns:a="http://schemas.openxmlformats.org/drawingml/2006/main" xmlns:r="http://schemas.openxmlformats.org/officeDocument/2006/relationships" xmlns:p="http://schemas.openxmlformats.org/presentationml/2006/main" show="1" showMasterSp="1">
  <p:cSld>
    <p:spTree>
      <p:nvGrpSpPr>
        <p:cNvPr id="85" name=""/>
        <p:cNvGrpSpPr/>
        <p:nvPr/>
      </p:nvGrpSpPr>
      <p:grpSpPr>
        <a:xfrm rot="0">
          <a:off x="0" y="0"/>
          <a:ext cx="0" cy="0"/>
          <a:chOff x="0" y="0"/>
          <a:chExt cx="0" cy="0"/>
        </a:xfrm>
      </p:grpSpPr>
      <p:sp>
        <p:nvSpPr>
          <p:cNvPr id="1048770" name="Rectangle 2"/>
          <p:cNvSpPr/>
          <p:nvPr>
            <p:ph type="title" sz="full" idx="0"/>
          </p:nvPr>
        </p:nvSpPr>
        <p:spPr>
          <a:xfrm rot="0">
            <a:off x="4500562" y="188912"/>
            <a:ext cx="4186237"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400" lang="zh-CN">
                <a:ea typeface="PT Bold Heading" pitchFamily="2" charset="-78"/>
              </a:rPr>
              <a:t>تابع: التعليم والتدريب</a:t>
            </a:r>
          </a:p>
        </p:txBody>
      </p:sp>
      <p:sp>
        <p:nvSpPr>
          <p:cNvPr id="1048771" name="AutoShape 3">
            <a:hlinkClick r:id="rId1"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772" name="AutoShape 7"/>
          <p:cNvSpPr/>
          <p:nvPr/>
        </p:nvSpPr>
        <p:spPr>
          <a:xfrm rot="0">
            <a:off x="323850" y="1125537"/>
            <a:ext cx="8496300" cy="4875212"/>
          </a:xfrm>
          <a:prstGeom prst="roundRect">
            <a:avLst>
              <a:gd name="adj" fmla="val 8926"/>
            </a:avLst>
          </a:prstGeom>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773" name="Text Box 8"/>
          <p:cNvSpPr txBox="1"/>
          <p:nvPr/>
        </p:nvSpPr>
        <p:spPr>
          <a:xfrm rot="0">
            <a:off x="468312" y="1360487"/>
            <a:ext cx="8135937" cy="3471862"/>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lnSpc>
                <a:spcPct val="90000"/>
              </a:lnSpc>
            </a:pPr>
            <a:r>
              <a:rPr altLang="en-US" b="1" sz="4400" lang="ar-SA"/>
              <a:t>أنواع الوسائط المتعددة التعليمية:</a:t>
            </a:r>
          </a:p>
          <a:p>
            <a:pPr eaLnBrk="1" hangingPunct="1" lvl="0"/>
            <a:endParaRPr altLang="zh-CN" b="1" sz="3600" lang="ar-SA" u="sng"/>
          </a:p>
          <a:p>
            <a:pPr eaLnBrk="1" hangingPunct="1" lvl="0"/>
            <a:r>
              <a:rPr altLang="zh-CN" b="1" sz="3600" lang="ar-SA" u="sng"/>
              <a:t>3- تطبيقات الجافا</a:t>
            </a:r>
            <a:r>
              <a:rPr altLang="zh-CN" sz="3600" lang="ar-SA"/>
              <a:t> </a:t>
            </a:r>
          </a:p>
          <a:p>
            <a:pPr eaLnBrk="1" hangingPunct="1" lvl="0"/>
            <a:endParaRPr altLang="zh-CN" b="1" sz="3600" lang="ar-EG"/>
          </a:p>
          <a:p>
            <a:pPr eaLnBrk="1" hangingPunct="1" lvl="0"/>
            <a:r>
              <a:rPr altLang="zh-CN" b="1" sz="3600" lang="ar-EG"/>
              <a:t> </a:t>
            </a:r>
            <a:r>
              <a:rPr altLang="zh-CN" b="1" sz="3600" lang="ar-SA"/>
              <a:t>وهي عروض قوية على درجة كبيرة من التفاعلية صممت بلغة الجافا</a:t>
            </a:r>
            <a:r>
              <a:rPr altLang="zh-CN" sz="3600" lang="en-US">
                <a:ea typeface="SimSun" pitchFamily="2" charset="-122"/>
              </a:rPr>
              <a:t> .</a:t>
            </a:r>
          </a:p>
        </p:txBody>
      </p:sp>
    </p:spTree>
  </p:cSld>
  <p:clrMapOvr>
    <a:masterClrMapping/>
  </p:clrMapOvr>
  <p:transition spd="fast" advClick="0">
    <p:wheel spokes="1"/>
  </p:transition>
  <p:timing/>
</p:sld>
</file>

<file path=ppt/slides/slide25.xml><?xml version="1.0" encoding="utf-8"?>
<p:sld xmlns:a="http://schemas.openxmlformats.org/drawingml/2006/main" xmlns:r="http://schemas.openxmlformats.org/officeDocument/2006/relationships" xmlns:p="http://schemas.openxmlformats.org/presentationml/2006/main" show="1" showMasterSp="1">
  <p:cSld>
    <p:spTree>
      <p:nvGrpSpPr>
        <p:cNvPr id="86" name=""/>
        <p:cNvGrpSpPr/>
        <p:nvPr/>
      </p:nvGrpSpPr>
      <p:grpSpPr>
        <a:xfrm rot="0">
          <a:off x="0" y="0"/>
          <a:ext cx="0" cy="0"/>
          <a:chOff x="0" y="0"/>
          <a:chExt cx="0" cy="0"/>
        </a:xfrm>
      </p:grpSpPr>
      <p:sp>
        <p:nvSpPr>
          <p:cNvPr id="1048774" name="Rectangle 2"/>
          <p:cNvSpPr/>
          <p:nvPr>
            <p:ph type="title" sz="full" idx="0"/>
          </p:nvPr>
        </p:nvSpPr>
        <p:spPr>
          <a:xfrm rot="0">
            <a:off x="4500562" y="188912"/>
            <a:ext cx="4186237"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400" lang="zh-CN">
                <a:ea typeface="PT Bold Heading" pitchFamily="2" charset="-78"/>
              </a:rPr>
              <a:t>تابع: التعليم والتدريب</a:t>
            </a:r>
          </a:p>
        </p:txBody>
      </p:sp>
      <p:sp>
        <p:nvSpPr>
          <p:cNvPr id="1048775" name="AutoShape 3">
            <a:hlinkClick r:id="rId1"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776" name="AutoShape 7"/>
          <p:cNvSpPr/>
          <p:nvPr/>
        </p:nvSpPr>
        <p:spPr>
          <a:xfrm rot="0">
            <a:off x="323850" y="1125537"/>
            <a:ext cx="8496300" cy="4875212"/>
          </a:xfrm>
          <a:prstGeom prst="roundRect">
            <a:avLst>
              <a:gd name="adj" fmla="val 8926"/>
            </a:avLst>
          </a:prstGeom>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777" name="Text Box 8"/>
          <p:cNvSpPr txBox="1"/>
          <p:nvPr/>
        </p:nvSpPr>
        <p:spPr>
          <a:xfrm rot="0">
            <a:off x="468312" y="1360487"/>
            <a:ext cx="8135937" cy="5300662"/>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lnSpc>
                <a:spcPct val="90000"/>
              </a:lnSpc>
            </a:pPr>
            <a:r>
              <a:rPr altLang="en-US" b="1" sz="4400" lang="ar-SA"/>
              <a:t>أنواع الوسائط المتعددة التعليمية:</a:t>
            </a:r>
          </a:p>
          <a:p>
            <a:pPr eaLnBrk="1" hangingPunct="1" lvl="0"/>
            <a:endParaRPr altLang="zh-CN" b="1" sz="3600" lang="ar-SA" u="sng"/>
          </a:p>
          <a:p>
            <a:pPr eaLnBrk="1" hangingPunct="1" lvl="0"/>
            <a:r>
              <a:rPr altLang="zh-CN" b="1" sz="3600" lang="ar-SA" u="sng"/>
              <a:t>4- أفلام الفيديو الحاسوبية</a:t>
            </a:r>
            <a:r>
              <a:rPr altLang="zh-CN" sz="3600" lang="ar-SA"/>
              <a:t> </a:t>
            </a:r>
          </a:p>
          <a:p>
            <a:pPr algn="just" eaLnBrk="1" hangingPunct="1" lvl="0">
              <a:lnSpc>
                <a:spcPct val="90000"/>
              </a:lnSpc>
            </a:pPr>
            <a:r>
              <a:rPr altLang="zh-CN" sz="3600" lang="ar-EG"/>
              <a:t> </a:t>
            </a:r>
            <a:r>
              <a:rPr altLang="zh-CN" b="1" sz="3600" lang="ar-SA"/>
              <a:t>وهي عروض تم تصويرها باستخدام كاميرات الفيديو ويتم عرضها من خلال برامج عرض ملفات الفيديو الحاسوبية مثل برنامج </a:t>
            </a:r>
            <a:r>
              <a:rPr altLang="zh-CN" b="1" sz="3600" lang="en-US">
                <a:ea typeface="SimSun" pitchFamily="2" charset="-122"/>
              </a:rPr>
              <a:t>Media Player</a:t>
            </a:r>
            <a:r>
              <a:rPr altLang="zh-CN" b="1" sz="3600" lang="ar-SA"/>
              <a:t> ,</a:t>
            </a:r>
            <a:r>
              <a:rPr altLang="zh-CN" b="1" sz="3600" lang="en-US">
                <a:ea typeface="SimSun" pitchFamily="2" charset="-122"/>
              </a:rPr>
              <a:t>Real Player</a:t>
            </a:r>
            <a:r>
              <a:rPr altLang="zh-CN" b="1" sz="3600" lang="ar-SA"/>
              <a:t> ، </a:t>
            </a:r>
            <a:r>
              <a:rPr altLang="zh-CN" b="1" sz="3600" lang="en-US">
                <a:ea typeface="SimSun" pitchFamily="2" charset="-122"/>
              </a:rPr>
              <a:t>Quick Time</a:t>
            </a:r>
            <a:r>
              <a:rPr altLang="zh-CN" b="1" sz="3600" lang="ar-SA"/>
              <a:t> و الخ.</a:t>
            </a:r>
          </a:p>
          <a:p>
            <a:pPr algn="just" eaLnBrk="1" hangingPunct="1" lvl="0">
              <a:lnSpc>
                <a:spcPct val="90000"/>
              </a:lnSpc>
            </a:pPr>
            <a:br>
              <a:rPr altLang="zh-CN" b="1" sz="3600" lang="en-US">
                <a:ea typeface="SimSun" pitchFamily="2" charset="-122"/>
              </a:rPr>
            </a:br>
            <a:br>
              <a:rPr altLang="zh-CN" b="1" sz="3600" lang="en-US">
                <a:ea typeface="SimSun" pitchFamily="2" charset="-122"/>
              </a:rPr>
            </a:br>
            <a:endParaRPr altLang="en-US" sz="3600" lang="en-US"/>
          </a:p>
        </p:txBody>
      </p:sp>
    </p:spTree>
  </p:cSld>
  <p:clrMapOvr>
    <a:masterClrMapping/>
  </p:clrMapOvr>
  <p:transition spd="fast" advClick="0">
    <p:wheel spokes="1"/>
  </p:transition>
  <p:timing/>
</p:sld>
</file>

<file path=ppt/slides/slide26.xml><?xml version="1.0" encoding="utf-8"?>
<p:sld xmlns:a="http://schemas.openxmlformats.org/drawingml/2006/main" xmlns:r="http://schemas.openxmlformats.org/officeDocument/2006/relationships" xmlns:p="http://schemas.openxmlformats.org/presentationml/2006/main" show="1" showMasterSp="1">
  <p:cSld>
    <p:spTree>
      <p:nvGrpSpPr>
        <p:cNvPr id="87" name=""/>
        <p:cNvGrpSpPr/>
        <p:nvPr/>
      </p:nvGrpSpPr>
      <p:grpSpPr>
        <a:xfrm rot="0">
          <a:off x="0" y="0"/>
          <a:ext cx="0" cy="0"/>
          <a:chOff x="0" y="0"/>
          <a:chExt cx="0" cy="0"/>
        </a:xfrm>
      </p:grpSpPr>
      <p:sp>
        <p:nvSpPr>
          <p:cNvPr id="1048778" name="Rectangle 2"/>
          <p:cNvSpPr/>
          <p:nvPr>
            <p:ph type="title" sz="full" idx="0"/>
          </p:nvPr>
        </p:nvSpPr>
        <p:spPr>
          <a:xfrm rot="0">
            <a:off x="4500562" y="188912"/>
            <a:ext cx="4186237"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400" lang="zh-CN">
                <a:ea typeface="PT Bold Heading" pitchFamily="2" charset="-78"/>
              </a:rPr>
              <a:t>تابع: التعليم والتدريب</a:t>
            </a:r>
          </a:p>
        </p:txBody>
      </p:sp>
      <p:sp>
        <p:nvSpPr>
          <p:cNvPr id="1048779" name="AutoShape 3">
            <a:hlinkClick r:id="rId1"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780" name="AutoShape 7"/>
          <p:cNvSpPr/>
          <p:nvPr/>
        </p:nvSpPr>
        <p:spPr>
          <a:xfrm rot="0">
            <a:off x="323850" y="1125537"/>
            <a:ext cx="8496300" cy="4875212"/>
          </a:xfrm>
          <a:prstGeom prst="roundRect">
            <a:avLst>
              <a:gd name="adj" fmla="val 8926"/>
            </a:avLst>
          </a:prstGeom>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781" name="Text Box 8"/>
          <p:cNvSpPr txBox="1"/>
          <p:nvPr/>
        </p:nvSpPr>
        <p:spPr>
          <a:xfrm rot="0">
            <a:off x="468312" y="1360487"/>
            <a:ext cx="8135937" cy="4579937"/>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lnSpc>
                <a:spcPct val="90000"/>
              </a:lnSpc>
            </a:pPr>
            <a:r>
              <a:rPr altLang="en-US" b="1" sz="3600" lang="ar-SA"/>
              <a:t>من أكثر المجالات التي تستخدم فيها الوسائط المتعددة تنحصر في المجموعات التالية :</a:t>
            </a:r>
            <a:r>
              <a:rPr altLang="en-US" sz="3600" lang="ar-EG"/>
              <a:t> </a:t>
            </a:r>
          </a:p>
          <a:p>
            <a:pPr eaLnBrk="1" hangingPunct="1" lvl="0">
              <a:lnSpc>
                <a:spcPct val="90000"/>
              </a:lnSpc>
            </a:pPr>
            <a:r>
              <a:rPr altLang="en-US" sz="3600" lang="ar-SA"/>
              <a:t>1. الاختبارات</a:t>
            </a:r>
          </a:p>
          <a:p>
            <a:pPr eaLnBrk="1" hangingPunct="1" lvl="0">
              <a:lnSpc>
                <a:spcPct val="90000"/>
              </a:lnSpc>
            </a:pPr>
            <a:r>
              <a:rPr altLang="en-US" sz="3600" lang="ar-SA"/>
              <a:t>2. البرامج الترفيهية التعليمية</a:t>
            </a:r>
          </a:p>
          <a:p>
            <a:pPr eaLnBrk="1" hangingPunct="1" lvl="0">
              <a:lnSpc>
                <a:spcPct val="90000"/>
              </a:lnSpc>
            </a:pPr>
            <a:r>
              <a:rPr altLang="en-US" sz="3600" lang="ar-SA"/>
              <a:t>3. الموسوعات والمعاجم</a:t>
            </a:r>
          </a:p>
          <a:p>
            <a:pPr eaLnBrk="1" hangingPunct="1" lvl="0">
              <a:lnSpc>
                <a:spcPct val="90000"/>
              </a:lnSpc>
            </a:pPr>
            <a:r>
              <a:rPr altLang="en-US" sz="3600" lang="ar-SA"/>
              <a:t>4. نظم التعليم العالمية</a:t>
            </a:r>
          </a:p>
          <a:p>
            <a:pPr eaLnBrk="1" hangingPunct="1" lvl="0">
              <a:lnSpc>
                <a:spcPct val="90000"/>
              </a:lnSpc>
            </a:pPr>
            <a:r>
              <a:rPr altLang="en-US" sz="3600" lang="ar-SA"/>
              <a:t>5. نظم التعليم المتخصصة</a:t>
            </a:r>
          </a:p>
          <a:p>
            <a:pPr eaLnBrk="1" hangingPunct="1" lvl="0">
              <a:lnSpc>
                <a:spcPct val="90000"/>
              </a:lnSpc>
            </a:pPr>
            <a:r>
              <a:rPr altLang="en-US" sz="3600" lang="ar-EG"/>
              <a:t>6</a:t>
            </a:r>
            <a:r>
              <a:rPr altLang="en-US" sz="3600" lang="ar-SA"/>
              <a:t>. جامعات وكليات الإنترنت</a:t>
            </a:r>
          </a:p>
          <a:p>
            <a:pPr eaLnBrk="1" hangingPunct="1" lvl="0">
              <a:lnSpc>
                <a:spcPct val="90000"/>
              </a:lnSpc>
            </a:pPr>
            <a:endParaRPr altLang="en-US" sz="3600" lang="en-US"/>
          </a:p>
        </p:txBody>
      </p:sp>
    </p:spTree>
  </p:cSld>
  <p:clrMapOvr>
    <a:masterClrMapping/>
  </p:clrMapOvr>
  <p:transition spd="fast" advClick="0">
    <p:wheel spokes="1"/>
  </p:transition>
  <p:timing/>
</p:sld>
</file>

<file path=ppt/slides/slide27.xml><?xml version="1.0" encoding="utf-8"?>
<p:sld xmlns:a="http://schemas.openxmlformats.org/drawingml/2006/main" xmlns:r="http://schemas.openxmlformats.org/officeDocument/2006/relationships" xmlns:p="http://schemas.openxmlformats.org/presentationml/2006/main" show="1" showMasterSp="1">
  <p:cSld>
    <p:spTree>
      <p:nvGrpSpPr>
        <p:cNvPr id="88" name=""/>
        <p:cNvGrpSpPr/>
        <p:nvPr/>
      </p:nvGrpSpPr>
      <p:grpSpPr>
        <a:xfrm rot="0">
          <a:off x="0" y="0"/>
          <a:ext cx="0" cy="0"/>
          <a:chOff x="0" y="0"/>
          <a:chExt cx="0" cy="0"/>
        </a:xfrm>
      </p:grpSpPr>
      <p:sp>
        <p:nvSpPr>
          <p:cNvPr id="1048782" name="Rectangle 2"/>
          <p:cNvSpPr/>
          <p:nvPr>
            <p:ph type="title" sz="full" idx="0"/>
          </p:nvPr>
        </p:nvSpPr>
        <p:spPr>
          <a:xfrm rot="0">
            <a:off x="4500562" y="188912"/>
            <a:ext cx="4186237"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400" lang="zh-CN">
                <a:ea typeface="PT Bold Heading" pitchFamily="2" charset="-78"/>
              </a:rPr>
              <a:t>تابع: التعليم والتدريب</a:t>
            </a:r>
          </a:p>
        </p:txBody>
      </p:sp>
      <p:sp>
        <p:nvSpPr>
          <p:cNvPr id="1048783" name="AutoShape 3">
            <a:hlinkClick r:id="rId1"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784" name="AutoShape 7"/>
          <p:cNvSpPr/>
          <p:nvPr/>
        </p:nvSpPr>
        <p:spPr>
          <a:xfrm rot="0">
            <a:off x="323850" y="1125537"/>
            <a:ext cx="8496300" cy="4875212"/>
          </a:xfrm>
          <a:prstGeom prst="roundRect">
            <a:avLst>
              <a:gd name="adj" fmla="val 8926"/>
            </a:avLst>
          </a:prstGeom>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785" name="Text Box 8"/>
          <p:cNvSpPr txBox="1"/>
          <p:nvPr/>
        </p:nvSpPr>
        <p:spPr>
          <a:xfrm rot="0">
            <a:off x="468312" y="1360487"/>
            <a:ext cx="8135937" cy="45243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r>
              <a:rPr altLang="en-US" b="1" sz="3600" lang="ar-SA"/>
              <a:t>    وممن أمثلة التطبيقات الحية للوسائط المتعددة التعليمية اليوم :</a:t>
            </a:r>
          </a:p>
          <a:p>
            <a:pPr eaLnBrk="1" hangingPunct="1" lvl="0"/>
            <a:r>
              <a:rPr altLang="en-US" b="1" sz="3600" lang="ar-SA"/>
              <a:t>· البريد الالكتروني </a:t>
            </a:r>
            <a:r>
              <a:rPr altLang="en-US" b="1" sz="3600" lang="en-US">
                <a:hlinkClick r:id="rId2"/>
              </a:rPr>
              <a:t>E-mail</a:t>
            </a:r>
          </a:p>
          <a:p>
            <a:pPr eaLnBrk="1" hangingPunct="1" lvl="0"/>
            <a:r>
              <a:rPr altLang="en-US" b="1" sz="3600" lang="ar-SA"/>
              <a:t>· عقد المؤتمرات بواسطة الكمبيوتر </a:t>
            </a:r>
            <a:r>
              <a:rPr altLang="en-US" b="1" sz="3600" lang="en-US">
                <a:hlinkClick r:id="rId3"/>
              </a:rPr>
              <a:t>Computer Conferencing</a:t>
            </a:r>
          </a:p>
          <a:p>
            <a:pPr eaLnBrk="1" hangingPunct="1" lvl="0"/>
            <a:r>
              <a:rPr altLang="en-US" b="1" sz="3600" lang="ar-SA"/>
              <a:t>· المؤتمرات الصوتية </a:t>
            </a:r>
            <a:r>
              <a:rPr altLang="en-US" b="1" sz="3600" lang="en-US">
                <a:hlinkClick r:id="rId4"/>
              </a:rPr>
              <a:t>Audio Conferencing</a:t>
            </a:r>
          </a:p>
          <a:p>
            <a:pPr eaLnBrk="1" hangingPunct="1" lvl="0"/>
            <a:r>
              <a:rPr altLang="zh-CN" b="1" sz="3600" lang="ar-SA"/>
              <a:t>· المؤتمرات عبر الفيديو </a:t>
            </a:r>
            <a:r>
              <a:rPr altLang="zh-CN" b="1" sz="3600" lang="en-US">
                <a:ea typeface="SimSun" pitchFamily="2" charset="-122"/>
                <a:hlinkClick r:id="rId5"/>
              </a:rPr>
              <a:t>Video Conferencing</a:t>
            </a:r>
            <a:r>
              <a:rPr altLang="zh-CN" b="1" sz="3600" lang="en-US">
                <a:ea typeface="SimSun" pitchFamily="2" charset="-122"/>
              </a:rPr>
              <a:t> </a:t>
            </a:r>
          </a:p>
        </p:txBody>
      </p:sp>
    </p:spTree>
  </p:cSld>
  <p:clrMapOvr>
    <a:masterClrMapping/>
  </p:clrMapOvr>
  <p:transition spd="fast" advClick="0">
    <p:wheel spokes="1"/>
  </p:transition>
  <p:timing/>
</p:sld>
</file>

<file path=ppt/slides/slide28.xml><?xml version="1.0" encoding="utf-8"?>
<p:sld xmlns:a="http://schemas.openxmlformats.org/drawingml/2006/main" xmlns:r="http://schemas.openxmlformats.org/officeDocument/2006/relationships" xmlns:p="http://schemas.openxmlformats.org/presentationml/2006/main" show="1" showMasterSp="1">
  <p:cSld>
    <p:spTree>
      <p:nvGrpSpPr>
        <p:cNvPr id="89" name=""/>
        <p:cNvGrpSpPr/>
        <p:nvPr/>
      </p:nvGrpSpPr>
      <p:grpSpPr>
        <a:xfrm rot="0">
          <a:off x="0" y="0"/>
          <a:ext cx="0" cy="0"/>
          <a:chOff x="0" y="0"/>
          <a:chExt cx="0" cy="0"/>
        </a:xfrm>
      </p:grpSpPr>
      <p:sp>
        <p:nvSpPr>
          <p:cNvPr id="1048786" name="Rectangle 2"/>
          <p:cNvSpPr/>
          <p:nvPr>
            <p:ph type="title" sz="full" idx="0"/>
          </p:nvPr>
        </p:nvSpPr>
        <p:spPr>
          <a:xfrm rot="0">
            <a:off x="4500562" y="188912"/>
            <a:ext cx="4186237"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400" lang="zh-CN">
                <a:ea typeface="PT Bold Heading" pitchFamily="2" charset="-78"/>
              </a:rPr>
              <a:t>تابع: التعليم والتدريب</a:t>
            </a:r>
          </a:p>
        </p:txBody>
      </p:sp>
      <p:sp>
        <p:nvSpPr>
          <p:cNvPr id="1048787" name="AutoShape 3">
            <a:hlinkClick r:id="rId1"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788" name="AutoShape 7"/>
          <p:cNvSpPr/>
          <p:nvPr/>
        </p:nvSpPr>
        <p:spPr>
          <a:xfrm rot="0">
            <a:off x="323850" y="1125537"/>
            <a:ext cx="8496300" cy="4875212"/>
          </a:xfrm>
          <a:prstGeom prst="roundRect">
            <a:avLst>
              <a:gd name="adj" fmla="val 8926"/>
            </a:avLst>
          </a:prstGeom>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789" name="Text Box 8"/>
          <p:cNvSpPr txBox="1"/>
          <p:nvPr/>
        </p:nvSpPr>
        <p:spPr>
          <a:xfrm rot="0">
            <a:off x="468312" y="1360487"/>
            <a:ext cx="8135937" cy="45243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742950" lvl="0" marL="742950"/>
            <a:r>
              <a:rPr altLang="en-US" b="1" sz="3600" lang="ar-SA" u="sng"/>
              <a:t>مميزات الوسائط المتعددة في التعليم</a:t>
            </a:r>
          </a:p>
          <a:p>
            <a:pPr algn="just" eaLnBrk="1" hangingPunct="1" indent="-742950" lvl="0" marL="742950">
              <a:buFontTx/>
              <a:buAutoNum type="arabicPeriod" startAt="1"/>
            </a:pPr>
            <a:r>
              <a:rPr altLang="en-US" b="1" sz="2800" lang="zh-CN">
                <a:ea typeface="Simplified Arabic" pitchFamily="18" charset="-78"/>
              </a:rPr>
              <a:t>تيسير الحصول على المعلومات عن طريق استثارة عدد أكبر من الحواس البشرية  . </a:t>
            </a:r>
          </a:p>
          <a:p>
            <a:pPr algn="just" eaLnBrk="1" hangingPunct="1" indent="-742950" lvl="0" marL="742950">
              <a:buFontTx/>
              <a:buAutoNum type="arabicPeriod" startAt="1"/>
            </a:pPr>
            <a:r>
              <a:rPr altLang="en-US" b="1" sz="2800" lang="zh-CN">
                <a:ea typeface="Simplified Arabic" pitchFamily="18" charset="-78"/>
              </a:rPr>
              <a:t>تجعل العملية التعليمية ممتعة وشيقة . </a:t>
            </a:r>
          </a:p>
          <a:p>
            <a:pPr algn="just" eaLnBrk="1" hangingPunct="1" indent="-742950" lvl="0" marL="742950">
              <a:buFontTx/>
              <a:buAutoNum type="arabicPeriod" startAt="1"/>
            </a:pPr>
            <a:r>
              <a:rPr altLang="en-US" b="1" sz="2800" lang="zh-CN">
                <a:ea typeface="Simplified Arabic" pitchFamily="18" charset="-78"/>
              </a:rPr>
              <a:t>توفر للمتعلم الوقت والجهد الكافي ليعمل حسب سرعته الخاصة, واستخدام أكثر من وسيلة داخل البرمجية الواحدة والميل للتعلم الذاتي وتثبيت المعلومات. 	</a:t>
            </a:r>
          </a:p>
          <a:p>
            <a:pPr algn="just" eaLnBrk="1" hangingPunct="1" indent="-742950" lvl="0" marL="742950">
              <a:buFontTx/>
              <a:buAutoNum type="arabicPeriod" startAt="1"/>
            </a:pPr>
            <a:r>
              <a:rPr altLang="en-US" b="1" sz="2800" lang="zh-CN">
                <a:ea typeface="Simplified Arabic" pitchFamily="18" charset="-78"/>
              </a:rPr>
              <a:t>تزود المتعلم بالتغذية الراجعة الفورية .</a:t>
            </a:r>
          </a:p>
          <a:p>
            <a:pPr algn="just" eaLnBrk="1" hangingPunct="1" indent="-742950" lvl="0" marL="742950">
              <a:buFontTx/>
              <a:buAutoNum type="arabicPeriod" startAt="1"/>
            </a:pPr>
            <a:r>
              <a:rPr altLang="en-US" b="1" sz="2800" lang="zh-CN">
                <a:ea typeface="Simplified Arabic" pitchFamily="18" charset="-78"/>
              </a:rPr>
              <a:t>تساعد الطالب على معرفة مستواه الحقيقي من خلال التقويم الذاتي . </a:t>
            </a:r>
          </a:p>
        </p:txBody>
      </p:sp>
    </p:spTree>
  </p:cSld>
  <p:clrMapOvr>
    <a:masterClrMapping/>
  </p:clrMapOvr>
  <p:transition spd="fast" advClick="0">
    <p:wheel spokes="1"/>
  </p:transition>
  <p:timing/>
</p:sld>
</file>

<file path=ppt/slides/slide29.xml><?xml version="1.0" encoding="utf-8"?>
<p:sld xmlns:a="http://schemas.openxmlformats.org/drawingml/2006/main" xmlns:r="http://schemas.openxmlformats.org/officeDocument/2006/relationships" xmlns:p="http://schemas.openxmlformats.org/presentationml/2006/main" show="1" showMasterSp="1">
  <p:cSld>
    <p:spTree>
      <p:nvGrpSpPr>
        <p:cNvPr id="90" name=""/>
        <p:cNvGrpSpPr/>
        <p:nvPr/>
      </p:nvGrpSpPr>
      <p:grpSpPr>
        <a:xfrm rot="0">
          <a:off x="0" y="0"/>
          <a:ext cx="0" cy="0"/>
          <a:chOff x="0" y="0"/>
          <a:chExt cx="0" cy="0"/>
        </a:xfrm>
      </p:grpSpPr>
      <p:sp>
        <p:nvSpPr>
          <p:cNvPr id="1048790" name="Rectangle 2"/>
          <p:cNvSpPr/>
          <p:nvPr>
            <p:ph type="title" sz="full" idx="0"/>
          </p:nvPr>
        </p:nvSpPr>
        <p:spPr>
          <a:xfrm rot="0">
            <a:off x="4000500" y="188912"/>
            <a:ext cx="4686300"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400" lang="zh-CN">
                <a:ea typeface="PT Bold Heading" pitchFamily="2" charset="-78"/>
              </a:rPr>
              <a:t>الأعمال التجارية </a:t>
            </a:r>
            <a:r>
              <a:rPr altLang="en-US" b="1" sz="3200" lang="en-US">
                <a:ea typeface="PT Bold Heading" pitchFamily="2" charset="-78"/>
              </a:rPr>
              <a:t>Business</a:t>
            </a:r>
          </a:p>
        </p:txBody>
      </p:sp>
      <p:sp>
        <p:nvSpPr>
          <p:cNvPr id="1048791" name="AutoShape 3">
            <a:hlinkClick r:id="rId1"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792" name="AutoShape 4"/>
          <p:cNvSpPr/>
          <p:nvPr/>
        </p:nvSpPr>
        <p:spPr>
          <a:xfrm rot="0">
            <a:off x="323850" y="1125537"/>
            <a:ext cx="8496300" cy="4608512"/>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793" name="Text Box 5"/>
          <p:cNvSpPr txBox="1"/>
          <p:nvPr/>
        </p:nvSpPr>
        <p:spPr>
          <a:xfrm rot="0">
            <a:off x="468312" y="1360487"/>
            <a:ext cx="8135937" cy="37496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000" lang="zh-CN">
                <a:ea typeface="Simplified Arabic" pitchFamily="18" charset="-78"/>
              </a:rPr>
              <a:t>مع تزايد التنافس التجاري بين الشركات أصبح من الضروري تقديم خدمات أفضل ومعلومات حديثة وشاملة للزبائن وبشكل متواصل، وحتى لا يتم تجهيز عرض أو مشروع وسائط متعددة لكل زبون على حدة، يمكن تجهيز عرض تقديمي يتلائم مع معظم الزبائن. فمع وجود أزرار انتقال وقوائم في العرض يمكن للزبون الانتقال بكل حرية ويسر ليستعرض كل ما قد يسأل عنه. ويمكن لهذا العرض أن يتم من خلال شبكة وسائط أو قرص مدمج، أو من خلال حفظه في أحد الأكشاك العامة (</a:t>
            </a:r>
            <a:r>
              <a:rPr altLang="en-US" b="1" sz="3000" lang="en-US">
                <a:ea typeface="Simplified Arabic" pitchFamily="18" charset="-78"/>
              </a:rPr>
              <a:t>kiosk</a:t>
            </a:r>
            <a:r>
              <a:rPr altLang="en-US" b="1" sz="3000" lang="zh-CN">
                <a:ea typeface="Simplified Arabic" pitchFamily="18" charset="-78"/>
              </a:rPr>
              <a:t>).</a:t>
            </a:r>
          </a:p>
        </p:txBody>
      </p:sp>
    </p:spTree>
  </p:cSld>
  <p:clrMapOvr>
    <a:masterClrMapping/>
  </p:clrMapOvr>
  <p:transition spd="fast" advClick="0">
    <p:wheel spokes="1"/>
  </p:transition>
  <p:timing/>
</p:sld>
</file>

<file path=ppt/slides/slide30.xml><?xml version="1.0" encoding="utf-8"?>
<p:sld xmlns:a="http://schemas.openxmlformats.org/drawingml/2006/main" xmlns:r="http://schemas.openxmlformats.org/officeDocument/2006/relationships" xmlns:p="http://schemas.openxmlformats.org/presentationml/2006/main" show="1" showMasterSp="1">
  <p:cSld>
    <p:spTree>
      <p:nvGrpSpPr>
        <p:cNvPr id="91" name=""/>
        <p:cNvGrpSpPr/>
        <p:nvPr/>
      </p:nvGrpSpPr>
      <p:grpSpPr>
        <a:xfrm rot="0">
          <a:off x="0" y="0"/>
          <a:ext cx="0" cy="0"/>
          <a:chOff x="0" y="0"/>
          <a:chExt cx="0" cy="0"/>
        </a:xfrm>
      </p:grpSpPr>
      <p:sp>
        <p:nvSpPr>
          <p:cNvPr id="1048794" name="Rectangle 2"/>
          <p:cNvSpPr/>
          <p:nvPr>
            <p:ph type="title" sz="full" idx="0"/>
          </p:nvPr>
        </p:nvSpPr>
        <p:spPr>
          <a:xfrm rot="0">
            <a:off x="5724525" y="188912"/>
            <a:ext cx="2962275"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000" lang="zh-CN">
                <a:ea typeface="PT Bold Heading" pitchFamily="2" charset="-78"/>
              </a:rPr>
              <a:t>الاستخدام المنزلي</a:t>
            </a:r>
          </a:p>
        </p:txBody>
      </p:sp>
      <p:sp>
        <p:nvSpPr>
          <p:cNvPr id="1048795" name="AutoShape 3">
            <a:hlinkClick r:id="rId1"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796" name="AutoShape 4"/>
          <p:cNvSpPr/>
          <p:nvPr/>
        </p:nvSpPr>
        <p:spPr>
          <a:xfrm rot="0">
            <a:off x="323850" y="1125537"/>
            <a:ext cx="8496300" cy="4608512"/>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797" name="Text Box 5"/>
          <p:cNvSpPr txBox="1"/>
          <p:nvPr/>
        </p:nvSpPr>
        <p:spPr>
          <a:xfrm rot="0">
            <a:off x="468312" y="1360487"/>
            <a:ext cx="8135937" cy="35210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000" lang="zh-CN">
                <a:ea typeface="Simplified Arabic" pitchFamily="18" charset="-78"/>
              </a:rPr>
              <a:t>يعد الاستخدام المنزلي السوق الأساس للوسائط المتعددة، فبوجود ألعاب الفيديو التي تطورت بشكل كبير خلال السنوات الماضية، لا يكاد يخلو بيت من هذه الألعاب.</a:t>
            </a:r>
          </a:p>
          <a:p>
            <a:pPr algn="just" eaLnBrk="1" hangingPunct="1" lvl="0">
              <a:spcBef>
                <a:spcPct val="50000"/>
              </a:spcBef>
            </a:pPr>
            <a:r>
              <a:rPr altLang="en-US" b="1" sz="3000" lang="zh-CN">
                <a:ea typeface="Simplified Arabic" pitchFamily="18" charset="-78"/>
              </a:rPr>
              <a:t>كما ان التعليم المنزلي الذاتي أدى كذلك إلى دخول الوسائط إلى المنزل، فالطالب يراجع دروسه، يقوم باختبارات تجريبيـة، يحـل واجباته المنزليـة وإرسالهـا للمعلـم من خـلال خـدمة البريد الإلكتروني.</a:t>
            </a:r>
          </a:p>
        </p:txBody>
      </p:sp>
    </p:spTree>
  </p:cSld>
  <p:clrMapOvr>
    <a:masterClrMapping/>
  </p:clrMapOvr>
  <p:transition spd="fast" advClick="0">
    <p:wheel spokes="1"/>
  </p:transition>
  <p:timing/>
</p:sld>
</file>

<file path=ppt/slides/slide31.xml><?xml version="1.0" encoding="utf-8"?>
<p:sld xmlns:a="http://schemas.openxmlformats.org/drawingml/2006/main" xmlns:r="http://schemas.openxmlformats.org/officeDocument/2006/relationships" xmlns:p="http://schemas.openxmlformats.org/presentationml/2006/main" show="1" showMasterSp="1">
  <p:cSld>
    <p:spTree>
      <p:nvGrpSpPr>
        <p:cNvPr id="92" name=""/>
        <p:cNvGrpSpPr/>
        <p:nvPr/>
      </p:nvGrpSpPr>
      <p:grpSpPr>
        <a:xfrm rot="0">
          <a:off x="0" y="0"/>
          <a:ext cx="0" cy="0"/>
          <a:chOff x="0" y="0"/>
          <a:chExt cx="0" cy="0"/>
        </a:xfrm>
      </p:grpSpPr>
      <p:sp>
        <p:nvSpPr>
          <p:cNvPr id="1048798" name="Rectangle 2"/>
          <p:cNvSpPr/>
          <p:nvPr>
            <p:ph type="title" sz="full" idx="0"/>
          </p:nvPr>
        </p:nvSpPr>
        <p:spPr>
          <a:xfrm rot="0">
            <a:off x="4643437" y="188912"/>
            <a:ext cx="4043362"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000" lang="zh-CN">
                <a:ea typeface="PT Bold Heading" pitchFamily="2" charset="-78"/>
              </a:rPr>
              <a:t>إمكانات الوسائط المتعددة</a:t>
            </a:r>
          </a:p>
        </p:txBody>
      </p:sp>
      <p:sp>
        <p:nvSpPr>
          <p:cNvPr id="1048799" name="AutoShape 3">
            <a:hlinkClick r:id="rId1"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800" name="AutoShape 4"/>
          <p:cNvSpPr/>
          <p:nvPr/>
        </p:nvSpPr>
        <p:spPr>
          <a:xfrm rot="0">
            <a:off x="323850" y="1125537"/>
            <a:ext cx="8496300" cy="3732212"/>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801" name="Text Box 5"/>
          <p:cNvSpPr txBox="1"/>
          <p:nvPr/>
        </p:nvSpPr>
        <p:spPr>
          <a:xfrm rot="0">
            <a:off x="468312" y="1360487"/>
            <a:ext cx="8135937" cy="3786187"/>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lnSpc>
                <a:spcPct val="150000"/>
              </a:lnSpc>
              <a:buFont typeface="Wingdings" pitchFamily="2" charset="2"/>
              <a:buNone/>
            </a:pPr>
            <a:r>
              <a:rPr altLang="zh-CN" b="1" sz="3200" lang="ar-SA" u="sng">
                <a:ea typeface="Simplified Arabic" pitchFamily="18" charset="-78"/>
              </a:rPr>
              <a:t>1- الواقع الوهمى(الافتراضي)</a:t>
            </a:r>
            <a:r>
              <a:rPr altLang="zh-CN" b="1" sz="3200" lang="en-US" u="sng">
                <a:ea typeface="SimSun" pitchFamily="2" charset="-122"/>
              </a:rPr>
              <a:t>Virtual Real</a:t>
            </a:r>
          </a:p>
          <a:p>
            <a:pPr eaLnBrk="1" hangingPunct="1" lvl="0">
              <a:lnSpc>
                <a:spcPct val="150000"/>
              </a:lnSpc>
              <a:buFont typeface="Wingdings" pitchFamily="2" charset="2"/>
              <a:buNone/>
            </a:pPr>
            <a:r>
              <a:rPr altLang="zh-CN" b="1" sz="3200" lang="ar-SA" u="sng">
                <a:ea typeface="Simplified Arabic" pitchFamily="18" charset="-78"/>
              </a:rPr>
              <a:t>2- المحاكاه</a:t>
            </a:r>
            <a:r>
              <a:rPr altLang="zh-CN" b="1" sz="3200" lang="en-US" u="sng">
                <a:ea typeface="SimSun" pitchFamily="2" charset="-122"/>
              </a:rPr>
              <a:t> Simulation </a:t>
            </a:r>
          </a:p>
          <a:p>
            <a:pPr eaLnBrk="1" hangingPunct="1" lvl="0">
              <a:lnSpc>
                <a:spcPct val="150000"/>
              </a:lnSpc>
              <a:buFont typeface="Wingdings" pitchFamily="2" charset="2"/>
              <a:buNone/>
            </a:pPr>
            <a:r>
              <a:rPr altLang="zh-CN" b="1" sz="3200" lang="ar-SA" u="sng">
                <a:ea typeface="Simplified Arabic" pitchFamily="18" charset="-78"/>
              </a:rPr>
              <a:t>3 – التحوير</a:t>
            </a:r>
            <a:r>
              <a:rPr altLang="zh-CN" b="1" sz="3200" lang="en-US" u="sng">
                <a:ea typeface="SimSun" pitchFamily="2" charset="-122"/>
              </a:rPr>
              <a:t> Morphing </a:t>
            </a:r>
            <a:r>
              <a:rPr altLang="zh-CN" b="1" sz="3200" lang="ar-SA" u="sng">
                <a:ea typeface="Simplified Arabic" pitchFamily="18" charset="-78"/>
              </a:rPr>
              <a:t>  </a:t>
            </a:r>
          </a:p>
          <a:p>
            <a:pPr eaLnBrk="1" hangingPunct="1" lvl="0">
              <a:lnSpc>
                <a:spcPct val="150000"/>
              </a:lnSpc>
              <a:buFont typeface="Wingdings" pitchFamily="2" charset="2"/>
              <a:buNone/>
            </a:pPr>
            <a:r>
              <a:rPr altLang="zh-CN" b="1" sz="3200" lang="ar-SA" u="sng">
                <a:ea typeface="Simplified Arabic" pitchFamily="18" charset="-78"/>
              </a:rPr>
              <a:t>4- النمذجة</a:t>
            </a:r>
            <a:r>
              <a:rPr altLang="zh-CN" b="1" sz="3200" lang="en-US" u="sng">
                <a:ea typeface="SimSun" pitchFamily="2" charset="-122"/>
              </a:rPr>
              <a:t> Modeling </a:t>
            </a:r>
            <a:br>
              <a:rPr altLang="zh-CN" b="1" sz="3200" lang="en-US" u="sng">
                <a:ea typeface="SimSun" pitchFamily="2" charset="-122"/>
              </a:rPr>
            </a:br>
            <a:endParaRPr altLang="en-US" b="1" sz="3200" lang="en-US" u="sng">
              <a:ea typeface="SimSun" pitchFamily="2" charset="-122"/>
            </a:endParaRPr>
          </a:p>
        </p:txBody>
      </p:sp>
    </p:spTree>
  </p:cSld>
  <p:clrMapOvr>
    <a:masterClrMapping/>
  </p:clrMapOvr>
  <p:transition spd="fast" advClick="0">
    <p:wheel spokes="1"/>
  </p:transition>
  <p:timing/>
</p:sld>
</file>

<file path=ppt/slides/slide32.xml><?xml version="1.0" encoding="utf-8"?>
<p:sld xmlns:a="http://schemas.openxmlformats.org/drawingml/2006/main" xmlns:r="http://schemas.openxmlformats.org/officeDocument/2006/relationships" xmlns:p="http://schemas.openxmlformats.org/presentationml/2006/main" show="1" showMasterSp="1">
  <p:cSld>
    <p:spTree>
      <p:nvGrpSpPr>
        <p:cNvPr id="93" name=""/>
        <p:cNvGrpSpPr/>
        <p:nvPr/>
      </p:nvGrpSpPr>
      <p:grpSpPr>
        <a:xfrm rot="0">
          <a:off x="0" y="0"/>
          <a:ext cx="0" cy="0"/>
          <a:chOff x="0" y="0"/>
          <a:chExt cx="0" cy="0"/>
        </a:xfrm>
      </p:grpSpPr>
      <p:sp>
        <p:nvSpPr>
          <p:cNvPr id="1048802" name="Rectangle 2"/>
          <p:cNvSpPr/>
          <p:nvPr>
            <p:ph type="title" sz="full" idx="0"/>
          </p:nvPr>
        </p:nvSpPr>
        <p:spPr>
          <a:xfrm rot="0">
            <a:off x="4643437" y="188912"/>
            <a:ext cx="4043362"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000" lang="zh-CN">
                <a:ea typeface="PT Bold Heading" pitchFamily="2" charset="-78"/>
              </a:rPr>
              <a:t>إمكانات الوسائط المتعددة</a:t>
            </a:r>
          </a:p>
        </p:txBody>
      </p:sp>
      <p:sp>
        <p:nvSpPr>
          <p:cNvPr id="1048803" name="AutoShape 3">
            <a:hlinkClick r:id="rId1"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804" name="AutoShape 4"/>
          <p:cNvSpPr/>
          <p:nvPr/>
        </p:nvSpPr>
        <p:spPr>
          <a:xfrm rot="0">
            <a:off x="323850" y="1125537"/>
            <a:ext cx="8496300" cy="4608512"/>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805" name="Text Box 5"/>
          <p:cNvSpPr txBox="1"/>
          <p:nvPr/>
        </p:nvSpPr>
        <p:spPr>
          <a:xfrm rot="0">
            <a:off x="468312" y="1360487"/>
            <a:ext cx="8135937" cy="32924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lnSpc>
                <a:spcPct val="150000"/>
              </a:lnSpc>
              <a:buFont typeface="Wingdings" pitchFamily="2" charset="2"/>
              <a:buNone/>
            </a:pPr>
            <a:r>
              <a:rPr altLang="zh-CN" b="1" sz="3200" lang="ar-SA" u="sng">
                <a:ea typeface="Simplified Arabic" pitchFamily="18" charset="-78"/>
              </a:rPr>
              <a:t>1- الواقع الوهمى(الافتراضي)</a:t>
            </a:r>
            <a:r>
              <a:rPr altLang="zh-CN" b="1" sz="3200" lang="en-US" u="sng">
                <a:ea typeface="SimSun" pitchFamily="2" charset="-122"/>
              </a:rPr>
              <a:t>Virtual Real</a:t>
            </a:r>
          </a:p>
          <a:p>
            <a:pPr algn="just" eaLnBrk="1" hangingPunct="1" lvl="0">
              <a:buFont typeface="Wingdings" pitchFamily="2" charset="2"/>
              <a:buNone/>
            </a:pPr>
            <a:r>
              <a:rPr altLang="zh-CN" b="1" sz="3200" lang="ar-EG"/>
              <a:t> </a:t>
            </a:r>
            <a:r>
              <a:rPr altLang="zh-CN" b="1" sz="3200" lang="ar-SA"/>
              <a:t>تكنولوجيا متطوره تخلق واقع افتراضى يشعر من خلاله المستخدم انه فى بيئة حقيقية تماما باستخدام تكنولوجيا لادوات ادخال وادوات اخراج وتجهيزات خاصة تمكن المستخدم من التفاعل على مستوى عال</a:t>
            </a:r>
            <a:r>
              <a:rPr altLang="zh-CN" b="1" sz="3200" lang="en-US">
                <a:ea typeface="SimSun" pitchFamily="2" charset="-122"/>
              </a:rPr>
              <a:t> </a:t>
            </a:r>
          </a:p>
          <a:p>
            <a:pPr algn="just" eaLnBrk="1" hangingPunct="1" lvl="0">
              <a:buFont typeface="Wingdings" pitchFamily="2" charset="2"/>
              <a:buNone/>
            </a:pPr>
            <a:endParaRPr altLang="zh-CN" b="1" sz="3200" lang="ar-SA">
              <a:ea typeface="SimSun" pitchFamily="2" charset="-122"/>
            </a:endParaRPr>
          </a:p>
        </p:txBody>
      </p:sp>
    </p:spTree>
  </p:cSld>
  <p:clrMapOvr>
    <a:masterClrMapping/>
  </p:clrMapOvr>
  <p:transition spd="fast" advClick="0">
    <p:wheel spokes="1"/>
  </p:transition>
  <p:timing/>
</p:sld>
</file>

<file path=ppt/slides/slide33.xml><?xml version="1.0" encoding="utf-8"?>
<p:sld xmlns:a="http://schemas.openxmlformats.org/drawingml/2006/main" xmlns:r="http://schemas.openxmlformats.org/officeDocument/2006/relationships" xmlns:p="http://schemas.openxmlformats.org/presentationml/2006/main" show="1" showMasterSp="1">
  <p:cSld>
    <p:spTree>
      <p:nvGrpSpPr>
        <p:cNvPr id="94" name=""/>
        <p:cNvGrpSpPr/>
        <p:nvPr/>
      </p:nvGrpSpPr>
      <p:grpSpPr>
        <a:xfrm rot="0">
          <a:off x="0" y="0"/>
          <a:ext cx="0" cy="0"/>
          <a:chOff x="0" y="0"/>
          <a:chExt cx="0" cy="0"/>
        </a:xfrm>
      </p:grpSpPr>
      <p:sp>
        <p:nvSpPr>
          <p:cNvPr id="1048806" name="Rectangle 2"/>
          <p:cNvSpPr/>
          <p:nvPr>
            <p:ph type="title" sz="full" idx="0"/>
          </p:nvPr>
        </p:nvSpPr>
        <p:spPr>
          <a:xfrm rot="0">
            <a:off x="4643437" y="188912"/>
            <a:ext cx="4043362"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000" lang="zh-CN">
                <a:ea typeface="PT Bold Heading" pitchFamily="2" charset="-78"/>
              </a:rPr>
              <a:t>إمكانات الوسائط المتعددة</a:t>
            </a:r>
          </a:p>
        </p:txBody>
      </p:sp>
      <p:sp>
        <p:nvSpPr>
          <p:cNvPr id="1048807" name="AutoShape 3">
            <a:hlinkClick r:id="rId1"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808" name="AutoShape 4"/>
          <p:cNvSpPr/>
          <p:nvPr/>
        </p:nvSpPr>
        <p:spPr>
          <a:xfrm rot="0">
            <a:off x="323850" y="1125537"/>
            <a:ext cx="8496300" cy="4608512"/>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809" name="Text Box 5"/>
          <p:cNvSpPr txBox="1"/>
          <p:nvPr/>
        </p:nvSpPr>
        <p:spPr>
          <a:xfrm rot="0">
            <a:off x="468312" y="1000125"/>
            <a:ext cx="8135937" cy="4770437"/>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lnSpc>
                <a:spcPct val="150000"/>
              </a:lnSpc>
              <a:buFont typeface="Wingdings" pitchFamily="2" charset="2"/>
              <a:buNone/>
            </a:pPr>
            <a:r>
              <a:rPr altLang="zh-CN" b="1" sz="3200" lang="ar-SA" u="sng">
                <a:ea typeface="Simplified Arabic" pitchFamily="18" charset="-78"/>
              </a:rPr>
              <a:t>2- المحاكاه</a:t>
            </a:r>
            <a:r>
              <a:rPr altLang="zh-CN" b="1" sz="3200" lang="en-US" u="sng">
                <a:ea typeface="SimSun" pitchFamily="2" charset="-122"/>
              </a:rPr>
              <a:t> Simulation </a:t>
            </a:r>
          </a:p>
          <a:p>
            <a:pPr algn="just" eaLnBrk="1" hangingPunct="1" lvl="0"/>
            <a:r>
              <a:rPr altLang="zh-CN" b="1" sz="3200" lang="ar-SA"/>
              <a:t>هى استخدام الصوت والصوره لتمثيل اماكن او مواقع أو أحداث قريبه جدا من الواقع , ويفيد استخدام المحاكاة فى التطبيقات ألمستخدمه فى التعليم والتدريب حتى يتمكن المعلم من التدريب ومشاهدة بعض الخبرات الواقعيه فى بيئه تشبه الواقع من خلال تقديم هذه الخبرات بالبعدين الثانى والثالث</a:t>
            </a:r>
            <a:r>
              <a:rPr altLang="zh-CN" b="1" sz="3200" lang="en-US">
                <a:ea typeface="SimSun" pitchFamily="2" charset="-122"/>
              </a:rPr>
              <a:t> .</a:t>
            </a:r>
            <a:br>
              <a:rPr altLang="zh-CN" b="1" sz="3200" lang="en-US">
                <a:ea typeface="SimSun" pitchFamily="2" charset="-122"/>
              </a:rPr>
            </a:br>
            <a:r>
              <a:rPr altLang="zh-CN" b="1" sz="3200" lang="ar-SA"/>
              <a:t>أو هى " استخدام الكمبيوتر فى توليد عروض متعددة الوسائط لإبداع عمليات أو مهارات وخبرات أو أماكن حقيقية طبيعية</a:t>
            </a:r>
            <a:r>
              <a:rPr altLang="zh-CN" b="1" sz="3200" lang="en-US">
                <a:ea typeface="SimSun" pitchFamily="2" charset="-122"/>
              </a:rPr>
              <a:t> "</a:t>
            </a:r>
          </a:p>
        </p:txBody>
      </p:sp>
    </p:spTree>
  </p:cSld>
  <p:clrMapOvr>
    <a:masterClrMapping/>
  </p:clrMapOvr>
  <p:transition spd="fast" advClick="0">
    <p:wheel spokes="1"/>
  </p:transition>
  <p:timing/>
</p:sld>
</file>

<file path=ppt/slides/slide34.xml><?xml version="1.0" encoding="utf-8"?>
<p:sld xmlns:a="http://schemas.openxmlformats.org/drawingml/2006/main" xmlns:r="http://schemas.openxmlformats.org/officeDocument/2006/relationships" xmlns:p="http://schemas.openxmlformats.org/presentationml/2006/main" show="1" showMasterSp="1">
  <p:cSld>
    <p:spTree>
      <p:nvGrpSpPr>
        <p:cNvPr id="95" name=""/>
        <p:cNvGrpSpPr/>
        <p:nvPr/>
      </p:nvGrpSpPr>
      <p:grpSpPr>
        <a:xfrm rot="0">
          <a:off x="0" y="0"/>
          <a:ext cx="0" cy="0"/>
          <a:chOff x="0" y="0"/>
          <a:chExt cx="0" cy="0"/>
        </a:xfrm>
      </p:grpSpPr>
      <p:sp>
        <p:nvSpPr>
          <p:cNvPr id="1048810" name="Rectangle 2"/>
          <p:cNvSpPr/>
          <p:nvPr>
            <p:ph type="title" sz="full" idx="0"/>
          </p:nvPr>
        </p:nvSpPr>
        <p:spPr>
          <a:xfrm rot="0">
            <a:off x="4643437" y="188912"/>
            <a:ext cx="4043362"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000" lang="zh-CN">
                <a:ea typeface="PT Bold Heading" pitchFamily="2" charset="-78"/>
              </a:rPr>
              <a:t>إمكانات الوسائط المتعددة</a:t>
            </a:r>
          </a:p>
        </p:txBody>
      </p:sp>
      <p:sp>
        <p:nvSpPr>
          <p:cNvPr id="1048811" name="AutoShape 3">
            <a:hlinkClick r:id="rId1"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812" name="AutoShape 4"/>
          <p:cNvSpPr/>
          <p:nvPr/>
        </p:nvSpPr>
        <p:spPr>
          <a:xfrm rot="0">
            <a:off x="323850" y="1125537"/>
            <a:ext cx="8496300" cy="4608512"/>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813" name="Text Box 5"/>
          <p:cNvSpPr txBox="1"/>
          <p:nvPr/>
        </p:nvSpPr>
        <p:spPr>
          <a:xfrm rot="0">
            <a:off x="468312" y="1000125"/>
            <a:ext cx="8135937" cy="470852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lnSpc>
                <a:spcPct val="150000"/>
              </a:lnSpc>
              <a:buFont typeface="Wingdings" pitchFamily="2" charset="2"/>
              <a:buNone/>
            </a:pPr>
            <a:r>
              <a:rPr altLang="zh-CN" b="1" sz="3200" lang="ar-SA" u="sng">
                <a:ea typeface="Simplified Arabic" pitchFamily="18" charset="-78"/>
              </a:rPr>
              <a:t>3 – التحوير</a:t>
            </a:r>
            <a:r>
              <a:rPr altLang="zh-CN" b="1" sz="3200" lang="en-US" u="sng">
                <a:ea typeface="SimSun" pitchFamily="2" charset="-122"/>
              </a:rPr>
              <a:t> Morphing </a:t>
            </a:r>
            <a:r>
              <a:rPr altLang="zh-CN" b="1" sz="3200" lang="ar-SA" u="sng">
                <a:ea typeface="Simplified Arabic" pitchFamily="18" charset="-78"/>
              </a:rPr>
              <a:t>  </a:t>
            </a:r>
          </a:p>
          <a:p>
            <a:pPr algn="just" eaLnBrk="1" hangingPunct="1" lvl="0">
              <a:lnSpc>
                <a:spcPct val="150000"/>
              </a:lnSpc>
            </a:pPr>
            <a:r>
              <a:rPr altLang="zh-CN" b="1" sz="2400" lang="ar-SA">
                <a:ea typeface="Simplified Arabic" pitchFamily="18" charset="-78"/>
              </a:rPr>
              <a:t>هى عملية الانتقال والتحويل بين مشاهد الفيديو من خلال إذابة ومزج لقطه داخل لقطه أخرى لينتج بذلك لقطه جديدة مختلفة, عن طريق انتقال(العناصر الصغيرة) بين كل من المشهدين من الواقع فى الصورة الاصليه إلى الصورة الجديدة بسرعة عالية وتتابع سلس فى الانتقال, كما تدس فى الرسومات المتحركة أيضا.</a:t>
            </a:r>
            <a:r>
              <a:rPr altLang="zh-CN" b="1" sz="2400" lang="en-US">
                <a:ea typeface="SimSun" pitchFamily="2" charset="-122"/>
              </a:rPr>
              <a:t> </a:t>
            </a:r>
          </a:p>
          <a:p>
            <a:pPr algn="just" eaLnBrk="1" hangingPunct="1" lvl="0">
              <a:lnSpc>
                <a:spcPct val="150000"/>
              </a:lnSpc>
            </a:pPr>
            <a:r>
              <a:rPr altLang="zh-CN" b="1" sz="2400" lang="ar-SA">
                <a:ea typeface="Simplified Arabic" pitchFamily="18" charset="-78"/>
              </a:rPr>
              <a:t>    ويمكن تعريفه ايضا بانه " تقنيه من تقنيات الإبهار التى تستخدم فى عروض الفيديو من خلال توليد بعض الخصائص الجديدة بين مشهدين عند تحويل مشهد او لقطه أو هدف</a:t>
            </a:r>
          </a:p>
        </p:txBody>
      </p:sp>
    </p:spTree>
  </p:cSld>
  <p:clrMapOvr>
    <a:masterClrMapping/>
  </p:clrMapOvr>
  <p:transition spd="fast" advClick="0">
    <p:wheel spokes="1"/>
  </p:transition>
  <p:timing/>
</p:sld>
</file>

<file path=ppt/slides/slide35.xml><?xml version="1.0" encoding="utf-8"?>
<p:sld xmlns:a="http://schemas.openxmlformats.org/drawingml/2006/main" xmlns:r="http://schemas.openxmlformats.org/officeDocument/2006/relationships" xmlns:p="http://schemas.openxmlformats.org/presentationml/2006/main" show="1" showMasterSp="1">
  <p:cSld>
    <p:spTree>
      <p:nvGrpSpPr>
        <p:cNvPr id="96" name=""/>
        <p:cNvGrpSpPr/>
        <p:nvPr/>
      </p:nvGrpSpPr>
      <p:grpSpPr>
        <a:xfrm rot="0">
          <a:off x="0" y="0"/>
          <a:ext cx="0" cy="0"/>
          <a:chOff x="0" y="0"/>
          <a:chExt cx="0" cy="0"/>
        </a:xfrm>
      </p:grpSpPr>
      <p:sp>
        <p:nvSpPr>
          <p:cNvPr id="1048814" name="Rectangle 2"/>
          <p:cNvSpPr/>
          <p:nvPr>
            <p:ph type="title" sz="full" idx="0"/>
          </p:nvPr>
        </p:nvSpPr>
        <p:spPr>
          <a:xfrm rot="0">
            <a:off x="4643437" y="188912"/>
            <a:ext cx="4043362"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000" lang="zh-CN">
                <a:ea typeface="PT Bold Heading" pitchFamily="2" charset="-78"/>
              </a:rPr>
              <a:t>إمكانات الوسائط المتعددة</a:t>
            </a:r>
          </a:p>
        </p:txBody>
      </p:sp>
      <p:sp>
        <p:nvSpPr>
          <p:cNvPr id="1048815" name="AutoShape 3">
            <a:hlinkClick r:id="rId1"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816" name="AutoShape 4"/>
          <p:cNvSpPr/>
          <p:nvPr/>
        </p:nvSpPr>
        <p:spPr>
          <a:xfrm rot="0">
            <a:off x="323850" y="1125537"/>
            <a:ext cx="8496300" cy="4608512"/>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817" name="Text Box 5"/>
          <p:cNvSpPr txBox="1"/>
          <p:nvPr/>
        </p:nvSpPr>
        <p:spPr>
          <a:xfrm rot="0">
            <a:off x="468312" y="1000125"/>
            <a:ext cx="8135937" cy="45243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lnSpc>
                <a:spcPct val="150000"/>
              </a:lnSpc>
              <a:buFont typeface="Wingdings" pitchFamily="2" charset="2"/>
              <a:buNone/>
            </a:pPr>
            <a:r>
              <a:rPr altLang="zh-CN" b="1" sz="3200" lang="ar-SA" u="sng">
                <a:ea typeface="Simplified Arabic" pitchFamily="18" charset="-78"/>
              </a:rPr>
              <a:t>4- النمذجة</a:t>
            </a:r>
            <a:r>
              <a:rPr altLang="zh-CN" b="1" sz="3200" lang="en-US" u="sng">
                <a:ea typeface="SimSun" pitchFamily="2" charset="-122"/>
              </a:rPr>
              <a:t> Modeling</a:t>
            </a:r>
          </a:p>
          <a:p>
            <a:pPr algn="just" eaLnBrk="1" hangingPunct="1" lvl="0">
              <a:lnSpc>
                <a:spcPct val="150000"/>
              </a:lnSpc>
            </a:pPr>
            <a:r>
              <a:rPr altLang="zh-CN" b="1" sz="3200" lang="ar-SA"/>
              <a:t>تستخدم الرسوم المتحركة فى تقديم العروض التعليمية من خلال تقديم المشاهد والعناصر للعرض بالبعد الثالث </a:t>
            </a:r>
            <a:r>
              <a:rPr altLang="zh-CN" b="1" sz="3200" lang="en-US">
                <a:ea typeface="SimSun" pitchFamily="2" charset="-122"/>
              </a:rPr>
              <a:t>3D</a:t>
            </a:r>
            <a:r>
              <a:rPr altLang="zh-CN" b="1" sz="3200" lang="ar-SA"/>
              <a:t> من خلال سلسلة الإطارات وأنماطها المختلفة التى تحدث طيف أو ظل لبناء العروض التى تعتمد على النمذجة للمهارات والخبرات الحقيقية من خلال جهاز الكمبيوتر متعدد الوسائط</a:t>
            </a:r>
            <a:r>
              <a:rPr altLang="zh-CN" b="1" sz="3200" lang="en-US">
                <a:ea typeface="SimSun" pitchFamily="2" charset="-122"/>
              </a:rPr>
              <a:t> </a:t>
            </a:r>
          </a:p>
        </p:txBody>
      </p:sp>
    </p:spTree>
  </p:cSld>
  <p:clrMapOvr>
    <a:masterClrMapping/>
  </p:clrMapOvr>
  <p:transition spd="fast" advClick="0">
    <p:wheel spokes="1"/>
  </p:transition>
  <p:timing/>
</p:sld>
</file>

<file path=ppt/slides/slide36.xml><?xml version="1.0" encoding="utf-8"?>
<p:sld xmlns:a="http://schemas.openxmlformats.org/drawingml/2006/main" xmlns:r="http://schemas.openxmlformats.org/officeDocument/2006/relationships" xmlns:p="http://schemas.openxmlformats.org/presentationml/2006/main" show="1" showMasterSp="1">
  <p:cSld>
    <p:spTree>
      <p:nvGrpSpPr>
        <p:cNvPr id="97" name=""/>
        <p:cNvGrpSpPr/>
        <p:nvPr/>
      </p:nvGrpSpPr>
      <p:grpSpPr>
        <a:xfrm rot="0">
          <a:off x="0" y="0"/>
          <a:ext cx="0" cy="0"/>
          <a:chOff x="0" y="0"/>
          <a:chExt cx="0" cy="0"/>
        </a:xfrm>
      </p:grpSpPr>
      <p:sp>
        <p:nvSpPr>
          <p:cNvPr id="1048818" name="Rectangle 2"/>
          <p:cNvSpPr/>
          <p:nvPr>
            <p:ph type="title" sz="full" idx="0"/>
          </p:nvPr>
        </p:nvSpPr>
        <p:spPr>
          <a:xfrm rot="0">
            <a:off x="1285875" y="188912"/>
            <a:ext cx="7400925"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000" lang="zh-CN">
                <a:ea typeface="PT Bold Heading" pitchFamily="2" charset="-78"/>
              </a:rPr>
              <a:t>معايير الجودة في تقويم الوسائط المتعددة</a:t>
            </a:r>
          </a:p>
        </p:txBody>
      </p:sp>
      <p:sp>
        <p:nvSpPr>
          <p:cNvPr id="1048819" name="AutoShape 3">
            <a:hlinkClick r:id="rId1"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820" name="AutoShape 4"/>
          <p:cNvSpPr/>
          <p:nvPr/>
        </p:nvSpPr>
        <p:spPr>
          <a:xfrm rot="0">
            <a:off x="323850" y="1125537"/>
            <a:ext cx="8496300" cy="4608512"/>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821" name="Text Box 5"/>
          <p:cNvSpPr txBox="1"/>
          <p:nvPr/>
        </p:nvSpPr>
        <p:spPr>
          <a:xfrm rot="0">
            <a:off x="285750" y="1244600"/>
            <a:ext cx="8429625" cy="4052887"/>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lnSpc>
                <a:spcPct val="90000"/>
              </a:lnSpc>
              <a:buFont typeface="Wingdings" pitchFamily="2" charset="2"/>
              <a:buNone/>
            </a:pPr>
            <a:r>
              <a:rPr altLang="zh-CN" b="1" sz="3200" lang="ar-SA"/>
              <a:t>يتكون نظام الوسائط المتعددة من :- </a:t>
            </a:r>
          </a:p>
          <a:p>
            <a:pPr algn="just" eaLnBrk="1" hangingPunct="1" lvl="0">
              <a:lnSpc>
                <a:spcPct val="90000"/>
              </a:lnSpc>
              <a:buFont typeface="Wingdings" pitchFamily="2" charset="2"/>
              <a:buNone/>
            </a:pPr>
            <a:r>
              <a:rPr altLang="zh-CN" b="1" sz="3000" lang="ar-SA">
                <a:solidFill>
                  <a:srgbClr val="00B050"/>
                </a:solidFill>
              </a:rPr>
              <a:t>نظام المعلومات والبيانات - البرمجيات - المعدات - نظام الاتصال</a:t>
            </a:r>
          </a:p>
          <a:p>
            <a:pPr algn="just" eaLnBrk="1" hangingPunct="1" lvl="0">
              <a:lnSpc>
                <a:spcPct val="90000"/>
              </a:lnSpc>
              <a:buFont typeface="Wingdings" pitchFamily="2" charset="2"/>
              <a:buNone/>
            </a:pPr>
            <a:r>
              <a:rPr altLang="zh-CN" b="1" sz="2800" lang="ar-SA"/>
              <a:t>    وبرمجيات الوسائط المتعددة الجيدة تتيح للمتعلم أن يتحكم في تسلسل محتويات الدرس كما تتيح له أن يختار العودة لمراجعة أجزاء معينة من درس معين وأن يختار أنماط مختلفة من العرض وتراعي الفروق الفردية بين المتعلمين ولذلك عند تقويم برمجيات الوسائط المتعددة لابد أن نضع في الاعتبار سمات واحتياجات المعلمين والطلاب المستخدمين لها ، ويجب أن يعتمد تقييم المعلمين لطلابهم على الملاحظة ومدى تفاعلهم مع البرمجية وتوجد بعض المعايير التي يجب أخذها في الاعتبار عند تقويم برمجيات الوسائط المتعددة وتتضمن</a:t>
            </a:r>
            <a:r>
              <a:rPr altLang="zh-CN" b="1" sz="2800" lang="en-US">
                <a:ea typeface="SimSun" pitchFamily="2" charset="-122"/>
              </a:rPr>
              <a:t> :</a:t>
            </a:r>
          </a:p>
        </p:txBody>
      </p:sp>
    </p:spTree>
  </p:cSld>
  <p:clrMapOvr>
    <a:masterClrMapping/>
  </p:clrMapOvr>
  <p:transition spd="fast" advClick="0">
    <p:wheel spokes="1"/>
  </p:transition>
  <p:timing/>
</p:sld>
</file>

<file path=ppt/slides/slide37.xml><?xml version="1.0" encoding="utf-8"?>
<p:sld xmlns:a="http://schemas.openxmlformats.org/drawingml/2006/main" xmlns:r="http://schemas.openxmlformats.org/officeDocument/2006/relationships" xmlns:p="http://schemas.openxmlformats.org/presentationml/2006/main" show="1" showMasterSp="1">
  <p:cSld>
    <p:spTree>
      <p:nvGrpSpPr>
        <p:cNvPr id="98" name=""/>
        <p:cNvGrpSpPr/>
        <p:nvPr/>
      </p:nvGrpSpPr>
      <p:grpSpPr>
        <a:xfrm rot="0">
          <a:off x="0" y="0"/>
          <a:ext cx="0" cy="0"/>
          <a:chOff x="0" y="0"/>
          <a:chExt cx="0" cy="0"/>
        </a:xfrm>
      </p:grpSpPr>
      <p:sp>
        <p:nvSpPr>
          <p:cNvPr id="1048822" name="Rectangle 2"/>
          <p:cNvSpPr/>
          <p:nvPr>
            <p:ph type="title" sz="full" idx="0"/>
          </p:nvPr>
        </p:nvSpPr>
        <p:spPr>
          <a:xfrm rot="0">
            <a:off x="1285875" y="188912"/>
            <a:ext cx="7400925"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000" lang="zh-CN">
                <a:ea typeface="PT Bold Heading" pitchFamily="2" charset="-78"/>
              </a:rPr>
              <a:t>معايير الجودة في تقويم الوسائط المتعددة</a:t>
            </a:r>
          </a:p>
        </p:txBody>
      </p:sp>
      <p:sp>
        <p:nvSpPr>
          <p:cNvPr id="1048823" name="AutoShape 3">
            <a:hlinkClick r:id="rId1"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824" name="AutoShape 4"/>
          <p:cNvSpPr/>
          <p:nvPr/>
        </p:nvSpPr>
        <p:spPr>
          <a:xfrm rot="0">
            <a:off x="323850" y="1125537"/>
            <a:ext cx="8496300" cy="4608512"/>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825" name="Text Box 5"/>
          <p:cNvSpPr txBox="1"/>
          <p:nvPr/>
        </p:nvSpPr>
        <p:spPr>
          <a:xfrm rot="0">
            <a:off x="285750" y="1244600"/>
            <a:ext cx="8429625" cy="310832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r>
              <a:rPr altLang="zh-CN" b="1" sz="2800" lang="ar-SA" u="sng"/>
              <a:t>أولاً: معايير المحتوى:</a:t>
            </a:r>
          </a:p>
          <a:p>
            <a:pPr algn="just" eaLnBrk="1" hangingPunct="1" lvl="0"/>
            <a:endParaRPr altLang="zh-CN" b="1" sz="2800" lang="ar-SA" u="sng"/>
          </a:p>
          <a:p>
            <a:pPr algn="just" eaLnBrk="1" hangingPunct="1" lvl="0"/>
            <a:r>
              <a:rPr altLang="zh-CN" b="1" sz="2800" lang="ar-SA"/>
              <a:t>يجب أن يكون محتوى البرمجية مناسبا لأهدافها ويعكس مستوى الصعوبة ويجب وضوح التسلسل والتتابع المنطقي للدروس كما يجب أن يكون المحتوى دقيقا وسليما علميا ونحويا وأن يتم تحديد الطلاب ومستواهم الدراسي وسماتهم الخاصة مثل الموهوبين والمبدعين أو المعاقين</a:t>
            </a:r>
          </a:p>
        </p:txBody>
      </p:sp>
    </p:spTree>
  </p:cSld>
  <p:clrMapOvr>
    <a:masterClrMapping/>
  </p:clrMapOvr>
  <p:transition spd="fast" advClick="0">
    <p:wheel spokes="1"/>
  </p:transition>
  <p:timing/>
</p:sld>
</file>

<file path=ppt/slides/slide38.xml><?xml version="1.0" encoding="utf-8"?>
<p:sld xmlns:a="http://schemas.openxmlformats.org/drawingml/2006/main" xmlns:r="http://schemas.openxmlformats.org/officeDocument/2006/relationships" xmlns:p="http://schemas.openxmlformats.org/presentationml/2006/main" show="1" showMasterSp="1">
  <p:cSld>
    <p:spTree>
      <p:nvGrpSpPr>
        <p:cNvPr id="99" name=""/>
        <p:cNvGrpSpPr/>
        <p:nvPr/>
      </p:nvGrpSpPr>
      <p:grpSpPr>
        <a:xfrm rot="0">
          <a:off x="0" y="0"/>
          <a:ext cx="0" cy="0"/>
          <a:chOff x="0" y="0"/>
          <a:chExt cx="0" cy="0"/>
        </a:xfrm>
      </p:grpSpPr>
      <p:sp>
        <p:nvSpPr>
          <p:cNvPr id="1048826" name="Rectangle 2"/>
          <p:cNvSpPr/>
          <p:nvPr>
            <p:ph type="title" sz="full" idx="0"/>
          </p:nvPr>
        </p:nvSpPr>
        <p:spPr>
          <a:xfrm rot="0">
            <a:off x="1285875" y="188912"/>
            <a:ext cx="7400925"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000" lang="zh-CN">
                <a:ea typeface="PT Bold Heading" pitchFamily="2" charset="-78"/>
              </a:rPr>
              <a:t>معايير الجودة في تقويم الوسائط المتعددة</a:t>
            </a:r>
          </a:p>
        </p:txBody>
      </p:sp>
      <p:sp>
        <p:nvSpPr>
          <p:cNvPr id="1048827" name="AutoShape 3">
            <a:hlinkClick r:id="rId1"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828" name="AutoShape 4"/>
          <p:cNvSpPr/>
          <p:nvPr/>
        </p:nvSpPr>
        <p:spPr>
          <a:xfrm rot="0">
            <a:off x="323850" y="1125537"/>
            <a:ext cx="8496300" cy="4608512"/>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829" name="Text Box 5"/>
          <p:cNvSpPr txBox="1"/>
          <p:nvPr/>
        </p:nvSpPr>
        <p:spPr>
          <a:xfrm rot="0">
            <a:off x="285750" y="1244600"/>
            <a:ext cx="8429625" cy="3970337"/>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r>
              <a:rPr altLang="zh-CN" b="1" sz="2800" lang="ar-SA" u="sng"/>
              <a:t>ثانياً: معايير التصميم التعليمي:</a:t>
            </a:r>
          </a:p>
          <a:p>
            <a:pPr algn="just" eaLnBrk="1" hangingPunct="1" lvl="0"/>
            <a:endParaRPr altLang="zh-CN" b="1" sz="2800" lang="ar-SA" u="sng"/>
          </a:p>
          <a:p>
            <a:pPr algn="just" eaLnBrk="1" hangingPunct="1" lvl="0"/>
            <a:r>
              <a:rPr altLang="zh-CN" b="1" sz="2800" lang="ar-SA"/>
              <a:t>إن الأنشطة التعليمية تجذب انتباه المتعلم وتؤدي إلى أداء أفضل للمهارات والمعارف ، وبرمجيات الوسائط المتعددة الجيدة تراعي احتياجات المتعلم وتزوده بالدافعية لذا يجب أن يستخدم المصممون التربويون استراتيجيات الدافعية المناسبة لمستوى العمر والخلفية الاجتماعية والثقافية للمتعلم وتقدم البرمجية التغذية الراجعة المناسبة في شكل نص ورسومات وجرافيك وتكون التغذية الراجعة فعالة للاستجابات الصحيحة والخاطئة على حد سواء</a:t>
            </a:r>
          </a:p>
        </p:txBody>
      </p:sp>
    </p:spTree>
  </p:cSld>
  <p:clrMapOvr>
    <a:masterClrMapping/>
  </p:clrMapOvr>
  <p:transition spd="fast" advClick="0">
    <p:wheel spokes="1"/>
  </p:transition>
  <p:timing/>
</p:sld>
</file>

<file path=ppt/slides/slide39.xml><?xml version="1.0" encoding="utf-8"?>
<p:sld xmlns:a="http://schemas.openxmlformats.org/drawingml/2006/main" xmlns:r="http://schemas.openxmlformats.org/officeDocument/2006/relationships" xmlns:p="http://schemas.openxmlformats.org/presentationml/2006/main" show="1" showMasterSp="1">
  <p:cSld>
    <p:spTree>
      <p:nvGrpSpPr>
        <p:cNvPr id="100" name=""/>
        <p:cNvGrpSpPr/>
        <p:nvPr/>
      </p:nvGrpSpPr>
      <p:grpSpPr>
        <a:xfrm rot="0">
          <a:off x="0" y="0"/>
          <a:ext cx="0" cy="0"/>
          <a:chOff x="0" y="0"/>
          <a:chExt cx="0" cy="0"/>
        </a:xfrm>
      </p:grpSpPr>
      <p:sp>
        <p:nvSpPr>
          <p:cNvPr id="1048830" name="Rectangle 2"/>
          <p:cNvSpPr/>
          <p:nvPr>
            <p:ph type="title" sz="full" idx="0"/>
          </p:nvPr>
        </p:nvSpPr>
        <p:spPr>
          <a:xfrm rot="0">
            <a:off x="1285875" y="188912"/>
            <a:ext cx="7400925"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000" lang="zh-CN">
                <a:ea typeface="PT Bold Heading" pitchFamily="2" charset="-78"/>
              </a:rPr>
              <a:t>معايير الجودة في تقويم الوسائط المتعددة</a:t>
            </a:r>
          </a:p>
        </p:txBody>
      </p:sp>
      <p:sp>
        <p:nvSpPr>
          <p:cNvPr id="1048831" name="AutoShape 3">
            <a:hlinkClick r:id="rId1"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832" name="AutoShape 4"/>
          <p:cNvSpPr/>
          <p:nvPr/>
        </p:nvSpPr>
        <p:spPr>
          <a:xfrm rot="0">
            <a:off x="323850" y="1125537"/>
            <a:ext cx="8496300" cy="4608512"/>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833" name="Text Box 5"/>
          <p:cNvSpPr txBox="1"/>
          <p:nvPr/>
        </p:nvSpPr>
        <p:spPr>
          <a:xfrm rot="0">
            <a:off x="285750" y="1244600"/>
            <a:ext cx="8429625" cy="3970337"/>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r>
              <a:rPr altLang="zh-CN" b="1" sz="2800" lang="ar-SA" u="sng"/>
              <a:t>ثالثاً: معايير واجهة الاستخدام:</a:t>
            </a:r>
          </a:p>
          <a:p>
            <a:pPr algn="just" eaLnBrk="1" hangingPunct="1" lvl="0"/>
            <a:endParaRPr altLang="zh-CN" b="1" sz="2800" lang="ar-SA" u="sng"/>
          </a:p>
          <a:p>
            <a:pPr algn="just" eaLnBrk="1" hangingPunct="1" lvl="0"/>
            <a:r>
              <a:rPr altLang="zh-CN" b="1" sz="2800" lang="ar-SA"/>
              <a:t>إتاحة الحرية للمتعلم للاختيار من بدائل في تنسيق الواجهة سواء للنص أو الألوان أو الرسومات أو حركة الفيديو وسهولة تركيب البرنامج ونقله واستخدامه ووضوح تعليمات الاستخدام والاستجابات وبساطة التعامل مع الأخطاء وجودة تصميم الشاشات وتحكم المتعلم فيها والاحتفاظ بسجل المتعلم وتعلم الطالب أساسيات التشغيل في وقت بسيط وتشغيل البرنامج ككل واختياراته بحيث تسمح للمتعلم سهولة القفز إلى الخطوات الأساسية مباشرة</a:t>
            </a:r>
          </a:p>
        </p:txBody>
      </p:sp>
    </p:spTree>
  </p:cSld>
  <p:clrMapOvr>
    <a:masterClrMapping/>
  </p:clrMapOvr>
  <p:transition spd="fast" advClick="0">
    <p:wheel spokes="1"/>
  </p:transition>
  <p:timing/>
</p:sld>
</file>

<file path=ppt/slides/slide40.xml><?xml version="1.0" encoding="utf-8"?>
<p:sld xmlns:a="http://schemas.openxmlformats.org/drawingml/2006/main" xmlns:r="http://schemas.openxmlformats.org/officeDocument/2006/relationships" xmlns:p="http://schemas.openxmlformats.org/presentationml/2006/main" show="1" showMasterSp="1">
  <p:cSld>
    <p:spTree>
      <p:nvGrpSpPr>
        <p:cNvPr id="101" name=""/>
        <p:cNvGrpSpPr/>
        <p:nvPr/>
      </p:nvGrpSpPr>
      <p:grpSpPr>
        <a:xfrm rot="0">
          <a:off x="0" y="0"/>
          <a:ext cx="0" cy="0"/>
          <a:chOff x="0" y="0"/>
          <a:chExt cx="0" cy="0"/>
        </a:xfrm>
      </p:grpSpPr>
      <p:sp>
        <p:nvSpPr>
          <p:cNvPr id="1048834" name="Rectangle 2"/>
          <p:cNvSpPr/>
          <p:nvPr>
            <p:ph type="title" sz="full" idx="0"/>
          </p:nvPr>
        </p:nvSpPr>
        <p:spPr>
          <a:xfrm rot="0">
            <a:off x="1285875" y="188912"/>
            <a:ext cx="7400925"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000" lang="zh-CN">
                <a:ea typeface="PT Bold Heading" pitchFamily="2" charset="-78"/>
              </a:rPr>
              <a:t>معايير الجودة في تقويم الوسائط المتعددة</a:t>
            </a:r>
          </a:p>
        </p:txBody>
      </p:sp>
      <p:sp>
        <p:nvSpPr>
          <p:cNvPr id="1048835" name="AutoShape 3">
            <a:hlinkClick r:id="rId1"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836" name="AutoShape 4"/>
          <p:cNvSpPr/>
          <p:nvPr/>
        </p:nvSpPr>
        <p:spPr>
          <a:xfrm rot="0">
            <a:off x="323850" y="1125537"/>
            <a:ext cx="8496300" cy="4608512"/>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837" name="Text Box 5"/>
          <p:cNvSpPr txBox="1"/>
          <p:nvPr/>
        </p:nvSpPr>
        <p:spPr>
          <a:xfrm rot="0">
            <a:off x="285750" y="1244600"/>
            <a:ext cx="8429625" cy="2678112"/>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r>
              <a:rPr altLang="zh-CN" b="1" sz="2800" lang="ar-SA" u="sng"/>
              <a:t>رابعاً: معايير التوثيق:</a:t>
            </a:r>
          </a:p>
          <a:p>
            <a:pPr algn="just" eaLnBrk="1" hangingPunct="1" lvl="0"/>
            <a:endParaRPr altLang="zh-CN" b="1" sz="2800" lang="ar-SA" u="sng"/>
          </a:p>
          <a:p>
            <a:pPr algn="just" eaLnBrk="1" hangingPunct="1" lvl="0"/>
            <a:r>
              <a:rPr altLang="zh-CN" b="1" sz="2800" lang="ar-SA"/>
              <a:t>التوثيق هو مساعدة المستخدم أن يحتفظ بالبرمجيات ولذلك يجب تزويد المتعلم بنظام تشغيل البرمجيات والتعليمات حول تصميم البرمجيات وتوضيح نظام التشغيل المطلوب واللغة المطلوبة ومواصفات المعدات وتوفير مركز صيانة للدعم الفني في الحال</a:t>
            </a:r>
          </a:p>
        </p:txBody>
      </p:sp>
    </p:spTree>
  </p:cSld>
  <p:clrMapOvr>
    <a:masterClrMapping/>
  </p:clrMapOvr>
  <p:transition spd="fast" advClick="0">
    <p:wheel spokes="1"/>
  </p:transition>
  <p:timing/>
</p:sld>
</file>

<file path=ppt/slides/slide41.xml><?xml version="1.0" encoding="utf-8"?>
<p:sld xmlns:a="http://schemas.openxmlformats.org/drawingml/2006/main" xmlns:r="http://schemas.openxmlformats.org/officeDocument/2006/relationships" xmlns:p="http://schemas.openxmlformats.org/presentationml/2006/main" show="1" showMasterSp="1">
  <p:cSld>
    <p:spTree>
      <p:nvGrpSpPr>
        <p:cNvPr id="102" name=""/>
        <p:cNvGrpSpPr/>
        <p:nvPr/>
      </p:nvGrpSpPr>
      <p:grpSpPr>
        <a:xfrm rot="0">
          <a:off x="0" y="0"/>
          <a:ext cx="0" cy="0"/>
          <a:chOff x="0" y="0"/>
          <a:chExt cx="0" cy="0"/>
        </a:xfrm>
      </p:grpSpPr>
      <p:sp>
        <p:nvSpPr>
          <p:cNvPr id="1048838" name="Rectangle 2"/>
          <p:cNvSpPr/>
          <p:nvPr>
            <p:ph type="title" sz="full" idx="0"/>
          </p:nvPr>
        </p:nvSpPr>
        <p:spPr>
          <a:xfrm rot="0">
            <a:off x="1285875" y="188912"/>
            <a:ext cx="7400925"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000" lang="zh-CN">
                <a:ea typeface="PT Bold Heading" pitchFamily="2" charset="-78"/>
              </a:rPr>
              <a:t>معايير الجودة في تقويم الوسائط المتعددة</a:t>
            </a:r>
          </a:p>
        </p:txBody>
      </p:sp>
      <p:sp>
        <p:nvSpPr>
          <p:cNvPr id="1048839" name="AutoShape 3">
            <a:hlinkClick r:id="rId1"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840" name="AutoShape 4"/>
          <p:cNvSpPr/>
          <p:nvPr/>
        </p:nvSpPr>
        <p:spPr>
          <a:xfrm rot="0">
            <a:off x="323850" y="1125537"/>
            <a:ext cx="8496300" cy="4875212"/>
          </a:xfrm>
          <a:prstGeom prst="roundRect">
            <a:avLst>
              <a:gd name="adj" fmla="val 5056"/>
            </a:avLst>
          </a:prstGeom>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841" name="Text Box 5"/>
          <p:cNvSpPr txBox="1"/>
          <p:nvPr/>
        </p:nvSpPr>
        <p:spPr>
          <a:xfrm rot="0">
            <a:off x="285750" y="1125537"/>
            <a:ext cx="8429625" cy="4832350"/>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r>
              <a:rPr altLang="zh-CN" b="1" sz="2800" lang="ar-SA">
                <a:solidFill>
                  <a:srgbClr val="800000"/>
                </a:solidFill>
                <a:effectLst>
                  <a:outerShdw algn="tl" blurRad="38100" dir="2700000" dist="38100">
                    <a:srgbClr val="C0C0C0"/>
                  </a:outerShdw>
                </a:effectLst>
              </a:rPr>
              <a:t>ومن النقاط الواجب أخذها في الاعتبار عند تقويم برامج الوسائط المتعددة</a:t>
            </a:r>
            <a:r>
              <a:rPr altLang="zh-CN" b="1" sz="2800" lang="ar-SA">
                <a:solidFill>
                  <a:srgbClr val="800000"/>
                </a:solidFill>
                <a:effectLst>
                  <a:outerShdw algn="tl" blurRad="38100" dir="2700000" dist="38100">
                    <a:srgbClr val="C0C0C0"/>
                  </a:outerShdw>
                </a:effectLst>
                <a:ea typeface="SimSun" pitchFamily="2" charset="-122"/>
              </a:rPr>
              <a:t>:</a:t>
            </a:r>
          </a:p>
          <a:p>
            <a:pPr algn="just" eaLnBrk="1" hangingPunct="1" lvl="0">
              <a:lnSpc>
                <a:spcPct val="150000"/>
              </a:lnSpc>
            </a:pPr>
            <a:r>
              <a:rPr altLang="en-US" b="1" sz="2400" lang="zh-CN">
                <a:ea typeface="Simplified Arabic" pitchFamily="18" charset="-78"/>
              </a:rPr>
              <a:t> </a:t>
            </a:r>
            <a:r>
              <a:rPr altLang="en-US" b="1" sz="2400" lang="ar-EG">
                <a:ea typeface="Simplified Arabic" pitchFamily="18" charset="-78"/>
              </a:rPr>
              <a:t>- </a:t>
            </a:r>
            <a:r>
              <a:rPr altLang="en-US" b="1" sz="2400" lang="zh-CN">
                <a:ea typeface="Simplified Arabic" pitchFamily="18" charset="-78"/>
              </a:rPr>
              <a:t>وجود منتج يساعد كل متعلم على تنمية مهارات الاستقصاء والتفكير الإبداعي</a:t>
            </a:r>
            <a:r>
              <a:rPr altLang="en-US" b="1" sz="2400" lang="en-US">
                <a:ea typeface="Simplified Arabic" pitchFamily="18" charset="-78"/>
              </a:rPr>
              <a:t> </a:t>
            </a:r>
          </a:p>
          <a:p>
            <a:pPr algn="just" eaLnBrk="1" hangingPunct="1" lvl="0">
              <a:lnSpc>
                <a:spcPct val="150000"/>
              </a:lnSpc>
            </a:pPr>
            <a:r>
              <a:rPr altLang="en-US" b="1" sz="2400" lang="zh-CN">
                <a:ea typeface="Simplified Arabic" pitchFamily="18" charset="-78"/>
              </a:rPr>
              <a:t> - وجود قواعد بيانات يسهل استخدامها كأدوات بحث وجعلها قابلة للامتداد</a:t>
            </a:r>
            <a:r>
              <a:rPr altLang="en-US" b="1" sz="2400" lang="en-US">
                <a:ea typeface="Simplified Arabic" pitchFamily="18" charset="-78"/>
              </a:rPr>
              <a:t> </a:t>
            </a:r>
          </a:p>
          <a:p>
            <a:pPr algn="just" eaLnBrk="1" hangingPunct="1" lvl="0">
              <a:lnSpc>
                <a:spcPct val="150000"/>
              </a:lnSpc>
            </a:pPr>
            <a:r>
              <a:rPr altLang="en-US" b="1" sz="2400" lang="zh-CN">
                <a:ea typeface="Simplified Arabic" pitchFamily="18" charset="-78"/>
              </a:rPr>
              <a:t> - القدرة على دمج المنتج بحيث يوفر الاحتياجات الخاصة لكل متعلم</a:t>
            </a:r>
            <a:r>
              <a:rPr altLang="en-US" b="1" sz="2400" lang="en-US">
                <a:ea typeface="Simplified Arabic" pitchFamily="18" charset="-78"/>
              </a:rPr>
              <a:t> </a:t>
            </a:r>
          </a:p>
          <a:p>
            <a:pPr algn="just" eaLnBrk="1" hangingPunct="1" lvl="0">
              <a:lnSpc>
                <a:spcPct val="150000"/>
              </a:lnSpc>
            </a:pPr>
            <a:r>
              <a:rPr altLang="en-US" b="1" sz="2400" lang="zh-CN">
                <a:ea typeface="Simplified Arabic" pitchFamily="18" charset="-78"/>
              </a:rPr>
              <a:t> - الاستخدام السهل لبيئة التعلم وصياغة البرامج بلغة سهلة وصحيحة</a:t>
            </a:r>
            <a:r>
              <a:rPr altLang="en-US" b="1" sz="2400" lang="en-US">
                <a:ea typeface="Simplified Arabic" pitchFamily="18" charset="-78"/>
              </a:rPr>
              <a:t> </a:t>
            </a:r>
          </a:p>
          <a:p>
            <a:pPr algn="just" eaLnBrk="1" hangingPunct="1" lvl="0">
              <a:lnSpc>
                <a:spcPct val="150000"/>
              </a:lnSpc>
            </a:pPr>
            <a:r>
              <a:rPr altLang="en-US" b="1" sz="2400" lang="zh-CN">
                <a:ea typeface="Simplified Arabic" pitchFamily="18" charset="-78"/>
              </a:rPr>
              <a:t> - تكامل النصوص مع الصور والرسوم والفيديو بطريقة فاعلة</a:t>
            </a:r>
            <a:r>
              <a:rPr altLang="en-US" b="1" sz="2400" lang="en-US">
                <a:ea typeface="Simplified Arabic" pitchFamily="18" charset="-78"/>
              </a:rPr>
              <a:t> </a:t>
            </a:r>
          </a:p>
          <a:p>
            <a:pPr algn="just" eaLnBrk="1" hangingPunct="1" lvl="0">
              <a:lnSpc>
                <a:spcPct val="150000"/>
              </a:lnSpc>
            </a:pPr>
            <a:r>
              <a:rPr altLang="en-US" b="1" sz="2400" lang="zh-CN">
                <a:ea typeface="Simplified Arabic" pitchFamily="18" charset="-78"/>
              </a:rPr>
              <a:t> - مراعاة تقليل الوقت الذي يتم إهداره في الممارسات التعليمية</a:t>
            </a:r>
            <a:r>
              <a:rPr altLang="en-US" b="1" sz="2400" lang="en-US">
                <a:ea typeface="Simplified Arabic" pitchFamily="18" charset="-78"/>
              </a:rPr>
              <a:t> </a:t>
            </a:r>
          </a:p>
          <a:p>
            <a:pPr algn="just" eaLnBrk="1" hangingPunct="1" lvl="0">
              <a:lnSpc>
                <a:spcPct val="150000"/>
              </a:lnSpc>
            </a:pPr>
            <a:r>
              <a:rPr altLang="en-US" b="1" sz="2400" lang="zh-CN">
                <a:ea typeface="Simplified Arabic" pitchFamily="18" charset="-78"/>
              </a:rPr>
              <a:t> - مراعاة متطلبات المنهج الحالي</a:t>
            </a:r>
          </a:p>
        </p:txBody>
      </p:sp>
    </p:spTree>
  </p:cSld>
  <p:clrMapOvr>
    <a:masterClrMapping/>
  </p:clrMapOvr>
  <p:transition spd="fast" advClick="0">
    <p:wheel spokes="1"/>
  </p:transition>
  <p:timing/>
</p:sld>
</file>

<file path=ppt/slides/slide42.xml><?xml version="1.0" encoding="utf-8"?>
<p:sld xmlns:a="http://schemas.openxmlformats.org/drawingml/2006/main" xmlns:r="http://schemas.openxmlformats.org/officeDocument/2006/relationships" xmlns:p="http://schemas.openxmlformats.org/presentationml/2006/main" show="1" showMasterSp="1">
  <p:cSld>
    <p:spTree>
      <p:nvGrpSpPr>
        <p:cNvPr id="103" name=""/>
        <p:cNvGrpSpPr/>
        <p:nvPr/>
      </p:nvGrpSpPr>
      <p:grpSpPr>
        <a:xfrm rot="0">
          <a:off x="0" y="0"/>
          <a:ext cx="0" cy="0"/>
          <a:chOff x="0" y="0"/>
          <a:chExt cx="0" cy="0"/>
        </a:xfrm>
      </p:grpSpPr>
      <p:sp>
        <p:nvSpPr>
          <p:cNvPr id="1048842" name="Rectangle 2"/>
          <p:cNvSpPr/>
          <p:nvPr>
            <p:ph type="title" sz="full" idx="0"/>
          </p:nvPr>
        </p:nvSpPr>
        <p:spPr>
          <a:xfrm rot="0">
            <a:off x="4859337" y="188912"/>
            <a:ext cx="3827462"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000" lang="zh-CN">
                <a:ea typeface="PT Bold Heading" pitchFamily="2" charset="-78"/>
              </a:rPr>
              <a:t>ميزات الوسائط المتعددة</a:t>
            </a:r>
          </a:p>
        </p:txBody>
      </p:sp>
      <p:sp>
        <p:nvSpPr>
          <p:cNvPr id="1048843" name="AutoShape 7">
            <a:hlinkClick r:id="rId1"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844" name="AutoShape 10"/>
          <p:cNvSpPr/>
          <p:nvPr/>
        </p:nvSpPr>
        <p:spPr>
          <a:xfrm rot="0">
            <a:off x="323850" y="1052512"/>
            <a:ext cx="8496300" cy="1150937"/>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845" name="Text Box 11"/>
          <p:cNvSpPr txBox="1"/>
          <p:nvPr/>
        </p:nvSpPr>
        <p:spPr>
          <a:xfrm rot="0">
            <a:off x="468312" y="1123950"/>
            <a:ext cx="8135937" cy="10064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000" lang="zh-CN">
                <a:ea typeface="Simplified Arabic" pitchFamily="18" charset="-78"/>
              </a:rPr>
              <a:t>  تعدد عناصر الوسائط يؤدي إلى توضيح الأفكار وبث عنصر التشويق والبعد عن الملل، ويقرب المعلومة إلى الأذهان.</a:t>
            </a:r>
          </a:p>
        </p:txBody>
      </p:sp>
      <p:sp>
        <p:nvSpPr>
          <p:cNvPr id="1048846" name="AutoShape 12"/>
          <p:cNvSpPr/>
          <p:nvPr/>
        </p:nvSpPr>
        <p:spPr>
          <a:xfrm rot="0">
            <a:off x="8426450" y="1266825"/>
            <a:ext cx="288925" cy="288925"/>
          </a:xfrm>
          <a:prstGeom prst="star16"/>
          <a:solidFill>
            <a:srgbClr val="CD9B69"/>
          </a:solidFill>
          <a:ln w="9525"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
        <p:nvSpPr>
          <p:cNvPr id="1048847" name="AutoShape 13"/>
          <p:cNvSpPr/>
          <p:nvPr/>
        </p:nvSpPr>
        <p:spPr>
          <a:xfrm rot="0">
            <a:off x="323850" y="2349500"/>
            <a:ext cx="8496300" cy="1150937"/>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848" name="Text Box 14"/>
          <p:cNvSpPr txBox="1"/>
          <p:nvPr/>
        </p:nvSpPr>
        <p:spPr>
          <a:xfrm rot="0">
            <a:off x="468312" y="2420937"/>
            <a:ext cx="8135937" cy="10064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000" lang="zh-CN">
                <a:ea typeface="Simplified Arabic" pitchFamily="18" charset="-78"/>
              </a:rPr>
              <a:t>  تمكن المستخدم من السير في البرنامج حسب قدرته، وفي الوقت الذي يريد، وإمكانية التحرك بين الموضوعات المعروضة.</a:t>
            </a:r>
          </a:p>
        </p:txBody>
      </p:sp>
      <p:sp>
        <p:nvSpPr>
          <p:cNvPr id="1048849" name="AutoShape 15"/>
          <p:cNvSpPr/>
          <p:nvPr/>
        </p:nvSpPr>
        <p:spPr>
          <a:xfrm rot="0">
            <a:off x="8426450" y="2528887"/>
            <a:ext cx="288925" cy="288925"/>
          </a:xfrm>
          <a:prstGeom prst="star16"/>
          <a:solidFill>
            <a:srgbClr val="CD9B69"/>
          </a:solidFill>
          <a:ln w="9525"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
        <p:nvSpPr>
          <p:cNvPr id="1048850" name="AutoShape 16"/>
          <p:cNvSpPr/>
          <p:nvPr/>
        </p:nvSpPr>
        <p:spPr>
          <a:xfrm rot="0">
            <a:off x="323850" y="3644900"/>
            <a:ext cx="8496300" cy="1150937"/>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851" name="Text Box 17"/>
          <p:cNvSpPr txBox="1"/>
          <p:nvPr/>
        </p:nvSpPr>
        <p:spPr>
          <a:xfrm rot="0">
            <a:off x="468312" y="3716337"/>
            <a:ext cx="8135937" cy="10064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000" lang="zh-CN">
                <a:ea typeface="Simplified Arabic" pitchFamily="18" charset="-78"/>
              </a:rPr>
              <a:t>  توفير وقت وجهد المتعلم، واستخدام أكثر من وسيلة داخل البرمجية الواحدة والميل للتعلم الذاتي وتثبيت </a:t>
            </a:r>
            <a:r>
              <a:rPr altLang="en-US" b="1" sz="3000" lang="zh-CN">
                <a:ea typeface="Simplified Arabic" pitchFamily="18" charset="-78"/>
                <a:hlinkClick r:id="rId2" action="ppaction://hlinksldjump"/>
              </a:rPr>
              <a:t>المعلومات</a:t>
            </a:r>
            <a:r>
              <a:rPr altLang="en-US" b="1" sz="3000" lang="zh-CN">
                <a:ea typeface="Simplified Arabic" pitchFamily="18" charset="-78"/>
              </a:rPr>
              <a:t>.</a:t>
            </a:r>
          </a:p>
        </p:txBody>
      </p:sp>
      <p:sp>
        <p:nvSpPr>
          <p:cNvPr id="1048852" name="AutoShape 18"/>
          <p:cNvSpPr/>
          <p:nvPr/>
        </p:nvSpPr>
        <p:spPr>
          <a:xfrm rot="0">
            <a:off x="8358187" y="3859212"/>
            <a:ext cx="288925" cy="288925"/>
          </a:xfrm>
          <a:prstGeom prst="star16"/>
          <a:solidFill>
            <a:srgbClr val="CD9B69"/>
          </a:solidFill>
          <a:ln w="9525"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
        <p:nvSpPr>
          <p:cNvPr id="1048853" name="AutoShape 22">
            <a:hlinkClick r:id="rId3" action="ppaction://hlinksldjump"/>
          </p:cNvPr>
          <p:cNvSpPr/>
          <p:nvPr/>
        </p:nvSpPr>
        <p:spPr>
          <a:xfrm rot="0" flipH="1">
            <a:off x="7523162" y="6165850"/>
            <a:ext cx="720725" cy="576262"/>
          </a:xfrm>
          <a:prstGeom prst="leftArrow">
            <a:avLst>
              <a:gd name="adj1" fmla="val 49898"/>
              <a:gd name="adj2" fmla="val 48452"/>
            </a:avLst>
          </a:prstGeom>
          <a:solidFill>
            <a:srgbClr val="FFCC99"/>
          </a:solidFill>
          <a:ln w="57150" cap="flat" cmpd="thinThick">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التالي</a:t>
            </a:r>
          </a:p>
        </p:txBody>
      </p:sp>
    </p:spTree>
  </p:cSld>
  <p:clrMapOvr>
    <a:masterClrMapping/>
  </p:clrMapOvr>
  <p:transition spd="fast" advClick="0">
    <p:wheel spokes="1"/>
  </p:transition>
  <p:timing/>
</p:sld>
</file>

<file path=ppt/slides/slide43.xml><?xml version="1.0" encoding="utf-8"?>
<p:sld xmlns:a="http://schemas.openxmlformats.org/drawingml/2006/main" xmlns:r="http://schemas.openxmlformats.org/officeDocument/2006/relationships" xmlns:p="http://schemas.openxmlformats.org/presentationml/2006/main" show="1" showMasterSp="1">
  <p:cSld>
    <p:spTree>
      <p:nvGrpSpPr>
        <p:cNvPr id="104" name=""/>
        <p:cNvGrpSpPr/>
        <p:nvPr/>
      </p:nvGrpSpPr>
      <p:grpSpPr>
        <a:xfrm rot="0">
          <a:off x="0" y="0"/>
          <a:ext cx="0" cy="0"/>
          <a:chOff x="0" y="0"/>
          <a:chExt cx="0" cy="0"/>
        </a:xfrm>
      </p:grpSpPr>
      <p:sp>
        <p:nvSpPr>
          <p:cNvPr id="1048854" name="Rectangle 2"/>
          <p:cNvSpPr/>
          <p:nvPr>
            <p:ph type="title" sz="full" idx="0"/>
          </p:nvPr>
        </p:nvSpPr>
        <p:spPr>
          <a:xfrm rot="0">
            <a:off x="4859337" y="188912"/>
            <a:ext cx="3827462" cy="792162"/>
          </a:xfrm>
          <a:prstGeom prst="rect"/>
          <a:noFill/>
          <a:ln>
            <a:noFill/>
          </a:ln>
        </p:spPr>
        <p:txBody>
          <a:bodyPr anchor="ctr" bIns="45720" lIns="91440" rIns="91440" tIns="45720" vert="horz"/>
          <a:lstStyle>
            <a:lvl1pPr algn="ctr" eaLnBrk="0" fontAlgn="base" hangingPunct="0" indent="0" latinLnBrk="0" marL="0" rtl="1">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algn="r" eaLnBrk="1" hangingPunct="1" lvl="0"/>
            <a:r>
              <a:rPr altLang="en-US" sz="3000" lang="zh-CN">
                <a:ea typeface="PT Bold Heading" pitchFamily="2" charset="-78"/>
              </a:rPr>
              <a:t>عيوب الوسائط المتعددة</a:t>
            </a:r>
          </a:p>
        </p:txBody>
      </p:sp>
      <p:sp>
        <p:nvSpPr>
          <p:cNvPr id="1048855" name="AutoShape 3">
            <a:hlinkClick r:id="rId1" action="ppaction://hlinksldjump"/>
          </p:cNvPr>
          <p:cNvSpPr/>
          <p:nvPr/>
        </p:nvSpPr>
        <p:spPr>
          <a:xfrm rot="0">
            <a:off x="4500562" y="6165850"/>
            <a:ext cx="792162" cy="647700"/>
          </a:xfrm>
          <a:prstGeom prst="foldedCorner"/>
          <a:solidFill>
            <a:srgbClr val="FFCC99"/>
          </a:solidFill>
          <a:ln w="57150"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spcBef>
                <a:spcPct val="50000"/>
              </a:spcBef>
            </a:pPr>
            <a:r>
              <a:rPr altLang="en-US" b="1" sz="2000" lang="zh-CN">
                <a:effectLst>
                  <a:outerShdw algn="tl" blurRad="38100" dir="2700000" dist="38100">
                    <a:srgbClr val="C0C0C0"/>
                  </a:outerShdw>
                </a:effectLst>
                <a:ea typeface="Simplified Arabic" pitchFamily="18" charset="-78"/>
              </a:rPr>
              <a:t>القائمة</a:t>
            </a:r>
          </a:p>
        </p:txBody>
      </p:sp>
      <p:sp>
        <p:nvSpPr>
          <p:cNvPr id="1048856" name="AutoShape 4"/>
          <p:cNvSpPr/>
          <p:nvPr/>
        </p:nvSpPr>
        <p:spPr>
          <a:xfrm rot="0">
            <a:off x="323850" y="1052512"/>
            <a:ext cx="8496300" cy="1150937"/>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857" name="Text Box 5"/>
          <p:cNvSpPr txBox="1"/>
          <p:nvPr/>
        </p:nvSpPr>
        <p:spPr>
          <a:xfrm rot="0">
            <a:off x="468312" y="1123950"/>
            <a:ext cx="8135937" cy="10064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000" lang="zh-CN">
                <a:ea typeface="Simplified Arabic" pitchFamily="18" charset="-78"/>
              </a:rPr>
              <a:t>  يتطلب إنتاج برامج الوسائط إمكانيات مالية كبيرة لتوفير الأجهزة والبرمجيات والكادر البشري المدرب والماهر.</a:t>
            </a:r>
          </a:p>
        </p:txBody>
      </p:sp>
      <p:sp>
        <p:nvSpPr>
          <p:cNvPr id="1048858" name="AutoShape 6"/>
          <p:cNvSpPr/>
          <p:nvPr/>
        </p:nvSpPr>
        <p:spPr>
          <a:xfrm rot="0">
            <a:off x="8383587" y="1214437"/>
            <a:ext cx="288925" cy="288925"/>
          </a:xfrm>
          <a:prstGeom prst="star16"/>
          <a:solidFill>
            <a:srgbClr val="CD9B69"/>
          </a:solidFill>
          <a:ln w="9525"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
        <p:nvSpPr>
          <p:cNvPr id="1048859" name="AutoShape 7"/>
          <p:cNvSpPr/>
          <p:nvPr/>
        </p:nvSpPr>
        <p:spPr>
          <a:xfrm rot="0">
            <a:off x="323850" y="2349500"/>
            <a:ext cx="8496300" cy="1150937"/>
          </a:xfrm>
          <a:prstGeom prst="roundRect"/>
          <a:solidFill>
            <a:srgbClr val="FFE2C5"/>
          </a:solidFill>
          <a:ln w="57150" cap="flat" cmpd="thickThin">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lang="en-US"/>
          </a:p>
        </p:txBody>
      </p:sp>
      <p:sp>
        <p:nvSpPr>
          <p:cNvPr id="1048860" name="Text Box 8"/>
          <p:cNvSpPr txBox="1"/>
          <p:nvPr/>
        </p:nvSpPr>
        <p:spPr>
          <a:xfrm rot="0">
            <a:off x="468312" y="2420937"/>
            <a:ext cx="8135937" cy="1006475"/>
          </a:xfrm>
          <a:prstGeom prst="rect"/>
          <a:noFill/>
          <a:ln>
            <a:noFill/>
          </a:ln>
        </p:spPr>
        <p:txBody>
          <a:bodyPr anchor="t" bIns="45720" lIns="91440" rIns="91440" tIns="45720" vert="horz">
            <a:spAutoFit/>
          </a:bodyPr>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lvl="0">
              <a:spcBef>
                <a:spcPct val="50000"/>
              </a:spcBef>
            </a:pPr>
            <a:r>
              <a:rPr altLang="en-US" b="1" sz="3000" lang="zh-CN">
                <a:ea typeface="Simplified Arabic" pitchFamily="18" charset="-78"/>
              </a:rPr>
              <a:t>  نوعية الأجهزة والعتاد المستخدم في الإنتاج يجب أن تكون عالية الجودة والمواصفات.  </a:t>
            </a:r>
            <a:r>
              <a:rPr altLang="en-US" b="1" sz="3000" lang="zh-CN">
                <a:ea typeface="Simplified Arabic" pitchFamily="18" charset="-78"/>
                <a:hlinkClick r:id="rId2" action="ppaction://hlinksldjump"/>
              </a:rPr>
              <a:t>ص14</a:t>
            </a:r>
          </a:p>
        </p:txBody>
      </p:sp>
      <p:sp>
        <p:nvSpPr>
          <p:cNvPr id="1048861" name="AutoShape 9"/>
          <p:cNvSpPr/>
          <p:nvPr/>
        </p:nvSpPr>
        <p:spPr>
          <a:xfrm rot="0">
            <a:off x="8355012" y="2543175"/>
            <a:ext cx="288925" cy="288925"/>
          </a:xfrm>
          <a:prstGeom prst="star16"/>
          <a:solidFill>
            <a:srgbClr val="CD9B69"/>
          </a:solidFill>
          <a:ln w="9525" cap="flat" cmpd="sng">
            <a:solidFill>
              <a:srgbClr val="FF9900">
                <a:alpha val="100000"/>
              </a:srgbClr>
            </a:solidFill>
            <a:prstDash val="solid"/>
            <a:round/>
          </a:ln>
        </p:spPr>
        <p:txBody>
          <a:bodyPr anchor="ctr" bIns="45720" lIns="91440" rIns="91440" tIns="45720" vert="horz" wrap="none"/>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lang="ar-SA"/>
          </a:p>
        </p:txBody>
      </p:sp>
    </p:spTree>
  </p:cSld>
  <p:clrMapOvr>
    <a:masterClrMapping/>
  </p:clrMapOvr>
  <p:transition spd="fast" advClick="0">
    <p:wheel spokes="1"/>
  </p:transition>
  <p:timing/>
</p:sld>
</file>

<file path=ppt/theme/theme1.xml><?xml version="1.0" encoding="utf-8"?>
<a:theme xmlns:a="http://schemas.openxmlformats.org/drawingml/2006/main" name="Office 主题">
  <a:themeElements>
    <a:clrScheme name="Default Color Scheme">
      <a:dk1>
        <a:srgbClr val="000000"/>
      </a:dk1>
      <a:lt1>
        <a:srgbClr val="FFFFFF"/>
      </a:lt1>
      <a:dk2>
        <a:srgbClr val="808080"/>
      </a:dk2>
      <a:lt2>
        <a:srgbClr val="00000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Default Color Scheme 1">
        <a:dk1>
          <a:srgbClr val="000000"/>
        </a:dk1>
        <a:lt1>
          <a:srgbClr val="FFFFFF"/>
        </a:lt1>
        <a:dk2>
          <a:srgbClr val="808080"/>
        </a:dk2>
        <a:lt2>
          <a:srgbClr val="00000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extraClrScheme>
    <a:extraClrScheme>
      <a:clrScheme name="Default Color Scheme 2">
        <a:dk1>
          <a:srgbClr val="000000"/>
        </a:dk1>
        <a:lt1>
          <a:srgbClr val="FFFFFF"/>
        </a:lt1>
        <a:dk2>
          <a:srgbClr val="969696"/>
        </a:dk2>
        <a:lt2>
          <a:srgbClr val="000000"/>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extraClrScheme>
    <a:extraClrScheme>
      <a:clrScheme name="Default Color Scheme 3">
        <a:dk1>
          <a:srgbClr val="000000"/>
        </a:dk1>
        <a:lt1>
          <a:srgbClr val="FFFFFF"/>
        </a:lt1>
        <a:dk2>
          <a:srgbClr val="808080"/>
        </a:dk2>
        <a:lt2>
          <a:srgbClr val="00000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extraClrScheme>
    <a:extraClrScheme>
      <a:clrScheme name="Default Color Scheme 4">
        <a:dk1>
          <a:srgbClr val="000000"/>
        </a:dk1>
        <a:lt1>
          <a:srgbClr val="DEF6F1"/>
        </a:lt1>
        <a:dk2>
          <a:srgbClr val="969696"/>
        </a:dk2>
        <a:lt2>
          <a:srgbClr val="000000"/>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extraClrScheme>
    <a:extraClrScheme>
      <a:clrScheme name="Default Color Scheme 5">
        <a:dk1>
          <a:srgbClr val="000000"/>
        </a:dk1>
        <a:lt1>
          <a:srgbClr val="FFFFD9"/>
        </a:lt1>
        <a:dk2>
          <a:srgbClr val="777777"/>
        </a:dk2>
        <a:lt2>
          <a:srgbClr val="000000"/>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extraClrScheme>
    <a:extraClrScheme>
      <a:clrScheme name="Default Color Scheme 6">
        <a:dk1>
          <a:srgbClr val="FFFFFF"/>
        </a:dk1>
        <a:lt1>
          <a:srgbClr val="008080"/>
        </a:lt1>
        <a:dk2>
          <a:srgbClr val="005A58"/>
        </a:dk2>
        <a:lt2>
          <a:srgbClr val="FFFF99"/>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extraClrScheme>
    <a:extraClrScheme>
      <a:clrScheme name="Default Color Scheme 7">
        <a:dk1>
          <a:srgbClr val="FFFFFF"/>
        </a:dk1>
        <a:lt1>
          <a:srgbClr val="800000"/>
        </a:lt1>
        <a:dk2>
          <a:srgbClr val="5C1F00"/>
        </a:dk2>
        <a:lt2>
          <a:srgbClr val="DFD293"/>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extraClrScheme>
    <a:extraClrScheme>
      <a:clrScheme name="Default Color Scheme 8">
        <a:dk1>
          <a:srgbClr val="FFFFFF"/>
        </a:dk1>
        <a:lt1>
          <a:srgbClr val="000099"/>
        </a:lt1>
        <a:dk2>
          <a:srgbClr val="003366"/>
        </a:dk2>
        <a:lt2>
          <a:srgbClr val="CCFFFF"/>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extraClrScheme>
    <a:extraClrScheme>
      <a:clrScheme name="Default Color Scheme 9">
        <a:dk1>
          <a:srgbClr val="FFFFFF"/>
        </a:dk1>
        <a:lt1>
          <a:srgbClr val="000000"/>
        </a:lt1>
        <a:dk2>
          <a:srgbClr val="336699"/>
        </a:dk2>
        <a:lt2>
          <a:srgbClr val="E3EBF1"/>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extraClrScheme>
    <a:extraClrScheme>
      <a:clrScheme name="Default Color Scheme 10">
        <a:dk1>
          <a:srgbClr val="FFFFFF"/>
        </a:dk1>
        <a:lt1>
          <a:srgbClr val="686B5D"/>
        </a:lt1>
        <a:dk2>
          <a:srgbClr val="777777"/>
        </a:dk2>
        <a:lt2>
          <a:srgbClr val="D1D1CB"/>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extraClrScheme>
    <a:extraClrScheme>
      <a:clrScheme name="Default Color Scheme 11">
        <a:dk1>
          <a:srgbClr val="FFFFFF"/>
        </a:dk1>
        <a:lt1>
          <a:srgbClr val="666699"/>
        </a:lt1>
        <a:dk2>
          <a:srgbClr val="3E3E5C"/>
        </a:dk2>
        <a:lt2>
          <a:srgbClr val="FFFFFF"/>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extraClrScheme>
    <a:extraClrScheme>
      <a:clrScheme name="Default Color Scheme 12">
        <a:dk1>
          <a:srgbClr val="FFFFFF"/>
        </a:dk1>
        <a:lt1>
          <a:srgbClr val="523E26"/>
        </a:lt1>
        <a:dk2>
          <a:srgbClr val="2D2015"/>
        </a:dk2>
        <a:lt2>
          <a:srgbClr val="DFC08D"/>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extraClrScheme>
  </a:extraClrSchemeLst>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3.xml><?xml version="1.0" encoding="utf-8"?>
<a:theme xmlns:a="http://schemas.openxmlformats.org/drawingml/2006/main" name="Office 主题">
  <a:themeElements>
    <a:clrScheme name="">
      <a:dk1>
        <a:srgbClr val="000000"/>
      </a:dk1>
      <a:lt1>
        <a:srgbClr val="FFFFFF"/>
      </a:lt1>
      <a:dk2>
        <a:srgbClr val="EEECE1"/>
      </a:dk2>
      <a:lt2>
        <a:srgbClr val="1F497D"/>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4.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ScaleCrop>0</ScaleCrop>
  <LinksUpToDate>0</LinksUpToDate>
</Properties>
</file>

<file path=docProps/core.xml><?xml version="1.0" encoding="utf-8"?>
<cp:coreProperties xmlns:cp="http://schemas.openxmlformats.org/package/2006/metadata/core-properties" xmlns:dc="http://purl.org/dc/elements/1.1/" xmlns:dcterms="http://purl.org/dc/terms/" xmlns:xsi="http://www.w3.org/2001/XMLSchema-instance">
  <dc:title>الوسائط المتعددة وإدارتها</dc:title>
  <dc:creator>wajdi</dc:creator>
  <cp:lastModifiedBy>Helwa</cp:lastModifiedBy>
  <dcterms:created xsi:type="dcterms:W3CDTF">2003-03-09T13:18:44Z</dcterms:created>
  <dcterms:modified xsi:type="dcterms:W3CDTF">2026-09-24T04:14:13Z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7d64252483044c21accfac34c5734cec_23</vt:lpwstr>
  </property>
</Properties>
</file>