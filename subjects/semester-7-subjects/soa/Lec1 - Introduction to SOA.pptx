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4320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A1D30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0A1D3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ORIENTED ARCHITECTURE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Year — Software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A1D3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1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663440" y="242316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SOA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709160" y="397764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Concepts, motivation, and the evolution from monolithic systems to distributed, service-based architectures.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457200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481328"/>
            <a:ext cx="7051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software architecture, and why it matters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01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273808"/>
            <a:ext cx="6453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evolution: monolithic to distributed systems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40080" y="3093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93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39" y="3066288"/>
            <a:ext cx="6304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problem in enterprise IT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858768"/>
            <a:ext cx="58941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Service-Oriented Architecture (SOA)?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" y="4678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78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651248"/>
            <a:ext cx="54742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roles: provider, consumer, registry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40080" y="5471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471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5443728"/>
            <a:ext cx="5996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Benefits, challenges, and where SOA fits today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Software Architecture?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organization of a system, expressed through its components, their relationships, and the principles guiding its design and evolution.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defines how a system is decomposed into parts, and how those parts communicate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decisions are the hardest to change later — they set the boundaries for everything built on top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architectural styles: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(n-tier) architecture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architecture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Service-Oriented Architecture (SOA)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</a:t>
            </a:r>
            <a:endParaRPr lang="en-US" sz="2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4B70FDF-3EB2-1E74-5F81-7A34B4065202}"/>
              </a:ext>
            </a:extLst>
          </p:cNvPr>
          <p:cNvGrpSpPr/>
          <p:nvPr/>
        </p:nvGrpSpPr>
        <p:grpSpPr>
          <a:xfrm>
            <a:off x="6903720" y="3526972"/>
            <a:ext cx="4160520" cy="2285999"/>
            <a:chOff x="7452360" y="1371600"/>
            <a:chExt cx="4160520" cy="4480560"/>
          </a:xfrm>
        </p:grpSpPr>
        <p:sp>
          <p:nvSpPr>
            <p:cNvPr id="5" name="Shape 3"/>
            <p:cNvSpPr/>
            <p:nvPr/>
          </p:nvSpPr>
          <p:spPr>
            <a:xfrm>
              <a:off x="7452360" y="1371600"/>
              <a:ext cx="4160520" cy="4480560"/>
            </a:xfrm>
            <a:prstGeom prst="roundRect">
              <a:avLst>
                <a:gd name="adj" fmla="val 2198"/>
              </a:avLst>
            </a:prstGeom>
            <a:solidFill>
              <a:srgbClr val="F4F6F8"/>
            </a:solidFill>
            <a:ln w="12700">
              <a:solidFill>
                <a:srgbClr val="D9DEE4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7680960" y="1536192"/>
              <a:ext cx="3749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0B8A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Analogy</a:t>
              </a:r>
              <a:endParaRPr lang="en-US" sz="13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680960" y="1920240"/>
              <a:ext cx="3703320" cy="3931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3339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Think of architecture as city planning, not building design: it decides where the roads (communication) go, not the interior of each building (implementation).</a:t>
              </a:r>
              <a:endParaRPr lang="en-US" dirty="0"/>
            </a:p>
          </p:txBody>
        </p:sp>
      </p:grpSp>
      <p:sp>
        <p:nvSpPr>
          <p:cNvPr id="8" name="Text 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Architecture Matters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system handle 10x the users without a redesign?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one team change a module without breaking another team's code?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systems built in different languages, on different platforms, talk to each other?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existing functionality be reused instead of rebuilt?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agility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organization respond quickly to new market demands by recombining existing capabilities?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of Enterprise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2377440"/>
            <a:ext cx="1920240" cy="2377440"/>
          </a:xfrm>
          <a:prstGeom prst="roundRect">
            <a:avLst>
              <a:gd name="adj" fmla="val 4286"/>
            </a:avLst>
          </a:prstGeom>
          <a:solidFill>
            <a:srgbClr val="0F2942"/>
          </a:solidFill>
          <a:ln/>
        </p:spPr>
      </p:sp>
      <p:sp>
        <p:nvSpPr>
          <p:cNvPr id="5" name="Shape 3"/>
          <p:cNvSpPr/>
          <p:nvPr/>
        </p:nvSpPr>
        <p:spPr>
          <a:xfrm>
            <a:off x="1298448" y="2103120"/>
            <a:ext cx="512064" cy="512064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8448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deployable unit. All logic tightly bundled together.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14600" y="32461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2834640" y="2377440"/>
            <a:ext cx="1920240" cy="2377440"/>
          </a:xfrm>
          <a:prstGeom prst="roundRect">
            <a:avLst>
              <a:gd name="adj" fmla="val 4286"/>
            </a:avLst>
          </a:prstGeom>
          <a:solidFill>
            <a:srgbClr val="44546A"/>
          </a:solidFill>
          <a:ln/>
        </p:spPr>
      </p:sp>
      <p:sp>
        <p:nvSpPr>
          <p:cNvPr id="11" name="Shape 9"/>
          <p:cNvSpPr/>
          <p:nvPr/>
        </p:nvSpPr>
        <p:spPr>
          <a:xfrm>
            <a:off x="3538728" y="2103120"/>
            <a:ext cx="512064" cy="512064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971800" y="2697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71800" y="324612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split from data/processing across two tiers.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32461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5074920" y="2377440"/>
            <a:ext cx="1920240" cy="2377440"/>
          </a:xfrm>
          <a:prstGeom prst="roundRect">
            <a:avLst>
              <a:gd name="adj" fmla="val 4286"/>
            </a:avLst>
          </a:prstGeom>
          <a:solidFill>
            <a:srgbClr val="0F2942"/>
          </a:solidFill>
          <a:ln/>
        </p:spPr>
      </p:sp>
      <p:sp>
        <p:nvSpPr>
          <p:cNvPr id="17" name="Shape 15"/>
          <p:cNvSpPr/>
          <p:nvPr/>
        </p:nvSpPr>
        <p:spPr>
          <a:xfrm>
            <a:off x="5779008" y="2103120"/>
            <a:ext cx="512064" cy="512064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79008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212080" y="2697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Objects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12080" y="324612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RPC, CORBA, DCOM — objects call each other across networks.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95160" y="32461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7315200" y="2377440"/>
            <a:ext cx="1920240" cy="2377440"/>
          </a:xfrm>
          <a:prstGeom prst="roundRect">
            <a:avLst>
              <a:gd name="adj" fmla="val 4286"/>
            </a:avLst>
          </a:prstGeom>
          <a:solidFill>
            <a:srgbClr val="44546A"/>
          </a:solidFill>
          <a:ln/>
        </p:spPr>
      </p:sp>
      <p:sp>
        <p:nvSpPr>
          <p:cNvPr id="23" name="Shape 21"/>
          <p:cNvSpPr/>
          <p:nvPr/>
        </p:nvSpPr>
        <p:spPr>
          <a:xfrm>
            <a:off x="8019288" y="2103120"/>
            <a:ext cx="512064" cy="512064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19288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452360" y="2697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452360" y="324612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Coarse-grained, standards-based, reusable business services.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35440" y="32461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9555480" y="2377440"/>
            <a:ext cx="1920240" cy="2377440"/>
          </a:xfrm>
          <a:prstGeom prst="roundRect">
            <a:avLst>
              <a:gd name="adj" fmla="val 4286"/>
            </a:avLst>
          </a:prstGeom>
          <a:solidFill>
            <a:srgbClr val="0F2942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59568" y="2103120"/>
            <a:ext cx="512064" cy="512064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59568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692640" y="2697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692640" y="324612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independently deployable services, often cloud-native.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 application built and deployed as a single, indivisible unit, where the user interface, business logic, and data access layer are </a:t>
            </a:r>
            <a:r>
              <a:rPr lang="en-US" sz="36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r>
              <a:rPr lang="en-US" sz="28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one codebase and one process.”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functionality — orders, payments, inventory, etc. — lives in one code base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together: one build, one binary, one release cycle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dominant style for enterprise systems well into the 1990s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8794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Architecture: Characteristics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codebase and single deployment unit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modules communicate through simple in-process function or method calls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built with one technology stack (one language, one framework, one database)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is straightforward at small scale: one team, one repository, simple debugging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is simpler initially since everything runs in one process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for small applications, prototypes, or systems with a small, stable team</a:t>
            </a:r>
            <a:endParaRPr lang="en-US" sz="2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E04311-9670-9D6E-87C2-1159732F5C1A}"/>
              </a:ext>
            </a:extLst>
          </p:cNvPr>
          <p:cNvGrpSpPr/>
          <p:nvPr/>
        </p:nvGrpSpPr>
        <p:grpSpPr>
          <a:xfrm>
            <a:off x="1054359" y="5280597"/>
            <a:ext cx="9909110" cy="1211643"/>
            <a:chOff x="7452360" y="1371600"/>
            <a:chExt cx="4160520" cy="4480560"/>
          </a:xfrm>
        </p:grpSpPr>
        <p:sp>
          <p:nvSpPr>
            <p:cNvPr id="5" name="Shape 3"/>
            <p:cNvSpPr/>
            <p:nvPr/>
          </p:nvSpPr>
          <p:spPr>
            <a:xfrm>
              <a:off x="7452360" y="1371600"/>
              <a:ext cx="4160520" cy="4480560"/>
            </a:xfrm>
            <a:prstGeom prst="roundRect">
              <a:avLst>
                <a:gd name="adj" fmla="val 2198"/>
              </a:avLst>
            </a:prstGeom>
            <a:solidFill>
              <a:srgbClr val="F4F6F8"/>
            </a:solidFill>
            <a:ln w="12700">
              <a:solidFill>
                <a:srgbClr val="D9DEE4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7680960" y="1536192"/>
              <a:ext cx="3749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0B8A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Example</a:t>
              </a:r>
              <a:endParaRPr lang="en-US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680960" y="1920240"/>
              <a:ext cx="3703320" cy="3931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3339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university's first student-records system, running as one Java application with one database, is a classic monolith.</a:t>
              </a:r>
              <a:endParaRPr lang="en-US" dirty="0"/>
            </a:p>
          </p:txBody>
        </p:sp>
      </p:grpSp>
      <p:sp>
        <p:nvSpPr>
          <p:cNvPr id="8" name="Text 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Architecture: Limitations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bottleneck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application must be scaled, even if only one function is under load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risky deployments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one-line change requires rebuilding and redeploying the whole system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lock-in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adopt a new language or framework for just one part of the system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coordination overhead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teams editing the same codebase leads to merge conflicts and release bottlenecks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fault isolation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or memory leak in one module can crash the entire application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 system into two roles: clients that request services, and servers that provide them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a clear separation between presentation and data/processing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variants: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2-tier: client talks directly to a database server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3-tier: presentation, business logic, and data are separated into distinct tiers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on monoliths by allowing the server to be shared across many clients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limited: tightly coupled protocols, and scaling still meant scaling whole tiers rather than individual capabilities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Rise of Distributed Computing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organizations grew, applications needed to span multiple machines, departments, and even companies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Procedure Call (RPC)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program call a function on a remote machine as if it were local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CORBA (Common Object Request Broker Architecture)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vendor-neutral standard for distributed objects across languages and platforms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DCOM (Distributed Component Object Model)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proprietary answer to distributed objects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technologies proved distributed computing was possible — but they were complex, tightly coupled, and rarely interoperable with each other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 in the History of SOA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028703"/>
              </p:ext>
            </p:extLst>
          </p:nvPr>
        </p:nvGraphicFramePr>
        <p:xfrm>
          <a:off x="548640" y="1325880"/>
          <a:ext cx="11064240" cy="5157470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OMG publishes CORBA 1.0 — first major distributed-object standard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releases DCOM as its distributed-object competitor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 1.0 becomes a W3C Recommendation, enabling platform-neutral data exchange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1999–2000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SOAP and UDDI are introduced, standardizing service messaging and discovery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WSDL 1.1 submitted to W3C, formalizing machine-readable service contracts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2003–2005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Gartner and industry analysts popularize the term 'SOA' for enterprise 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and lightweight APIs gain popularity; SOA ideas evolve into microservices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Integration Problem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late 1990s, large enterprises had dozens of independent systems: CRM, ERP, HR, billing, inventory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system needed data from the others — but each spoke a different protocol and data format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wrote custom, one-off integration code between every pair of systems that needed to talk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an unmanageable web of point-to-point connections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system added meant more custom connections — integration cost grew faster than the number of systems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tangled mess became known as 'spaghetti architecture'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 Integration: The Spaghetti Problem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25880"/>
            <a:ext cx="6949440" cy="868680"/>
          </a:xfrm>
          <a:prstGeom prst="roundRect">
            <a:avLst>
              <a:gd name="adj" fmla="val 7368"/>
            </a:avLst>
          </a:prstGeom>
          <a:solidFill>
            <a:srgbClr val="44546A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32588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 ↔  ERP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32588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E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adapter #1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6949440" cy="868680"/>
          </a:xfrm>
          <a:prstGeom prst="roundRect">
            <a:avLst>
              <a:gd name="adj" fmla="val 7368"/>
            </a:avLst>
          </a:prstGeom>
          <a:solidFill>
            <a:srgbClr val="3A4A6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33172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 ↔  Billing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233172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E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adapter #2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337560"/>
            <a:ext cx="6949440" cy="868680"/>
          </a:xfrm>
          <a:prstGeom prst="roundRect">
            <a:avLst>
              <a:gd name="adj" fmla="val 7368"/>
            </a:avLst>
          </a:prstGeom>
          <a:solidFill>
            <a:srgbClr val="44546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33756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 ↔  HR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333756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E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adapter #3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343400"/>
            <a:ext cx="6949440" cy="868680"/>
          </a:xfrm>
          <a:prstGeom prst="roundRect">
            <a:avLst>
              <a:gd name="adj" fmla="val 7368"/>
            </a:avLst>
          </a:prstGeom>
          <a:solidFill>
            <a:srgbClr val="3A4A63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34340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 ↔  Inventory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434340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E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adapter #4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5349240"/>
            <a:ext cx="6949440" cy="868680"/>
          </a:xfrm>
          <a:prstGeom prst="roundRect">
            <a:avLst>
              <a:gd name="adj" fmla="val 7368"/>
            </a:avLst>
          </a:prstGeom>
          <a:solidFill>
            <a:srgbClr val="D64550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34924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 ↔  CRM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534924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E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adapter #5 ... and growing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01000" y="1325880"/>
            <a:ext cx="3566160" cy="4892040"/>
          </a:xfrm>
          <a:prstGeom prst="roundRect">
            <a:avLst>
              <a:gd name="adj" fmla="val 2564"/>
            </a:avLst>
          </a:prstGeom>
          <a:solidFill>
            <a:srgbClr val="EAF6F5"/>
          </a:solidFill>
          <a:ln/>
        </p:spPr>
      </p:sp>
      <p:sp>
        <p:nvSpPr>
          <p:cNvPr id="20" name="Text 18"/>
          <p:cNvSpPr/>
          <p:nvPr/>
        </p:nvSpPr>
        <p:spPr>
          <a:xfrm>
            <a:off x="818388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183880" y="1874520"/>
            <a:ext cx="3200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 systems, point-to-point integration can require up to N×(N-1)/2 custom connections. Adding one new system can mean writing several new adapters. This does not scale — organizations needed a shared, standard way for systems to expose and consume functionality.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Service-Oriented Architecture (SOA)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 architectural style in which software capabilities are exposed as discrete, standards-based, reusable services that communicate over a network using well-defined interfaces, independent of the underlying platform or implementation.”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integration from custom point-to-point code to standardized service contracts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can be consumed by any client that understands the standard interface, regardless of language or platform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 Behind SOA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custom connections between every pair of systems, build reusable services that expose business capabilities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is a self-contained unit of functionality, such as 'CheckCustomerCredit' or 'ProcessPayment'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authorized consumer can invoke the service through its published interface — without knowing how it is implemented internally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consumers can reuse existing services instead of rebuilding the same logic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turns integration from an N×N custom-wiring problem into an N-connections-to-a-shared-contract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'Service'?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self-contained, well-defined unit of business functionality that performs a specific task, is described by a formal contract, and can be discovered and invoked over a network.”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'ValidateAddress', 'AuthorizeCreditCard', 'CalculateShippingCost'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exposes WHAT it does through its interface, and hides HOW it does it internally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Characteristics — A First Look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Loosely coupled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does not depend on the internal implementation of the services it talks to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Well-defined interface / contract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Described formally, often in a language-neutral format such as WSDL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and autonomous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its own logic and, ideally, its own data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Discoverable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found through a directory or registry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across multiple applications and business processes</a:t>
            </a:r>
            <a:endParaRPr lang="en-US" sz="2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1833358-BE94-445C-7124-1B50D0E8C877}"/>
              </a:ext>
            </a:extLst>
          </p:cNvPr>
          <p:cNvGrpSpPr/>
          <p:nvPr/>
        </p:nvGrpSpPr>
        <p:grpSpPr>
          <a:xfrm>
            <a:off x="7574280" y="5477066"/>
            <a:ext cx="4023360" cy="989045"/>
            <a:chOff x="7452360" y="1371600"/>
            <a:chExt cx="4160520" cy="4480560"/>
          </a:xfrm>
        </p:grpSpPr>
        <p:sp>
          <p:nvSpPr>
            <p:cNvPr id="5" name="Shape 3"/>
            <p:cNvSpPr/>
            <p:nvPr/>
          </p:nvSpPr>
          <p:spPr>
            <a:xfrm>
              <a:off x="7452360" y="1371600"/>
              <a:ext cx="4160520" cy="4480560"/>
            </a:xfrm>
            <a:prstGeom prst="roundRect">
              <a:avLst>
                <a:gd name="adj" fmla="val 2198"/>
              </a:avLst>
            </a:prstGeom>
            <a:solidFill>
              <a:srgbClr val="F4F6F8"/>
            </a:solidFill>
            <a:ln w="12700">
              <a:solidFill>
                <a:srgbClr val="D9DEE4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7680960" y="1536192"/>
              <a:ext cx="3749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0B8A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Coming Next</a:t>
              </a:r>
              <a:endParaRPr lang="en-US" sz="13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680960" y="1920240"/>
              <a:ext cx="3703320" cy="3931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250" dirty="0">
                  <a:solidFill>
                    <a:srgbClr val="3339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 will study each of these characteristics in depth — with formal definitions and examples — in Lecture 2.</a:t>
              </a:r>
              <a:endParaRPr lang="en-US" sz="1250" dirty="0"/>
            </a:p>
          </p:txBody>
        </p:sp>
      </p:grpSp>
      <p:sp>
        <p:nvSpPr>
          <p:cNvPr id="8" name="Text 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Reference Architecture — Layered 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25880"/>
            <a:ext cx="6949440" cy="1120140"/>
          </a:xfrm>
          <a:prstGeom prst="roundRect">
            <a:avLst>
              <a:gd name="adj" fmla="val 5714"/>
            </a:avLst>
          </a:prstGeom>
          <a:solidFill>
            <a:srgbClr val="0F2942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325880"/>
            <a:ext cx="64922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 Layer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51560" y="1325880"/>
            <a:ext cx="64922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workflows composed of services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583180"/>
            <a:ext cx="6949440" cy="1120140"/>
          </a:xfrm>
          <a:prstGeom prst="roundRect">
            <a:avLst>
              <a:gd name="adj" fmla="val 5714"/>
            </a:avLst>
          </a:prstGeom>
          <a:solidFill>
            <a:srgbClr val="44546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583180"/>
            <a:ext cx="64922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51560" y="2583180"/>
            <a:ext cx="64922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Published, reusable business services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6949440" cy="1120140"/>
          </a:xfrm>
          <a:prstGeom prst="roundRect">
            <a:avLst>
              <a:gd name="adj" fmla="val 5714"/>
            </a:avLst>
          </a:prstGeom>
          <a:solidFill>
            <a:srgbClr val="44546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840480"/>
            <a:ext cx="64922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Component Layer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51560" y="3840480"/>
            <a:ext cx="64922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that implement service logic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5097780"/>
            <a:ext cx="6949440" cy="1120140"/>
          </a:xfrm>
          <a:prstGeom prst="roundRect">
            <a:avLst>
              <a:gd name="adj" fmla="val 5714"/>
            </a:avLst>
          </a:prstGeom>
          <a:solidFill>
            <a:srgbClr val="44546A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097780"/>
            <a:ext cx="64922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Systems Layer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51560" y="5097780"/>
            <a:ext cx="64922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systems, databases, packaged applications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01000" y="1325880"/>
            <a:ext cx="3566160" cy="4892040"/>
          </a:xfrm>
          <a:prstGeom prst="roundRect">
            <a:avLst>
              <a:gd name="adj" fmla="val 2564"/>
            </a:avLst>
          </a:prstGeom>
          <a:solidFill>
            <a:srgbClr val="EAF6F5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83880" y="1874520"/>
            <a:ext cx="3200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depends only on the layer below it through a stable interface. Business processes are composed from services; services are implemented by components; components run on top of existing operational systems — including legacy applications that are wrapped, not rewritten.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Publish–Find–Bind Pattern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2377440"/>
            <a:ext cx="3413760" cy="2377440"/>
          </a:xfrm>
          <a:prstGeom prst="roundRect">
            <a:avLst>
              <a:gd name="adj" fmla="val 3462"/>
            </a:avLst>
          </a:prstGeom>
          <a:solidFill>
            <a:srgbClr val="0F2942"/>
          </a:solidFill>
          <a:ln/>
        </p:spPr>
      </p:sp>
      <p:sp>
        <p:nvSpPr>
          <p:cNvPr id="5" name="Shape 3"/>
          <p:cNvSpPr/>
          <p:nvPr/>
        </p:nvSpPr>
        <p:spPr>
          <a:xfrm>
            <a:off x="2045208" y="2103120"/>
            <a:ext cx="512064" cy="512064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45208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Publish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3139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provider registers its service description in a registry (e.g., UDDI).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08120" y="32461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4328160" y="2377440"/>
            <a:ext cx="3413760" cy="2377440"/>
          </a:xfrm>
          <a:prstGeom prst="roundRect">
            <a:avLst>
              <a:gd name="adj" fmla="val 3462"/>
            </a:avLst>
          </a:prstGeom>
          <a:solidFill>
            <a:srgbClr val="44546A"/>
          </a:solidFill>
          <a:ln/>
        </p:spPr>
      </p:sp>
      <p:sp>
        <p:nvSpPr>
          <p:cNvPr id="11" name="Shape 9"/>
          <p:cNvSpPr/>
          <p:nvPr/>
        </p:nvSpPr>
        <p:spPr>
          <a:xfrm>
            <a:off x="5779008" y="2103120"/>
            <a:ext cx="512064" cy="512064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79008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65320" y="269748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465320" y="3246120"/>
            <a:ext cx="3139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potential consumer searches the registry to discover a service that meets its need.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741920" y="32461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8061960" y="2377440"/>
            <a:ext cx="3413760" cy="2377440"/>
          </a:xfrm>
          <a:prstGeom prst="roundRect">
            <a:avLst>
              <a:gd name="adj" fmla="val 3462"/>
            </a:avLst>
          </a:prstGeom>
          <a:solidFill>
            <a:srgbClr val="0F2942"/>
          </a:solidFill>
          <a:ln/>
        </p:spPr>
      </p:sp>
      <p:sp>
        <p:nvSpPr>
          <p:cNvPr id="17" name="Shape 15"/>
          <p:cNvSpPr/>
          <p:nvPr/>
        </p:nvSpPr>
        <p:spPr>
          <a:xfrm>
            <a:off x="9512808" y="2103120"/>
            <a:ext cx="512064" cy="512064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12808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199120" y="269748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Bind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199120" y="3246120"/>
            <a:ext cx="3139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 retrieves the contract and invokes the service directly at runtime.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SOA Roles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the service and publishes its contract for others to use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Consumer (Requester)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and invokes the service to fulfil a business need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Registry / Broker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directory where providers publish service descriptions and consumers search for them (e.g., UDDI)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roles interact through the publish–find–bind pattern shown on the previous slide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SOA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service once, use it across many applications and processes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Standards-based contracts let .NET, Java, and legacy mainframe systems interoperate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agility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processes can be assembled quickly by composing existing services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integration cost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custom point-to-point connections over time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 protection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old systems as services instead of replacing them outright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Criticisms of SOA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overhead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strong discipline: contract versioning, ownership, standards enforcement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cost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calls and XML/SOAP processing add latency compared to in-process calls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of the ESB and middleware layer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its own infrastructure to design, secure, and maintain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sprawl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governance, organizations end up with many overlapping, poorly documented services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learning curve and upfront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vs. Service-Oriented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44546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263640" y="132588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00A79A"/>
          </a:solidFill>
          <a:ln/>
        </p:spPr>
      </p:sp>
      <p:sp>
        <p:nvSpPr>
          <p:cNvPr id="7" name="Text 5"/>
          <p:cNvSpPr/>
          <p:nvPr/>
        </p:nvSpPr>
        <p:spPr>
          <a:xfrm>
            <a:off x="6263640" y="132588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4F6F8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20574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8600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deployable unit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function calls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technology stack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whole application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build initially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reuse logic elsewhere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37960" y="228600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Independent, distributed services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calls via standard contracts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Technology-agnostic, interoperable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individual services as needed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upfront design and governance cost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reused across many processes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Airline Reservation Systems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 must integrate flight search, seat inventory, pricing, payment, and loyalty programs — often across partner airlines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SOA: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partnership required custom, point-to-point integration code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SOA: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'CheckFlightAvailability', 'PriceItinerary', and 'BookSeat' are exposed as standard services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airlines and travel agencies consume the same published services, instead of custom integrations per partner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widely cited real-world example of why the travel and airline industry was an early adopter of SOA and web-service standards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SOA Standards Landscape (Preview)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174070"/>
              </p:ext>
            </p:extLst>
          </p:nvPr>
        </p:nvGraphicFramePr>
        <p:xfrm>
          <a:off x="548640" y="1325880"/>
          <a:ext cx="11064240" cy="4846317"/>
        </p:xfrm>
        <a:graphic>
          <a:graphicData uri="http://schemas.openxmlformats.org/drawingml/2006/table">
            <a:tbl>
              <a:tblPr/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2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Covered 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Platform-neutral data format for messages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WSDL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Formal, machine-readable service contract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SOAP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Messaging protocol for invoking services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UDDI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 standard for publishing/finding services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/ HTTP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Lightweight, resource-based service style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WS-Security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standard for SOAP messages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SOA Fit Today?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'big SOA' with heavy ESBs and SOAP is less common in new, greenfield projects today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its core ideas are everywhere: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inherit loose coupling, service contracts, and independent deployability from SOA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 gateways play a similar role to the SOA registry and broker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integration platforms (iPaaS) modernize the ESB concept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SOA gives you the conceptual foundation to understand microservices, API management, and cloud-native architecture — the subject of Lecture 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A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457200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733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evolved from monolithic, to client-server, to distributed objects, to SOA, to microservices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5877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4231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emerged to solve the enterprise integration problem — the 'spaghetti' of point-to-point connections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5021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3375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is a self-contained, contract-based unit of business functionality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4165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2519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publish–find–bind pattern connects service providers, consumers, and registries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3309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1663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offers reuse, interoperability, and agility — at the cost of governance and performance overhead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/ REVIEW QUESTION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has separate systems for admissions, student records, and library management. The IT department wants to build a new mobile app that needs data from all three. How would a SOA approach differ from writing three separate point-to-point integrations?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what happens when a fourth system needs to be added later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who owns and maintains each integration point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how reuse would work if a second app needed the same data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Further Reading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463040"/>
            <a:ext cx="1078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Erl, T. — Service-Oriented Architecture: Concepts, Technology, and Design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Josuttis, N. — SOA in Practice: The Art of Distributed System Design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— Web Services Architecture (www.w3.org/TR/ws-arch/)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— Reference Model for Service Oriented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0F294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138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54223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— SOA Principles &amp; Characteristics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1: Introduction to SOA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2542</Words>
  <Application>Microsoft Office PowerPoint</Application>
  <PresentationFormat>Widescreen</PresentationFormat>
  <Paragraphs>384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Abdolraheem Khader</cp:lastModifiedBy>
  <cp:revision>6</cp:revision>
  <dcterms:created xsi:type="dcterms:W3CDTF">2026-07-27T18:26:16Z</dcterms:created>
  <dcterms:modified xsi:type="dcterms:W3CDTF">2026-07-28T09:50:34Z</dcterms:modified>
</cp:coreProperties>
</file>