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890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D3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663440" y="24231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Composition &amp; Orchestration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709160" y="3977639"/>
            <a:ext cx="6766560" cy="1611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individual services are combined into larger business processes: orchestration vs. choreography, BPEL, and distributed transaction patterns.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8450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service composition?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01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273808"/>
            <a:ext cx="8450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vs. choreography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0080" y="3093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93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066288"/>
            <a:ext cx="8450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BPEL: the Business Process Execution Language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58768"/>
            <a:ext cx="8450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process with BPEL constructs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467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7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651248"/>
            <a:ext cx="8450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transactions and the Saga pattern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0080" y="5471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71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443728"/>
            <a:ext cx="8450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composition style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Composition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act of combining two or more services together to construct a larger, composite service or business process that fulfills a goal no single service could achieve alone.”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is one of the eight service-orientation principles from Lecture 2 — this lecture explores how it is actually implemented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service can itself be exposed as a service and reused in still larger compositions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Composition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processes rarely map to a single service call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'Place an Order' involves multiple steps: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inventory → Calculate price → Process payment → Arrange shipping → Send confirmation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lets each step remain a separate, reusable, independently owned service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this lecture answers: who coordinates the steps, and how?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vs. Choreography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4454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0A79A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Choreography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controller directs all the steps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are unaware of the overall process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monitor and manage centrally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controller can become a bottleneck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controller; services react to events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knows its own role in the process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resilient — no single point of control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see or reason about the overall flow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composition style in which a central process (the orchestrator) explicitly invokes and coordinates a defined sequence of service calls to complete a business process.”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has full visibility and control over the process's state at every step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an orchestra conductor directing musicians — the conductor knows and controls the entire piece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Choreography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composition style in which each service independently reacts to events and messages, collectively producing the overall process without any single controlling entity.”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'knows' what to do when it observes a relevant event — there is no conductor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dance — each dancer knows their own steps and reacts to cues from others, without a central director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Example: Order Fulfillment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37744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0F2942"/>
          </a:solidFill>
          <a:ln/>
        </p:spPr>
      </p:sp>
      <p:sp>
        <p:nvSpPr>
          <p:cNvPr id="5" name="Shape 3"/>
          <p:cNvSpPr/>
          <p:nvPr/>
        </p:nvSpPr>
        <p:spPr>
          <a:xfrm>
            <a:off x="1578483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8483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205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Inventory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2059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calls InventoryService directly.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7467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94710" y="237744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44546A"/>
          </a:solidFill>
          <a:ln/>
        </p:spPr>
      </p:sp>
      <p:sp>
        <p:nvSpPr>
          <p:cNvPr id="11" name="Shape 9"/>
          <p:cNvSpPr/>
          <p:nvPr/>
        </p:nvSpPr>
        <p:spPr>
          <a:xfrm>
            <a:off x="4378833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8833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1870" y="2697480"/>
            <a:ext cx="2205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Calculate Price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31870" y="3246120"/>
            <a:ext cx="22059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calls PricingService with item + quantity.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7502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95060" y="237744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0F2942"/>
          </a:solidFill>
          <a:ln/>
        </p:spPr>
      </p:sp>
      <p:sp>
        <p:nvSpPr>
          <p:cNvPr id="17" name="Shape 15"/>
          <p:cNvSpPr/>
          <p:nvPr/>
        </p:nvSpPr>
        <p:spPr>
          <a:xfrm>
            <a:off x="7179183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9183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32220" y="2697480"/>
            <a:ext cx="2205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Process Payment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32220" y="3246120"/>
            <a:ext cx="22059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calls PaymentService and waits for confirmation.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7537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95410" y="237744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44546A"/>
          </a:solidFill>
          <a:ln/>
        </p:spPr>
      </p:sp>
      <p:sp>
        <p:nvSpPr>
          <p:cNvPr id="23" name="Shape 21"/>
          <p:cNvSpPr/>
          <p:nvPr/>
        </p:nvSpPr>
        <p:spPr>
          <a:xfrm>
            <a:off x="9979533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79533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32570" y="2697480"/>
            <a:ext cx="2205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Arrange Shipping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32570" y="3246120"/>
            <a:ext cx="22059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calls ShippingService to schedule delivery.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Choreography Example: The Same Process, Event-Driven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 publishes 'OrderCreated' — no one is explicitly told what to do next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InventoryService subscribes to 'OrderCreated', reserves stock, publishes 'StockReserved'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 subscribes to 'StockReserved', charges the customer, publishes 'PaymentCompleted'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ShippingService subscribes to 'PaymentCompleted', schedules delivery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only needs to know which events to react to — none of them needs a global view of the whole process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BPEL (Business Process Execution Language)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OASIS standard, XML-based language for defining and executing business processes that orchestrate calls to web services, specifying the order, conditions, and error handling of each step.”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name: WS-BPEL (Web Services Business Process Execution Language)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BPEL processes run inside a dedicated BPEL engine, which is itself often exposed as a web service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BPEL Emerged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SOA orchestration was often hand-coded — brittle, hard to visualize, and hard for business analysts to review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BPEL provided a standardized, XML-based, portable way to describe orchestration logic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BPEL processes are themselves defined by WSDL-described interfaces, a BPEL process can call — and be called as — an ordinary web service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 tools let analysts draw a process as a flowchart, which is compiled into executable BPEL XML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BPEL Activities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530314"/>
              </p:ext>
            </p:extLst>
          </p:nvPr>
        </p:nvGraphicFramePr>
        <p:xfrm>
          <a:off x="548640" y="1325880"/>
          <a:ext cx="11064240" cy="501904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invoke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an operation on an external web service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for an incoming message (e.g., starting the process)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a response back to the process's caller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Copies or manipulates data between variables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Executes a set of activities in strict order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Executes activities in parallel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/ if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branching logic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Looping construct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BPEL Sequence (Illustrative)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0A1D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&lt;sequence&gt;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&lt;receive partnerLink="customer" operation="placeOrder"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variable="orderRequest"/&gt;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&lt;invoke partnerLink="inventoryService"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operation="checkStock"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inputVariable="orderRequest"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outputVariable="stockResult"/&gt;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&lt;invoke partnerLink="paymentService"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operation="charge"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inputVariable="orderRequest"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outputVariable="paymentResult"/&gt;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&lt;reply partnerLink="customer" variable="paymentResult"/&gt;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&lt;/sequence&gt;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receive → invoke → invoke → reply mirrors the order-fulfillment steps shown earlier, now expressed as an executable process.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Links: Connecting BPEL to Real Services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partnerLink represents a relationship between the BPEL process and an external service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using a partnerLinkType, which references the WSDL portTypes involved on each side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BPEL depends so heavily on WSDL — every service the process interacts with must have a formal contract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links make the process portable: swapping in a different implementation of 'inventoryService' does not require changing the process logic, as long as the contract matches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with &lt;flow&gt;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steps in a process don't depend on each other and can run at the same time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checking inventory and validating the customer's address can happen in parallel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BPEL's &lt;flow&gt; construct executes contained activities concurrently, only proceeding once all branches complete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&lt;flow&gt; where appropriate can significantly reduce overall process latency compared to a strictly sequential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Fault Handlers and Compensation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Handlers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and respond to errors raised during a specific scope of the process (similar to try/catch)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Handlers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how to 'undo' the effects of already-completed steps if a later step fails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is essential because BPEL processes typically cannot rely on a traditional database-style rollback across multiple independent services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ACID Transactions Don't Work Across Services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(Atomicity, Consistency, Isolation, Durability) transactions assume a single, shared transactional resource (e.g., one database)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distributed, service-oriented system, each service typically manages its own data independently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resources across multiple independent services for the duration of a long transaction is impractical and severely hurts scalability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compensation-based approaches — rather than distributed locking — became the standard pattern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Pattern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pattern for managing data consistency across multiple services in a long-running business transaction, using a sequence of local transactions, each with a corresponding compensating action to undo its effect if a later step fails.”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introduced in database research in the late 1980s, later widely adopted for microservices and SOA composition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Saga trades strict ACID consistency for eventual consistency, with defined compensation logic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Pattern Example: Order Placement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377440"/>
            <a:ext cx="3413760" cy="2377440"/>
          </a:xfrm>
          <a:prstGeom prst="roundRect">
            <a:avLst>
              <a:gd name="adj" fmla="val 3462"/>
            </a:avLst>
          </a:prstGeom>
          <a:solidFill>
            <a:srgbClr val="0F2942"/>
          </a:solidFill>
          <a:ln/>
        </p:spPr>
      </p:sp>
      <p:sp>
        <p:nvSpPr>
          <p:cNvPr id="5" name="Shape 3"/>
          <p:cNvSpPr/>
          <p:nvPr/>
        </p:nvSpPr>
        <p:spPr>
          <a:xfrm>
            <a:off x="2045208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4520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Reserve Stock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13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transaction in InventoryService. Compensation: Release Stock.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0812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28160" y="2377440"/>
            <a:ext cx="3413760" cy="2377440"/>
          </a:xfrm>
          <a:prstGeom prst="roundRect">
            <a:avLst>
              <a:gd name="adj" fmla="val 3462"/>
            </a:avLst>
          </a:prstGeom>
          <a:solidFill>
            <a:srgbClr val="44546A"/>
          </a:solidFill>
          <a:ln/>
        </p:spPr>
      </p:sp>
      <p:sp>
        <p:nvSpPr>
          <p:cNvPr id="11" name="Shape 9"/>
          <p:cNvSpPr/>
          <p:nvPr/>
        </p:nvSpPr>
        <p:spPr>
          <a:xfrm>
            <a:off x="5779008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7900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65320" y="269748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Charge Payment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65320" y="3246120"/>
            <a:ext cx="313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transaction in PaymentService. Compensation: Refund Payment.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4192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61960" y="2377440"/>
            <a:ext cx="3413760" cy="2377440"/>
          </a:xfrm>
          <a:prstGeom prst="roundRect">
            <a:avLst>
              <a:gd name="adj" fmla="val 3462"/>
            </a:avLst>
          </a:prstGeom>
          <a:solidFill>
            <a:srgbClr val="0F2942"/>
          </a:solidFill>
          <a:ln/>
        </p:spPr>
      </p:sp>
      <p:sp>
        <p:nvSpPr>
          <p:cNvPr id="17" name="Shape 15"/>
          <p:cNvSpPr/>
          <p:nvPr/>
        </p:nvSpPr>
        <p:spPr>
          <a:xfrm>
            <a:off x="9512808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1280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99120" y="269748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Schedule Shipping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99120" y="3246120"/>
            <a:ext cx="313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transaction in ShippingService. Compensation: Cancel Shipment.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Saga Step Fails: Compensating Transactions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Shipping fails after Stock was reserved and Payment was charged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Saga must run compensating actions in reverse order: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the payment (compensate step 2)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reserved stock (compensate step 1)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ends in a consistent state — even though no single database transaction ever spanned all three services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Saga vs. Choreographed Saga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4454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Saga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0A79A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Choreographed Saga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Saga orchestrator calls each step and triggers compensation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track overall progress and state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becomes a critical dependency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listens for events and independently decides to compensate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control or failure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see the current state of a given transaction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BPEL's Decline and Its Legacy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BPEL adoption has declined significantly since its SOAP/WSDL-centric peak in the 2000s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orchestration tends to use lighter-weight tools: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engines like Camunda, Temporal, or AWS Step Functions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code (orchestration logic written directly in a service using async/await patterns)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BPEL's core ideas — explicit process definition, compensation, partner contracts — remain influential even where the specific standard is no longer used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Orchestration Tools (Brief Survey)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state-machine definitions for orchestrating serverless functions and services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Camunda / Zeebe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workflow and decision engines based on BPMN (Business Process Model and Notation)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durable orchestration framework popular in modern microservices systems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vs. BPEL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(Business Process Model and Notation)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visual, standardized notation for modeling business processes, readable by both business and technical staff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BPEL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executable, XML-based language — often generated from or paired with a BPMN diagram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BPMN diagrams are frequently used purely for documentation/analysis, even when the executable logic underneath is implemented differently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Orchestration and Choreography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orchestration when: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needs strong central visibility, auditability, and control over sequencing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choreography when: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need to remain maximally decoupled and independently evolvable, and eventual consistency is acceptable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real systems use a hybrid: choreography for loosely related domain events, with localized orchestration inside a bounded business process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Loan Approval Process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bank's loan approval spans CreditCheckService, RiskAssessmentService, ApprovalService, and NotificationService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approach: Orchestration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require a clear, auditable, step-by-step record of exactly how each loan decision was reached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orchestrator (e.g., a BPMN/BPEL-based engine) logs every step, decision, and timestamp explicitly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illustrates how regulatory and auditability requirements often favor orchestration over choreography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Guidelines for Robust Composition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design explicit compensation logic for any step with a side effect (e.g., charging money, reserving stock)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service calls within a composition idempotent wherever possible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timeouts and retries deliberately — a hanging step can stall an entire orchestrated process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monitor the state of long-running compositions closely; a Saga that fails silently is far worse than one that fails loudly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733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composition combines multiple services into a larger business process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877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4231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uses a central controller; choreography relies on services reacting to events with no central control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021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BPEL is the classic XML-based standard for defining executable orchestration logic on top of WSDL-described services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165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251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Saga pattern manages consistency across distributed services using local transactions and compensating actions instead of distributed ACID transactions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3309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1663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systems often favor lighter-weight orchestration tools (Step Functions, Camunda, Temporal) over classic BPEL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/ REVIEW QUESTION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e-commerce checkout process involves reserving stock, charging a credit card, and scheduling shipping across three independently owned services. The credit card charge fails after stock has already been reserved. Walk through how a Saga pattern would handle this, including what compensating actions are needed.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step succeeded and which step failed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'undo' action is needed for each already-completed step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whether you would use orchestration or choreography, and why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Reading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46304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— Web Services Business Process Execution Language (WS-BPEL) 2.0 Specification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Garcia-Molina, H. and Salem, K. — Sagas (original 1987 paper)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Richardson, C. — Microservices Patterns, Ch. on the Saga Pattern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Management Group — Business Process Model and Notation (BPMN) Specification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F294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138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5422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— SOA &amp; Web Services Testing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8: Service Composition &amp; Orchestration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2381</Words>
  <Application>Microsoft Office PowerPoint</Application>
  <PresentationFormat>Widescreen</PresentationFormat>
  <Paragraphs>319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Abdolraheem Khader</cp:lastModifiedBy>
  <cp:revision>2</cp:revision>
  <dcterms:created xsi:type="dcterms:W3CDTF">2026-07-28T03:23:36Z</dcterms:created>
  <dcterms:modified xsi:type="dcterms:W3CDTF">2026-09-02T19:38:51Z</dcterms:modified>
</cp:coreProperties>
</file>