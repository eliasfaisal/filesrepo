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82" d="100"/>
          <a:sy n="82" d="100"/>
        </p:scale>
        <p:origin x="494" y="7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1" name="Slide Image Placeholder 1"/>
          <p:cNvSpPr>
            <a:spLocks noChangeAspect="1" noRot="1" noGrp="1"/>
          </p:cNvSpPr>
          <p:nvPr>
            <p:ph type="sldImg"/>
          </p:nvPr>
        </p:nvSpPr>
        <p:spPr/>
      </p:sp>
      <p:sp>
        <p:nvSpPr>
          <p:cNvPr id="1048582" name="Notes Placeholder 2"/>
          <p:cNvSpPr>
            <a:spLocks noGrp="1"/>
          </p:cNvSpPr>
          <p:nvPr>
            <p:ph type="body" idx="1"/>
          </p:nvPr>
        </p:nvSpPr>
        <p:spPr/>
        <p:txBody>
          <a:bodyPr/>
          <a:p>
            <a:endParaRPr dirty="0" lang="en-US"/>
          </a:p>
        </p:txBody>
      </p:sp>
      <p:sp>
        <p:nvSpPr>
          <p:cNvPr id="1048583"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6" name="Slide Image Placeholder 1"/>
          <p:cNvSpPr>
            <a:spLocks noChangeAspect="1" noRot="1" noGrp="1"/>
          </p:cNvSpPr>
          <p:nvPr>
            <p:ph type="sldImg"/>
          </p:nvPr>
        </p:nvSpPr>
        <p:spPr/>
      </p:sp>
      <p:sp>
        <p:nvSpPr>
          <p:cNvPr id="1048607" name="Notes Placeholder 2"/>
          <p:cNvSpPr>
            <a:spLocks noGrp="1"/>
          </p:cNvSpPr>
          <p:nvPr>
            <p:ph type="body" idx="1"/>
          </p:nvPr>
        </p:nvSpPr>
        <p:spPr/>
        <p:txBody>
          <a:bodyPr/>
          <a:p>
            <a:endParaRPr dirty="0" lang="en-US"/>
          </a:p>
        </p:txBody>
      </p:sp>
      <p:sp>
        <p:nvSpPr>
          <p:cNvPr id="1048608"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4" name="Slide Image Placeholder 1"/>
          <p:cNvSpPr>
            <a:spLocks noChangeAspect="1" noRot="1" noGrp="1"/>
          </p:cNvSpPr>
          <p:nvPr>
            <p:ph type="sldImg"/>
          </p:nvPr>
        </p:nvSpPr>
        <p:spPr/>
      </p:sp>
      <p:sp>
        <p:nvSpPr>
          <p:cNvPr id="1048615" name="Notes Placeholder 2"/>
          <p:cNvSpPr>
            <a:spLocks noGrp="1"/>
          </p:cNvSpPr>
          <p:nvPr>
            <p:ph type="body" idx="1"/>
          </p:nvPr>
        </p:nvSpPr>
        <p:spPr/>
        <p:txBody>
          <a:bodyPr/>
          <a:p>
            <a:endParaRPr dirty="0" lang="en-US"/>
          </a:p>
        </p:txBody>
      </p:sp>
      <p:sp>
        <p:nvSpPr>
          <p:cNvPr id="1048616"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4" name="Slide Image Placeholder 1"/>
          <p:cNvSpPr>
            <a:spLocks noChangeAspect="1" noRot="1" noGrp="1"/>
          </p:cNvSpPr>
          <p:nvPr>
            <p:ph type="sldImg"/>
          </p:nvPr>
        </p:nvSpPr>
        <p:spPr/>
      </p:sp>
      <p:sp>
        <p:nvSpPr>
          <p:cNvPr id="1048625" name="Notes Placeholder 2"/>
          <p:cNvSpPr>
            <a:spLocks noGrp="1"/>
          </p:cNvSpPr>
          <p:nvPr>
            <p:ph type="body" idx="1"/>
          </p:nvPr>
        </p:nvSpPr>
        <p:spPr/>
        <p:txBody>
          <a:bodyPr/>
          <a:p>
            <a:endParaRPr dirty="0" lang="en-US"/>
          </a:p>
        </p:txBody>
      </p:sp>
      <p:sp>
        <p:nvSpPr>
          <p:cNvPr id="1048626"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40" name="Slide Image Placeholder 1"/>
          <p:cNvSpPr>
            <a:spLocks noChangeAspect="1" noRot="1" noGrp="1"/>
          </p:cNvSpPr>
          <p:nvPr>
            <p:ph type="sldImg"/>
          </p:nvPr>
        </p:nvSpPr>
        <p:spPr/>
      </p:sp>
      <p:sp>
        <p:nvSpPr>
          <p:cNvPr id="1048641" name="Notes Placeholder 2"/>
          <p:cNvSpPr>
            <a:spLocks noGrp="1"/>
          </p:cNvSpPr>
          <p:nvPr>
            <p:ph type="body" idx="1"/>
          </p:nvPr>
        </p:nvSpPr>
        <p:spPr/>
        <p:txBody>
          <a:bodyPr/>
          <a:p>
            <a:endParaRPr dirty="0" lang="en-US"/>
          </a:p>
        </p:txBody>
      </p:sp>
      <p:sp>
        <p:nvSpPr>
          <p:cNvPr id="1048642"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48" name="Slide Image Placeholder 1"/>
          <p:cNvSpPr>
            <a:spLocks noChangeAspect="1" noRot="1" noGrp="1"/>
          </p:cNvSpPr>
          <p:nvPr>
            <p:ph type="sldImg"/>
          </p:nvPr>
        </p:nvSpPr>
        <p:spPr/>
      </p:sp>
      <p:sp>
        <p:nvSpPr>
          <p:cNvPr id="1048649" name="Notes Placeholder 2"/>
          <p:cNvSpPr>
            <a:spLocks noGrp="1"/>
          </p:cNvSpPr>
          <p:nvPr>
            <p:ph type="body" idx="1"/>
          </p:nvPr>
        </p:nvSpPr>
        <p:spPr/>
        <p:txBody>
          <a:bodyPr/>
          <a:p>
            <a:endParaRPr dirty="0" lang="en-US"/>
          </a:p>
        </p:txBody>
      </p:sp>
      <p:sp>
        <p:nvSpPr>
          <p:cNvPr id="1048650"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56" name="Slide Image Placeholder 1"/>
          <p:cNvSpPr>
            <a:spLocks noChangeAspect="1" noRot="1" noGrp="1"/>
          </p:cNvSpPr>
          <p:nvPr>
            <p:ph type="sldImg"/>
          </p:nvPr>
        </p:nvSpPr>
        <p:spPr/>
      </p:sp>
      <p:sp>
        <p:nvSpPr>
          <p:cNvPr id="1048657" name="Notes Placeholder 2"/>
          <p:cNvSpPr>
            <a:spLocks noGrp="1"/>
          </p:cNvSpPr>
          <p:nvPr>
            <p:ph type="body" idx="1"/>
          </p:nvPr>
        </p:nvSpPr>
        <p:spPr/>
        <p:txBody>
          <a:bodyPr/>
          <a:p>
            <a:endParaRPr dirty="0" lang="en-US"/>
          </a:p>
        </p:txBody>
      </p:sp>
      <p:sp>
        <p:nvSpPr>
          <p:cNvPr id="1048658"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66" name="Slide Image Placeholder 1"/>
          <p:cNvSpPr>
            <a:spLocks noChangeAspect="1" noRot="1" noGrp="1"/>
          </p:cNvSpPr>
          <p:nvPr>
            <p:ph type="sldImg"/>
          </p:nvPr>
        </p:nvSpPr>
        <p:spPr/>
      </p:sp>
      <p:sp>
        <p:nvSpPr>
          <p:cNvPr id="1048667" name="Notes Placeholder 2"/>
          <p:cNvSpPr>
            <a:spLocks noGrp="1"/>
          </p:cNvSpPr>
          <p:nvPr>
            <p:ph type="body" idx="1"/>
          </p:nvPr>
        </p:nvSpPr>
        <p:spPr/>
        <p:txBody>
          <a:bodyPr/>
          <a:p>
            <a:endParaRPr dirty="0" lang="en-US"/>
          </a:p>
        </p:txBody>
      </p:sp>
      <p:sp>
        <p:nvSpPr>
          <p:cNvPr id="1048668"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74" name="Slide Image Placeholder 1"/>
          <p:cNvSpPr>
            <a:spLocks noChangeAspect="1" noRot="1" noGrp="1"/>
          </p:cNvSpPr>
          <p:nvPr>
            <p:ph type="sldImg"/>
          </p:nvPr>
        </p:nvSpPr>
        <p:spPr/>
      </p:sp>
      <p:sp>
        <p:nvSpPr>
          <p:cNvPr id="1048675" name="Notes Placeholder 2"/>
          <p:cNvSpPr>
            <a:spLocks noGrp="1"/>
          </p:cNvSpPr>
          <p:nvPr>
            <p:ph type="body" idx="1"/>
          </p:nvPr>
        </p:nvSpPr>
        <p:spPr/>
        <p:txBody>
          <a:bodyPr/>
          <a:p>
            <a:endParaRPr dirty="0" lang="en-US"/>
          </a:p>
        </p:txBody>
      </p:sp>
      <p:sp>
        <p:nvSpPr>
          <p:cNvPr id="1048676"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710" name="Slide Image Placeholder 1"/>
          <p:cNvSpPr>
            <a:spLocks noChangeAspect="1" noRot="1" noGrp="1"/>
          </p:cNvSpPr>
          <p:nvPr>
            <p:ph type="sldImg"/>
          </p:nvPr>
        </p:nvSpPr>
        <p:spPr/>
      </p:sp>
      <p:sp>
        <p:nvSpPr>
          <p:cNvPr id="1048711" name="Notes Placeholder 2"/>
          <p:cNvSpPr>
            <a:spLocks noGrp="1"/>
          </p:cNvSpPr>
          <p:nvPr>
            <p:ph type="body" idx="1"/>
          </p:nvPr>
        </p:nvSpPr>
        <p:spPr/>
        <p:txBody>
          <a:bodyPr/>
          <a:p>
            <a:endParaRPr dirty="0" lang="en-US"/>
          </a:p>
        </p:txBody>
      </p:sp>
      <p:sp>
        <p:nvSpPr>
          <p:cNvPr id="1048712"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718" name="Slide Image Placeholder 1"/>
          <p:cNvSpPr>
            <a:spLocks noChangeAspect="1" noRot="1" noGrp="1"/>
          </p:cNvSpPr>
          <p:nvPr>
            <p:ph type="sldImg"/>
          </p:nvPr>
        </p:nvSpPr>
        <p:spPr/>
      </p:sp>
      <p:sp>
        <p:nvSpPr>
          <p:cNvPr id="1048719" name="Notes Placeholder 2"/>
          <p:cNvSpPr>
            <a:spLocks noGrp="1"/>
          </p:cNvSpPr>
          <p:nvPr>
            <p:ph type="body" idx="1"/>
          </p:nvPr>
        </p:nvSpPr>
        <p:spPr/>
        <p:txBody>
          <a:bodyPr/>
          <a:p>
            <a:endParaRPr dirty="0" lang="en-US"/>
          </a:p>
        </p:txBody>
      </p:sp>
      <p:sp>
        <p:nvSpPr>
          <p:cNvPr id="1048720"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725" name="Slide Image Placeholder 1"/>
          <p:cNvSpPr>
            <a:spLocks noChangeAspect="1" noRot="1" noGrp="1"/>
          </p:cNvSpPr>
          <p:nvPr>
            <p:ph type="sldImg"/>
          </p:nvPr>
        </p:nvSpPr>
        <p:spPr/>
      </p:sp>
      <p:sp>
        <p:nvSpPr>
          <p:cNvPr id="1048726" name="Notes Placeholder 2"/>
          <p:cNvSpPr>
            <a:spLocks noGrp="1"/>
          </p:cNvSpPr>
          <p:nvPr>
            <p:ph type="body" idx="1"/>
          </p:nvPr>
        </p:nvSpPr>
        <p:spPr/>
        <p:txBody>
          <a:bodyPr/>
          <a:p>
            <a:endParaRPr dirty="0" lang="en-US"/>
          </a:p>
        </p:txBody>
      </p:sp>
      <p:sp>
        <p:nvSpPr>
          <p:cNvPr id="1048727"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733" name="Slide Image Placeholder 1"/>
          <p:cNvSpPr>
            <a:spLocks noChangeAspect="1" noRot="1" noGrp="1"/>
          </p:cNvSpPr>
          <p:nvPr>
            <p:ph type="sldImg"/>
          </p:nvPr>
        </p:nvSpPr>
        <p:spPr/>
      </p:sp>
      <p:sp>
        <p:nvSpPr>
          <p:cNvPr id="1048734" name="Notes Placeholder 2"/>
          <p:cNvSpPr>
            <a:spLocks noGrp="1"/>
          </p:cNvSpPr>
          <p:nvPr>
            <p:ph type="body" idx="1"/>
          </p:nvPr>
        </p:nvSpPr>
        <p:spPr/>
        <p:txBody>
          <a:bodyPr/>
          <a:p>
            <a:endParaRPr dirty="0" lang="en-US"/>
          </a:p>
        </p:txBody>
      </p:sp>
      <p:sp>
        <p:nvSpPr>
          <p:cNvPr id="1048735" name="Slide Number Placeholder 3"/>
          <p:cNvSpPr>
            <a:spLocks noGrp="1"/>
          </p:cNvSpPr>
          <p:nvPr>
            <p:ph type="sldNum" sz="quarter" idx="10"/>
          </p:nvPr>
        </p:nvSpPr>
        <p:spPr/>
        <p:txBody>
          <a:bodyPr/>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741" name="Slide Image Placeholder 1"/>
          <p:cNvSpPr>
            <a:spLocks noChangeAspect="1" noRot="1" noGrp="1"/>
          </p:cNvSpPr>
          <p:nvPr>
            <p:ph type="sldImg"/>
          </p:nvPr>
        </p:nvSpPr>
        <p:spPr/>
      </p:sp>
      <p:sp>
        <p:nvSpPr>
          <p:cNvPr id="1048742" name="Notes Placeholder 2"/>
          <p:cNvSpPr>
            <a:spLocks noGrp="1"/>
          </p:cNvSpPr>
          <p:nvPr>
            <p:ph type="body" idx="1"/>
          </p:nvPr>
        </p:nvSpPr>
        <p:spPr/>
        <p:txBody>
          <a:bodyPr/>
          <a:p>
            <a:endParaRPr dirty="0" lang="en-US"/>
          </a:p>
        </p:txBody>
      </p:sp>
      <p:sp>
        <p:nvSpPr>
          <p:cNvPr id="1048743" name="Slide Number Placeholder 3"/>
          <p:cNvSpPr>
            <a:spLocks noGrp="1"/>
          </p:cNvSpPr>
          <p:nvPr>
            <p:ph type="sldNum" sz="quarter" idx="10"/>
          </p:nvPr>
        </p:nvSpPr>
        <p:spPr/>
        <p:txBody>
          <a:bodyPr/>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63" name="Slide Image Placeholder 1"/>
          <p:cNvSpPr>
            <a:spLocks noChangeAspect="1" noRot="1" noGrp="1"/>
          </p:cNvSpPr>
          <p:nvPr>
            <p:ph type="sldImg"/>
          </p:nvPr>
        </p:nvSpPr>
        <p:spPr/>
      </p:sp>
      <p:sp>
        <p:nvSpPr>
          <p:cNvPr id="1048764" name="Notes Placeholder 2"/>
          <p:cNvSpPr>
            <a:spLocks noGrp="1"/>
          </p:cNvSpPr>
          <p:nvPr>
            <p:ph type="body" idx="1"/>
          </p:nvPr>
        </p:nvSpPr>
        <p:spPr/>
        <p:txBody>
          <a:bodyPr/>
          <a:p>
            <a:endParaRPr dirty="0" lang="en-US"/>
          </a:p>
        </p:txBody>
      </p:sp>
      <p:sp>
        <p:nvSpPr>
          <p:cNvPr id="1048765" name="Slide Number Placeholder 3"/>
          <p:cNvSpPr>
            <a:spLocks noGrp="1"/>
          </p:cNvSpPr>
          <p:nvPr>
            <p:ph type="sldNum" sz="quarter" idx="10"/>
          </p:nvPr>
        </p:nvSpPr>
        <p:spPr/>
        <p:txBody>
          <a:bodyPr/>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78" name="Slide Image Placeholder 1"/>
          <p:cNvSpPr>
            <a:spLocks noChangeAspect="1" noRot="1" noGrp="1"/>
          </p:cNvSpPr>
          <p:nvPr>
            <p:ph type="sldImg"/>
          </p:nvPr>
        </p:nvSpPr>
        <p:spPr/>
      </p:sp>
      <p:sp>
        <p:nvSpPr>
          <p:cNvPr id="1048779" name="Notes Placeholder 2"/>
          <p:cNvSpPr>
            <a:spLocks noGrp="1"/>
          </p:cNvSpPr>
          <p:nvPr>
            <p:ph type="body" idx="1"/>
          </p:nvPr>
        </p:nvSpPr>
        <p:spPr/>
        <p:txBody>
          <a:bodyPr/>
          <a:p>
            <a:endParaRPr dirty="0" lang="en-US"/>
          </a:p>
        </p:txBody>
      </p:sp>
      <p:sp>
        <p:nvSpPr>
          <p:cNvPr id="1048780" name="Slide Number Placeholder 3"/>
          <p:cNvSpPr>
            <a:spLocks noGrp="1"/>
          </p:cNvSpPr>
          <p:nvPr>
            <p:ph type="sldNum" sz="quarter" idx="10"/>
          </p:nvPr>
        </p:nvSpPr>
        <p:spPr/>
        <p:txBody>
          <a:bodyPr/>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786" name="Slide Image Placeholder 1"/>
          <p:cNvSpPr>
            <a:spLocks noChangeAspect="1" noRot="1" noGrp="1"/>
          </p:cNvSpPr>
          <p:nvPr>
            <p:ph type="sldImg"/>
          </p:nvPr>
        </p:nvSpPr>
        <p:spPr/>
      </p:sp>
      <p:sp>
        <p:nvSpPr>
          <p:cNvPr id="1048787" name="Notes Placeholder 2"/>
          <p:cNvSpPr>
            <a:spLocks noGrp="1"/>
          </p:cNvSpPr>
          <p:nvPr>
            <p:ph type="body" idx="1"/>
          </p:nvPr>
        </p:nvSpPr>
        <p:spPr/>
        <p:txBody>
          <a:bodyPr/>
          <a:p>
            <a:endParaRPr dirty="0" lang="en-US"/>
          </a:p>
        </p:txBody>
      </p:sp>
      <p:sp>
        <p:nvSpPr>
          <p:cNvPr id="1048788" name="Slide Number Placeholder 3"/>
          <p:cNvSpPr>
            <a:spLocks noGrp="1"/>
          </p:cNvSpPr>
          <p:nvPr>
            <p:ph type="sldNum" sz="quarter" idx="10"/>
          </p:nvPr>
        </p:nvSpPr>
        <p:spPr/>
        <p:txBody>
          <a:bodyPr/>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794" name="Slide Image Placeholder 1"/>
          <p:cNvSpPr>
            <a:spLocks noChangeAspect="1" noRot="1" noGrp="1"/>
          </p:cNvSpPr>
          <p:nvPr>
            <p:ph type="sldImg"/>
          </p:nvPr>
        </p:nvSpPr>
        <p:spPr/>
      </p:sp>
      <p:sp>
        <p:nvSpPr>
          <p:cNvPr id="1048795" name="Notes Placeholder 2"/>
          <p:cNvSpPr>
            <a:spLocks noGrp="1"/>
          </p:cNvSpPr>
          <p:nvPr>
            <p:ph type="body" idx="1"/>
          </p:nvPr>
        </p:nvSpPr>
        <p:spPr/>
        <p:txBody>
          <a:bodyPr/>
          <a:p>
            <a:endParaRPr dirty="0" lang="en-US"/>
          </a:p>
        </p:txBody>
      </p:sp>
      <p:sp>
        <p:nvSpPr>
          <p:cNvPr id="1048796" name="Slide Number Placeholder 3"/>
          <p:cNvSpPr>
            <a:spLocks noGrp="1"/>
          </p:cNvSpPr>
          <p:nvPr>
            <p:ph type="sldNum" sz="quarter" idx="10"/>
          </p:nvPr>
        </p:nvSpPr>
        <p:spPr/>
        <p:txBody>
          <a:bodyPr/>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802" name="Slide Image Placeholder 1"/>
          <p:cNvSpPr>
            <a:spLocks noChangeAspect="1" noRot="1" noGrp="1"/>
          </p:cNvSpPr>
          <p:nvPr>
            <p:ph type="sldImg"/>
          </p:nvPr>
        </p:nvSpPr>
        <p:spPr/>
      </p:sp>
      <p:sp>
        <p:nvSpPr>
          <p:cNvPr id="1048803" name="Notes Placeholder 2"/>
          <p:cNvSpPr>
            <a:spLocks noGrp="1"/>
          </p:cNvSpPr>
          <p:nvPr>
            <p:ph type="body" idx="1"/>
          </p:nvPr>
        </p:nvSpPr>
        <p:spPr/>
        <p:txBody>
          <a:bodyPr/>
          <a:p>
            <a:endParaRPr dirty="0" lang="en-US"/>
          </a:p>
        </p:txBody>
      </p:sp>
      <p:sp>
        <p:nvSpPr>
          <p:cNvPr id="1048804" name="Slide Number Placeholder 3"/>
          <p:cNvSpPr>
            <a:spLocks noGrp="1"/>
          </p:cNvSpPr>
          <p:nvPr>
            <p:ph type="sldNum" sz="quarter" idx="10"/>
          </p:nvPr>
        </p:nvSpPr>
        <p:spPr/>
        <p:txBody>
          <a:bodyPr/>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810" name="Slide Image Placeholder 1"/>
          <p:cNvSpPr>
            <a:spLocks noChangeAspect="1" noRot="1" noGrp="1"/>
          </p:cNvSpPr>
          <p:nvPr>
            <p:ph type="sldImg"/>
          </p:nvPr>
        </p:nvSpPr>
        <p:spPr/>
      </p:sp>
      <p:sp>
        <p:nvSpPr>
          <p:cNvPr id="1048811" name="Notes Placeholder 2"/>
          <p:cNvSpPr>
            <a:spLocks noGrp="1"/>
          </p:cNvSpPr>
          <p:nvPr>
            <p:ph type="body" idx="1"/>
          </p:nvPr>
        </p:nvSpPr>
        <p:spPr/>
        <p:txBody>
          <a:bodyPr/>
          <a:p>
            <a:endParaRPr dirty="0" lang="en-US"/>
          </a:p>
        </p:txBody>
      </p:sp>
      <p:sp>
        <p:nvSpPr>
          <p:cNvPr id="1048812" name="Slide Number Placeholder 3"/>
          <p:cNvSpPr>
            <a:spLocks noGrp="1"/>
          </p:cNvSpPr>
          <p:nvPr>
            <p:ph type="sldNum" sz="quarter" idx="10"/>
          </p:nvPr>
        </p:nvSpPr>
        <p:spPr/>
        <p:txBody>
          <a:bodyPr/>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818" name="Slide Image Placeholder 1"/>
          <p:cNvSpPr>
            <a:spLocks noChangeAspect="1" noRot="1" noGrp="1"/>
          </p:cNvSpPr>
          <p:nvPr>
            <p:ph type="sldImg"/>
          </p:nvPr>
        </p:nvSpPr>
        <p:spPr/>
      </p:sp>
      <p:sp>
        <p:nvSpPr>
          <p:cNvPr id="1048819" name="Notes Placeholder 2"/>
          <p:cNvSpPr>
            <a:spLocks noGrp="1"/>
          </p:cNvSpPr>
          <p:nvPr>
            <p:ph type="body" idx="1"/>
          </p:nvPr>
        </p:nvSpPr>
        <p:spPr/>
        <p:txBody>
          <a:bodyPr/>
          <a:p>
            <a:endParaRPr dirty="0" lang="en-US"/>
          </a:p>
        </p:txBody>
      </p:sp>
      <p:sp>
        <p:nvSpPr>
          <p:cNvPr id="1048820" name="Slide Number Placeholder 3"/>
          <p:cNvSpPr>
            <a:spLocks noGrp="1"/>
          </p:cNvSpPr>
          <p:nvPr>
            <p:ph type="sldNum" sz="quarter" idx="10"/>
          </p:nvPr>
        </p:nvSpPr>
        <p:spPr/>
        <p:txBody>
          <a:bodyPr/>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826" name="Slide Image Placeholder 1"/>
          <p:cNvSpPr>
            <a:spLocks noChangeAspect="1" noRot="1" noGrp="1"/>
          </p:cNvSpPr>
          <p:nvPr>
            <p:ph type="sldImg"/>
          </p:nvPr>
        </p:nvSpPr>
        <p:spPr/>
      </p:sp>
      <p:sp>
        <p:nvSpPr>
          <p:cNvPr id="1048827" name="Notes Placeholder 2"/>
          <p:cNvSpPr>
            <a:spLocks noGrp="1"/>
          </p:cNvSpPr>
          <p:nvPr>
            <p:ph type="body" idx="1"/>
          </p:nvPr>
        </p:nvSpPr>
        <p:spPr/>
        <p:txBody>
          <a:bodyPr/>
          <a:p>
            <a:endParaRPr dirty="0" lang="en-US"/>
          </a:p>
        </p:txBody>
      </p:sp>
      <p:sp>
        <p:nvSpPr>
          <p:cNvPr id="1048828" name="Slide Number Placeholder 3"/>
          <p:cNvSpPr>
            <a:spLocks noGrp="1"/>
          </p:cNvSpPr>
          <p:nvPr>
            <p:ph type="sldNum" sz="quarter" idx="10"/>
          </p:nvPr>
        </p:nvSpPr>
        <p:spPr/>
        <p:txBody>
          <a:bodyPr/>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841" name="Slide Image Placeholder 1"/>
          <p:cNvSpPr>
            <a:spLocks noChangeAspect="1" noRot="1" noGrp="1"/>
          </p:cNvSpPr>
          <p:nvPr>
            <p:ph type="sldImg"/>
          </p:nvPr>
        </p:nvSpPr>
        <p:spPr/>
      </p:sp>
      <p:sp>
        <p:nvSpPr>
          <p:cNvPr id="1048842" name="Notes Placeholder 2"/>
          <p:cNvSpPr>
            <a:spLocks noGrp="1"/>
          </p:cNvSpPr>
          <p:nvPr>
            <p:ph type="body" idx="1"/>
          </p:nvPr>
        </p:nvSpPr>
        <p:spPr/>
        <p:txBody>
          <a:bodyPr/>
          <a:p>
            <a:endParaRPr dirty="0" lang="en-US"/>
          </a:p>
        </p:txBody>
      </p:sp>
      <p:sp>
        <p:nvSpPr>
          <p:cNvPr id="1048843" name="Slide Number Placeholder 3"/>
          <p:cNvSpPr>
            <a:spLocks noGrp="1"/>
          </p:cNvSpPr>
          <p:nvPr>
            <p:ph type="sldNum" sz="quarter" idx="10"/>
          </p:nvPr>
        </p:nvSpPr>
        <p:spPr/>
        <p:txBody>
          <a:bodyPr/>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849" name="Slide Image Placeholder 1"/>
          <p:cNvSpPr>
            <a:spLocks noChangeAspect="1" noRot="1" noGrp="1"/>
          </p:cNvSpPr>
          <p:nvPr>
            <p:ph type="sldImg"/>
          </p:nvPr>
        </p:nvSpPr>
        <p:spPr/>
      </p:sp>
      <p:sp>
        <p:nvSpPr>
          <p:cNvPr id="1048850" name="Notes Placeholder 2"/>
          <p:cNvSpPr>
            <a:spLocks noGrp="1"/>
          </p:cNvSpPr>
          <p:nvPr>
            <p:ph type="body" idx="1"/>
          </p:nvPr>
        </p:nvSpPr>
        <p:spPr/>
        <p:txBody>
          <a:bodyPr/>
          <a:p>
            <a:endParaRPr dirty="0" lang="en-US"/>
          </a:p>
        </p:txBody>
      </p:sp>
      <p:sp>
        <p:nvSpPr>
          <p:cNvPr id="1048851" name="Slide Number Placeholder 3"/>
          <p:cNvSpPr>
            <a:spLocks noGrp="1"/>
          </p:cNvSpPr>
          <p:nvPr>
            <p:ph type="sldNum" sz="quarter" idx="10"/>
          </p:nvPr>
        </p:nvSpPr>
        <p:spPr/>
        <p:txBody>
          <a:bodyPr/>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857" name="Slide Image Placeholder 1"/>
          <p:cNvSpPr>
            <a:spLocks noChangeAspect="1" noRot="1" noGrp="1"/>
          </p:cNvSpPr>
          <p:nvPr>
            <p:ph type="sldImg"/>
          </p:nvPr>
        </p:nvSpPr>
        <p:spPr/>
      </p:sp>
      <p:sp>
        <p:nvSpPr>
          <p:cNvPr id="1048858" name="Notes Placeholder 2"/>
          <p:cNvSpPr>
            <a:spLocks noGrp="1"/>
          </p:cNvSpPr>
          <p:nvPr>
            <p:ph type="body" idx="1"/>
          </p:nvPr>
        </p:nvSpPr>
        <p:spPr/>
        <p:txBody>
          <a:bodyPr/>
          <a:p>
            <a:endParaRPr dirty="0" lang="en-US"/>
          </a:p>
        </p:txBody>
      </p:sp>
      <p:sp>
        <p:nvSpPr>
          <p:cNvPr id="1048859" name="Slide Number Placeholder 3"/>
          <p:cNvSpPr>
            <a:spLocks noGrp="1"/>
          </p:cNvSpPr>
          <p:nvPr>
            <p:ph type="sldNum" sz="quarter" idx="10"/>
          </p:nvPr>
        </p:nvSpPr>
        <p:spPr/>
        <p:txBody>
          <a:bodyPr/>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864" name="Slide Image Placeholder 1"/>
          <p:cNvSpPr>
            <a:spLocks noChangeAspect="1" noRot="1" noGrp="1"/>
          </p:cNvSpPr>
          <p:nvPr>
            <p:ph type="sldImg"/>
          </p:nvPr>
        </p:nvSpPr>
        <p:spPr/>
      </p:sp>
      <p:sp>
        <p:nvSpPr>
          <p:cNvPr id="1048865" name="Notes Placeholder 2"/>
          <p:cNvSpPr>
            <a:spLocks noGrp="1"/>
          </p:cNvSpPr>
          <p:nvPr>
            <p:ph type="body" idx="1"/>
          </p:nvPr>
        </p:nvSpPr>
        <p:spPr/>
        <p:txBody>
          <a:bodyPr/>
          <a:p>
            <a:endParaRPr dirty="0" lang="en-US"/>
          </a:p>
        </p:txBody>
      </p:sp>
      <p:sp>
        <p:nvSpPr>
          <p:cNvPr id="1048866" name="Slide Number Placeholder 3"/>
          <p:cNvSpPr>
            <a:spLocks noGrp="1"/>
          </p:cNvSpPr>
          <p:nvPr>
            <p:ph type="sldNum" sz="quarter" idx="10"/>
          </p:nvPr>
        </p:nvSpPr>
        <p:spPr/>
        <p:txBody>
          <a:bodyPr/>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872" name="Slide Image Placeholder 1"/>
          <p:cNvSpPr>
            <a:spLocks noChangeAspect="1" noRot="1" noGrp="1"/>
          </p:cNvSpPr>
          <p:nvPr>
            <p:ph type="sldImg"/>
          </p:nvPr>
        </p:nvSpPr>
        <p:spPr/>
      </p:sp>
      <p:sp>
        <p:nvSpPr>
          <p:cNvPr id="1048873" name="Notes Placeholder 2"/>
          <p:cNvSpPr>
            <a:spLocks noGrp="1"/>
          </p:cNvSpPr>
          <p:nvPr>
            <p:ph type="body" idx="1"/>
          </p:nvPr>
        </p:nvSpPr>
        <p:spPr/>
        <p:txBody>
          <a:bodyPr/>
          <a:p>
            <a:endParaRPr dirty="0" lang="en-US"/>
          </a:p>
        </p:txBody>
      </p:sp>
      <p:sp>
        <p:nvSpPr>
          <p:cNvPr id="1048874" name="Slide Number Placeholder 3"/>
          <p:cNvSpPr>
            <a:spLocks noGrp="1"/>
          </p:cNvSpPr>
          <p:nvPr>
            <p:ph type="sldNum" sz="quarter" idx="10"/>
          </p:nvPr>
        </p:nvSpPr>
        <p:spPr/>
        <p:txBody>
          <a:bodyPr/>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899" name="Slide Image Placeholder 1"/>
          <p:cNvSpPr>
            <a:spLocks noChangeAspect="1" noRot="1" noGrp="1"/>
          </p:cNvSpPr>
          <p:nvPr>
            <p:ph type="sldImg"/>
          </p:nvPr>
        </p:nvSpPr>
        <p:spPr/>
      </p:sp>
      <p:sp>
        <p:nvSpPr>
          <p:cNvPr id="1048900" name="Notes Placeholder 2"/>
          <p:cNvSpPr>
            <a:spLocks noGrp="1"/>
          </p:cNvSpPr>
          <p:nvPr>
            <p:ph type="body" idx="1"/>
          </p:nvPr>
        </p:nvSpPr>
        <p:spPr/>
        <p:txBody>
          <a:bodyPr/>
          <a:p>
            <a:endParaRPr dirty="0" lang="en-US"/>
          </a:p>
        </p:txBody>
      </p:sp>
      <p:sp>
        <p:nvSpPr>
          <p:cNvPr id="1048901" name="Slide Number Placeholder 3"/>
          <p:cNvSpPr>
            <a:spLocks noGrp="1"/>
          </p:cNvSpPr>
          <p:nvPr>
            <p:ph type="sldNum" sz="quarter" idx="10"/>
          </p:nvPr>
        </p:nvSpPr>
        <p:spPr/>
        <p:txBody>
          <a:bodyPr/>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908" name="Slide Image Placeholder 1"/>
          <p:cNvSpPr>
            <a:spLocks noChangeAspect="1" noRot="1" noGrp="1"/>
          </p:cNvSpPr>
          <p:nvPr>
            <p:ph type="sldImg"/>
          </p:nvPr>
        </p:nvSpPr>
        <p:spPr/>
      </p:sp>
      <p:sp>
        <p:nvSpPr>
          <p:cNvPr id="1048909" name="Notes Placeholder 2"/>
          <p:cNvSpPr>
            <a:spLocks noGrp="1"/>
          </p:cNvSpPr>
          <p:nvPr>
            <p:ph type="body" idx="1"/>
          </p:nvPr>
        </p:nvSpPr>
        <p:spPr/>
        <p:txBody>
          <a:bodyPr/>
          <a:p>
            <a:endParaRPr dirty="0" lang="en-US"/>
          </a:p>
        </p:txBody>
      </p:sp>
      <p:sp>
        <p:nvSpPr>
          <p:cNvPr id="1048910" name="Slide Number Placeholder 3"/>
          <p:cNvSpPr>
            <a:spLocks noGrp="1"/>
          </p:cNvSpPr>
          <p:nvPr>
            <p:ph type="sldNum" sz="quarter" idx="10"/>
          </p:nvPr>
        </p:nvSpPr>
        <p:spPr/>
        <p:txBody>
          <a:bodyPr/>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919" name="Slide Image Placeholder 1"/>
          <p:cNvSpPr>
            <a:spLocks noChangeAspect="1" noRot="1" noGrp="1"/>
          </p:cNvSpPr>
          <p:nvPr>
            <p:ph type="sldImg"/>
          </p:nvPr>
        </p:nvSpPr>
        <p:spPr/>
      </p:sp>
      <p:sp>
        <p:nvSpPr>
          <p:cNvPr id="1048920" name="Notes Placeholder 2"/>
          <p:cNvSpPr>
            <a:spLocks noGrp="1"/>
          </p:cNvSpPr>
          <p:nvPr>
            <p:ph type="body" idx="1"/>
          </p:nvPr>
        </p:nvSpPr>
        <p:spPr/>
        <p:txBody>
          <a:bodyPr/>
          <a:p>
            <a:endParaRPr dirty="0" lang="en-US"/>
          </a:p>
        </p:txBody>
      </p:sp>
      <p:sp>
        <p:nvSpPr>
          <p:cNvPr id="1048921" name="Slide Number Placeholder 3"/>
          <p:cNvSpPr>
            <a:spLocks noGrp="1"/>
          </p:cNvSpPr>
          <p:nvPr>
            <p:ph type="sldNum" sz="quarter" idx="10"/>
          </p:nvPr>
        </p:nvSpPr>
        <p:spPr/>
        <p:txBody>
          <a:bodyPr/>
          <a:p>
            <a:fld id="{F7021451-1387-4CA6-816F-3879F97B5CBC}" type="slidenum">
              <a:rPr lang="en-US"/>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5" name=""/>
        <p:cNvGrpSpPr/>
        <p:nvPr/>
      </p:nvGrpSpPr>
      <p:grpSpPr>
        <a:xfrm>
          <a:off x="0" y="0"/>
          <a:ext cx="0" cy="0"/>
          <a:chOff x="0" y="0"/>
          <a:chExt cx="0" cy="0"/>
        </a:xfrm>
      </p:grpSpPr>
      <p:sp>
        <p:nvSpPr>
          <p:cNvPr id="1048576" name="Shape 0"/>
          <p:cNvSpPr/>
          <p:nvPr/>
        </p:nvSpPr>
        <p:spPr>
          <a:xfrm>
            <a:off x="0" y="0"/>
            <a:ext cx="4206240" cy="6858000"/>
          </a:xfrm>
          <a:prstGeom prst="rect"/>
          <a:solidFill>
            <a:srgbClr val="0A1D30"/>
          </a:solidFill>
        </p:spPr>
      </p:sp>
      <p:sp>
        <p:nvSpPr>
          <p:cNvPr id="1048577" name="Text 1"/>
          <p:cNvSpPr/>
          <p:nvPr/>
        </p:nvSpPr>
        <p:spPr>
          <a:xfrm>
            <a:off x="640080" y="2743200"/>
            <a:ext cx="3017520" cy="457200"/>
          </a:xfrm>
          <a:prstGeom prst="rect"/>
          <a:noFill/>
        </p:spPr>
        <p:txBody>
          <a:bodyPr anchor="ctr" bIns="0" lIns="0" rIns="0" rtlCol="0" tIns="0" wrap="square"/>
          <a:p>
            <a:pPr indent="0" marL="0">
              <a:buNone/>
            </a:pPr>
            <a:r>
              <a:rPr b="1" dirty="0" sz="1600" lang="en-US">
                <a:solidFill>
                  <a:srgbClr val="00B8A9"/>
                </a:solidFill>
                <a:latin typeface="Calibri" pitchFamily="34" charset="0"/>
                <a:ea typeface="Calibri" pitchFamily="34" charset="-122"/>
                <a:cs typeface="Calibri" pitchFamily="34" charset="-120"/>
              </a:rPr>
              <a:t>LECTURE 07</a:t>
            </a:r>
            <a:endParaRPr dirty="0" sz="1600" lang="en-US"/>
          </a:p>
        </p:txBody>
      </p:sp>
      <p:sp>
        <p:nvSpPr>
          <p:cNvPr id="1048578" name="Text 2"/>
          <p:cNvSpPr/>
          <p:nvPr/>
        </p:nvSpPr>
        <p:spPr>
          <a:xfrm>
            <a:off x="457200" y="3108960"/>
            <a:ext cx="3291840" cy="2011680"/>
          </a:xfrm>
          <a:prstGeom prst="rect"/>
          <a:noFill/>
        </p:spPr>
        <p:txBody>
          <a:bodyPr anchor="ctr" bIns="0" lIns="0" rIns="0" rtlCol="0" tIns="0" wrap="square"/>
          <a:p>
            <a:pPr indent="0" marL="0">
              <a:buNone/>
            </a:pPr>
            <a:r>
              <a:rPr b="1" dirty="0" sz="10000" lang="en-US">
                <a:solidFill>
                  <a:srgbClr val="1C3A55"/>
                </a:solidFill>
                <a:latin typeface="Calibri" pitchFamily="34" charset="0"/>
                <a:ea typeface="Calibri" pitchFamily="34" charset="-122"/>
                <a:cs typeface="Calibri" pitchFamily="34" charset="-120"/>
              </a:rPr>
              <a:t>07</a:t>
            </a:r>
            <a:endParaRPr dirty="0" sz="10000" lang="en-US"/>
          </a:p>
        </p:txBody>
      </p:sp>
      <p:sp>
        <p:nvSpPr>
          <p:cNvPr id="1048579" name="Text 3"/>
          <p:cNvSpPr/>
          <p:nvPr/>
        </p:nvSpPr>
        <p:spPr>
          <a:xfrm>
            <a:off x="4663440" y="2423160"/>
            <a:ext cx="6949440" cy="1463040"/>
          </a:xfrm>
          <a:prstGeom prst="rect"/>
          <a:noFill/>
        </p:spPr>
        <p:txBody>
          <a:bodyPr anchor="t" bIns="0" lIns="0" rIns="0" rtlCol="0" tIns="0" wrap="square"/>
          <a:p>
            <a:pPr indent="0" marL="0">
              <a:buNone/>
            </a:pPr>
            <a:r>
              <a:rPr b="1" dirty="0" sz="3400" lang="en-US">
                <a:solidFill>
                  <a:srgbClr val="FFFFFF"/>
                </a:solidFill>
                <a:latin typeface="Calibri" pitchFamily="34" charset="0"/>
                <a:ea typeface="Calibri" pitchFamily="34" charset="-122"/>
                <a:cs typeface="Calibri" pitchFamily="34" charset="-120"/>
              </a:rPr>
              <a:t>Enterprise Service Bus (ESB)</a:t>
            </a:r>
            <a:endParaRPr dirty="0" sz="3400" lang="en-US"/>
          </a:p>
        </p:txBody>
      </p:sp>
      <p:sp>
        <p:nvSpPr>
          <p:cNvPr id="1048580" name="Text 4"/>
          <p:cNvSpPr/>
          <p:nvPr/>
        </p:nvSpPr>
        <p:spPr>
          <a:xfrm>
            <a:off x="4709160" y="3977640"/>
            <a:ext cx="6766560" cy="1630058"/>
          </a:xfrm>
          <a:prstGeom prst="rect"/>
          <a:noFill/>
        </p:spPr>
        <p:txBody>
          <a:bodyPr anchor="t" bIns="0" lIns="0" rIns="0" rtlCol="0" tIns="0" wrap="square"/>
          <a:p>
            <a:pPr indent="0" marL="0">
              <a:lnSpc>
                <a:spcPct val="130000"/>
              </a:lnSpc>
              <a:buNone/>
            </a:pPr>
            <a:r>
              <a:rPr dirty="0" sz="2400" lang="en-US">
                <a:solidFill>
                  <a:srgbClr val="C7D0D9"/>
                </a:solidFill>
                <a:latin typeface="Calibri" pitchFamily="34" charset="0"/>
                <a:ea typeface="Calibri" pitchFamily="34" charset="-122"/>
                <a:cs typeface="Calibri" pitchFamily="34" charset="-120"/>
              </a:rPr>
              <a:t>The middleware backbone of classic SOA: architecture, core capabilities, integration patterns, routing, and mediation.</a:t>
            </a:r>
            <a:endParaRPr dirty="0" sz="24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38" name=""/>
        <p:cNvGrpSpPr/>
        <p:nvPr/>
      </p:nvGrpSpPr>
      <p:grpSpPr>
        <a:xfrm>
          <a:off x="0" y="0"/>
          <a:ext cx="0" cy="0"/>
          <a:chOff x="0" y="0"/>
          <a:chExt cx="0" cy="0"/>
        </a:xfrm>
      </p:grpSpPr>
      <p:sp>
        <p:nvSpPr>
          <p:cNvPr id="1048584" name="Text 0"/>
          <p:cNvSpPr/>
          <p:nvPr/>
        </p:nvSpPr>
        <p:spPr>
          <a:xfrm>
            <a:off x="548640" y="411480"/>
            <a:ext cx="5486400" cy="640080"/>
          </a:xfrm>
          <a:prstGeom prst="rect"/>
          <a:noFill/>
        </p:spPr>
        <p:txBody>
          <a:bodyPr anchor="ctr" bIns="0" lIns="0" rIns="0" rtlCol="0" tIns="0" wrap="square"/>
          <a:p>
            <a:pPr indent="0" marL="0">
              <a:buNone/>
            </a:pPr>
            <a:r>
              <a:rPr b="1" dirty="0" sz="3000" lang="en-US">
                <a:solidFill>
                  <a:srgbClr val="0F2942"/>
                </a:solidFill>
                <a:latin typeface="Calibri" pitchFamily="34" charset="0"/>
                <a:ea typeface="Calibri" pitchFamily="34" charset="-122"/>
                <a:cs typeface="Calibri" pitchFamily="34" charset="-120"/>
              </a:rPr>
              <a:t>Agenda</a:t>
            </a:r>
            <a:endParaRPr dirty="0" sz="3000" lang="en-US"/>
          </a:p>
        </p:txBody>
      </p:sp>
      <p:sp>
        <p:nvSpPr>
          <p:cNvPr id="1048585" name="Shape 1"/>
          <p:cNvSpPr/>
          <p:nvPr/>
        </p:nvSpPr>
        <p:spPr>
          <a:xfrm>
            <a:off x="566928" y="1097280"/>
            <a:ext cx="457200" cy="54864"/>
          </a:xfrm>
          <a:prstGeom prst="rect"/>
          <a:solidFill>
            <a:srgbClr val="00B8A9"/>
          </a:solidFill>
        </p:spPr>
      </p:sp>
      <p:sp>
        <p:nvSpPr>
          <p:cNvPr id="1048586" name="Shape 2"/>
          <p:cNvSpPr/>
          <p:nvPr/>
        </p:nvSpPr>
        <p:spPr>
          <a:xfrm>
            <a:off x="640080" y="1508760"/>
            <a:ext cx="457200" cy="457200"/>
          </a:xfrm>
          <a:prstGeom prst="roundRect">
            <a:avLst>
              <a:gd name="adj" fmla="val 16000"/>
            </a:avLst>
          </a:prstGeom>
          <a:solidFill>
            <a:srgbClr val="EAF6F5"/>
          </a:solidFill>
        </p:spPr>
      </p:sp>
      <p:sp>
        <p:nvSpPr>
          <p:cNvPr id="1048587" name="Text 3"/>
          <p:cNvSpPr/>
          <p:nvPr/>
        </p:nvSpPr>
        <p:spPr>
          <a:xfrm>
            <a:off x="640080" y="15087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1</a:t>
            </a:r>
            <a:endParaRPr dirty="0" sz="1600" lang="en-US"/>
          </a:p>
        </p:txBody>
      </p:sp>
      <p:sp>
        <p:nvSpPr>
          <p:cNvPr id="1048588" name="Text 4"/>
          <p:cNvSpPr/>
          <p:nvPr/>
        </p:nvSpPr>
        <p:spPr>
          <a:xfrm>
            <a:off x="1234440" y="1481328"/>
            <a:ext cx="9346474"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What problem does an ESB solve?</a:t>
            </a:r>
            <a:endParaRPr dirty="0" sz="2400" lang="en-US"/>
          </a:p>
        </p:txBody>
      </p:sp>
      <p:sp>
        <p:nvSpPr>
          <p:cNvPr id="1048589" name="Shape 5"/>
          <p:cNvSpPr/>
          <p:nvPr/>
        </p:nvSpPr>
        <p:spPr>
          <a:xfrm>
            <a:off x="640080" y="2301240"/>
            <a:ext cx="457200" cy="457200"/>
          </a:xfrm>
          <a:prstGeom prst="roundRect">
            <a:avLst>
              <a:gd name="adj" fmla="val 16000"/>
            </a:avLst>
          </a:prstGeom>
          <a:solidFill>
            <a:srgbClr val="EAF6F5"/>
          </a:solidFill>
        </p:spPr>
      </p:sp>
      <p:sp>
        <p:nvSpPr>
          <p:cNvPr id="1048590" name="Text 6"/>
          <p:cNvSpPr/>
          <p:nvPr/>
        </p:nvSpPr>
        <p:spPr>
          <a:xfrm>
            <a:off x="640080" y="230124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2</a:t>
            </a:r>
            <a:endParaRPr dirty="0" sz="1600" lang="en-US"/>
          </a:p>
        </p:txBody>
      </p:sp>
      <p:sp>
        <p:nvSpPr>
          <p:cNvPr id="1048591" name="Text 7"/>
          <p:cNvSpPr/>
          <p:nvPr/>
        </p:nvSpPr>
        <p:spPr>
          <a:xfrm>
            <a:off x="1234440" y="2273808"/>
            <a:ext cx="9346474"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Core ESB capabilities: routing, transformation, mediation</a:t>
            </a:r>
            <a:endParaRPr dirty="0" sz="2400" lang="en-US"/>
          </a:p>
        </p:txBody>
      </p:sp>
      <p:sp>
        <p:nvSpPr>
          <p:cNvPr id="1048592" name="Shape 8"/>
          <p:cNvSpPr/>
          <p:nvPr/>
        </p:nvSpPr>
        <p:spPr>
          <a:xfrm>
            <a:off x="640080" y="3093720"/>
            <a:ext cx="457200" cy="457200"/>
          </a:xfrm>
          <a:prstGeom prst="roundRect">
            <a:avLst>
              <a:gd name="adj" fmla="val 16000"/>
            </a:avLst>
          </a:prstGeom>
          <a:solidFill>
            <a:srgbClr val="EAF6F5"/>
          </a:solidFill>
        </p:spPr>
      </p:sp>
      <p:sp>
        <p:nvSpPr>
          <p:cNvPr id="1048593" name="Text 9"/>
          <p:cNvSpPr/>
          <p:nvPr/>
        </p:nvSpPr>
        <p:spPr>
          <a:xfrm>
            <a:off x="640080" y="309372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3</a:t>
            </a:r>
            <a:endParaRPr dirty="0" sz="1600" lang="en-US"/>
          </a:p>
        </p:txBody>
      </p:sp>
      <p:sp>
        <p:nvSpPr>
          <p:cNvPr id="1048594" name="Text 10"/>
          <p:cNvSpPr/>
          <p:nvPr/>
        </p:nvSpPr>
        <p:spPr>
          <a:xfrm>
            <a:off x="1234440" y="3066288"/>
            <a:ext cx="9346474"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ESB architecture and topologies</a:t>
            </a:r>
            <a:endParaRPr dirty="0" sz="2400" lang="en-US"/>
          </a:p>
        </p:txBody>
      </p:sp>
      <p:sp>
        <p:nvSpPr>
          <p:cNvPr id="1048595" name="Shape 11"/>
          <p:cNvSpPr/>
          <p:nvPr/>
        </p:nvSpPr>
        <p:spPr>
          <a:xfrm>
            <a:off x="640080" y="3886200"/>
            <a:ext cx="457200" cy="457200"/>
          </a:xfrm>
          <a:prstGeom prst="roundRect">
            <a:avLst>
              <a:gd name="adj" fmla="val 16000"/>
            </a:avLst>
          </a:prstGeom>
          <a:solidFill>
            <a:srgbClr val="EAF6F5"/>
          </a:solidFill>
        </p:spPr>
      </p:sp>
      <p:sp>
        <p:nvSpPr>
          <p:cNvPr id="1048596" name="Text 12"/>
          <p:cNvSpPr/>
          <p:nvPr/>
        </p:nvSpPr>
        <p:spPr>
          <a:xfrm>
            <a:off x="640080" y="388620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4</a:t>
            </a:r>
            <a:endParaRPr dirty="0" sz="1600" lang="en-US"/>
          </a:p>
        </p:txBody>
      </p:sp>
      <p:sp>
        <p:nvSpPr>
          <p:cNvPr id="1048597" name="Text 13"/>
          <p:cNvSpPr/>
          <p:nvPr/>
        </p:nvSpPr>
        <p:spPr>
          <a:xfrm>
            <a:off x="1234440" y="3858768"/>
            <a:ext cx="9346474"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Key enterprise integration patterns</a:t>
            </a:r>
            <a:endParaRPr dirty="0" sz="2400" lang="en-US"/>
          </a:p>
        </p:txBody>
      </p:sp>
      <p:sp>
        <p:nvSpPr>
          <p:cNvPr id="1048598" name="Shape 14"/>
          <p:cNvSpPr/>
          <p:nvPr/>
        </p:nvSpPr>
        <p:spPr>
          <a:xfrm>
            <a:off x="640080" y="4678680"/>
            <a:ext cx="457200" cy="457200"/>
          </a:xfrm>
          <a:prstGeom prst="roundRect">
            <a:avLst>
              <a:gd name="adj" fmla="val 16000"/>
            </a:avLst>
          </a:prstGeom>
          <a:solidFill>
            <a:srgbClr val="EAF6F5"/>
          </a:solidFill>
        </p:spPr>
      </p:sp>
      <p:sp>
        <p:nvSpPr>
          <p:cNvPr id="1048599" name="Text 15"/>
          <p:cNvSpPr/>
          <p:nvPr/>
        </p:nvSpPr>
        <p:spPr>
          <a:xfrm>
            <a:off x="640080" y="467868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5</a:t>
            </a:r>
            <a:endParaRPr dirty="0" sz="1600" lang="en-US"/>
          </a:p>
        </p:txBody>
      </p:sp>
      <p:sp>
        <p:nvSpPr>
          <p:cNvPr id="1048600" name="Text 16"/>
          <p:cNvSpPr/>
          <p:nvPr/>
        </p:nvSpPr>
        <p:spPr>
          <a:xfrm>
            <a:off x="1234440" y="4651248"/>
            <a:ext cx="9346474"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Protocol and data transformation</a:t>
            </a:r>
            <a:endParaRPr dirty="0" sz="2400" lang="en-US"/>
          </a:p>
        </p:txBody>
      </p:sp>
      <p:sp>
        <p:nvSpPr>
          <p:cNvPr id="1048601" name="Shape 17"/>
          <p:cNvSpPr/>
          <p:nvPr/>
        </p:nvSpPr>
        <p:spPr>
          <a:xfrm>
            <a:off x="640080" y="5471160"/>
            <a:ext cx="457200" cy="457200"/>
          </a:xfrm>
          <a:prstGeom prst="roundRect">
            <a:avLst>
              <a:gd name="adj" fmla="val 16000"/>
            </a:avLst>
          </a:prstGeom>
          <a:solidFill>
            <a:srgbClr val="EAF6F5"/>
          </a:solidFill>
        </p:spPr>
      </p:sp>
      <p:sp>
        <p:nvSpPr>
          <p:cNvPr id="1048602" name="Text 18"/>
          <p:cNvSpPr/>
          <p:nvPr/>
        </p:nvSpPr>
        <p:spPr>
          <a:xfrm>
            <a:off x="640080" y="54711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6</a:t>
            </a:r>
            <a:endParaRPr dirty="0" sz="1600" lang="en-US"/>
          </a:p>
        </p:txBody>
      </p:sp>
      <p:sp>
        <p:nvSpPr>
          <p:cNvPr id="1048603" name="Text 19"/>
          <p:cNvSpPr/>
          <p:nvPr/>
        </p:nvSpPr>
        <p:spPr>
          <a:xfrm>
            <a:off x="1234440" y="5443728"/>
            <a:ext cx="9346474"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ESB strengths, weaknesses, and modern alternatives</a:t>
            </a:r>
            <a:endParaRPr dirty="0" sz="2400" lang="en-US"/>
          </a:p>
        </p:txBody>
      </p:sp>
      <p:sp>
        <p:nvSpPr>
          <p:cNvPr id="1048604" name="Text 2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605" name="Text 2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a:t>
            </a:r>
            <a:endParaRPr dirty="0" sz="9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41" name=""/>
        <p:cNvGrpSpPr/>
        <p:nvPr/>
      </p:nvGrpSpPr>
      <p:grpSpPr>
        <a:xfrm>
          <a:off x="0" y="0"/>
          <a:ext cx="0" cy="0"/>
          <a:chOff x="0" y="0"/>
          <a:chExt cx="0" cy="0"/>
        </a:xfrm>
      </p:grpSpPr>
      <p:sp>
        <p:nvSpPr>
          <p:cNvPr id="104860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Recall: The Point-to-Point Integration Problem</a:t>
            </a:r>
            <a:endParaRPr dirty="0" sz="2600" lang="en-US"/>
          </a:p>
        </p:txBody>
      </p:sp>
      <p:sp>
        <p:nvSpPr>
          <p:cNvPr id="1048610" name="Shape 1"/>
          <p:cNvSpPr/>
          <p:nvPr/>
        </p:nvSpPr>
        <p:spPr>
          <a:xfrm>
            <a:off x="566928" y="1005840"/>
            <a:ext cx="411480" cy="45720"/>
          </a:xfrm>
          <a:prstGeom prst="rect"/>
          <a:solidFill>
            <a:srgbClr val="00B8A9"/>
          </a:solidFill>
        </p:spPr>
      </p:sp>
      <p:sp>
        <p:nvSpPr>
          <p:cNvPr id="104861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From Lecture 1: point-to-point integration between N systems can require N×(N-1)/2 custom connections</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Even after introducing services, someone still needs to route messages, transform data formats, and manage many-to-many connections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The Enterprise Service Bus was designed as the answer:</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 shared communication backbone that every service connects to once</a:t>
            </a:r>
            <a:endParaRPr dirty="0" sz="2800" lang="en-US"/>
          </a:p>
        </p:txBody>
      </p:sp>
      <p:sp>
        <p:nvSpPr>
          <p:cNvPr id="104861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61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a:t>
            </a:r>
            <a:endParaRPr dirty="0" sz="9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942"/>
        </a:solidFill>
        <a:effectLst/>
      </p:bgPr>
    </p:bg>
    <p:spTree>
      <p:nvGrpSpPr>
        <p:cNvPr id="44" name=""/>
        <p:cNvGrpSpPr/>
        <p:nvPr/>
      </p:nvGrpSpPr>
      <p:grpSpPr>
        <a:xfrm>
          <a:off x="0" y="0"/>
          <a:ext cx="0" cy="0"/>
          <a:chOff x="0" y="0"/>
          <a:chExt cx="0" cy="0"/>
        </a:xfrm>
      </p:grpSpPr>
      <p:sp>
        <p:nvSpPr>
          <p:cNvPr id="1048617" name="Shape 0"/>
          <p:cNvSpPr/>
          <p:nvPr/>
        </p:nvSpPr>
        <p:spPr>
          <a:xfrm>
            <a:off x="0" y="0"/>
            <a:ext cx="228600" cy="6858000"/>
          </a:xfrm>
          <a:prstGeom prst="rect"/>
          <a:solidFill>
            <a:srgbClr val="00B8A9"/>
          </a:solidFill>
        </p:spPr>
      </p:sp>
      <p:sp>
        <p:nvSpPr>
          <p:cNvPr id="1048618"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19"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Enterprise Service Bus (ESB)</a:t>
            </a:r>
            <a:endParaRPr dirty="0" sz="3000" lang="en-US"/>
          </a:p>
        </p:txBody>
      </p:sp>
      <p:sp>
        <p:nvSpPr>
          <p:cNvPr id="1048620"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 middleware architecture that provides a shared communication backbone for connecting, mediating, and managing interactions between disparate services and applications across an enterprise.”</a:t>
            </a:r>
            <a:endParaRPr dirty="0" sz="2400" lang="en-US"/>
          </a:p>
        </p:txBody>
      </p:sp>
      <p:sp>
        <p:nvSpPr>
          <p:cNvPr id="1048621"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The ESB decouples service providers from consumers: neither needs to know the other's location, protocol, or data format directly</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Think of it as the 'bus' in a hardware sense — many components plug into one shared communication channel</a:t>
            </a:r>
            <a:endParaRPr dirty="0" sz="2400" lang="en-US"/>
          </a:p>
        </p:txBody>
      </p:sp>
      <p:sp>
        <p:nvSpPr>
          <p:cNvPr id="1048622"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623"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4</a:t>
            </a:r>
            <a:endParaRPr dirty="0" sz="9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47" name=""/>
        <p:cNvGrpSpPr/>
        <p:nvPr/>
      </p:nvGrpSpPr>
      <p:grpSpPr>
        <a:xfrm>
          <a:off x="0" y="0"/>
          <a:ext cx="0" cy="0"/>
          <a:chOff x="0" y="0"/>
          <a:chExt cx="0" cy="0"/>
        </a:xfrm>
      </p:grpSpPr>
      <p:sp>
        <p:nvSpPr>
          <p:cNvPr id="104862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From Spaghetti to Bus: The Architectural Shift</a:t>
            </a:r>
            <a:endParaRPr dirty="0" sz="2600" lang="en-US"/>
          </a:p>
        </p:txBody>
      </p:sp>
      <p:sp>
        <p:nvSpPr>
          <p:cNvPr id="1048628" name="Shape 1"/>
          <p:cNvSpPr/>
          <p:nvPr/>
        </p:nvSpPr>
        <p:spPr>
          <a:xfrm>
            <a:off x="566928" y="1005840"/>
            <a:ext cx="411480" cy="45720"/>
          </a:xfrm>
          <a:prstGeom prst="rect"/>
          <a:solidFill>
            <a:srgbClr val="00B8A9"/>
          </a:solidFill>
        </p:spPr>
      </p:sp>
      <p:sp>
        <p:nvSpPr>
          <p:cNvPr id="1048629" name="Shape 2"/>
          <p:cNvSpPr/>
          <p:nvPr/>
        </p:nvSpPr>
        <p:spPr>
          <a:xfrm>
            <a:off x="822960" y="1325880"/>
            <a:ext cx="6949440" cy="2377440"/>
          </a:xfrm>
          <a:prstGeom prst="roundRect">
            <a:avLst>
              <a:gd name="adj" fmla="val 2692"/>
            </a:avLst>
          </a:prstGeom>
          <a:solidFill>
            <a:srgbClr val="D64550"/>
          </a:solidFill>
        </p:spPr>
      </p:sp>
      <p:sp>
        <p:nvSpPr>
          <p:cNvPr id="1048630" name="Text 3"/>
          <p:cNvSpPr/>
          <p:nvPr/>
        </p:nvSpPr>
        <p:spPr>
          <a:xfrm>
            <a:off x="1051560" y="1325880"/>
            <a:ext cx="6492240" cy="2377440"/>
          </a:xfrm>
          <a:prstGeom prst="rect"/>
          <a:noFill/>
        </p:spPr>
        <p:txBody>
          <a:bodyPr anchor="ctr" bIns="0" lIns="0" rIns="0" rtlCol="0" tIns="0" wrap="square"/>
          <a:p>
            <a:pPr indent="0" marL="0">
              <a:buNone/>
            </a:pPr>
            <a:r>
              <a:rPr b="1" dirty="0" sz="1600" lang="en-US">
                <a:solidFill>
                  <a:srgbClr val="FFFFFF"/>
                </a:solidFill>
                <a:latin typeface="Calibri" pitchFamily="34" charset="0"/>
                <a:ea typeface="Calibri" pitchFamily="34" charset="-122"/>
                <a:cs typeface="Calibri" pitchFamily="34" charset="-120"/>
              </a:rPr>
              <a:t>Before: N×N Point-to-Point Connections</a:t>
            </a:r>
            <a:endParaRPr dirty="0" sz="1600" lang="en-US"/>
          </a:p>
        </p:txBody>
      </p:sp>
      <p:sp>
        <p:nvSpPr>
          <p:cNvPr id="1048631" name="Text 4"/>
          <p:cNvSpPr/>
          <p:nvPr/>
        </p:nvSpPr>
        <p:spPr>
          <a:xfrm>
            <a:off x="1051560" y="1325880"/>
            <a:ext cx="6492240" cy="23774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Every system integrates </a:t>
            </a:r>
          </a:p>
          <a:p>
            <a:pPr algn="r" indent="0" marL="0">
              <a:buNone/>
            </a:pPr>
            <a:r>
              <a:rPr dirty="0" sz="1600" lang="en-US">
                <a:solidFill>
                  <a:srgbClr val="E4E9EE"/>
                </a:solidFill>
                <a:latin typeface="Calibri" pitchFamily="34" charset="0"/>
                <a:ea typeface="Calibri" pitchFamily="34" charset="-122"/>
                <a:cs typeface="Calibri" pitchFamily="34" charset="-120"/>
              </a:rPr>
              <a:t>directly with every other system</a:t>
            </a:r>
            <a:endParaRPr dirty="0" sz="1600" lang="en-US"/>
          </a:p>
        </p:txBody>
      </p:sp>
      <p:sp>
        <p:nvSpPr>
          <p:cNvPr id="1048632" name="Shape 5"/>
          <p:cNvSpPr/>
          <p:nvPr/>
        </p:nvSpPr>
        <p:spPr>
          <a:xfrm>
            <a:off x="822960" y="3840480"/>
            <a:ext cx="6949440" cy="2377440"/>
          </a:xfrm>
          <a:prstGeom prst="roundRect">
            <a:avLst>
              <a:gd name="adj" fmla="val 2692"/>
            </a:avLst>
          </a:prstGeom>
          <a:solidFill>
            <a:srgbClr val="00A79A"/>
          </a:solidFill>
        </p:spPr>
      </p:sp>
      <p:sp>
        <p:nvSpPr>
          <p:cNvPr id="1048633" name="Text 6"/>
          <p:cNvSpPr/>
          <p:nvPr/>
        </p:nvSpPr>
        <p:spPr>
          <a:xfrm>
            <a:off x="1051560" y="3840480"/>
            <a:ext cx="6492240" cy="2377440"/>
          </a:xfrm>
          <a:prstGeom prst="rect"/>
          <a:noFill/>
        </p:spPr>
        <p:txBody>
          <a:bodyPr anchor="ctr" bIns="0" lIns="0" rIns="0" rtlCol="0" tIns="0" wrap="square"/>
          <a:p>
            <a:pPr indent="0" marL="0">
              <a:buNone/>
            </a:pPr>
            <a:r>
              <a:rPr b="1" dirty="0" sz="1600" lang="en-US">
                <a:solidFill>
                  <a:srgbClr val="FFFFFF"/>
                </a:solidFill>
                <a:latin typeface="Calibri" pitchFamily="34" charset="0"/>
                <a:ea typeface="Calibri" pitchFamily="34" charset="-122"/>
                <a:cs typeface="Calibri" pitchFamily="34" charset="-120"/>
              </a:rPr>
              <a:t>After: One Shared ESB</a:t>
            </a:r>
            <a:endParaRPr dirty="0" sz="1600" lang="en-US"/>
          </a:p>
        </p:txBody>
      </p:sp>
      <p:sp>
        <p:nvSpPr>
          <p:cNvPr id="1048634" name="Text 7"/>
          <p:cNvSpPr/>
          <p:nvPr/>
        </p:nvSpPr>
        <p:spPr>
          <a:xfrm>
            <a:off x="1051560" y="3840480"/>
            <a:ext cx="6492240" cy="23774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Every system connects once to the bus; </a:t>
            </a:r>
          </a:p>
          <a:p>
            <a:pPr algn="r" indent="0" marL="0">
              <a:buNone/>
            </a:pPr>
            <a:r>
              <a:rPr dirty="0" sz="1600" lang="en-US">
                <a:solidFill>
                  <a:srgbClr val="E4E9EE"/>
                </a:solidFill>
                <a:latin typeface="Calibri" pitchFamily="34" charset="0"/>
                <a:ea typeface="Calibri" pitchFamily="34" charset="-122"/>
                <a:cs typeface="Calibri" pitchFamily="34" charset="-120"/>
              </a:rPr>
              <a:t>the bus handles routing between them</a:t>
            </a:r>
            <a:endParaRPr dirty="0" sz="1600" lang="en-US"/>
          </a:p>
        </p:txBody>
      </p:sp>
      <p:sp>
        <p:nvSpPr>
          <p:cNvPr id="1048635" name="Shape 8"/>
          <p:cNvSpPr/>
          <p:nvPr/>
        </p:nvSpPr>
        <p:spPr>
          <a:xfrm>
            <a:off x="8001000" y="1325880"/>
            <a:ext cx="3566160" cy="4892040"/>
          </a:xfrm>
          <a:prstGeom prst="roundRect">
            <a:avLst>
              <a:gd name="adj" fmla="val 2564"/>
            </a:avLst>
          </a:prstGeom>
          <a:solidFill>
            <a:srgbClr val="EAF6F5"/>
          </a:solidFill>
        </p:spPr>
      </p:sp>
      <p:sp>
        <p:nvSpPr>
          <p:cNvPr id="1048636" name="Text 9"/>
          <p:cNvSpPr/>
          <p:nvPr/>
        </p:nvSpPr>
        <p:spPr>
          <a:xfrm>
            <a:off x="8183880" y="1481328"/>
            <a:ext cx="3200400" cy="365760"/>
          </a:xfrm>
          <a:prstGeom prst="rect"/>
          <a:noFill/>
        </p:spPr>
        <p:txBody>
          <a:bodyPr anchor="ctr" bIns="0" lIns="0" rIns="0" rtlCol="0" tIns="0" wrap="square"/>
          <a:p>
            <a:pPr indent="0" marL="0">
              <a:buNone/>
            </a:pPr>
            <a:r>
              <a:rPr b="1" dirty="0" sz="2000" lang="en-US">
                <a:solidFill>
                  <a:srgbClr val="00B8A9"/>
                </a:solidFill>
                <a:latin typeface="Calibri" pitchFamily="34" charset="0"/>
                <a:ea typeface="Calibri" pitchFamily="34" charset="-122"/>
                <a:cs typeface="Calibri" pitchFamily="34" charset="-120"/>
              </a:rPr>
              <a:t>Why This Matters</a:t>
            </a:r>
            <a:endParaRPr dirty="0" sz="2000" lang="en-US"/>
          </a:p>
        </p:txBody>
      </p:sp>
      <p:sp>
        <p:nvSpPr>
          <p:cNvPr id="1048637" name="Text 10"/>
          <p:cNvSpPr/>
          <p:nvPr/>
        </p:nvSpPr>
        <p:spPr>
          <a:xfrm>
            <a:off x="8183880" y="1874520"/>
            <a:ext cx="3200400" cy="4206240"/>
          </a:xfrm>
          <a:prstGeom prst="rect"/>
          <a:noFill/>
        </p:spPr>
        <p:txBody>
          <a:bodyPr anchor="t" bIns="0" lIns="0" rIns="0" rtlCol="0" tIns="0" wrap="square"/>
          <a:p>
            <a:pPr indent="0" marL="0">
              <a:lnSpc>
                <a:spcPct val="125000"/>
              </a:lnSpc>
              <a:buNone/>
            </a:pPr>
            <a:r>
              <a:rPr dirty="0" sz="2000" lang="en-US">
                <a:solidFill>
                  <a:srgbClr val="33394A"/>
                </a:solidFill>
                <a:latin typeface="Calibri" pitchFamily="34" charset="0"/>
                <a:ea typeface="Calibri" pitchFamily="34" charset="-122"/>
                <a:cs typeface="Calibri" pitchFamily="34" charset="-120"/>
              </a:rPr>
              <a:t>Adding a new system now means writing one connection to the bus, not one connection to every existing system it needs to talk to. This is the single biggest structural benefit an ESB provides.</a:t>
            </a:r>
            <a:endParaRPr dirty="0" sz="2000" lang="en-US"/>
          </a:p>
        </p:txBody>
      </p:sp>
      <p:sp>
        <p:nvSpPr>
          <p:cNvPr id="1048638" name="Text 11"/>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639" name="Text 12"/>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5</a:t>
            </a:r>
            <a:endParaRPr dirty="0" sz="9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50" name=""/>
        <p:cNvGrpSpPr/>
        <p:nvPr/>
      </p:nvGrpSpPr>
      <p:grpSpPr>
        <a:xfrm>
          <a:off x="0" y="0"/>
          <a:ext cx="0" cy="0"/>
          <a:chOff x="0" y="0"/>
          <a:chExt cx="0" cy="0"/>
        </a:xfrm>
      </p:grpSpPr>
      <p:sp>
        <p:nvSpPr>
          <p:cNvPr id="104864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Core ESB Capabilities</a:t>
            </a:r>
            <a:endParaRPr dirty="0" sz="2600" lang="en-US"/>
          </a:p>
        </p:txBody>
      </p:sp>
      <p:sp>
        <p:nvSpPr>
          <p:cNvPr id="1048644" name="Shape 1"/>
          <p:cNvSpPr/>
          <p:nvPr/>
        </p:nvSpPr>
        <p:spPr>
          <a:xfrm>
            <a:off x="566928" y="1005840"/>
            <a:ext cx="411480" cy="45720"/>
          </a:xfrm>
          <a:prstGeom prst="rect"/>
          <a:solidFill>
            <a:srgbClr val="00B8A9"/>
          </a:solidFill>
        </p:spPr>
      </p:sp>
      <p:sp>
        <p:nvSpPr>
          <p:cNvPr id="1048645" name="Text 2"/>
          <p:cNvSpPr/>
          <p:nvPr/>
        </p:nvSpPr>
        <p:spPr>
          <a:xfrm>
            <a:off x="594360" y="1064626"/>
            <a:ext cx="10881360" cy="5473334"/>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Message Routing</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Directs a message to the correct destination(s) based on content or rules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Protocol Transformation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Converts between transport protocols (e.g., SOAP over HTTP to a message queue)</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Data Transformation (Mediation)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Converts message formats between what the sender produces and what the receiver expects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Orchestration support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Can coordinate multi-step interactions between services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Security enforcement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Centralized authentication, authorization, and encryption policy enforcement</a:t>
            </a:r>
            <a:endParaRPr dirty="0" sz="2800" lang="en-US"/>
          </a:p>
        </p:txBody>
      </p:sp>
      <p:sp>
        <p:nvSpPr>
          <p:cNvPr id="104864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64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6</a:t>
            </a:r>
            <a:endParaRPr dirty="0" sz="9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53" name=""/>
        <p:cNvGrpSpPr/>
        <p:nvPr/>
      </p:nvGrpSpPr>
      <p:grpSpPr>
        <a:xfrm>
          <a:off x="0" y="0"/>
          <a:ext cx="0" cy="0"/>
          <a:chOff x="0" y="0"/>
          <a:chExt cx="0" cy="0"/>
        </a:xfrm>
      </p:grpSpPr>
      <p:sp>
        <p:nvSpPr>
          <p:cNvPr id="104865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Message Routing in Depth</a:t>
            </a:r>
            <a:endParaRPr dirty="0" sz="2600" lang="en-US"/>
          </a:p>
        </p:txBody>
      </p:sp>
      <p:sp>
        <p:nvSpPr>
          <p:cNvPr id="1048652" name="Shape 1"/>
          <p:cNvSpPr/>
          <p:nvPr/>
        </p:nvSpPr>
        <p:spPr>
          <a:xfrm>
            <a:off x="566928" y="1005840"/>
            <a:ext cx="411480" cy="45720"/>
          </a:xfrm>
          <a:prstGeom prst="rect"/>
          <a:solidFill>
            <a:srgbClr val="00B8A9"/>
          </a:solidFill>
        </p:spPr>
      </p:sp>
      <p:sp>
        <p:nvSpPr>
          <p:cNvPr id="104865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Content-based routing</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Inspects the message content itself to decide the destination (e.g., route by 'region' field)</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Itinerary-based routing</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Message carries its own route — a defined sequence of stops it must pass through</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Rule-based routing</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Business rules (often externally configurable) determine the routing decision</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Routing logic lives centrally in the ESB, so individual services don't need to know about each other's existence</a:t>
            </a:r>
            <a:endParaRPr dirty="0" sz="2800" lang="en-US"/>
          </a:p>
        </p:txBody>
      </p:sp>
      <p:sp>
        <p:nvSpPr>
          <p:cNvPr id="104865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65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7</a:t>
            </a:r>
            <a:endParaRPr dirty="0" sz="9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942"/>
        </a:solidFill>
        <a:effectLst/>
      </p:bgPr>
    </p:bg>
    <p:spTree>
      <p:nvGrpSpPr>
        <p:cNvPr id="56" name=""/>
        <p:cNvGrpSpPr/>
        <p:nvPr/>
      </p:nvGrpSpPr>
      <p:grpSpPr>
        <a:xfrm>
          <a:off x="0" y="0"/>
          <a:ext cx="0" cy="0"/>
          <a:chOff x="0" y="0"/>
          <a:chExt cx="0" cy="0"/>
        </a:xfrm>
      </p:grpSpPr>
      <p:sp>
        <p:nvSpPr>
          <p:cNvPr id="1048659" name="Shape 0"/>
          <p:cNvSpPr/>
          <p:nvPr/>
        </p:nvSpPr>
        <p:spPr>
          <a:xfrm>
            <a:off x="0" y="0"/>
            <a:ext cx="228600" cy="6858000"/>
          </a:xfrm>
          <a:prstGeom prst="rect"/>
          <a:solidFill>
            <a:srgbClr val="00B8A9"/>
          </a:solidFill>
        </p:spPr>
      </p:sp>
      <p:sp>
        <p:nvSpPr>
          <p:cNvPr id="1048660"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61"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Mediation</a:t>
            </a:r>
            <a:endParaRPr dirty="0" sz="3000" lang="en-US"/>
          </a:p>
        </p:txBody>
      </p:sp>
      <p:sp>
        <p:nvSpPr>
          <p:cNvPr id="1048662"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process by which an ESB transforms, enriches, or adapts a message so that a service provider and consumer with different data formats or protocols can still interact successfully.”</a:t>
            </a:r>
            <a:endParaRPr dirty="0" sz="2400" lang="en-US"/>
          </a:p>
        </p:txBody>
      </p:sp>
      <p:sp>
        <p:nvSpPr>
          <p:cNvPr id="1048663"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Mediation is what allows a modern REST/JSON consumer to talk to a legacy SOAP/XML provider without either side changing</a:t>
            </a:r>
            <a:endParaRPr dirty="0" sz="2400" lang="en-US"/>
          </a:p>
        </p:txBody>
      </p:sp>
      <p:sp>
        <p:nvSpPr>
          <p:cNvPr id="1048664"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665"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8</a:t>
            </a:r>
            <a:endParaRPr dirty="0" sz="9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59" name=""/>
        <p:cNvGrpSpPr/>
        <p:nvPr/>
      </p:nvGrpSpPr>
      <p:grpSpPr>
        <a:xfrm>
          <a:off x="0" y="0"/>
          <a:ext cx="0" cy="0"/>
          <a:chOff x="0" y="0"/>
          <a:chExt cx="0" cy="0"/>
        </a:xfrm>
      </p:grpSpPr>
      <p:sp>
        <p:nvSpPr>
          <p:cNvPr id="104866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Types of Mediation</a:t>
            </a:r>
            <a:endParaRPr dirty="0" sz="2600" lang="en-US"/>
          </a:p>
        </p:txBody>
      </p:sp>
      <p:sp>
        <p:nvSpPr>
          <p:cNvPr id="1048670" name="Shape 1"/>
          <p:cNvSpPr/>
          <p:nvPr/>
        </p:nvSpPr>
        <p:spPr>
          <a:xfrm>
            <a:off x="566928" y="1005840"/>
            <a:ext cx="411480" cy="45720"/>
          </a:xfrm>
          <a:prstGeom prst="rect"/>
          <a:solidFill>
            <a:srgbClr val="00B8A9"/>
          </a:solidFill>
        </p:spPr>
      </p:sp>
      <p:sp>
        <p:nvSpPr>
          <p:cNvPr id="104867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Protocol mediation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e.g., translating an HTTP/REST call into a message-queue call</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Data format mediation</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e.g., converting a JSON payload into the XML structure a legacy SOAP service expects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Message enrichment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Adding data the message is missing by calling another service or a lookup table</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Message filtering</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Removing sensitive or unnecessary fields before forwarding a message onward</a:t>
            </a:r>
            <a:endParaRPr dirty="0" sz="2800" lang="en-US"/>
          </a:p>
        </p:txBody>
      </p:sp>
      <p:sp>
        <p:nvSpPr>
          <p:cNvPr id="104867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67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9</a:t>
            </a:r>
            <a:endParaRPr dirty="0" sz="9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62" name=""/>
        <p:cNvGrpSpPr/>
        <p:nvPr/>
      </p:nvGrpSpPr>
      <p:grpSpPr>
        <a:xfrm>
          <a:off x="0" y="0"/>
          <a:ext cx="0" cy="0"/>
          <a:chOff x="0" y="0"/>
          <a:chExt cx="0" cy="0"/>
        </a:xfrm>
      </p:grpSpPr>
      <p:sp>
        <p:nvSpPr>
          <p:cNvPr id="104867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 Message's Journey Through an ESB</a:t>
            </a:r>
            <a:endParaRPr dirty="0" sz="2600" lang="en-US"/>
          </a:p>
        </p:txBody>
      </p:sp>
      <p:sp>
        <p:nvSpPr>
          <p:cNvPr id="1048678" name="Shape 1"/>
          <p:cNvSpPr/>
          <p:nvPr/>
        </p:nvSpPr>
        <p:spPr>
          <a:xfrm>
            <a:off x="566928" y="1005840"/>
            <a:ext cx="411480" cy="45720"/>
          </a:xfrm>
          <a:prstGeom prst="rect"/>
          <a:solidFill>
            <a:srgbClr val="00B8A9"/>
          </a:solidFill>
        </p:spPr>
      </p:sp>
      <p:sp>
        <p:nvSpPr>
          <p:cNvPr id="1048679" name="Shape 2"/>
          <p:cNvSpPr/>
          <p:nvPr/>
        </p:nvSpPr>
        <p:spPr>
          <a:xfrm>
            <a:off x="594360" y="2377440"/>
            <a:ext cx="1920240" cy="2377440"/>
          </a:xfrm>
          <a:prstGeom prst="roundRect">
            <a:avLst>
              <a:gd name="adj" fmla="val 4286"/>
            </a:avLst>
          </a:prstGeom>
          <a:solidFill>
            <a:srgbClr val="0F2942"/>
          </a:solidFill>
        </p:spPr>
      </p:sp>
      <p:sp>
        <p:nvSpPr>
          <p:cNvPr id="1048680" name="Shape 3"/>
          <p:cNvSpPr/>
          <p:nvPr/>
        </p:nvSpPr>
        <p:spPr>
          <a:xfrm>
            <a:off x="1298448" y="2103120"/>
            <a:ext cx="512064" cy="512064"/>
          </a:xfrm>
          <a:prstGeom prst="ellipse"/>
          <a:solidFill>
            <a:srgbClr val="00B8A9"/>
          </a:solidFill>
          <a:ln w="25400">
            <a:solidFill>
              <a:srgbClr val="FFFFFF"/>
            </a:solidFill>
            <a:prstDash val="solid"/>
          </a:ln>
        </p:spPr>
      </p:sp>
      <p:sp>
        <p:nvSpPr>
          <p:cNvPr id="1048681" name="Text 4"/>
          <p:cNvSpPr/>
          <p:nvPr/>
        </p:nvSpPr>
        <p:spPr>
          <a:xfrm>
            <a:off x="129844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682" name="Text 5"/>
          <p:cNvSpPr/>
          <p:nvPr/>
        </p:nvSpPr>
        <p:spPr>
          <a:xfrm>
            <a:off x="73152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1. Receive</a:t>
            </a:r>
            <a:endParaRPr dirty="0" lang="en-US"/>
          </a:p>
        </p:txBody>
      </p:sp>
      <p:sp>
        <p:nvSpPr>
          <p:cNvPr id="1048683" name="Text 6"/>
          <p:cNvSpPr/>
          <p:nvPr/>
        </p:nvSpPr>
        <p:spPr>
          <a:xfrm>
            <a:off x="73152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ESB receives the message from the originating service/consumer.</a:t>
            </a:r>
            <a:endParaRPr dirty="0" sz="1600" lang="en-US"/>
          </a:p>
        </p:txBody>
      </p:sp>
      <p:sp>
        <p:nvSpPr>
          <p:cNvPr id="1048684" name="Text 7"/>
          <p:cNvSpPr/>
          <p:nvPr/>
        </p:nvSpPr>
        <p:spPr>
          <a:xfrm>
            <a:off x="251460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85" name="Shape 8"/>
          <p:cNvSpPr/>
          <p:nvPr/>
        </p:nvSpPr>
        <p:spPr>
          <a:xfrm>
            <a:off x="2834640" y="2377440"/>
            <a:ext cx="1920240" cy="2377440"/>
          </a:xfrm>
          <a:prstGeom prst="roundRect">
            <a:avLst>
              <a:gd name="adj" fmla="val 4286"/>
            </a:avLst>
          </a:prstGeom>
          <a:solidFill>
            <a:srgbClr val="44546A"/>
          </a:solidFill>
        </p:spPr>
      </p:sp>
      <p:sp>
        <p:nvSpPr>
          <p:cNvPr id="1048686" name="Shape 9"/>
          <p:cNvSpPr/>
          <p:nvPr/>
        </p:nvSpPr>
        <p:spPr>
          <a:xfrm>
            <a:off x="3538728" y="2103120"/>
            <a:ext cx="512064" cy="512064"/>
          </a:xfrm>
          <a:prstGeom prst="ellipse"/>
          <a:solidFill>
            <a:srgbClr val="00B8A9"/>
          </a:solidFill>
          <a:ln w="25400">
            <a:solidFill>
              <a:srgbClr val="FFFFFF"/>
            </a:solidFill>
            <a:prstDash val="solid"/>
          </a:ln>
        </p:spPr>
      </p:sp>
      <p:sp>
        <p:nvSpPr>
          <p:cNvPr id="1048687" name="Text 10"/>
          <p:cNvSpPr/>
          <p:nvPr/>
        </p:nvSpPr>
        <p:spPr>
          <a:xfrm>
            <a:off x="353872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688" name="Text 11"/>
          <p:cNvSpPr/>
          <p:nvPr/>
        </p:nvSpPr>
        <p:spPr>
          <a:xfrm>
            <a:off x="297180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2. Validate</a:t>
            </a:r>
            <a:endParaRPr dirty="0" lang="en-US"/>
          </a:p>
        </p:txBody>
      </p:sp>
      <p:sp>
        <p:nvSpPr>
          <p:cNvPr id="1048689" name="Text 12"/>
          <p:cNvSpPr/>
          <p:nvPr/>
        </p:nvSpPr>
        <p:spPr>
          <a:xfrm>
            <a:off x="297180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Message is checked against expected schema/security policy.</a:t>
            </a:r>
            <a:endParaRPr dirty="0" sz="1600" lang="en-US"/>
          </a:p>
        </p:txBody>
      </p:sp>
      <p:sp>
        <p:nvSpPr>
          <p:cNvPr id="1048690" name="Text 13"/>
          <p:cNvSpPr/>
          <p:nvPr/>
        </p:nvSpPr>
        <p:spPr>
          <a:xfrm>
            <a:off x="475488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91" name="Shape 14"/>
          <p:cNvSpPr/>
          <p:nvPr/>
        </p:nvSpPr>
        <p:spPr>
          <a:xfrm>
            <a:off x="5074920" y="2377440"/>
            <a:ext cx="1920240" cy="2377440"/>
          </a:xfrm>
          <a:prstGeom prst="roundRect">
            <a:avLst>
              <a:gd name="adj" fmla="val 4286"/>
            </a:avLst>
          </a:prstGeom>
          <a:solidFill>
            <a:srgbClr val="0F2942"/>
          </a:solidFill>
        </p:spPr>
      </p:sp>
      <p:sp>
        <p:nvSpPr>
          <p:cNvPr id="1048692" name="Shape 15"/>
          <p:cNvSpPr/>
          <p:nvPr/>
        </p:nvSpPr>
        <p:spPr>
          <a:xfrm>
            <a:off x="5779008" y="2103120"/>
            <a:ext cx="512064" cy="512064"/>
          </a:xfrm>
          <a:prstGeom prst="ellipse"/>
          <a:solidFill>
            <a:srgbClr val="00B8A9"/>
          </a:solidFill>
          <a:ln w="25400">
            <a:solidFill>
              <a:srgbClr val="FFFFFF"/>
            </a:solidFill>
            <a:prstDash val="solid"/>
          </a:ln>
        </p:spPr>
      </p:sp>
      <p:sp>
        <p:nvSpPr>
          <p:cNvPr id="1048693" name="Text 16"/>
          <p:cNvSpPr/>
          <p:nvPr/>
        </p:nvSpPr>
        <p:spPr>
          <a:xfrm>
            <a:off x="577900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694" name="Text 17"/>
          <p:cNvSpPr/>
          <p:nvPr/>
        </p:nvSpPr>
        <p:spPr>
          <a:xfrm>
            <a:off x="521208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3. Transform</a:t>
            </a:r>
            <a:endParaRPr dirty="0" lang="en-US"/>
          </a:p>
        </p:txBody>
      </p:sp>
      <p:sp>
        <p:nvSpPr>
          <p:cNvPr id="1048695" name="Text 18"/>
          <p:cNvSpPr/>
          <p:nvPr/>
        </p:nvSpPr>
        <p:spPr>
          <a:xfrm>
            <a:off x="521208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Data format/protocol is converted as needed for the target.</a:t>
            </a:r>
            <a:endParaRPr dirty="0" sz="1600" lang="en-US"/>
          </a:p>
        </p:txBody>
      </p:sp>
      <p:sp>
        <p:nvSpPr>
          <p:cNvPr id="1048696" name="Text 19"/>
          <p:cNvSpPr/>
          <p:nvPr/>
        </p:nvSpPr>
        <p:spPr>
          <a:xfrm>
            <a:off x="699516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97" name="Shape 20"/>
          <p:cNvSpPr/>
          <p:nvPr/>
        </p:nvSpPr>
        <p:spPr>
          <a:xfrm>
            <a:off x="7315200" y="2377440"/>
            <a:ext cx="1920240" cy="2377440"/>
          </a:xfrm>
          <a:prstGeom prst="roundRect">
            <a:avLst>
              <a:gd name="adj" fmla="val 4286"/>
            </a:avLst>
          </a:prstGeom>
          <a:solidFill>
            <a:srgbClr val="44546A"/>
          </a:solidFill>
        </p:spPr>
      </p:sp>
      <p:sp>
        <p:nvSpPr>
          <p:cNvPr id="1048698" name="Shape 21"/>
          <p:cNvSpPr/>
          <p:nvPr/>
        </p:nvSpPr>
        <p:spPr>
          <a:xfrm>
            <a:off x="8019288" y="2103120"/>
            <a:ext cx="512064" cy="512064"/>
          </a:xfrm>
          <a:prstGeom prst="ellipse"/>
          <a:solidFill>
            <a:srgbClr val="00B8A9"/>
          </a:solidFill>
          <a:ln w="25400">
            <a:solidFill>
              <a:srgbClr val="FFFFFF"/>
            </a:solidFill>
            <a:prstDash val="solid"/>
          </a:ln>
        </p:spPr>
      </p:sp>
      <p:sp>
        <p:nvSpPr>
          <p:cNvPr id="1048699" name="Text 22"/>
          <p:cNvSpPr/>
          <p:nvPr/>
        </p:nvSpPr>
        <p:spPr>
          <a:xfrm>
            <a:off x="801928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700" name="Text 23"/>
          <p:cNvSpPr/>
          <p:nvPr/>
        </p:nvSpPr>
        <p:spPr>
          <a:xfrm>
            <a:off x="745236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4. Route</a:t>
            </a:r>
            <a:endParaRPr dirty="0" lang="en-US"/>
          </a:p>
        </p:txBody>
      </p:sp>
      <p:sp>
        <p:nvSpPr>
          <p:cNvPr id="1048701" name="Text 24"/>
          <p:cNvSpPr/>
          <p:nvPr/>
        </p:nvSpPr>
        <p:spPr>
          <a:xfrm>
            <a:off x="745236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ESB determines the correct destination service.</a:t>
            </a:r>
            <a:endParaRPr dirty="0" sz="1600" lang="en-US"/>
          </a:p>
        </p:txBody>
      </p:sp>
      <p:sp>
        <p:nvSpPr>
          <p:cNvPr id="1048702" name="Text 25"/>
          <p:cNvSpPr/>
          <p:nvPr/>
        </p:nvSpPr>
        <p:spPr>
          <a:xfrm>
            <a:off x="923544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703" name="Shape 26"/>
          <p:cNvSpPr/>
          <p:nvPr/>
        </p:nvSpPr>
        <p:spPr>
          <a:xfrm>
            <a:off x="9555480" y="2377440"/>
            <a:ext cx="1920240" cy="2377440"/>
          </a:xfrm>
          <a:prstGeom prst="roundRect">
            <a:avLst>
              <a:gd name="adj" fmla="val 4286"/>
            </a:avLst>
          </a:prstGeom>
          <a:solidFill>
            <a:srgbClr val="0F2942"/>
          </a:solidFill>
        </p:spPr>
      </p:sp>
      <p:sp>
        <p:nvSpPr>
          <p:cNvPr id="1048704" name="Shape 27"/>
          <p:cNvSpPr/>
          <p:nvPr/>
        </p:nvSpPr>
        <p:spPr>
          <a:xfrm>
            <a:off x="10259568" y="2103120"/>
            <a:ext cx="512064" cy="512064"/>
          </a:xfrm>
          <a:prstGeom prst="ellipse"/>
          <a:solidFill>
            <a:srgbClr val="00B8A9"/>
          </a:solidFill>
          <a:ln w="25400">
            <a:solidFill>
              <a:srgbClr val="FFFFFF"/>
            </a:solidFill>
            <a:prstDash val="solid"/>
          </a:ln>
        </p:spPr>
      </p:sp>
      <p:sp>
        <p:nvSpPr>
          <p:cNvPr id="1048705" name="Text 28"/>
          <p:cNvSpPr/>
          <p:nvPr/>
        </p:nvSpPr>
        <p:spPr>
          <a:xfrm>
            <a:off x="1025956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706" name="Text 29"/>
          <p:cNvSpPr/>
          <p:nvPr/>
        </p:nvSpPr>
        <p:spPr>
          <a:xfrm>
            <a:off x="969264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5. Deliver</a:t>
            </a:r>
            <a:endParaRPr dirty="0" lang="en-US"/>
          </a:p>
        </p:txBody>
      </p:sp>
      <p:sp>
        <p:nvSpPr>
          <p:cNvPr id="1048707" name="Text 30"/>
          <p:cNvSpPr/>
          <p:nvPr/>
        </p:nvSpPr>
        <p:spPr>
          <a:xfrm>
            <a:off x="9692640" y="3246120"/>
            <a:ext cx="1645920" cy="1417320"/>
          </a:xfrm>
          <a:prstGeom prst="rect"/>
          <a:noFill/>
        </p:spPr>
        <p:txBody>
          <a:bodyPr anchor="t" bIns="0" lIns="0" rIns="0" rtlCol="0" tIns="0" wrap="square"/>
          <a:p>
            <a:pPr algn="ctr" indent="0" marL="0">
              <a:lnSpc>
                <a:spcPct val="115000"/>
              </a:lnSpc>
              <a:buNone/>
            </a:pPr>
            <a:r>
              <a:rPr dirty="0" sz="1600" lang="en-US">
                <a:solidFill>
                  <a:srgbClr val="D8DEE6"/>
                </a:solidFill>
                <a:latin typeface="Calibri" pitchFamily="34" charset="0"/>
                <a:ea typeface="Calibri" pitchFamily="34" charset="-122"/>
                <a:cs typeface="Calibri" pitchFamily="34" charset="-120"/>
              </a:rPr>
              <a:t>Transformed message is delivered to the destination service.</a:t>
            </a:r>
            <a:endParaRPr dirty="0" sz="1600" lang="en-US"/>
          </a:p>
        </p:txBody>
      </p:sp>
      <p:sp>
        <p:nvSpPr>
          <p:cNvPr id="1048708" name="Text 31"/>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09" name="Text 32"/>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10</a:t>
            </a:r>
            <a:endParaRPr dirty="0" sz="9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65" name=""/>
        <p:cNvGrpSpPr/>
        <p:nvPr/>
      </p:nvGrpSpPr>
      <p:grpSpPr>
        <a:xfrm>
          <a:off x="0" y="0"/>
          <a:ext cx="0" cy="0"/>
          <a:chOff x="0" y="0"/>
          <a:chExt cx="0" cy="0"/>
        </a:xfrm>
      </p:grpSpPr>
      <p:sp>
        <p:nvSpPr>
          <p:cNvPr id="104871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Enterprise Integration Patterns (EIP) — Overview</a:t>
            </a:r>
            <a:endParaRPr dirty="0" sz="2600" lang="en-US"/>
          </a:p>
        </p:txBody>
      </p:sp>
      <p:sp>
        <p:nvSpPr>
          <p:cNvPr id="1048714" name="Shape 1"/>
          <p:cNvSpPr/>
          <p:nvPr/>
        </p:nvSpPr>
        <p:spPr>
          <a:xfrm>
            <a:off x="566928" y="1005840"/>
            <a:ext cx="411480" cy="45720"/>
          </a:xfrm>
          <a:prstGeom prst="rect"/>
          <a:solidFill>
            <a:srgbClr val="00B8A9"/>
          </a:solidFill>
        </p:spPr>
      </p:sp>
      <p:sp>
        <p:nvSpPr>
          <p:cNvPr id="1048715"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A widely used catalog of reusable messaging design patterns, cataloged by Hohpe and Woolf, that ESBs commonly implement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Common categories: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Message Routing patterns (e.g., Content-Based Router, Splitter, Aggregator)</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Message Transformation patterns (e.g., Message Translator, Envelope Wrapper)</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Messaging Endpoint patterns (e.g., Messaging Gateway, Service Activator)</a:t>
            </a:r>
            <a:endParaRPr dirty="0" sz="2800" lang="en-US"/>
          </a:p>
        </p:txBody>
      </p:sp>
      <p:sp>
        <p:nvSpPr>
          <p:cNvPr id="104871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1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11</a:t>
            </a:r>
            <a:endParaRPr dirty="0" sz="90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68" name=""/>
        <p:cNvGrpSpPr/>
        <p:nvPr/>
      </p:nvGrpSpPr>
      <p:grpSpPr>
        <a:xfrm>
          <a:off x="0" y="0"/>
          <a:ext cx="0" cy="0"/>
          <a:chOff x="0" y="0"/>
          <a:chExt cx="0" cy="0"/>
        </a:xfrm>
      </p:grpSpPr>
      <p:sp>
        <p:nvSpPr>
          <p:cNvPr id="104872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Key Enterprise Integration Patterns</a:t>
            </a:r>
            <a:endParaRPr dirty="0" sz="2600" lang="en-US"/>
          </a:p>
        </p:txBody>
      </p:sp>
      <p:sp>
        <p:nvSpPr>
          <p:cNvPr id="1048722" name="Shape 1"/>
          <p:cNvSpPr/>
          <p:nvPr/>
        </p:nvSpPr>
        <p:spPr>
          <a:xfrm>
            <a:off x="566928" y="1005840"/>
            <a:ext cx="411480" cy="45720"/>
          </a:xfrm>
          <a:prstGeom prst="rect"/>
          <a:solidFill>
            <a:srgbClr val="00B8A9"/>
          </a:solidFill>
        </p:spPr>
      </p:sp>
      <p:graphicFrame>
        <p:nvGraphicFramePr>
          <p:cNvPr id="4194304" name="Table 0"/>
          <p:cNvGraphicFramePr>
            <a:graphicFrameLocks noGrp="1"/>
          </p:cNvGraphicFramePr>
          <p:nvPr/>
        </p:nvGraphicFramePr>
        <p:xfrm>
          <a:off x="548640" y="1325880"/>
          <a:ext cx="11064240" cy="4959531"/>
        </p:xfrm>
        <a:graphic>
          <a:graphicData uri="http://schemas.openxmlformats.org/drawingml/2006/table">
            <a:tbl>
              <a:tblPr/>
              <a:tblGrid>
                <a:gridCol w="5532120"/>
                <a:gridCol w="5532120"/>
              </a:tblGrid>
              <a:tr h="692331">
                <a:tc>
                  <a:txBody>
                    <a:bodyPr/>
                    <a:p>
                      <a:pPr indent="0" marL="0">
                        <a:buNone/>
                      </a:pPr>
                      <a:r>
                        <a:rPr b="1" dirty="0" sz="2000" lang="en-US">
                          <a:solidFill>
                            <a:srgbClr val="FFFFFF"/>
                          </a:solidFill>
                          <a:latin typeface="Calibri" pitchFamily="34" charset="0"/>
                          <a:ea typeface="Calibri" pitchFamily="34" charset="-122"/>
                          <a:cs typeface="Calibri" pitchFamily="34" charset="-120"/>
                        </a:rPr>
                        <a:t>Pattern</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000" lang="en-US">
                          <a:solidFill>
                            <a:srgbClr val="FFFFFF"/>
                          </a:solidFill>
                          <a:latin typeface="Calibri" pitchFamily="34" charset="0"/>
                          <a:ea typeface="Calibri" pitchFamily="34" charset="-122"/>
                          <a:cs typeface="Calibri" pitchFamily="34" charset="-120"/>
                        </a:rPr>
                        <a:t>Purpose</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692331">
                <a:tc>
                  <a:txBody>
                    <a:bodyPr/>
                    <a:p>
                      <a:pPr indent="0" marL="0">
                        <a:buNone/>
                      </a:pPr>
                      <a:r>
                        <a:rPr dirty="0" sz="2000" lang="en-US">
                          <a:solidFill>
                            <a:srgbClr val="1A1A2E"/>
                          </a:solidFill>
                          <a:latin typeface="Calibri" pitchFamily="34" charset="0"/>
                          <a:ea typeface="Calibri" pitchFamily="34" charset="-122"/>
                          <a:cs typeface="Calibri" pitchFamily="34" charset="-120"/>
                        </a:rPr>
                        <a:t>Content-Based Router</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Routes a message to one of several destinations based on its content</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000" lang="en-US">
                          <a:solidFill>
                            <a:srgbClr val="1A1A2E"/>
                          </a:solidFill>
                          <a:latin typeface="Calibri" pitchFamily="34" charset="0"/>
                          <a:ea typeface="Calibri" pitchFamily="34" charset="-122"/>
                          <a:cs typeface="Calibri" pitchFamily="34" charset="-120"/>
                        </a:rPr>
                        <a:t>Message Translator</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Converts a message from one format/schema to another</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692331">
                <a:tc>
                  <a:txBody>
                    <a:bodyPr/>
                    <a:p>
                      <a:pPr indent="0" marL="0">
                        <a:buNone/>
                      </a:pPr>
                      <a:r>
                        <a:rPr dirty="0" sz="2000" lang="en-US">
                          <a:solidFill>
                            <a:srgbClr val="1A1A2E"/>
                          </a:solidFill>
                          <a:latin typeface="Calibri" pitchFamily="34" charset="0"/>
                          <a:ea typeface="Calibri" pitchFamily="34" charset="-122"/>
                          <a:cs typeface="Calibri" pitchFamily="34" charset="-120"/>
                        </a:rPr>
                        <a:t>Splitter</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Breaks one composite message into several smaller messages</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000" lang="en-US">
                          <a:solidFill>
                            <a:srgbClr val="1A1A2E"/>
                          </a:solidFill>
                          <a:latin typeface="Calibri" pitchFamily="34" charset="0"/>
                          <a:ea typeface="Calibri" pitchFamily="34" charset="-122"/>
                          <a:cs typeface="Calibri" pitchFamily="34" charset="-120"/>
                        </a:rPr>
                        <a:t>Aggregator</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Combines multiple related messages into a single, correlated message</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692331">
                <a:tc>
                  <a:txBody>
                    <a:bodyPr/>
                    <a:p>
                      <a:pPr indent="0" marL="0">
                        <a:buNone/>
                      </a:pPr>
                      <a:r>
                        <a:rPr dirty="0" sz="2000" lang="en-US">
                          <a:solidFill>
                            <a:srgbClr val="1A1A2E"/>
                          </a:solidFill>
                          <a:latin typeface="Calibri" pitchFamily="34" charset="0"/>
                          <a:ea typeface="Calibri" pitchFamily="34" charset="-122"/>
                          <a:cs typeface="Calibri" pitchFamily="34" charset="-120"/>
                        </a:rPr>
                        <a:t>Message Filter</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Removes messages that do not meet certain criteria</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692331">
                <a:tc>
                  <a:txBody>
                    <a:bodyPr/>
                    <a:p>
                      <a:pPr indent="0" marL="0">
                        <a:buNone/>
                      </a:pPr>
                      <a:r>
                        <a:rPr dirty="0" sz="2000" lang="en-US">
                          <a:solidFill>
                            <a:srgbClr val="1A1A2E"/>
                          </a:solidFill>
                          <a:latin typeface="Calibri" pitchFamily="34" charset="0"/>
                          <a:ea typeface="Calibri" pitchFamily="34" charset="-122"/>
                          <a:cs typeface="Calibri" pitchFamily="34" charset="-120"/>
                        </a:rPr>
                        <a:t>Wire Tap</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000" lang="en-US">
                          <a:solidFill>
                            <a:srgbClr val="1A1A2E"/>
                          </a:solidFill>
                          <a:latin typeface="Calibri" pitchFamily="34" charset="0"/>
                          <a:ea typeface="Calibri" pitchFamily="34" charset="-122"/>
                          <a:cs typeface="Calibri" pitchFamily="34" charset="-120"/>
                        </a:rPr>
                        <a:t>Copies a message to a secondary channel (e.g., for auditing) without affecting the main flow</a:t>
                      </a:r>
                      <a:endParaRPr dirty="0" sz="20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bl>
          </a:graphicData>
        </a:graphic>
      </p:graphicFrame>
      <p:sp>
        <p:nvSpPr>
          <p:cNvPr id="1048723"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24"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12</a:t>
            </a:r>
            <a:endParaRPr dirty="0" sz="9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71" name=""/>
        <p:cNvGrpSpPr/>
        <p:nvPr/>
      </p:nvGrpSpPr>
      <p:grpSpPr>
        <a:xfrm>
          <a:off x="0" y="0"/>
          <a:ext cx="0" cy="0"/>
          <a:chOff x="0" y="0"/>
          <a:chExt cx="0" cy="0"/>
        </a:xfrm>
      </p:grpSpPr>
      <p:sp>
        <p:nvSpPr>
          <p:cNvPr id="104872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Content-Based Router — Example</a:t>
            </a:r>
            <a:endParaRPr dirty="0" sz="2600" lang="en-US"/>
          </a:p>
        </p:txBody>
      </p:sp>
      <p:sp>
        <p:nvSpPr>
          <p:cNvPr id="1048729" name="Shape 1"/>
          <p:cNvSpPr/>
          <p:nvPr/>
        </p:nvSpPr>
        <p:spPr>
          <a:xfrm>
            <a:off x="566928" y="1005840"/>
            <a:ext cx="411480" cy="45720"/>
          </a:xfrm>
          <a:prstGeom prst="rect"/>
          <a:solidFill>
            <a:srgbClr val="00B8A9"/>
          </a:solidFill>
        </p:spPr>
      </p:sp>
      <p:sp>
        <p:nvSpPr>
          <p:cNvPr id="1048730"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An incoming 'NewOrder' message may need to go to different fulfillment services depending on region</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The ESB inspects the order's 'region' field:</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region = "EU" → routes to EU fulfillment service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region = "US" → routes to US fulfillment service</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Neither the order-placing consumer nor the fulfillment services need to know about this routing logic — it lives entirely inside the bus</a:t>
            </a:r>
            <a:endParaRPr dirty="0" sz="2800" lang="en-US"/>
          </a:p>
        </p:txBody>
      </p:sp>
      <p:sp>
        <p:nvSpPr>
          <p:cNvPr id="1048731"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32"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13</a:t>
            </a:r>
            <a:endParaRPr dirty="0" sz="90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74" name=""/>
        <p:cNvGrpSpPr/>
        <p:nvPr/>
      </p:nvGrpSpPr>
      <p:grpSpPr>
        <a:xfrm>
          <a:off x="0" y="0"/>
          <a:ext cx="0" cy="0"/>
          <a:chOff x="0" y="0"/>
          <a:chExt cx="0" cy="0"/>
        </a:xfrm>
      </p:grpSpPr>
      <p:sp>
        <p:nvSpPr>
          <p:cNvPr id="104873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Aggregator Pattern — Example</a:t>
            </a:r>
            <a:endParaRPr dirty="0" sz="2600" lang="en-US"/>
          </a:p>
        </p:txBody>
      </p:sp>
      <p:sp>
        <p:nvSpPr>
          <p:cNvPr id="1048737" name="Shape 1"/>
          <p:cNvSpPr/>
          <p:nvPr/>
        </p:nvSpPr>
        <p:spPr>
          <a:xfrm>
            <a:off x="566928" y="1005840"/>
            <a:ext cx="411480" cy="45720"/>
          </a:xfrm>
          <a:prstGeom prst="rect"/>
          <a:solidFill>
            <a:srgbClr val="00B8A9"/>
          </a:solidFill>
        </p:spPr>
      </p:sp>
      <p:sp>
        <p:nvSpPr>
          <p:cNvPr id="104873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travel-booking process sends out separate requests to FlightService, HotelService, and CarRentalService</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Each returns its result independently and asynchronously</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The Aggregator pattern collects and correlates all three responses using a shared correlation ID, then combines them into a single itinerary response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pattern is essential whenever a business process needs to combine results from multiple, independently responding services</a:t>
            </a:r>
            <a:endParaRPr dirty="0" sz="2400" lang="en-US"/>
          </a:p>
        </p:txBody>
      </p:sp>
      <p:sp>
        <p:nvSpPr>
          <p:cNvPr id="104873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4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14</a:t>
            </a:r>
            <a:endParaRPr dirty="0" sz="900"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77" name=""/>
        <p:cNvGrpSpPr/>
        <p:nvPr/>
      </p:nvGrpSpPr>
      <p:grpSpPr>
        <a:xfrm>
          <a:off x="0" y="0"/>
          <a:ext cx="0" cy="0"/>
          <a:chOff x="0" y="0"/>
          <a:chExt cx="0" cy="0"/>
        </a:xfrm>
      </p:grpSpPr>
      <p:sp>
        <p:nvSpPr>
          <p:cNvPr id="104874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Typical ESB Architecture Components</a:t>
            </a:r>
            <a:endParaRPr dirty="0" sz="2600" lang="en-US"/>
          </a:p>
        </p:txBody>
      </p:sp>
      <p:sp>
        <p:nvSpPr>
          <p:cNvPr id="1048745" name="Shape 1"/>
          <p:cNvSpPr/>
          <p:nvPr/>
        </p:nvSpPr>
        <p:spPr>
          <a:xfrm>
            <a:off x="566928" y="1005840"/>
            <a:ext cx="411480" cy="45720"/>
          </a:xfrm>
          <a:prstGeom prst="rect"/>
          <a:solidFill>
            <a:srgbClr val="00B8A9"/>
          </a:solidFill>
        </p:spPr>
      </p:sp>
      <p:sp>
        <p:nvSpPr>
          <p:cNvPr id="1048746" name="Shape 2"/>
          <p:cNvSpPr/>
          <p:nvPr/>
        </p:nvSpPr>
        <p:spPr>
          <a:xfrm>
            <a:off x="822960" y="1325880"/>
            <a:ext cx="6949440" cy="1120140"/>
          </a:xfrm>
          <a:prstGeom prst="roundRect">
            <a:avLst>
              <a:gd name="adj" fmla="val 5714"/>
            </a:avLst>
          </a:prstGeom>
          <a:solidFill>
            <a:srgbClr val="0F2942"/>
          </a:solidFill>
        </p:spPr>
      </p:sp>
      <p:sp>
        <p:nvSpPr>
          <p:cNvPr id="1048747" name="Text 3"/>
          <p:cNvSpPr/>
          <p:nvPr/>
        </p:nvSpPr>
        <p:spPr>
          <a:xfrm>
            <a:off x="1051560" y="1325880"/>
            <a:ext cx="6492240" cy="11201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Adapters / Connectors</a:t>
            </a:r>
            <a:endParaRPr dirty="0" lang="en-US"/>
          </a:p>
        </p:txBody>
      </p:sp>
      <p:sp>
        <p:nvSpPr>
          <p:cNvPr id="1048748" name="Text 4"/>
          <p:cNvSpPr/>
          <p:nvPr/>
        </p:nvSpPr>
        <p:spPr>
          <a:xfrm>
            <a:off x="1051560" y="1325880"/>
            <a:ext cx="6492240" cy="112014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Plug legacy and modern</a:t>
            </a:r>
          </a:p>
          <a:p>
            <a:pPr algn="r" indent="0" marL="0">
              <a:buNone/>
            </a:pPr>
            <a:r>
              <a:rPr dirty="0" lang="en-US">
                <a:solidFill>
                  <a:srgbClr val="E4E9EE"/>
                </a:solidFill>
                <a:latin typeface="Calibri" pitchFamily="34" charset="0"/>
                <a:ea typeface="Calibri" pitchFamily="34" charset="-122"/>
                <a:cs typeface="Calibri" pitchFamily="34" charset="-120"/>
              </a:rPr>
              <a:t> systems into the bus</a:t>
            </a:r>
            <a:endParaRPr dirty="0" lang="en-US"/>
          </a:p>
        </p:txBody>
      </p:sp>
      <p:sp>
        <p:nvSpPr>
          <p:cNvPr id="1048749" name="Shape 5"/>
          <p:cNvSpPr/>
          <p:nvPr/>
        </p:nvSpPr>
        <p:spPr>
          <a:xfrm>
            <a:off x="822960" y="2583180"/>
            <a:ext cx="6949440" cy="1120140"/>
          </a:xfrm>
          <a:prstGeom prst="roundRect">
            <a:avLst>
              <a:gd name="adj" fmla="val 5714"/>
            </a:avLst>
          </a:prstGeom>
          <a:solidFill>
            <a:srgbClr val="44546A"/>
          </a:solidFill>
        </p:spPr>
      </p:sp>
      <p:sp>
        <p:nvSpPr>
          <p:cNvPr id="1048750" name="Text 6"/>
          <p:cNvSpPr/>
          <p:nvPr/>
        </p:nvSpPr>
        <p:spPr>
          <a:xfrm>
            <a:off x="1051560" y="2583180"/>
            <a:ext cx="6492240" cy="11201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Message Broker / Bus Core</a:t>
            </a:r>
            <a:endParaRPr dirty="0" lang="en-US"/>
          </a:p>
        </p:txBody>
      </p:sp>
      <p:sp>
        <p:nvSpPr>
          <p:cNvPr id="1048751" name="Text 7"/>
          <p:cNvSpPr/>
          <p:nvPr/>
        </p:nvSpPr>
        <p:spPr>
          <a:xfrm>
            <a:off x="1051560" y="2583180"/>
            <a:ext cx="6492240" cy="112014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Handles routing, </a:t>
            </a:r>
          </a:p>
          <a:p>
            <a:pPr algn="r" indent="0" marL="0">
              <a:buNone/>
            </a:pPr>
            <a:r>
              <a:rPr dirty="0" lang="en-US">
                <a:solidFill>
                  <a:srgbClr val="E4E9EE"/>
                </a:solidFill>
                <a:latin typeface="Calibri" pitchFamily="34" charset="0"/>
                <a:ea typeface="Calibri" pitchFamily="34" charset="-122"/>
                <a:cs typeface="Calibri" pitchFamily="34" charset="-120"/>
              </a:rPr>
              <a:t>queuing, and delivery</a:t>
            </a:r>
            <a:endParaRPr dirty="0" lang="en-US"/>
          </a:p>
        </p:txBody>
      </p:sp>
      <p:sp>
        <p:nvSpPr>
          <p:cNvPr id="1048752" name="Shape 8"/>
          <p:cNvSpPr/>
          <p:nvPr/>
        </p:nvSpPr>
        <p:spPr>
          <a:xfrm>
            <a:off x="822960" y="3840480"/>
            <a:ext cx="6949440" cy="1120140"/>
          </a:xfrm>
          <a:prstGeom prst="roundRect">
            <a:avLst>
              <a:gd name="adj" fmla="val 5714"/>
            </a:avLst>
          </a:prstGeom>
          <a:solidFill>
            <a:srgbClr val="44546A"/>
          </a:solidFill>
        </p:spPr>
      </p:sp>
      <p:sp>
        <p:nvSpPr>
          <p:cNvPr id="1048753" name="Text 9"/>
          <p:cNvSpPr/>
          <p:nvPr/>
        </p:nvSpPr>
        <p:spPr>
          <a:xfrm>
            <a:off x="1051560" y="3840480"/>
            <a:ext cx="6492240" cy="11201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Transformation Engine</a:t>
            </a:r>
            <a:endParaRPr dirty="0" lang="en-US"/>
          </a:p>
        </p:txBody>
      </p:sp>
      <p:sp>
        <p:nvSpPr>
          <p:cNvPr id="1048754" name="Text 10"/>
          <p:cNvSpPr/>
          <p:nvPr/>
        </p:nvSpPr>
        <p:spPr>
          <a:xfrm>
            <a:off x="1051560" y="3840480"/>
            <a:ext cx="6492240" cy="112014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Converts message formats </a:t>
            </a:r>
          </a:p>
          <a:p>
            <a:pPr algn="r" indent="0" marL="0">
              <a:buNone/>
            </a:pPr>
            <a:r>
              <a:rPr dirty="0" lang="en-US">
                <a:solidFill>
                  <a:srgbClr val="E4E9EE"/>
                </a:solidFill>
                <a:latin typeface="Calibri" pitchFamily="34" charset="0"/>
                <a:ea typeface="Calibri" pitchFamily="34" charset="-122"/>
                <a:cs typeface="Calibri" pitchFamily="34" charset="-120"/>
              </a:rPr>
              <a:t>and protocols</a:t>
            </a:r>
            <a:endParaRPr dirty="0" lang="en-US"/>
          </a:p>
        </p:txBody>
      </p:sp>
      <p:sp>
        <p:nvSpPr>
          <p:cNvPr id="1048755" name="Shape 11"/>
          <p:cNvSpPr/>
          <p:nvPr/>
        </p:nvSpPr>
        <p:spPr>
          <a:xfrm>
            <a:off x="822960" y="5097780"/>
            <a:ext cx="6949440" cy="1120140"/>
          </a:xfrm>
          <a:prstGeom prst="roundRect">
            <a:avLst>
              <a:gd name="adj" fmla="val 5714"/>
            </a:avLst>
          </a:prstGeom>
          <a:solidFill>
            <a:srgbClr val="44546A"/>
          </a:solidFill>
        </p:spPr>
      </p:sp>
      <p:sp>
        <p:nvSpPr>
          <p:cNvPr id="1048756" name="Text 12"/>
          <p:cNvSpPr/>
          <p:nvPr/>
        </p:nvSpPr>
        <p:spPr>
          <a:xfrm>
            <a:off x="1051560" y="5097780"/>
            <a:ext cx="6492240" cy="11201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Management &amp; Monitoring Console</a:t>
            </a:r>
            <a:endParaRPr dirty="0" lang="en-US"/>
          </a:p>
        </p:txBody>
      </p:sp>
      <p:sp>
        <p:nvSpPr>
          <p:cNvPr id="1048757" name="Text 13"/>
          <p:cNvSpPr/>
          <p:nvPr/>
        </p:nvSpPr>
        <p:spPr>
          <a:xfrm>
            <a:off x="1051560" y="5097780"/>
            <a:ext cx="6492240" cy="1120140"/>
          </a:xfrm>
          <a:prstGeom prst="rect"/>
          <a:noFill/>
        </p:spPr>
        <p:txBody>
          <a:bodyPr anchor="ctr" bIns="0" lIns="0" rIns="0" rtlCol="0" tIns="0" wrap="square"/>
          <a:p>
            <a:pPr algn="r" indent="0" marL="0">
              <a:buNone/>
            </a:pPr>
            <a:r>
              <a:rPr dirty="0" lang="en-US">
                <a:solidFill>
                  <a:srgbClr val="E4E9EE"/>
                </a:solidFill>
                <a:latin typeface="Calibri" pitchFamily="34" charset="0"/>
                <a:ea typeface="Calibri" pitchFamily="34" charset="-122"/>
                <a:cs typeface="Calibri" pitchFamily="34" charset="-120"/>
              </a:rPr>
              <a:t>Configuration, monitoring, </a:t>
            </a:r>
          </a:p>
          <a:p>
            <a:pPr algn="r" indent="0" marL="0">
              <a:buNone/>
            </a:pPr>
            <a:r>
              <a:rPr dirty="0" lang="en-US">
                <a:solidFill>
                  <a:srgbClr val="E4E9EE"/>
                </a:solidFill>
                <a:latin typeface="Calibri" pitchFamily="34" charset="0"/>
                <a:ea typeface="Calibri" pitchFamily="34" charset="-122"/>
                <a:cs typeface="Calibri" pitchFamily="34" charset="-120"/>
              </a:rPr>
              <a:t>and governance tools</a:t>
            </a:r>
            <a:endParaRPr dirty="0" lang="en-US"/>
          </a:p>
        </p:txBody>
      </p:sp>
      <p:sp>
        <p:nvSpPr>
          <p:cNvPr id="1048758" name="Shape 14"/>
          <p:cNvSpPr/>
          <p:nvPr/>
        </p:nvSpPr>
        <p:spPr>
          <a:xfrm>
            <a:off x="8001000" y="1325880"/>
            <a:ext cx="3566160" cy="4892040"/>
          </a:xfrm>
          <a:prstGeom prst="roundRect">
            <a:avLst>
              <a:gd name="adj" fmla="val 2564"/>
            </a:avLst>
          </a:prstGeom>
          <a:solidFill>
            <a:srgbClr val="EAF6F5"/>
          </a:solidFill>
        </p:spPr>
      </p:sp>
      <p:sp>
        <p:nvSpPr>
          <p:cNvPr id="1048759" name="Text 15"/>
          <p:cNvSpPr/>
          <p:nvPr/>
        </p:nvSpPr>
        <p:spPr>
          <a:xfrm>
            <a:off x="8183880" y="1481328"/>
            <a:ext cx="3200400" cy="365760"/>
          </a:xfrm>
          <a:prstGeom prst="rect"/>
          <a:noFill/>
        </p:spPr>
        <p:txBody>
          <a:bodyPr anchor="ctr" bIns="0" lIns="0" rIns="0" rtlCol="0" tIns="0" wrap="square"/>
          <a:p>
            <a:pPr indent="0" marL="0">
              <a:buNone/>
            </a:pPr>
            <a:r>
              <a:rPr b="1" dirty="0" sz="2000" lang="en-US">
                <a:solidFill>
                  <a:srgbClr val="00B8A9"/>
                </a:solidFill>
                <a:latin typeface="Calibri" pitchFamily="34" charset="0"/>
                <a:ea typeface="Calibri" pitchFamily="34" charset="-122"/>
                <a:cs typeface="Calibri" pitchFamily="34" charset="-120"/>
              </a:rPr>
              <a:t>Note</a:t>
            </a:r>
            <a:endParaRPr dirty="0" sz="2000" lang="en-US"/>
          </a:p>
        </p:txBody>
      </p:sp>
      <p:sp>
        <p:nvSpPr>
          <p:cNvPr id="1048760" name="Text 16"/>
          <p:cNvSpPr/>
          <p:nvPr/>
        </p:nvSpPr>
        <p:spPr>
          <a:xfrm>
            <a:off x="8183880" y="1874520"/>
            <a:ext cx="3200400" cy="4206240"/>
          </a:xfrm>
          <a:prstGeom prst="rect"/>
          <a:noFill/>
        </p:spPr>
        <p:txBody>
          <a:bodyPr anchor="t" bIns="0" lIns="0" rIns="0" rtlCol="0" tIns="0" wrap="square"/>
          <a:p>
            <a:pPr indent="0" marL="0">
              <a:lnSpc>
                <a:spcPct val="125000"/>
              </a:lnSpc>
              <a:buNone/>
            </a:pPr>
            <a:r>
              <a:rPr dirty="0" sz="2000" lang="en-US">
                <a:solidFill>
                  <a:srgbClr val="33394A"/>
                </a:solidFill>
                <a:latin typeface="Calibri" pitchFamily="34" charset="0"/>
                <a:ea typeface="Calibri" pitchFamily="34" charset="-122"/>
                <a:cs typeface="Calibri" pitchFamily="34" charset="-120"/>
              </a:rPr>
              <a:t>Different ESB products (e.g., IBM Integration Bus, MuleSoft, Oracle Service Bus) package these components differently, but nearly all commercial ESBs include these four functional areas.</a:t>
            </a:r>
            <a:endParaRPr dirty="0" sz="2000" lang="en-US"/>
          </a:p>
        </p:txBody>
      </p:sp>
      <p:sp>
        <p:nvSpPr>
          <p:cNvPr id="1048761" name="Text 17"/>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62" name="Text 18"/>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15</a:t>
            </a:r>
            <a:endParaRPr dirty="0" sz="90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80" name=""/>
        <p:cNvGrpSpPr/>
        <p:nvPr/>
      </p:nvGrpSpPr>
      <p:grpSpPr>
        <a:xfrm>
          <a:off x="0" y="0"/>
          <a:ext cx="0" cy="0"/>
          <a:chOff x="0" y="0"/>
          <a:chExt cx="0" cy="0"/>
        </a:xfrm>
      </p:grpSpPr>
      <p:sp>
        <p:nvSpPr>
          <p:cNvPr id="104876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Centralized ESB vs. Distributed Integration</a:t>
            </a:r>
            <a:endParaRPr dirty="0" sz="2600" lang="en-US"/>
          </a:p>
        </p:txBody>
      </p:sp>
      <p:sp>
        <p:nvSpPr>
          <p:cNvPr id="1048767" name="Shape 1"/>
          <p:cNvSpPr/>
          <p:nvPr/>
        </p:nvSpPr>
        <p:spPr>
          <a:xfrm>
            <a:off x="566928" y="1005840"/>
            <a:ext cx="411480" cy="45720"/>
          </a:xfrm>
          <a:prstGeom prst="rect"/>
          <a:solidFill>
            <a:srgbClr val="00B8A9"/>
          </a:solidFill>
        </p:spPr>
      </p:sp>
      <p:sp>
        <p:nvSpPr>
          <p:cNvPr id="1048768" name="Shape 2"/>
          <p:cNvSpPr/>
          <p:nvPr/>
        </p:nvSpPr>
        <p:spPr>
          <a:xfrm>
            <a:off x="548640" y="1325880"/>
            <a:ext cx="5349240" cy="594360"/>
          </a:xfrm>
          <a:prstGeom prst="roundRect">
            <a:avLst>
              <a:gd name="adj" fmla="val 12308"/>
            </a:avLst>
          </a:prstGeom>
          <a:solidFill>
            <a:srgbClr val="44546A"/>
          </a:solidFill>
        </p:spPr>
      </p:sp>
      <p:sp>
        <p:nvSpPr>
          <p:cNvPr id="1048769" name="Text 3"/>
          <p:cNvSpPr/>
          <p:nvPr/>
        </p:nvSpPr>
        <p:spPr>
          <a:xfrm>
            <a:off x="548640" y="1325880"/>
            <a:ext cx="5349240" cy="594360"/>
          </a:xfrm>
          <a:prstGeom prst="rect"/>
          <a:noFill/>
        </p:spPr>
        <p:txBody>
          <a:bodyPr anchor="ctr" bIns="0" lIns="0" rIns="0" rtlCol="0" tIns="0" wrap="square"/>
          <a:p>
            <a:pPr algn="ctr" indent="0" marL="0">
              <a:buNone/>
            </a:pPr>
            <a:r>
              <a:rPr b="1" dirty="0" sz="1700" lang="en-US">
                <a:solidFill>
                  <a:srgbClr val="FFFFFF"/>
                </a:solidFill>
                <a:latin typeface="Calibri" pitchFamily="34" charset="0"/>
                <a:ea typeface="Calibri" pitchFamily="34" charset="-122"/>
                <a:cs typeface="Calibri" pitchFamily="34" charset="-120"/>
              </a:rPr>
              <a:t>Centralized ESB</a:t>
            </a:r>
            <a:endParaRPr dirty="0" sz="1700" lang="en-US"/>
          </a:p>
        </p:txBody>
      </p:sp>
      <p:sp>
        <p:nvSpPr>
          <p:cNvPr id="1048770" name="Shape 4"/>
          <p:cNvSpPr/>
          <p:nvPr/>
        </p:nvSpPr>
        <p:spPr>
          <a:xfrm>
            <a:off x="6263640" y="1325880"/>
            <a:ext cx="5349240" cy="594360"/>
          </a:xfrm>
          <a:prstGeom prst="roundRect">
            <a:avLst>
              <a:gd name="adj" fmla="val 12308"/>
            </a:avLst>
          </a:prstGeom>
          <a:solidFill>
            <a:srgbClr val="00A79A"/>
          </a:solidFill>
        </p:spPr>
      </p:sp>
      <p:sp>
        <p:nvSpPr>
          <p:cNvPr id="1048771" name="Text 5"/>
          <p:cNvSpPr/>
          <p:nvPr/>
        </p:nvSpPr>
        <p:spPr>
          <a:xfrm>
            <a:off x="6263640" y="1325880"/>
            <a:ext cx="5349240" cy="594360"/>
          </a:xfrm>
          <a:prstGeom prst="rect"/>
          <a:noFill/>
        </p:spPr>
        <p:txBody>
          <a:bodyPr anchor="ctr" bIns="0" lIns="0" rIns="0" rtlCol="0" tIns="0" wrap="square"/>
          <a:p>
            <a:pPr algn="ctr" indent="0" marL="0">
              <a:buNone/>
            </a:pPr>
            <a:r>
              <a:rPr b="1" dirty="0" sz="1700" lang="en-US">
                <a:solidFill>
                  <a:srgbClr val="FFFFFF"/>
                </a:solidFill>
                <a:latin typeface="Calibri" pitchFamily="34" charset="0"/>
                <a:ea typeface="Calibri" pitchFamily="34" charset="-122"/>
                <a:cs typeface="Calibri" pitchFamily="34" charset="-120"/>
              </a:rPr>
              <a:t>Distributed Integration (e.g., microservices + API Gateway)</a:t>
            </a:r>
            <a:endParaRPr dirty="0" sz="1700" lang="en-US"/>
          </a:p>
        </p:txBody>
      </p:sp>
      <p:sp>
        <p:nvSpPr>
          <p:cNvPr id="1048772" name="Shape 6"/>
          <p:cNvSpPr/>
          <p:nvPr/>
        </p:nvSpPr>
        <p:spPr>
          <a:xfrm>
            <a:off x="548640" y="2057400"/>
            <a:ext cx="5349240" cy="4297680"/>
          </a:xfrm>
          <a:prstGeom prst="roundRect">
            <a:avLst>
              <a:gd name="adj" fmla="val 1702"/>
            </a:avLst>
          </a:prstGeom>
          <a:solidFill>
            <a:srgbClr val="F4F6F8"/>
          </a:solidFill>
        </p:spPr>
      </p:sp>
      <p:sp>
        <p:nvSpPr>
          <p:cNvPr id="1048773" name="Shape 7"/>
          <p:cNvSpPr/>
          <p:nvPr/>
        </p:nvSpPr>
        <p:spPr>
          <a:xfrm>
            <a:off x="6263640" y="2057400"/>
            <a:ext cx="5349240" cy="4297680"/>
          </a:xfrm>
          <a:prstGeom prst="roundRect">
            <a:avLst>
              <a:gd name="adj" fmla="val 1702"/>
            </a:avLst>
          </a:prstGeom>
          <a:solidFill>
            <a:srgbClr val="F4F6F8"/>
          </a:solidFill>
        </p:spPr>
      </p:sp>
      <p:sp>
        <p:nvSpPr>
          <p:cNvPr id="1048774" name="Text 8"/>
          <p:cNvSpPr/>
          <p:nvPr/>
        </p:nvSpPr>
        <p:spPr>
          <a:xfrm>
            <a:off x="822960" y="2286000"/>
            <a:ext cx="4846320" cy="393192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One shared platform for all integration logic</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Easier centralized governance and monitoring</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Can become a performance bottleneck</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Single point of failure if not made highly available</a:t>
            </a:r>
            <a:endParaRPr dirty="0" sz="2400" lang="en-US"/>
          </a:p>
        </p:txBody>
      </p:sp>
      <p:sp>
        <p:nvSpPr>
          <p:cNvPr id="1048775" name="Text 9"/>
          <p:cNvSpPr/>
          <p:nvPr/>
        </p:nvSpPr>
        <p:spPr>
          <a:xfrm>
            <a:off x="6537960" y="2286000"/>
            <a:ext cx="4846320" cy="393192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Integration logic spread across services/gateways</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Higher team autonomy, less central bottleneck</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Harder to get a single, unified view of all traffic</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No single point of failure for the whole enterprise</a:t>
            </a:r>
            <a:endParaRPr dirty="0" sz="2400" lang="en-US"/>
          </a:p>
        </p:txBody>
      </p:sp>
      <p:sp>
        <p:nvSpPr>
          <p:cNvPr id="1048776" name="Text 1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77" name="Text 1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16</a:t>
            </a:r>
            <a:endParaRPr dirty="0" sz="90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83" name=""/>
        <p:cNvGrpSpPr/>
        <p:nvPr/>
      </p:nvGrpSpPr>
      <p:grpSpPr>
        <a:xfrm>
          <a:off x="0" y="0"/>
          <a:ext cx="0" cy="0"/>
          <a:chOff x="0" y="0"/>
          <a:chExt cx="0" cy="0"/>
        </a:xfrm>
      </p:grpSpPr>
      <p:sp>
        <p:nvSpPr>
          <p:cNvPr id="104878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ESB Topologies</a:t>
            </a:r>
            <a:endParaRPr dirty="0" sz="2600" lang="en-US"/>
          </a:p>
        </p:txBody>
      </p:sp>
      <p:sp>
        <p:nvSpPr>
          <p:cNvPr id="1048782" name="Shape 1"/>
          <p:cNvSpPr/>
          <p:nvPr/>
        </p:nvSpPr>
        <p:spPr>
          <a:xfrm>
            <a:off x="566928" y="1005840"/>
            <a:ext cx="411480" cy="45720"/>
          </a:xfrm>
          <a:prstGeom prst="rect"/>
          <a:solidFill>
            <a:srgbClr val="00B8A9"/>
          </a:solidFill>
        </p:spPr>
      </p:sp>
      <p:sp>
        <p:nvSpPr>
          <p:cNvPr id="104878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Hub-and-Spoke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 single central broker; all services connect directly to it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Federated / Distributed Bus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Multiple bus instances, often per business domain or region, interconnected</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Federated topologies improve scalability and fault isolation compared to one single central hub</a:t>
            </a:r>
            <a:endParaRPr dirty="0" sz="2800" lang="en-US"/>
          </a:p>
        </p:txBody>
      </p:sp>
      <p:sp>
        <p:nvSpPr>
          <p:cNvPr id="104878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8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17</a:t>
            </a:r>
            <a:endParaRPr dirty="0" sz="90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86" name=""/>
        <p:cNvGrpSpPr/>
        <p:nvPr/>
      </p:nvGrpSpPr>
      <p:grpSpPr>
        <a:xfrm>
          <a:off x="0" y="0"/>
          <a:ext cx="0" cy="0"/>
          <a:chOff x="0" y="0"/>
          <a:chExt cx="0" cy="0"/>
        </a:xfrm>
      </p:grpSpPr>
      <p:sp>
        <p:nvSpPr>
          <p:cNvPr id="104878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Orchestration vs. the ESB's Role</a:t>
            </a:r>
            <a:endParaRPr dirty="0" sz="2600" lang="en-US"/>
          </a:p>
        </p:txBody>
      </p:sp>
      <p:sp>
        <p:nvSpPr>
          <p:cNvPr id="1048790" name="Shape 1"/>
          <p:cNvSpPr/>
          <p:nvPr/>
        </p:nvSpPr>
        <p:spPr>
          <a:xfrm>
            <a:off x="566928" y="1005840"/>
            <a:ext cx="411480" cy="45720"/>
          </a:xfrm>
          <a:prstGeom prst="rect"/>
          <a:solidFill>
            <a:srgbClr val="00B8A9"/>
          </a:solidFill>
        </p:spPr>
      </p:sp>
      <p:sp>
        <p:nvSpPr>
          <p:cNvPr id="104879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An ESB can host simple orchestration logic — coordinating a short sequence of service calls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But complex, long-running business processes are usually better handled by a dedicated orchestration engine (e.g., a BPEL engine, covered in Lecture 8)</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common design guideline: keep the ESB focused on routing/mediation, and keep complex business process logic in a dedicated orchestration layer</a:t>
            </a:r>
            <a:endParaRPr dirty="0" sz="2400" lang="en-US"/>
          </a:p>
        </p:txBody>
      </p:sp>
      <p:sp>
        <p:nvSpPr>
          <p:cNvPr id="104879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79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18</a:t>
            </a:r>
            <a:endParaRPr dirty="0" sz="90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89" name=""/>
        <p:cNvGrpSpPr/>
        <p:nvPr/>
      </p:nvGrpSpPr>
      <p:grpSpPr>
        <a:xfrm>
          <a:off x="0" y="0"/>
          <a:ext cx="0" cy="0"/>
          <a:chOff x="0" y="0"/>
          <a:chExt cx="0" cy="0"/>
        </a:xfrm>
      </p:grpSpPr>
      <p:sp>
        <p:nvSpPr>
          <p:cNvPr id="104879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Security and Governance on the ESB</a:t>
            </a:r>
            <a:endParaRPr dirty="0" sz="2600" lang="en-US"/>
          </a:p>
        </p:txBody>
      </p:sp>
      <p:sp>
        <p:nvSpPr>
          <p:cNvPr id="1048798" name="Shape 1"/>
          <p:cNvSpPr/>
          <p:nvPr/>
        </p:nvSpPr>
        <p:spPr>
          <a:xfrm>
            <a:off x="566928" y="1005840"/>
            <a:ext cx="411480" cy="45720"/>
          </a:xfrm>
          <a:prstGeom prst="rect"/>
          <a:solidFill>
            <a:srgbClr val="00B8A9"/>
          </a:solidFill>
        </p:spPr>
      </p:sp>
      <p:sp>
        <p:nvSpPr>
          <p:cNvPr id="104879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Centralized authentication/authorization enforcement for all services behind the bus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Consistent logging and auditing of every message passing through the enterprise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Policy enforcement (e.g., WS-Policy compliance) can be applied once, centrally, instead of per service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centralization is a major governance benefit — but also concentrates risk if the ESB itself is compromised or misconfigured</a:t>
            </a:r>
            <a:endParaRPr dirty="0" sz="2400" lang="en-US"/>
          </a:p>
        </p:txBody>
      </p:sp>
      <p:sp>
        <p:nvSpPr>
          <p:cNvPr id="104880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0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19</a:t>
            </a:r>
            <a:endParaRPr dirty="0" sz="900"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92" name=""/>
        <p:cNvGrpSpPr/>
        <p:nvPr/>
      </p:nvGrpSpPr>
      <p:grpSpPr>
        <a:xfrm>
          <a:off x="0" y="0"/>
          <a:ext cx="0" cy="0"/>
          <a:chOff x="0" y="0"/>
          <a:chExt cx="0" cy="0"/>
        </a:xfrm>
      </p:grpSpPr>
      <p:sp>
        <p:nvSpPr>
          <p:cNvPr id="104880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Performance Considerations</a:t>
            </a:r>
            <a:endParaRPr dirty="0" sz="2600" lang="en-US"/>
          </a:p>
        </p:txBody>
      </p:sp>
      <p:sp>
        <p:nvSpPr>
          <p:cNvPr id="1048806" name="Shape 1"/>
          <p:cNvSpPr/>
          <p:nvPr/>
        </p:nvSpPr>
        <p:spPr>
          <a:xfrm>
            <a:off x="566928" y="1005840"/>
            <a:ext cx="411480" cy="45720"/>
          </a:xfrm>
          <a:prstGeom prst="rect"/>
          <a:solidFill>
            <a:srgbClr val="00B8A9"/>
          </a:solidFill>
        </p:spPr>
      </p:sp>
      <p:sp>
        <p:nvSpPr>
          <p:cNvPr id="1048807"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Every message typically passes through extra processing: validation, transformation, routing logic</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This adds latency compared to a direct point-to-point call</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High-throughput scenarios require careful ESB capacity planning, clustering, and caching strategies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For very high-performance, low-latency needs, some architectures deliberately bypass the ESB for a small number of critical, direct connections</a:t>
            </a:r>
            <a:endParaRPr dirty="0" sz="2400" lang="en-US"/>
          </a:p>
        </p:txBody>
      </p:sp>
      <p:sp>
        <p:nvSpPr>
          <p:cNvPr id="1048808"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09"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20</a:t>
            </a:r>
            <a:endParaRPr dirty="0" sz="90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95" name=""/>
        <p:cNvGrpSpPr/>
        <p:nvPr/>
      </p:nvGrpSpPr>
      <p:grpSpPr>
        <a:xfrm>
          <a:off x="0" y="0"/>
          <a:ext cx="0" cy="0"/>
          <a:chOff x="0" y="0"/>
          <a:chExt cx="0" cy="0"/>
        </a:xfrm>
      </p:grpSpPr>
      <p:sp>
        <p:nvSpPr>
          <p:cNvPr id="104881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ESB Strengths</a:t>
            </a:r>
            <a:endParaRPr dirty="0" sz="2600" lang="en-US"/>
          </a:p>
        </p:txBody>
      </p:sp>
      <p:sp>
        <p:nvSpPr>
          <p:cNvPr id="1048814" name="Shape 1"/>
          <p:cNvSpPr/>
          <p:nvPr/>
        </p:nvSpPr>
        <p:spPr>
          <a:xfrm>
            <a:off x="566928" y="1005840"/>
            <a:ext cx="411480" cy="45720"/>
          </a:xfrm>
          <a:prstGeom prst="rect"/>
          <a:solidFill>
            <a:srgbClr val="00B8A9"/>
          </a:solidFill>
        </p:spPr>
      </p:sp>
      <p:sp>
        <p:nvSpPr>
          <p:cNvPr id="1048815"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Dramatically reduces the number of point-to-point integrations needed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Centralizes governance, security, and monitoring across the enterprise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Provides mature tooling for protocol and data transformation between legacy and modern systems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Well suited to large, heterogeneous enterprise environments with many existing legacy systems</a:t>
            </a:r>
            <a:endParaRPr dirty="0" sz="2400" lang="en-US"/>
          </a:p>
        </p:txBody>
      </p:sp>
      <p:sp>
        <p:nvSpPr>
          <p:cNvPr id="104881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1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21</a:t>
            </a:r>
            <a:endParaRPr dirty="0" sz="90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98" name=""/>
        <p:cNvGrpSpPr/>
        <p:nvPr/>
      </p:nvGrpSpPr>
      <p:grpSpPr>
        <a:xfrm>
          <a:off x="0" y="0"/>
          <a:ext cx="0" cy="0"/>
          <a:chOff x="0" y="0"/>
          <a:chExt cx="0" cy="0"/>
        </a:xfrm>
      </p:grpSpPr>
      <p:sp>
        <p:nvSpPr>
          <p:cNvPr id="104882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ESB Weaknesses and Criticisms</a:t>
            </a:r>
            <a:endParaRPr dirty="0" sz="2600" lang="en-US"/>
          </a:p>
        </p:txBody>
      </p:sp>
      <p:sp>
        <p:nvSpPr>
          <p:cNvPr id="1048822" name="Shape 1"/>
          <p:cNvSpPr/>
          <p:nvPr/>
        </p:nvSpPr>
        <p:spPr>
          <a:xfrm>
            <a:off x="566928" y="1005840"/>
            <a:ext cx="411480" cy="45720"/>
          </a:xfrm>
          <a:prstGeom prst="rect"/>
          <a:solidFill>
            <a:srgbClr val="00B8A9"/>
          </a:solidFill>
        </p:spPr>
      </p:sp>
      <p:sp>
        <p:nvSpPr>
          <p:cNvPr id="104882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Can become a performance bottleneck and single point of failure if not carefully architected</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Risk of becoming an 'ESB monolith' — accumulating so much business logic that it is hard to change or scale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Vendor lock-in with commercial ESB platforms can be costly and difficult to reverse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set of criticisms is a major reason many organizations shifted toward the lighter-weight microservices model in Lecture 6</a:t>
            </a:r>
            <a:endParaRPr dirty="0" sz="2400" lang="en-US"/>
          </a:p>
        </p:txBody>
      </p:sp>
      <p:sp>
        <p:nvSpPr>
          <p:cNvPr id="104882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2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22</a:t>
            </a:r>
            <a:endParaRPr dirty="0" sz="90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01" name=""/>
        <p:cNvGrpSpPr/>
        <p:nvPr/>
      </p:nvGrpSpPr>
      <p:grpSpPr>
        <a:xfrm>
          <a:off x="0" y="0"/>
          <a:ext cx="0" cy="0"/>
          <a:chOff x="0" y="0"/>
          <a:chExt cx="0" cy="0"/>
        </a:xfrm>
      </p:grpSpPr>
      <p:sp>
        <p:nvSpPr>
          <p:cNvPr id="104882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ESB vs. API Gateway</a:t>
            </a:r>
            <a:endParaRPr dirty="0" sz="2600" lang="en-US"/>
          </a:p>
        </p:txBody>
      </p:sp>
      <p:sp>
        <p:nvSpPr>
          <p:cNvPr id="1048830" name="Shape 1"/>
          <p:cNvSpPr/>
          <p:nvPr/>
        </p:nvSpPr>
        <p:spPr>
          <a:xfrm>
            <a:off x="566928" y="1005840"/>
            <a:ext cx="411480" cy="45720"/>
          </a:xfrm>
          <a:prstGeom prst="rect"/>
          <a:solidFill>
            <a:srgbClr val="00B8A9"/>
          </a:solidFill>
        </p:spPr>
      </p:sp>
      <p:sp>
        <p:nvSpPr>
          <p:cNvPr id="1048831" name="Shape 2"/>
          <p:cNvSpPr/>
          <p:nvPr/>
        </p:nvSpPr>
        <p:spPr>
          <a:xfrm>
            <a:off x="548640" y="1325880"/>
            <a:ext cx="5349240" cy="594360"/>
          </a:xfrm>
          <a:prstGeom prst="roundRect">
            <a:avLst>
              <a:gd name="adj" fmla="val 12308"/>
            </a:avLst>
          </a:prstGeom>
          <a:solidFill>
            <a:srgbClr val="44546A"/>
          </a:solidFill>
        </p:spPr>
      </p:sp>
      <p:sp>
        <p:nvSpPr>
          <p:cNvPr id="1048832" name="Text 3"/>
          <p:cNvSpPr/>
          <p:nvPr/>
        </p:nvSpPr>
        <p:spPr>
          <a:xfrm>
            <a:off x="548640" y="1325880"/>
            <a:ext cx="5349240" cy="594360"/>
          </a:xfrm>
          <a:prstGeom prst="rect"/>
          <a:noFill/>
        </p:spPr>
        <p:txBody>
          <a:bodyPr anchor="ctr" bIns="0" lIns="0" rIns="0" rtlCol="0" tIns="0" wrap="square"/>
          <a:p>
            <a:pPr algn="ctr" indent="0" marL="0">
              <a:buNone/>
            </a:pPr>
            <a:r>
              <a:rPr b="1" dirty="0" sz="1700" lang="en-US">
                <a:solidFill>
                  <a:srgbClr val="FFFFFF"/>
                </a:solidFill>
                <a:latin typeface="Calibri" pitchFamily="34" charset="0"/>
                <a:ea typeface="Calibri" pitchFamily="34" charset="-122"/>
                <a:cs typeface="Calibri" pitchFamily="34" charset="-120"/>
              </a:rPr>
              <a:t>Enterprise Service Bus</a:t>
            </a:r>
            <a:endParaRPr dirty="0" sz="1700" lang="en-US"/>
          </a:p>
        </p:txBody>
      </p:sp>
      <p:sp>
        <p:nvSpPr>
          <p:cNvPr id="1048833" name="Shape 4"/>
          <p:cNvSpPr/>
          <p:nvPr/>
        </p:nvSpPr>
        <p:spPr>
          <a:xfrm>
            <a:off x="6263640" y="1325880"/>
            <a:ext cx="5349240" cy="594360"/>
          </a:xfrm>
          <a:prstGeom prst="roundRect">
            <a:avLst>
              <a:gd name="adj" fmla="val 12308"/>
            </a:avLst>
          </a:prstGeom>
          <a:solidFill>
            <a:srgbClr val="00A79A"/>
          </a:solidFill>
        </p:spPr>
      </p:sp>
      <p:sp>
        <p:nvSpPr>
          <p:cNvPr id="1048834" name="Text 5"/>
          <p:cNvSpPr/>
          <p:nvPr/>
        </p:nvSpPr>
        <p:spPr>
          <a:xfrm>
            <a:off x="6263640" y="1325880"/>
            <a:ext cx="5349240" cy="594360"/>
          </a:xfrm>
          <a:prstGeom prst="rect"/>
          <a:noFill/>
        </p:spPr>
        <p:txBody>
          <a:bodyPr anchor="ctr" bIns="0" lIns="0" rIns="0" rtlCol="0" tIns="0" wrap="square"/>
          <a:p>
            <a:pPr algn="ctr" indent="0" marL="0">
              <a:buNone/>
            </a:pPr>
            <a:r>
              <a:rPr b="1" dirty="0" sz="1700" lang="en-US">
                <a:solidFill>
                  <a:srgbClr val="FFFFFF"/>
                </a:solidFill>
                <a:latin typeface="Calibri" pitchFamily="34" charset="0"/>
                <a:ea typeface="Calibri" pitchFamily="34" charset="-122"/>
                <a:cs typeface="Calibri" pitchFamily="34" charset="-120"/>
              </a:rPr>
              <a:t>API Gateway</a:t>
            </a:r>
            <a:endParaRPr dirty="0" sz="1700" lang="en-US"/>
          </a:p>
        </p:txBody>
      </p:sp>
      <p:sp>
        <p:nvSpPr>
          <p:cNvPr id="1048835" name="Shape 6"/>
          <p:cNvSpPr/>
          <p:nvPr/>
        </p:nvSpPr>
        <p:spPr>
          <a:xfrm>
            <a:off x="548640" y="2057400"/>
            <a:ext cx="5349240" cy="4297680"/>
          </a:xfrm>
          <a:prstGeom prst="roundRect">
            <a:avLst>
              <a:gd name="adj" fmla="val 1702"/>
            </a:avLst>
          </a:prstGeom>
          <a:solidFill>
            <a:srgbClr val="F4F6F8"/>
          </a:solidFill>
        </p:spPr>
      </p:sp>
      <p:sp>
        <p:nvSpPr>
          <p:cNvPr id="1048836" name="Shape 7"/>
          <p:cNvSpPr/>
          <p:nvPr/>
        </p:nvSpPr>
        <p:spPr>
          <a:xfrm>
            <a:off x="6263640" y="2057400"/>
            <a:ext cx="5349240" cy="4297680"/>
          </a:xfrm>
          <a:prstGeom prst="roundRect">
            <a:avLst>
              <a:gd name="adj" fmla="val 1702"/>
            </a:avLst>
          </a:prstGeom>
          <a:solidFill>
            <a:srgbClr val="F4F6F8"/>
          </a:solidFill>
        </p:spPr>
      </p:sp>
      <p:sp>
        <p:nvSpPr>
          <p:cNvPr id="1048837" name="Text 8"/>
          <p:cNvSpPr/>
          <p:nvPr/>
        </p:nvSpPr>
        <p:spPr>
          <a:xfrm>
            <a:off x="822960" y="2286000"/>
            <a:ext cx="4846320" cy="393192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Focused on internal, enterprise-wide integration</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Rich transformation and mediation capabilities</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Often SOAP/XML-centric, heavier weight</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Can host orchestration logic</a:t>
            </a:r>
            <a:endParaRPr dirty="0" sz="2400" lang="en-US"/>
          </a:p>
        </p:txBody>
      </p:sp>
      <p:sp>
        <p:nvSpPr>
          <p:cNvPr id="1048838" name="Text 9"/>
          <p:cNvSpPr/>
          <p:nvPr/>
        </p:nvSpPr>
        <p:spPr>
          <a:xfrm>
            <a:off x="6537960" y="2286000"/>
            <a:ext cx="4846320" cy="393192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Focused on external/edge traffic entering the system</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Lighter weight: routing, auth, rate limiting</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Typically REST/JSON-centric</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Rarely hosts complex business logic</a:t>
            </a:r>
            <a:endParaRPr dirty="0" sz="2400" lang="en-US"/>
          </a:p>
        </p:txBody>
      </p:sp>
      <p:sp>
        <p:nvSpPr>
          <p:cNvPr id="1048839" name="Text 1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40" name="Text 1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23</a:t>
            </a:r>
            <a:endParaRPr dirty="0" sz="900"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04" name=""/>
        <p:cNvGrpSpPr/>
        <p:nvPr/>
      </p:nvGrpSpPr>
      <p:grpSpPr>
        <a:xfrm>
          <a:off x="0" y="0"/>
          <a:ext cx="0" cy="0"/>
          <a:chOff x="0" y="0"/>
          <a:chExt cx="0" cy="0"/>
        </a:xfrm>
      </p:grpSpPr>
      <p:sp>
        <p:nvSpPr>
          <p:cNvPr id="104884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Modern Evolution: iPaaS and Event Streaming</a:t>
            </a:r>
            <a:endParaRPr dirty="0" sz="2600" lang="en-US"/>
          </a:p>
        </p:txBody>
      </p:sp>
      <p:sp>
        <p:nvSpPr>
          <p:cNvPr id="1048845" name="Shape 1"/>
          <p:cNvSpPr/>
          <p:nvPr/>
        </p:nvSpPr>
        <p:spPr>
          <a:xfrm>
            <a:off x="566928" y="1005840"/>
            <a:ext cx="411480" cy="45720"/>
          </a:xfrm>
          <a:prstGeom prst="rect"/>
          <a:solidFill>
            <a:srgbClr val="00B8A9"/>
          </a:solidFill>
        </p:spPr>
      </p:sp>
      <p:sp>
        <p:nvSpPr>
          <p:cNvPr id="1048846"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iPaaS (Integration Platform as a Service)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Cloud-hosted, modernized ESB-like platforms (e.g., MuleSoft Anypoint, Boomi, Azure Logic Apps)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Event streaming platforms (e.g., Apache Kafka)</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Shift from request-driven routing to event-driven, publish-subscribe integration at scale</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These modern platforms carry forward the ESB's core goal — decoupled, mediated integration — using cloud-native and event-driven approaches</a:t>
            </a:r>
            <a:endParaRPr dirty="0" sz="2800" lang="en-US"/>
          </a:p>
        </p:txBody>
      </p:sp>
      <p:sp>
        <p:nvSpPr>
          <p:cNvPr id="1048847"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48"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24</a:t>
            </a:r>
            <a:endParaRPr dirty="0" sz="900"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07" name=""/>
        <p:cNvGrpSpPr/>
        <p:nvPr/>
      </p:nvGrpSpPr>
      <p:grpSpPr>
        <a:xfrm>
          <a:off x="0" y="0"/>
          <a:ext cx="0" cy="0"/>
          <a:chOff x="0" y="0"/>
          <a:chExt cx="0" cy="0"/>
        </a:xfrm>
      </p:grpSpPr>
      <p:sp>
        <p:nvSpPr>
          <p:cNvPr id="104885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Case Study: Integrating a New Payment Provider</a:t>
            </a:r>
            <a:endParaRPr dirty="0" sz="2600" lang="en-US"/>
          </a:p>
        </p:txBody>
      </p:sp>
      <p:sp>
        <p:nvSpPr>
          <p:cNvPr id="1048853" name="Shape 1"/>
          <p:cNvSpPr/>
          <p:nvPr/>
        </p:nvSpPr>
        <p:spPr>
          <a:xfrm>
            <a:off x="566928" y="1005840"/>
            <a:ext cx="411480" cy="45720"/>
          </a:xfrm>
          <a:prstGeom prst="rect"/>
          <a:solidFill>
            <a:srgbClr val="00B8A9"/>
          </a:solidFill>
        </p:spPr>
      </p:sp>
      <p:sp>
        <p:nvSpPr>
          <p:cNvPr id="1048854"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An airline's booking system needs to add a new regional payment provider with its own proprietary API format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Without an ESB:</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Every consumer of the payment functionality must be modified to understand the new provider's format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With an ESB:</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A new adapter and transformation rule are added to the bus; consumers keep calling the same standardized 'ProcessPayment' interface, unaware of the change</a:t>
            </a:r>
            <a:endParaRPr dirty="0" sz="2800" lang="en-US"/>
          </a:p>
        </p:txBody>
      </p:sp>
      <p:sp>
        <p:nvSpPr>
          <p:cNvPr id="1048855"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56"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25</a:t>
            </a:r>
            <a:endParaRPr dirty="0" sz="90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10" name=""/>
        <p:cNvGrpSpPr/>
        <p:nvPr/>
      </p:nvGrpSpPr>
      <p:grpSpPr>
        <a:xfrm>
          <a:off x="0" y="0"/>
          <a:ext cx="0" cy="0"/>
          <a:chOff x="0" y="0"/>
          <a:chExt cx="0" cy="0"/>
        </a:xfrm>
      </p:grpSpPr>
      <p:sp>
        <p:nvSpPr>
          <p:cNvPr id="104886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Notable ESB Products (Historical &amp; Current)</a:t>
            </a:r>
            <a:endParaRPr dirty="0" sz="2600" lang="en-US"/>
          </a:p>
        </p:txBody>
      </p:sp>
      <p:sp>
        <p:nvSpPr>
          <p:cNvPr id="1048861" name="Shape 1"/>
          <p:cNvSpPr/>
          <p:nvPr/>
        </p:nvSpPr>
        <p:spPr>
          <a:xfrm>
            <a:off x="566928" y="1005840"/>
            <a:ext cx="411480" cy="45720"/>
          </a:xfrm>
          <a:prstGeom prst="rect"/>
          <a:solidFill>
            <a:srgbClr val="00B8A9"/>
          </a:solidFill>
        </p:spPr>
      </p:sp>
      <p:graphicFrame>
        <p:nvGraphicFramePr>
          <p:cNvPr id="4194305" name="Table 0"/>
          <p:cNvGraphicFramePr>
            <a:graphicFrameLocks noGrp="1"/>
          </p:cNvGraphicFramePr>
          <p:nvPr/>
        </p:nvGraphicFramePr>
        <p:xfrm>
          <a:off x="548640" y="1325880"/>
          <a:ext cx="11064240" cy="4871720"/>
        </p:xfrm>
        <a:graphic>
          <a:graphicData uri="http://schemas.openxmlformats.org/drawingml/2006/table">
            <a:tbl>
              <a:tblPr/>
              <a:tblGrid>
                <a:gridCol w="5532120"/>
                <a:gridCol w="5532120"/>
              </a:tblGrid>
              <a:tr h="807720">
                <a:tc>
                  <a:txBody>
                    <a:bodyPr/>
                    <a:p>
                      <a:pPr indent="0" marL="0">
                        <a:buNone/>
                      </a:pPr>
                      <a:r>
                        <a:rPr b="1" dirty="0" sz="2400" lang="en-US">
                          <a:solidFill>
                            <a:srgbClr val="FFFFFF"/>
                          </a:solidFill>
                          <a:latin typeface="Calibri" pitchFamily="34" charset="0"/>
                          <a:ea typeface="Calibri" pitchFamily="34" charset="-122"/>
                          <a:cs typeface="Calibri" pitchFamily="34" charset="-120"/>
                        </a:rPr>
                        <a:t>Product</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Vendor / Origin</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IBM Integration Bus / App Connect</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IBM</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Oracle Service Bus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Oracle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MuleSoft Anypoint Platform</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Salesforce / MuleSoft</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WSO2 Enterprise Integrator</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WSO2 (open source)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Apache ServiceMix / Camel</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Apache Software Foundation (open source)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1048862"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63"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26</a:t>
            </a:r>
            <a:endParaRPr dirty="0" sz="900"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13" name=""/>
        <p:cNvGrpSpPr/>
        <p:nvPr/>
      </p:nvGrpSpPr>
      <p:grpSpPr>
        <a:xfrm>
          <a:off x="0" y="0"/>
          <a:ext cx="0" cy="0"/>
          <a:chOff x="0" y="0"/>
          <a:chExt cx="0" cy="0"/>
        </a:xfrm>
      </p:grpSpPr>
      <p:sp>
        <p:nvSpPr>
          <p:cNvPr id="104886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Design Guidelines for Effective ESB Use</a:t>
            </a:r>
            <a:endParaRPr dirty="0" sz="2600" lang="en-US"/>
          </a:p>
        </p:txBody>
      </p:sp>
      <p:sp>
        <p:nvSpPr>
          <p:cNvPr id="1048868" name="Shape 1"/>
          <p:cNvSpPr/>
          <p:nvPr/>
        </p:nvSpPr>
        <p:spPr>
          <a:xfrm>
            <a:off x="566928" y="1005840"/>
            <a:ext cx="411480" cy="45720"/>
          </a:xfrm>
          <a:prstGeom prst="rect"/>
          <a:solidFill>
            <a:srgbClr val="00B8A9"/>
          </a:solidFill>
        </p:spPr>
      </p:sp>
      <p:sp>
        <p:nvSpPr>
          <p:cNvPr id="104886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Keep the ESB focused on integration concerns — routing, transformation, security</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Avoid embedding deep business logic directly in ESB scripts/flows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Plan for high availability and horizontal scaling of the bus itself from the start</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Maintain clear documentation of every route and transformation for long-term maintainability</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Treat the ESB as critical infrastructure — apply the same rigor to its testing and monitoring as to any core service</a:t>
            </a:r>
            <a:endParaRPr dirty="0" sz="2400" lang="en-US"/>
          </a:p>
        </p:txBody>
      </p:sp>
      <p:sp>
        <p:nvSpPr>
          <p:cNvPr id="104887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7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27</a:t>
            </a:r>
            <a:endParaRPr dirty="0" sz="90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16" name=""/>
        <p:cNvGrpSpPr/>
        <p:nvPr/>
      </p:nvGrpSpPr>
      <p:grpSpPr>
        <a:xfrm>
          <a:off x="0" y="0"/>
          <a:ext cx="0" cy="0"/>
          <a:chOff x="0" y="0"/>
          <a:chExt cx="0" cy="0"/>
        </a:xfrm>
      </p:grpSpPr>
      <p:sp>
        <p:nvSpPr>
          <p:cNvPr id="1048875" name="Text 0"/>
          <p:cNvSpPr/>
          <p:nvPr/>
        </p:nvSpPr>
        <p:spPr>
          <a:xfrm>
            <a:off x="548640" y="457200"/>
            <a:ext cx="7315200" cy="640080"/>
          </a:xfrm>
          <a:prstGeom prst="rect"/>
          <a:noFill/>
        </p:spPr>
        <p:txBody>
          <a:bodyPr anchor="ctr" bIns="0" lIns="0" rIns="0" rtlCol="0" tIns="0" wrap="square"/>
          <a:p>
            <a:pPr indent="0" marL="0">
              <a:buNone/>
            </a:pPr>
            <a:r>
              <a:rPr b="1" dirty="0" sz="2800" lang="en-US">
                <a:solidFill>
                  <a:srgbClr val="0F2942"/>
                </a:solidFill>
                <a:latin typeface="Calibri" pitchFamily="34" charset="0"/>
                <a:ea typeface="Calibri" pitchFamily="34" charset="-122"/>
                <a:cs typeface="Calibri" pitchFamily="34" charset="-120"/>
              </a:rPr>
              <a:t>Key Takeaways</a:t>
            </a:r>
            <a:endParaRPr dirty="0" sz="2800" lang="en-US"/>
          </a:p>
        </p:txBody>
      </p:sp>
      <p:sp>
        <p:nvSpPr>
          <p:cNvPr id="1048876" name="Shape 1"/>
          <p:cNvSpPr/>
          <p:nvPr/>
        </p:nvSpPr>
        <p:spPr>
          <a:xfrm>
            <a:off x="566928" y="1143000"/>
            <a:ext cx="457200" cy="54864"/>
          </a:xfrm>
          <a:prstGeom prst="rect"/>
          <a:solidFill>
            <a:srgbClr val="00B8A9"/>
          </a:solidFill>
        </p:spPr>
      </p:sp>
      <p:sp>
        <p:nvSpPr>
          <p:cNvPr id="1048877" name="Shape 2"/>
          <p:cNvSpPr/>
          <p:nvPr/>
        </p:nvSpPr>
        <p:spPr>
          <a:xfrm>
            <a:off x="548640" y="1508760"/>
            <a:ext cx="11064240" cy="777240"/>
          </a:xfrm>
          <a:prstGeom prst="roundRect">
            <a:avLst>
              <a:gd name="adj" fmla="val 9412"/>
            </a:avLst>
          </a:prstGeom>
          <a:solidFill>
            <a:srgbClr val="FFFFFF"/>
          </a:solidFill>
        </p:spPr>
      </p:sp>
      <p:sp>
        <p:nvSpPr>
          <p:cNvPr id="1048878" name="Shape 3"/>
          <p:cNvSpPr/>
          <p:nvPr/>
        </p:nvSpPr>
        <p:spPr>
          <a:xfrm>
            <a:off x="777240" y="1673352"/>
            <a:ext cx="457200" cy="457200"/>
          </a:xfrm>
          <a:prstGeom prst="ellipse"/>
          <a:solidFill>
            <a:srgbClr val="00B8A9"/>
          </a:solidFill>
        </p:spPr>
      </p:sp>
      <p:sp>
        <p:nvSpPr>
          <p:cNvPr id="1048879" name="Text 4"/>
          <p:cNvSpPr/>
          <p:nvPr/>
        </p:nvSpPr>
        <p:spPr>
          <a:xfrm>
            <a:off x="777240" y="16733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880" name="Text 5"/>
          <p:cNvSpPr/>
          <p:nvPr/>
        </p:nvSpPr>
        <p:spPr>
          <a:xfrm>
            <a:off x="1417320" y="15087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An ESB provides a shared communication backbone that replaces N×N point-to-point integrations with a single connection point per system</a:t>
            </a:r>
            <a:endParaRPr dirty="0" sz="2400" lang="en-US"/>
          </a:p>
        </p:txBody>
      </p:sp>
      <p:sp>
        <p:nvSpPr>
          <p:cNvPr id="1048881" name="Shape 6"/>
          <p:cNvSpPr/>
          <p:nvPr/>
        </p:nvSpPr>
        <p:spPr>
          <a:xfrm>
            <a:off x="548640" y="2423160"/>
            <a:ext cx="11064240" cy="777240"/>
          </a:xfrm>
          <a:prstGeom prst="roundRect">
            <a:avLst>
              <a:gd name="adj" fmla="val 9412"/>
            </a:avLst>
          </a:prstGeom>
          <a:solidFill>
            <a:srgbClr val="FFFFFF"/>
          </a:solidFill>
        </p:spPr>
      </p:sp>
      <p:sp>
        <p:nvSpPr>
          <p:cNvPr id="1048882" name="Shape 7"/>
          <p:cNvSpPr/>
          <p:nvPr/>
        </p:nvSpPr>
        <p:spPr>
          <a:xfrm>
            <a:off x="777240" y="2587752"/>
            <a:ext cx="457200" cy="457200"/>
          </a:xfrm>
          <a:prstGeom prst="ellipse"/>
          <a:solidFill>
            <a:srgbClr val="00B8A9"/>
          </a:solidFill>
        </p:spPr>
      </p:sp>
      <p:sp>
        <p:nvSpPr>
          <p:cNvPr id="1048883" name="Text 8"/>
          <p:cNvSpPr/>
          <p:nvPr/>
        </p:nvSpPr>
        <p:spPr>
          <a:xfrm>
            <a:off x="777240" y="25877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884" name="Text 9"/>
          <p:cNvSpPr/>
          <p:nvPr/>
        </p:nvSpPr>
        <p:spPr>
          <a:xfrm>
            <a:off x="1417320" y="24231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Core ESB capabilities are routing, protocol/data transformation (mediation), and centralized security enforcement</a:t>
            </a:r>
            <a:endParaRPr dirty="0" sz="2400" lang="en-US"/>
          </a:p>
        </p:txBody>
      </p:sp>
      <p:sp>
        <p:nvSpPr>
          <p:cNvPr id="1048885" name="Shape 10"/>
          <p:cNvSpPr/>
          <p:nvPr/>
        </p:nvSpPr>
        <p:spPr>
          <a:xfrm>
            <a:off x="548640" y="3337560"/>
            <a:ext cx="11064240" cy="777240"/>
          </a:xfrm>
          <a:prstGeom prst="roundRect">
            <a:avLst>
              <a:gd name="adj" fmla="val 9412"/>
            </a:avLst>
          </a:prstGeom>
          <a:solidFill>
            <a:srgbClr val="FFFFFF"/>
          </a:solidFill>
        </p:spPr>
      </p:sp>
      <p:sp>
        <p:nvSpPr>
          <p:cNvPr id="1048886" name="Shape 11"/>
          <p:cNvSpPr/>
          <p:nvPr/>
        </p:nvSpPr>
        <p:spPr>
          <a:xfrm>
            <a:off x="777240" y="3502152"/>
            <a:ext cx="457200" cy="457200"/>
          </a:xfrm>
          <a:prstGeom prst="ellipse"/>
          <a:solidFill>
            <a:srgbClr val="00B8A9"/>
          </a:solidFill>
        </p:spPr>
      </p:sp>
      <p:sp>
        <p:nvSpPr>
          <p:cNvPr id="1048887" name="Text 12"/>
          <p:cNvSpPr/>
          <p:nvPr/>
        </p:nvSpPr>
        <p:spPr>
          <a:xfrm>
            <a:off x="777240" y="35021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888" name="Text 13"/>
          <p:cNvSpPr/>
          <p:nvPr/>
        </p:nvSpPr>
        <p:spPr>
          <a:xfrm>
            <a:off x="1417320" y="33375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Enterprise Integration Patterns (Content-Based Router, Aggregator, Message Translator, etc.) describe reusable ESB messaging designs</a:t>
            </a:r>
            <a:endParaRPr dirty="0" sz="2400" lang="en-US"/>
          </a:p>
        </p:txBody>
      </p:sp>
      <p:sp>
        <p:nvSpPr>
          <p:cNvPr id="1048889" name="Shape 14"/>
          <p:cNvSpPr/>
          <p:nvPr/>
        </p:nvSpPr>
        <p:spPr>
          <a:xfrm>
            <a:off x="548640" y="4251960"/>
            <a:ext cx="11064240" cy="777240"/>
          </a:xfrm>
          <a:prstGeom prst="roundRect">
            <a:avLst>
              <a:gd name="adj" fmla="val 9412"/>
            </a:avLst>
          </a:prstGeom>
          <a:solidFill>
            <a:srgbClr val="FFFFFF"/>
          </a:solidFill>
        </p:spPr>
      </p:sp>
      <p:sp>
        <p:nvSpPr>
          <p:cNvPr id="1048890" name="Shape 15"/>
          <p:cNvSpPr/>
          <p:nvPr/>
        </p:nvSpPr>
        <p:spPr>
          <a:xfrm>
            <a:off x="777240" y="4416552"/>
            <a:ext cx="457200" cy="457200"/>
          </a:xfrm>
          <a:prstGeom prst="ellipse"/>
          <a:solidFill>
            <a:srgbClr val="00B8A9"/>
          </a:solidFill>
        </p:spPr>
      </p:sp>
      <p:sp>
        <p:nvSpPr>
          <p:cNvPr id="1048891" name="Text 16"/>
          <p:cNvSpPr/>
          <p:nvPr/>
        </p:nvSpPr>
        <p:spPr>
          <a:xfrm>
            <a:off x="777240" y="44165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892" name="Text 17"/>
          <p:cNvSpPr/>
          <p:nvPr/>
        </p:nvSpPr>
        <p:spPr>
          <a:xfrm>
            <a:off x="1417320" y="42519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ESBs offer strong centralized governance but risk becoming a performance bottleneck or an overloaded 'ESB monolith'</a:t>
            </a:r>
            <a:endParaRPr dirty="0" sz="2400" lang="en-US"/>
          </a:p>
        </p:txBody>
      </p:sp>
      <p:sp>
        <p:nvSpPr>
          <p:cNvPr id="1048893" name="Shape 18"/>
          <p:cNvSpPr/>
          <p:nvPr/>
        </p:nvSpPr>
        <p:spPr>
          <a:xfrm>
            <a:off x="548640" y="5166360"/>
            <a:ext cx="11064240" cy="777240"/>
          </a:xfrm>
          <a:prstGeom prst="roundRect">
            <a:avLst>
              <a:gd name="adj" fmla="val 9412"/>
            </a:avLst>
          </a:prstGeom>
          <a:solidFill>
            <a:srgbClr val="FFFFFF"/>
          </a:solidFill>
        </p:spPr>
      </p:sp>
      <p:sp>
        <p:nvSpPr>
          <p:cNvPr id="1048894" name="Shape 19"/>
          <p:cNvSpPr/>
          <p:nvPr/>
        </p:nvSpPr>
        <p:spPr>
          <a:xfrm>
            <a:off x="777240" y="5330952"/>
            <a:ext cx="457200" cy="457200"/>
          </a:xfrm>
          <a:prstGeom prst="ellipse"/>
          <a:solidFill>
            <a:srgbClr val="00B8A9"/>
          </a:solidFill>
        </p:spPr>
      </p:sp>
      <p:sp>
        <p:nvSpPr>
          <p:cNvPr id="1048895" name="Text 20"/>
          <p:cNvSpPr/>
          <p:nvPr/>
        </p:nvSpPr>
        <p:spPr>
          <a:xfrm>
            <a:off x="777240" y="53309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896" name="Text 21"/>
          <p:cNvSpPr/>
          <p:nvPr/>
        </p:nvSpPr>
        <p:spPr>
          <a:xfrm>
            <a:off x="1417320" y="5166360"/>
            <a:ext cx="9966960" cy="777240"/>
          </a:xfrm>
          <a:prstGeom prst="rect"/>
          <a:noFill/>
        </p:spPr>
        <p:txBody>
          <a:bodyPr anchor="ctr" bIns="0" lIns="0" rIns="0" rtlCol="0" tIns="0" wrap="square"/>
          <a:p>
            <a:pPr indent="0" marL="0">
              <a:buNone/>
            </a:pPr>
            <a:r>
              <a:rPr dirty="0" sz="2400" lang="en-US">
                <a:solidFill>
                  <a:srgbClr val="1A1A2E"/>
                </a:solidFill>
                <a:latin typeface="Calibri" pitchFamily="34" charset="0"/>
                <a:ea typeface="Calibri" pitchFamily="34" charset="-122"/>
                <a:cs typeface="Calibri" pitchFamily="34" charset="-120"/>
              </a:rPr>
              <a:t>Modern iPaaS platforms and event-streaming systems (like Kafka) carry the ESB's integration goals forward in cloud-native form</a:t>
            </a:r>
            <a:endParaRPr dirty="0" sz="2400" lang="en-US"/>
          </a:p>
        </p:txBody>
      </p:sp>
      <p:sp>
        <p:nvSpPr>
          <p:cNvPr id="1048897" name="Text 2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898" name="Text 2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28</a:t>
            </a:r>
            <a:endParaRPr dirty="0" sz="900"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19" name=""/>
        <p:cNvGrpSpPr/>
        <p:nvPr/>
      </p:nvGrpSpPr>
      <p:grpSpPr>
        <a:xfrm>
          <a:off x="0" y="0"/>
          <a:ext cx="0" cy="0"/>
          <a:chOff x="0" y="0"/>
          <a:chExt cx="0" cy="0"/>
        </a:xfrm>
      </p:grpSpPr>
      <p:sp>
        <p:nvSpPr>
          <p:cNvPr id="1048902" name="Text 0"/>
          <p:cNvSpPr/>
          <p:nvPr/>
        </p:nvSpPr>
        <p:spPr>
          <a:xfrm>
            <a:off x="822960" y="822960"/>
            <a:ext cx="7315200" cy="365760"/>
          </a:xfrm>
          <a:prstGeom prst="rect"/>
          <a:noFill/>
        </p:spPr>
        <p:txBody>
          <a:bodyPr anchor="ctr" bIns="0" lIns="0" rIns="0" rtlCol="0" tIns="0" wrap="square"/>
          <a:p>
            <a:pPr indent="0" marL="0">
              <a:buNone/>
            </a:pPr>
            <a:r>
              <a:rPr b="1" dirty="0" sz="1400" lang="en-US">
                <a:solidFill>
                  <a:srgbClr val="FF6B35"/>
                </a:solidFill>
                <a:latin typeface="Calibri" pitchFamily="34" charset="0"/>
                <a:ea typeface="Calibri" pitchFamily="34" charset="-122"/>
                <a:cs typeface="Calibri" pitchFamily="34" charset="-120"/>
              </a:rPr>
              <a:t>DISCUSSION / REVIEW QUESTION</a:t>
            </a:r>
            <a:endParaRPr dirty="0" sz="1400" lang="en-US"/>
          </a:p>
        </p:txBody>
      </p:sp>
      <p:sp>
        <p:nvSpPr>
          <p:cNvPr id="1048903" name="Text 1"/>
          <p:cNvSpPr/>
          <p:nvPr/>
        </p:nvSpPr>
        <p:spPr>
          <a:xfrm>
            <a:off x="822960" y="1371600"/>
            <a:ext cx="10241280" cy="2011680"/>
          </a:xfrm>
          <a:prstGeom prst="rect"/>
          <a:noFill/>
        </p:spPr>
        <p:txBody>
          <a:bodyPr anchor="t" bIns="0" lIns="0" rIns="0" rtlCol="0" tIns="0" wrap="square"/>
          <a:p>
            <a:pPr indent="0" marL="0">
              <a:lnSpc>
                <a:spcPct val="125000"/>
              </a:lnSpc>
              <a:buNone/>
            </a:pPr>
            <a:r>
              <a:rPr b="1" dirty="0" sz="2400" lang="en-US">
                <a:solidFill>
                  <a:srgbClr val="FFFFFF"/>
                </a:solidFill>
                <a:latin typeface="Calibri" pitchFamily="34" charset="0"/>
                <a:ea typeface="Calibri" pitchFamily="34" charset="-122"/>
                <a:cs typeface="Calibri" pitchFamily="34" charset="-120"/>
              </a:rPr>
              <a:t>A hospital network has 6 different legacy systems (billing, records, pharmacy, labs, scheduling, insurance) that all need to exchange patient data reliably and securely, with full audit logging required by law. Would you recommend building an ESB, or connecting these systems point-to-point? Justify your answer with specific ESB capabilities.</a:t>
            </a:r>
            <a:endParaRPr dirty="0" sz="2400" lang="en-US"/>
          </a:p>
        </p:txBody>
      </p:sp>
      <p:sp>
        <p:nvSpPr>
          <p:cNvPr id="1048904" name="Text 2"/>
          <p:cNvSpPr/>
          <p:nvPr/>
        </p:nvSpPr>
        <p:spPr>
          <a:xfrm>
            <a:off x="822960" y="3749040"/>
            <a:ext cx="5486400" cy="365760"/>
          </a:xfrm>
          <a:prstGeom prst="rect"/>
          <a:noFill/>
        </p:spPr>
        <p:txBody>
          <a:bodyPr anchor="ctr" bIns="0" lIns="0" rIns="0" rtlCol="0" tIns="0" wrap="square"/>
          <a:p>
            <a:pPr indent="0" marL="0">
              <a:buNone/>
            </a:pPr>
            <a:r>
              <a:rPr b="1" dirty="0" sz="2000" lang="en-US">
                <a:solidFill>
                  <a:srgbClr val="00B8A9"/>
                </a:solidFill>
                <a:latin typeface="Calibri" pitchFamily="34" charset="0"/>
                <a:ea typeface="Calibri" pitchFamily="34" charset="-122"/>
                <a:cs typeface="Calibri" pitchFamily="34" charset="-120"/>
              </a:rPr>
              <a:t>Think about:</a:t>
            </a:r>
            <a:endParaRPr dirty="0" sz="2000" lang="en-US"/>
          </a:p>
        </p:txBody>
      </p:sp>
      <p:sp>
        <p:nvSpPr>
          <p:cNvPr id="1048905" name="Text 3"/>
          <p:cNvSpPr/>
          <p:nvPr/>
        </p:nvSpPr>
        <p:spPr>
          <a:xfrm>
            <a:off x="822960" y="4160520"/>
            <a:ext cx="10058400" cy="2011680"/>
          </a:xfrm>
          <a:prstGeom prst="rect"/>
          <a:noFill/>
        </p:spPr>
        <p:txBody>
          <a:bodyPr anchor="t" bIns="0" lIns="0" rIns="0" rtlCol="0" tIns="0" wrap="square"/>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Count how many point-to-point connections 6 systems would require</a:t>
            </a:r>
            <a:endParaRPr dirty="0" sz="2000" lang="en-US"/>
          </a:p>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Consider the legal requirement for centralized audit logging</a:t>
            </a:r>
            <a:endParaRPr dirty="0" sz="2000" lang="en-US"/>
          </a:p>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Think about how new systems might be added to this network in the future</a:t>
            </a:r>
            <a:endParaRPr dirty="0" sz="2000" lang="en-US"/>
          </a:p>
        </p:txBody>
      </p:sp>
      <p:sp>
        <p:nvSpPr>
          <p:cNvPr id="1048906" name="Text 4"/>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907" name="Text 5"/>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29</a:t>
            </a:r>
            <a:endParaRPr dirty="0" sz="900"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22" name=""/>
        <p:cNvGrpSpPr/>
        <p:nvPr/>
      </p:nvGrpSpPr>
      <p:grpSpPr>
        <a:xfrm>
          <a:off x="0" y="0"/>
          <a:ext cx="0" cy="0"/>
          <a:chOff x="0" y="0"/>
          <a:chExt cx="0" cy="0"/>
        </a:xfrm>
      </p:grpSpPr>
      <p:sp>
        <p:nvSpPr>
          <p:cNvPr id="1048911" name="Text 0"/>
          <p:cNvSpPr/>
          <p:nvPr/>
        </p:nvSpPr>
        <p:spPr>
          <a:xfrm>
            <a:off x="548640" y="457200"/>
            <a:ext cx="91440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References &amp; Further Reading</a:t>
            </a:r>
            <a:endParaRPr dirty="0" sz="2600" lang="en-US"/>
          </a:p>
        </p:txBody>
      </p:sp>
      <p:sp>
        <p:nvSpPr>
          <p:cNvPr id="1048912" name="Shape 1"/>
          <p:cNvSpPr/>
          <p:nvPr/>
        </p:nvSpPr>
        <p:spPr>
          <a:xfrm>
            <a:off x="566928" y="1097280"/>
            <a:ext cx="411480" cy="45720"/>
          </a:xfrm>
          <a:prstGeom prst="rect"/>
          <a:solidFill>
            <a:srgbClr val="00B8A9"/>
          </a:solidFill>
        </p:spPr>
      </p:sp>
      <p:sp>
        <p:nvSpPr>
          <p:cNvPr id="1048913" name="Text 2"/>
          <p:cNvSpPr/>
          <p:nvPr/>
        </p:nvSpPr>
        <p:spPr>
          <a:xfrm>
            <a:off x="594360" y="1463040"/>
            <a:ext cx="10789920" cy="3291840"/>
          </a:xfrm>
          <a:prstGeom prst="rect"/>
          <a:noFill/>
        </p:spPr>
        <p:txBody>
          <a:bodyPr anchor="t" bIns="0" lIns="0" rIns="0" rtlCol="0" tIns="0" wrap="square"/>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Hohpe, G. and Woolf, B. — Enterprise Integration Patterns</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Chappell, D. — Enterprise Service Bus</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Josuttis, N. — SOA in Practice, Ch. on Infrastructure</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MuleSoft — What is an Enterprise Service Bus? (documentation)</a:t>
            </a:r>
            <a:endParaRPr dirty="0" lang="en-US"/>
          </a:p>
        </p:txBody>
      </p:sp>
      <p:sp>
        <p:nvSpPr>
          <p:cNvPr id="1048914" name="Shape 3"/>
          <p:cNvSpPr/>
          <p:nvPr/>
        </p:nvSpPr>
        <p:spPr>
          <a:xfrm>
            <a:off x="548640" y="5029200"/>
            <a:ext cx="11064240" cy="1051560"/>
          </a:xfrm>
          <a:prstGeom prst="roundRect">
            <a:avLst>
              <a:gd name="adj" fmla="val 7826"/>
            </a:avLst>
          </a:prstGeom>
          <a:solidFill>
            <a:srgbClr val="0F2942"/>
          </a:solidFill>
        </p:spPr>
      </p:sp>
      <p:sp>
        <p:nvSpPr>
          <p:cNvPr id="1048915" name="Text 4"/>
          <p:cNvSpPr/>
          <p:nvPr/>
        </p:nvSpPr>
        <p:spPr>
          <a:xfrm>
            <a:off x="822960" y="5138928"/>
            <a:ext cx="2743200" cy="320040"/>
          </a:xfrm>
          <a:prstGeom prst="rect"/>
          <a:noFill/>
        </p:spPr>
        <p:txBody>
          <a:bodyPr anchor="ctr" bIns="0" lIns="0" rIns="0" rtlCol="0" tIns="0" wrap="square"/>
          <a:p>
            <a:pPr indent="0" marL="0">
              <a:buNone/>
            </a:pPr>
            <a:r>
              <a:rPr b="1" dirty="0" sz="1100" lang="en-US">
                <a:solidFill>
                  <a:srgbClr val="00B8A9"/>
                </a:solidFill>
                <a:latin typeface="Calibri" pitchFamily="34" charset="0"/>
                <a:ea typeface="Calibri" pitchFamily="34" charset="-122"/>
                <a:cs typeface="Calibri" pitchFamily="34" charset="-120"/>
              </a:rPr>
              <a:t>NEXT LECTURE</a:t>
            </a:r>
            <a:endParaRPr dirty="0" sz="1100" lang="en-US"/>
          </a:p>
        </p:txBody>
      </p:sp>
      <p:sp>
        <p:nvSpPr>
          <p:cNvPr id="1048916" name="Text 5"/>
          <p:cNvSpPr/>
          <p:nvPr/>
        </p:nvSpPr>
        <p:spPr>
          <a:xfrm>
            <a:off x="822960" y="5422392"/>
            <a:ext cx="10058400" cy="548640"/>
          </a:xfrm>
          <a:prstGeom prst="rect"/>
          <a:noFill/>
        </p:spPr>
        <p:txBody>
          <a:bodyPr anchor="ctr" bIns="0" lIns="0" rIns="0" rtlCol="0" tIns="0" wrap="square"/>
          <a:p>
            <a:pPr indent="0" marL="0">
              <a:buNone/>
            </a:pPr>
            <a:r>
              <a:rPr b="1" dirty="0" sz="1550" lang="en-US">
                <a:solidFill>
                  <a:srgbClr val="FFFFFF"/>
                </a:solidFill>
                <a:latin typeface="Calibri" pitchFamily="34" charset="0"/>
                <a:ea typeface="Calibri" pitchFamily="34" charset="-122"/>
                <a:cs typeface="Calibri" pitchFamily="34" charset="-120"/>
              </a:rPr>
              <a:t>Lecture 8 — Service Composition &amp; Orchestration: BPEL and Workflows</a:t>
            </a:r>
            <a:endParaRPr dirty="0" sz="1550" lang="en-US"/>
          </a:p>
        </p:txBody>
      </p:sp>
      <p:sp>
        <p:nvSpPr>
          <p:cNvPr id="1048917" name="Text 6"/>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Enterprise Service Bus (ESB)</a:t>
            </a:r>
            <a:endParaRPr dirty="0" sz="900" lang="en-US"/>
          </a:p>
        </p:txBody>
      </p:sp>
      <p:sp>
        <p:nvSpPr>
          <p:cNvPr id="1048918" name="Text 7"/>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30</a:t>
            </a:r>
            <a:endParaRPr dirty="0" sz="9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Abdolraheem Khader</cp:lastModifiedBy>
  <dcterms:created xsi:type="dcterms:W3CDTF">2026-07-27T23:22:34Z</dcterms:created>
  <dcterms:modified xsi:type="dcterms:W3CDTF">2026-09-04T11:44:32Z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68400fd19da943eb877e345123fb99a2_23</vt:lpwstr>
  </property>
</Properties>
</file>