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Lst>
  <p:sldSz type="screen16x9" cy="6858000" cx="12192000"/>
  <p:notesSz cx="6858000" cy="12192000"/>
  <p:defaultTextStyle>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611"/>
    <p:restoredTop sz="94610"/>
  </p:normalViewPr>
  <p:slideViewPr>
    <p:cSldViewPr snapToGrid="0" snapToObjects="1">
      <p:cViewPr varScale="1">
        <p:scale>
          <a:sx n="82" d="100"/>
          <a:sy n="82" d="100"/>
        </p:scale>
        <p:origin x="494" y="72"/>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tableStyles" Target="tableStyles.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25"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048581" name="Slide Image Placeholder 1"/>
          <p:cNvSpPr>
            <a:spLocks noChangeAspect="1" noRot="1" noGrp="1"/>
          </p:cNvSpPr>
          <p:nvPr>
            <p:ph type="sldImg"/>
          </p:nvPr>
        </p:nvSpPr>
        <p:spPr/>
      </p:sp>
      <p:sp>
        <p:nvSpPr>
          <p:cNvPr id="1048582" name="Notes Placeholder 2"/>
          <p:cNvSpPr>
            <a:spLocks noGrp="1"/>
          </p:cNvSpPr>
          <p:nvPr>
            <p:ph type="body" idx="1"/>
          </p:nvPr>
        </p:nvSpPr>
        <p:spPr/>
        <p:txBody>
          <a:bodyPr/>
          <a:p>
            <a:endParaRPr dirty="0" lang="en-US"/>
          </a:p>
        </p:txBody>
      </p:sp>
      <p:sp>
        <p:nvSpPr>
          <p:cNvPr id="1048583"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06" name="Slide Image Placeholder 1"/>
          <p:cNvSpPr>
            <a:spLocks noChangeAspect="1" noRot="1" noGrp="1"/>
          </p:cNvSpPr>
          <p:nvPr>
            <p:ph type="sldImg"/>
          </p:nvPr>
        </p:nvSpPr>
        <p:spPr/>
      </p:sp>
      <p:sp>
        <p:nvSpPr>
          <p:cNvPr id="1048607" name="Notes Placeholder 2"/>
          <p:cNvSpPr>
            <a:spLocks noGrp="1"/>
          </p:cNvSpPr>
          <p:nvPr>
            <p:ph type="body" idx="1"/>
          </p:nvPr>
        </p:nvSpPr>
        <p:spPr/>
        <p:txBody>
          <a:bodyPr/>
          <a:p>
            <a:endParaRPr dirty="0" lang="en-US"/>
          </a:p>
        </p:txBody>
      </p:sp>
      <p:sp>
        <p:nvSpPr>
          <p:cNvPr id="1048608"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16" name="Slide Image Placeholder 1"/>
          <p:cNvSpPr>
            <a:spLocks noChangeAspect="1" noRot="1" noGrp="1"/>
          </p:cNvSpPr>
          <p:nvPr>
            <p:ph type="sldImg"/>
          </p:nvPr>
        </p:nvSpPr>
        <p:spPr/>
      </p:sp>
      <p:sp>
        <p:nvSpPr>
          <p:cNvPr id="1048617" name="Notes Placeholder 2"/>
          <p:cNvSpPr>
            <a:spLocks noGrp="1"/>
          </p:cNvSpPr>
          <p:nvPr>
            <p:ph type="body" idx="1"/>
          </p:nvPr>
        </p:nvSpPr>
        <p:spPr/>
        <p:txBody>
          <a:bodyPr/>
          <a:p>
            <a:endParaRPr dirty="0" lang="en-US"/>
          </a:p>
        </p:txBody>
      </p:sp>
      <p:sp>
        <p:nvSpPr>
          <p:cNvPr id="1048618"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24" name="Slide Image Placeholder 1"/>
          <p:cNvSpPr>
            <a:spLocks noChangeAspect="1" noRot="1" noGrp="1"/>
          </p:cNvSpPr>
          <p:nvPr>
            <p:ph type="sldImg"/>
          </p:nvPr>
        </p:nvSpPr>
        <p:spPr/>
      </p:sp>
      <p:sp>
        <p:nvSpPr>
          <p:cNvPr id="1048625" name="Notes Placeholder 2"/>
          <p:cNvSpPr>
            <a:spLocks noGrp="1"/>
          </p:cNvSpPr>
          <p:nvPr>
            <p:ph type="body" idx="1"/>
          </p:nvPr>
        </p:nvSpPr>
        <p:spPr/>
        <p:txBody>
          <a:bodyPr/>
          <a:p>
            <a:endParaRPr dirty="0" lang="en-US"/>
          </a:p>
        </p:txBody>
      </p:sp>
      <p:sp>
        <p:nvSpPr>
          <p:cNvPr id="1048626"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34" name="Slide Image Placeholder 1"/>
          <p:cNvSpPr>
            <a:spLocks noChangeAspect="1" noRot="1" noGrp="1"/>
          </p:cNvSpPr>
          <p:nvPr>
            <p:ph type="sldImg"/>
          </p:nvPr>
        </p:nvSpPr>
        <p:spPr/>
      </p:sp>
      <p:sp>
        <p:nvSpPr>
          <p:cNvPr id="1048635" name="Notes Placeholder 2"/>
          <p:cNvSpPr>
            <a:spLocks noGrp="1"/>
          </p:cNvSpPr>
          <p:nvPr>
            <p:ph type="body" idx="1"/>
          </p:nvPr>
        </p:nvSpPr>
        <p:spPr/>
        <p:txBody>
          <a:bodyPr/>
          <a:p>
            <a:endParaRPr dirty="0" lang="en-US"/>
          </a:p>
        </p:txBody>
      </p:sp>
      <p:sp>
        <p:nvSpPr>
          <p:cNvPr id="1048636"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42" name="Slide Image Placeholder 1"/>
          <p:cNvSpPr>
            <a:spLocks noChangeAspect="1" noRot="1" noGrp="1"/>
          </p:cNvSpPr>
          <p:nvPr>
            <p:ph type="sldImg"/>
          </p:nvPr>
        </p:nvSpPr>
        <p:spPr/>
      </p:sp>
      <p:sp>
        <p:nvSpPr>
          <p:cNvPr id="1048643" name="Notes Placeholder 2"/>
          <p:cNvSpPr>
            <a:spLocks noGrp="1"/>
          </p:cNvSpPr>
          <p:nvPr>
            <p:ph type="body" idx="1"/>
          </p:nvPr>
        </p:nvSpPr>
        <p:spPr/>
        <p:txBody>
          <a:bodyPr/>
          <a:p>
            <a:endParaRPr dirty="0" lang="en-US"/>
          </a:p>
        </p:txBody>
      </p:sp>
      <p:sp>
        <p:nvSpPr>
          <p:cNvPr id="1048644"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52" name="Slide Image Placeholder 1"/>
          <p:cNvSpPr>
            <a:spLocks noChangeAspect="1" noRot="1" noGrp="1"/>
          </p:cNvSpPr>
          <p:nvPr>
            <p:ph type="sldImg"/>
          </p:nvPr>
        </p:nvSpPr>
        <p:spPr/>
      </p:sp>
      <p:sp>
        <p:nvSpPr>
          <p:cNvPr id="1048653" name="Notes Placeholder 2"/>
          <p:cNvSpPr>
            <a:spLocks noGrp="1"/>
          </p:cNvSpPr>
          <p:nvPr>
            <p:ph type="body" idx="1"/>
          </p:nvPr>
        </p:nvSpPr>
        <p:spPr/>
        <p:txBody>
          <a:bodyPr/>
          <a:p>
            <a:endParaRPr dirty="0" lang="en-US"/>
          </a:p>
        </p:txBody>
      </p:sp>
      <p:sp>
        <p:nvSpPr>
          <p:cNvPr id="1048654"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62" name="Slide Image Placeholder 1"/>
          <p:cNvSpPr>
            <a:spLocks noChangeAspect="1" noRot="1" noGrp="1"/>
          </p:cNvSpPr>
          <p:nvPr>
            <p:ph type="sldImg"/>
          </p:nvPr>
        </p:nvSpPr>
        <p:spPr/>
      </p:sp>
      <p:sp>
        <p:nvSpPr>
          <p:cNvPr id="1048663" name="Notes Placeholder 2"/>
          <p:cNvSpPr>
            <a:spLocks noGrp="1"/>
          </p:cNvSpPr>
          <p:nvPr>
            <p:ph type="body" idx="1"/>
          </p:nvPr>
        </p:nvSpPr>
        <p:spPr/>
        <p:txBody>
          <a:bodyPr/>
          <a:p>
            <a:endParaRPr dirty="0" lang="en-US"/>
          </a:p>
        </p:txBody>
      </p:sp>
      <p:sp>
        <p:nvSpPr>
          <p:cNvPr id="1048664" name="Slide Number Placeholder 3"/>
          <p:cNvSpPr>
            <a:spLocks noGrp="1"/>
          </p:cNvSpPr>
          <p:nvPr>
            <p:ph type="sldNum" sz="quarter" idx="10"/>
          </p:nvPr>
        </p:nvSpPr>
        <p:spPr/>
        <p:txBody>
          <a:bodyPr/>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670" name="Slide Image Placeholder 1"/>
          <p:cNvSpPr>
            <a:spLocks noChangeAspect="1" noRot="1" noGrp="1"/>
          </p:cNvSpPr>
          <p:nvPr>
            <p:ph type="sldImg"/>
          </p:nvPr>
        </p:nvSpPr>
        <p:spPr/>
      </p:sp>
      <p:sp>
        <p:nvSpPr>
          <p:cNvPr id="1048671" name="Notes Placeholder 2"/>
          <p:cNvSpPr>
            <a:spLocks noGrp="1"/>
          </p:cNvSpPr>
          <p:nvPr>
            <p:ph type="body" idx="1"/>
          </p:nvPr>
        </p:nvSpPr>
        <p:spPr/>
        <p:txBody>
          <a:bodyPr/>
          <a:p>
            <a:endParaRPr dirty="0" lang="en-US"/>
          </a:p>
        </p:txBody>
      </p:sp>
      <p:sp>
        <p:nvSpPr>
          <p:cNvPr id="1048672" name="Slide Number Placeholder 3"/>
          <p:cNvSpPr>
            <a:spLocks noGrp="1"/>
          </p:cNvSpPr>
          <p:nvPr>
            <p:ph type="sldNum" sz="quarter" idx="10"/>
          </p:nvPr>
        </p:nvSpPr>
        <p:spPr/>
        <p:txBody>
          <a:bodyPr/>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80" name="Slide Image Placeholder 1"/>
          <p:cNvSpPr>
            <a:spLocks noChangeAspect="1" noRot="1" noGrp="1"/>
          </p:cNvSpPr>
          <p:nvPr>
            <p:ph type="sldImg"/>
          </p:nvPr>
        </p:nvSpPr>
        <p:spPr/>
      </p:sp>
      <p:sp>
        <p:nvSpPr>
          <p:cNvPr id="1048681" name="Notes Placeholder 2"/>
          <p:cNvSpPr>
            <a:spLocks noGrp="1"/>
          </p:cNvSpPr>
          <p:nvPr>
            <p:ph type="body" idx="1"/>
          </p:nvPr>
        </p:nvSpPr>
        <p:spPr/>
        <p:txBody>
          <a:bodyPr/>
          <a:p>
            <a:endParaRPr dirty="0" lang="en-US"/>
          </a:p>
        </p:txBody>
      </p:sp>
      <p:sp>
        <p:nvSpPr>
          <p:cNvPr id="1048682" name="Slide Number Placeholder 3"/>
          <p:cNvSpPr>
            <a:spLocks noGrp="1"/>
          </p:cNvSpPr>
          <p:nvPr>
            <p:ph type="sldNum" sz="quarter" idx="10"/>
          </p:nvPr>
        </p:nvSpPr>
        <p:spPr/>
        <p:txBody>
          <a:bodyPr/>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705" name="Slide Image Placeholder 1"/>
          <p:cNvSpPr>
            <a:spLocks noChangeAspect="1" noRot="1" noGrp="1"/>
          </p:cNvSpPr>
          <p:nvPr>
            <p:ph type="sldImg"/>
          </p:nvPr>
        </p:nvSpPr>
        <p:spPr/>
      </p:sp>
      <p:sp>
        <p:nvSpPr>
          <p:cNvPr id="1048706" name="Notes Placeholder 2"/>
          <p:cNvSpPr>
            <a:spLocks noGrp="1"/>
          </p:cNvSpPr>
          <p:nvPr>
            <p:ph type="body" idx="1"/>
          </p:nvPr>
        </p:nvSpPr>
        <p:spPr/>
        <p:txBody>
          <a:bodyPr/>
          <a:p>
            <a:endParaRPr dirty="0" lang="en-US"/>
          </a:p>
        </p:txBody>
      </p:sp>
      <p:sp>
        <p:nvSpPr>
          <p:cNvPr id="1048707" name="Slide Number Placeholder 3"/>
          <p:cNvSpPr>
            <a:spLocks noGrp="1"/>
          </p:cNvSpPr>
          <p:nvPr>
            <p:ph type="sldNum" sz="quarter" idx="10"/>
          </p:nvPr>
        </p:nvSpPr>
        <p:spPr/>
        <p:txBody>
          <a:bodyPr/>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715" name="Slide Image Placeholder 1"/>
          <p:cNvSpPr>
            <a:spLocks noChangeAspect="1" noRot="1" noGrp="1"/>
          </p:cNvSpPr>
          <p:nvPr>
            <p:ph type="sldImg"/>
          </p:nvPr>
        </p:nvSpPr>
        <p:spPr/>
      </p:sp>
      <p:sp>
        <p:nvSpPr>
          <p:cNvPr id="1048716" name="Notes Placeholder 2"/>
          <p:cNvSpPr>
            <a:spLocks noGrp="1"/>
          </p:cNvSpPr>
          <p:nvPr>
            <p:ph type="body" idx="1"/>
          </p:nvPr>
        </p:nvSpPr>
        <p:spPr/>
        <p:txBody>
          <a:bodyPr/>
          <a:p>
            <a:endParaRPr dirty="0" lang="en-US"/>
          </a:p>
        </p:txBody>
      </p:sp>
      <p:sp>
        <p:nvSpPr>
          <p:cNvPr id="1048717" name="Slide Number Placeholder 3"/>
          <p:cNvSpPr>
            <a:spLocks noGrp="1"/>
          </p:cNvSpPr>
          <p:nvPr>
            <p:ph type="sldNum" sz="quarter" idx="10"/>
          </p:nvPr>
        </p:nvSpPr>
        <p:spPr/>
        <p:txBody>
          <a:bodyPr/>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725" name="Slide Image Placeholder 1"/>
          <p:cNvSpPr>
            <a:spLocks noChangeAspect="1" noRot="1" noGrp="1"/>
          </p:cNvSpPr>
          <p:nvPr>
            <p:ph type="sldImg"/>
          </p:nvPr>
        </p:nvSpPr>
        <p:spPr/>
      </p:sp>
      <p:sp>
        <p:nvSpPr>
          <p:cNvPr id="1048726" name="Notes Placeholder 2"/>
          <p:cNvSpPr>
            <a:spLocks noGrp="1"/>
          </p:cNvSpPr>
          <p:nvPr>
            <p:ph type="body" idx="1"/>
          </p:nvPr>
        </p:nvSpPr>
        <p:spPr/>
        <p:txBody>
          <a:bodyPr/>
          <a:p>
            <a:endParaRPr dirty="0" lang="en-US"/>
          </a:p>
        </p:txBody>
      </p:sp>
      <p:sp>
        <p:nvSpPr>
          <p:cNvPr id="1048727" name="Slide Number Placeholder 3"/>
          <p:cNvSpPr>
            <a:spLocks noGrp="1"/>
          </p:cNvSpPr>
          <p:nvPr>
            <p:ph type="sldNum" sz="quarter" idx="10"/>
          </p:nvPr>
        </p:nvSpPr>
        <p:spPr/>
        <p:txBody>
          <a:bodyPr/>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735" name="Slide Image Placeholder 1"/>
          <p:cNvSpPr>
            <a:spLocks noChangeAspect="1" noRot="1" noGrp="1"/>
          </p:cNvSpPr>
          <p:nvPr>
            <p:ph type="sldImg"/>
          </p:nvPr>
        </p:nvSpPr>
        <p:spPr/>
      </p:sp>
      <p:sp>
        <p:nvSpPr>
          <p:cNvPr id="1048736" name="Notes Placeholder 2"/>
          <p:cNvSpPr>
            <a:spLocks noGrp="1"/>
          </p:cNvSpPr>
          <p:nvPr>
            <p:ph type="body" idx="1"/>
          </p:nvPr>
        </p:nvSpPr>
        <p:spPr/>
        <p:txBody>
          <a:bodyPr/>
          <a:p>
            <a:endParaRPr dirty="0" lang="en-US"/>
          </a:p>
        </p:txBody>
      </p:sp>
      <p:sp>
        <p:nvSpPr>
          <p:cNvPr id="1048737" name="Slide Number Placeholder 3"/>
          <p:cNvSpPr>
            <a:spLocks noGrp="1"/>
          </p:cNvSpPr>
          <p:nvPr>
            <p:ph type="sldNum" sz="quarter" idx="10"/>
          </p:nvPr>
        </p:nvSpPr>
        <p:spPr/>
        <p:txBody>
          <a:bodyPr/>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743" name="Slide Image Placeholder 1"/>
          <p:cNvSpPr>
            <a:spLocks noChangeAspect="1" noRot="1" noGrp="1"/>
          </p:cNvSpPr>
          <p:nvPr>
            <p:ph type="sldImg"/>
          </p:nvPr>
        </p:nvSpPr>
        <p:spPr/>
      </p:sp>
      <p:sp>
        <p:nvSpPr>
          <p:cNvPr id="1048744" name="Notes Placeholder 2"/>
          <p:cNvSpPr>
            <a:spLocks noGrp="1"/>
          </p:cNvSpPr>
          <p:nvPr>
            <p:ph type="body" idx="1"/>
          </p:nvPr>
        </p:nvSpPr>
        <p:spPr/>
        <p:txBody>
          <a:bodyPr/>
          <a:p>
            <a:endParaRPr dirty="0" lang="en-US"/>
          </a:p>
        </p:txBody>
      </p:sp>
      <p:sp>
        <p:nvSpPr>
          <p:cNvPr id="1048745" name="Slide Number Placeholder 3"/>
          <p:cNvSpPr>
            <a:spLocks noGrp="1"/>
          </p:cNvSpPr>
          <p:nvPr>
            <p:ph type="sldNum" sz="quarter" idx="10"/>
          </p:nvPr>
        </p:nvSpPr>
        <p:spPr/>
        <p:txBody>
          <a:bodyPr/>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751" name="Slide Image Placeholder 1"/>
          <p:cNvSpPr>
            <a:spLocks noChangeAspect="1" noRot="1" noGrp="1"/>
          </p:cNvSpPr>
          <p:nvPr>
            <p:ph type="sldImg"/>
          </p:nvPr>
        </p:nvSpPr>
        <p:spPr/>
      </p:sp>
      <p:sp>
        <p:nvSpPr>
          <p:cNvPr id="1048752" name="Notes Placeholder 2"/>
          <p:cNvSpPr>
            <a:spLocks noGrp="1"/>
          </p:cNvSpPr>
          <p:nvPr>
            <p:ph type="body" idx="1"/>
          </p:nvPr>
        </p:nvSpPr>
        <p:spPr/>
        <p:txBody>
          <a:bodyPr/>
          <a:p>
            <a:endParaRPr dirty="0" lang="en-US"/>
          </a:p>
        </p:txBody>
      </p:sp>
      <p:sp>
        <p:nvSpPr>
          <p:cNvPr id="1048753" name="Slide Number Placeholder 3"/>
          <p:cNvSpPr>
            <a:spLocks noGrp="1"/>
          </p:cNvSpPr>
          <p:nvPr>
            <p:ph type="sldNum" sz="quarter" idx="10"/>
          </p:nvPr>
        </p:nvSpPr>
        <p:spPr/>
        <p:txBody>
          <a:bodyPr/>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1048761" name="Slide Image Placeholder 1"/>
          <p:cNvSpPr>
            <a:spLocks noChangeAspect="1" noRot="1" noGrp="1"/>
          </p:cNvSpPr>
          <p:nvPr>
            <p:ph type="sldImg"/>
          </p:nvPr>
        </p:nvSpPr>
        <p:spPr/>
      </p:sp>
      <p:sp>
        <p:nvSpPr>
          <p:cNvPr id="1048762" name="Notes Placeholder 2"/>
          <p:cNvSpPr>
            <a:spLocks noGrp="1"/>
          </p:cNvSpPr>
          <p:nvPr>
            <p:ph type="body" idx="1"/>
          </p:nvPr>
        </p:nvSpPr>
        <p:spPr/>
        <p:txBody>
          <a:bodyPr/>
          <a:p>
            <a:endParaRPr dirty="0" lang="en-US"/>
          </a:p>
        </p:txBody>
      </p:sp>
      <p:sp>
        <p:nvSpPr>
          <p:cNvPr id="1048763" name="Slide Number Placeholder 3"/>
          <p:cNvSpPr>
            <a:spLocks noGrp="1"/>
          </p:cNvSpPr>
          <p:nvPr>
            <p:ph type="sldNum" sz="quarter" idx="10"/>
          </p:nvPr>
        </p:nvSpPr>
        <p:spPr/>
        <p:txBody>
          <a:bodyPr/>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sp>
        <p:nvSpPr>
          <p:cNvPr id="1048769" name="Slide Image Placeholder 1"/>
          <p:cNvSpPr>
            <a:spLocks noChangeAspect="1" noRot="1" noGrp="1"/>
          </p:cNvSpPr>
          <p:nvPr>
            <p:ph type="sldImg"/>
          </p:nvPr>
        </p:nvSpPr>
        <p:spPr/>
      </p:sp>
      <p:sp>
        <p:nvSpPr>
          <p:cNvPr id="1048770" name="Notes Placeholder 2"/>
          <p:cNvSpPr>
            <a:spLocks noGrp="1"/>
          </p:cNvSpPr>
          <p:nvPr>
            <p:ph type="body" idx="1"/>
          </p:nvPr>
        </p:nvSpPr>
        <p:spPr/>
        <p:txBody>
          <a:bodyPr/>
          <a:p>
            <a:endParaRPr dirty="0" lang="en-US"/>
          </a:p>
        </p:txBody>
      </p:sp>
      <p:sp>
        <p:nvSpPr>
          <p:cNvPr id="1048771" name="Slide Number Placeholder 3"/>
          <p:cNvSpPr>
            <a:spLocks noGrp="1"/>
          </p:cNvSpPr>
          <p:nvPr>
            <p:ph type="sldNum" sz="quarter" idx="10"/>
          </p:nvPr>
        </p:nvSpPr>
        <p:spPr/>
        <p:txBody>
          <a:bodyPr/>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8777" name="Slide Image Placeholder 1"/>
          <p:cNvSpPr>
            <a:spLocks noChangeAspect="1" noRot="1" noGrp="1"/>
          </p:cNvSpPr>
          <p:nvPr>
            <p:ph type="sldImg"/>
          </p:nvPr>
        </p:nvSpPr>
        <p:spPr/>
      </p:sp>
      <p:sp>
        <p:nvSpPr>
          <p:cNvPr id="1048778" name="Notes Placeholder 2"/>
          <p:cNvSpPr>
            <a:spLocks noGrp="1"/>
          </p:cNvSpPr>
          <p:nvPr>
            <p:ph type="body" idx="1"/>
          </p:nvPr>
        </p:nvSpPr>
        <p:spPr/>
        <p:txBody>
          <a:bodyPr/>
          <a:p>
            <a:endParaRPr dirty="0" lang="en-US"/>
          </a:p>
        </p:txBody>
      </p:sp>
      <p:sp>
        <p:nvSpPr>
          <p:cNvPr id="1048779" name="Slide Number Placeholder 3"/>
          <p:cNvSpPr>
            <a:spLocks noGrp="1"/>
          </p:cNvSpPr>
          <p:nvPr>
            <p:ph type="sldNum" sz="quarter" idx="10"/>
          </p:nvPr>
        </p:nvSpPr>
        <p:spPr/>
        <p:txBody>
          <a:bodyPr/>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1048801" name="Slide Image Placeholder 1"/>
          <p:cNvSpPr>
            <a:spLocks noChangeAspect="1" noRot="1" noGrp="1"/>
          </p:cNvSpPr>
          <p:nvPr>
            <p:ph type="sldImg"/>
          </p:nvPr>
        </p:nvSpPr>
        <p:spPr/>
      </p:sp>
      <p:sp>
        <p:nvSpPr>
          <p:cNvPr id="1048802" name="Notes Placeholder 2"/>
          <p:cNvSpPr>
            <a:spLocks noGrp="1"/>
          </p:cNvSpPr>
          <p:nvPr>
            <p:ph type="body" idx="1"/>
          </p:nvPr>
        </p:nvSpPr>
        <p:spPr/>
        <p:txBody>
          <a:bodyPr/>
          <a:p>
            <a:endParaRPr dirty="0" lang="en-US"/>
          </a:p>
        </p:txBody>
      </p:sp>
      <p:sp>
        <p:nvSpPr>
          <p:cNvPr id="1048803" name="Slide Number Placeholder 3"/>
          <p:cNvSpPr>
            <a:spLocks noGrp="1"/>
          </p:cNvSpPr>
          <p:nvPr>
            <p:ph type="sldNum" sz="quarter" idx="10"/>
          </p:nvPr>
        </p:nvSpPr>
        <p:spPr/>
        <p:txBody>
          <a:bodyPr/>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sp>
        <p:nvSpPr>
          <p:cNvPr id="1048808" name="Slide Image Placeholder 1"/>
          <p:cNvSpPr>
            <a:spLocks noChangeAspect="1" noRot="1" noGrp="1"/>
          </p:cNvSpPr>
          <p:nvPr>
            <p:ph type="sldImg"/>
          </p:nvPr>
        </p:nvSpPr>
        <p:spPr/>
      </p:sp>
      <p:sp>
        <p:nvSpPr>
          <p:cNvPr id="1048809" name="Notes Placeholder 2"/>
          <p:cNvSpPr>
            <a:spLocks noGrp="1"/>
          </p:cNvSpPr>
          <p:nvPr>
            <p:ph type="body" idx="1"/>
          </p:nvPr>
        </p:nvSpPr>
        <p:spPr/>
        <p:txBody>
          <a:bodyPr/>
          <a:p>
            <a:endParaRPr dirty="0" lang="en-US"/>
          </a:p>
        </p:txBody>
      </p:sp>
      <p:sp>
        <p:nvSpPr>
          <p:cNvPr id="1048810" name="Slide Number Placeholder 3"/>
          <p:cNvSpPr>
            <a:spLocks noGrp="1"/>
          </p:cNvSpPr>
          <p:nvPr>
            <p:ph type="sldNum" sz="quarter" idx="10"/>
          </p:nvPr>
        </p:nvSpPr>
        <p:spPr/>
        <p:txBody>
          <a:bodyPr/>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48816" name="Slide Image Placeholder 1"/>
          <p:cNvSpPr>
            <a:spLocks noChangeAspect="1" noRot="1" noGrp="1"/>
          </p:cNvSpPr>
          <p:nvPr>
            <p:ph type="sldImg"/>
          </p:nvPr>
        </p:nvSpPr>
        <p:spPr/>
      </p:sp>
      <p:sp>
        <p:nvSpPr>
          <p:cNvPr id="1048817" name="Notes Placeholder 2"/>
          <p:cNvSpPr>
            <a:spLocks noGrp="1"/>
          </p:cNvSpPr>
          <p:nvPr>
            <p:ph type="body" idx="1"/>
          </p:nvPr>
        </p:nvSpPr>
        <p:spPr/>
        <p:txBody>
          <a:bodyPr/>
          <a:p>
            <a:endParaRPr dirty="0" lang="en-US"/>
          </a:p>
        </p:txBody>
      </p:sp>
      <p:sp>
        <p:nvSpPr>
          <p:cNvPr id="1048818" name="Slide Number Placeholder 3"/>
          <p:cNvSpPr>
            <a:spLocks noGrp="1"/>
          </p:cNvSpPr>
          <p:nvPr>
            <p:ph type="sldNum" sz="quarter" idx="10"/>
          </p:nvPr>
        </p:nvSpPr>
        <p:spPr/>
        <p:txBody>
          <a:bodyPr/>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03" name=""/>
        <p:cNvGrpSpPr/>
        <p:nvPr/>
      </p:nvGrpSpPr>
      <p:grpSpPr>
        <a:xfrm>
          <a:off x="0" y="0"/>
          <a:ext cx="0" cy="0"/>
          <a:chOff x="0" y="0"/>
          <a:chExt cx="0" cy="0"/>
        </a:xfrm>
      </p:grpSpPr>
      <p:sp>
        <p:nvSpPr>
          <p:cNvPr id="1048824" name="Slide Image Placeholder 1"/>
          <p:cNvSpPr>
            <a:spLocks noChangeAspect="1" noRot="1" noGrp="1"/>
          </p:cNvSpPr>
          <p:nvPr>
            <p:ph type="sldImg"/>
          </p:nvPr>
        </p:nvSpPr>
        <p:spPr/>
      </p:sp>
      <p:sp>
        <p:nvSpPr>
          <p:cNvPr id="1048825" name="Notes Placeholder 2"/>
          <p:cNvSpPr>
            <a:spLocks noGrp="1"/>
          </p:cNvSpPr>
          <p:nvPr>
            <p:ph type="body" idx="1"/>
          </p:nvPr>
        </p:nvSpPr>
        <p:spPr/>
        <p:txBody>
          <a:bodyPr/>
          <a:p>
            <a:endParaRPr dirty="0" lang="en-US"/>
          </a:p>
        </p:txBody>
      </p:sp>
      <p:sp>
        <p:nvSpPr>
          <p:cNvPr id="1048826" name="Slide Number Placeholder 3"/>
          <p:cNvSpPr>
            <a:spLocks noGrp="1"/>
          </p:cNvSpPr>
          <p:nvPr>
            <p:ph type="sldNum" sz="quarter" idx="10"/>
          </p:nvPr>
        </p:nvSpPr>
        <p:spPr/>
        <p:txBody>
          <a:bodyPr/>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06" name=""/>
        <p:cNvGrpSpPr/>
        <p:nvPr/>
      </p:nvGrpSpPr>
      <p:grpSpPr>
        <a:xfrm>
          <a:off x="0" y="0"/>
          <a:ext cx="0" cy="0"/>
          <a:chOff x="0" y="0"/>
          <a:chExt cx="0" cy="0"/>
        </a:xfrm>
      </p:grpSpPr>
      <p:sp>
        <p:nvSpPr>
          <p:cNvPr id="1048832" name="Slide Image Placeholder 1"/>
          <p:cNvSpPr>
            <a:spLocks noChangeAspect="1" noRot="1" noGrp="1"/>
          </p:cNvSpPr>
          <p:nvPr>
            <p:ph type="sldImg"/>
          </p:nvPr>
        </p:nvSpPr>
        <p:spPr/>
      </p:sp>
      <p:sp>
        <p:nvSpPr>
          <p:cNvPr id="1048833" name="Notes Placeholder 2"/>
          <p:cNvSpPr>
            <a:spLocks noGrp="1"/>
          </p:cNvSpPr>
          <p:nvPr>
            <p:ph type="body" idx="1"/>
          </p:nvPr>
        </p:nvSpPr>
        <p:spPr/>
        <p:txBody>
          <a:bodyPr/>
          <a:p>
            <a:endParaRPr dirty="0" lang="en-US"/>
          </a:p>
        </p:txBody>
      </p:sp>
      <p:sp>
        <p:nvSpPr>
          <p:cNvPr id="1048834" name="Slide Number Placeholder 3"/>
          <p:cNvSpPr>
            <a:spLocks noGrp="1"/>
          </p:cNvSpPr>
          <p:nvPr>
            <p:ph type="sldNum" sz="quarter" idx="10"/>
          </p:nvPr>
        </p:nvSpPr>
        <p:spPr/>
        <p:txBody>
          <a:bodyPr/>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09" name=""/>
        <p:cNvGrpSpPr/>
        <p:nvPr/>
      </p:nvGrpSpPr>
      <p:grpSpPr>
        <a:xfrm>
          <a:off x="0" y="0"/>
          <a:ext cx="0" cy="0"/>
          <a:chOff x="0" y="0"/>
          <a:chExt cx="0" cy="0"/>
        </a:xfrm>
      </p:grpSpPr>
      <p:sp>
        <p:nvSpPr>
          <p:cNvPr id="1048840" name="Slide Image Placeholder 1"/>
          <p:cNvSpPr>
            <a:spLocks noChangeAspect="1" noRot="1" noGrp="1"/>
          </p:cNvSpPr>
          <p:nvPr>
            <p:ph type="sldImg"/>
          </p:nvPr>
        </p:nvSpPr>
        <p:spPr/>
      </p:sp>
      <p:sp>
        <p:nvSpPr>
          <p:cNvPr id="1048841" name="Notes Placeholder 2"/>
          <p:cNvSpPr>
            <a:spLocks noGrp="1"/>
          </p:cNvSpPr>
          <p:nvPr>
            <p:ph type="body" idx="1"/>
          </p:nvPr>
        </p:nvSpPr>
        <p:spPr/>
        <p:txBody>
          <a:bodyPr/>
          <a:p>
            <a:endParaRPr dirty="0" lang="en-US"/>
          </a:p>
        </p:txBody>
      </p:sp>
      <p:sp>
        <p:nvSpPr>
          <p:cNvPr id="1048842" name="Slide Number Placeholder 3"/>
          <p:cNvSpPr>
            <a:spLocks noGrp="1"/>
          </p:cNvSpPr>
          <p:nvPr>
            <p:ph type="sldNum" sz="quarter" idx="10"/>
          </p:nvPr>
        </p:nvSpPr>
        <p:spPr/>
        <p:txBody>
          <a:bodyPr/>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12" name=""/>
        <p:cNvGrpSpPr/>
        <p:nvPr/>
      </p:nvGrpSpPr>
      <p:grpSpPr>
        <a:xfrm>
          <a:off x="0" y="0"/>
          <a:ext cx="0" cy="0"/>
          <a:chOff x="0" y="0"/>
          <a:chExt cx="0" cy="0"/>
        </a:xfrm>
      </p:grpSpPr>
      <p:sp>
        <p:nvSpPr>
          <p:cNvPr id="1048848" name="Slide Image Placeholder 1"/>
          <p:cNvSpPr>
            <a:spLocks noChangeAspect="1" noRot="1" noGrp="1"/>
          </p:cNvSpPr>
          <p:nvPr>
            <p:ph type="sldImg"/>
          </p:nvPr>
        </p:nvSpPr>
        <p:spPr/>
      </p:sp>
      <p:sp>
        <p:nvSpPr>
          <p:cNvPr id="1048849" name="Notes Placeholder 2"/>
          <p:cNvSpPr>
            <a:spLocks noGrp="1"/>
          </p:cNvSpPr>
          <p:nvPr>
            <p:ph type="body" idx="1"/>
          </p:nvPr>
        </p:nvSpPr>
        <p:spPr/>
        <p:txBody>
          <a:bodyPr/>
          <a:p>
            <a:endParaRPr dirty="0" lang="en-US"/>
          </a:p>
        </p:txBody>
      </p:sp>
      <p:sp>
        <p:nvSpPr>
          <p:cNvPr id="1048850" name="Slide Number Placeholder 3"/>
          <p:cNvSpPr>
            <a:spLocks noGrp="1"/>
          </p:cNvSpPr>
          <p:nvPr>
            <p:ph type="sldNum" sz="quarter" idx="10"/>
          </p:nvPr>
        </p:nvSpPr>
        <p:spPr/>
        <p:txBody>
          <a:bodyPr/>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15" name=""/>
        <p:cNvGrpSpPr/>
        <p:nvPr/>
      </p:nvGrpSpPr>
      <p:grpSpPr>
        <a:xfrm>
          <a:off x="0" y="0"/>
          <a:ext cx="0" cy="0"/>
          <a:chOff x="0" y="0"/>
          <a:chExt cx="0" cy="0"/>
        </a:xfrm>
      </p:grpSpPr>
      <p:sp>
        <p:nvSpPr>
          <p:cNvPr id="1048856" name="Slide Image Placeholder 1"/>
          <p:cNvSpPr>
            <a:spLocks noChangeAspect="1" noRot="1" noGrp="1"/>
          </p:cNvSpPr>
          <p:nvPr>
            <p:ph type="sldImg"/>
          </p:nvPr>
        </p:nvSpPr>
        <p:spPr/>
      </p:sp>
      <p:sp>
        <p:nvSpPr>
          <p:cNvPr id="1048857" name="Notes Placeholder 2"/>
          <p:cNvSpPr>
            <a:spLocks noGrp="1"/>
          </p:cNvSpPr>
          <p:nvPr>
            <p:ph type="body" idx="1"/>
          </p:nvPr>
        </p:nvSpPr>
        <p:spPr/>
        <p:txBody>
          <a:bodyPr/>
          <a:p>
            <a:endParaRPr dirty="0" lang="en-US"/>
          </a:p>
        </p:txBody>
      </p:sp>
      <p:sp>
        <p:nvSpPr>
          <p:cNvPr id="1048858" name="Slide Number Placeholder 3"/>
          <p:cNvSpPr>
            <a:spLocks noGrp="1"/>
          </p:cNvSpPr>
          <p:nvPr>
            <p:ph type="sldNum" sz="quarter" idx="10"/>
          </p:nvPr>
        </p:nvSpPr>
        <p:spPr/>
        <p:txBody>
          <a:bodyPr/>
          <a:p>
            <a:fld id="{F7021451-1387-4CA6-816F-3879F97B5CBC}"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18" name=""/>
        <p:cNvGrpSpPr/>
        <p:nvPr/>
      </p:nvGrpSpPr>
      <p:grpSpPr>
        <a:xfrm>
          <a:off x="0" y="0"/>
          <a:ext cx="0" cy="0"/>
          <a:chOff x="0" y="0"/>
          <a:chExt cx="0" cy="0"/>
        </a:xfrm>
      </p:grpSpPr>
      <p:sp>
        <p:nvSpPr>
          <p:cNvPr id="1048883" name="Slide Image Placeholder 1"/>
          <p:cNvSpPr>
            <a:spLocks noChangeAspect="1" noRot="1" noGrp="1"/>
          </p:cNvSpPr>
          <p:nvPr>
            <p:ph type="sldImg"/>
          </p:nvPr>
        </p:nvSpPr>
        <p:spPr/>
      </p:sp>
      <p:sp>
        <p:nvSpPr>
          <p:cNvPr id="1048884" name="Notes Placeholder 2"/>
          <p:cNvSpPr>
            <a:spLocks noGrp="1"/>
          </p:cNvSpPr>
          <p:nvPr>
            <p:ph type="body" idx="1"/>
          </p:nvPr>
        </p:nvSpPr>
        <p:spPr/>
        <p:txBody>
          <a:bodyPr/>
          <a:p>
            <a:endParaRPr dirty="0" lang="en-US"/>
          </a:p>
        </p:txBody>
      </p:sp>
      <p:sp>
        <p:nvSpPr>
          <p:cNvPr id="1048885" name="Slide Number Placeholder 3"/>
          <p:cNvSpPr>
            <a:spLocks noGrp="1"/>
          </p:cNvSpPr>
          <p:nvPr>
            <p:ph type="sldNum" sz="quarter" idx="10"/>
          </p:nvPr>
        </p:nvSpPr>
        <p:spPr/>
        <p:txBody>
          <a:bodyPr/>
          <a:p>
            <a:fld id="{F7021451-1387-4CA6-816F-3879F97B5CBC}"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21" name=""/>
        <p:cNvGrpSpPr/>
        <p:nvPr/>
      </p:nvGrpSpPr>
      <p:grpSpPr>
        <a:xfrm>
          <a:off x="0" y="0"/>
          <a:ext cx="0" cy="0"/>
          <a:chOff x="0" y="0"/>
          <a:chExt cx="0" cy="0"/>
        </a:xfrm>
      </p:grpSpPr>
      <p:sp>
        <p:nvSpPr>
          <p:cNvPr id="1048892" name="Slide Image Placeholder 1"/>
          <p:cNvSpPr>
            <a:spLocks noChangeAspect="1" noRot="1" noGrp="1"/>
          </p:cNvSpPr>
          <p:nvPr>
            <p:ph type="sldImg"/>
          </p:nvPr>
        </p:nvSpPr>
        <p:spPr/>
      </p:sp>
      <p:sp>
        <p:nvSpPr>
          <p:cNvPr id="1048893" name="Notes Placeholder 2"/>
          <p:cNvSpPr>
            <a:spLocks noGrp="1"/>
          </p:cNvSpPr>
          <p:nvPr>
            <p:ph type="body" idx="1"/>
          </p:nvPr>
        </p:nvSpPr>
        <p:spPr/>
        <p:txBody>
          <a:bodyPr/>
          <a:p>
            <a:endParaRPr dirty="0" lang="en-US"/>
          </a:p>
        </p:txBody>
      </p:sp>
      <p:sp>
        <p:nvSpPr>
          <p:cNvPr id="1048894" name="Slide Number Placeholder 3"/>
          <p:cNvSpPr>
            <a:spLocks noGrp="1"/>
          </p:cNvSpPr>
          <p:nvPr>
            <p:ph type="sldNum" sz="quarter" idx="10"/>
          </p:nvPr>
        </p:nvSpPr>
        <p:spPr/>
        <p:txBody>
          <a:bodyPr/>
          <a:p>
            <a:fld id="{F7021451-1387-4CA6-816F-3879F97B5CBC}" type="slidenum">
              <a:rPr lang="en-US"/>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24" name=""/>
        <p:cNvGrpSpPr/>
        <p:nvPr/>
      </p:nvGrpSpPr>
      <p:grpSpPr>
        <a:xfrm>
          <a:off x="0" y="0"/>
          <a:ext cx="0" cy="0"/>
          <a:chOff x="0" y="0"/>
          <a:chExt cx="0" cy="0"/>
        </a:xfrm>
      </p:grpSpPr>
      <p:sp>
        <p:nvSpPr>
          <p:cNvPr id="1048903" name="Slide Image Placeholder 1"/>
          <p:cNvSpPr>
            <a:spLocks noChangeAspect="1" noRot="1" noGrp="1"/>
          </p:cNvSpPr>
          <p:nvPr>
            <p:ph type="sldImg"/>
          </p:nvPr>
        </p:nvSpPr>
        <p:spPr/>
      </p:sp>
      <p:sp>
        <p:nvSpPr>
          <p:cNvPr id="1048904" name="Notes Placeholder 2"/>
          <p:cNvSpPr>
            <a:spLocks noGrp="1"/>
          </p:cNvSpPr>
          <p:nvPr>
            <p:ph type="body" idx="1"/>
          </p:nvPr>
        </p:nvSpPr>
        <p:spPr/>
        <p:txBody>
          <a:bodyPr/>
          <a:p>
            <a:endParaRPr dirty="0" lang="en-US"/>
          </a:p>
        </p:txBody>
      </p:sp>
      <p:sp>
        <p:nvSpPr>
          <p:cNvPr id="1048905" name="Slide Number Placeholder 3"/>
          <p:cNvSpPr>
            <a:spLocks noGrp="1"/>
          </p:cNvSpPr>
          <p:nvPr>
            <p:ph type="sldNum" sz="quarter" idx="10"/>
          </p:nvPr>
        </p:nvSpPr>
        <p:spPr/>
        <p:txBody>
          <a:bodyPr/>
          <a:p>
            <a:fld id="{F7021451-1387-4CA6-816F-3879F97B5CBC}" type="slidenum">
              <a:rPr lang="en-US"/>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4"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49" r:id="rId1"/>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942"/>
        </a:solidFill>
        <a:effectLst/>
      </p:bgPr>
    </p:bg>
    <p:spTree>
      <p:nvGrpSpPr>
        <p:cNvPr id="15" name=""/>
        <p:cNvGrpSpPr/>
        <p:nvPr/>
      </p:nvGrpSpPr>
      <p:grpSpPr>
        <a:xfrm>
          <a:off x="0" y="0"/>
          <a:ext cx="0" cy="0"/>
          <a:chOff x="0" y="0"/>
          <a:chExt cx="0" cy="0"/>
        </a:xfrm>
      </p:grpSpPr>
      <p:sp>
        <p:nvSpPr>
          <p:cNvPr id="1048576" name="Shape 0"/>
          <p:cNvSpPr/>
          <p:nvPr/>
        </p:nvSpPr>
        <p:spPr>
          <a:xfrm>
            <a:off x="0" y="0"/>
            <a:ext cx="4206240" cy="6858000"/>
          </a:xfrm>
          <a:prstGeom prst="rect"/>
          <a:solidFill>
            <a:srgbClr val="0A1D30"/>
          </a:solidFill>
        </p:spPr>
      </p:sp>
      <p:sp>
        <p:nvSpPr>
          <p:cNvPr id="1048577" name="Text 1"/>
          <p:cNvSpPr/>
          <p:nvPr/>
        </p:nvSpPr>
        <p:spPr>
          <a:xfrm>
            <a:off x="640080" y="2743200"/>
            <a:ext cx="3017520" cy="457200"/>
          </a:xfrm>
          <a:prstGeom prst="rect"/>
          <a:noFill/>
        </p:spPr>
        <p:txBody>
          <a:bodyPr anchor="ctr" bIns="0" lIns="0" rIns="0" rtlCol="0" tIns="0" wrap="square"/>
          <a:p>
            <a:pPr indent="0" marL="0">
              <a:buNone/>
            </a:pPr>
            <a:r>
              <a:rPr b="1" dirty="0" sz="1600" lang="en-US">
                <a:solidFill>
                  <a:srgbClr val="00B8A9"/>
                </a:solidFill>
                <a:latin typeface="Calibri" pitchFamily="34" charset="0"/>
                <a:ea typeface="Calibri" pitchFamily="34" charset="-122"/>
                <a:cs typeface="Calibri" pitchFamily="34" charset="-120"/>
              </a:rPr>
              <a:t>LECTURE 03</a:t>
            </a:r>
            <a:endParaRPr dirty="0" sz="1600" lang="en-US"/>
          </a:p>
        </p:txBody>
      </p:sp>
      <p:sp>
        <p:nvSpPr>
          <p:cNvPr id="1048578" name="Text 2"/>
          <p:cNvSpPr/>
          <p:nvPr/>
        </p:nvSpPr>
        <p:spPr>
          <a:xfrm>
            <a:off x="457200" y="3108960"/>
            <a:ext cx="3291840" cy="2011680"/>
          </a:xfrm>
          <a:prstGeom prst="rect"/>
          <a:noFill/>
        </p:spPr>
        <p:txBody>
          <a:bodyPr anchor="ctr" bIns="0" lIns="0" rIns="0" rtlCol="0" tIns="0" wrap="square"/>
          <a:p>
            <a:pPr indent="0" marL="0">
              <a:buNone/>
            </a:pPr>
            <a:r>
              <a:rPr b="1" dirty="0" sz="10000" lang="en-US">
                <a:solidFill>
                  <a:srgbClr val="1C3A55"/>
                </a:solidFill>
                <a:latin typeface="Calibri" pitchFamily="34" charset="0"/>
                <a:ea typeface="Calibri" pitchFamily="34" charset="-122"/>
                <a:cs typeface="Calibri" pitchFamily="34" charset="-120"/>
              </a:rPr>
              <a:t>03</a:t>
            </a:r>
            <a:endParaRPr dirty="0" sz="10000" lang="en-US"/>
          </a:p>
        </p:txBody>
      </p:sp>
      <p:sp>
        <p:nvSpPr>
          <p:cNvPr id="1048579" name="Text 3"/>
          <p:cNvSpPr/>
          <p:nvPr/>
        </p:nvSpPr>
        <p:spPr>
          <a:xfrm>
            <a:off x="4663440" y="2423160"/>
            <a:ext cx="6949440" cy="1463040"/>
          </a:xfrm>
          <a:prstGeom prst="rect"/>
          <a:noFill/>
        </p:spPr>
        <p:txBody>
          <a:bodyPr anchor="t" bIns="0" lIns="0" rIns="0" rtlCol="0" tIns="0" wrap="square"/>
          <a:p>
            <a:pPr indent="0" marL="0">
              <a:buNone/>
            </a:pPr>
            <a:r>
              <a:rPr b="1" dirty="0" sz="3400" lang="en-US">
                <a:solidFill>
                  <a:srgbClr val="FFFFFF"/>
                </a:solidFill>
                <a:latin typeface="Calibri" pitchFamily="34" charset="0"/>
                <a:ea typeface="Calibri" pitchFamily="34" charset="-122"/>
                <a:cs typeface="Calibri" pitchFamily="34" charset="-120"/>
              </a:rPr>
              <a:t>Web Services Fundamentals</a:t>
            </a:r>
            <a:endParaRPr dirty="0" sz="3400" lang="en-US"/>
          </a:p>
        </p:txBody>
      </p:sp>
      <p:sp>
        <p:nvSpPr>
          <p:cNvPr id="1048580" name="Text 4"/>
          <p:cNvSpPr/>
          <p:nvPr/>
        </p:nvSpPr>
        <p:spPr>
          <a:xfrm>
            <a:off x="4709160" y="3977639"/>
            <a:ext cx="6766560" cy="1463039"/>
          </a:xfrm>
          <a:prstGeom prst="rect"/>
          <a:noFill/>
        </p:spPr>
        <p:txBody>
          <a:bodyPr anchor="t" bIns="0" lIns="0" rIns="0" rtlCol="0" tIns="0" wrap="square"/>
          <a:p>
            <a:pPr indent="0" marL="0">
              <a:lnSpc>
                <a:spcPct val="130000"/>
              </a:lnSpc>
              <a:buNone/>
            </a:pPr>
            <a:r>
              <a:rPr dirty="0" sz="2400" lang="en-US">
                <a:solidFill>
                  <a:srgbClr val="C7D0D9"/>
                </a:solidFill>
                <a:latin typeface="Calibri" pitchFamily="34" charset="0"/>
                <a:ea typeface="Calibri" pitchFamily="34" charset="-122"/>
                <a:cs typeface="Calibri" pitchFamily="34" charset="-120"/>
              </a:rPr>
              <a:t>The building blocks that make SOA implementable in practice: XML, XML Schema, WSDL service contracts, and the UDDI registry standard.</a:t>
            </a:r>
            <a:endParaRPr dirty="0" sz="240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38" name=""/>
        <p:cNvGrpSpPr/>
        <p:nvPr/>
      </p:nvGrpSpPr>
      <p:grpSpPr>
        <a:xfrm>
          <a:off x="0" y="0"/>
          <a:ext cx="0" cy="0"/>
          <a:chOff x="0" y="0"/>
          <a:chExt cx="0" cy="0"/>
        </a:xfrm>
      </p:grpSpPr>
      <p:sp>
        <p:nvSpPr>
          <p:cNvPr id="1048584" name="Text 0"/>
          <p:cNvSpPr/>
          <p:nvPr/>
        </p:nvSpPr>
        <p:spPr>
          <a:xfrm>
            <a:off x="548640" y="411480"/>
            <a:ext cx="5486400" cy="640080"/>
          </a:xfrm>
          <a:prstGeom prst="rect"/>
          <a:noFill/>
        </p:spPr>
        <p:txBody>
          <a:bodyPr anchor="ctr" bIns="0" lIns="0" rIns="0" rtlCol="0" tIns="0" wrap="square"/>
          <a:p>
            <a:pPr indent="0" marL="0">
              <a:buNone/>
            </a:pPr>
            <a:r>
              <a:rPr b="1" dirty="0" sz="3000" lang="en-US">
                <a:solidFill>
                  <a:srgbClr val="0F2942"/>
                </a:solidFill>
                <a:latin typeface="Calibri" pitchFamily="34" charset="0"/>
                <a:ea typeface="Calibri" pitchFamily="34" charset="-122"/>
                <a:cs typeface="Calibri" pitchFamily="34" charset="-120"/>
              </a:rPr>
              <a:t>Agenda</a:t>
            </a:r>
            <a:endParaRPr dirty="0" sz="3000" lang="en-US"/>
          </a:p>
        </p:txBody>
      </p:sp>
      <p:sp>
        <p:nvSpPr>
          <p:cNvPr id="1048585" name="Shape 1"/>
          <p:cNvSpPr/>
          <p:nvPr/>
        </p:nvSpPr>
        <p:spPr>
          <a:xfrm>
            <a:off x="566928" y="1097280"/>
            <a:ext cx="457200" cy="54864"/>
          </a:xfrm>
          <a:prstGeom prst="rect"/>
          <a:solidFill>
            <a:srgbClr val="00B8A9"/>
          </a:solidFill>
        </p:spPr>
      </p:sp>
      <p:sp>
        <p:nvSpPr>
          <p:cNvPr id="1048586" name="Shape 2"/>
          <p:cNvSpPr/>
          <p:nvPr/>
        </p:nvSpPr>
        <p:spPr>
          <a:xfrm>
            <a:off x="640080" y="1508760"/>
            <a:ext cx="457200" cy="457200"/>
          </a:xfrm>
          <a:prstGeom prst="roundRect">
            <a:avLst>
              <a:gd name="adj" fmla="val 16000"/>
            </a:avLst>
          </a:prstGeom>
          <a:solidFill>
            <a:srgbClr val="EAF6F5"/>
          </a:solidFill>
        </p:spPr>
      </p:sp>
      <p:sp>
        <p:nvSpPr>
          <p:cNvPr id="1048587" name="Text 3"/>
          <p:cNvSpPr/>
          <p:nvPr/>
        </p:nvSpPr>
        <p:spPr>
          <a:xfrm>
            <a:off x="640080" y="150876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1</a:t>
            </a:r>
            <a:endParaRPr dirty="0" sz="1600" lang="en-US"/>
          </a:p>
        </p:txBody>
      </p:sp>
      <p:sp>
        <p:nvSpPr>
          <p:cNvPr id="1048588" name="Text 4"/>
          <p:cNvSpPr/>
          <p:nvPr/>
        </p:nvSpPr>
        <p:spPr>
          <a:xfrm>
            <a:off x="1234439" y="1481328"/>
            <a:ext cx="8348099"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What is a web service, and why XML?</a:t>
            </a:r>
            <a:endParaRPr dirty="0" sz="2400" lang="en-US"/>
          </a:p>
        </p:txBody>
      </p:sp>
      <p:sp>
        <p:nvSpPr>
          <p:cNvPr id="1048589" name="Shape 5"/>
          <p:cNvSpPr/>
          <p:nvPr/>
        </p:nvSpPr>
        <p:spPr>
          <a:xfrm>
            <a:off x="640080" y="2301240"/>
            <a:ext cx="457200" cy="457200"/>
          </a:xfrm>
          <a:prstGeom prst="roundRect">
            <a:avLst>
              <a:gd name="adj" fmla="val 16000"/>
            </a:avLst>
          </a:prstGeom>
          <a:solidFill>
            <a:srgbClr val="EAF6F5"/>
          </a:solidFill>
        </p:spPr>
      </p:sp>
      <p:sp>
        <p:nvSpPr>
          <p:cNvPr id="1048590" name="Text 6"/>
          <p:cNvSpPr/>
          <p:nvPr/>
        </p:nvSpPr>
        <p:spPr>
          <a:xfrm>
            <a:off x="640080" y="230124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2</a:t>
            </a:r>
            <a:endParaRPr dirty="0" sz="1600" lang="en-US"/>
          </a:p>
        </p:txBody>
      </p:sp>
      <p:sp>
        <p:nvSpPr>
          <p:cNvPr id="1048591" name="Text 7"/>
          <p:cNvSpPr/>
          <p:nvPr/>
        </p:nvSpPr>
        <p:spPr>
          <a:xfrm>
            <a:off x="1234439" y="2273808"/>
            <a:ext cx="8348099"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XML fundamentals and XML Schema (XSD)</a:t>
            </a:r>
            <a:endParaRPr dirty="0" sz="2400" lang="en-US"/>
          </a:p>
        </p:txBody>
      </p:sp>
      <p:sp>
        <p:nvSpPr>
          <p:cNvPr id="1048592" name="Shape 8"/>
          <p:cNvSpPr/>
          <p:nvPr/>
        </p:nvSpPr>
        <p:spPr>
          <a:xfrm>
            <a:off x="640080" y="3093720"/>
            <a:ext cx="457200" cy="457200"/>
          </a:xfrm>
          <a:prstGeom prst="roundRect">
            <a:avLst>
              <a:gd name="adj" fmla="val 16000"/>
            </a:avLst>
          </a:prstGeom>
          <a:solidFill>
            <a:srgbClr val="EAF6F5"/>
          </a:solidFill>
        </p:spPr>
      </p:sp>
      <p:sp>
        <p:nvSpPr>
          <p:cNvPr id="1048593" name="Text 9"/>
          <p:cNvSpPr/>
          <p:nvPr/>
        </p:nvSpPr>
        <p:spPr>
          <a:xfrm>
            <a:off x="640080" y="309372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3</a:t>
            </a:r>
            <a:endParaRPr dirty="0" sz="1600" lang="en-US"/>
          </a:p>
        </p:txBody>
      </p:sp>
      <p:sp>
        <p:nvSpPr>
          <p:cNvPr id="1048594" name="Text 10"/>
          <p:cNvSpPr/>
          <p:nvPr/>
        </p:nvSpPr>
        <p:spPr>
          <a:xfrm>
            <a:off x="1234439" y="3066288"/>
            <a:ext cx="8348099"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WSDL: describing a service contract</a:t>
            </a:r>
            <a:endParaRPr dirty="0" sz="2400" lang="en-US"/>
          </a:p>
        </p:txBody>
      </p:sp>
      <p:sp>
        <p:nvSpPr>
          <p:cNvPr id="1048595" name="Shape 11"/>
          <p:cNvSpPr/>
          <p:nvPr/>
        </p:nvSpPr>
        <p:spPr>
          <a:xfrm>
            <a:off x="640080" y="3886200"/>
            <a:ext cx="457200" cy="457200"/>
          </a:xfrm>
          <a:prstGeom prst="roundRect">
            <a:avLst>
              <a:gd name="adj" fmla="val 16000"/>
            </a:avLst>
          </a:prstGeom>
          <a:solidFill>
            <a:srgbClr val="EAF6F5"/>
          </a:solidFill>
        </p:spPr>
      </p:sp>
      <p:sp>
        <p:nvSpPr>
          <p:cNvPr id="1048596" name="Text 12"/>
          <p:cNvSpPr/>
          <p:nvPr/>
        </p:nvSpPr>
        <p:spPr>
          <a:xfrm>
            <a:off x="640080" y="388620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4</a:t>
            </a:r>
            <a:endParaRPr dirty="0" sz="1600" lang="en-US"/>
          </a:p>
        </p:txBody>
      </p:sp>
      <p:sp>
        <p:nvSpPr>
          <p:cNvPr id="1048597" name="Text 13"/>
          <p:cNvSpPr/>
          <p:nvPr/>
        </p:nvSpPr>
        <p:spPr>
          <a:xfrm>
            <a:off x="1234439" y="3858768"/>
            <a:ext cx="8348099"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Anatomy of a WSDL document</a:t>
            </a:r>
            <a:endParaRPr dirty="0" sz="2400" lang="en-US"/>
          </a:p>
        </p:txBody>
      </p:sp>
      <p:sp>
        <p:nvSpPr>
          <p:cNvPr id="1048598" name="Shape 14"/>
          <p:cNvSpPr/>
          <p:nvPr/>
        </p:nvSpPr>
        <p:spPr>
          <a:xfrm>
            <a:off x="640080" y="4678680"/>
            <a:ext cx="457200" cy="457200"/>
          </a:xfrm>
          <a:prstGeom prst="roundRect">
            <a:avLst>
              <a:gd name="adj" fmla="val 16000"/>
            </a:avLst>
          </a:prstGeom>
          <a:solidFill>
            <a:srgbClr val="EAF6F5"/>
          </a:solidFill>
        </p:spPr>
      </p:sp>
      <p:sp>
        <p:nvSpPr>
          <p:cNvPr id="1048599" name="Text 15"/>
          <p:cNvSpPr/>
          <p:nvPr/>
        </p:nvSpPr>
        <p:spPr>
          <a:xfrm>
            <a:off x="640080" y="467868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5</a:t>
            </a:r>
            <a:endParaRPr dirty="0" sz="1600" lang="en-US"/>
          </a:p>
        </p:txBody>
      </p:sp>
      <p:sp>
        <p:nvSpPr>
          <p:cNvPr id="1048600" name="Text 16"/>
          <p:cNvSpPr/>
          <p:nvPr/>
        </p:nvSpPr>
        <p:spPr>
          <a:xfrm>
            <a:off x="1234439" y="4651248"/>
            <a:ext cx="8348099"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UDDI and service registries</a:t>
            </a:r>
            <a:endParaRPr dirty="0" sz="2400" lang="en-US"/>
          </a:p>
        </p:txBody>
      </p:sp>
      <p:sp>
        <p:nvSpPr>
          <p:cNvPr id="1048601" name="Shape 17"/>
          <p:cNvSpPr/>
          <p:nvPr/>
        </p:nvSpPr>
        <p:spPr>
          <a:xfrm>
            <a:off x="640080" y="5471160"/>
            <a:ext cx="457200" cy="457200"/>
          </a:xfrm>
          <a:prstGeom prst="roundRect">
            <a:avLst>
              <a:gd name="adj" fmla="val 16000"/>
            </a:avLst>
          </a:prstGeom>
          <a:solidFill>
            <a:srgbClr val="EAF6F5"/>
          </a:solidFill>
        </p:spPr>
      </p:sp>
      <p:sp>
        <p:nvSpPr>
          <p:cNvPr id="1048602" name="Text 18"/>
          <p:cNvSpPr/>
          <p:nvPr/>
        </p:nvSpPr>
        <p:spPr>
          <a:xfrm>
            <a:off x="640080" y="547116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6</a:t>
            </a:r>
            <a:endParaRPr dirty="0" sz="1600" lang="en-US"/>
          </a:p>
        </p:txBody>
      </p:sp>
      <p:sp>
        <p:nvSpPr>
          <p:cNvPr id="1048603" name="Text 19"/>
          <p:cNvSpPr/>
          <p:nvPr/>
        </p:nvSpPr>
        <p:spPr>
          <a:xfrm>
            <a:off x="1234439" y="5443728"/>
            <a:ext cx="8348099"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Putting it together: publish-find-bind with real standards</a:t>
            </a:r>
            <a:endParaRPr dirty="0" sz="2400" lang="en-US"/>
          </a:p>
        </p:txBody>
      </p:sp>
      <p:sp>
        <p:nvSpPr>
          <p:cNvPr id="1048604" name="Text 20"/>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605" name="Text 21"/>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a:t>
            </a:r>
            <a:endParaRPr dirty="0" sz="90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942"/>
        </a:solidFill>
        <a:effectLst/>
      </p:bgPr>
    </p:bg>
    <p:spTree>
      <p:nvGrpSpPr>
        <p:cNvPr id="41" name=""/>
        <p:cNvGrpSpPr/>
        <p:nvPr/>
      </p:nvGrpSpPr>
      <p:grpSpPr>
        <a:xfrm>
          <a:off x="0" y="0"/>
          <a:ext cx="0" cy="0"/>
          <a:chOff x="0" y="0"/>
          <a:chExt cx="0" cy="0"/>
        </a:xfrm>
      </p:grpSpPr>
      <p:sp>
        <p:nvSpPr>
          <p:cNvPr id="1048609" name="Shape 0"/>
          <p:cNvSpPr/>
          <p:nvPr/>
        </p:nvSpPr>
        <p:spPr>
          <a:xfrm>
            <a:off x="0" y="0"/>
            <a:ext cx="228600" cy="6858000"/>
          </a:xfrm>
          <a:prstGeom prst="rect"/>
          <a:solidFill>
            <a:srgbClr val="00B8A9"/>
          </a:solidFill>
        </p:spPr>
      </p:sp>
      <p:sp>
        <p:nvSpPr>
          <p:cNvPr id="1048610"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611"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Web Service</a:t>
            </a:r>
            <a:endParaRPr dirty="0" sz="3000" lang="en-US"/>
          </a:p>
        </p:txBody>
      </p:sp>
      <p:sp>
        <p:nvSpPr>
          <p:cNvPr id="1048612"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800" i="1" lang="en-US">
                <a:solidFill>
                  <a:srgbClr val="DCE3EA"/>
                </a:solidFill>
                <a:latin typeface="Calibri" pitchFamily="34" charset="0"/>
                <a:ea typeface="Calibri" pitchFamily="34" charset="-122"/>
                <a:cs typeface="Calibri" pitchFamily="34" charset="-120"/>
              </a:rPr>
              <a:t>“A software function accessible over a network using standard, platform-independent protocols, described by a machine-readable interface that any compliant client can consume.”</a:t>
            </a:r>
            <a:endParaRPr dirty="0" sz="2800" lang="en-US"/>
          </a:p>
        </p:txBody>
      </p:sp>
      <p:sp>
        <p:nvSpPr>
          <p:cNvPr id="1048613"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The 'web' in web service refers to the use of standard web/internet protocols (HTTP, XML), not necessarily a browser</a:t>
            </a:r>
            <a:endParaRPr dirty="0" sz="2400" lang="en-US"/>
          </a:p>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Web services are the primary technology used to implement SOA in practice</a:t>
            </a:r>
            <a:endParaRPr dirty="0" sz="2400" lang="en-US"/>
          </a:p>
        </p:txBody>
      </p:sp>
      <p:sp>
        <p:nvSpPr>
          <p:cNvPr id="1048614"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615"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3</a:t>
            </a:r>
            <a:endParaRPr dirty="0" sz="90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44" name=""/>
        <p:cNvGrpSpPr/>
        <p:nvPr/>
      </p:nvGrpSpPr>
      <p:grpSpPr>
        <a:xfrm>
          <a:off x="0" y="0"/>
          <a:ext cx="0" cy="0"/>
          <a:chOff x="0" y="0"/>
          <a:chExt cx="0" cy="0"/>
        </a:xfrm>
      </p:grpSpPr>
      <p:sp>
        <p:nvSpPr>
          <p:cNvPr id="1048619"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Why XML Became the Foundation of Web Services</a:t>
            </a:r>
            <a:endParaRPr dirty="0" sz="2600" lang="en-US"/>
          </a:p>
        </p:txBody>
      </p:sp>
      <p:sp>
        <p:nvSpPr>
          <p:cNvPr id="1048620" name="Shape 1"/>
          <p:cNvSpPr/>
          <p:nvPr/>
        </p:nvSpPr>
        <p:spPr>
          <a:xfrm>
            <a:off x="566928" y="1005840"/>
            <a:ext cx="411480" cy="45720"/>
          </a:xfrm>
          <a:prstGeom prst="rect"/>
          <a:solidFill>
            <a:srgbClr val="00B8A9"/>
          </a:solidFill>
        </p:spPr>
      </p:sp>
      <p:sp>
        <p:nvSpPr>
          <p:cNvPr id="1048621"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Platform-neutral</a:t>
            </a:r>
            <a:endParaRPr dirty="0" sz="2400" lang="en-US"/>
          </a:p>
          <a:p>
            <a:pPr indent="-342900" lvl="1" marL="685800">
              <a:spcAft>
                <a:spcPts val="600"/>
              </a:spcAft>
              <a:buSzPct val="100000"/>
              <a:buChar char="–"/>
            </a:pPr>
            <a:r>
              <a:rPr dirty="0" sz="2000" lang="en-US">
                <a:solidFill>
                  <a:srgbClr val="44546A"/>
                </a:solidFill>
                <a:latin typeface="Calibri" pitchFamily="34" charset="0"/>
                <a:ea typeface="Calibri" pitchFamily="34" charset="-122"/>
                <a:cs typeface="Calibri" pitchFamily="34" charset="-120"/>
              </a:rPr>
              <a:t>Plain text, readable by any system regardless of operating system or language</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Self-describing</a:t>
            </a:r>
            <a:endParaRPr dirty="0" sz="2400" lang="en-US"/>
          </a:p>
          <a:p>
            <a:pPr indent="-342900" lvl="1" marL="685800">
              <a:spcAft>
                <a:spcPts val="600"/>
              </a:spcAft>
              <a:buSzPct val="100000"/>
              <a:buChar char="–"/>
            </a:pPr>
            <a:r>
              <a:rPr dirty="0" sz="2000" lang="en-US">
                <a:solidFill>
                  <a:srgbClr val="44546A"/>
                </a:solidFill>
                <a:latin typeface="Calibri" pitchFamily="34" charset="0"/>
                <a:ea typeface="Calibri" pitchFamily="34" charset="-122"/>
                <a:cs typeface="Calibri" pitchFamily="34" charset="-120"/>
              </a:rPr>
              <a:t>Tag names describe the meaning of the data they contain</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Extensible</a:t>
            </a:r>
            <a:endParaRPr dirty="0" sz="2400" lang="en-US"/>
          </a:p>
          <a:p>
            <a:pPr indent="-342900" lvl="1" marL="685800">
              <a:spcAft>
                <a:spcPts val="600"/>
              </a:spcAft>
              <a:buSzPct val="100000"/>
              <a:buChar char="–"/>
            </a:pPr>
            <a:r>
              <a:rPr dirty="0" sz="2000" lang="en-US">
                <a:solidFill>
                  <a:srgbClr val="44546A"/>
                </a:solidFill>
                <a:latin typeface="Calibri" pitchFamily="34" charset="0"/>
                <a:ea typeface="Calibri" pitchFamily="34" charset="-122"/>
                <a:cs typeface="Calibri" pitchFamily="34" charset="-120"/>
              </a:rPr>
              <a:t>New elements can be added without breaking systems that don't understand them</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Widely tooled</a:t>
            </a:r>
            <a:endParaRPr dirty="0" sz="2400" lang="en-US"/>
          </a:p>
          <a:p>
            <a:pPr indent="-342900" lvl="1" marL="685800">
              <a:spcAft>
                <a:spcPts val="600"/>
              </a:spcAft>
              <a:buSzPct val="100000"/>
              <a:buChar char="–"/>
            </a:pPr>
            <a:r>
              <a:rPr dirty="0" sz="2000" lang="en-US">
                <a:solidFill>
                  <a:srgbClr val="44546A"/>
                </a:solidFill>
                <a:latin typeface="Calibri" pitchFamily="34" charset="0"/>
                <a:ea typeface="Calibri" pitchFamily="34" charset="-122"/>
                <a:cs typeface="Calibri" pitchFamily="34" charset="-120"/>
              </a:rPr>
              <a:t>Parsers, validators, and editors exist for virtually every programming language</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XML solved the core SOA need: a common data format every platform could read and write</a:t>
            </a:r>
            <a:endParaRPr dirty="0" sz="2400" lang="en-US"/>
          </a:p>
        </p:txBody>
      </p:sp>
      <p:sp>
        <p:nvSpPr>
          <p:cNvPr id="1048622"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623"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4</a:t>
            </a:r>
            <a:endParaRPr dirty="0" sz="90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47" name=""/>
        <p:cNvGrpSpPr/>
        <p:nvPr/>
      </p:nvGrpSpPr>
      <p:grpSpPr>
        <a:xfrm>
          <a:off x="0" y="0"/>
          <a:ext cx="0" cy="0"/>
          <a:chOff x="0" y="0"/>
          <a:chExt cx="0" cy="0"/>
        </a:xfrm>
      </p:grpSpPr>
      <p:sp>
        <p:nvSpPr>
          <p:cNvPr id="1048627"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XML Basics — A Simple Document</a:t>
            </a:r>
            <a:endParaRPr dirty="0" sz="2600" lang="en-US"/>
          </a:p>
        </p:txBody>
      </p:sp>
      <p:sp>
        <p:nvSpPr>
          <p:cNvPr id="1048628" name="Shape 1"/>
          <p:cNvSpPr/>
          <p:nvPr/>
        </p:nvSpPr>
        <p:spPr>
          <a:xfrm>
            <a:off x="566928" y="1005840"/>
            <a:ext cx="411480" cy="45720"/>
          </a:xfrm>
          <a:prstGeom prst="rect"/>
          <a:solidFill>
            <a:srgbClr val="00B8A9"/>
          </a:solidFill>
        </p:spPr>
      </p:sp>
      <p:sp>
        <p:nvSpPr>
          <p:cNvPr id="1048629" name="Shape 2"/>
          <p:cNvSpPr/>
          <p:nvPr/>
        </p:nvSpPr>
        <p:spPr>
          <a:xfrm>
            <a:off x="548640" y="1325880"/>
            <a:ext cx="11064240" cy="4297680"/>
          </a:xfrm>
          <a:prstGeom prst="roundRect">
            <a:avLst>
              <a:gd name="adj" fmla="val 1702"/>
            </a:avLst>
          </a:prstGeom>
          <a:solidFill>
            <a:srgbClr val="0A1D30"/>
          </a:solidFill>
        </p:spPr>
      </p:sp>
      <p:sp>
        <p:nvSpPr>
          <p:cNvPr id="1048630" name="Text 3"/>
          <p:cNvSpPr/>
          <p:nvPr/>
        </p:nvSpPr>
        <p:spPr>
          <a:xfrm>
            <a:off x="822960" y="1508760"/>
            <a:ext cx="10515600" cy="3931920"/>
          </a:xfrm>
          <a:prstGeom prst="rect"/>
          <a:noFill/>
        </p:spPr>
        <p:txBody>
          <a:bodyPr anchor="t" bIns="0" lIns="0" rIns="0" rtlCol="0" tIns="0" wrap="square"/>
          <a:p>
            <a:pPr indent="0" marL="0">
              <a:buNone/>
            </a:pPr>
            <a:r>
              <a:rPr dirty="0" sz="2400" lang="en-US">
                <a:solidFill>
                  <a:srgbClr val="9BE8DD"/>
                </a:solidFill>
                <a:latin typeface="Consolas" pitchFamily="34" charset="0"/>
                <a:ea typeface="Consolas" pitchFamily="34" charset="-122"/>
                <a:cs typeface="Consolas" pitchFamily="34" charset="-120"/>
              </a:rPr>
              <a:t>&lt;?xml version="1.0" encoding="UTF-8"?&gt;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&lt;customer&gt;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  &lt;id&gt;C1042&lt;/id&gt;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  &lt;name&gt;Sara Ahmed&lt;/name&gt;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  &lt;email&gt;sara.ahmed@example.com&lt;/email&gt;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  &lt;address&gt;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    &lt;city&gt;Amman&lt;/city&gt;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    &lt;country&gt;Jordan&lt;/country&gt;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  &lt;/address&gt;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&lt;/customer&gt;</a:t>
            </a:r>
            <a:endParaRPr dirty="0" sz="2400" lang="en-US"/>
          </a:p>
        </p:txBody>
      </p:sp>
      <p:sp>
        <p:nvSpPr>
          <p:cNvPr id="1048631" name="Text 4"/>
          <p:cNvSpPr/>
          <p:nvPr/>
        </p:nvSpPr>
        <p:spPr>
          <a:xfrm>
            <a:off x="548640" y="5715000"/>
            <a:ext cx="11064240" cy="502920"/>
          </a:xfrm>
          <a:prstGeom prst="rect"/>
          <a:noFill/>
        </p:spPr>
        <p:txBody>
          <a:bodyPr anchor="ctr" bIns="0" lIns="0" rIns="0" rtlCol="0" tIns="0" wrap="square"/>
          <a:p>
            <a:pPr indent="0" marL="0">
              <a:buNone/>
            </a:pPr>
            <a:r>
              <a:rPr dirty="0" sz="1250" i="1" lang="en-US">
                <a:solidFill>
                  <a:srgbClr val="44546A"/>
                </a:solidFill>
                <a:latin typeface="Calibri" pitchFamily="34" charset="0"/>
                <a:ea typeface="Calibri" pitchFamily="34" charset="-122"/>
                <a:cs typeface="Calibri" pitchFamily="34" charset="-120"/>
              </a:rPr>
              <a:t>Elements are opened and closed with matching tags; nesting expresses structure and relationships between data.</a:t>
            </a:r>
            <a:endParaRPr dirty="0" sz="1250" lang="en-US"/>
          </a:p>
        </p:txBody>
      </p:sp>
      <p:sp>
        <p:nvSpPr>
          <p:cNvPr id="1048632"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633"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5</a:t>
            </a:r>
            <a:endParaRPr dirty="0" sz="90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50" name=""/>
        <p:cNvGrpSpPr/>
        <p:nvPr/>
      </p:nvGrpSpPr>
      <p:grpSpPr>
        <a:xfrm>
          <a:off x="0" y="0"/>
          <a:ext cx="0" cy="0"/>
          <a:chOff x="0" y="0"/>
          <a:chExt cx="0" cy="0"/>
        </a:xfrm>
      </p:grpSpPr>
      <p:sp>
        <p:nvSpPr>
          <p:cNvPr id="1048637"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Core XML Concepts</a:t>
            </a:r>
            <a:endParaRPr dirty="0" sz="2600" lang="en-US"/>
          </a:p>
        </p:txBody>
      </p:sp>
      <p:sp>
        <p:nvSpPr>
          <p:cNvPr id="1048638" name="Shape 1"/>
          <p:cNvSpPr/>
          <p:nvPr/>
        </p:nvSpPr>
        <p:spPr>
          <a:xfrm>
            <a:off x="566928" y="1005840"/>
            <a:ext cx="411480" cy="45720"/>
          </a:xfrm>
          <a:prstGeom prst="rect"/>
          <a:solidFill>
            <a:srgbClr val="00B8A9"/>
          </a:solidFill>
        </p:spPr>
      </p:sp>
      <p:sp>
        <p:nvSpPr>
          <p:cNvPr id="1048639"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Element</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A tagged piece of data, e.g. &lt;name&gt;Sara Ahmed&lt;/name&gt;</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Attribute</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Extra information inside a tag, e.g. &lt;customer id="C1042"&gt;</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Well-formed document</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Follows XML syntax rules: one root element, properly nested and closed tags</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Valid document</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Well-formed AND conforms to a schema that defines its expected structure</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Namespaces (xmlns) prevent tag-name collisions when combining XML vocabularies from different sources</a:t>
            </a:r>
            <a:endParaRPr dirty="0" sz="2800" lang="en-US"/>
          </a:p>
        </p:txBody>
      </p:sp>
      <p:sp>
        <p:nvSpPr>
          <p:cNvPr id="1048640"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641"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6</a:t>
            </a:r>
            <a:endParaRPr dirty="0" sz="90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942"/>
        </a:solidFill>
        <a:effectLst/>
      </p:bgPr>
    </p:bg>
    <p:spTree>
      <p:nvGrpSpPr>
        <p:cNvPr id="53" name=""/>
        <p:cNvGrpSpPr/>
        <p:nvPr/>
      </p:nvGrpSpPr>
      <p:grpSpPr>
        <a:xfrm>
          <a:off x="0" y="0"/>
          <a:ext cx="0" cy="0"/>
          <a:chOff x="0" y="0"/>
          <a:chExt cx="0" cy="0"/>
        </a:xfrm>
      </p:grpSpPr>
      <p:sp>
        <p:nvSpPr>
          <p:cNvPr id="1048645" name="Shape 0"/>
          <p:cNvSpPr/>
          <p:nvPr/>
        </p:nvSpPr>
        <p:spPr>
          <a:xfrm>
            <a:off x="0" y="0"/>
            <a:ext cx="228600" cy="6858000"/>
          </a:xfrm>
          <a:prstGeom prst="rect"/>
          <a:solidFill>
            <a:srgbClr val="00B8A9"/>
          </a:solidFill>
        </p:spPr>
      </p:sp>
      <p:sp>
        <p:nvSpPr>
          <p:cNvPr id="1048646"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647"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XML Schema (XSD)</a:t>
            </a:r>
            <a:endParaRPr dirty="0" sz="3000" lang="en-US"/>
          </a:p>
        </p:txBody>
      </p:sp>
      <p:sp>
        <p:nvSpPr>
          <p:cNvPr id="1048648"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800" i="1" lang="en-US">
                <a:solidFill>
                  <a:srgbClr val="DCE3EA"/>
                </a:solidFill>
                <a:latin typeface="Calibri" pitchFamily="34" charset="0"/>
                <a:ea typeface="Calibri" pitchFamily="34" charset="-122"/>
                <a:cs typeface="Calibri" pitchFamily="34" charset="-120"/>
              </a:rPr>
              <a:t>“A W3C standard for defining the structure, content, and data types that a valid XML document of a given type must conform to.”</a:t>
            </a:r>
            <a:endParaRPr dirty="0" sz="2800" lang="en-US"/>
          </a:p>
        </p:txBody>
      </p:sp>
      <p:sp>
        <p:nvSpPr>
          <p:cNvPr id="1048649"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XSD is itself written in XML, making it tool-friendly and language-neutral</a:t>
            </a:r>
            <a:endParaRPr dirty="0" sz="2400" lang="en-US"/>
          </a:p>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A service contract uses XSD to define exactly what a valid request or response message must look like</a:t>
            </a:r>
            <a:endParaRPr dirty="0" sz="2400" lang="en-US"/>
          </a:p>
        </p:txBody>
      </p:sp>
      <p:sp>
        <p:nvSpPr>
          <p:cNvPr id="1048650"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651"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7</a:t>
            </a:r>
            <a:endParaRPr dirty="0" sz="90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56" name=""/>
        <p:cNvGrpSpPr/>
        <p:nvPr/>
      </p:nvGrpSpPr>
      <p:grpSpPr>
        <a:xfrm>
          <a:off x="0" y="0"/>
          <a:ext cx="0" cy="0"/>
          <a:chOff x="0" y="0"/>
          <a:chExt cx="0" cy="0"/>
        </a:xfrm>
      </p:grpSpPr>
      <p:sp>
        <p:nvSpPr>
          <p:cNvPr id="1048655"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XML Schema — Defining the Customer Element</a:t>
            </a:r>
            <a:endParaRPr dirty="0" sz="2600" lang="en-US"/>
          </a:p>
        </p:txBody>
      </p:sp>
      <p:sp>
        <p:nvSpPr>
          <p:cNvPr id="1048656" name="Shape 1"/>
          <p:cNvSpPr/>
          <p:nvPr/>
        </p:nvSpPr>
        <p:spPr>
          <a:xfrm>
            <a:off x="566928" y="1005840"/>
            <a:ext cx="411480" cy="45720"/>
          </a:xfrm>
          <a:prstGeom prst="rect"/>
          <a:solidFill>
            <a:srgbClr val="00B8A9"/>
          </a:solidFill>
        </p:spPr>
      </p:sp>
      <p:sp>
        <p:nvSpPr>
          <p:cNvPr id="1048657" name="Shape 2"/>
          <p:cNvSpPr/>
          <p:nvPr/>
        </p:nvSpPr>
        <p:spPr>
          <a:xfrm>
            <a:off x="548640" y="1325880"/>
            <a:ext cx="11064240" cy="4297680"/>
          </a:xfrm>
          <a:prstGeom prst="roundRect">
            <a:avLst>
              <a:gd name="adj" fmla="val 1702"/>
            </a:avLst>
          </a:prstGeom>
          <a:solidFill>
            <a:srgbClr val="0A1D30"/>
          </a:solidFill>
        </p:spPr>
      </p:sp>
      <p:sp>
        <p:nvSpPr>
          <p:cNvPr id="1048658" name="Text 3"/>
          <p:cNvSpPr/>
          <p:nvPr/>
        </p:nvSpPr>
        <p:spPr>
          <a:xfrm>
            <a:off x="822960" y="1508760"/>
            <a:ext cx="10515600" cy="3931920"/>
          </a:xfrm>
          <a:prstGeom prst="rect"/>
          <a:noFill/>
        </p:spPr>
        <p:txBody>
          <a:bodyPr anchor="t" bIns="0" lIns="0" rIns="0" rtlCol="0" tIns="0" wrap="square"/>
          <a:p>
            <a:pPr indent="0" marL="0">
              <a:buNone/>
            </a:pPr>
            <a:r>
              <a:rPr dirty="0" sz="2400" lang="en-US">
                <a:solidFill>
                  <a:srgbClr val="9BE8DD"/>
                </a:solidFill>
                <a:latin typeface="Consolas" pitchFamily="34" charset="0"/>
                <a:ea typeface="Consolas" pitchFamily="34" charset="-122"/>
                <a:cs typeface="Consolas" pitchFamily="34" charset="-120"/>
              </a:rPr>
              <a:t>&lt;xs:element name="customer"&gt;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  &lt;xs:complexType&gt;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    &lt;xs:sequence&gt;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      &lt;xs:element name="id" type="xs:string"/&gt;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      &lt;xs:element name="name" type="xs:string"/&gt;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      &lt;xs:element name="email" type="xs:string"/&gt;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    &lt;/xs:sequence&gt;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  &lt;/xs:complexType&gt;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&lt;/xs:element&gt;</a:t>
            </a:r>
            <a:endParaRPr dirty="0" sz="2400" lang="en-US"/>
          </a:p>
        </p:txBody>
      </p:sp>
      <p:sp>
        <p:nvSpPr>
          <p:cNvPr id="1048659" name="Text 4"/>
          <p:cNvSpPr/>
          <p:nvPr/>
        </p:nvSpPr>
        <p:spPr>
          <a:xfrm>
            <a:off x="548640" y="5715000"/>
            <a:ext cx="11064240" cy="502920"/>
          </a:xfrm>
          <a:prstGeom prst="rect"/>
          <a:noFill/>
        </p:spPr>
        <p:txBody>
          <a:bodyPr anchor="ctr" bIns="0" lIns="0" rIns="0" rtlCol="0" tIns="0" wrap="square"/>
          <a:p>
            <a:pPr indent="0" marL="0">
              <a:buNone/>
            </a:pPr>
            <a:r>
              <a:rPr dirty="0" sz="1250" i="1" lang="en-US">
                <a:solidFill>
                  <a:srgbClr val="44546A"/>
                </a:solidFill>
                <a:latin typeface="Calibri" pitchFamily="34" charset="0"/>
                <a:ea typeface="Calibri" pitchFamily="34" charset="-122"/>
                <a:cs typeface="Calibri" pitchFamily="34" charset="-120"/>
              </a:rPr>
              <a:t>This schema states that a valid &lt;customer&gt; element must contain, in order, an id, a name, and an email.</a:t>
            </a:r>
            <a:endParaRPr dirty="0" sz="1250" lang="en-US"/>
          </a:p>
        </p:txBody>
      </p:sp>
      <p:sp>
        <p:nvSpPr>
          <p:cNvPr id="1048660"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661"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8</a:t>
            </a:r>
            <a:endParaRPr dirty="0" sz="90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59" name=""/>
        <p:cNvGrpSpPr/>
        <p:nvPr/>
      </p:nvGrpSpPr>
      <p:grpSpPr>
        <a:xfrm>
          <a:off x="0" y="0"/>
          <a:ext cx="0" cy="0"/>
          <a:chOff x="0" y="0"/>
          <a:chExt cx="0" cy="0"/>
        </a:xfrm>
      </p:grpSpPr>
      <p:sp>
        <p:nvSpPr>
          <p:cNvPr id="1048665"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Why Web Services Need More Than Just XML</a:t>
            </a:r>
            <a:endParaRPr dirty="0" sz="2600" lang="en-US"/>
          </a:p>
        </p:txBody>
      </p:sp>
      <p:sp>
        <p:nvSpPr>
          <p:cNvPr id="1048666" name="Shape 1"/>
          <p:cNvSpPr/>
          <p:nvPr/>
        </p:nvSpPr>
        <p:spPr>
          <a:xfrm>
            <a:off x="566928" y="1005840"/>
            <a:ext cx="411480" cy="45720"/>
          </a:xfrm>
          <a:prstGeom prst="rect"/>
          <a:solidFill>
            <a:srgbClr val="00B8A9"/>
          </a:solidFill>
        </p:spPr>
      </p:sp>
      <p:sp>
        <p:nvSpPr>
          <p:cNvPr id="1048667"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XML defines what data looks like — but a service also needs to describe:</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What operations are available (e.g., GetCustomer, CreateOrder)</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What messages each operation accepts and returns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How to physically reach the service (protocol, address)</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This is exactly what WSDL was designed to describe</a:t>
            </a:r>
            <a:endParaRPr dirty="0" sz="2800" lang="en-US"/>
          </a:p>
        </p:txBody>
      </p:sp>
      <p:sp>
        <p:nvSpPr>
          <p:cNvPr id="1048668"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669"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9</a:t>
            </a:r>
            <a:endParaRPr dirty="0" sz="900"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942"/>
        </a:solidFill>
        <a:effectLst/>
      </p:bgPr>
    </p:bg>
    <p:spTree>
      <p:nvGrpSpPr>
        <p:cNvPr id="62" name=""/>
        <p:cNvGrpSpPr/>
        <p:nvPr/>
      </p:nvGrpSpPr>
      <p:grpSpPr>
        <a:xfrm>
          <a:off x="0" y="0"/>
          <a:ext cx="0" cy="0"/>
          <a:chOff x="0" y="0"/>
          <a:chExt cx="0" cy="0"/>
        </a:xfrm>
      </p:grpSpPr>
      <p:sp>
        <p:nvSpPr>
          <p:cNvPr id="1048673" name="Shape 0"/>
          <p:cNvSpPr/>
          <p:nvPr/>
        </p:nvSpPr>
        <p:spPr>
          <a:xfrm>
            <a:off x="0" y="0"/>
            <a:ext cx="228600" cy="6858000"/>
          </a:xfrm>
          <a:prstGeom prst="rect"/>
          <a:solidFill>
            <a:srgbClr val="00B8A9"/>
          </a:solidFill>
        </p:spPr>
      </p:sp>
      <p:sp>
        <p:nvSpPr>
          <p:cNvPr id="1048674"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675"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WSDL (Web Services Description Language)</a:t>
            </a:r>
            <a:endParaRPr dirty="0" sz="3000" lang="en-US"/>
          </a:p>
        </p:txBody>
      </p:sp>
      <p:sp>
        <p:nvSpPr>
          <p:cNvPr id="1048676"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800" i="1" lang="en-US">
                <a:solidFill>
                  <a:srgbClr val="DCE3EA"/>
                </a:solidFill>
                <a:latin typeface="Calibri" pitchFamily="34" charset="0"/>
                <a:ea typeface="Calibri" pitchFamily="34" charset="-122"/>
                <a:cs typeface="Calibri" pitchFamily="34" charset="-120"/>
              </a:rPr>
              <a:t>“An XML-based, W3C standard language used to describe the functionality, message formats, and network location of a web service, so it can be automatically discovered and invoked.”</a:t>
            </a:r>
            <a:endParaRPr dirty="0" sz="2800" lang="en-US"/>
          </a:p>
        </p:txBody>
      </p:sp>
      <p:sp>
        <p:nvSpPr>
          <p:cNvPr id="1048677"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WSDL is the formal, machine-readable contract at the heart of SOAP-based SOA</a:t>
            </a:r>
            <a:endParaRPr dirty="0" sz="2400" lang="en-US"/>
          </a:p>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Development tools can generate client code automatically from a WSDL file</a:t>
            </a:r>
            <a:endParaRPr dirty="0" sz="2400" lang="en-US"/>
          </a:p>
        </p:txBody>
      </p:sp>
      <p:sp>
        <p:nvSpPr>
          <p:cNvPr id="1048678"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679"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10</a:t>
            </a:r>
            <a:endParaRPr dirty="0" sz="90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65" name=""/>
        <p:cNvGrpSpPr/>
        <p:nvPr/>
      </p:nvGrpSpPr>
      <p:grpSpPr>
        <a:xfrm>
          <a:off x="0" y="0"/>
          <a:ext cx="0" cy="0"/>
          <a:chOff x="0" y="0"/>
          <a:chExt cx="0" cy="0"/>
        </a:xfrm>
      </p:grpSpPr>
      <p:sp>
        <p:nvSpPr>
          <p:cNvPr id="1048683"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The Structure of a WSDL Document</a:t>
            </a:r>
            <a:endParaRPr dirty="0" sz="2600" lang="en-US"/>
          </a:p>
        </p:txBody>
      </p:sp>
      <p:sp>
        <p:nvSpPr>
          <p:cNvPr id="1048684" name="Shape 1"/>
          <p:cNvSpPr/>
          <p:nvPr/>
        </p:nvSpPr>
        <p:spPr>
          <a:xfrm>
            <a:off x="566928" y="1005840"/>
            <a:ext cx="411480" cy="45720"/>
          </a:xfrm>
          <a:prstGeom prst="rect"/>
          <a:solidFill>
            <a:srgbClr val="00B8A9"/>
          </a:solidFill>
        </p:spPr>
      </p:sp>
      <p:sp>
        <p:nvSpPr>
          <p:cNvPr id="1048685" name="Shape 2"/>
          <p:cNvSpPr/>
          <p:nvPr/>
        </p:nvSpPr>
        <p:spPr>
          <a:xfrm>
            <a:off x="807720" y="1325880"/>
            <a:ext cx="6949440" cy="868680"/>
          </a:xfrm>
          <a:prstGeom prst="roundRect">
            <a:avLst>
              <a:gd name="adj" fmla="val 7368"/>
            </a:avLst>
          </a:prstGeom>
          <a:solidFill>
            <a:srgbClr val="0F2942"/>
          </a:solidFill>
        </p:spPr>
      </p:sp>
      <p:sp>
        <p:nvSpPr>
          <p:cNvPr id="1048686" name="Text 3"/>
          <p:cNvSpPr/>
          <p:nvPr/>
        </p:nvSpPr>
        <p:spPr>
          <a:xfrm>
            <a:off x="1051560" y="1325880"/>
            <a:ext cx="6492240" cy="868680"/>
          </a:xfrm>
          <a:prstGeom prst="rect"/>
          <a:noFill/>
        </p:spPr>
        <p:txBody>
          <a:bodyPr anchor="ctr" bIns="0" lIns="0" rIns="0" rtlCol="0" tIns="0" wrap="square"/>
          <a:p>
            <a:pPr indent="0" marL="0">
              <a:buNone/>
            </a:pPr>
            <a:r>
              <a:rPr b="1" dirty="0" lang="en-US">
                <a:solidFill>
                  <a:srgbClr val="FFFFFF"/>
                </a:solidFill>
                <a:latin typeface="Calibri" pitchFamily="34" charset="0"/>
                <a:ea typeface="Calibri" pitchFamily="34" charset="-122"/>
                <a:cs typeface="Calibri" pitchFamily="34" charset="-120"/>
              </a:rPr>
              <a:t>types</a:t>
            </a:r>
            <a:endParaRPr dirty="0" sz="1500" lang="en-US"/>
          </a:p>
        </p:txBody>
      </p:sp>
      <p:sp>
        <p:nvSpPr>
          <p:cNvPr id="1048687" name="Text 4"/>
          <p:cNvSpPr/>
          <p:nvPr/>
        </p:nvSpPr>
        <p:spPr>
          <a:xfrm>
            <a:off x="1051560" y="1325880"/>
            <a:ext cx="6492240" cy="868680"/>
          </a:xfrm>
          <a:prstGeom prst="rect"/>
          <a:noFill/>
        </p:spPr>
        <p:txBody>
          <a:bodyPr anchor="ctr" bIns="0" lIns="0" rIns="0" rtlCol="0" tIns="0" wrap="square"/>
          <a:p>
            <a:pPr algn="r" indent="0" marL="0">
              <a:buNone/>
            </a:pPr>
            <a:r>
              <a:rPr dirty="0" lang="en-US">
                <a:solidFill>
                  <a:srgbClr val="E4E9EE"/>
                </a:solidFill>
                <a:latin typeface="Calibri" pitchFamily="34" charset="0"/>
                <a:ea typeface="Calibri" pitchFamily="34" charset="-122"/>
                <a:cs typeface="Calibri" pitchFamily="34" charset="-120"/>
              </a:rPr>
              <a:t>Data types used in messages (usually via embedded XSD)</a:t>
            </a:r>
            <a:endParaRPr dirty="0" lang="en-US"/>
          </a:p>
        </p:txBody>
      </p:sp>
      <p:sp>
        <p:nvSpPr>
          <p:cNvPr id="1048688" name="Shape 5"/>
          <p:cNvSpPr/>
          <p:nvPr/>
        </p:nvSpPr>
        <p:spPr>
          <a:xfrm>
            <a:off x="822960" y="2331720"/>
            <a:ext cx="6949440" cy="868680"/>
          </a:xfrm>
          <a:prstGeom prst="roundRect">
            <a:avLst>
              <a:gd name="adj" fmla="val 7368"/>
            </a:avLst>
          </a:prstGeom>
          <a:solidFill>
            <a:srgbClr val="44546A"/>
          </a:solidFill>
        </p:spPr>
      </p:sp>
      <p:sp>
        <p:nvSpPr>
          <p:cNvPr id="1048689" name="Text 6"/>
          <p:cNvSpPr/>
          <p:nvPr/>
        </p:nvSpPr>
        <p:spPr>
          <a:xfrm>
            <a:off x="1051560" y="2331720"/>
            <a:ext cx="6492240" cy="868680"/>
          </a:xfrm>
          <a:prstGeom prst="rect"/>
          <a:noFill/>
        </p:spPr>
        <p:txBody>
          <a:bodyPr anchor="ctr" bIns="0" lIns="0" rIns="0" rtlCol="0" tIns="0" wrap="square"/>
          <a:p>
            <a:pPr indent="0" marL="0">
              <a:buNone/>
            </a:pPr>
            <a:r>
              <a:rPr b="1" dirty="0" lang="en-US">
                <a:solidFill>
                  <a:srgbClr val="FFFFFF"/>
                </a:solidFill>
                <a:latin typeface="Calibri" pitchFamily="34" charset="0"/>
                <a:ea typeface="Calibri" pitchFamily="34" charset="-122"/>
                <a:cs typeface="Calibri" pitchFamily="34" charset="-120"/>
              </a:rPr>
              <a:t>message</a:t>
            </a:r>
            <a:endParaRPr dirty="0" sz="1500" lang="en-US"/>
          </a:p>
        </p:txBody>
      </p:sp>
      <p:sp>
        <p:nvSpPr>
          <p:cNvPr id="1048690" name="Text 7"/>
          <p:cNvSpPr/>
          <p:nvPr/>
        </p:nvSpPr>
        <p:spPr>
          <a:xfrm>
            <a:off x="1051560" y="2331720"/>
            <a:ext cx="6492240" cy="868680"/>
          </a:xfrm>
          <a:prstGeom prst="rect"/>
          <a:noFill/>
        </p:spPr>
        <p:txBody>
          <a:bodyPr anchor="ctr" bIns="0" lIns="0" rIns="0" rtlCol="0" tIns="0" wrap="square"/>
          <a:p>
            <a:pPr algn="r" indent="0" marL="0">
              <a:buNone/>
            </a:pPr>
            <a:r>
              <a:rPr dirty="0" lang="en-US">
                <a:solidFill>
                  <a:srgbClr val="E4E9EE"/>
                </a:solidFill>
                <a:latin typeface="Calibri" pitchFamily="34" charset="0"/>
                <a:ea typeface="Calibri" pitchFamily="34" charset="-122"/>
                <a:cs typeface="Calibri" pitchFamily="34" charset="-120"/>
              </a:rPr>
              <a:t>Defines the input/output data for each operation</a:t>
            </a:r>
            <a:endParaRPr dirty="0" lang="en-US"/>
          </a:p>
        </p:txBody>
      </p:sp>
      <p:sp>
        <p:nvSpPr>
          <p:cNvPr id="1048691" name="Shape 8"/>
          <p:cNvSpPr/>
          <p:nvPr/>
        </p:nvSpPr>
        <p:spPr>
          <a:xfrm>
            <a:off x="822960" y="3337560"/>
            <a:ext cx="6949440" cy="868680"/>
          </a:xfrm>
          <a:prstGeom prst="roundRect">
            <a:avLst>
              <a:gd name="adj" fmla="val 7368"/>
            </a:avLst>
          </a:prstGeom>
          <a:solidFill>
            <a:srgbClr val="44546A"/>
          </a:solidFill>
        </p:spPr>
      </p:sp>
      <p:sp>
        <p:nvSpPr>
          <p:cNvPr id="1048692" name="Text 9"/>
          <p:cNvSpPr/>
          <p:nvPr/>
        </p:nvSpPr>
        <p:spPr>
          <a:xfrm>
            <a:off x="1051560" y="3337560"/>
            <a:ext cx="6492240" cy="868680"/>
          </a:xfrm>
          <a:prstGeom prst="rect"/>
          <a:noFill/>
        </p:spPr>
        <p:txBody>
          <a:bodyPr anchor="ctr" bIns="0" lIns="0" rIns="0" rtlCol="0" tIns="0" wrap="square"/>
          <a:p>
            <a:pPr indent="0" marL="0">
              <a:buNone/>
            </a:pPr>
            <a:r>
              <a:rPr b="1" dirty="0" lang="en-US">
                <a:solidFill>
                  <a:srgbClr val="FFFFFF"/>
                </a:solidFill>
                <a:latin typeface="Calibri" pitchFamily="34" charset="0"/>
                <a:ea typeface="Calibri" pitchFamily="34" charset="-122"/>
                <a:cs typeface="Calibri" pitchFamily="34" charset="-120"/>
              </a:rPr>
              <a:t>portType</a:t>
            </a:r>
            <a:r>
              <a:rPr b="1" dirty="0" sz="2400" lang="en-US">
                <a:solidFill>
                  <a:srgbClr val="FFFFFF"/>
                </a:solidFill>
                <a:latin typeface="Calibri" pitchFamily="34" charset="0"/>
                <a:ea typeface="Calibri" pitchFamily="34" charset="-122"/>
                <a:cs typeface="Calibri" pitchFamily="34" charset="-120"/>
              </a:rPr>
              <a:t> (</a:t>
            </a:r>
            <a:r>
              <a:rPr b="1" dirty="0" lang="en-US">
                <a:solidFill>
                  <a:srgbClr val="FFFFFF"/>
                </a:solidFill>
                <a:latin typeface="Calibri" pitchFamily="34" charset="0"/>
                <a:ea typeface="Calibri" pitchFamily="34" charset="-122"/>
                <a:cs typeface="Calibri" pitchFamily="34" charset="-120"/>
              </a:rPr>
              <a:t>interface</a:t>
            </a:r>
            <a:r>
              <a:rPr b="1" dirty="0" sz="2400" lang="en-US">
                <a:solidFill>
                  <a:srgbClr val="FFFFFF"/>
                </a:solidFill>
                <a:latin typeface="Calibri" pitchFamily="34" charset="0"/>
                <a:ea typeface="Calibri" pitchFamily="34" charset="-122"/>
                <a:cs typeface="Calibri" pitchFamily="34" charset="-120"/>
              </a:rPr>
              <a:t>)</a:t>
            </a:r>
            <a:endParaRPr dirty="0" sz="2400" lang="en-US"/>
          </a:p>
        </p:txBody>
      </p:sp>
      <p:sp>
        <p:nvSpPr>
          <p:cNvPr id="1048693" name="Text 10"/>
          <p:cNvSpPr/>
          <p:nvPr/>
        </p:nvSpPr>
        <p:spPr>
          <a:xfrm>
            <a:off x="1051560" y="3337560"/>
            <a:ext cx="6492240" cy="868680"/>
          </a:xfrm>
          <a:prstGeom prst="rect"/>
          <a:noFill/>
        </p:spPr>
        <p:txBody>
          <a:bodyPr anchor="ctr" bIns="0" lIns="0" rIns="0" rtlCol="0" tIns="0" wrap="square"/>
          <a:p>
            <a:pPr algn="r" indent="0" marL="0">
              <a:buNone/>
            </a:pPr>
            <a:r>
              <a:rPr dirty="0" lang="en-US">
                <a:solidFill>
                  <a:srgbClr val="E4E9EE"/>
                </a:solidFill>
                <a:latin typeface="Calibri" pitchFamily="34" charset="0"/>
                <a:ea typeface="Calibri" pitchFamily="34" charset="-122"/>
                <a:cs typeface="Calibri" pitchFamily="34" charset="-120"/>
              </a:rPr>
              <a:t>The abstract set of operations offered</a:t>
            </a:r>
            <a:endParaRPr dirty="0" lang="en-US"/>
          </a:p>
        </p:txBody>
      </p:sp>
      <p:sp>
        <p:nvSpPr>
          <p:cNvPr id="1048694" name="Shape 11"/>
          <p:cNvSpPr/>
          <p:nvPr/>
        </p:nvSpPr>
        <p:spPr>
          <a:xfrm>
            <a:off x="822960" y="4343400"/>
            <a:ext cx="6949440" cy="868680"/>
          </a:xfrm>
          <a:prstGeom prst="roundRect">
            <a:avLst>
              <a:gd name="adj" fmla="val 7368"/>
            </a:avLst>
          </a:prstGeom>
          <a:solidFill>
            <a:srgbClr val="44546A"/>
          </a:solidFill>
        </p:spPr>
      </p:sp>
      <p:sp>
        <p:nvSpPr>
          <p:cNvPr id="1048695" name="Text 12"/>
          <p:cNvSpPr/>
          <p:nvPr/>
        </p:nvSpPr>
        <p:spPr>
          <a:xfrm>
            <a:off x="1051560" y="4343400"/>
            <a:ext cx="6492240" cy="868680"/>
          </a:xfrm>
          <a:prstGeom prst="rect"/>
          <a:noFill/>
        </p:spPr>
        <p:txBody>
          <a:bodyPr anchor="ctr" bIns="0" lIns="0" rIns="0" rtlCol="0" tIns="0" wrap="square"/>
          <a:p>
            <a:pPr indent="0" marL="0">
              <a:buNone/>
            </a:pPr>
            <a:r>
              <a:rPr b="1" dirty="0" lang="en-US">
                <a:solidFill>
                  <a:srgbClr val="FFFFFF"/>
                </a:solidFill>
                <a:latin typeface="Calibri" pitchFamily="34" charset="0"/>
                <a:ea typeface="Calibri" pitchFamily="34" charset="-122"/>
                <a:cs typeface="Calibri" pitchFamily="34" charset="-120"/>
              </a:rPr>
              <a:t>binding</a:t>
            </a:r>
            <a:endParaRPr dirty="0" sz="1500" lang="en-US"/>
          </a:p>
        </p:txBody>
      </p:sp>
      <p:sp>
        <p:nvSpPr>
          <p:cNvPr id="1048696" name="Text 13"/>
          <p:cNvSpPr/>
          <p:nvPr/>
        </p:nvSpPr>
        <p:spPr>
          <a:xfrm>
            <a:off x="1051560" y="4343400"/>
            <a:ext cx="6492240" cy="868680"/>
          </a:xfrm>
          <a:prstGeom prst="rect"/>
          <a:noFill/>
        </p:spPr>
        <p:txBody>
          <a:bodyPr anchor="ctr" bIns="0" lIns="0" rIns="0" rtlCol="0" tIns="0" wrap="square"/>
          <a:p>
            <a:pPr algn="r" indent="0" marL="0">
              <a:buNone/>
            </a:pPr>
            <a:r>
              <a:rPr dirty="0" sz="1600" lang="en-US">
                <a:solidFill>
                  <a:srgbClr val="E4E9EE"/>
                </a:solidFill>
                <a:latin typeface="Calibri" pitchFamily="34" charset="0"/>
                <a:ea typeface="Calibri" pitchFamily="34" charset="-122"/>
                <a:cs typeface="Calibri" pitchFamily="34" charset="-120"/>
              </a:rPr>
              <a:t>Maps the portType to a concrete protocol (e.g., SOAP over HTTP)</a:t>
            </a:r>
            <a:endParaRPr dirty="0" sz="1600" lang="en-US"/>
          </a:p>
        </p:txBody>
      </p:sp>
      <p:sp>
        <p:nvSpPr>
          <p:cNvPr id="1048697" name="Shape 14"/>
          <p:cNvSpPr/>
          <p:nvPr/>
        </p:nvSpPr>
        <p:spPr>
          <a:xfrm>
            <a:off x="822960" y="5349240"/>
            <a:ext cx="6949440" cy="868680"/>
          </a:xfrm>
          <a:prstGeom prst="roundRect">
            <a:avLst>
              <a:gd name="adj" fmla="val 7368"/>
            </a:avLst>
          </a:prstGeom>
          <a:solidFill>
            <a:srgbClr val="44546A"/>
          </a:solidFill>
        </p:spPr>
      </p:sp>
      <p:sp>
        <p:nvSpPr>
          <p:cNvPr id="1048698" name="Text 15"/>
          <p:cNvSpPr/>
          <p:nvPr/>
        </p:nvSpPr>
        <p:spPr>
          <a:xfrm>
            <a:off x="1051560" y="5349240"/>
            <a:ext cx="6492240" cy="868680"/>
          </a:xfrm>
          <a:prstGeom prst="rect"/>
          <a:noFill/>
        </p:spPr>
        <p:txBody>
          <a:bodyPr anchor="ctr" bIns="0" lIns="0" rIns="0" rtlCol="0" tIns="0" wrap="square"/>
          <a:p>
            <a:pPr indent="0" marL="0">
              <a:buNone/>
            </a:pPr>
            <a:r>
              <a:rPr b="1" dirty="0" lang="en-US">
                <a:solidFill>
                  <a:srgbClr val="FFFFFF"/>
                </a:solidFill>
                <a:latin typeface="Calibri" pitchFamily="34" charset="0"/>
                <a:ea typeface="Calibri" pitchFamily="34" charset="-122"/>
                <a:cs typeface="Calibri" pitchFamily="34" charset="-120"/>
              </a:rPr>
              <a:t>service / port</a:t>
            </a:r>
            <a:endParaRPr dirty="0" lang="en-US"/>
          </a:p>
        </p:txBody>
      </p:sp>
      <p:sp>
        <p:nvSpPr>
          <p:cNvPr id="1048699" name="Text 16"/>
          <p:cNvSpPr/>
          <p:nvPr/>
        </p:nvSpPr>
        <p:spPr>
          <a:xfrm>
            <a:off x="1051560" y="5349240"/>
            <a:ext cx="6492240" cy="868680"/>
          </a:xfrm>
          <a:prstGeom prst="rect"/>
          <a:noFill/>
        </p:spPr>
        <p:txBody>
          <a:bodyPr anchor="ctr" bIns="0" lIns="0" rIns="0" rtlCol="0" tIns="0" wrap="square"/>
          <a:p>
            <a:pPr algn="r" indent="0" marL="0">
              <a:buNone/>
            </a:pPr>
            <a:r>
              <a:rPr dirty="0" sz="1600" lang="en-US">
                <a:solidFill>
                  <a:srgbClr val="E4E9EE"/>
                </a:solidFill>
                <a:latin typeface="Calibri" pitchFamily="34" charset="0"/>
                <a:ea typeface="Calibri" pitchFamily="34" charset="-122"/>
                <a:cs typeface="Calibri" pitchFamily="34" charset="-120"/>
              </a:rPr>
              <a:t>The actual network address (URL) where the service runs</a:t>
            </a:r>
            <a:endParaRPr dirty="0" sz="1600" lang="en-US"/>
          </a:p>
        </p:txBody>
      </p:sp>
      <p:sp>
        <p:nvSpPr>
          <p:cNvPr id="1048700" name="Shape 17"/>
          <p:cNvSpPr/>
          <p:nvPr/>
        </p:nvSpPr>
        <p:spPr>
          <a:xfrm>
            <a:off x="8001000" y="1325880"/>
            <a:ext cx="3566160" cy="4892040"/>
          </a:xfrm>
          <a:prstGeom prst="roundRect">
            <a:avLst>
              <a:gd name="adj" fmla="val 2564"/>
            </a:avLst>
          </a:prstGeom>
          <a:solidFill>
            <a:srgbClr val="EAF6F5"/>
          </a:solidFill>
        </p:spPr>
      </p:sp>
      <p:sp>
        <p:nvSpPr>
          <p:cNvPr id="1048701" name="Text 18"/>
          <p:cNvSpPr/>
          <p:nvPr/>
        </p:nvSpPr>
        <p:spPr>
          <a:xfrm>
            <a:off x="8183880" y="1481328"/>
            <a:ext cx="3200400" cy="365760"/>
          </a:xfrm>
          <a:prstGeom prst="rect"/>
          <a:noFill/>
        </p:spPr>
        <p:txBody>
          <a:bodyPr anchor="ctr" bIns="0" lIns="0" rIns="0" rtlCol="0" tIns="0" wrap="square"/>
          <a:p>
            <a:pPr indent="0" marL="0">
              <a:buNone/>
            </a:pPr>
            <a:r>
              <a:rPr b="1" dirty="0" sz="1300" lang="en-US">
                <a:solidFill>
                  <a:srgbClr val="00B8A9"/>
                </a:solidFill>
                <a:latin typeface="Calibri" pitchFamily="34" charset="0"/>
                <a:ea typeface="Calibri" pitchFamily="34" charset="-122"/>
                <a:cs typeface="Calibri" pitchFamily="34" charset="-120"/>
              </a:rPr>
              <a:t>Abstract to Concrete</a:t>
            </a:r>
            <a:endParaRPr dirty="0" sz="1300" lang="en-US"/>
          </a:p>
        </p:txBody>
      </p:sp>
      <p:sp>
        <p:nvSpPr>
          <p:cNvPr id="1048702" name="Text 19"/>
          <p:cNvSpPr/>
          <p:nvPr/>
        </p:nvSpPr>
        <p:spPr>
          <a:xfrm>
            <a:off x="8183880" y="1874520"/>
            <a:ext cx="3200400" cy="4206240"/>
          </a:xfrm>
          <a:prstGeom prst="rect"/>
          <a:noFill/>
        </p:spPr>
        <p:txBody>
          <a:bodyPr anchor="t" bIns="0" lIns="0" rIns="0" rtlCol="0" tIns="0" wrap="square"/>
          <a:p>
            <a:pPr indent="0" marL="0">
              <a:lnSpc>
                <a:spcPct val="125000"/>
              </a:lnSpc>
              <a:buNone/>
            </a:pPr>
            <a:r>
              <a:rPr dirty="0" sz="2000" lang="en-US">
                <a:solidFill>
                  <a:srgbClr val="33394A"/>
                </a:solidFill>
                <a:latin typeface="Calibri" pitchFamily="34" charset="0"/>
                <a:ea typeface="Calibri" pitchFamily="34" charset="-122"/>
                <a:cs typeface="Calibri" pitchFamily="34" charset="-120"/>
              </a:rPr>
              <a:t>WSDL moves from the abstract (what data, what operations) down to the concrete (what protocol, what address). This separation is what allows the same abstract interface to be bound to different protocols if needed.</a:t>
            </a:r>
            <a:endParaRPr dirty="0" sz="2000" lang="en-US"/>
          </a:p>
        </p:txBody>
      </p:sp>
      <p:sp>
        <p:nvSpPr>
          <p:cNvPr id="1048703" name="Text 20"/>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704" name="Text 21"/>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11</a:t>
            </a:r>
            <a:endParaRPr dirty="0" sz="900"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68" name=""/>
        <p:cNvGrpSpPr/>
        <p:nvPr/>
      </p:nvGrpSpPr>
      <p:grpSpPr>
        <a:xfrm>
          <a:off x="0" y="0"/>
          <a:ext cx="0" cy="0"/>
          <a:chOff x="0" y="0"/>
          <a:chExt cx="0" cy="0"/>
        </a:xfrm>
      </p:grpSpPr>
      <p:sp>
        <p:nvSpPr>
          <p:cNvPr id="1048708"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WSDL — Defining Messages</a:t>
            </a:r>
            <a:endParaRPr dirty="0" sz="2600" lang="en-US"/>
          </a:p>
        </p:txBody>
      </p:sp>
      <p:sp>
        <p:nvSpPr>
          <p:cNvPr id="1048709" name="Shape 1"/>
          <p:cNvSpPr/>
          <p:nvPr/>
        </p:nvSpPr>
        <p:spPr>
          <a:xfrm>
            <a:off x="566928" y="1005840"/>
            <a:ext cx="411480" cy="45720"/>
          </a:xfrm>
          <a:prstGeom prst="rect"/>
          <a:solidFill>
            <a:srgbClr val="00B8A9"/>
          </a:solidFill>
        </p:spPr>
      </p:sp>
      <p:sp>
        <p:nvSpPr>
          <p:cNvPr id="1048710" name="Shape 2"/>
          <p:cNvSpPr/>
          <p:nvPr/>
        </p:nvSpPr>
        <p:spPr>
          <a:xfrm>
            <a:off x="548640" y="1325880"/>
            <a:ext cx="11064240" cy="4297680"/>
          </a:xfrm>
          <a:prstGeom prst="roundRect">
            <a:avLst>
              <a:gd name="adj" fmla="val 1702"/>
            </a:avLst>
          </a:prstGeom>
          <a:solidFill>
            <a:srgbClr val="0A1D30"/>
          </a:solidFill>
        </p:spPr>
      </p:sp>
      <p:sp>
        <p:nvSpPr>
          <p:cNvPr id="1048711" name="Text 3"/>
          <p:cNvSpPr/>
          <p:nvPr/>
        </p:nvSpPr>
        <p:spPr>
          <a:xfrm>
            <a:off x="822960" y="1508760"/>
            <a:ext cx="10515600" cy="3931920"/>
          </a:xfrm>
          <a:prstGeom prst="rect"/>
          <a:noFill/>
        </p:spPr>
        <p:txBody>
          <a:bodyPr anchor="t" bIns="0" lIns="0" rIns="0" rtlCol="0" tIns="0" wrap="square"/>
          <a:p>
            <a:pPr indent="0" marL="0">
              <a:buNone/>
            </a:pPr>
            <a:r>
              <a:rPr dirty="0" sz="2400" lang="en-US">
                <a:solidFill>
                  <a:srgbClr val="9BE8DD"/>
                </a:solidFill>
                <a:latin typeface="Consolas" pitchFamily="34" charset="0"/>
                <a:ea typeface="Consolas" pitchFamily="34" charset="-122"/>
                <a:cs typeface="Consolas" pitchFamily="34" charset="-120"/>
              </a:rPr>
              <a:t>&lt;message name="GetCustomerRequest"&gt;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  &lt;part name="customerId" type="xs:string"/&gt;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&lt;/message&gt;</a:t>
            </a:r>
            <a:endParaRPr dirty="0" sz="2400" lang="en-US"/>
          </a:p>
          <a:p>
            <a:pPr indent="0" marL="0">
              <a:buNone/>
            </a:pP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&lt;message name="GetCustomerResponse"&gt;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  &lt;part name="customer" type="tns:customer"/&gt;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&lt;/message&gt;</a:t>
            </a:r>
            <a:endParaRPr dirty="0" sz="2400" lang="en-US"/>
          </a:p>
        </p:txBody>
      </p:sp>
      <p:sp>
        <p:nvSpPr>
          <p:cNvPr id="1048712" name="Text 4"/>
          <p:cNvSpPr/>
          <p:nvPr/>
        </p:nvSpPr>
        <p:spPr>
          <a:xfrm>
            <a:off x="548640" y="5715000"/>
            <a:ext cx="11064240" cy="502920"/>
          </a:xfrm>
          <a:prstGeom prst="rect"/>
          <a:noFill/>
        </p:spPr>
        <p:txBody>
          <a:bodyPr anchor="ctr" bIns="0" lIns="0" rIns="0" rtlCol="0" tIns="0" wrap="square"/>
          <a:p>
            <a:pPr indent="0" marL="0">
              <a:buNone/>
            </a:pPr>
            <a:r>
              <a:rPr dirty="0" sz="1250" i="1" lang="en-US">
                <a:solidFill>
                  <a:srgbClr val="44546A"/>
                </a:solidFill>
                <a:latin typeface="Calibri" pitchFamily="34" charset="0"/>
                <a:ea typeface="Calibri" pitchFamily="34" charset="-122"/>
                <a:cs typeface="Calibri" pitchFamily="34" charset="-120"/>
              </a:rPr>
              <a:t>Each &lt;message&gt; defines the shape of data flowing in or out of an operation.</a:t>
            </a:r>
            <a:endParaRPr dirty="0" sz="1250" lang="en-US"/>
          </a:p>
        </p:txBody>
      </p:sp>
      <p:sp>
        <p:nvSpPr>
          <p:cNvPr id="1048713"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714"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12</a:t>
            </a:r>
            <a:endParaRPr dirty="0" sz="900"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71" name=""/>
        <p:cNvGrpSpPr/>
        <p:nvPr/>
      </p:nvGrpSpPr>
      <p:grpSpPr>
        <a:xfrm>
          <a:off x="0" y="0"/>
          <a:ext cx="0" cy="0"/>
          <a:chOff x="0" y="0"/>
          <a:chExt cx="0" cy="0"/>
        </a:xfrm>
      </p:grpSpPr>
      <p:sp>
        <p:nvSpPr>
          <p:cNvPr id="1048718"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WSDL — Defining the Port Type (Interface)</a:t>
            </a:r>
            <a:endParaRPr dirty="0" sz="2600" lang="en-US"/>
          </a:p>
        </p:txBody>
      </p:sp>
      <p:sp>
        <p:nvSpPr>
          <p:cNvPr id="1048719" name="Shape 1"/>
          <p:cNvSpPr/>
          <p:nvPr/>
        </p:nvSpPr>
        <p:spPr>
          <a:xfrm>
            <a:off x="566928" y="1005840"/>
            <a:ext cx="411480" cy="45720"/>
          </a:xfrm>
          <a:prstGeom prst="rect"/>
          <a:solidFill>
            <a:srgbClr val="00B8A9"/>
          </a:solidFill>
        </p:spPr>
      </p:sp>
      <p:sp>
        <p:nvSpPr>
          <p:cNvPr id="1048720" name="Shape 2"/>
          <p:cNvSpPr/>
          <p:nvPr/>
        </p:nvSpPr>
        <p:spPr>
          <a:xfrm>
            <a:off x="548640" y="1325880"/>
            <a:ext cx="11064240" cy="4297680"/>
          </a:xfrm>
          <a:prstGeom prst="roundRect">
            <a:avLst>
              <a:gd name="adj" fmla="val 1702"/>
            </a:avLst>
          </a:prstGeom>
          <a:solidFill>
            <a:srgbClr val="0A1D30"/>
          </a:solidFill>
        </p:spPr>
      </p:sp>
      <p:sp>
        <p:nvSpPr>
          <p:cNvPr id="1048721" name="Text 3"/>
          <p:cNvSpPr/>
          <p:nvPr/>
        </p:nvSpPr>
        <p:spPr>
          <a:xfrm>
            <a:off x="822960" y="1508760"/>
            <a:ext cx="10515600" cy="3931920"/>
          </a:xfrm>
          <a:prstGeom prst="rect"/>
          <a:noFill/>
        </p:spPr>
        <p:txBody>
          <a:bodyPr anchor="t" bIns="0" lIns="0" rIns="0" rtlCol="0" tIns="0" wrap="square"/>
          <a:p>
            <a:pPr indent="0" marL="0">
              <a:buNone/>
            </a:pPr>
            <a:r>
              <a:rPr dirty="0" sz="2400" lang="en-US">
                <a:solidFill>
                  <a:srgbClr val="9BE8DD"/>
                </a:solidFill>
                <a:latin typeface="Consolas" pitchFamily="34" charset="0"/>
                <a:ea typeface="Consolas" pitchFamily="34" charset="-122"/>
                <a:cs typeface="Consolas" pitchFamily="34" charset="-120"/>
              </a:rPr>
              <a:t>&lt;portType name="CustomerServicePortType"&gt;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  &lt;operation name="GetCustomer"&gt;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    &lt;input message="tns:GetCustomerRequest"/&gt;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    &lt;output message="tns:GetCustomerResponse"/&gt;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  &lt;/operation&gt;</a:t>
            </a:r>
            <a:endParaRPr dirty="0" sz="2400" lang="en-US"/>
          </a:p>
          <a:p>
            <a:pPr indent="0" marL="0">
              <a:buNone/>
            </a:pPr>
            <a:r>
              <a:rPr dirty="0" sz="2400" lang="en-US">
                <a:solidFill>
                  <a:srgbClr val="9BE8DD"/>
                </a:solidFill>
                <a:latin typeface="Consolas" pitchFamily="34" charset="0"/>
                <a:ea typeface="Consolas" pitchFamily="34" charset="-122"/>
                <a:cs typeface="Consolas" pitchFamily="34" charset="-120"/>
              </a:rPr>
              <a:t>&lt;/portType&gt;</a:t>
            </a:r>
            <a:endParaRPr dirty="0" sz="2400" lang="en-US"/>
          </a:p>
        </p:txBody>
      </p:sp>
      <p:sp>
        <p:nvSpPr>
          <p:cNvPr id="1048722" name="Text 4"/>
          <p:cNvSpPr/>
          <p:nvPr/>
        </p:nvSpPr>
        <p:spPr>
          <a:xfrm>
            <a:off x="548640" y="5715000"/>
            <a:ext cx="11064240" cy="502920"/>
          </a:xfrm>
          <a:prstGeom prst="rect"/>
          <a:noFill/>
        </p:spPr>
        <p:txBody>
          <a:bodyPr anchor="ctr" bIns="0" lIns="0" rIns="0" rtlCol="0" tIns="0" wrap="square"/>
          <a:p>
            <a:pPr indent="0" marL="0">
              <a:buNone/>
            </a:pPr>
            <a:r>
              <a:rPr dirty="0" sz="1250" i="1" lang="en-US">
                <a:solidFill>
                  <a:srgbClr val="44546A"/>
                </a:solidFill>
                <a:latin typeface="Calibri" pitchFamily="34" charset="0"/>
                <a:ea typeface="Calibri" pitchFamily="34" charset="-122"/>
                <a:cs typeface="Calibri" pitchFamily="34" charset="-120"/>
              </a:rPr>
              <a:t>The portType groups related operations into a coherent interface — conceptually similar to an interface in an object-oriented language.</a:t>
            </a:r>
            <a:endParaRPr dirty="0" sz="1250" lang="en-US"/>
          </a:p>
        </p:txBody>
      </p:sp>
      <p:sp>
        <p:nvSpPr>
          <p:cNvPr id="1048723"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724"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13</a:t>
            </a:r>
            <a:endParaRPr dirty="0" sz="900"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74" name=""/>
        <p:cNvGrpSpPr/>
        <p:nvPr/>
      </p:nvGrpSpPr>
      <p:grpSpPr>
        <a:xfrm>
          <a:off x="0" y="0"/>
          <a:ext cx="0" cy="0"/>
          <a:chOff x="0" y="0"/>
          <a:chExt cx="0" cy="0"/>
        </a:xfrm>
      </p:grpSpPr>
      <p:sp>
        <p:nvSpPr>
          <p:cNvPr id="1048728"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WSDL — Binding and Service Location</a:t>
            </a:r>
            <a:endParaRPr dirty="0" sz="2600" lang="en-US"/>
          </a:p>
        </p:txBody>
      </p:sp>
      <p:sp>
        <p:nvSpPr>
          <p:cNvPr id="1048729" name="Shape 1"/>
          <p:cNvSpPr/>
          <p:nvPr/>
        </p:nvSpPr>
        <p:spPr>
          <a:xfrm>
            <a:off x="566928" y="1005840"/>
            <a:ext cx="411480" cy="45720"/>
          </a:xfrm>
          <a:prstGeom prst="rect"/>
          <a:solidFill>
            <a:srgbClr val="00B8A9"/>
          </a:solidFill>
        </p:spPr>
      </p:sp>
      <p:sp>
        <p:nvSpPr>
          <p:cNvPr id="1048730" name="Shape 2"/>
          <p:cNvSpPr/>
          <p:nvPr/>
        </p:nvSpPr>
        <p:spPr>
          <a:xfrm>
            <a:off x="548640" y="1325880"/>
            <a:ext cx="11064240" cy="4297680"/>
          </a:xfrm>
          <a:prstGeom prst="roundRect">
            <a:avLst>
              <a:gd name="adj" fmla="val 1702"/>
            </a:avLst>
          </a:prstGeom>
          <a:solidFill>
            <a:srgbClr val="0A1D30"/>
          </a:solidFill>
        </p:spPr>
      </p:sp>
      <p:sp>
        <p:nvSpPr>
          <p:cNvPr id="1048731" name="Text 3"/>
          <p:cNvSpPr/>
          <p:nvPr/>
        </p:nvSpPr>
        <p:spPr>
          <a:xfrm>
            <a:off x="822960" y="1508760"/>
            <a:ext cx="10515600" cy="3931920"/>
          </a:xfrm>
          <a:prstGeom prst="rect"/>
          <a:noFill/>
        </p:spPr>
        <p:txBody>
          <a:bodyPr anchor="t" bIns="0" lIns="0" rIns="0" rtlCol="0" tIns="0" wrap="square"/>
          <a:p>
            <a:pPr indent="0" marL="0">
              <a:buNone/>
            </a:pPr>
            <a:r>
              <a:rPr dirty="0" lang="en-US">
                <a:solidFill>
                  <a:srgbClr val="9BE8DD"/>
                </a:solidFill>
                <a:latin typeface="Consolas" pitchFamily="34" charset="0"/>
                <a:ea typeface="Consolas" pitchFamily="34" charset="-122"/>
                <a:cs typeface="Consolas" pitchFamily="34" charset="-120"/>
              </a:rPr>
              <a:t>&lt;binding name="CustomerServiceBinding" type="tns:CustomerServicePortType"&gt;</a:t>
            </a:r>
            <a:endParaRPr dirty="0" lang="en-US"/>
          </a:p>
          <a:p>
            <a:pPr indent="0" marL="0">
              <a:buNone/>
            </a:pPr>
            <a:r>
              <a:rPr dirty="0" lang="en-US">
                <a:solidFill>
                  <a:srgbClr val="9BE8DD"/>
                </a:solidFill>
                <a:latin typeface="Consolas" pitchFamily="34" charset="0"/>
                <a:ea typeface="Consolas" pitchFamily="34" charset="-122"/>
                <a:cs typeface="Consolas" pitchFamily="34" charset="-120"/>
              </a:rPr>
              <a:t>  &lt;soap:binding style="document"</a:t>
            </a:r>
            <a:endParaRPr dirty="0" lang="en-US"/>
          </a:p>
          <a:p>
            <a:pPr indent="0" marL="0">
              <a:buNone/>
            </a:pPr>
            <a:r>
              <a:rPr dirty="0" lang="en-US">
                <a:solidFill>
                  <a:srgbClr val="9BE8DD"/>
                </a:solidFill>
                <a:latin typeface="Consolas" pitchFamily="34" charset="0"/>
                <a:ea typeface="Consolas" pitchFamily="34" charset="-122"/>
                <a:cs typeface="Consolas" pitchFamily="34" charset="-120"/>
              </a:rPr>
              <a:t>      transport="http://schemas.xmlsoap.org/soap/http"/&gt;</a:t>
            </a:r>
            <a:endParaRPr dirty="0" lang="en-US"/>
          </a:p>
          <a:p>
            <a:pPr indent="0" marL="0">
              <a:buNone/>
            </a:pPr>
            <a:r>
              <a:rPr dirty="0" lang="en-US">
                <a:solidFill>
                  <a:srgbClr val="9BE8DD"/>
                </a:solidFill>
                <a:latin typeface="Consolas" pitchFamily="34" charset="0"/>
                <a:ea typeface="Consolas" pitchFamily="34" charset="-122"/>
                <a:cs typeface="Consolas" pitchFamily="34" charset="-120"/>
              </a:rPr>
              <a:t>  &lt;operation name="GetCustomer"&gt;</a:t>
            </a:r>
            <a:endParaRPr dirty="0" lang="en-US"/>
          </a:p>
          <a:p>
            <a:pPr indent="0" marL="0">
              <a:buNone/>
            </a:pPr>
            <a:r>
              <a:rPr dirty="0" lang="en-US">
                <a:solidFill>
                  <a:srgbClr val="9BE8DD"/>
                </a:solidFill>
                <a:latin typeface="Consolas" pitchFamily="34" charset="0"/>
                <a:ea typeface="Consolas" pitchFamily="34" charset="-122"/>
                <a:cs typeface="Consolas" pitchFamily="34" charset="-120"/>
              </a:rPr>
              <a:t>    &lt;soap:operation soapAction="getCustomer"/&gt;</a:t>
            </a:r>
            <a:endParaRPr dirty="0" lang="en-US"/>
          </a:p>
          <a:p>
            <a:pPr indent="0" marL="0">
              <a:buNone/>
            </a:pPr>
            <a:r>
              <a:rPr dirty="0" lang="en-US">
                <a:solidFill>
                  <a:srgbClr val="9BE8DD"/>
                </a:solidFill>
                <a:latin typeface="Consolas" pitchFamily="34" charset="0"/>
                <a:ea typeface="Consolas" pitchFamily="34" charset="-122"/>
                <a:cs typeface="Consolas" pitchFamily="34" charset="-120"/>
              </a:rPr>
              <a:t>  &lt;/operation&gt;</a:t>
            </a:r>
            <a:endParaRPr dirty="0" lang="en-US"/>
          </a:p>
          <a:p>
            <a:pPr indent="0" marL="0">
              <a:buNone/>
            </a:pPr>
            <a:r>
              <a:rPr dirty="0" lang="en-US">
                <a:solidFill>
                  <a:srgbClr val="9BE8DD"/>
                </a:solidFill>
                <a:latin typeface="Consolas" pitchFamily="34" charset="0"/>
                <a:ea typeface="Consolas" pitchFamily="34" charset="-122"/>
                <a:cs typeface="Consolas" pitchFamily="34" charset="-120"/>
              </a:rPr>
              <a:t>&lt;/binding&gt;</a:t>
            </a:r>
            <a:endParaRPr dirty="0" lang="en-US"/>
          </a:p>
          <a:p>
            <a:pPr indent="0" marL="0">
              <a:buNone/>
            </a:pPr>
            <a:endParaRPr dirty="0" lang="en-US"/>
          </a:p>
          <a:p>
            <a:pPr indent="0" marL="0">
              <a:buNone/>
            </a:pPr>
            <a:r>
              <a:rPr dirty="0" lang="en-US">
                <a:solidFill>
                  <a:srgbClr val="9BE8DD"/>
                </a:solidFill>
                <a:latin typeface="Consolas" pitchFamily="34" charset="0"/>
                <a:ea typeface="Consolas" pitchFamily="34" charset="-122"/>
                <a:cs typeface="Consolas" pitchFamily="34" charset="-120"/>
              </a:rPr>
              <a:t>&lt;service name="CustomerService"&gt;</a:t>
            </a:r>
            <a:endParaRPr dirty="0" lang="en-US"/>
          </a:p>
          <a:p>
            <a:pPr indent="0" marL="0">
              <a:buNone/>
            </a:pPr>
            <a:r>
              <a:rPr dirty="0" lang="en-US">
                <a:solidFill>
                  <a:srgbClr val="9BE8DD"/>
                </a:solidFill>
                <a:latin typeface="Consolas" pitchFamily="34" charset="0"/>
                <a:ea typeface="Consolas" pitchFamily="34" charset="-122"/>
                <a:cs typeface="Consolas" pitchFamily="34" charset="-120"/>
              </a:rPr>
              <a:t>  &lt;port name="CustomerServicePort" binding="tns:CustomerServiceBinding"&gt;</a:t>
            </a:r>
            <a:endParaRPr dirty="0" lang="en-US"/>
          </a:p>
          <a:p>
            <a:pPr indent="0" marL="0">
              <a:buNone/>
            </a:pPr>
            <a:r>
              <a:rPr dirty="0" lang="en-US">
                <a:solidFill>
                  <a:srgbClr val="9BE8DD"/>
                </a:solidFill>
                <a:latin typeface="Consolas" pitchFamily="34" charset="0"/>
                <a:ea typeface="Consolas" pitchFamily="34" charset="-122"/>
                <a:cs typeface="Consolas" pitchFamily="34" charset="-120"/>
              </a:rPr>
              <a:t>    &lt;soap:address location="https://api.example.com/CustomerService"/&gt;</a:t>
            </a:r>
            <a:endParaRPr dirty="0" lang="en-US"/>
          </a:p>
          <a:p>
            <a:pPr indent="0" marL="0">
              <a:buNone/>
            </a:pPr>
            <a:r>
              <a:rPr dirty="0" lang="en-US">
                <a:solidFill>
                  <a:srgbClr val="9BE8DD"/>
                </a:solidFill>
                <a:latin typeface="Consolas" pitchFamily="34" charset="0"/>
                <a:ea typeface="Consolas" pitchFamily="34" charset="-122"/>
                <a:cs typeface="Consolas" pitchFamily="34" charset="-120"/>
              </a:rPr>
              <a:t>  &lt;/port&gt;</a:t>
            </a:r>
            <a:endParaRPr dirty="0" lang="en-US"/>
          </a:p>
          <a:p>
            <a:pPr indent="0" marL="0">
              <a:buNone/>
            </a:pPr>
            <a:r>
              <a:rPr dirty="0" lang="en-US">
                <a:solidFill>
                  <a:srgbClr val="9BE8DD"/>
                </a:solidFill>
                <a:latin typeface="Consolas" pitchFamily="34" charset="0"/>
                <a:ea typeface="Consolas" pitchFamily="34" charset="-122"/>
                <a:cs typeface="Consolas" pitchFamily="34" charset="-120"/>
              </a:rPr>
              <a:t>&lt;/service&gt;</a:t>
            </a:r>
            <a:endParaRPr dirty="0" lang="en-US"/>
          </a:p>
        </p:txBody>
      </p:sp>
      <p:sp>
        <p:nvSpPr>
          <p:cNvPr id="1048732" name="Text 4"/>
          <p:cNvSpPr/>
          <p:nvPr/>
        </p:nvSpPr>
        <p:spPr>
          <a:xfrm>
            <a:off x="548640" y="5715000"/>
            <a:ext cx="11064240" cy="502920"/>
          </a:xfrm>
          <a:prstGeom prst="rect"/>
          <a:noFill/>
        </p:spPr>
        <p:txBody>
          <a:bodyPr anchor="ctr" bIns="0" lIns="0" rIns="0" rtlCol="0" tIns="0" wrap="square"/>
          <a:p>
            <a:pPr indent="0" marL="0">
              <a:buNone/>
            </a:pPr>
            <a:r>
              <a:rPr dirty="0" sz="1250" i="1" lang="en-US">
                <a:solidFill>
                  <a:srgbClr val="44546A"/>
                </a:solidFill>
                <a:latin typeface="Calibri" pitchFamily="34" charset="0"/>
                <a:ea typeface="Calibri" pitchFamily="34" charset="-122"/>
                <a:cs typeface="Calibri" pitchFamily="34" charset="-120"/>
              </a:rPr>
              <a:t>The binding ties the abstract interface to SOAP over HTTP; the service/port gives the actual URL clients call.</a:t>
            </a:r>
            <a:endParaRPr dirty="0" sz="1250" lang="en-US"/>
          </a:p>
        </p:txBody>
      </p:sp>
      <p:sp>
        <p:nvSpPr>
          <p:cNvPr id="1048733"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734"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14</a:t>
            </a:r>
            <a:endParaRPr dirty="0" sz="900"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77" name=""/>
        <p:cNvGrpSpPr/>
        <p:nvPr/>
      </p:nvGrpSpPr>
      <p:grpSpPr>
        <a:xfrm>
          <a:off x="0" y="0"/>
          <a:ext cx="0" cy="0"/>
          <a:chOff x="0" y="0"/>
          <a:chExt cx="0" cy="0"/>
        </a:xfrm>
      </p:grpSpPr>
      <p:sp>
        <p:nvSpPr>
          <p:cNvPr id="1048738"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Reading a WSDL: A Consumer's Perspective</a:t>
            </a:r>
            <a:endParaRPr dirty="0" sz="2600" lang="en-US"/>
          </a:p>
        </p:txBody>
      </p:sp>
      <p:sp>
        <p:nvSpPr>
          <p:cNvPr id="1048739" name="Shape 1"/>
          <p:cNvSpPr/>
          <p:nvPr/>
        </p:nvSpPr>
        <p:spPr>
          <a:xfrm>
            <a:off x="566928" y="1005840"/>
            <a:ext cx="411480" cy="45720"/>
          </a:xfrm>
          <a:prstGeom prst="rect"/>
          <a:solidFill>
            <a:srgbClr val="00B8A9"/>
          </a:solidFill>
        </p:spPr>
      </p:sp>
      <p:sp>
        <p:nvSpPr>
          <p:cNvPr id="1048740"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A developer (or their IDE) opens a WSDL file and can immediately learn:</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What operations exist — e.g., GetCustomer, CreateOrder</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What input parameters each operation needs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What output format to expect back</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What network address and protocol to use</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Tools like wsimport (Java) or 'Add Service Reference' (.NET) auto-generate client-side proxy code directly from the WSDL</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This automatic code generation was one of SOAP/WSDL's biggest practical advantages in enterprise development</a:t>
            </a:r>
            <a:endParaRPr dirty="0" sz="2800" lang="en-US"/>
          </a:p>
        </p:txBody>
      </p:sp>
      <p:sp>
        <p:nvSpPr>
          <p:cNvPr id="1048741"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742"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15</a:t>
            </a:r>
            <a:endParaRPr dirty="0" sz="900"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80" name=""/>
        <p:cNvGrpSpPr/>
        <p:nvPr/>
      </p:nvGrpSpPr>
      <p:grpSpPr>
        <a:xfrm>
          <a:off x="0" y="0"/>
          <a:ext cx="0" cy="0"/>
          <a:chOff x="0" y="0"/>
          <a:chExt cx="0" cy="0"/>
        </a:xfrm>
      </p:grpSpPr>
      <p:sp>
        <p:nvSpPr>
          <p:cNvPr id="1048746"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WSDL 1.1 vs. WSDL 2.0</a:t>
            </a:r>
            <a:endParaRPr dirty="0" sz="2600" lang="en-US"/>
          </a:p>
        </p:txBody>
      </p:sp>
      <p:sp>
        <p:nvSpPr>
          <p:cNvPr id="1048747" name="Shape 1"/>
          <p:cNvSpPr/>
          <p:nvPr/>
        </p:nvSpPr>
        <p:spPr>
          <a:xfrm>
            <a:off x="566928" y="1005840"/>
            <a:ext cx="411480" cy="45720"/>
          </a:xfrm>
          <a:prstGeom prst="rect"/>
          <a:solidFill>
            <a:srgbClr val="00B8A9"/>
          </a:solidFill>
        </p:spPr>
      </p:sp>
      <p:sp>
        <p:nvSpPr>
          <p:cNvPr id="1048748"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WSDL 1.1 (2001)</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The version overwhelmingly used in industry; term 'portType' for interfaces</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WSDL 2.0 (2007, W3C Recommendation)</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Renamed portType to 'interface', added native support for REST-style HTTP bindings</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In practice, most enterprise SOAP tooling — and most exam and textbook material — still centers on WSDL 1.1</a:t>
            </a:r>
            <a:endParaRPr dirty="0" sz="2800" lang="en-US"/>
          </a:p>
        </p:txBody>
      </p:sp>
      <p:sp>
        <p:nvSpPr>
          <p:cNvPr id="1048749"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750"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16</a:t>
            </a:r>
            <a:endParaRPr dirty="0" sz="900"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2942"/>
        </a:solidFill>
        <a:effectLst/>
      </p:bgPr>
    </p:bg>
    <p:spTree>
      <p:nvGrpSpPr>
        <p:cNvPr id="83" name=""/>
        <p:cNvGrpSpPr/>
        <p:nvPr/>
      </p:nvGrpSpPr>
      <p:grpSpPr>
        <a:xfrm>
          <a:off x="0" y="0"/>
          <a:ext cx="0" cy="0"/>
          <a:chOff x="0" y="0"/>
          <a:chExt cx="0" cy="0"/>
        </a:xfrm>
      </p:grpSpPr>
      <p:sp>
        <p:nvSpPr>
          <p:cNvPr id="1048754" name="Shape 0"/>
          <p:cNvSpPr/>
          <p:nvPr/>
        </p:nvSpPr>
        <p:spPr>
          <a:xfrm>
            <a:off x="0" y="0"/>
            <a:ext cx="228600" cy="6858000"/>
          </a:xfrm>
          <a:prstGeom prst="rect"/>
          <a:solidFill>
            <a:srgbClr val="00B8A9"/>
          </a:solidFill>
        </p:spPr>
      </p:sp>
      <p:sp>
        <p:nvSpPr>
          <p:cNvPr id="1048755"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756"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UDDI (Universal Description, Discovery, and Integration)</a:t>
            </a:r>
            <a:endParaRPr dirty="0" sz="3000" lang="en-US"/>
          </a:p>
        </p:txBody>
      </p:sp>
      <p:sp>
        <p:nvSpPr>
          <p:cNvPr id="1048757"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800" i="1" lang="en-US">
                <a:solidFill>
                  <a:srgbClr val="DCE3EA"/>
                </a:solidFill>
                <a:latin typeface="Calibri" pitchFamily="34" charset="0"/>
                <a:ea typeface="Calibri" pitchFamily="34" charset="-122"/>
                <a:cs typeface="Calibri" pitchFamily="34" charset="-120"/>
              </a:rPr>
              <a:t>“An XML-based standard for building registries of web services, allowing providers to publish service descriptions and consumers to search for and locate them.”</a:t>
            </a:r>
            <a:endParaRPr dirty="0" sz="2800" lang="en-US"/>
          </a:p>
        </p:txBody>
      </p:sp>
      <p:sp>
        <p:nvSpPr>
          <p:cNvPr id="1048758"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UDDI was designed to be the 'yellow pages' of web services in the publish-find-bind model</a:t>
            </a:r>
            <a:endParaRPr dirty="0" sz="2400" lang="en-US"/>
          </a:p>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Public, global UDDI registries largely failed to gain adoption — but the concept lives on in private, enterprise service registries and modern API catalogs</a:t>
            </a:r>
            <a:endParaRPr dirty="0" sz="2400" lang="en-US"/>
          </a:p>
        </p:txBody>
      </p:sp>
      <p:sp>
        <p:nvSpPr>
          <p:cNvPr id="1048759"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760"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17</a:t>
            </a:r>
            <a:endParaRPr dirty="0" sz="900"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86" name=""/>
        <p:cNvGrpSpPr/>
        <p:nvPr/>
      </p:nvGrpSpPr>
      <p:grpSpPr>
        <a:xfrm>
          <a:off x="0" y="0"/>
          <a:ext cx="0" cy="0"/>
          <a:chOff x="0" y="0"/>
          <a:chExt cx="0" cy="0"/>
        </a:xfrm>
      </p:grpSpPr>
      <p:sp>
        <p:nvSpPr>
          <p:cNvPr id="1048764"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The Three Data Structures of UDDI</a:t>
            </a:r>
            <a:endParaRPr dirty="0" sz="2600" lang="en-US"/>
          </a:p>
        </p:txBody>
      </p:sp>
      <p:sp>
        <p:nvSpPr>
          <p:cNvPr id="1048765" name="Shape 1"/>
          <p:cNvSpPr/>
          <p:nvPr/>
        </p:nvSpPr>
        <p:spPr>
          <a:xfrm>
            <a:off x="566928" y="1005840"/>
            <a:ext cx="411480" cy="45720"/>
          </a:xfrm>
          <a:prstGeom prst="rect"/>
          <a:solidFill>
            <a:srgbClr val="00B8A9"/>
          </a:solidFill>
        </p:spPr>
      </p:sp>
      <p:sp>
        <p:nvSpPr>
          <p:cNvPr id="1048766"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White Pages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Basic contact and business identification information about the provider</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Yellow Pages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Categorization of services by industry, product, or geographic region</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Green Pages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Technical details about how to interact with the service — including a pointer to its WSDL</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This structure mirrors a real-world phone-book analogy, which is where the naming comes from</a:t>
            </a:r>
            <a:endParaRPr dirty="0" sz="2800" lang="en-US"/>
          </a:p>
        </p:txBody>
      </p:sp>
      <p:sp>
        <p:nvSpPr>
          <p:cNvPr id="1048767"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768"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18</a:t>
            </a:r>
            <a:endParaRPr dirty="0" sz="900"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89" name=""/>
        <p:cNvGrpSpPr/>
        <p:nvPr/>
      </p:nvGrpSpPr>
      <p:grpSpPr>
        <a:xfrm>
          <a:off x="0" y="0"/>
          <a:ext cx="0" cy="0"/>
          <a:chOff x="0" y="0"/>
          <a:chExt cx="0" cy="0"/>
        </a:xfrm>
      </p:grpSpPr>
      <p:sp>
        <p:nvSpPr>
          <p:cNvPr id="1048772"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Why Public UDDI Registries Failed</a:t>
            </a:r>
            <a:endParaRPr dirty="0" sz="2600" lang="en-US"/>
          </a:p>
        </p:txBody>
      </p:sp>
      <p:sp>
        <p:nvSpPr>
          <p:cNvPr id="1048773" name="Shape 1"/>
          <p:cNvSpPr/>
          <p:nvPr/>
        </p:nvSpPr>
        <p:spPr>
          <a:xfrm>
            <a:off x="566928" y="1005840"/>
            <a:ext cx="411480" cy="45720"/>
          </a:xfrm>
          <a:prstGeom prst="rect"/>
          <a:solidFill>
            <a:srgbClr val="00B8A9"/>
          </a:solidFill>
        </p:spPr>
      </p:sp>
      <p:sp>
        <p:nvSpPr>
          <p:cNvPr id="1048774"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Trust and quality concerns</a:t>
            </a:r>
            <a:endParaRPr dirty="0" sz="2400" lang="en-US"/>
          </a:p>
          <a:p>
            <a:pPr indent="-342900" lvl="1" marL="685800">
              <a:spcAft>
                <a:spcPts val="600"/>
              </a:spcAft>
              <a:buSzPct val="100000"/>
              <a:buChar char="–"/>
            </a:pPr>
            <a:r>
              <a:rPr dirty="0" sz="2000" lang="en-US">
                <a:solidFill>
                  <a:srgbClr val="44546A"/>
                </a:solidFill>
                <a:latin typeface="Calibri" pitchFamily="34" charset="0"/>
                <a:ea typeface="Calibri" pitchFamily="34" charset="-122"/>
                <a:cs typeface="Calibri" pitchFamily="34" charset="-120"/>
              </a:rPr>
              <a:t>No guarantee that a listed public service was reliable, secure, or maintained</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Limited real business need</a:t>
            </a:r>
            <a:endParaRPr dirty="0" sz="2400" lang="en-US"/>
          </a:p>
          <a:p>
            <a:pPr indent="-342900" lvl="1" marL="685800">
              <a:spcAft>
                <a:spcPts val="600"/>
              </a:spcAft>
              <a:buSzPct val="100000"/>
              <a:buChar char="–"/>
            </a:pPr>
            <a:r>
              <a:rPr dirty="0" sz="2000" lang="en-US">
                <a:solidFill>
                  <a:srgbClr val="44546A"/>
                </a:solidFill>
                <a:latin typeface="Calibri" pitchFamily="34" charset="0"/>
                <a:ea typeface="Calibri" pitchFamily="34" charset="-122"/>
                <a:cs typeface="Calibri" pitchFamily="34" charset="-120"/>
              </a:rPr>
              <a:t>Most organizations wanted to integrate with known partners, not discover random public services</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Complexity</a:t>
            </a:r>
            <a:endParaRPr dirty="0" sz="2400" lang="en-US"/>
          </a:p>
          <a:p>
            <a:pPr indent="-342900" lvl="1" marL="685800">
              <a:spcAft>
                <a:spcPts val="600"/>
              </a:spcAft>
              <a:buSzPct val="100000"/>
              <a:buChar char="–"/>
            </a:pPr>
            <a:r>
              <a:rPr dirty="0" sz="2000" lang="en-US">
                <a:solidFill>
                  <a:srgbClr val="44546A"/>
                </a:solidFill>
                <a:latin typeface="Calibri" pitchFamily="34" charset="0"/>
                <a:ea typeface="Calibri" pitchFamily="34" charset="-122"/>
                <a:cs typeface="Calibri" pitchFamily="34" charset="-120"/>
              </a:rPr>
              <a:t>The API and data model were seen as heavier than the actual industry need</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Microsoft, IBM, and SAP shut down the public UDDI Business Registry in 2005–2006</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Lesson: private, governed service registries within an enterprise remain valuable, even though the public vision did not succeed</a:t>
            </a:r>
            <a:endParaRPr dirty="0" sz="2400" lang="en-US"/>
          </a:p>
        </p:txBody>
      </p:sp>
      <p:sp>
        <p:nvSpPr>
          <p:cNvPr id="1048775"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776"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19</a:t>
            </a:r>
            <a:endParaRPr dirty="0" sz="900"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92" name=""/>
        <p:cNvGrpSpPr/>
        <p:nvPr/>
      </p:nvGrpSpPr>
      <p:grpSpPr>
        <a:xfrm>
          <a:off x="0" y="0"/>
          <a:ext cx="0" cy="0"/>
          <a:chOff x="0" y="0"/>
          <a:chExt cx="0" cy="0"/>
        </a:xfrm>
      </p:grpSpPr>
      <p:sp>
        <p:nvSpPr>
          <p:cNvPr id="1048780"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Publish–Find–Bind With Real Standards</a:t>
            </a:r>
            <a:endParaRPr dirty="0" sz="2600" lang="en-US"/>
          </a:p>
        </p:txBody>
      </p:sp>
      <p:sp>
        <p:nvSpPr>
          <p:cNvPr id="1048781" name="Shape 1"/>
          <p:cNvSpPr/>
          <p:nvPr/>
        </p:nvSpPr>
        <p:spPr>
          <a:xfrm>
            <a:off x="566928" y="1005840"/>
            <a:ext cx="411480" cy="45720"/>
          </a:xfrm>
          <a:prstGeom prst="rect"/>
          <a:solidFill>
            <a:srgbClr val="00B8A9"/>
          </a:solidFill>
        </p:spPr>
      </p:sp>
      <p:sp>
        <p:nvSpPr>
          <p:cNvPr id="1048782" name="Shape 2"/>
          <p:cNvSpPr/>
          <p:nvPr/>
        </p:nvSpPr>
        <p:spPr>
          <a:xfrm>
            <a:off x="594360" y="2377440"/>
            <a:ext cx="3413760" cy="2377440"/>
          </a:xfrm>
          <a:prstGeom prst="roundRect">
            <a:avLst>
              <a:gd name="adj" fmla="val 3462"/>
            </a:avLst>
          </a:prstGeom>
          <a:solidFill>
            <a:srgbClr val="0F2942"/>
          </a:solidFill>
        </p:spPr>
      </p:sp>
      <p:sp>
        <p:nvSpPr>
          <p:cNvPr id="1048783" name="Shape 3"/>
          <p:cNvSpPr/>
          <p:nvPr/>
        </p:nvSpPr>
        <p:spPr>
          <a:xfrm>
            <a:off x="2045208" y="2103120"/>
            <a:ext cx="512064" cy="512064"/>
          </a:xfrm>
          <a:prstGeom prst="ellipse"/>
          <a:solidFill>
            <a:srgbClr val="00B8A9"/>
          </a:solidFill>
          <a:ln w="25400">
            <a:solidFill>
              <a:srgbClr val="FFFFFF"/>
            </a:solidFill>
            <a:prstDash val="solid"/>
          </a:ln>
        </p:spPr>
      </p:sp>
      <p:sp>
        <p:nvSpPr>
          <p:cNvPr id="1048784" name="Text 4"/>
          <p:cNvSpPr/>
          <p:nvPr/>
        </p:nvSpPr>
        <p:spPr>
          <a:xfrm>
            <a:off x="2045208"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1</a:t>
            </a:r>
            <a:endParaRPr dirty="0" sz="1500" lang="en-US"/>
          </a:p>
        </p:txBody>
      </p:sp>
      <p:sp>
        <p:nvSpPr>
          <p:cNvPr id="1048785" name="Text 5"/>
          <p:cNvSpPr/>
          <p:nvPr/>
        </p:nvSpPr>
        <p:spPr>
          <a:xfrm>
            <a:off x="731520" y="2697480"/>
            <a:ext cx="3139440" cy="548640"/>
          </a:xfrm>
          <a:prstGeom prst="rect"/>
          <a:noFill/>
        </p:spPr>
        <p:txBody>
          <a:bodyPr anchor="t" bIns="0" lIns="0" rIns="0" rtlCol="0" tIns="0" wrap="square"/>
          <a:p>
            <a:pPr algn="ctr" indent="0" marL="0">
              <a:buNone/>
            </a:pPr>
            <a:r>
              <a:rPr b="1" dirty="0" sz="1350" lang="en-US">
                <a:solidFill>
                  <a:srgbClr val="FFFFFF"/>
                </a:solidFill>
                <a:latin typeface="Calibri" pitchFamily="34" charset="0"/>
                <a:ea typeface="Calibri" pitchFamily="34" charset="-122"/>
                <a:cs typeface="Calibri" pitchFamily="34" charset="-120"/>
              </a:rPr>
              <a:t>1. Publish</a:t>
            </a:r>
            <a:endParaRPr dirty="0" sz="1350" lang="en-US"/>
          </a:p>
        </p:txBody>
      </p:sp>
      <p:sp>
        <p:nvSpPr>
          <p:cNvPr id="1048786" name="Text 6"/>
          <p:cNvSpPr/>
          <p:nvPr/>
        </p:nvSpPr>
        <p:spPr>
          <a:xfrm>
            <a:off x="731520" y="3246120"/>
            <a:ext cx="3139440" cy="1417320"/>
          </a:xfrm>
          <a:prstGeom prst="rect"/>
          <a:noFill/>
        </p:spPr>
        <p:txBody>
          <a:bodyPr anchor="t" bIns="0" lIns="0" rIns="0" rtlCol="0" tIns="0" wrap="square"/>
          <a:p>
            <a:pPr algn="ctr" indent="0" marL="0">
              <a:lnSpc>
                <a:spcPct val="115000"/>
              </a:lnSpc>
              <a:buNone/>
            </a:pPr>
            <a:r>
              <a:rPr dirty="0" lang="en-US">
                <a:solidFill>
                  <a:srgbClr val="D8DEE6"/>
                </a:solidFill>
                <a:latin typeface="Calibri" pitchFamily="34" charset="0"/>
                <a:ea typeface="Calibri" pitchFamily="34" charset="-122"/>
                <a:cs typeface="Calibri" pitchFamily="34" charset="-120"/>
              </a:rPr>
              <a:t>Provider writes a WSDL file and registers it (historically in UDDI; today in an API catalog).</a:t>
            </a:r>
            <a:endParaRPr dirty="0" lang="en-US"/>
          </a:p>
        </p:txBody>
      </p:sp>
      <p:sp>
        <p:nvSpPr>
          <p:cNvPr id="1048787" name="Text 7"/>
          <p:cNvSpPr/>
          <p:nvPr/>
        </p:nvSpPr>
        <p:spPr>
          <a:xfrm>
            <a:off x="400812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788" name="Shape 8"/>
          <p:cNvSpPr/>
          <p:nvPr/>
        </p:nvSpPr>
        <p:spPr>
          <a:xfrm>
            <a:off x="4328160" y="2377440"/>
            <a:ext cx="3413760" cy="2377440"/>
          </a:xfrm>
          <a:prstGeom prst="roundRect">
            <a:avLst>
              <a:gd name="adj" fmla="val 3462"/>
            </a:avLst>
          </a:prstGeom>
          <a:solidFill>
            <a:srgbClr val="44546A"/>
          </a:solidFill>
        </p:spPr>
      </p:sp>
      <p:sp>
        <p:nvSpPr>
          <p:cNvPr id="1048789" name="Shape 9"/>
          <p:cNvSpPr/>
          <p:nvPr/>
        </p:nvSpPr>
        <p:spPr>
          <a:xfrm>
            <a:off x="5779008" y="2103120"/>
            <a:ext cx="512064" cy="512064"/>
          </a:xfrm>
          <a:prstGeom prst="ellipse"/>
          <a:solidFill>
            <a:srgbClr val="00B8A9"/>
          </a:solidFill>
          <a:ln w="25400">
            <a:solidFill>
              <a:srgbClr val="FFFFFF"/>
            </a:solidFill>
            <a:prstDash val="solid"/>
          </a:ln>
        </p:spPr>
      </p:sp>
      <p:sp>
        <p:nvSpPr>
          <p:cNvPr id="1048790" name="Text 10"/>
          <p:cNvSpPr/>
          <p:nvPr/>
        </p:nvSpPr>
        <p:spPr>
          <a:xfrm>
            <a:off x="5779008"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2</a:t>
            </a:r>
            <a:endParaRPr dirty="0" sz="1500" lang="en-US"/>
          </a:p>
        </p:txBody>
      </p:sp>
      <p:sp>
        <p:nvSpPr>
          <p:cNvPr id="1048791" name="Text 11"/>
          <p:cNvSpPr/>
          <p:nvPr/>
        </p:nvSpPr>
        <p:spPr>
          <a:xfrm>
            <a:off x="4465320" y="2697480"/>
            <a:ext cx="3139440" cy="548640"/>
          </a:xfrm>
          <a:prstGeom prst="rect"/>
          <a:noFill/>
        </p:spPr>
        <p:txBody>
          <a:bodyPr anchor="t" bIns="0" lIns="0" rIns="0" rtlCol="0" tIns="0" wrap="square"/>
          <a:p>
            <a:pPr algn="ctr" indent="0" marL="0">
              <a:buNone/>
            </a:pPr>
            <a:r>
              <a:rPr b="1" dirty="0" sz="1350" lang="en-US">
                <a:solidFill>
                  <a:srgbClr val="FFFFFF"/>
                </a:solidFill>
                <a:latin typeface="Calibri" pitchFamily="34" charset="0"/>
                <a:ea typeface="Calibri" pitchFamily="34" charset="-122"/>
                <a:cs typeface="Calibri" pitchFamily="34" charset="-120"/>
              </a:rPr>
              <a:t>2. Find</a:t>
            </a:r>
            <a:endParaRPr dirty="0" sz="1350" lang="en-US"/>
          </a:p>
        </p:txBody>
      </p:sp>
      <p:sp>
        <p:nvSpPr>
          <p:cNvPr id="1048792" name="Text 12"/>
          <p:cNvSpPr/>
          <p:nvPr/>
        </p:nvSpPr>
        <p:spPr>
          <a:xfrm>
            <a:off x="4465320" y="3246120"/>
            <a:ext cx="3139440" cy="1417320"/>
          </a:xfrm>
          <a:prstGeom prst="rect"/>
          <a:noFill/>
        </p:spPr>
        <p:txBody>
          <a:bodyPr anchor="t" bIns="0" lIns="0" rIns="0" rtlCol="0" tIns="0" wrap="square"/>
          <a:p>
            <a:pPr algn="ctr" indent="0" marL="0">
              <a:lnSpc>
                <a:spcPct val="115000"/>
              </a:lnSpc>
              <a:buNone/>
            </a:pPr>
            <a:r>
              <a:rPr dirty="0" lang="en-US">
                <a:solidFill>
                  <a:srgbClr val="D8DEE6"/>
                </a:solidFill>
                <a:latin typeface="Calibri" pitchFamily="34" charset="0"/>
                <a:ea typeface="Calibri" pitchFamily="34" charset="-122"/>
                <a:cs typeface="Calibri" pitchFamily="34" charset="-120"/>
              </a:rPr>
              <a:t>Consumer searches the registry/catalog and retrieves the WSDL document.</a:t>
            </a:r>
            <a:endParaRPr dirty="0" lang="en-US"/>
          </a:p>
        </p:txBody>
      </p:sp>
      <p:sp>
        <p:nvSpPr>
          <p:cNvPr id="1048793" name="Text 13"/>
          <p:cNvSpPr/>
          <p:nvPr/>
        </p:nvSpPr>
        <p:spPr>
          <a:xfrm>
            <a:off x="774192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794" name="Shape 14"/>
          <p:cNvSpPr/>
          <p:nvPr/>
        </p:nvSpPr>
        <p:spPr>
          <a:xfrm>
            <a:off x="8061960" y="2377440"/>
            <a:ext cx="3413760" cy="2377440"/>
          </a:xfrm>
          <a:prstGeom prst="roundRect">
            <a:avLst>
              <a:gd name="adj" fmla="val 3462"/>
            </a:avLst>
          </a:prstGeom>
          <a:solidFill>
            <a:srgbClr val="0F2942"/>
          </a:solidFill>
        </p:spPr>
      </p:sp>
      <p:sp>
        <p:nvSpPr>
          <p:cNvPr id="1048795" name="Shape 15"/>
          <p:cNvSpPr/>
          <p:nvPr/>
        </p:nvSpPr>
        <p:spPr>
          <a:xfrm>
            <a:off x="9512808" y="2103120"/>
            <a:ext cx="512064" cy="512064"/>
          </a:xfrm>
          <a:prstGeom prst="ellipse"/>
          <a:solidFill>
            <a:srgbClr val="00B8A9"/>
          </a:solidFill>
          <a:ln w="25400">
            <a:solidFill>
              <a:srgbClr val="FFFFFF"/>
            </a:solidFill>
            <a:prstDash val="solid"/>
          </a:ln>
        </p:spPr>
      </p:sp>
      <p:sp>
        <p:nvSpPr>
          <p:cNvPr id="1048796" name="Text 16"/>
          <p:cNvSpPr/>
          <p:nvPr/>
        </p:nvSpPr>
        <p:spPr>
          <a:xfrm>
            <a:off x="9512808"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3</a:t>
            </a:r>
            <a:endParaRPr dirty="0" sz="1500" lang="en-US"/>
          </a:p>
        </p:txBody>
      </p:sp>
      <p:sp>
        <p:nvSpPr>
          <p:cNvPr id="1048797" name="Text 17"/>
          <p:cNvSpPr/>
          <p:nvPr/>
        </p:nvSpPr>
        <p:spPr>
          <a:xfrm>
            <a:off x="8199120" y="2697480"/>
            <a:ext cx="3139440" cy="548640"/>
          </a:xfrm>
          <a:prstGeom prst="rect"/>
          <a:noFill/>
        </p:spPr>
        <p:txBody>
          <a:bodyPr anchor="t" bIns="0" lIns="0" rIns="0" rtlCol="0" tIns="0" wrap="square"/>
          <a:p>
            <a:pPr algn="ctr" indent="0" marL="0">
              <a:buNone/>
            </a:pPr>
            <a:r>
              <a:rPr b="1" dirty="0" sz="1350" lang="en-US">
                <a:solidFill>
                  <a:srgbClr val="FFFFFF"/>
                </a:solidFill>
                <a:latin typeface="Calibri" pitchFamily="34" charset="0"/>
                <a:ea typeface="Calibri" pitchFamily="34" charset="-122"/>
                <a:cs typeface="Calibri" pitchFamily="34" charset="-120"/>
              </a:rPr>
              <a:t>3. Bind</a:t>
            </a:r>
            <a:endParaRPr dirty="0" sz="1350" lang="en-US"/>
          </a:p>
        </p:txBody>
      </p:sp>
      <p:sp>
        <p:nvSpPr>
          <p:cNvPr id="1048798" name="Text 18"/>
          <p:cNvSpPr/>
          <p:nvPr/>
        </p:nvSpPr>
        <p:spPr>
          <a:xfrm>
            <a:off x="8199120" y="3246120"/>
            <a:ext cx="3139440" cy="1417320"/>
          </a:xfrm>
          <a:prstGeom prst="rect"/>
          <a:noFill/>
        </p:spPr>
        <p:txBody>
          <a:bodyPr anchor="t" bIns="0" lIns="0" rIns="0" rtlCol="0" tIns="0" wrap="square"/>
          <a:p>
            <a:pPr algn="ctr" indent="0" marL="0">
              <a:lnSpc>
                <a:spcPct val="115000"/>
              </a:lnSpc>
              <a:buNone/>
            </a:pPr>
            <a:r>
              <a:rPr dirty="0" lang="en-US">
                <a:solidFill>
                  <a:srgbClr val="D8DEE6"/>
                </a:solidFill>
                <a:latin typeface="Calibri" pitchFamily="34" charset="0"/>
                <a:ea typeface="Calibri" pitchFamily="34" charset="-122"/>
                <a:cs typeface="Calibri" pitchFamily="34" charset="-120"/>
              </a:rPr>
              <a:t>Consumer's tooling generates a client proxy from the WSDL and invokes the service via SOAP over HTTP.</a:t>
            </a:r>
            <a:endParaRPr dirty="0" lang="en-US"/>
          </a:p>
        </p:txBody>
      </p:sp>
      <p:sp>
        <p:nvSpPr>
          <p:cNvPr id="1048799" name="Text 19"/>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800" name="Text 20"/>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20</a:t>
            </a:r>
            <a:endParaRPr dirty="0" sz="900"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95" name=""/>
        <p:cNvGrpSpPr/>
        <p:nvPr/>
      </p:nvGrpSpPr>
      <p:grpSpPr>
        <a:xfrm>
          <a:off x="0" y="0"/>
          <a:ext cx="0" cy="0"/>
          <a:chOff x="0" y="0"/>
          <a:chExt cx="0" cy="0"/>
        </a:xfrm>
      </p:grpSpPr>
      <p:sp>
        <p:nvSpPr>
          <p:cNvPr id="1048804"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Web Service Standards Stack — Summary</a:t>
            </a:r>
            <a:endParaRPr dirty="0" sz="2600" lang="en-US"/>
          </a:p>
        </p:txBody>
      </p:sp>
      <p:sp>
        <p:nvSpPr>
          <p:cNvPr id="1048805" name="Shape 1"/>
          <p:cNvSpPr/>
          <p:nvPr/>
        </p:nvSpPr>
        <p:spPr>
          <a:xfrm>
            <a:off x="566928" y="1005840"/>
            <a:ext cx="411480" cy="45720"/>
          </a:xfrm>
          <a:prstGeom prst="rect"/>
          <a:solidFill>
            <a:srgbClr val="00B8A9"/>
          </a:solidFill>
        </p:spPr>
      </p:sp>
      <p:graphicFrame>
        <p:nvGraphicFramePr>
          <p:cNvPr id="4194304" name="Table 0"/>
          <p:cNvGraphicFramePr>
            <a:graphicFrameLocks noGrp="1"/>
          </p:cNvGraphicFramePr>
          <p:nvPr/>
        </p:nvGraphicFramePr>
        <p:xfrm>
          <a:off x="548640" y="1325880"/>
          <a:ext cx="11064240" cy="4846320"/>
        </p:xfrm>
        <a:graphic>
          <a:graphicData uri="http://schemas.openxmlformats.org/drawingml/2006/table">
            <a:tbl>
              <a:tblPr/>
              <a:tblGrid>
                <a:gridCol w="3688080"/>
                <a:gridCol w="3688080"/>
                <a:gridCol w="3688080"/>
              </a:tblGrid>
              <a:tr h="807720">
                <a:tc>
                  <a:txBody>
                    <a:bodyPr/>
                    <a:p>
                      <a:pPr indent="0" marL="0">
                        <a:buNone/>
                      </a:pPr>
                      <a:r>
                        <a:rPr b="1" dirty="0" sz="2000" lang="en-US">
                          <a:solidFill>
                            <a:srgbClr val="FFFFFF"/>
                          </a:solidFill>
                          <a:latin typeface="Calibri" pitchFamily="34" charset="0"/>
                          <a:ea typeface="Calibri" pitchFamily="34" charset="-122"/>
                          <a:cs typeface="Calibri" pitchFamily="34" charset="-120"/>
                        </a:rPr>
                        <a:t>Standard</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p>
                      <a:pPr indent="0" marL="0">
                        <a:buNone/>
                      </a:pPr>
                      <a:r>
                        <a:rPr b="1" dirty="0" sz="2000" lang="en-US">
                          <a:solidFill>
                            <a:srgbClr val="FFFFFF"/>
                          </a:solidFill>
                          <a:latin typeface="Calibri" pitchFamily="34" charset="0"/>
                          <a:ea typeface="Calibri" pitchFamily="34" charset="-122"/>
                          <a:cs typeface="Calibri" pitchFamily="34" charset="-120"/>
                        </a:rPr>
                        <a:t>Layer</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p>
                      <a:pPr indent="0" marL="0">
                        <a:buNone/>
                      </a:pPr>
                      <a:r>
                        <a:rPr b="1" dirty="0" sz="2000" lang="en-US">
                          <a:solidFill>
                            <a:srgbClr val="FFFFFF"/>
                          </a:solidFill>
                          <a:latin typeface="Calibri" pitchFamily="34" charset="0"/>
                          <a:ea typeface="Calibri" pitchFamily="34" charset="-122"/>
                          <a:cs typeface="Calibri" pitchFamily="34" charset="-120"/>
                        </a:rPr>
                        <a:t>Role</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r>
              <a:tr h="807720">
                <a:tc>
                  <a:txBody>
                    <a:bodyPr/>
                    <a:p>
                      <a:pPr indent="0" marL="0">
                        <a:buNone/>
                      </a:pPr>
                      <a:r>
                        <a:rPr dirty="0" sz="2000" lang="en-US">
                          <a:solidFill>
                            <a:srgbClr val="1A1A2E"/>
                          </a:solidFill>
                          <a:latin typeface="Calibri" pitchFamily="34" charset="0"/>
                          <a:ea typeface="Calibri" pitchFamily="34" charset="-122"/>
                          <a:cs typeface="Calibri" pitchFamily="34" charset="-120"/>
                        </a:rPr>
                        <a:t>XML</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000" lang="en-US">
                          <a:solidFill>
                            <a:srgbClr val="1A1A2E"/>
                          </a:solidFill>
                          <a:latin typeface="Calibri" pitchFamily="34" charset="0"/>
                          <a:ea typeface="Calibri" pitchFamily="34" charset="-122"/>
                          <a:cs typeface="Calibri" pitchFamily="34" charset="-120"/>
                        </a:rPr>
                        <a:t>Data format</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000" lang="en-US">
                          <a:solidFill>
                            <a:srgbClr val="1A1A2E"/>
                          </a:solidFill>
                          <a:latin typeface="Calibri" pitchFamily="34" charset="0"/>
                          <a:ea typeface="Calibri" pitchFamily="34" charset="-122"/>
                          <a:cs typeface="Calibri" pitchFamily="34" charset="-120"/>
                        </a:rPr>
                        <a:t>Represents structured data platform-independently</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807720">
                <a:tc>
                  <a:txBody>
                    <a:bodyPr/>
                    <a:p>
                      <a:pPr indent="0" marL="0">
                        <a:buNone/>
                      </a:pPr>
                      <a:r>
                        <a:rPr dirty="0" sz="2000" lang="en-US">
                          <a:solidFill>
                            <a:srgbClr val="1A1A2E"/>
                          </a:solidFill>
                          <a:latin typeface="Calibri" pitchFamily="34" charset="0"/>
                          <a:ea typeface="Calibri" pitchFamily="34" charset="-122"/>
                          <a:cs typeface="Calibri" pitchFamily="34" charset="-120"/>
                        </a:rPr>
                        <a:t>XSD</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000" lang="en-US">
                          <a:solidFill>
                            <a:srgbClr val="1A1A2E"/>
                          </a:solidFill>
                          <a:latin typeface="Calibri" pitchFamily="34" charset="0"/>
                          <a:ea typeface="Calibri" pitchFamily="34" charset="-122"/>
                          <a:cs typeface="Calibri" pitchFamily="34" charset="-120"/>
                        </a:rPr>
                        <a:t>Data typing</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000" lang="en-US">
                          <a:solidFill>
                            <a:srgbClr val="1A1A2E"/>
                          </a:solidFill>
                          <a:latin typeface="Calibri" pitchFamily="34" charset="0"/>
                          <a:ea typeface="Calibri" pitchFamily="34" charset="-122"/>
                          <a:cs typeface="Calibri" pitchFamily="34" charset="-120"/>
                        </a:rPr>
                        <a:t>Validates the structure and types within XML messages</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r h="807720">
                <a:tc>
                  <a:txBody>
                    <a:bodyPr/>
                    <a:p>
                      <a:pPr indent="0" marL="0">
                        <a:buNone/>
                      </a:pPr>
                      <a:r>
                        <a:rPr dirty="0" sz="2000" lang="en-US">
                          <a:solidFill>
                            <a:srgbClr val="1A1A2E"/>
                          </a:solidFill>
                          <a:latin typeface="Calibri" pitchFamily="34" charset="0"/>
                          <a:ea typeface="Calibri" pitchFamily="34" charset="-122"/>
                          <a:cs typeface="Calibri" pitchFamily="34" charset="-120"/>
                        </a:rPr>
                        <a:t>WSDL</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000" lang="en-US">
                          <a:solidFill>
                            <a:srgbClr val="1A1A2E"/>
                          </a:solidFill>
                          <a:latin typeface="Calibri" pitchFamily="34" charset="0"/>
                          <a:ea typeface="Calibri" pitchFamily="34" charset="-122"/>
                          <a:cs typeface="Calibri" pitchFamily="34" charset="-120"/>
                        </a:rPr>
                        <a:t>Interface description</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000" lang="en-US">
                          <a:solidFill>
                            <a:srgbClr val="1A1A2E"/>
                          </a:solidFill>
                          <a:latin typeface="Calibri" pitchFamily="34" charset="0"/>
                          <a:ea typeface="Calibri" pitchFamily="34" charset="-122"/>
                          <a:cs typeface="Calibri" pitchFamily="34" charset="-120"/>
                        </a:rPr>
                        <a:t>Describes operations, messages, and endpoint location</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807720">
                <a:tc>
                  <a:txBody>
                    <a:bodyPr/>
                    <a:p>
                      <a:pPr indent="0" marL="0">
                        <a:buNone/>
                      </a:pPr>
                      <a:r>
                        <a:rPr dirty="0" sz="2000" lang="en-US">
                          <a:solidFill>
                            <a:srgbClr val="1A1A2E"/>
                          </a:solidFill>
                          <a:latin typeface="Calibri" pitchFamily="34" charset="0"/>
                          <a:ea typeface="Calibri" pitchFamily="34" charset="-122"/>
                          <a:cs typeface="Calibri" pitchFamily="34" charset="-120"/>
                        </a:rPr>
                        <a:t>SOAP</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000" lang="en-US">
                          <a:solidFill>
                            <a:srgbClr val="1A1A2E"/>
                          </a:solidFill>
                          <a:latin typeface="Calibri" pitchFamily="34" charset="0"/>
                          <a:ea typeface="Calibri" pitchFamily="34" charset="-122"/>
                          <a:cs typeface="Calibri" pitchFamily="34" charset="-120"/>
                        </a:rPr>
                        <a:t>Messaging protocol</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000" lang="en-US">
                          <a:solidFill>
                            <a:srgbClr val="1A1A2E"/>
                          </a:solidFill>
                          <a:latin typeface="Calibri" pitchFamily="34" charset="0"/>
                          <a:ea typeface="Calibri" pitchFamily="34" charset="-122"/>
                          <a:cs typeface="Calibri" pitchFamily="34" charset="-120"/>
                        </a:rPr>
                        <a:t>Wraps and transports messages between endpoints</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r h="807720">
                <a:tc>
                  <a:txBody>
                    <a:bodyPr/>
                    <a:p>
                      <a:pPr indent="0" marL="0">
                        <a:buNone/>
                      </a:pPr>
                      <a:r>
                        <a:rPr dirty="0" sz="2000" lang="en-US">
                          <a:solidFill>
                            <a:srgbClr val="1A1A2E"/>
                          </a:solidFill>
                          <a:latin typeface="Calibri" pitchFamily="34" charset="0"/>
                          <a:ea typeface="Calibri" pitchFamily="34" charset="-122"/>
                          <a:cs typeface="Calibri" pitchFamily="34" charset="-120"/>
                        </a:rPr>
                        <a:t>UDDI</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000" lang="en-US">
                          <a:solidFill>
                            <a:srgbClr val="1A1A2E"/>
                          </a:solidFill>
                          <a:latin typeface="Calibri" pitchFamily="34" charset="0"/>
                          <a:ea typeface="Calibri" pitchFamily="34" charset="-122"/>
                          <a:cs typeface="Calibri" pitchFamily="34" charset="-120"/>
                        </a:rPr>
                        <a:t>Discovery</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000" lang="en-US">
                          <a:solidFill>
                            <a:srgbClr val="1A1A2E"/>
                          </a:solidFill>
                          <a:latin typeface="Calibri" pitchFamily="34" charset="0"/>
                          <a:ea typeface="Calibri" pitchFamily="34" charset="-122"/>
                          <a:cs typeface="Calibri" pitchFamily="34" charset="-120"/>
                        </a:rPr>
                        <a:t>Registry for publishing and finding service descriptions</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bl>
          </a:graphicData>
        </a:graphic>
      </p:graphicFrame>
      <p:sp>
        <p:nvSpPr>
          <p:cNvPr id="1048806" name="Text 2"/>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807" name="Text 3"/>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21</a:t>
            </a:r>
            <a:endParaRPr dirty="0" sz="900"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98" name=""/>
        <p:cNvGrpSpPr/>
        <p:nvPr/>
      </p:nvGrpSpPr>
      <p:grpSpPr>
        <a:xfrm>
          <a:off x="0" y="0"/>
          <a:ext cx="0" cy="0"/>
          <a:chOff x="0" y="0"/>
          <a:chExt cx="0" cy="0"/>
        </a:xfrm>
      </p:grpSpPr>
      <p:sp>
        <p:nvSpPr>
          <p:cNvPr id="1048811"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Namespaces: Avoiding Naming Collisions</a:t>
            </a:r>
            <a:endParaRPr dirty="0" sz="2600" lang="en-US"/>
          </a:p>
        </p:txBody>
      </p:sp>
      <p:sp>
        <p:nvSpPr>
          <p:cNvPr id="1048812" name="Shape 1"/>
          <p:cNvSpPr/>
          <p:nvPr/>
        </p:nvSpPr>
        <p:spPr>
          <a:xfrm>
            <a:off x="566928" y="1005840"/>
            <a:ext cx="411480" cy="45720"/>
          </a:xfrm>
          <a:prstGeom prst="rect"/>
          <a:solidFill>
            <a:srgbClr val="00B8A9"/>
          </a:solidFill>
        </p:spPr>
      </p:sp>
      <p:sp>
        <p:nvSpPr>
          <p:cNvPr id="1048813"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Two organizations might both define an element called &lt;order&gt; with completely different meanings</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XML namespaces solve this using a URI as a unique identifier:</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xmlns:tns="http://example.com/orders"</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Prefixes (like tns:, xs:, soap:) are just local aliases that map to a full namespace URI</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WSDL files rely heavily on namespaces to unambiguously connect types, messages, portTypes, and bindings</a:t>
            </a:r>
            <a:endParaRPr dirty="0" sz="2800" lang="en-US"/>
          </a:p>
        </p:txBody>
      </p:sp>
      <p:sp>
        <p:nvSpPr>
          <p:cNvPr id="1048814"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815"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22</a:t>
            </a:r>
            <a:endParaRPr dirty="0" sz="900"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01" name=""/>
        <p:cNvGrpSpPr/>
        <p:nvPr/>
      </p:nvGrpSpPr>
      <p:grpSpPr>
        <a:xfrm>
          <a:off x="0" y="0"/>
          <a:ext cx="0" cy="0"/>
          <a:chOff x="0" y="0"/>
          <a:chExt cx="0" cy="0"/>
        </a:xfrm>
      </p:grpSpPr>
      <p:sp>
        <p:nvSpPr>
          <p:cNvPr id="1048819"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Design-Time vs. Runtime Artifacts</a:t>
            </a:r>
            <a:endParaRPr dirty="0" sz="2600" lang="en-US"/>
          </a:p>
        </p:txBody>
      </p:sp>
      <p:sp>
        <p:nvSpPr>
          <p:cNvPr id="1048820" name="Shape 1"/>
          <p:cNvSpPr/>
          <p:nvPr/>
        </p:nvSpPr>
        <p:spPr>
          <a:xfrm>
            <a:off x="566928" y="1005840"/>
            <a:ext cx="411480" cy="45720"/>
          </a:xfrm>
          <a:prstGeom prst="rect"/>
          <a:solidFill>
            <a:srgbClr val="00B8A9"/>
          </a:solidFill>
        </p:spPr>
      </p:sp>
      <p:sp>
        <p:nvSpPr>
          <p:cNvPr id="1048821"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Design-time artifacts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WSDL and XSD files — used by developers and tools to build client and server code before deployment</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Runtime artifacts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The actual SOAP messages exchanged over the network while the system is running</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Understanding this distinction matters: a WSDL rarely changes once published, but the messages flowing through it happen continuously</a:t>
            </a:r>
            <a:endParaRPr dirty="0" sz="2800" lang="en-US"/>
          </a:p>
        </p:txBody>
      </p:sp>
      <p:sp>
        <p:nvSpPr>
          <p:cNvPr id="1048822"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823"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23</a:t>
            </a:r>
            <a:endParaRPr dirty="0" sz="900"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04" name=""/>
        <p:cNvGrpSpPr/>
        <p:nvPr/>
      </p:nvGrpSpPr>
      <p:grpSpPr>
        <a:xfrm>
          <a:off x="0" y="0"/>
          <a:ext cx="0" cy="0"/>
          <a:chOff x="0" y="0"/>
          <a:chExt cx="0" cy="0"/>
        </a:xfrm>
      </p:grpSpPr>
      <p:sp>
        <p:nvSpPr>
          <p:cNvPr id="1048827"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Contract-First vs. Code-First Development</a:t>
            </a:r>
            <a:endParaRPr dirty="0" sz="2600" lang="en-US"/>
          </a:p>
        </p:txBody>
      </p:sp>
      <p:sp>
        <p:nvSpPr>
          <p:cNvPr id="1048828" name="Shape 1"/>
          <p:cNvSpPr/>
          <p:nvPr/>
        </p:nvSpPr>
        <p:spPr>
          <a:xfrm>
            <a:off x="566928" y="1005840"/>
            <a:ext cx="411480" cy="45720"/>
          </a:xfrm>
          <a:prstGeom prst="rect"/>
          <a:solidFill>
            <a:srgbClr val="00B8A9"/>
          </a:solidFill>
        </p:spPr>
      </p:sp>
      <p:sp>
        <p:nvSpPr>
          <p:cNvPr id="1048829"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Contract-first (WSDL-first)</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The team designs the WSDL contract first, then generates or writes server code to implement it</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Advantage: contract is stable and platform-neutral from the start</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Code-first</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The team writes the service implementation first, and a WSDL is auto-generated from the code</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Advantage: faster initial development; risk: contract can leak implementation details</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Most mature SOA governance programs strongly prefer contract-first design</a:t>
            </a:r>
            <a:endParaRPr dirty="0" sz="2800" lang="en-US"/>
          </a:p>
        </p:txBody>
      </p:sp>
      <p:sp>
        <p:nvSpPr>
          <p:cNvPr id="1048830"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831"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24</a:t>
            </a:r>
            <a:endParaRPr dirty="0" sz="900"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07" name=""/>
        <p:cNvGrpSpPr/>
        <p:nvPr/>
      </p:nvGrpSpPr>
      <p:grpSpPr>
        <a:xfrm>
          <a:off x="0" y="0"/>
          <a:ext cx="0" cy="0"/>
          <a:chOff x="0" y="0"/>
          <a:chExt cx="0" cy="0"/>
        </a:xfrm>
      </p:grpSpPr>
      <p:sp>
        <p:nvSpPr>
          <p:cNvPr id="1048835"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Versioning a Service Contract</a:t>
            </a:r>
            <a:endParaRPr dirty="0" sz="2600" lang="en-US"/>
          </a:p>
        </p:txBody>
      </p:sp>
      <p:sp>
        <p:nvSpPr>
          <p:cNvPr id="1048836" name="Shape 1"/>
          <p:cNvSpPr/>
          <p:nvPr/>
        </p:nvSpPr>
        <p:spPr>
          <a:xfrm>
            <a:off x="566928" y="1005840"/>
            <a:ext cx="411480" cy="45720"/>
          </a:xfrm>
          <a:prstGeom prst="rect"/>
          <a:solidFill>
            <a:srgbClr val="00B8A9"/>
          </a:solidFill>
        </p:spPr>
      </p:sp>
      <p:sp>
        <p:nvSpPr>
          <p:cNvPr id="1048837"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Services evolve — but existing consumers must not break</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Backward-compatible changes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Adding new optional elements or new operations</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Breaking changes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Removing/renaming fields, changing data types, changing required parameters</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Common versioning strategies: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Namespace versioning, endpoint versioning (e.g., /v1/, /v2/), or explicit version elements in the message</a:t>
            </a:r>
            <a:endParaRPr dirty="0" sz="2800" lang="en-US"/>
          </a:p>
        </p:txBody>
      </p:sp>
      <p:sp>
        <p:nvSpPr>
          <p:cNvPr id="1048838"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839"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25</a:t>
            </a:r>
            <a:endParaRPr dirty="0" sz="900"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10" name=""/>
        <p:cNvGrpSpPr/>
        <p:nvPr/>
      </p:nvGrpSpPr>
      <p:grpSpPr>
        <a:xfrm>
          <a:off x="0" y="0"/>
          <a:ext cx="0" cy="0"/>
          <a:chOff x="0" y="0"/>
          <a:chExt cx="0" cy="0"/>
        </a:xfrm>
      </p:grpSpPr>
      <p:sp>
        <p:nvSpPr>
          <p:cNvPr id="1048843"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Tooling in Practice</a:t>
            </a:r>
            <a:endParaRPr dirty="0" sz="2600" lang="en-US"/>
          </a:p>
        </p:txBody>
      </p:sp>
      <p:sp>
        <p:nvSpPr>
          <p:cNvPr id="1048844" name="Shape 1"/>
          <p:cNvSpPr/>
          <p:nvPr/>
        </p:nvSpPr>
        <p:spPr>
          <a:xfrm>
            <a:off x="566928" y="1005840"/>
            <a:ext cx="411480" cy="45720"/>
          </a:xfrm>
          <a:prstGeom prst="rect"/>
          <a:solidFill>
            <a:srgbClr val="00B8A9"/>
          </a:solidFill>
        </p:spPr>
      </p:sp>
      <p:sp>
        <p:nvSpPr>
          <p:cNvPr id="1048845"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Java: wsimport / JAX-WS generate client and server stubs from WSDL</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​.NET: 'Add Service Reference' or svcutil.exe generate proxy classes</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SoapUI: widely used tool to test SOAP services directly from a WSDL</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These tools remove most of the manual XML-writing burden — but understanding the underlying WSDL/XML is essential for debugging and designing good contracts</a:t>
            </a:r>
            <a:endParaRPr dirty="0" sz="2400" lang="en-US"/>
          </a:p>
        </p:txBody>
      </p:sp>
      <p:sp>
        <p:nvSpPr>
          <p:cNvPr id="1048846"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847"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26</a:t>
            </a:r>
            <a:endParaRPr dirty="0" sz="900"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13" name=""/>
        <p:cNvGrpSpPr/>
        <p:nvPr/>
      </p:nvGrpSpPr>
      <p:grpSpPr>
        <a:xfrm>
          <a:off x="0" y="0"/>
          <a:ext cx="0" cy="0"/>
          <a:chOff x="0" y="0"/>
          <a:chExt cx="0" cy="0"/>
        </a:xfrm>
      </p:grpSpPr>
      <p:sp>
        <p:nvSpPr>
          <p:cNvPr id="1048851"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Common Mistakes When Working with WSDL/XSD</a:t>
            </a:r>
            <a:endParaRPr dirty="0" sz="2600" lang="en-US"/>
          </a:p>
        </p:txBody>
      </p:sp>
      <p:sp>
        <p:nvSpPr>
          <p:cNvPr id="1048852" name="Shape 1"/>
          <p:cNvSpPr/>
          <p:nvPr/>
        </p:nvSpPr>
        <p:spPr>
          <a:xfrm>
            <a:off x="566928" y="1005840"/>
            <a:ext cx="411480" cy="45720"/>
          </a:xfrm>
          <a:prstGeom prst="rect"/>
          <a:solidFill>
            <a:srgbClr val="00B8A9"/>
          </a:solidFill>
        </p:spPr>
      </p:sp>
      <p:sp>
        <p:nvSpPr>
          <p:cNvPr id="1048853"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Overly permissive types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Using generic 'string' for everything instead of precise types and restrictions</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Exposing internal naming</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Copying internal database column names directly into the XSD</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Ignoring namespace design</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Sloppy or missing namespaces causing collisions as the service inventory grows</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Skipping documentation</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A WSDL without &lt;documentation&gt; elements is hard for other teams to understand and reuse</a:t>
            </a:r>
            <a:endParaRPr dirty="0" sz="2800" lang="en-US"/>
          </a:p>
        </p:txBody>
      </p:sp>
      <p:sp>
        <p:nvSpPr>
          <p:cNvPr id="1048854"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855"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27</a:t>
            </a:r>
            <a:endParaRPr dirty="0" sz="900"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AF6F5"/>
        </a:solidFill>
        <a:effectLst/>
      </p:bgPr>
    </p:bg>
    <p:spTree>
      <p:nvGrpSpPr>
        <p:cNvPr id="116" name=""/>
        <p:cNvGrpSpPr/>
        <p:nvPr/>
      </p:nvGrpSpPr>
      <p:grpSpPr>
        <a:xfrm>
          <a:off x="0" y="0"/>
          <a:ext cx="0" cy="0"/>
          <a:chOff x="0" y="0"/>
          <a:chExt cx="0" cy="0"/>
        </a:xfrm>
      </p:grpSpPr>
      <p:sp>
        <p:nvSpPr>
          <p:cNvPr id="1048859" name="Text 0"/>
          <p:cNvSpPr/>
          <p:nvPr/>
        </p:nvSpPr>
        <p:spPr>
          <a:xfrm>
            <a:off x="548640" y="457200"/>
            <a:ext cx="7315200" cy="640080"/>
          </a:xfrm>
          <a:prstGeom prst="rect"/>
          <a:noFill/>
        </p:spPr>
        <p:txBody>
          <a:bodyPr anchor="ctr" bIns="0" lIns="0" rIns="0" rtlCol="0" tIns="0" wrap="square"/>
          <a:p>
            <a:pPr indent="0" marL="0">
              <a:buNone/>
            </a:pPr>
            <a:r>
              <a:rPr b="1" dirty="0" sz="2800" lang="en-US">
                <a:solidFill>
                  <a:srgbClr val="0F2942"/>
                </a:solidFill>
                <a:latin typeface="Calibri" pitchFamily="34" charset="0"/>
                <a:ea typeface="Calibri" pitchFamily="34" charset="-122"/>
                <a:cs typeface="Calibri" pitchFamily="34" charset="-120"/>
              </a:rPr>
              <a:t>Key Takeaways</a:t>
            </a:r>
            <a:endParaRPr dirty="0" sz="2800" lang="en-US"/>
          </a:p>
        </p:txBody>
      </p:sp>
      <p:sp>
        <p:nvSpPr>
          <p:cNvPr id="1048860" name="Shape 1"/>
          <p:cNvSpPr/>
          <p:nvPr/>
        </p:nvSpPr>
        <p:spPr>
          <a:xfrm>
            <a:off x="566928" y="1143000"/>
            <a:ext cx="457200" cy="54864"/>
          </a:xfrm>
          <a:prstGeom prst="rect"/>
          <a:solidFill>
            <a:srgbClr val="00B8A9"/>
          </a:solidFill>
        </p:spPr>
      </p:sp>
      <p:sp>
        <p:nvSpPr>
          <p:cNvPr id="1048861" name="Shape 2"/>
          <p:cNvSpPr/>
          <p:nvPr/>
        </p:nvSpPr>
        <p:spPr>
          <a:xfrm>
            <a:off x="548640" y="1508760"/>
            <a:ext cx="11064240" cy="777240"/>
          </a:xfrm>
          <a:prstGeom prst="roundRect">
            <a:avLst>
              <a:gd name="adj" fmla="val 9412"/>
            </a:avLst>
          </a:prstGeom>
          <a:solidFill>
            <a:srgbClr val="FFFFFF"/>
          </a:solidFill>
        </p:spPr>
      </p:sp>
      <p:sp>
        <p:nvSpPr>
          <p:cNvPr id="1048862" name="Shape 3"/>
          <p:cNvSpPr/>
          <p:nvPr/>
        </p:nvSpPr>
        <p:spPr>
          <a:xfrm>
            <a:off x="777240" y="1673352"/>
            <a:ext cx="457200" cy="457200"/>
          </a:xfrm>
          <a:prstGeom prst="ellipse"/>
          <a:solidFill>
            <a:srgbClr val="00B8A9"/>
          </a:solidFill>
        </p:spPr>
      </p:sp>
      <p:sp>
        <p:nvSpPr>
          <p:cNvPr id="1048863" name="Text 4"/>
          <p:cNvSpPr/>
          <p:nvPr/>
        </p:nvSpPr>
        <p:spPr>
          <a:xfrm>
            <a:off x="777240" y="16733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1</a:t>
            </a:r>
            <a:endParaRPr dirty="0" sz="1500" lang="en-US"/>
          </a:p>
        </p:txBody>
      </p:sp>
      <p:sp>
        <p:nvSpPr>
          <p:cNvPr id="1048864" name="Text 5"/>
          <p:cNvSpPr/>
          <p:nvPr/>
        </p:nvSpPr>
        <p:spPr>
          <a:xfrm>
            <a:off x="1417320" y="1508760"/>
            <a:ext cx="9966960" cy="777240"/>
          </a:xfrm>
          <a:prstGeom prst="rect"/>
          <a:noFill/>
        </p:spPr>
        <p:txBody>
          <a:bodyPr anchor="ctr" bIns="0" lIns="0" rIns="0" rtlCol="0" tIns="0" wrap="square"/>
          <a:p>
            <a:pPr indent="0" marL="0">
              <a:buNone/>
            </a:pPr>
            <a:r>
              <a:rPr dirty="0" sz="1600" lang="en-US">
                <a:solidFill>
                  <a:srgbClr val="1A1A2E"/>
                </a:solidFill>
                <a:latin typeface="Calibri" pitchFamily="34" charset="0"/>
                <a:ea typeface="Calibri" pitchFamily="34" charset="-122"/>
                <a:cs typeface="Calibri" pitchFamily="34" charset="-120"/>
              </a:rPr>
              <a:t>XML provides the platform-neutral, self-describing data format underlying most web-service standards</a:t>
            </a:r>
            <a:endParaRPr dirty="0" sz="1600" lang="en-US"/>
          </a:p>
        </p:txBody>
      </p:sp>
      <p:sp>
        <p:nvSpPr>
          <p:cNvPr id="1048865" name="Shape 6"/>
          <p:cNvSpPr/>
          <p:nvPr/>
        </p:nvSpPr>
        <p:spPr>
          <a:xfrm>
            <a:off x="548640" y="2423160"/>
            <a:ext cx="11064240" cy="777240"/>
          </a:xfrm>
          <a:prstGeom prst="roundRect">
            <a:avLst>
              <a:gd name="adj" fmla="val 9412"/>
            </a:avLst>
          </a:prstGeom>
          <a:solidFill>
            <a:srgbClr val="FFFFFF"/>
          </a:solidFill>
        </p:spPr>
      </p:sp>
      <p:sp>
        <p:nvSpPr>
          <p:cNvPr id="1048866" name="Shape 7"/>
          <p:cNvSpPr/>
          <p:nvPr/>
        </p:nvSpPr>
        <p:spPr>
          <a:xfrm>
            <a:off x="777240" y="2587752"/>
            <a:ext cx="457200" cy="457200"/>
          </a:xfrm>
          <a:prstGeom prst="ellipse"/>
          <a:solidFill>
            <a:srgbClr val="00B8A9"/>
          </a:solidFill>
        </p:spPr>
      </p:sp>
      <p:sp>
        <p:nvSpPr>
          <p:cNvPr id="1048867" name="Text 8"/>
          <p:cNvSpPr/>
          <p:nvPr/>
        </p:nvSpPr>
        <p:spPr>
          <a:xfrm>
            <a:off x="777240" y="25877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2</a:t>
            </a:r>
            <a:endParaRPr dirty="0" sz="1500" lang="en-US"/>
          </a:p>
        </p:txBody>
      </p:sp>
      <p:sp>
        <p:nvSpPr>
          <p:cNvPr id="1048868" name="Text 9"/>
          <p:cNvSpPr/>
          <p:nvPr/>
        </p:nvSpPr>
        <p:spPr>
          <a:xfrm>
            <a:off x="1417320" y="2423160"/>
            <a:ext cx="9966960" cy="777240"/>
          </a:xfrm>
          <a:prstGeom prst="rect"/>
          <a:noFill/>
        </p:spPr>
        <p:txBody>
          <a:bodyPr anchor="ctr" bIns="0" lIns="0" rIns="0" rtlCol="0" tIns="0" wrap="square"/>
          <a:p>
            <a:pPr indent="0" marL="0">
              <a:buNone/>
            </a:pPr>
            <a:r>
              <a:rPr dirty="0" sz="1600" lang="en-US">
                <a:solidFill>
                  <a:srgbClr val="1A1A2E"/>
                </a:solidFill>
                <a:latin typeface="Calibri" pitchFamily="34" charset="0"/>
                <a:ea typeface="Calibri" pitchFamily="34" charset="-122"/>
                <a:cs typeface="Calibri" pitchFamily="34" charset="-120"/>
              </a:rPr>
              <a:t>XML Schema (XSD) defines the precise structure and types a valid XML message must follow</a:t>
            </a:r>
            <a:endParaRPr dirty="0" sz="1600" lang="en-US"/>
          </a:p>
        </p:txBody>
      </p:sp>
      <p:sp>
        <p:nvSpPr>
          <p:cNvPr id="1048869" name="Shape 10"/>
          <p:cNvSpPr/>
          <p:nvPr/>
        </p:nvSpPr>
        <p:spPr>
          <a:xfrm>
            <a:off x="548640" y="3337560"/>
            <a:ext cx="11064240" cy="777240"/>
          </a:xfrm>
          <a:prstGeom prst="roundRect">
            <a:avLst>
              <a:gd name="adj" fmla="val 9412"/>
            </a:avLst>
          </a:prstGeom>
          <a:solidFill>
            <a:srgbClr val="FFFFFF"/>
          </a:solidFill>
        </p:spPr>
      </p:sp>
      <p:sp>
        <p:nvSpPr>
          <p:cNvPr id="1048870" name="Shape 11"/>
          <p:cNvSpPr/>
          <p:nvPr/>
        </p:nvSpPr>
        <p:spPr>
          <a:xfrm>
            <a:off x="777240" y="3502152"/>
            <a:ext cx="457200" cy="457200"/>
          </a:xfrm>
          <a:prstGeom prst="ellipse"/>
          <a:solidFill>
            <a:srgbClr val="00B8A9"/>
          </a:solidFill>
        </p:spPr>
      </p:sp>
      <p:sp>
        <p:nvSpPr>
          <p:cNvPr id="1048871" name="Text 12"/>
          <p:cNvSpPr/>
          <p:nvPr/>
        </p:nvSpPr>
        <p:spPr>
          <a:xfrm>
            <a:off x="777240" y="35021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3</a:t>
            </a:r>
            <a:endParaRPr dirty="0" sz="1500" lang="en-US"/>
          </a:p>
        </p:txBody>
      </p:sp>
      <p:sp>
        <p:nvSpPr>
          <p:cNvPr id="1048872" name="Text 13"/>
          <p:cNvSpPr/>
          <p:nvPr/>
        </p:nvSpPr>
        <p:spPr>
          <a:xfrm>
            <a:off x="1417320" y="3337560"/>
            <a:ext cx="9966960" cy="777240"/>
          </a:xfrm>
          <a:prstGeom prst="rect"/>
          <a:noFill/>
        </p:spPr>
        <p:txBody>
          <a:bodyPr anchor="ctr" bIns="0" lIns="0" rIns="0" rtlCol="0" tIns="0" wrap="square"/>
          <a:p>
            <a:pPr indent="0" marL="0">
              <a:buNone/>
            </a:pPr>
            <a:r>
              <a:rPr dirty="0" sz="1600" lang="en-US">
                <a:solidFill>
                  <a:srgbClr val="1A1A2E"/>
                </a:solidFill>
                <a:latin typeface="Calibri" pitchFamily="34" charset="0"/>
                <a:ea typeface="Calibri" pitchFamily="34" charset="-122"/>
                <a:cs typeface="Calibri" pitchFamily="34" charset="-120"/>
              </a:rPr>
              <a:t>WSDL is the formal, machine-readable contract describing a service's operations, messages, and location</a:t>
            </a:r>
            <a:endParaRPr dirty="0" sz="1600" lang="en-US"/>
          </a:p>
        </p:txBody>
      </p:sp>
      <p:sp>
        <p:nvSpPr>
          <p:cNvPr id="1048873" name="Shape 14"/>
          <p:cNvSpPr/>
          <p:nvPr/>
        </p:nvSpPr>
        <p:spPr>
          <a:xfrm>
            <a:off x="548640" y="4251960"/>
            <a:ext cx="11064240" cy="777240"/>
          </a:xfrm>
          <a:prstGeom prst="roundRect">
            <a:avLst>
              <a:gd name="adj" fmla="val 9412"/>
            </a:avLst>
          </a:prstGeom>
          <a:solidFill>
            <a:srgbClr val="FFFFFF"/>
          </a:solidFill>
        </p:spPr>
      </p:sp>
      <p:sp>
        <p:nvSpPr>
          <p:cNvPr id="1048874" name="Shape 15"/>
          <p:cNvSpPr/>
          <p:nvPr/>
        </p:nvSpPr>
        <p:spPr>
          <a:xfrm>
            <a:off x="777240" y="4416552"/>
            <a:ext cx="457200" cy="457200"/>
          </a:xfrm>
          <a:prstGeom prst="ellipse"/>
          <a:solidFill>
            <a:srgbClr val="00B8A9"/>
          </a:solidFill>
        </p:spPr>
      </p:sp>
      <p:sp>
        <p:nvSpPr>
          <p:cNvPr id="1048875" name="Text 16"/>
          <p:cNvSpPr/>
          <p:nvPr/>
        </p:nvSpPr>
        <p:spPr>
          <a:xfrm>
            <a:off x="777240" y="44165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4</a:t>
            </a:r>
            <a:endParaRPr dirty="0" sz="1500" lang="en-US"/>
          </a:p>
        </p:txBody>
      </p:sp>
      <p:sp>
        <p:nvSpPr>
          <p:cNvPr id="1048876" name="Text 17"/>
          <p:cNvSpPr/>
          <p:nvPr/>
        </p:nvSpPr>
        <p:spPr>
          <a:xfrm>
            <a:off x="1417320" y="4251960"/>
            <a:ext cx="9966960" cy="777240"/>
          </a:xfrm>
          <a:prstGeom prst="rect"/>
          <a:noFill/>
        </p:spPr>
        <p:txBody>
          <a:bodyPr anchor="ctr" bIns="0" lIns="0" rIns="0" rtlCol="0" tIns="0" wrap="square"/>
          <a:p>
            <a:pPr indent="0" marL="0">
              <a:buNone/>
            </a:pPr>
            <a:r>
              <a:rPr dirty="0" sz="1600" lang="en-US">
                <a:solidFill>
                  <a:srgbClr val="1A1A2E"/>
                </a:solidFill>
                <a:latin typeface="Calibri" pitchFamily="34" charset="0"/>
                <a:ea typeface="Calibri" pitchFamily="34" charset="-122"/>
                <a:cs typeface="Calibri" pitchFamily="34" charset="-120"/>
              </a:rPr>
              <a:t>UDDI provided a registry model for publish-find-bind, though its public vision did not achieve lasting adoption</a:t>
            </a:r>
            <a:endParaRPr dirty="0" sz="1600" lang="en-US"/>
          </a:p>
        </p:txBody>
      </p:sp>
      <p:sp>
        <p:nvSpPr>
          <p:cNvPr id="1048877" name="Shape 18"/>
          <p:cNvSpPr/>
          <p:nvPr/>
        </p:nvSpPr>
        <p:spPr>
          <a:xfrm>
            <a:off x="548640" y="5166360"/>
            <a:ext cx="11064240" cy="777240"/>
          </a:xfrm>
          <a:prstGeom prst="roundRect">
            <a:avLst>
              <a:gd name="adj" fmla="val 9412"/>
            </a:avLst>
          </a:prstGeom>
          <a:solidFill>
            <a:srgbClr val="FFFFFF"/>
          </a:solidFill>
        </p:spPr>
      </p:sp>
      <p:sp>
        <p:nvSpPr>
          <p:cNvPr id="1048878" name="Shape 19"/>
          <p:cNvSpPr/>
          <p:nvPr/>
        </p:nvSpPr>
        <p:spPr>
          <a:xfrm>
            <a:off x="777240" y="5330952"/>
            <a:ext cx="457200" cy="457200"/>
          </a:xfrm>
          <a:prstGeom prst="ellipse"/>
          <a:solidFill>
            <a:srgbClr val="00B8A9"/>
          </a:solidFill>
        </p:spPr>
      </p:sp>
      <p:sp>
        <p:nvSpPr>
          <p:cNvPr id="1048879" name="Text 20"/>
          <p:cNvSpPr/>
          <p:nvPr/>
        </p:nvSpPr>
        <p:spPr>
          <a:xfrm>
            <a:off x="777240" y="53309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5</a:t>
            </a:r>
            <a:endParaRPr dirty="0" sz="1500" lang="en-US"/>
          </a:p>
        </p:txBody>
      </p:sp>
      <p:sp>
        <p:nvSpPr>
          <p:cNvPr id="1048880" name="Text 21"/>
          <p:cNvSpPr/>
          <p:nvPr/>
        </p:nvSpPr>
        <p:spPr>
          <a:xfrm>
            <a:off x="1417320" y="5166360"/>
            <a:ext cx="9966960" cy="777240"/>
          </a:xfrm>
          <a:prstGeom prst="rect"/>
          <a:noFill/>
        </p:spPr>
        <p:txBody>
          <a:bodyPr anchor="ctr" bIns="0" lIns="0" rIns="0" rtlCol="0" tIns="0" wrap="square"/>
          <a:p>
            <a:pPr indent="0" marL="0">
              <a:buNone/>
            </a:pPr>
            <a:r>
              <a:rPr dirty="0" sz="1600" lang="en-US">
                <a:solidFill>
                  <a:srgbClr val="1A1A2E"/>
                </a:solidFill>
                <a:latin typeface="Calibri" pitchFamily="34" charset="0"/>
                <a:ea typeface="Calibri" pitchFamily="34" charset="-122"/>
                <a:cs typeface="Calibri" pitchFamily="34" charset="-120"/>
              </a:rPr>
              <a:t>Contract-first design and careful versioning are essential SOA governance practices</a:t>
            </a:r>
            <a:endParaRPr dirty="0" sz="1600" lang="en-US"/>
          </a:p>
        </p:txBody>
      </p:sp>
      <p:sp>
        <p:nvSpPr>
          <p:cNvPr id="1048881" name="Text 22"/>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882" name="Text 23"/>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28</a:t>
            </a:r>
            <a:endParaRPr dirty="0" sz="900"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2942"/>
        </a:solidFill>
        <a:effectLst/>
      </p:bgPr>
    </p:bg>
    <p:spTree>
      <p:nvGrpSpPr>
        <p:cNvPr id="119" name=""/>
        <p:cNvGrpSpPr/>
        <p:nvPr/>
      </p:nvGrpSpPr>
      <p:grpSpPr>
        <a:xfrm>
          <a:off x="0" y="0"/>
          <a:ext cx="0" cy="0"/>
          <a:chOff x="0" y="0"/>
          <a:chExt cx="0" cy="0"/>
        </a:xfrm>
      </p:grpSpPr>
      <p:sp>
        <p:nvSpPr>
          <p:cNvPr id="1048886" name="Text 0"/>
          <p:cNvSpPr/>
          <p:nvPr/>
        </p:nvSpPr>
        <p:spPr>
          <a:xfrm>
            <a:off x="822960" y="822960"/>
            <a:ext cx="7315200" cy="365760"/>
          </a:xfrm>
          <a:prstGeom prst="rect"/>
          <a:noFill/>
        </p:spPr>
        <p:txBody>
          <a:bodyPr anchor="ctr" bIns="0" lIns="0" rIns="0" rtlCol="0" tIns="0" wrap="square"/>
          <a:p>
            <a:pPr indent="0" marL="0">
              <a:buNone/>
            </a:pPr>
            <a:r>
              <a:rPr b="1" dirty="0" sz="1400" lang="en-US">
                <a:solidFill>
                  <a:srgbClr val="FF6B35"/>
                </a:solidFill>
                <a:latin typeface="Calibri" pitchFamily="34" charset="0"/>
                <a:ea typeface="Calibri" pitchFamily="34" charset="-122"/>
                <a:cs typeface="Calibri" pitchFamily="34" charset="-120"/>
              </a:rPr>
              <a:t>DISCUSSION / REVIEW QUESTION</a:t>
            </a:r>
            <a:endParaRPr dirty="0" sz="1400" lang="en-US"/>
          </a:p>
        </p:txBody>
      </p:sp>
      <p:sp>
        <p:nvSpPr>
          <p:cNvPr id="1048887" name="Text 1"/>
          <p:cNvSpPr/>
          <p:nvPr/>
        </p:nvSpPr>
        <p:spPr>
          <a:xfrm>
            <a:off x="822960" y="1371600"/>
            <a:ext cx="10241280" cy="2011680"/>
          </a:xfrm>
          <a:prstGeom prst="rect"/>
          <a:noFill/>
        </p:spPr>
        <p:txBody>
          <a:bodyPr anchor="t" bIns="0" lIns="0" rIns="0" rtlCol="0" tIns="0" wrap="square"/>
          <a:p>
            <a:pPr indent="0" marL="0">
              <a:lnSpc>
                <a:spcPct val="125000"/>
              </a:lnSpc>
              <a:buNone/>
            </a:pPr>
            <a:r>
              <a:rPr b="1" dirty="0" sz="2400" lang="en-US">
                <a:solidFill>
                  <a:srgbClr val="FFFFFF"/>
                </a:solidFill>
                <a:latin typeface="Calibri" pitchFamily="34" charset="0"/>
                <a:ea typeface="Calibri" pitchFamily="34" charset="-122"/>
                <a:cs typeface="Calibri" pitchFamily="34" charset="-120"/>
              </a:rPr>
              <a:t>A new developer suggests skipping the WSDL entirely and letting consumers 'just read the code' to understand a service's operations. What problems would this cause in a real enterprise SOA environment?</a:t>
            </a:r>
            <a:endParaRPr dirty="0" sz="2400" lang="en-US"/>
          </a:p>
        </p:txBody>
      </p:sp>
      <p:sp>
        <p:nvSpPr>
          <p:cNvPr id="1048888" name="Text 2"/>
          <p:cNvSpPr/>
          <p:nvPr/>
        </p:nvSpPr>
        <p:spPr>
          <a:xfrm>
            <a:off x="822960" y="3749040"/>
            <a:ext cx="5486400" cy="365760"/>
          </a:xfrm>
          <a:prstGeom prst="rect"/>
          <a:noFill/>
        </p:spPr>
        <p:txBody>
          <a:bodyPr anchor="ctr" bIns="0" lIns="0" rIns="0" rtlCol="0" tIns="0" wrap="square"/>
          <a:p>
            <a:pPr indent="0" marL="0">
              <a:buNone/>
            </a:pPr>
            <a:r>
              <a:rPr b="1" dirty="0" sz="1200" lang="en-US">
                <a:solidFill>
                  <a:srgbClr val="00B8A9"/>
                </a:solidFill>
                <a:latin typeface="Calibri" pitchFamily="34" charset="0"/>
                <a:ea typeface="Calibri" pitchFamily="34" charset="-122"/>
                <a:cs typeface="Calibri" pitchFamily="34" charset="-120"/>
              </a:rPr>
              <a:t>Think about:</a:t>
            </a:r>
            <a:endParaRPr dirty="0" sz="1200" lang="en-US"/>
          </a:p>
        </p:txBody>
      </p:sp>
      <p:sp>
        <p:nvSpPr>
          <p:cNvPr id="1048889" name="Text 3"/>
          <p:cNvSpPr/>
          <p:nvPr/>
        </p:nvSpPr>
        <p:spPr>
          <a:xfrm>
            <a:off x="822960" y="4160520"/>
            <a:ext cx="10058400" cy="2011680"/>
          </a:xfrm>
          <a:prstGeom prst="rect"/>
          <a:noFill/>
        </p:spPr>
        <p:txBody>
          <a:bodyPr anchor="t" bIns="0" lIns="0" rIns="0" rtlCol="0" tIns="0" wrap="square"/>
          <a:p>
            <a:pPr indent="-342900" marL="342900">
              <a:spcAft>
                <a:spcPts val="600"/>
              </a:spcAft>
              <a:buSzPct val="100000"/>
              <a:buChar char="•"/>
            </a:pPr>
            <a:r>
              <a:rPr dirty="0" sz="1200" lang="en-US">
                <a:solidFill>
                  <a:srgbClr val="C7D0D9"/>
                </a:solidFill>
                <a:latin typeface="Calibri" pitchFamily="34" charset="0"/>
                <a:ea typeface="Calibri" pitchFamily="34" charset="-122"/>
                <a:cs typeface="Calibri" pitchFamily="34" charset="-120"/>
              </a:rPr>
              <a:t>Consider consumers built in a completely different programming language</a:t>
            </a:r>
            <a:endParaRPr dirty="0" sz="1200" lang="en-US"/>
          </a:p>
          <a:p>
            <a:pPr indent="-342900" marL="342900">
              <a:spcAft>
                <a:spcPts val="600"/>
              </a:spcAft>
              <a:buSzPct val="100000"/>
              <a:buChar char="•"/>
            </a:pPr>
            <a:r>
              <a:rPr dirty="0" sz="1200" lang="en-US">
                <a:solidFill>
                  <a:srgbClr val="C7D0D9"/>
                </a:solidFill>
                <a:latin typeface="Calibri" pitchFamily="34" charset="0"/>
                <a:ea typeface="Calibri" pitchFamily="34" charset="-122"/>
                <a:cs typeface="Calibri" pitchFamily="34" charset="-120"/>
              </a:rPr>
              <a:t>Think about automatic client-code generation tools</a:t>
            </a:r>
            <a:endParaRPr dirty="0" sz="1200" lang="en-US"/>
          </a:p>
          <a:p>
            <a:pPr indent="-342900" marL="342900">
              <a:spcAft>
                <a:spcPts val="600"/>
              </a:spcAft>
              <a:buSzPct val="100000"/>
              <a:buChar char="•"/>
            </a:pPr>
            <a:r>
              <a:rPr dirty="0" sz="1200" lang="en-US">
                <a:solidFill>
                  <a:srgbClr val="C7D0D9"/>
                </a:solidFill>
                <a:latin typeface="Calibri" pitchFamily="34" charset="0"/>
                <a:ea typeface="Calibri" pitchFamily="34" charset="-122"/>
                <a:cs typeface="Calibri" pitchFamily="34" charset="-120"/>
              </a:rPr>
              <a:t>Consider what happens when the internal implementation changes</a:t>
            </a:r>
            <a:endParaRPr dirty="0" sz="1200" lang="en-US"/>
          </a:p>
        </p:txBody>
      </p:sp>
      <p:sp>
        <p:nvSpPr>
          <p:cNvPr id="1048890" name="Text 4"/>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891" name="Text 5"/>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29</a:t>
            </a:r>
            <a:endParaRPr dirty="0" sz="900"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22" name=""/>
        <p:cNvGrpSpPr/>
        <p:nvPr/>
      </p:nvGrpSpPr>
      <p:grpSpPr>
        <a:xfrm>
          <a:off x="0" y="0"/>
          <a:ext cx="0" cy="0"/>
          <a:chOff x="0" y="0"/>
          <a:chExt cx="0" cy="0"/>
        </a:xfrm>
      </p:grpSpPr>
      <p:sp>
        <p:nvSpPr>
          <p:cNvPr id="1048895" name="Text 0"/>
          <p:cNvSpPr/>
          <p:nvPr/>
        </p:nvSpPr>
        <p:spPr>
          <a:xfrm>
            <a:off x="548640" y="457200"/>
            <a:ext cx="91440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References &amp; Further Reading</a:t>
            </a:r>
            <a:endParaRPr dirty="0" sz="2600" lang="en-US"/>
          </a:p>
        </p:txBody>
      </p:sp>
      <p:sp>
        <p:nvSpPr>
          <p:cNvPr id="1048896" name="Shape 1"/>
          <p:cNvSpPr/>
          <p:nvPr/>
        </p:nvSpPr>
        <p:spPr>
          <a:xfrm>
            <a:off x="566928" y="1097280"/>
            <a:ext cx="411480" cy="45720"/>
          </a:xfrm>
          <a:prstGeom prst="rect"/>
          <a:solidFill>
            <a:srgbClr val="00B8A9"/>
          </a:solidFill>
        </p:spPr>
      </p:sp>
      <p:sp>
        <p:nvSpPr>
          <p:cNvPr id="1048897" name="Text 2"/>
          <p:cNvSpPr/>
          <p:nvPr/>
        </p:nvSpPr>
        <p:spPr>
          <a:xfrm>
            <a:off x="594360" y="1463040"/>
            <a:ext cx="10789920" cy="3291840"/>
          </a:xfrm>
          <a:prstGeom prst="rect"/>
          <a:noFill/>
        </p:spPr>
        <p:txBody>
          <a:bodyPr anchor="t" bIns="0" lIns="0" rIns="0" rtlCol="0" tIns="0" wrap="square"/>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W3C — Web Services Description Language (WSDL) 1.1 Specification</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W3C — XML Schema Part 0: Primer</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OASIS — UDDI Version 3.0.2 Specification</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Erl, T. — Web Service Contract Design and Versioning for SOA</a:t>
            </a:r>
            <a:endParaRPr dirty="0" sz="2400" lang="en-US"/>
          </a:p>
        </p:txBody>
      </p:sp>
      <p:sp>
        <p:nvSpPr>
          <p:cNvPr id="1048898" name="Shape 3"/>
          <p:cNvSpPr/>
          <p:nvPr/>
        </p:nvSpPr>
        <p:spPr>
          <a:xfrm>
            <a:off x="548640" y="5029200"/>
            <a:ext cx="11064240" cy="1051560"/>
          </a:xfrm>
          <a:prstGeom prst="roundRect">
            <a:avLst>
              <a:gd name="adj" fmla="val 7826"/>
            </a:avLst>
          </a:prstGeom>
          <a:solidFill>
            <a:srgbClr val="0F2942"/>
          </a:solidFill>
        </p:spPr>
      </p:sp>
      <p:sp>
        <p:nvSpPr>
          <p:cNvPr id="1048899" name="Text 4"/>
          <p:cNvSpPr/>
          <p:nvPr/>
        </p:nvSpPr>
        <p:spPr>
          <a:xfrm>
            <a:off x="822960" y="5138928"/>
            <a:ext cx="2743200" cy="320040"/>
          </a:xfrm>
          <a:prstGeom prst="rect"/>
          <a:noFill/>
        </p:spPr>
        <p:txBody>
          <a:bodyPr anchor="ctr" bIns="0" lIns="0" rIns="0" rtlCol="0" tIns="0" wrap="square"/>
          <a:p>
            <a:pPr indent="0" marL="0">
              <a:buNone/>
            </a:pPr>
            <a:r>
              <a:rPr b="1" dirty="0" sz="1100" lang="en-US">
                <a:solidFill>
                  <a:srgbClr val="00B8A9"/>
                </a:solidFill>
                <a:latin typeface="Calibri" pitchFamily="34" charset="0"/>
                <a:ea typeface="Calibri" pitchFamily="34" charset="-122"/>
                <a:cs typeface="Calibri" pitchFamily="34" charset="-120"/>
              </a:rPr>
              <a:t>NEXT LECTURE</a:t>
            </a:r>
            <a:endParaRPr dirty="0" sz="1100" lang="en-US"/>
          </a:p>
        </p:txBody>
      </p:sp>
      <p:sp>
        <p:nvSpPr>
          <p:cNvPr id="1048900" name="Text 5"/>
          <p:cNvSpPr/>
          <p:nvPr/>
        </p:nvSpPr>
        <p:spPr>
          <a:xfrm>
            <a:off x="822960" y="5422392"/>
            <a:ext cx="10058400" cy="548640"/>
          </a:xfrm>
          <a:prstGeom prst="rect"/>
          <a:noFill/>
        </p:spPr>
        <p:txBody>
          <a:bodyPr anchor="ctr" bIns="0" lIns="0" rIns="0" rtlCol="0" tIns="0" wrap="square"/>
          <a:p>
            <a:pPr indent="0" marL="0">
              <a:buNone/>
            </a:pPr>
            <a:r>
              <a:rPr b="1" dirty="0" sz="1550" lang="en-US">
                <a:solidFill>
                  <a:srgbClr val="FFFFFF"/>
                </a:solidFill>
                <a:latin typeface="Calibri" pitchFamily="34" charset="0"/>
                <a:ea typeface="Calibri" pitchFamily="34" charset="-122"/>
                <a:cs typeface="Calibri" pitchFamily="34" charset="-120"/>
              </a:rPr>
              <a:t>Lecture 4 — SOAP-Based Services: Message Structure, Protocols, and Standards</a:t>
            </a:r>
            <a:endParaRPr dirty="0" sz="1550" lang="en-US"/>
          </a:p>
        </p:txBody>
      </p:sp>
      <p:sp>
        <p:nvSpPr>
          <p:cNvPr id="1048901" name="Text 6"/>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3: Web Services Fundamentals</a:t>
            </a:r>
            <a:endParaRPr dirty="0" sz="900" lang="en-US"/>
          </a:p>
        </p:txBody>
      </p:sp>
      <p:sp>
        <p:nvSpPr>
          <p:cNvPr id="1048902" name="Text 7"/>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30</a:t>
            </a:r>
            <a:endParaRPr dirty="0" sz="90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Application>Microsoft Office PowerPoint</Application>
  <ScaleCrop>0</ScaleCrop>
  <Company>PptxGenJS</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PptxGenJS Presentation</dc:title>
  <dc:creator>PptxGenJS</dc:creator>
  <cp:lastModifiedBy>Abdolraheem Khader</cp:lastModifiedBy>
  <dcterms:created xsi:type="dcterms:W3CDTF">2026-07-27T14:30:11Z</dcterms:created>
  <dcterms:modified xsi:type="dcterms:W3CDTF">2026-08-12T08:50:37Z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3a8162055e9d4a62915295ed8dfc8098_23</vt:lpwstr>
  </property>
</Properties>
</file>