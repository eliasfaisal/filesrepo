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041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A1D30"/>
          </a:solidFill>
          <a:ln/>
        </p:spPr>
      </p:sp>
      <p:sp>
        <p:nvSpPr>
          <p:cNvPr id="3" name="Text 1"/>
          <p:cNvSpPr/>
          <p:nvPr/>
        </p:nvSpPr>
        <p:spPr>
          <a:xfrm>
            <a:off x="640080" y="2743200"/>
            <a:ext cx="3017520" cy="457200"/>
          </a:xfrm>
          <a:prstGeom prst="rect">
            <a:avLst/>
          </a:prstGeom>
          <a:noFill/>
          <a:ln/>
        </p:spPr>
        <p:txBody>
          <a:bodyPr wrap="square" lIns="0" tIns="0" rIns="0" bIns="0" rtlCol="0" anchor="ctr"/>
          <a:lstStyle/>
          <a:p>
            <a:pPr marL="0" indent="0">
              <a:buNone/>
            </a:pPr>
            <a:r>
              <a:rPr lang="en-US" sz="1600" b="1" dirty="0">
                <a:solidFill>
                  <a:srgbClr val="00B8A9"/>
                </a:solidFill>
                <a:latin typeface="Calibri" pitchFamily="34" charset="0"/>
                <a:ea typeface="Calibri" pitchFamily="34" charset="-122"/>
                <a:cs typeface="Calibri" pitchFamily="34" charset="-120"/>
              </a:rPr>
              <a:t>LECTURE 06</a:t>
            </a:r>
            <a:endParaRPr lang="en-US" sz="1600" dirty="0"/>
          </a:p>
        </p:txBody>
      </p:sp>
      <p:sp>
        <p:nvSpPr>
          <p:cNvPr id="4" name="Text 2"/>
          <p:cNvSpPr/>
          <p:nvPr/>
        </p:nvSpPr>
        <p:spPr>
          <a:xfrm>
            <a:off x="457200" y="3108960"/>
            <a:ext cx="3291840" cy="2011680"/>
          </a:xfrm>
          <a:prstGeom prst="rect">
            <a:avLst/>
          </a:prstGeom>
          <a:noFill/>
          <a:ln/>
        </p:spPr>
        <p:txBody>
          <a:bodyPr wrap="square" lIns="0" tIns="0" rIns="0" bIns="0" rtlCol="0" anchor="ctr"/>
          <a:lstStyle/>
          <a:p>
            <a:pPr marL="0" indent="0">
              <a:buNone/>
            </a:pPr>
            <a:r>
              <a:rPr lang="en-US" sz="10000" b="1" dirty="0">
                <a:solidFill>
                  <a:srgbClr val="1C3A55"/>
                </a:solidFill>
                <a:latin typeface="Calibri" pitchFamily="34" charset="0"/>
                <a:ea typeface="Calibri" pitchFamily="34" charset="-122"/>
                <a:cs typeface="Calibri" pitchFamily="34" charset="-120"/>
              </a:rPr>
              <a:t>06</a:t>
            </a:r>
            <a:endParaRPr lang="en-US" sz="10000" dirty="0"/>
          </a:p>
        </p:txBody>
      </p:sp>
      <p:sp>
        <p:nvSpPr>
          <p:cNvPr id="5" name="Text 3"/>
          <p:cNvSpPr/>
          <p:nvPr/>
        </p:nvSpPr>
        <p:spPr>
          <a:xfrm>
            <a:off x="4663440" y="2423160"/>
            <a:ext cx="6949440" cy="146304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SOA vs. Microservices</a:t>
            </a:r>
            <a:endParaRPr lang="en-US" sz="3400" dirty="0"/>
          </a:p>
        </p:txBody>
      </p:sp>
      <p:sp>
        <p:nvSpPr>
          <p:cNvPr id="6" name="Text 4"/>
          <p:cNvSpPr/>
          <p:nvPr/>
        </p:nvSpPr>
        <p:spPr>
          <a:xfrm>
            <a:off x="4709160" y="3977639"/>
            <a:ext cx="6766560" cy="1463039"/>
          </a:xfrm>
          <a:prstGeom prst="rect">
            <a:avLst/>
          </a:prstGeom>
          <a:noFill/>
          <a:ln/>
        </p:spPr>
        <p:txBody>
          <a:bodyPr wrap="square" lIns="0" tIns="0" rIns="0" bIns="0" rtlCol="0" anchor="t"/>
          <a:lstStyle/>
          <a:p>
            <a:pPr marL="0" indent="0">
              <a:lnSpc>
                <a:spcPct val="130000"/>
              </a:lnSpc>
              <a:buNone/>
            </a:pPr>
            <a:r>
              <a:rPr lang="en-US" sz="2400" dirty="0">
                <a:solidFill>
                  <a:srgbClr val="C7D0D9"/>
                </a:solidFill>
                <a:latin typeface="Calibri" pitchFamily="34" charset="0"/>
                <a:ea typeface="Calibri" pitchFamily="34" charset="-122"/>
                <a:cs typeface="Calibri" pitchFamily="34" charset="-120"/>
              </a:rPr>
              <a:t>How microservices architecture relates to, borrows from, and differs from classic enterprise SOA — and how to decide which approach fits a given system.</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640080"/>
          </a:xfrm>
          <a:prstGeom prst="rect">
            <a:avLst/>
          </a:prstGeom>
          <a:noFill/>
          <a:ln/>
        </p:spPr>
        <p:txBody>
          <a:bodyPr wrap="square" lIns="0" tIns="0" rIns="0" bIns="0" rtlCol="0" anchor="ctr"/>
          <a:lstStyle/>
          <a:p>
            <a:pPr marL="0" indent="0">
              <a:buNone/>
            </a:pPr>
            <a:r>
              <a:rPr lang="en-US" sz="3000" b="1" dirty="0">
                <a:solidFill>
                  <a:srgbClr val="0F2942"/>
                </a:solidFill>
                <a:latin typeface="Calibri" pitchFamily="34" charset="0"/>
                <a:ea typeface="Calibri" pitchFamily="34" charset="-122"/>
                <a:cs typeface="Calibri" pitchFamily="34" charset="-120"/>
              </a:rPr>
              <a:t>Agenda</a:t>
            </a:r>
            <a:endParaRPr lang="en-US" sz="3000" dirty="0"/>
          </a:p>
        </p:txBody>
      </p:sp>
      <p:sp>
        <p:nvSpPr>
          <p:cNvPr id="3" name="Shape 1"/>
          <p:cNvSpPr/>
          <p:nvPr/>
        </p:nvSpPr>
        <p:spPr>
          <a:xfrm>
            <a:off x="566928" y="1097280"/>
            <a:ext cx="457200" cy="54864"/>
          </a:xfrm>
          <a:prstGeom prst="rect">
            <a:avLst/>
          </a:prstGeom>
          <a:solidFill>
            <a:srgbClr val="00B8A9"/>
          </a:solidFill>
          <a:ln/>
        </p:spPr>
      </p:sp>
      <p:sp>
        <p:nvSpPr>
          <p:cNvPr id="4" name="Shape 2"/>
          <p:cNvSpPr/>
          <p:nvPr/>
        </p:nvSpPr>
        <p:spPr>
          <a:xfrm>
            <a:off x="640080" y="1508760"/>
            <a:ext cx="457200" cy="457200"/>
          </a:xfrm>
          <a:prstGeom prst="roundRect">
            <a:avLst>
              <a:gd name="adj" fmla="val 16000"/>
            </a:avLst>
          </a:prstGeom>
          <a:solidFill>
            <a:srgbClr val="EAF6F5"/>
          </a:solidFill>
          <a:ln/>
        </p:spPr>
      </p:sp>
      <p:sp>
        <p:nvSpPr>
          <p:cNvPr id="5" name="Text 3"/>
          <p:cNvSpPr/>
          <p:nvPr/>
        </p:nvSpPr>
        <p:spPr>
          <a:xfrm>
            <a:off x="640080" y="150876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234440" y="1481328"/>
            <a:ext cx="9094548"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Why microservices emerged from the same problems SOA addressed</a:t>
            </a:r>
            <a:endParaRPr lang="en-US" sz="2400" dirty="0"/>
          </a:p>
        </p:txBody>
      </p:sp>
      <p:sp>
        <p:nvSpPr>
          <p:cNvPr id="7" name="Shape 5"/>
          <p:cNvSpPr/>
          <p:nvPr/>
        </p:nvSpPr>
        <p:spPr>
          <a:xfrm>
            <a:off x="640080" y="2301240"/>
            <a:ext cx="457200" cy="457200"/>
          </a:xfrm>
          <a:prstGeom prst="roundRect">
            <a:avLst>
              <a:gd name="adj" fmla="val 16000"/>
            </a:avLst>
          </a:prstGeom>
          <a:solidFill>
            <a:srgbClr val="EAF6F5"/>
          </a:solidFill>
          <a:ln/>
        </p:spPr>
      </p:sp>
      <p:sp>
        <p:nvSpPr>
          <p:cNvPr id="8" name="Text 6"/>
          <p:cNvSpPr/>
          <p:nvPr/>
        </p:nvSpPr>
        <p:spPr>
          <a:xfrm>
            <a:off x="640080" y="230124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234440" y="2273808"/>
            <a:ext cx="9094548"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Defining characteristics of microservices architecture</a:t>
            </a:r>
            <a:endParaRPr lang="en-US" sz="2400" dirty="0"/>
          </a:p>
        </p:txBody>
      </p:sp>
      <p:sp>
        <p:nvSpPr>
          <p:cNvPr id="10" name="Shape 8"/>
          <p:cNvSpPr/>
          <p:nvPr/>
        </p:nvSpPr>
        <p:spPr>
          <a:xfrm>
            <a:off x="640080" y="3093720"/>
            <a:ext cx="457200" cy="457200"/>
          </a:xfrm>
          <a:prstGeom prst="roundRect">
            <a:avLst>
              <a:gd name="adj" fmla="val 16000"/>
            </a:avLst>
          </a:prstGeom>
          <a:solidFill>
            <a:srgbClr val="EAF6F5"/>
          </a:solidFill>
          <a:ln/>
        </p:spPr>
      </p:sp>
      <p:sp>
        <p:nvSpPr>
          <p:cNvPr id="11" name="Text 9"/>
          <p:cNvSpPr/>
          <p:nvPr/>
        </p:nvSpPr>
        <p:spPr>
          <a:xfrm>
            <a:off x="640080" y="309372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234440" y="3066288"/>
            <a:ext cx="9094548"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Point-by-point comparison: SOA vs. microservices</a:t>
            </a:r>
            <a:endParaRPr lang="en-US" sz="2400" dirty="0"/>
          </a:p>
        </p:txBody>
      </p:sp>
      <p:sp>
        <p:nvSpPr>
          <p:cNvPr id="13" name="Shape 11"/>
          <p:cNvSpPr/>
          <p:nvPr/>
        </p:nvSpPr>
        <p:spPr>
          <a:xfrm>
            <a:off x="640080" y="3886200"/>
            <a:ext cx="457200" cy="457200"/>
          </a:xfrm>
          <a:prstGeom prst="roundRect">
            <a:avLst>
              <a:gd name="adj" fmla="val 16000"/>
            </a:avLst>
          </a:prstGeom>
          <a:solidFill>
            <a:srgbClr val="EAF6F5"/>
          </a:solidFill>
          <a:ln/>
        </p:spPr>
      </p:sp>
      <p:sp>
        <p:nvSpPr>
          <p:cNvPr id="14" name="Text 12"/>
          <p:cNvSpPr/>
          <p:nvPr/>
        </p:nvSpPr>
        <p:spPr>
          <a:xfrm>
            <a:off x="640080" y="388620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234440" y="3858768"/>
            <a:ext cx="9094548"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Data management: shared databases vs. database-per-service</a:t>
            </a:r>
            <a:endParaRPr lang="en-US" sz="2400" dirty="0"/>
          </a:p>
        </p:txBody>
      </p:sp>
      <p:sp>
        <p:nvSpPr>
          <p:cNvPr id="16" name="Shape 14"/>
          <p:cNvSpPr/>
          <p:nvPr/>
        </p:nvSpPr>
        <p:spPr>
          <a:xfrm>
            <a:off x="640080" y="4678680"/>
            <a:ext cx="457200" cy="457200"/>
          </a:xfrm>
          <a:prstGeom prst="roundRect">
            <a:avLst>
              <a:gd name="adj" fmla="val 16000"/>
            </a:avLst>
          </a:prstGeom>
          <a:solidFill>
            <a:srgbClr val="EAF6F5"/>
          </a:solidFill>
          <a:ln/>
        </p:spPr>
      </p:sp>
      <p:sp>
        <p:nvSpPr>
          <p:cNvPr id="17" name="Text 15"/>
          <p:cNvSpPr/>
          <p:nvPr/>
        </p:nvSpPr>
        <p:spPr>
          <a:xfrm>
            <a:off x="640080" y="467868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234440" y="4651248"/>
            <a:ext cx="9094548"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Communication and deployment differences</a:t>
            </a:r>
            <a:endParaRPr lang="en-US" sz="2400" dirty="0"/>
          </a:p>
        </p:txBody>
      </p:sp>
      <p:sp>
        <p:nvSpPr>
          <p:cNvPr id="19" name="Shape 17"/>
          <p:cNvSpPr/>
          <p:nvPr/>
        </p:nvSpPr>
        <p:spPr>
          <a:xfrm>
            <a:off x="640080" y="5471160"/>
            <a:ext cx="457200" cy="457200"/>
          </a:xfrm>
          <a:prstGeom prst="roundRect">
            <a:avLst>
              <a:gd name="adj" fmla="val 16000"/>
            </a:avLst>
          </a:prstGeom>
          <a:solidFill>
            <a:srgbClr val="EAF6F5"/>
          </a:solidFill>
          <a:ln/>
        </p:spPr>
      </p:sp>
      <p:sp>
        <p:nvSpPr>
          <p:cNvPr id="20" name="Text 18"/>
          <p:cNvSpPr/>
          <p:nvPr/>
        </p:nvSpPr>
        <p:spPr>
          <a:xfrm>
            <a:off x="640080" y="547116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6</a:t>
            </a:r>
            <a:endParaRPr lang="en-US" sz="1600" dirty="0"/>
          </a:p>
        </p:txBody>
      </p:sp>
      <p:sp>
        <p:nvSpPr>
          <p:cNvPr id="21" name="Text 19"/>
          <p:cNvSpPr/>
          <p:nvPr/>
        </p:nvSpPr>
        <p:spPr>
          <a:xfrm>
            <a:off x="1234440" y="5443728"/>
            <a:ext cx="9094548"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Choosing the right approach for a real system</a:t>
            </a:r>
            <a:endParaRPr lang="en-US" sz="2400" dirty="0"/>
          </a:p>
        </p:txBody>
      </p:sp>
      <p:sp>
        <p:nvSpPr>
          <p:cNvPr id="22" name="Text 20"/>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23" name="Text 21"/>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Recap: What Problem Was SOA Solving?</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SOA emerged to replace tightly coupled, point-to-point enterprise integration with reusable, standards-based services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In practice, many 'SOA' implementations became: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Centered around a heavyweight Enterprise Service Bus (ESB)</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Governed by slow, centralized change-approval processes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Built from large, coarse-grained services shared across many teams</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These implementation patterns — not the core SOA principles themselves — became a common source of frustration</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0B8A9"/>
          </a:solidFill>
          <a:ln/>
        </p:spPr>
      </p:sp>
      <p:sp>
        <p:nvSpPr>
          <p:cNvPr id="3" name="Text 1"/>
          <p:cNvSpPr/>
          <p:nvPr/>
        </p:nvSpPr>
        <p:spPr>
          <a:xfrm>
            <a:off x="822960" y="822960"/>
            <a:ext cx="5486400" cy="365760"/>
          </a:xfrm>
          <a:prstGeom prst="rect">
            <a:avLst/>
          </a:prstGeom>
          <a:noFill/>
          <a:ln/>
        </p:spPr>
        <p:txBody>
          <a:bodyPr wrap="square" lIns="0" tIns="0" rIns="0" bIns="0" rtlCol="0" anchor="ctr"/>
          <a:lstStyle/>
          <a:p>
            <a:pPr marL="0" indent="0">
              <a:buNone/>
            </a:pPr>
            <a:r>
              <a:rPr lang="en-US" sz="1400" b="1" dirty="0">
                <a:solidFill>
                  <a:srgbClr val="00B8A9"/>
                </a:solidFill>
                <a:latin typeface="Calibri" pitchFamily="34" charset="0"/>
                <a:ea typeface="Calibri" pitchFamily="34" charset="-122"/>
                <a:cs typeface="Calibri" pitchFamily="34" charset="-120"/>
              </a:rPr>
              <a:t>DEFINITION</a:t>
            </a:r>
            <a:endParaRPr lang="en-US" sz="1400" dirty="0"/>
          </a:p>
        </p:txBody>
      </p:sp>
      <p:sp>
        <p:nvSpPr>
          <p:cNvPr id="4" name="Text 2"/>
          <p:cNvSpPr/>
          <p:nvPr/>
        </p:nvSpPr>
        <p:spPr>
          <a:xfrm>
            <a:off x="822960" y="1188720"/>
            <a:ext cx="10515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Microservices Architecture</a:t>
            </a:r>
            <a:endParaRPr lang="en-US" sz="3000" dirty="0"/>
          </a:p>
        </p:txBody>
      </p:sp>
      <p:sp>
        <p:nvSpPr>
          <p:cNvPr id="5" name="Text 3"/>
          <p:cNvSpPr/>
          <p:nvPr/>
        </p:nvSpPr>
        <p:spPr>
          <a:xfrm>
            <a:off x="822960" y="2148840"/>
            <a:ext cx="10241280" cy="1828800"/>
          </a:xfrm>
          <a:prstGeom prst="rect">
            <a:avLst/>
          </a:prstGeom>
          <a:noFill/>
          <a:ln/>
        </p:spPr>
        <p:txBody>
          <a:bodyPr wrap="square" lIns="0" tIns="0" rIns="0" bIns="0" rtlCol="0" anchor="t"/>
          <a:lstStyle/>
          <a:p>
            <a:pPr marL="0" indent="0">
              <a:lnSpc>
                <a:spcPct val="130000"/>
              </a:lnSpc>
              <a:buNone/>
            </a:pPr>
            <a:r>
              <a:rPr lang="en-US" sz="2400" i="1" dirty="0">
                <a:solidFill>
                  <a:srgbClr val="DCE3EA"/>
                </a:solidFill>
                <a:latin typeface="Calibri" pitchFamily="34" charset="0"/>
                <a:ea typeface="Calibri" pitchFamily="34" charset="-122"/>
                <a:cs typeface="Calibri" pitchFamily="34" charset="-120"/>
              </a:rPr>
              <a:t>“An architectural style that structures an application as a collection of small, independently deployable services, each built around a specific business capability, communicating through lightweight mechanisms, often owned end-to-end by a single small team.”</a:t>
            </a:r>
            <a:endParaRPr lang="en-US" sz="2400" dirty="0"/>
          </a:p>
        </p:txBody>
      </p:sp>
      <p:sp>
        <p:nvSpPr>
          <p:cNvPr id="6" name="Text 4"/>
          <p:cNvSpPr/>
          <p:nvPr/>
        </p:nvSpPr>
        <p:spPr>
          <a:xfrm>
            <a:off x="822960" y="4114800"/>
            <a:ext cx="10241280" cy="210312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C7D0D9"/>
                </a:solidFill>
                <a:latin typeface="Calibri" pitchFamily="34" charset="0"/>
                <a:ea typeface="Calibri" pitchFamily="34" charset="-122"/>
                <a:cs typeface="Calibri" pitchFamily="34" charset="-120"/>
              </a:rPr>
              <a:t>The term was popularized around 2011–2014 by practitioners including Martin Fowler and James Lewis</a:t>
            </a:r>
            <a:endParaRPr lang="en-US" sz="2000" dirty="0"/>
          </a:p>
          <a:p>
            <a:pPr marL="342900" indent="-342900">
              <a:spcAft>
                <a:spcPts val="800"/>
              </a:spcAft>
              <a:buSzPct val="100000"/>
              <a:buChar char="•"/>
            </a:pPr>
            <a:r>
              <a:rPr lang="en-US" sz="2000" dirty="0">
                <a:solidFill>
                  <a:srgbClr val="C7D0D9"/>
                </a:solidFill>
                <a:latin typeface="Calibri" pitchFamily="34" charset="0"/>
                <a:ea typeface="Calibri" pitchFamily="34" charset="-122"/>
                <a:cs typeface="Calibri" pitchFamily="34" charset="-120"/>
              </a:rPr>
              <a:t>Microservices can be viewed as a specific, opinionated implementation style within the broader service-oriented family</a:t>
            </a:r>
            <a:endParaRPr lang="en-US" sz="2000" dirty="0"/>
          </a:p>
        </p:txBody>
      </p:sp>
      <p:sp>
        <p:nvSpPr>
          <p:cNvPr id="7" name="Text 5"/>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8" name="Text 6"/>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Defining Characteristics of Microservices</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185917"/>
            <a:ext cx="10881360" cy="507492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Small, focused scope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Each service owns one specific business capability (e.g., 'InventoryService')</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Independent deployability</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 service can be deployed without redeploying any other service</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Decentralized data management</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Each service typically owns its own database</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Decentralized governance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Teams choose their own technology stack per service ('polyglot')</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Automated deployment pipelines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Heavy reliance on CI/CD, containers, and orchestration (e.g., Docker, Kubernetes)</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What Microservices Inherit from SOA</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Loose coupling between services</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Services as autonomous units with clear boundaries</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Standardized contracts/interfaces (though often REST/JSON instead of SOAP/WSDL)</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Composability — larger business processes assembled from smaller services</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Microservices did not reject the goals of SOA — they reacted against how those goals were often implemented in practice</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SOA vs. Microservices — Scope and Granularity</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Shape 2"/>
          <p:cNvSpPr/>
          <p:nvPr/>
        </p:nvSpPr>
        <p:spPr>
          <a:xfrm>
            <a:off x="548640" y="1325880"/>
            <a:ext cx="5349240" cy="594360"/>
          </a:xfrm>
          <a:prstGeom prst="roundRect">
            <a:avLst>
              <a:gd name="adj" fmla="val 12308"/>
            </a:avLst>
          </a:prstGeom>
          <a:solidFill>
            <a:srgbClr val="44546A"/>
          </a:solidFill>
          <a:ln/>
        </p:spPr>
      </p:sp>
      <p:sp>
        <p:nvSpPr>
          <p:cNvPr id="5" name="Text 3"/>
          <p:cNvSpPr/>
          <p:nvPr/>
        </p:nvSpPr>
        <p:spPr>
          <a:xfrm>
            <a:off x="548640" y="1325880"/>
            <a:ext cx="534924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Traditional SOA</a:t>
            </a:r>
            <a:endParaRPr lang="en-US" sz="1700" dirty="0"/>
          </a:p>
        </p:txBody>
      </p:sp>
      <p:sp>
        <p:nvSpPr>
          <p:cNvPr id="6" name="Shape 4"/>
          <p:cNvSpPr/>
          <p:nvPr/>
        </p:nvSpPr>
        <p:spPr>
          <a:xfrm>
            <a:off x="6263640" y="1325880"/>
            <a:ext cx="5349240" cy="594360"/>
          </a:xfrm>
          <a:prstGeom prst="roundRect">
            <a:avLst>
              <a:gd name="adj" fmla="val 12308"/>
            </a:avLst>
          </a:prstGeom>
          <a:solidFill>
            <a:srgbClr val="00A79A"/>
          </a:solidFill>
          <a:ln/>
        </p:spPr>
      </p:sp>
      <p:sp>
        <p:nvSpPr>
          <p:cNvPr id="7" name="Text 5"/>
          <p:cNvSpPr/>
          <p:nvPr/>
        </p:nvSpPr>
        <p:spPr>
          <a:xfrm>
            <a:off x="6263640" y="1325880"/>
            <a:ext cx="534924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Microservices</a:t>
            </a:r>
            <a:endParaRPr lang="en-US" sz="1700" dirty="0"/>
          </a:p>
        </p:txBody>
      </p:sp>
      <p:sp>
        <p:nvSpPr>
          <p:cNvPr id="8" name="Shape 6"/>
          <p:cNvSpPr/>
          <p:nvPr/>
        </p:nvSpPr>
        <p:spPr>
          <a:xfrm>
            <a:off x="548640" y="2057400"/>
            <a:ext cx="5349240" cy="4297680"/>
          </a:xfrm>
          <a:prstGeom prst="roundRect">
            <a:avLst>
              <a:gd name="adj" fmla="val 1702"/>
            </a:avLst>
          </a:prstGeom>
          <a:solidFill>
            <a:srgbClr val="F4F6F8"/>
          </a:solidFill>
          <a:ln/>
        </p:spPr>
      </p:sp>
      <p:sp>
        <p:nvSpPr>
          <p:cNvPr id="9" name="Shape 7"/>
          <p:cNvSpPr/>
          <p:nvPr/>
        </p:nvSpPr>
        <p:spPr>
          <a:xfrm>
            <a:off x="6263640" y="2057400"/>
            <a:ext cx="5349240" cy="4297680"/>
          </a:xfrm>
          <a:prstGeom prst="roundRect">
            <a:avLst>
              <a:gd name="adj" fmla="val 1702"/>
            </a:avLst>
          </a:prstGeom>
          <a:solidFill>
            <a:srgbClr val="F4F6F8"/>
          </a:solidFill>
          <a:ln/>
        </p:spPr>
      </p:sp>
      <p:sp>
        <p:nvSpPr>
          <p:cNvPr id="10" name="Text 8"/>
          <p:cNvSpPr/>
          <p:nvPr/>
        </p:nvSpPr>
        <p:spPr>
          <a:xfrm>
            <a:off x="822960" y="2286000"/>
            <a:ext cx="4846320" cy="39319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Enterprise-wide scope</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Coarse-grained business services</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Services often shared across many business units</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Central governance body defines standards</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Designed for broad reuse across the organization</a:t>
            </a:r>
            <a:endParaRPr lang="en-US" sz="2400" dirty="0"/>
          </a:p>
        </p:txBody>
      </p:sp>
      <p:sp>
        <p:nvSpPr>
          <p:cNvPr id="11" name="Text 9"/>
          <p:cNvSpPr/>
          <p:nvPr/>
        </p:nvSpPr>
        <p:spPr>
          <a:xfrm>
            <a:off x="6537960" y="2286000"/>
            <a:ext cx="4846320" cy="39319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Application-level scope</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Fine-grained, single-capability services</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Services typically owned by one small team</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Decentralized, team-level governance</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Designed primarily for independent deployability</a:t>
            </a:r>
            <a:endParaRPr lang="en-US" sz="2400" dirty="0"/>
          </a:p>
        </p:txBody>
      </p:sp>
      <p:sp>
        <p:nvSpPr>
          <p:cNvPr id="12" name="Text 10"/>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13" name="Text 11"/>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Communication: ESB vs. Smart Endpoints, Dumb Pipes</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Traditional SOA</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Relies on a central Enterprise Service Bus for routing, transformation, and orchestration logic</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Microservices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Favor 'smart endpoints, dumb pipes' — business logic lives inside services; the network (often plain HTTP/REST or lightweight messaging) stays simple</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This reflects a deliberate reaction against ESBs becoming bottlenecks, single points of failure, and hard-to-change monoliths of logic themselves</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Where Orchestration Logic Lives</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Shape 2"/>
          <p:cNvSpPr/>
          <p:nvPr/>
        </p:nvSpPr>
        <p:spPr>
          <a:xfrm>
            <a:off x="822960" y="1325880"/>
            <a:ext cx="6949440" cy="2377440"/>
          </a:xfrm>
          <a:prstGeom prst="roundRect">
            <a:avLst>
              <a:gd name="adj" fmla="val 2692"/>
            </a:avLst>
          </a:prstGeom>
          <a:solidFill>
            <a:srgbClr val="44546A"/>
          </a:solidFill>
          <a:ln/>
        </p:spPr>
      </p:sp>
      <p:sp>
        <p:nvSpPr>
          <p:cNvPr id="5" name="Text 3"/>
          <p:cNvSpPr/>
          <p:nvPr/>
        </p:nvSpPr>
        <p:spPr>
          <a:xfrm>
            <a:off x="1051560" y="1325880"/>
            <a:ext cx="6492240" cy="23774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Traditional SOA: Centralized in the ESB</a:t>
            </a:r>
            <a:endParaRPr lang="en-US" sz="1600" dirty="0"/>
          </a:p>
        </p:txBody>
      </p:sp>
      <p:sp>
        <p:nvSpPr>
          <p:cNvPr id="6" name="Text 4"/>
          <p:cNvSpPr/>
          <p:nvPr/>
        </p:nvSpPr>
        <p:spPr>
          <a:xfrm>
            <a:off x="1051560" y="1325880"/>
            <a:ext cx="6492240" cy="2377440"/>
          </a:xfrm>
          <a:prstGeom prst="rect">
            <a:avLst/>
          </a:prstGeom>
          <a:noFill/>
          <a:ln/>
        </p:spPr>
        <p:txBody>
          <a:bodyPr wrap="square" lIns="0" tIns="0" rIns="0" bIns="0" rtlCol="0" anchor="ctr"/>
          <a:lstStyle/>
          <a:p>
            <a:pPr marL="0" indent="0" algn="r">
              <a:buNone/>
            </a:pPr>
            <a:r>
              <a:rPr lang="en-US" sz="1600" dirty="0">
                <a:solidFill>
                  <a:srgbClr val="E4E9EE"/>
                </a:solidFill>
                <a:latin typeface="Calibri" pitchFamily="34" charset="0"/>
                <a:ea typeface="Calibri" pitchFamily="34" charset="-122"/>
                <a:cs typeface="Calibri" pitchFamily="34" charset="-120"/>
              </a:rPr>
              <a:t>Routing, transformation, </a:t>
            </a:r>
          </a:p>
          <a:p>
            <a:pPr marL="0" indent="0" algn="r">
              <a:buNone/>
            </a:pPr>
            <a:r>
              <a:rPr lang="en-US" sz="1600" dirty="0">
                <a:solidFill>
                  <a:srgbClr val="E4E9EE"/>
                </a:solidFill>
                <a:latin typeface="Calibri" pitchFamily="34" charset="0"/>
                <a:ea typeface="Calibri" pitchFamily="34" charset="-122"/>
                <a:cs typeface="Calibri" pitchFamily="34" charset="-120"/>
              </a:rPr>
              <a:t>business rules in one shared layer</a:t>
            </a:r>
            <a:endParaRPr lang="en-US" sz="1600" dirty="0"/>
          </a:p>
        </p:txBody>
      </p:sp>
      <p:sp>
        <p:nvSpPr>
          <p:cNvPr id="7" name="Shape 5"/>
          <p:cNvSpPr/>
          <p:nvPr/>
        </p:nvSpPr>
        <p:spPr>
          <a:xfrm>
            <a:off x="822960" y="3840480"/>
            <a:ext cx="6949440" cy="2377440"/>
          </a:xfrm>
          <a:prstGeom prst="roundRect">
            <a:avLst>
              <a:gd name="adj" fmla="val 2692"/>
            </a:avLst>
          </a:prstGeom>
          <a:solidFill>
            <a:srgbClr val="00A79A"/>
          </a:solidFill>
          <a:ln/>
        </p:spPr>
      </p:sp>
      <p:sp>
        <p:nvSpPr>
          <p:cNvPr id="8" name="Text 6"/>
          <p:cNvSpPr/>
          <p:nvPr/>
        </p:nvSpPr>
        <p:spPr>
          <a:xfrm>
            <a:off x="1051560" y="3840480"/>
            <a:ext cx="6492240" cy="23774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Microservices: Distributed in the Services</a:t>
            </a:r>
            <a:endParaRPr lang="en-US" sz="1600" dirty="0"/>
          </a:p>
        </p:txBody>
      </p:sp>
      <p:sp>
        <p:nvSpPr>
          <p:cNvPr id="9" name="Text 7"/>
          <p:cNvSpPr/>
          <p:nvPr/>
        </p:nvSpPr>
        <p:spPr>
          <a:xfrm>
            <a:off x="1051560" y="3840480"/>
            <a:ext cx="6720840" cy="2377440"/>
          </a:xfrm>
          <a:prstGeom prst="rect">
            <a:avLst/>
          </a:prstGeom>
          <a:noFill/>
          <a:ln/>
        </p:spPr>
        <p:txBody>
          <a:bodyPr wrap="square" lIns="0" tIns="0" rIns="0" bIns="0" rtlCol="0" anchor="ctr"/>
          <a:lstStyle/>
          <a:p>
            <a:pPr marL="0" indent="0" algn="r">
              <a:buNone/>
            </a:pPr>
            <a:r>
              <a:rPr lang="en-US" sz="1400" dirty="0">
                <a:solidFill>
                  <a:srgbClr val="E4E9EE"/>
                </a:solidFill>
                <a:latin typeface="Calibri" pitchFamily="34" charset="0"/>
                <a:ea typeface="Calibri" pitchFamily="34" charset="-122"/>
                <a:cs typeface="Calibri" pitchFamily="34" charset="-120"/>
              </a:rPr>
              <a:t>Each service owns its own logic; </a:t>
            </a:r>
          </a:p>
          <a:p>
            <a:pPr marL="0" indent="0" algn="r">
              <a:buNone/>
            </a:pPr>
            <a:r>
              <a:rPr lang="en-US" sz="1400" dirty="0">
                <a:solidFill>
                  <a:srgbClr val="E4E9EE"/>
                </a:solidFill>
                <a:latin typeface="Calibri" pitchFamily="34" charset="0"/>
                <a:ea typeface="Calibri" pitchFamily="34" charset="-122"/>
                <a:cs typeface="Calibri" pitchFamily="34" charset="-120"/>
              </a:rPr>
              <a:t>Coordination via events or lightweight APIs</a:t>
            </a:r>
            <a:endParaRPr lang="en-US" sz="1400" dirty="0"/>
          </a:p>
        </p:txBody>
      </p:sp>
      <p:sp>
        <p:nvSpPr>
          <p:cNvPr id="10" name="Shape 8"/>
          <p:cNvSpPr/>
          <p:nvPr/>
        </p:nvSpPr>
        <p:spPr>
          <a:xfrm>
            <a:off x="8001000" y="1325880"/>
            <a:ext cx="3566160" cy="4892040"/>
          </a:xfrm>
          <a:prstGeom prst="roundRect">
            <a:avLst>
              <a:gd name="adj" fmla="val 2564"/>
            </a:avLst>
          </a:prstGeom>
          <a:solidFill>
            <a:srgbClr val="EAF6F5"/>
          </a:solidFill>
          <a:ln/>
        </p:spPr>
      </p:sp>
      <p:sp>
        <p:nvSpPr>
          <p:cNvPr id="11" name="Text 9"/>
          <p:cNvSpPr/>
          <p:nvPr/>
        </p:nvSpPr>
        <p:spPr>
          <a:xfrm>
            <a:off x="8183880" y="1481328"/>
            <a:ext cx="3200400" cy="365760"/>
          </a:xfrm>
          <a:prstGeom prst="rect">
            <a:avLst/>
          </a:prstGeom>
          <a:noFill/>
          <a:ln/>
        </p:spPr>
        <p:txBody>
          <a:bodyPr wrap="square" lIns="0" tIns="0" rIns="0" bIns="0" rtlCol="0" anchor="ctr"/>
          <a:lstStyle/>
          <a:p>
            <a:pPr marL="0" indent="0">
              <a:buNone/>
            </a:pPr>
            <a:r>
              <a:rPr lang="en-US" sz="2400" b="1" dirty="0">
                <a:solidFill>
                  <a:srgbClr val="00B8A9"/>
                </a:solidFill>
                <a:latin typeface="Calibri" pitchFamily="34" charset="0"/>
                <a:ea typeface="Calibri" pitchFamily="34" charset="-122"/>
                <a:cs typeface="Calibri" pitchFamily="34" charset="-120"/>
              </a:rPr>
              <a:t>Trade-off</a:t>
            </a:r>
            <a:endParaRPr lang="en-US" sz="2400" dirty="0"/>
          </a:p>
        </p:txBody>
      </p:sp>
      <p:sp>
        <p:nvSpPr>
          <p:cNvPr id="12" name="Text 10"/>
          <p:cNvSpPr/>
          <p:nvPr/>
        </p:nvSpPr>
        <p:spPr>
          <a:xfrm>
            <a:off x="8183880" y="1874520"/>
            <a:ext cx="3200400" cy="4206240"/>
          </a:xfrm>
          <a:prstGeom prst="rect">
            <a:avLst/>
          </a:prstGeom>
          <a:noFill/>
          <a:ln/>
        </p:spPr>
        <p:txBody>
          <a:bodyPr wrap="square" lIns="0" tIns="0" rIns="0" bIns="0" rtlCol="0" anchor="t"/>
          <a:lstStyle/>
          <a:p>
            <a:pPr marL="0" indent="0">
              <a:lnSpc>
                <a:spcPct val="125000"/>
              </a:lnSpc>
              <a:buNone/>
            </a:pPr>
            <a:r>
              <a:rPr lang="en-US" sz="2400" dirty="0">
                <a:solidFill>
                  <a:srgbClr val="33394A"/>
                </a:solidFill>
                <a:latin typeface="Calibri" pitchFamily="34" charset="0"/>
                <a:ea typeface="Calibri" pitchFamily="34" charset="-122"/>
                <a:cs typeface="Calibri" pitchFamily="34" charset="-120"/>
              </a:rPr>
              <a:t>Centralizing logic in an ESB simplifies governance but creates a bottleneck and single point of failure. Distributing logic increases team autonomy but requires more discipline to keep the overall system consistent.</a:t>
            </a:r>
            <a:endParaRPr lang="en-US" sz="2400" dirty="0"/>
          </a:p>
        </p:txBody>
      </p:sp>
      <p:sp>
        <p:nvSpPr>
          <p:cNvPr id="13" name="Text 11"/>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14" name="Text 12"/>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Data Management: Shared Database vs. Database-per-Service</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Traditional SOA often used a shared, centralized database across multiple services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Problem: this silently couples services through the schema, undermining service autonomy</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Microservices strongly favor 'database-per-service'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Each service owns its data exclusively; other services must go through its API, never its database directly</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This is one of the clearest, most consistently emphasized differences in practice between the two styles</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Shared Database vs. Database-per-Service</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Shape 2"/>
          <p:cNvSpPr/>
          <p:nvPr/>
        </p:nvSpPr>
        <p:spPr>
          <a:xfrm>
            <a:off x="548640" y="1325880"/>
            <a:ext cx="5349240" cy="594360"/>
          </a:xfrm>
          <a:prstGeom prst="roundRect">
            <a:avLst>
              <a:gd name="adj" fmla="val 12308"/>
            </a:avLst>
          </a:prstGeom>
          <a:solidFill>
            <a:srgbClr val="D64550"/>
          </a:solidFill>
          <a:ln/>
        </p:spPr>
      </p:sp>
      <p:sp>
        <p:nvSpPr>
          <p:cNvPr id="5" name="Text 3"/>
          <p:cNvSpPr/>
          <p:nvPr/>
        </p:nvSpPr>
        <p:spPr>
          <a:xfrm>
            <a:off x="548640" y="1325880"/>
            <a:ext cx="534924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Shared Database</a:t>
            </a:r>
            <a:endParaRPr lang="en-US" sz="1700" dirty="0"/>
          </a:p>
        </p:txBody>
      </p:sp>
      <p:sp>
        <p:nvSpPr>
          <p:cNvPr id="6" name="Shape 4"/>
          <p:cNvSpPr/>
          <p:nvPr/>
        </p:nvSpPr>
        <p:spPr>
          <a:xfrm>
            <a:off x="6263640" y="1325880"/>
            <a:ext cx="5349240" cy="594360"/>
          </a:xfrm>
          <a:prstGeom prst="roundRect">
            <a:avLst>
              <a:gd name="adj" fmla="val 12308"/>
            </a:avLst>
          </a:prstGeom>
          <a:solidFill>
            <a:srgbClr val="00A79A"/>
          </a:solidFill>
          <a:ln/>
        </p:spPr>
      </p:sp>
      <p:sp>
        <p:nvSpPr>
          <p:cNvPr id="7" name="Text 5"/>
          <p:cNvSpPr/>
          <p:nvPr/>
        </p:nvSpPr>
        <p:spPr>
          <a:xfrm>
            <a:off x="6263640" y="1325880"/>
            <a:ext cx="534924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Database-per-Service</a:t>
            </a:r>
            <a:endParaRPr lang="en-US" sz="1700" dirty="0"/>
          </a:p>
        </p:txBody>
      </p:sp>
      <p:sp>
        <p:nvSpPr>
          <p:cNvPr id="8" name="Shape 6"/>
          <p:cNvSpPr/>
          <p:nvPr/>
        </p:nvSpPr>
        <p:spPr>
          <a:xfrm>
            <a:off x="548640" y="2057400"/>
            <a:ext cx="5349240" cy="4297680"/>
          </a:xfrm>
          <a:prstGeom prst="roundRect">
            <a:avLst>
              <a:gd name="adj" fmla="val 1702"/>
            </a:avLst>
          </a:prstGeom>
          <a:solidFill>
            <a:srgbClr val="F4F6F8"/>
          </a:solidFill>
          <a:ln/>
        </p:spPr>
      </p:sp>
      <p:sp>
        <p:nvSpPr>
          <p:cNvPr id="9" name="Shape 7"/>
          <p:cNvSpPr/>
          <p:nvPr/>
        </p:nvSpPr>
        <p:spPr>
          <a:xfrm>
            <a:off x="6263640" y="2057400"/>
            <a:ext cx="5349240" cy="4297680"/>
          </a:xfrm>
          <a:prstGeom prst="roundRect">
            <a:avLst>
              <a:gd name="adj" fmla="val 1702"/>
            </a:avLst>
          </a:prstGeom>
          <a:solidFill>
            <a:srgbClr val="F4F6F8"/>
          </a:solidFill>
          <a:ln/>
        </p:spPr>
      </p:sp>
      <p:sp>
        <p:nvSpPr>
          <p:cNvPr id="10" name="Text 8"/>
          <p:cNvSpPr/>
          <p:nvPr/>
        </p:nvSpPr>
        <p:spPr>
          <a:xfrm>
            <a:off x="822960" y="2286000"/>
            <a:ext cx="4846320" cy="39319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Simpler joins and reporting across data</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Hidden coupling between services</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Schema changes risk breaking multiple services</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Harder to scale services independently</a:t>
            </a:r>
            <a:endParaRPr lang="en-US" sz="2400" dirty="0"/>
          </a:p>
        </p:txBody>
      </p:sp>
      <p:sp>
        <p:nvSpPr>
          <p:cNvPr id="11" name="Text 9"/>
          <p:cNvSpPr/>
          <p:nvPr/>
        </p:nvSpPr>
        <p:spPr>
          <a:xfrm>
            <a:off x="6537960" y="2286000"/>
            <a:ext cx="4846320" cy="39319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True service autonomy over its own data</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No cross-service schema coupling</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Requires APIs or events for cross-service data needs</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Data consistency becomes an explicit design problem</a:t>
            </a:r>
            <a:endParaRPr lang="en-US" sz="2400" dirty="0"/>
          </a:p>
        </p:txBody>
      </p:sp>
      <p:sp>
        <p:nvSpPr>
          <p:cNvPr id="12" name="Text 10"/>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13" name="Text 11"/>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Deployment Models</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Traditional SOA</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Services often deployed on shared application servers; releases coordinated across teams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Microservices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Each service packaged independently — typically as a container — and deployed on its own release schedule</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Containerization (Docker) and orchestration platforms (Kubernetes) are practically synonymous with modern microservices deployment</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Independent deployability is often considered the single most important practical benefit microservices deliver over classic SOA</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Governance: Centralized vs. Decentralized</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Traditional SOA</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 central architecture/governance board approves new services, standards, and contract changes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Microservices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Teams have much more autonomy over technology choices and release timing, guided by lightweight shared conventions</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Decentralization increases team velocity, but requires strong engineering culture to avoid inconsistency and duplicated effort</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SOA vs. Microservices — Full Comparison</a:t>
            </a:r>
            <a:endParaRPr lang="en-US" sz="2600" dirty="0"/>
          </a:p>
        </p:txBody>
      </p:sp>
      <p:sp>
        <p:nvSpPr>
          <p:cNvPr id="3" name="Shape 1"/>
          <p:cNvSpPr/>
          <p:nvPr/>
        </p:nvSpPr>
        <p:spPr>
          <a:xfrm>
            <a:off x="566928" y="1005840"/>
            <a:ext cx="411480" cy="45720"/>
          </a:xfrm>
          <a:prstGeom prst="rect">
            <a:avLst/>
          </a:prstGeom>
          <a:solidFill>
            <a:srgbClr val="00B8A9"/>
          </a:solidFill>
          <a:ln/>
        </p:spPr>
      </p:sp>
      <p:graphicFrame>
        <p:nvGraphicFramePr>
          <p:cNvPr id="15" name="Table 0"/>
          <p:cNvGraphicFramePr>
            <a:graphicFrameLocks noGrp="1"/>
          </p:cNvGraphicFramePr>
          <p:nvPr>
            <p:extLst>
              <p:ext uri="{D42A27DB-BD31-4B8C-83A1-F6EECF244321}">
                <p14:modId xmlns:p14="http://schemas.microsoft.com/office/powerpoint/2010/main" val="2052032006"/>
              </p:ext>
            </p:extLst>
          </p:nvPr>
        </p:nvGraphicFramePr>
        <p:xfrm>
          <a:off x="548640" y="1073948"/>
          <a:ext cx="11064240" cy="5439410"/>
        </p:xfrm>
        <a:graphic>
          <a:graphicData uri="http://schemas.openxmlformats.org/drawingml/2006/table">
            <a:tbl>
              <a:tblPr/>
              <a:tblGrid>
                <a:gridCol w="3688080">
                  <a:extLst>
                    <a:ext uri="{9D8B030D-6E8A-4147-A177-3AD203B41FA5}">
                      <a16:colId xmlns:a16="http://schemas.microsoft.com/office/drawing/2014/main" val="20000"/>
                    </a:ext>
                  </a:extLst>
                </a:gridCol>
                <a:gridCol w="3688080">
                  <a:extLst>
                    <a:ext uri="{9D8B030D-6E8A-4147-A177-3AD203B41FA5}">
                      <a16:colId xmlns:a16="http://schemas.microsoft.com/office/drawing/2014/main" val="20001"/>
                    </a:ext>
                  </a:extLst>
                </a:gridCol>
                <a:gridCol w="3688080">
                  <a:extLst>
                    <a:ext uri="{9D8B030D-6E8A-4147-A177-3AD203B41FA5}">
                      <a16:colId xmlns:a16="http://schemas.microsoft.com/office/drawing/2014/main" val="20002"/>
                    </a:ext>
                  </a:extLst>
                </a:gridCol>
              </a:tblGrid>
              <a:tr h="605790">
                <a:tc>
                  <a:txBody>
                    <a:bodyPr/>
                    <a:lstStyle/>
                    <a:p>
                      <a:pPr marL="0" indent="0">
                        <a:buNone/>
                      </a:pPr>
                      <a:r>
                        <a:rPr lang="en-US" sz="2400" b="1" dirty="0">
                          <a:solidFill>
                            <a:srgbClr val="FFFFFF"/>
                          </a:solidFill>
                          <a:latin typeface="Calibri" pitchFamily="34" charset="0"/>
                          <a:ea typeface="Calibri" pitchFamily="34" charset="-122"/>
                          <a:cs typeface="Calibri" pitchFamily="34" charset="-120"/>
                        </a:rPr>
                        <a:t>Dimension</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lstStyle/>
                    <a:p>
                      <a:pPr marL="0" indent="0">
                        <a:buNone/>
                      </a:pPr>
                      <a:r>
                        <a:rPr lang="en-US" sz="2400" b="1" dirty="0">
                          <a:solidFill>
                            <a:srgbClr val="FFFFFF"/>
                          </a:solidFill>
                          <a:latin typeface="Calibri" pitchFamily="34" charset="0"/>
                          <a:ea typeface="Calibri" pitchFamily="34" charset="-122"/>
                          <a:cs typeface="Calibri" pitchFamily="34" charset="-120"/>
                        </a:rPr>
                        <a:t>Traditional SOA</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lstStyle/>
                    <a:p>
                      <a:pPr marL="0" indent="0">
                        <a:buNone/>
                      </a:pPr>
                      <a:r>
                        <a:rPr lang="en-US" sz="2400" b="1" dirty="0">
                          <a:solidFill>
                            <a:srgbClr val="FFFFFF"/>
                          </a:solidFill>
                          <a:latin typeface="Calibri" pitchFamily="34" charset="0"/>
                          <a:ea typeface="Calibri" pitchFamily="34" charset="-122"/>
                          <a:cs typeface="Calibri" pitchFamily="34" charset="-120"/>
                        </a:rPr>
                        <a:t>Microservices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extLst>
                  <a:ext uri="{0D108BD9-81ED-4DB2-BD59-A6C34878D82A}">
                    <a16:rowId xmlns:a16="http://schemas.microsoft.com/office/drawing/2014/main" val="10000"/>
                  </a:ext>
                </a:extLst>
              </a:tr>
              <a:tr h="605790">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Scope</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Enterprise-wide</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Application/team-level</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5790">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Granularity</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Coarse-grained</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Fine-grained</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605790">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Communication</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ESB-centric, SOAP common</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Lightweight REST/messaging, smart endpoints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5790">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Data</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Often shared database</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Database-per-service</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605790">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Governance</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Centralized</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Decentralized</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05790">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Deployment</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Coordinated, less frequent</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Independent, continuous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6"/>
                  </a:ext>
                </a:extLst>
              </a:tr>
              <a:tr h="605790">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Technology</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Often uniform stack</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Polyglot per team</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3"/>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New Challenges Introduced by Microservices</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Distributed system complexity increases sharply</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Network calls replace what used to be simple in-process function calls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Data consistency across services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No more simple ACID transactions spanning multiple services — requires patterns like Saga (Lecture 8)</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Operational overhead</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Requires strong DevOps, monitoring, and automated deployment maturity</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Testing complexity</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End-to-end testing across many independently deployed services is harder (Lecture 9)</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Service Discovery in Microservices</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With many small, frequently redeployed services, hard-coded addresses are impractical</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Service registry (e.g., Consul, Eureka)</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Services register themselves on startup; consumers query the registry to find current instances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API Gateway</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 single entry point that routes external requests to the right internal service</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This plays a role conceptually similar to UDDI's original vision — but implemented in a lightweight, dynamic, cloud-native way</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The API Gateway Pattern</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Acts as a single facade in front of many microservices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Common responsibilities: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Routing requests to the correct backend service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Authentication and rate limiting</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Response aggregation from multiple services into one client-facing response</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An API Gateway plays a role similar to parts of a traditional ESB, but is typically much lighter weight and focused on edge/ingress traffic</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Resilience Patterns in Microservices</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Circuit Breaker</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Stops calling a failing service temporarily, preventing cascading failures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Retry with backoff</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Automatically retries a failed call after a delay, tolerating transient network issues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Bulkhead</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Isolates resources per service so one overloaded service cannot exhaust shared resources</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Because microservices communicate over unreliable networks far more often than a monolith, resilience becomes a first-class design concern</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Event-Driven Communication Between Services</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Instead of one service directly calling another, services publish events to a message broker (e.g., Kafka, RabbitMQ)</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Other services subscribe to the events they care about and react asynchronously</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Example: OrderService publishes an 'OrderPlaced' event; InventoryService and ShippingService both subscribe and react independently</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This further decouples services in time as well as location — the publisher does not need the subscriber to be available at the moment the event is published</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Monitoring and Observability</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092608"/>
            <a:ext cx="11597640" cy="5399631"/>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With dozens or hundreds of independently deployed services, manual debugging by reading logs on one server no longer works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Centralized logging</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All services ship logs to one searchable system</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Distributed tracing</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Tracks a single request as it flows across multiple services, showing where time is spent or where it failed</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Metrics and dashboards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Real-time visibility into latency, error rates, and throughput per service</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Observability is not optional in a microservices system — it is a core operational requirement</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0B8A9"/>
          </a:solidFill>
          <a:ln/>
        </p:spPr>
      </p:sp>
      <p:sp>
        <p:nvSpPr>
          <p:cNvPr id="3" name="Text 1"/>
          <p:cNvSpPr/>
          <p:nvPr/>
        </p:nvSpPr>
        <p:spPr>
          <a:xfrm>
            <a:off x="822960" y="822960"/>
            <a:ext cx="5486400" cy="365760"/>
          </a:xfrm>
          <a:prstGeom prst="rect">
            <a:avLst/>
          </a:prstGeom>
          <a:noFill/>
          <a:ln/>
        </p:spPr>
        <p:txBody>
          <a:bodyPr wrap="square" lIns="0" tIns="0" rIns="0" bIns="0" rtlCol="0" anchor="ctr"/>
          <a:lstStyle/>
          <a:p>
            <a:pPr marL="0" indent="0">
              <a:buNone/>
            </a:pPr>
            <a:r>
              <a:rPr lang="en-US" sz="1400" b="1" dirty="0">
                <a:solidFill>
                  <a:srgbClr val="00B8A9"/>
                </a:solidFill>
                <a:latin typeface="Calibri" pitchFamily="34" charset="0"/>
                <a:ea typeface="Calibri" pitchFamily="34" charset="-122"/>
                <a:cs typeface="Calibri" pitchFamily="34" charset="-120"/>
              </a:rPr>
              <a:t>DEFINITION</a:t>
            </a:r>
            <a:endParaRPr lang="en-US" sz="1400" dirty="0"/>
          </a:p>
        </p:txBody>
      </p:sp>
      <p:sp>
        <p:nvSpPr>
          <p:cNvPr id="4" name="Text 2"/>
          <p:cNvSpPr/>
          <p:nvPr/>
        </p:nvSpPr>
        <p:spPr>
          <a:xfrm>
            <a:off x="822960" y="1188720"/>
            <a:ext cx="10515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Distributed Monolith (Anti-Pattern)</a:t>
            </a:r>
            <a:endParaRPr lang="en-US" sz="3000" dirty="0"/>
          </a:p>
        </p:txBody>
      </p:sp>
      <p:sp>
        <p:nvSpPr>
          <p:cNvPr id="5" name="Text 3"/>
          <p:cNvSpPr/>
          <p:nvPr/>
        </p:nvSpPr>
        <p:spPr>
          <a:xfrm>
            <a:off x="822960" y="2148840"/>
            <a:ext cx="10241280" cy="1828800"/>
          </a:xfrm>
          <a:prstGeom prst="rect">
            <a:avLst/>
          </a:prstGeom>
          <a:noFill/>
          <a:ln/>
        </p:spPr>
        <p:txBody>
          <a:bodyPr wrap="square" lIns="0" tIns="0" rIns="0" bIns="0" rtlCol="0" anchor="t"/>
          <a:lstStyle/>
          <a:p>
            <a:pPr marL="0" indent="0">
              <a:lnSpc>
                <a:spcPct val="130000"/>
              </a:lnSpc>
              <a:buNone/>
            </a:pPr>
            <a:r>
              <a:rPr lang="en-US" sz="2400" i="1" dirty="0">
                <a:solidFill>
                  <a:srgbClr val="DCE3EA"/>
                </a:solidFill>
                <a:latin typeface="Calibri" pitchFamily="34" charset="0"/>
                <a:ea typeface="Calibri" pitchFamily="34" charset="-122"/>
                <a:cs typeface="Calibri" pitchFamily="34" charset="-120"/>
              </a:rPr>
              <a:t>“A system split into many separate services that must still be deployed together and are so tightly coupled through shared databases or synchronous call chains that it inherits the drawbacks of both a monolith and a distributed system, with the benefits of neither.”</a:t>
            </a:r>
            <a:endParaRPr lang="en-US" sz="2400" dirty="0"/>
          </a:p>
        </p:txBody>
      </p:sp>
      <p:sp>
        <p:nvSpPr>
          <p:cNvPr id="6" name="Text 4"/>
          <p:cNvSpPr/>
          <p:nvPr/>
        </p:nvSpPr>
        <p:spPr>
          <a:xfrm>
            <a:off x="822960" y="4114800"/>
            <a:ext cx="10241280" cy="210312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A common trap when teams adopt the microservices label without adopting its underlying discipline (database-per-service, independent deployability, async communication where appropriate)</a:t>
            </a:r>
            <a:endParaRPr lang="en-US" sz="2400" dirty="0"/>
          </a:p>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Recognizing this anti-pattern is one of the most valuable skills in real-world SOA/microservices architecture review</a:t>
            </a:r>
            <a:endParaRPr lang="en-US" sz="2400" dirty="0"/>
          </a:p>
        </p:txBody>
      </p:sp>
      <p:sp>
        <p:nvSpPr>
          <p:cNvPr id="7" name="Text 5"/>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8" name="Text 6"/>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Is Microservices Just 'SOA Done Right'?</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Many practitioners describe microservices as 'SOA done right' or 'SOA without the ESB'</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Others argue they are genuinely different styles because of:</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The strong emphasis on independent deployability as a first-class goal</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The strict database-per-service data ownership model</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For this course: think of microservices as a specific, more decentralized and fine-grained implementation approach within the broader service-oriented family of architectures</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When Traditional SOA Still Makes Sense</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Large enterprises integrating many legacy and packaged systems (ERP, mainframes)</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Strong regulatory requirements for centralized governance and auditability</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Organizations without mature DevOps/container infrastructure to support many independently deployed services</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Scenarios where coarse-grained, broadly reused business services genuinely fit the business model (e.g., shared 'CreditCheck' service across many banking products)</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When Microservices Make Sense</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Large, fast-growing product teams that need to move and deploy independently</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Cloud-native applications built for elastic, on-demand scaling</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Systems where different components have very different scaling and reliability requirements</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Organizations with mature CI/CD, containerization, and monitoring practices already in place</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A Balanced Decision Checklist</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Team size and structure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Small team? A modular monolith or classic SOA may be simpler than a microservices split</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Rate of independent change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Do different parts of the system truly need to be deployed on different schedules?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Operational maturity</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Is there tooling and expertise to operate many independently deployed services reliably?</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Data consistency needs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Can the business tolerate eventual consistency across service boundaries?</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Case Study: An Online Retailer's Journey</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A retailer starts with a single monolithic e-commerce application</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As the company grows, it moves to SOA:</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Wraps inventory, pricing, and shipping logic in enterprise-wide services behind an ESB</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As deployment speed becomes critical, it evolves toward microservices: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Splits into CatalogService, CartService, OrderService, PaymentService — each with its own database and deployment pipeline</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This progression — monolith → SOA → microservices — mirrors the historical evolution covered in Lecture 1</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Hybrid Reality: Most Enterprises Use Both</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Legacy 'core' systems often remain behind SOAP/WSDL SOA-style interfaces</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New customer-facing features are increasingly built as microservices consuming those older services</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An API Gateway or lightweight integration layer often bridges the two worlds</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In practice, few large enterprises are 'purely' one style — understanding both is essential for real-world architecture work</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AF6F5"/>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lIns="0" tIns="0" rIns="0" bIns="0" rtlCol="0" anchor="ctr"/>
          <a:lstStyle/>
          <a:p>
            <a:pPr marL="0" indent="0">
              <a:buNone/>
            </a:pPr>
            <a:r>
              <a:rPr lang="en-US" sz="2800" b="1" dirty="0">
                <a:solidFill>
                  <a:srgbClr val="0F2942"/>
                </a:solidFill>
                <a:latin typeface="Calibri" pitchFamily="34" charset="0"/>
                <a:ea typeface="Calibri" pitchFamily="34" charset="-122"/>
                <a:cs typeface="Calibri" pitchFamily="34" charset="-120"/>
              </a:rPr>
              <a:t>Key Takeaways</a:t>
            </a:r>
            <a:endParaRPr lang="en-US" sz="2800" dirty="0"/>
          </a:p>
        </p:txBody>
      </p:sp>
      <p:sp>
        <p:nvSpPr>
          <p:cNvPr id="3" name="Shape 1"/>
          <p:cNvSpPr/>
          <p:nvPr/>
        </p:nvSpPr>
        <p:spPr>
          <a:xfrm>
            <a:off x="566928" y="1143000"/>
            <a:ext cx="457200" cy="54864"/>
          </a:xfrm>
          <a:prstGeom prst="rect">
            <a:avLst/>
          </a:prstGeom>
          <a:solidFill>
            <a:srgbClr val="00B8A9"/>
          </a:solidFill>
          <a:ln/>
        </p:spPr>
      </p:sp>
      <p:sp>
        <p:nvSpPr>
          <p:cNvPr id="4" name="Shape 2"/>
          <p:cNvSpPr/>
          <p:nvPr/>
        </p:nvSpPr>
        <p:spPr>
          <a:xfrm>
            <a:off x="548640" y="1508760"/>
            <a:ext cx="11064240" cy="777240"/>
          </a:xfrm>
          <a:prstGeom prst="roundRect">
            <a:avLst>
              <a:gd name="adj" fmla="val 9412"/>
            </a:avLst>
          </a:prstGeom>
          <a:solidFill>
            <a:srgbClr val="FFFFFF"/>
          </a:solidFill>
          <a:ln/>
        </p:spPr>
      </p:sp>
      <p:sp>
        <p:nvSpPr>
          <p:cNvPr id="5" name="Shape 3"/>
          <p:cNvSpPr/>
          <p:nvPr/>
        </p:nvSpPr>
        <p:spPr>
          <a:xfrm>
            <a:off x="777240" y="1673352"/>
            <a:ext cx="457200" cy="457200"/>
          </a:xfrm>
          <a:prstGeom prst="ellipse">
            <a:avLst/>
          </a:prstGeom>
          <a:solidFill>
            <a:srgbClr val="00B8A9"/>
          </a:solidFill>
          <a:ln/>
        </p:spPr>
      </p:sp>
      <p:sp>
        <p:nvSpPr>
          <p:cNvPr id="6" name="Text 4"/>
          <p:cNvSpPr/>
          <p:nvPr/>
        </p:nvSpPr>
        <p:spPr>
          <a:xfrm>
            <a:off x="777240" y="1673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17320" y="1508760"/>
            <a:ext cx="9966960" cy="777240"/>
          </a:xfrm>
          <a:prstGeom prst="rect">
            <a:avLst/>
          </a:prstGeom>
          <a:noFill/>
          <a:ln/>
        </p:spPr>
        <p:txBody>
          <a:bodyPr wrap="square" lIns="0" tIns="0" rIns="0" bIns="0" rtlCol="0" anchor="ctr"/>
          <a:lstStyle/>
          <a:p>
            <a:pPr marL="0" indent="0">
              <a:buNone/>
            </a:pPr>
            <a:r>
              <a:rPr lang="en-US" sz="2000" dirty="0">
                <a:solidFill>
                  <a:srgbClr val="1A1A2E"/>
                </a:solidFill>
                <a:latin typeface="Calibri" pitchFamily="34" charset="0"/>
                <a:ea typeface="Calibri" pitchFamily="34" charset="-122"/>
                <a:cs typeface="Calibri" pitchFamily="34" charset="-120"/>
              </a:rPr>
              <a:t>Microservices grew out of frustration with heavyweight ESBs and centralized governance common in traditional SOA implementations</a:t>
            </a:r>
            <a:endParaRPr lang="en-US" sz="2000" dirty="0"/>
          </a:p>
        </p:txBody>
      </p:sp>
      <p:sp>
        <p:nvSpPr>
          <p:cNvPr id="8" name="Shape 6"/>
          <p:cNvSpPr/>
          <p:nvPr/>
        </p:nvSpPr>
        <p:spPr>
          <a:xfrm>
            <a:off x="548640" y="2423160"/>
            <a:ext cx="11064240" cy="777240"/>
          </a:xfrm>
          <a:prstGeom prst="roundRect">
            <a:avLst>
              <a:gd name="adj" fmla="val 9412"/>
            </a:avLst>
          </a:prstGeom>
          <a:solidFill>
            <a:srgbClr val="FFFFFF"/>
          </a:solidFill>
          <a:ln/>
        </p:spPr>
      </p:sp>
      <p:sp>
        <p:nvSpPr>
          <p:cNvPr id="9" name="Shape 7"/>
          <p:cNvSpPr/>
          <p:nvPr/>
        </p:nvSpPr>
        <p:spPr>
          <a:xfrm>
            <a:off x="777240" y="2587752"/>
            <a:ext cx="457200" cy="457200"/>
          </a:xfrm>
          <a:prstGeom prst="ellipse">
            <a:avLst/>
          </a:prstGeom>
          <a:solidFill>
            <a:srgbClr val="00B8A9"/>
          </a:solidFill>
          <a:ln/>
        </p:spPr>
      </p:sp>
      <p:sp>
        <p:nvSpPr>
          <p:cNvPr id="10" name="Text 8"/>
          <p:cNvSpPr/>
          <p:nvPr/>
        </p:nvSpPr>
        <p:spPr>
          <a:xfrm>
            <a:off x="777240" y="2587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417320" y="2423160"/>
            <a:ext cx="9966960" cy="777240"/>
          </a:xfrm>
          <a:prstGeom prst="rect">
            <a:avLst/>
          </a:prstGeom>
          <a:noFill/>
          <a:ln/>
        </p:spPr>
        <p:txBody>
          <a:bodyPr wrap="square" lIns="0" tIns="0" rIns="0" bIns="0" rtlCol="0" anchor="ctr"/>
          <a:lstStyle/>
          <a:p>
            <a:pPr marL="0" indent="0">
              <a:buNone/>
            </a:pPr>
            <a:r>
              <a:rPr lang="en-US" sz="2000" dirty="0">
                <a:solidFill>
                  <a:srgbClr val="1A1A2E"/>
                </a:solidFill>
                <a:latin typeface="Calibri" pitchFamily="34" charset="0"/>
                <a:ea typeface="Calibri" pitchFamily="34" charset="-122"/>
                <a:cs typeface="Calibri" pitchFamily="34" charset="-120"/>
              </a:rPr>
              <a:t>Microservices emphasize fine granularity, independent deployability, and database-per-service ownership</a:t>
            </a:r>
            <a:endParaRPr lang="en-US" sz="2000" dirty="0"/>
          </a:p>
        </p:txBody>
      </p:sp>
      <p:sp>
        <p:nvSpPr>
          <p:cNvPr id="12" name="Shape 10"/>
          <p:cNvSpPr/>
          <p:nvPr/>
        </p:nvSpPr>
        <p:spPr>
          <a:xfrm>
            <a:off x="548640" y="3337560"/>
            <a:ext cx="11064240" cy="777240"/>
          </a:xfrm>
          <a:prstGeom prst="roundRect">
            <a:avLst>
              <a:gd name="adj" fmla="val 9412"/>
            </a:avLst>
          </a:prstGeom>
          <a:solidFill>
            <a:srgbClr val="FFFFFF"/>
          </a:solidFill>
          <a:ln/>
        </p:spPr>
      </p:sp>
      <p:sp>
        <p:nvSpPr>
          <p:cNvPr id="13" name="Shape 11"/>
          <p:cNvSpPr/>
          <p:nvPr/>
        </p:nvSpPr>
        <p:spPr>
          <a:xfrm>
            <a:off x="777240" y="3502152"/>
            <a:ext cx="457200" cy="457200"/>
          </a:xfrm>
          <a:prstGeom prst="ellipse">
            <a:avLst/>
          </a:prstGeom>
          <a:solidFill>
            <a:srgbClr val="00B8A9"/>
          </a:solidFill>
          <a:ln/>
        </p:spPr>
      </p:sp>
      <p:sp>
        <p:nvSpPr>
          <p:cNvPr id="14" name="Text 12"/>
          <p:cNvSpPr/>
          <p:nvPr/>
        </p:nvSpPr>
        <p:spPr>
          <a:xfrm>
            <a:off x="777240" y="3502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417320" y="3337560"/>
            <a:ext cx="9966960" cy="777240"/>
          </a:xfrm>
          <a:prstGeom prst="rect">
            <a:avLst/>
          </a:prstGeom>
          <a:noFill/>
          <a:ln/>
        </p:spPr>
        <p:txBody>
          <a:bodyPr wrap="square" lIns="0" tIns="0" rIns="0" bIns="0" rtlCol="0" anchor="ctr"/>
          <a:lstStyle/>
          <a:p>
            <a:pPr marL="0" indent="0">
              <a:buNone/>
            </a:pPr>
            <a:r>
              <a:rPr lang="en-US" sz="2000" dirty="0">
                <a:solidFill>
                  <a:srgbClr val="1A1A2E"/>
                </a:solidFill>
                <a:latin typeface="Calibri" pitchFamily="34" charset="0"/>
                <a:ea typeface="Calibri" pitchFamily="34" charset="-122"/>
                <a:cs typeface="Calibri" pitchFamily="34" charset="-120"/>
              </a:rPr>
              <a:t>Both styles share core service-orientation principles: loose coupling, autonomy, and composability</a:t>
            </a:r>
            <a:endParaRPr lang="en-US" sz="2000" dirty="0"/>
          </a:p>
        </p:txBody>
      </p:sp>
      <p:sp>
        <p:nvSpPr>
          <p:cNvPr id="16" name="Shape 14"/>
          <p:cNvSpPr/>
          <p:nvPr/>
        </p:nvSpPr>
        <p:spPr>
          <a:xfrm>
            <a:off x="548640" y="4251960"/>
            <a:ext cx="11064240" cy="777240"/>
          </a:xfrm>
          <a:prstGeom prst="roundRect">
            <a:avLst>
              <a:gd name="adj" fmla="val 9412"/>
            </a:avLst>
          </a:prstGeom>
          <a:solidFill>
            <a:srgbClr val="FFFFFF"/>
          </a:solidFill>
          <a:ln/>
        </p:spPr>
      </p:sp>
      <p:sp>
        <p:nvSpPr>
          <p:cNvPr id="17" name="Shape 15"/>
          <p:cNvSpPr/>
          <p:nvPr/>
        </p:nvSpPr>
        <p:spPr>
          <a:xfrm>
            <a:off x="777240" y="4416552"/>
            <a:ext cx="457200" cy="457200"/>
          </a:xfrm>
          <a:prstGeom prst="ellipse">
            <a:avLst/>
          </a:prstGeom>
          <a:solidFill>
            <a:srgbClr val="00B8A9"/>
          </a:solidFill>
          <a:ln/>
        </p:spPr>
      </p:sp>
      <p:sp>
        <p:nvSpPr>
          <p:cNvPr id="18" name="Text 16"/>
          <p:cNvSpPr/>
          <p:nvPr/>
        </p:nvSpPr>
        <p:spPr>
          <a:xfrm>
            <a:off x="777240" y="4416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417320" y="4251960"/>
            <a:ext cx="9966960" cy="777240"/>
          </a:xfrm>
          <a:prstGeom prst="rect">
            <a:avLst/>
          </a:prstGeom>
          <a:noFill/>
          <a:ln/>
        </p:spPr>
        <p:txBody>
          <a:bodyPr wrap="square" lIns="0" tIns="0" rIns="0" bIns="0" rtlCol="0" anchor="ctr"/>
          <a:lstStyle/>
          <a:p>
            <a:pPr marL="0" indent="0">
              <a:buNone/>
            </a:pPr>
            <a:r>
              <a:rPr lang="en-US" sz="2000" dirty="0">
                <a:solidFill>
                  <a:srgbClr val="1A1A2E"/>
                </a:solidFill>
                <a:latin typeface="Calibri" pitchFamily="34" charset="0"/>
                <a:ea typeface="Calibri" pitchFamily="34" charset="-122"/>
                <a:cs typeface="Calibri" pitchFamily="34" charset="-120"/>
              </a:rPr>
              <a:t>Resilience patterns (circuit breaker, retry, bulkhead) become essential once communication shifts to many network calls</a:t>
            </a:r>
            <a:endParaRPr lang="en-US" sz="2000" dirty="0"/>
          </a:p>
        </p:txBody>
      </p:sp>
      <p:sp>
        <p:nvSpPr>
          <p:cNvPr id="20" name="Shape 18"/>
          <p:cNvSpPr/>
          <p:nvPr/>
        </p:nvSpPr>
        <p:spPr>
          <a:xfrm>
            <a:off x="548640" y="5166360"/>
            <a:ext cx="11064240" cy="777240"/>
          </a:xfrm>
          <a:prstGeom prst="roundRect">
            <a:avLst>
              <a:gd name="adj" fmla="val 9412"/>
            </a:avLst>
          </a:prstGeom>
          <a:solidFill>
            <a:srgbClr val="FFFFFF"/>
          </a:solidFill>
          <a:ln/>
        </p:spPr>
      </p:sp>
      <p:sp>
        <p:nvSpPr>
          <p:cNvPr id="21" name="Shape 19"/>
          <p:cNvSpPr/>
          <p:nvPr/>
        </p:nvSpPr>
        <p:spPr>
          <a:xfrm>
            <a:off x="777240" y="5330952"/>
            <a:ext cx="457200" cy="457200"/>
          </a:xfrm>
          <a:prstGeom prst="ellipse">
            <a:avLst/>
          </a:prstGeom>
          <a:solidFill>
            <a:srgbClr val="00B8A9"/>
          </a:solidFill>
          <a:ln/>
        </p:spPr>
      </p:sp>
      <p:sp>
        <p:nvSpPr>
          <p:cNvPr id="22" name="Text 20"/>
          <p:cNvSpPr/>
          <p:nvPr/>
        </p:nvSpPr>
        <p:spPr>
          <a:xfrm>
            <a:off x="777240" y="5330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417320" y="5166360"/>
            <a:ext cx="9966960" cy="777240"/>
          </a:xfrm>
          <a:prstGeom prst="rect">
            <a:avLst/>
          </a:prstGeom>
          <a:noFill/>
          <a:ln/>
        </p:spPr>
        <p:txBody>
          <a:bodyPr wrap="square" lIns="0" tIns="0" rIns="0" bIns="0" rtlCol="0" anchor="ctr"/>
          <a:lstStyle/>
          <a:p>
            <a:pPr marL="0" indent="0">
              <a:buNone/>
            </a:pPr>
            <a:r>
              <a:rPr lang="en-US" sz="2000" dirty="0">
                <a:solidFill>
                  <a:srgbClr val="1A1A2E"/>
                </a:solidFill>
                <a:latin typeface="Calibri" pitchFamily="34" charset="0"/>
                <a:ea typeface="Calibri" pitchFamily="34" charset="-122"/>
                <a:cs typeface="Calibri" pitchFamily="34" charset="-120"/>
              </a:rPr>
              <a:t>The right choice depends on team structure, operational maturity, and how independently different parts of the system must evolve</a:t>
            </a:r>
            <a:endParaRPr lang="en-US" sz="2000" dirty="0"/>
          </a:p>
        </p:txBody>
      </p:sp>
      <p:sp>
        <p:nvSpPr>
          <p:cNvPr id="24" name="Text 22"/>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25" name="Text 23"/>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2942"/>
        </a:solidFill>
        <a:effectLst/>
      </p:bgPr>
    </p:bg>
    <p:spTree>
      <p:nvGrpSpPr>
        <p:cNvPr id="1" name=""/>
        <p:cNvGrpSpPr/>
        <p:nvPr/>
      </p:nvGrpSpPr>
      <p:grpSpPr>
        <a:xfrm>
          <a:off x="0" y="0"/>
          <a:ext cx="0" cy="0"/>
          <a:chOff x="0" y="0"/>
          <a:chExt cx="0" cy="0"/>
        </a:xfrm>
      </p:grpSpPr>
      <p:sp>
        <p:nvSpPr>
          <p:cNvPr id="2" name="Text 0"/>
          <p:cNvSpPr/>
          <p:nvPr/>
        </p:nvSpPr>
        <p:spPr>
          <a:xfrm>
            <a:off x="822960" y="822960"/>
            <a:ext cx="7315200" cy="365760"/>
          </a:xfrm>
          <a:prstGeom prst="rect">
            <a:avLst/>
          </a:prstGeom>
          <a:noFill/>
          <a:ln/>
        </p:spPr>
        <p:txBody>
          <a:bodyPr wrap="square" lIns="0" tIns="0" rIns="0" bIns="0" rtlCol="0" anchor="ctr"/>
          <a:lstStyle/>
          <a:p>
            <a:pPr marL="0" indent="0">
              <a:buNone/>
            </a:pPr>
            <a:r>
              <a:rPr lang="en-US" sz="1400" b="1" dirty="0">
                <a:solidFill>
                  <a:srgbClr val="FF6B35"/>
                </a:solidFill>
                <a:latin typeface="Calibri" pitchFamily="34" charset="0"/>
                <a:ea typeface="Calibri" pitchFamily="34" charset="-122"/>
                <a:cs typeface="Calibri" pitchFamily="34" charset="-120"/>
              </a:rPr>
              <a:t>DISCUSSION / REVIEW QUESTION</a:t>
            </a:r>
            <a:endParaRPr lang="en-US" sz="1400" dirty="0"/>
          </a:p>
        </p:txBody>
      </p:sp>
      <p:sp>
        <p:nvSpPr>
          <p:cNvPr id="3" name="Text 1"/>
          <p:cNvSpPr/>
          <p:nvPr/>
        </p:nvSpPr>
        <p:spPr>
          <a:xfrm>
            <a:off x="822960" y="1371600"/>
            <a:ext cx="10241280" cy="2011680"/>
          </a:xfrm>
          <a:prstGeom prst="rect">
            <a:avLst/>
          </a:prstGeom>
          <a:noFill/>
          <a:ln/>
        </p:spPr>
        <p:txBody>
          <a:bodyPr wrap="square" lIns="0" tIns="0" rIns="0" bIns="0" rtlCol="0" anchor="t"/>
          <a:lstStyle/>
          <a:p>
            <a:pPr marL="0" indent="0">
              <a:lnSpc>
                <a:spcPct val="125000"/>
              </a:lnSpc>
              <a:buNone/>
            </a:pPr>
            <a:r>
              <a:rPr lang="en-US" sz="2400" b="1" dirty="0">
                <a:solidFill>
                  <a:srgbClr val="FFFFFF"/>
                </a:solidFill>
                <a:latin typeface="Calibri" pitchFamily="34" charset="0"/>
                <a:ea typeface="Calibri" pitchFamily="34" charset="-122"/>
                <a:cs typeface="Calibri" pitchFamily="34" charset="-120"/>
              </a:rPr>
              <a:t>A hospital's IT department has a 15-year-old patient-records system exposed via SOAP/WSDL, tightly governed for regulatory compliance. They now want to build a new mobile app for patients to book appointments. Would you recommend rebuilding everything as microservices, or a hybrid approach? Justify your answer.</a:t>
            </a:r>
            <a:endParaRPr lang="en-US" sz="2400" dirty="0"/>
          </a:p>
        </p:txBody>
      </p:sp>
      <p:sp>
        <p:nvSpPr>
          <p:cNvPr id="4" name="Text 2"/>
          <p:cNvSpPr/>
          <p:nvPr/>
        </p:nvSpPr>
        <p:spPr>
          <a:xfrm>
            <a:off x="822960" y="3749040"/>
            <a:ext cx="5486400" cy="365760"/>
          </a:xfrm>
          <a:prstGeom prst="rect">
            <a:avLst/>
          </a:prstGeom>
          <a:noFill/>
          <a:ln/>
        </p:spPr>
        <p:txBody>
          <a:bodyPr wrap="square" lIns="0" tIns="0" rIns="0" bIns="0" rtlCol="0" anchor="ctr"/>
          <a:lstStyle/>
          <a:p>
            <a:pPr marL="0" indent="0">
              <a:buNone/>
            </a:pPr>
            <a:r>
              <a:rPr lang="en-US" b="1" dirty="0">
                <a:solidFill>
                  <a:srgbClr val="00B8A9"/>
                </a:solidFill>
                <a:latin typeface="Calibri" pitchFamily="34" charset="0"/>
                <a:ea typeface="Calibri" pitchFamily="34" charset="-122"/>
                <a:cs typeface="Calibri" pitchFamily="34" charset="-120"/>
              </a:rPr>
              <a:t>Think about:</a:t>
            </a:r>
            <a:endParaRPr lang="en-US" dirty="0"/>
          </a:p>
        </p:txBody>
      </p:sp>
      <p:sp>
        <p:nvSpPr>
          <p:cNvPr id="5" name="Text 3"/>
          <p:cNvSpPr/>
          <p:nvPr/>
        </p:nvSpPr>
        <p:spPr>
          <a:xfrm>
            <a:off x="822960" y="4160520"/>
            <a:ext cx="10058400" cy="2011680"/>
          </a:xfrm>
          <a:prstGeom prst="rect">
            <a:avLst/>
          </a:prstGeom>
          <a:noFill/>
          <a:ln/>
        </p:spPr>
        <p:txBody>
          <a:bodyPr wrap="square" lIns="0" tIns="0" rIns="0" bIns="0" rtlCol="0" anchor="t"/>
          <a:lstStyle/>
          <a:p>
            <a:pPr marL="342900" indent="-342900">
              <a:spcAft>
                <a:spcPts val="600"/>
              </a:spcAft>
              <a:buSzPct val="100000"/>
              <a:buChar char="•"/>
            </a:pPr>
            <a:r>
              <a:rPr lang="en-US" dirty="0">
                <a:solidFill>
                  <a:srgbClr val="C7D0D9"/>
                </a:solidFill>
                <a:latin typeface="Calibri" pitchFamily="34" charset="0"/>
                <a:ea typeface="Calibri" pitchFamily="34" charset="-122"/>
                <a:cs typeface="Calibri" pitchFamily="34" charset="-120"/>
              </a:rPr>
              <a:t>Consider the regulatory and stability requirements of the existing system</a:t>
            </a:r>
            <a:endParaRPr lang="en-US" dirty="0"/>
          </a:p>
          <a:p>
            <a:pPr marL="342900" indent="-342900">
              <a:spcAft>
                <a:spcPts val="600"/>
              </a:spcAft>
              <a:buSzPct val="100000"/>
              <a:buChar char="•"/>
            </a:pPr>
            <a:r>
              <a:rPr lang="en-US" dirty="0">
                <a:solidFill>
                  <a:srgbClr val="C7D0D9"/>
                </a:solidFill>
                <a:latin typeface="Calibri" pitchFamily="34" charset="0"/>
                <a:ea typeface="Calibri" pitchFamily="34" charset="-122"/>
                <a:cs typeface="Calibri" pitchFamily="34" charset="-120"/>
              </a:rPr>
              <a:t>Think about what the new mobile app actually needs versus what the legacy system already provides well</a:t>
            </a:r>
            <a:endParaRPr lang="en-US" dirty="0"/>
          </a:p>
          <a:p>
            <a:pPr marL="342900" indent="-342900">
              <a:spcAft>
                <a:spcPts val="600"/>
              </a:spcAft>
              <a:buSzPct val="100000"/>
              <a:buChar char="•"/>
            </a:pPr>
            <a:r>
              <a:rPr lang="en-US" dirty="0">
                <a:solidFill>
                  <a:srgbClr val="C7D0D9"/>
                </a:solidFill>
                <a:latin typeface="Calibri" pitchFamily="34" charset="0"/>
                <a:ea typeface="Calibri" pitchFamily="34" charset="-122"/>
                <a:cs typeface="Calibri" pitchFamily="34" charset="-120"/>
              </a:rPr>
              <a:t>Consider the role an API Gateway could play in bridging both worlds</a:t>
            </a:r>
            <a:endParaRPr lang="en-US" dirty="0"/>
          </a:p>
        </p:txBody>
      </p:sp>
      <p:sp>
        <p:nvSpPr>
          <p:cNvPr id="6" name="Text 4"/>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7" name="Text 5"/>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References &amp; Further Reading</a:t>
            </a:r>
            <a:endParaRPr lang="en-US" sz="2600" dirty="0"/>
          </a:p>
        </p:txBody>
      </p:sp>
      <p:sp>
        <p:nvSpPr>
          <p:cNvPr id="3" name="Shape 1"/>
          <p:cNvSpPr/>
          <p:nvPr/>
        </p:nvSpPr>
        <p:spPr>
          <a:xfrm>
            <a:off x="566928" y="1097280"/>
            <a:ext cx="411480" cy="45720"/>
          </a:xfrm>
          <a:prstGeom prst="rect">
            <a:avLst/>
          </a:prstGeom>
          <a:solidFill>
            <a:srgbClr val="00B8A9"/>
          </a:solidFill>
          <a:ln/>
        </p:spPr>
      </p:sp>
      <p:sp>
        <p:nvSpPr>
          <p:cNvPr id="4" name="Text 2"/>
          <p:cNvSpPr/>
          <p:nvPr/>
        </p:nvSpPr>
        <p:spPr>
          <a:xfrm>
            <a:off x="594360" y="1463040"/>
            <a:ext cx="10789920" cy="3291840"/>
          </a:xfrm>
          <a:prstGeom prst="rect">
            <a:avLst/>
          </a:prstGeom>
          <a:noFill/>
          <a:ln/>
        </p:spPr>
        <p:txBody>
          <a:bodyPr wrap="square" lIns="0" tIns="0" rIns="0" bIns="0" rtlCol="0" anchor="t"/>
          <a:lstStyle/>
          <a:p>
            <a:pPr marL="342900" indent="-342900">
              <a:spcAft>
                <a:spcPts val="1000"/>
              </a:spcAft>
              <a:buSzPct val="100000"/>
              <a:buChar char="•"/>
            </a:pPr>
            <a:r>
              <a:rPr lang="en-US" dirty="0">
                <a:solidFill>
                  <a:srgbClr val="1A1A2E"/>
                </a:solidFill>
                <a:latin typeface="Calibri" pitchFamily="34" charset="0"/>
                <a:ea typeface="Calibri" pitchFamily="34" charset="-122"/>
                <a:cs typeface="Calibri" pitchFamily="34" charset="-120"/>
              </a:rPr>
              <a:t>Fowler, M. and Lewis, J. — Microservices (martinfowler.com)</a:t>
            </a:r>
            <a:endParaRPr lang="en-US" dirty="0"/>
          </a:p>
          <a:p>
            <a:pPr marL="342900" indent="-342900">
              <a:spcAft>
                <a:spcPts val="1000"/>
              </a:spcAft>
              <a:buSzPct val="100000"/>
              <a:buChar char="•"/>
            </a:pPr>
            <a:r>
              <a:rPr lang="en-US" dirty="0">
                <a:solidFill>
                  <a:srgbClr val="1A1A2E"/>
                </a:solidFill>
                <a:latin typeface="Calibri" pitchFamily="34" charset="0"/>
                <a:ea typeface="Calibri" pitchFamily="34" charset="-122"/>
                <a:cs typeface="Calibri" pitchFamily="34" charset="-120"/>
              </a:rPr>
              <a:t>Newman, S. — Building Microservices</a:t>
            </a:r>
            <a:endParaRPr lang="en-US" dirty="0"/>
          </a:p>
          <a:p>
            <a:pPr marL="342900" indent="-342900">
              <a:spcAft>
                <a:spcPts val="1000"/>
              </a:spcAft>
              <a:buSzPct val="100000"/>
              <a:buChar char="•"/>
            </a:pPr>
            <a:r>
              <a:rPr lang="en-US" dirty="0">
                <a:solidFill>
                  <a:srgbClr val="1A1A2E"/>
                </a:solidFill>
                <a:latin typeface="Calibri" pitchFamily="34" charset="0"/>
                <a:ea typeface="Calibri" pitchFamily="34" charset="-122"/>
                <a:cs typeface="Calibri" pitchFamily="34" charset="-120"/>
              </a:rPr>
              <a:t>Richardson, C. — Microservices Patterns</a:t>
            </a:r>
            <a:endParaRPr lang="en-US" dirty="0"/>
          </a:p>
          <a:p>
            <a:pPr marL="342900" indent="-342900">
              <a:spcAft>
                <a:spcPts val="1000"/>
              </a:spcAft>
              <a:buSzPct val="100000"/>
              <a:buChar char="•"/>
            </a:pPr>
            <a:r>
              <a:rPr lang="en-US" dirty="0">
                <a:solidFill>
                  <a:srgbClr val="1A1A2E"/>
                </a:solidFill>
                <a:latin typeface="Calibri" pitchFamily="34" charset="0"/>
                <a:ea typeface="Calibri" pitchFamily="34" charset="-122"/>
                <a:cs typeface="Calibri" pitchFamily="34" charset="-120"/>
              </a:rPr>
              <a:t>Erl, T. — SOA vs. Microservices comparison articles, arcitura.com</a:t>
            </a:r>
            <a:endParaRPr lang="en-US" dirty="0"/>
          </a:p>
        </p:txBody>
      </p:sp>
      <p:sp>
        <p:nvSpPr>
          <p:cNvPr id="5" name="Shape 3"/>
          <p:cNvSpPr/>
          <p:nvPr/>
        </p:nvSpPr>
        <p:spPr>
          <a:xfrm>
            <a:off x="548640" y="5029200"/>
            <a:ext cx="11064240" cy="1051560"/>
          </a:xfrm>
          <a:prstGeom prst="roundRect">
            <a:avLst>
              <a:gd name="adj" fmla="val 7826"/>
            </a:avLst>
          </a:prstGeom>
          <a:solidFill>
            <a:srgbClr val="0F2942"/>
          </a:solidFill>
          <a:ln/>
        </p:spPr>
      </p:sp>
      <p:sp>
        <p:nvSpPr>
          <p:cNvPr id="6" name="Text 4"/>
          <p:cNvSpPr/>
          <p:nvPr/>
        </p:nvSpPr>
        <p:spPr>
          <a:xfrm>
            <a:off x="822960" y="5138928"/>
            <a:ext cx="2743200" cy="320040"/>
          </a:xfrm>
          <a:prstGeom prst="rect">
            <a:avLst/>
          </a:prstGeom>
          <a:noFill/>
          <a:ln/>
        </p:spPr>
        <p:txBody>
          <a:bodyPr wrap="square" lIns="0" tIns="0" rIns="0" bIns="0" rtlCol="0" anchor="ctr"/>
          <a:lstStyle/>
          <a:p>
            <a:pPr marL="0" indent="0">
              <a:buNone/>
            </a:pPr>
            <a:r>
              <a:rPr lang="en-US" sz="1100" b="1" dirty="0">
                <a:solidFill>
                  <a:srgbClr val="00B8A9"/>
                </a:solidFill>
                <a:latin typeface="Calibri" pitchFamily="34" charset="0"/>
                <a:ea typeface="Calibri" pitchFamily="34" charset="-122"/>
                <a:cs typeface="Calibri" pitchFamily="34" charset="-120"/>
              </a:rPr>
              <a:t>NEXT LECTURE</a:t>
            </a:r>
            <a:endParaRPr lang="en-US" sz="1100" dirty="0"/>
          </a:p>
        </p:txBody>
      </p:sp>
      <p:sp>
        <p:nvSpPr>
          <p:cNvPr id="7" name="Text 5"/>
          <p:cNvSpPr/>
          <p:nvPr/>
        </p:nvSpPr>
        <p:spPr>
          <a:xfrm>
            <a:off x="822960" y="5422392"/>
            <a:ext cx="10058400" cy="54864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Lecture 7 — Enterprise Service Bus (ESB): Architecture, Patterns, and Routing</a:t>
            </a:r>
            <a:endParaRPr lang="en-US" sz="1550" dirty="0"/>
          </a:p>
        </p:txBody>
      </p:sp>
      <p:sp>
        <p:nvSpPr>
          <p:cNvPr id="8" name="Text 6"/>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6: SOA vs. Microservices</a:t>
            </a:r>
            <a:endParaRPr lang="en-US" sz="900" dirty="0"/>
          </a:p>
        </p:txBody>
      </p:sp>
      <p:sp>
        <p:nvSpPr>
          <p:cNvPr id="9" name="Text 7"/>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2407</Words>
  <Application>Microsoft Office PowerPoint</Application>
  <PresentationFormat>Widescreen</PresentationFormat>
  <Paragraphs>328</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Abdolraheem Khader</cp:lastModifiedBy>
  <cp:revision>2</cp:revision>
  <dcterms:created xsi:type="dcterms:W3CDTF">2026-07-27T18:34:22Z</dcterms:created>
  <dcterms:modified xsi:type="dcterms:W3CDTF">2026-08-12T09:16:36Z</dcterms:modified>
</cp:coreProperties>
</file>