
<file path=[Content_Types].xml><?xml version="1.0" encoding="utf-8"?>
<Types xmlns="http://schemas.openxmlformats.org/package/2006/content-types"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0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</p:sldIdLst>
  <p:sldSz cx="9144000" cy="6858000" type="screen4x3"/>
  <p:notesSz cx="7315200" cy="9601200"/>
  <p:defaultTextStyle>
    <a:lvl1pPr marL="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panose="02080604020202020204" pitchFamily="34" charset="0"/>
        <a:sym typeface="Arial" panose="02080604020202020204" pitchFamily="34" charset="0"/>
      </a:defRPr>
    </a:lvl1pPr>
    <a:lvl2pPr marL="4572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panose="02080604020202020204" pitchFamily="34" charset="0"/>
        <a:sym typeface="Arial" panose="02080604020202020204" pitchFamily="34" charset="0"/>
      </a:defRPr>
    </a:lvl2pPr>
    <a:lvl3pPr marL="9144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panose="02080604020202020204" pitchFamily="34" charset="0"/>
        <a:sym typeface="Arial" panose="02080604020202020204" pitchFamily="34" charset="0"/>
      </a:defRPr>
    </a:lvl3pPr>
    <a:lvl4pPr marL="13716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panose="02080604020202020204" pitchFamily="34" charset="0"/>
        <a:sym typeface="Arial" panose="02080604020202020204" pitchFamily="34" charset="0"/>
      </a:defRPr>
    </a:lvl4pPr>
    <a:lvl5pPr marL="1828800" indent="0" algn="l" rtl="0" eaLnBrk="0" fontAlgn="base" latinLnBrk="0" hangingPunct="0">
      <a:lnSpc>
        <a:spcPct val="100000"/>
      </a:lnSpc>
      <a:spcBef>
        <a:spcPct val="0"/>
      </a:spcBef>
      <a:spcAft>
        <a:spcPct val="0"/>
      </a:spcAft>
      <a:buFontTx/>
      <a:buNone/>
      <a:defRPr sz="1800" b="0" i="0" u="none" baseline="0">
        <a:solidFill>
          <a:schemeClr val="dk1"/>
        </a:solidFill>
        <a:latin typeface="Arial" panose="02080604020202020204" pitchFamily="34" charset="0"/>
        <a:sym typeface="Arial" panose="02080604020202020204" pitchFamily="34" charset="0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476" y="72"/>
      </p:cViewPr>
      <p:guideLst>
        <p:guide orient="horz" pos="2148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handoutMaster" Target="handoutMasters/handoutMaster1.xml"/><Relationship Id="rId62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3.wmf"/><Relationship Id="rId8" Type="http://schemas.openxmlformats.org/officeDocument/2006/relationships/image" Target="../media/image5.wmf"/><Relationship Id="rId7" Type="http://schemas.openxmlformats.org/officeDocument/2006/relationships/image" Target="../media/image13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2" Type="http://schemas.openxmlformats.org/officeDocument/2006/relationships/image" Target="../media/image16.wmf"/><Relationship Id="rId11" Type="http://schemas.openxmlformats.org/officeDocument/2006/relationships/image" Target="../media/image15.wmf"/><Relationship Id="rId10" Type="http://schemas.openxmlformats.org/officeDocument/2006/relationships/image" Target="../media/image14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  <a:effectLst/>
      </p:bgPr>
    </p:bg>
    <p:spTree>
      <p:nvGrpSpPr>
        <p:cNvPr id="20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611" name="Rectangle 2"/>
          <p:cNvSpPr/>
          <p:nvPr>
            <p:ph type="hdr" sz="quarter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lIns="96661" tIns="48331" rIns="96661" bIns="48331" anchor="t"/>
          <a:p>
            <a:pPr lvl="0" eaLnBrk="1" hangingPunct="1"/>
            <a:endParaRPr lang="en-US" altLang="en-US" sz="1300"/>
          </a:p>
        </p:txBody>
      </p:sp>
      <p:sp>
        <p:nvSpPr>
          <p:cNvPr id="1049612" name="Rectangle 3"/>
          <p:cNvSpPr/>
          <p:nvPr>
            <p:ph type="dt" sz="quarter" idx="1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lIns="96661" tIns="48331" rIns="96661" bIns="48331" anchor="t"/>
          <a:p>
            <a:pPr lvl="0" algn="r" eaLnBrk="1" hangingPunct="1"/>
            <a:endParaRPr lang="en-US" altLang="en-US" sz="1300"/>
          </a:p>
        </p:txBody>
      </p:sp>
      <p:sp>
        <p:nvSpPr>
          <p:cNvPr id="1049613" name="Rectangle 4"/>
          <p:cNvSpPr/>
          <p:nvPr>
            <p:ph type="ftr" sz="quarter" idx="2"/>
          </p:nvPr>
        </p:nvSpPr>
        <p:spPr>
          <a:xfrm>
            <a:off x="0" y="9120188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lIns="96661" tIns="48331" rIns="96661" bIns="48331" anchor="b"/>
          <a:p>
            <a:pPr lvl="0" eaLnBrk="1" hangingPunct="1"/>
            <a:endParaRPr lang="en-US" altLang="en-US" sz="1300"/>
          </a:p>
        </p:txBody>
      </p:sp>
      <p:sp>
        <p:nvSpPr>
          <p:cNvPr id="1049614" name="Rectangle 5"/>
          <p:cNvSpPr/>
          <p:nvPr>
            <p:ph type="sldNum" sz="quarter" idx="3"/>
          </p:nvPr>
        </p:nvSpPr>
        <p:spPr>
          <a:xfrm>
            <a:off x="4143375" y="9120188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lIns="96661" tIns="48331" rIns="96661" bIns="48331" anchor="b"/>
          <a:p>
            <a:pPr lvl="0" algn="r" eaLnBrk="1" hangingPunct="1"/>
            <a:fld id="{566ABCEB-ACFC-4714-9973-3DA970169C29}" type="slidenum">
              <a:rPr lang="en-US" altLang="en-US" sz="1300"/>
            </a:fld>
            <a:endParaRPr lang="en-US" altLang="en-US" sz="1300"/>
          </a:p>
        </p:txBody>
      </p:sp>
    </p:spTree>
  </p:cSld>
  <p:clrMap bg1="dk1" tx1="dk1" bg2="dk1" tx2="dk1" accent1="dk1" accent2="dk1" accent3="dk1" accent4="dk1" accent5="dk1" accent6="dk1" hlink="dk1" folHlink="dk1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9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605" name="Rectangle 2"/>
          <p:cNvSpPr/>
          <p:nvPr>
            <p:ph type="hdr" sz="quarter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lIns="96661" tIns="48331" rIns="96661" bIns="48331" anchor="t"/>
          <a:p>
            <a:pPr lvl="0" eaLnBrk="1" hangingPunct="1"/>
            <a:endParaRPr lang="en-US" altLang="en-US" sz="1300"/>
          </a:p>
        </p:txBody>
      </p:sp>
      <p:sp>
        <p:nvSpPr>
          <p:cNvPr id="1049606" name="Rectangle 3"/>
          <p:cNvSpPr/>
          <p:nvPr>
            <p:ph type="dt" idx="1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lIns="96661" tIns="48331" rIns="96661" bIns="48331" anchor="t"/>
          <a:p>
            <a:pPr lvl="0" algn="r" eaLnBrk="1" hangingPunct="1"/>
            <a:endParaRPr lang="en-US" altLang="en-US" sz="1300"/>
          </a:p>
        </p:txBody>
      </p:sp>
      <p:sp>
        <p:nvSpPr>
          <p:cNvPr id="1049607" name="Rectangle 4"/>
          <p:cNvSpPr/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ctr"/>
          <a:p/>
        </p:txBody>
      </p:sp>
      <p:sp>
        <p:nvSpPr>
          <p:cNvPr id="1049608" name="Rectangle 5"/>
          <p:cNvSpPr/>
          <p:nvPr>
            <p:ph type="body" sz="quarter" idx="3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vert="horz" lIns="96661" tIns="48331" rIns="96661" bIns="48331" anchor="t"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49609" name="Rectangle 6"/>
          <p:cNvSpPr/>
          <p:nvPr>
            <p:ph type="ftr" sz="quarter" idx="4"/>
          </p:nvPr>
        </p:nvSpPr>
        <p:spPr>
          <a:xfrm>
            <a:off x="0" y="9120188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lIns="96661" tIns="48331" rIns="96661" bIns="48331" anchor="b"/>
          <a:p>
            <a:pPr lvl="0" eaLnBrk="1" hangingPunct="1"/>
            <a:endParaRPr lang="en-US" altLang="en-US" sz="1300"/>
          </a:p>
        </p:txBody>
      </p:sp>
      <p:sp>
        <p:nvSpPr>
          <p:cNvPr id="1049610" name="Rectangle 7"/>
          <p:cNvSpPr/>
          <p:nvPr>
            <p:ph type="sldNum" sz="quarter" idx="5"/>
          </p:nvPr>
        </p:nvSpPr>
        <p:spPr>
          <a:xfrm>
            <a:off x="4143375" y="9120188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vert="horz" lIns="96661" tIns="48331" rIns="96661" bIns="48331" anchor="b"/>
          <a:p>
            <a:pPr lvl="0" algn="r" eaLnBrk="1" hangingPunct="1"/>
            <a:fld id="{566ABCEB-ACFC-4714-9973-3DA970169C29}" type="slidenum">
              <a:rPr lang="en-US" altLang="en-US" sz="1300"/>
            </a:fld>
            <a:endParaRPr lang="en-US" altLang="en-US" sz="1300"/>
          </a:p>
        </p:txBody>
      </p:sp>
    </p:spTree>
  </p:cSld>
  <p:clrMap bg1="dk1" tx1="dk1" bg2="dk1" tx2="dk1" accent1="dk1" accent2="dk1" accent3="dk1" accent4="dk1" accent5="dk1" accent6="dk1" hlink="dk1" folHlink="dk1"/>
  <p:notesStyle>
    <a:lvl1pPr marL="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Arial" panose="02080604020202020204" pitchFamily="34" charset="0"/>
        <a:sym typeface="Arial" panose="02080604020202020204" pitchFamily="34" charset="0"/>
      </a:defRPr>
    </a:lvl1pPr>
    <a:lvl2pPr marL="4572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Arial" panose="02080604020202020204" pitchFamily="34" charset="0"/>
        <a:sym typeface="Arial" panose="02080604020202020204" pitchFamily="34" charset="0"/>
      </a:defRPr>
    </a:lvl2pPr>
    <a:lvl3pPr marL="9144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Arial" panose="02080604020202020204" pitchFamily="34" charset="0"/>
        <a:sym typeface="Arial" panose="02080604020202020204" pitchFamily="34" charset="0"/>
      </a:defRPr>
    </a:lvl3pPr>
    <a:lvl4pPr marL="13716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Arial" panose="02080604020202020204" pitchFamily="34" charset="0"/>
        <a:sym typeface="Arial" panose="02080604020202020204" pitchFamily="34" charset="0"/>
      </a:defRPr>
    </a:lvl4pPr>
    <a:lvl5pPr marL="1828800" indent="0" algn="l" rtl="0" eaLnBrk="0" fontAlgn="base" latinLnBrk="0" hangingPunct="0">
      <a:lnSpc>
        <a:spcPct val="100000"/>
      </a:lnSpc>
      <a:spcBef>
        <a:spcPct val="30000"/>
      </a:spcBef>
      <a:spcAft>
        <a:spcPct val="0"/>
      </a:spcAft>
      <a:buFontTx/>
      <a:buNone/>
      <a:defRPr sz="1200" b="0" i="0" u="none" baseline="0">
        <a:solidFill>
          <a:schemeClr val="dk1"/>
        </a:solidFill>
        <a:latin typeface="Arial" panose="02080604020202020204" pitchFamily="34" charset="0"/>
        <a:sym typeface="Arial" panose="02080604020202020204" pitchFamily="34" charset="0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  <a:effectLst/>
      </p:bgPr>
    </p:bg>
    <p:spTree>
      <p:nvGrpSpPr>
        <p:cNvPr id="2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5" name="Line 7"/>
          <p:cNvSpPr/>
          <p:nvPr/>
        </p:nvSpPr>
        <p:spPr>
          <a:xfrm>
            <a:off x="1219200" y="1600200"/>
            <a:ext cx="0" cy="1371600"/>
          </a:xfrm>
          <a:prstGeom prst="line">
            <a:avLst/>
          </a:prstGeom>
          <a:noFill/>
          <a:ln w="34925" cap="flat" cmpd="sng">
            <a:solidFill>
              <a:schemeClr val="lt2">
                <a:alpha val="100000"/>
              </a:schemeClr>
            </a:solidFill>
            <a:prstDash val="solid"/>
            <a:round/>
          </a:ln>
        </p:spPr>
      </p:sp>
      <p:sp>
        <p:nvSpPr>
          <p:cNvPr id="1048586" name="Oval 8"/>
          <p:cNvSpPr/>
          <p:nvPr/>
        </p:nvSpPr>
        <p:spPr>
          <a:xfrm>
            <a:off x="163512" y="2103437"/>
            <a:ext cx="246062" cy="24606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vert="horz" wrap="none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ctr" eaLnBrk="1" hangingPunct="1"/>
            <a:endParaRPr lang="en-US" altLang="en-US" sz="2400">
              <a:latin typeface="Times New Roman" panose="02020603050405020304" charset="0"/>
            </a:endParaRPr>
          </a:p>
        </p:txBody>
      </p:sp>
      <p:sp>
        <p:nvSpPr>
          <p:cNvPr id="1048587" name="Oval 9"/>
          <p:cNvSpPr/>
          <p:nvPr/>
        </p:nvSpPr>
        <p:spPr>
          <a:xfrm>
            <a:off x="457200" y="2105025"/>
            <a:ext cx="246062" cy="2444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none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ctr" eaLnBrk="1" hangingPunct="1"/>
            <a:endParaRPr lang="en-US" altLang="en-US" sz="2400">
              <a:latin typeface="Times New Roman" panose="02020603050405020304" charset="0"/>
            </a:endParaRPr>
          </a:p>
        </p:txBody>
      </p:sp>
      <p:sp>
        <p:nvSpPr>
          <p:cNvPr id="1048588" name="Oval 10"/>
          <p:cNvSpPr/>
          <p:nvPr/>
        </p:nvSpPr>
        <p:spPr>
          <a:xfrm>
            <a:off x="744537" y="2105025"/>
            <a:ext cx="246062" cy="2460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none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ctr" eaLnBrk="1" hangingPunct="1"/>
            <a:endParaRPr lang="en-US" altLang="en-US" sz="2400">
              <a:latin typeface="Times New Roman" panose="02020603050405020304" charset="0"/>
            </a:endParaRPr>
          </a:p>
        </p:txBody>
      </p:sp>
      <p:sp>
        <p:nvSpPr>
          <p:cNvPr id="1048591" name="Rectangle 4"/>
          <p:cNvSpPr/>
          <p:nvPr>
            <p:ph type="dt" sz="half" idx="2"/>
          </p:nvPr>
        </p:nvSpPr>
        <p:spPr>
          <a:xfrm>
            <a:off x="7086600" y="62484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r" eaLnBrk="1" hangingPunct="1"/>
            <a:fld id="{566ABCEB-ACFC-4714-9973-3DA970169C29}" type="datetime1">
              <a:rPr lang="en-US" altLang="en-US" sz="1000"/>
            </a:fld>
            <a:endParaRPr lang="en-US" altLang="en-US" sz="1000"/>
          </a:p>
        </p:txBody>
      </p:sp>
      <p:sp>
        <p:nvSpPr>
          <p:cNvPr id="1048592" name="Rectangle 5"/>
          <p:cNvSpPr/>
          <p:nvPr>
            <p:ph type="ftr" sz="quarter" idx="3"/>
          </p:nvPr>
        </p:nvSpPr>
        <p:spPr>
          <a:xfrm>
            <a:off x="3810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ctr" eaLnBrk="1" hangingPunct="1"/>
            <a:endParaRPr lang="en-US" altLang="en-US" sz="1000"/>
          </a:p>
        </p:txBody>
      </p:sp>
      <p:sp>
        <p:nvSpPr>
          <p:cNvPr id="1048593" name="Rectangle 6"/>
          <p:cNvSpPr/>
          <p:nvPr>
            <p:ph type="sldNum" sz="quarter" idx="4"/>
          </p:nvPr>
        </p:nvSpPr>
        <p:spPr>
          <a:xfrm>
            <a:off x="2209800" y="6248400"/>
            <a:ext cx="12192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fld id="{566ABCEB-ACFC-4714-9973-3DA970169C29}" type="slidenum">
              <a:rPr lang="en-US" altLang="en-US" sz="1400"/>
            </a:fld>
            <a:endParaRPr lang="en-US" altLang="en-US" sz="1400"/>
          </a:p>
        </p:txBody>
      </p:sp>
      <p:sp>
        <p:nvSpPr>
          <p:cNvPr id="10485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4038600"/>
            <a:ext cx="6477000" cy="1447800"/>
          </a:xfrm>
        </p:spPr>
        <p:txBody>
          <a:bodyPr/>
          <a:lstStyle>
            <a:lvl1pPr marL="0" indent="0">
              <a:buFont typeface="Arial" panose="02080604020202020204" pitchFamily="34" charset="0"/>
              <a:buNone/>
            </a:lvl1pPr>
          </a:lstStyle>
          <a:p>
            <a:pPr lvl="0"/>
            <a:r>
              <a:rPr lang="en-US" altLang="en-US" noProof="0"/>
              <a:t>Click to edit Master subtitle style</a:t>
            </a:r>
            <a:endParaRPr lang="en-US" altLang="en-US" noProof="0"/>
          </a:p>
        </p:txBody>
      </p:sp>
      <p:sp>
        <p:nvSpPr>
          <p:cNvPr id="10485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71600" y="1447800"/>
            <a:ext cx="7391400" cy="1752600"/>
          </a:xfrm>
        </p:spPr>
        <p:txBody>
          <a:bodyPr/>
          <a:lstStyle>
            <a:lvl1pPr>
              <a:defRPr sz="4600"/>
            </a:lvl1pPr>
          </a:lstStyle>
          <a:p>
            <a:pPr lvl="0"/>
            <a:r>
              <a:rPr lang="en-US" altLang="en-US" noProof="0"/>
              <a:t>Click to edit Master title style</a:t>
            </a:r>
            <a:endParaRPr lang="en-US" altLang="en-US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579" name="Rectangle 4"/>
          <p:cNvSpPr/>
          <p:nvPr>
            <p:ph type="dt" sz="half" idx="2"/>
          </p:nvPr>
        </p:nvSpPr>
        <p:spPr>
          <a:xfrm>
            <a:off x="304800" y="6553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100"/>
            </a:fld>
            <a:endParaRPr lang="en-US" altLang="en-US" sz="1100"/>
          </a:p>
        </p:txBody>
      </p:sp>
      <p:sp>
        <p:nvSpPr>
          <p:cNvPr id="1048576" name="Rectangle 5"/>
          <p:cNvSpPr/>
          <p:nvPr>
            <p:ph type="ftr" sz="quarter" idx="3"/>
          </p:nvPr>
        </p:nvSpPr>
        <p:spPr>
          <a:xfrm>
            <a:off x="304800" y="6553200"/>
            <a:ext cx="85344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ctr" eaLnBrk="1" hangingPunct="1"/>
            <a:endParaRPr lang="en-US" altLang="en-US" sz="11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87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588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048579" name="Rectangle 4"/>
          <p:cNvSpPr/>
          <p:nvPr>
            <p:ph type="dt" sz="half" idx="2"/>
          </p:nvPr>
        </p:nvSpPr>
        <p:spPr>
          <a:xfrm>
            <a:off x="304800" y="6553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100"/>
            </a:fld>
            <a:endParaRPr lang="en-US" altLang="en-US" sz="1100"/>
          </a:p>
        </p:txBody>
      </p:sp>
      <p:sp>
        <p:nvSpPr>
          <p:cNvPr id="1048576" name="Rectangle 5"/>
          <p:cNvSpPr/>
          <p:nvPr>
            <p:ph type="ftr" sz="quarter" idx="3"/>
          </p:nvPr>
        </p:nvSpPr>
        <p:spPr>
          <a:xfrm>
            <a:off x="304800" y="6553200"/>
            <a:ext cx="85344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ctr" eaLnBrk="1" hangingPunct="1"/>
            <a:endParaRPr lang="en-US" altLang="en-US" sz="11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900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4191000" cy="5486400"/>
          </a:xfrm>
        </p:spPr>
        <p:txBody>
          <a:bodyPr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90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191000" cy="5486400"/>
          </a:xfrm>
        </p:spPr>
        <p:txBody>
          <a:bodyPr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579" name="Rectangle 4"/>
          <p:cNvSpPr/>
          <p:nvPr>
            <p:ph type="dt" sz="half" idx="12"/>
          </p:nvPr>
        </p:nvSpPr>
        <p:spPr>
          <a:xfrm>
            <a:off x="304800" y="6553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100"/>
            </a:fld>
            <a:endParaRPr lang="en-US" altLang="en-US" sz="1100"/>
          </a:p>
        </p:txBody>
      </p:sp>
      <p:sp>
        <p:nvSpPr>
          <p:cNvPr id="1048576" name="Rectangle 5"/>
          <p:cNvSpPr/>
          <p:nvPr>
            <p:ph type="ftr" sz="quarter" idx="3"/>
          </p:nvPr>
        </p:nvSpPr>
        <p:spPr>
          <a:xfrm>
            <a:off x="304800" y="6553200"/>
            <a:ext cx="85344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ctr" eaLnBrk="1" hangingPunct="1"/>
            <a:endParaRPr lang="en-US" altLang="en-US" sz="11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89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590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049591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59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049593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579" name="Rectangle 4"/>
          <p:cNvSpPr/>
          <p:nvPr>
            <p:ph type="dt" sz="half" idx="12"/>
          </p:nvPr>
        </p:nvSpPr>
        <p:spPr>
          <a:xfrm>
            <a:off x="304800" y="6553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100"/>
            </a:fld>
            <a:endParaRPr lang="en-US" altLang="en-US" sz="1100"/>
          </a:p>
        </p:txBody>
      </p:sp>
      <p:sp>
        <p:nvSpPr>
          <p:cNvPr id="1048576" name="Rectangle 5"/>
          <p:cNvSpPr/>
          <p:nvPr>
            <p:ph type="ftr" sz="quarter" idx="13"/>
          </p:nvPr>
        </p:nvSpPr>
        <p:spPr>
          <a:xfrm>
            <a:off x="304800" y="6553200"/>
            <a:ext cx="85344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ctr" eaLnBrk="1" hangingPunct="1"/>
            <a:endParaRPr lang="en-US" altLang="en-US" sz="11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579" name="Rectangle 4"/>
          <p:cNvSpPr/>
          <p:nvPr>
            <p:ph type="dt" sz="half" idx="2"/>
          </p:nvPr>
        </p:nvSpPr>
        <p:spPr>
          <a:xfrm>
            <a:off x="304800" y="6553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100"/>
            </a:fld>
            <a:endParaRPr lang="en-US" altLang="en-US" sz="1100"/>
          </a:p>
        </p:txBody>
      </p:sp>
      <p:sp>
        <p:nvSpPr>
          <p:cNvPr id="1048576" name="Rectangle 5"/>
          <p:cNvSpPr/>
          <p:nvPr>
            <p:ph type="ftr" sz="quarter" idx="3"/>
          </p:nvPr>
        </p:nvSpPr>
        <p:spPr>
          <a:xfrm>
            <a:off x="304800" y="6553200"/>
            <a:ext cx="85344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ctr" eaLnBrk="1" hangingPunct="1"/>
            <a:endParaRPr lang="en-US" altLang="en-US" sz="11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Rectangle 4"/>
          <p:cNvSpPr/>
          <p:nvPr>
            <p:ph type="dt" sz="half" idx="2"/>
          </p:nvPr>
        </p:nvSpPr>
        <p:spPr>
          <a:xfrm>
            <a:off x="304800" y="6553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100"/>
            </a:fld>
            <a:endParaRPr lang="en-US" altLang="en-US" sz="1100"/>
          </a:p>
        </p:txBody>
      </p:sp>
      <p:sp>
        <p:nvSpPr>
          <p:cNvPr id="1048576" name="Rectangle 5"/>
          <p:cNvSpPr/>
          <p:nvPr>
            <p:ph type="ftr" sz="quarter" idx="3"/>
          </p:nvPr>
        </p:nvSpPr>
        <p:spPr>
          <a:xfrm>
            <a:off x="304800" y="6553200"/>
            <a:ext cx="85344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ctr" eaLnBrk="1" hangingPunct="1"/>
            <a:endParaRPr lang="en-US" altLang="en-US" sz="11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95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596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597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048579" name="Rectangle 4"/>
          <p:cNvSpPr/>
          <p:nvPr>
            <p:ph type="dt" sz="half" idx="12"/>
          </p:nvPr>
        </p:nvSpPr>
        <p:spPr>
          <a:xfrm>
            <a:off x="304800" y="6553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100"/>
            </a:fld>
            <a:endParaRPr lang="en-US" altLang="en-US" sz="1100"/>
          </a:p>
        </p:txBody>
      </p:sp>
      <p:sp>
        <p:nvSpPr>
          <p:cNvPr id="1048576" name="Rectangle 5"/>
          <p:cNvSpPr/>
          <p:nvPr>
            <p:ph type="ftr" sz="quarter" idx="3"/>
          </p:nvPr>
        </p:nvSpPr>
        <p:spPr>
          <a:xfrm>
            <a:off x="304800" y="6553200"/>
            <a:ext cx="85344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ctr" eaLnBrk="1" hangingPunct="1"/>
            <a:endParaRPr lang="en-US" altLang="en-US" sz="11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98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599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Arial" panose="02080604020202020204" pitchFamily="34" charset="0"/>
              <a:buNone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9600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048579" name="Rectangle 4"/>
          <p:cNvSpPr/>
          <p:nvPr>
            <p:ph type="dt" sz="half" idx="12"/>
          </p:nvPr>
        </p:nvSpPr>
        <p:spPr>
          <a:xfrm>
            <a:off x="304800" y="6553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100"/>
            </a:fld>
            <a:endParaRPr lang="en-US" altLang="en-US" sz="1100"/>
          </a:p>
        </p:txBody>
      </p:sp>
      <p:sp>
        <p:nvSpPr>
          <p:cNvPr id="1048576" name="Rectangle 5"/>
          <p:cNvSpPr/>
          <p:nvPr>
            <p:ph type="ftr" sz="quarter" idx="3"/>
          </p:nvPr>
        </p:nvSpPr>
        <p:spPr>
          <a:xfrm>
            <a:off x="304800" y="6553200"/>
            <a:ext cx="85344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ctr" eaLnBrk="1" hangingPunct="1"/>
            <a:endParaRPr lang="en-US" altLang="en-US" sz="11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60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579" name="Rectangle 4"/>
          <p:cNvSpPr/>
          <p:nvPr>
            <p:ph type="dt" sz="half" idx="2"/>
          </p:nvPr>
        </p:nvSpPr>
        <p:spPr>
          <a:xfrm>
            <a:off x="304800" y="6553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100"/>
            </a:fld>
            <a:endParaRPr lang="en-US" altLang="en-US" sz="1100"/>
          </a:p>
        </p:txBody>
      </p:sp>
      <p:sp>
        <p:nvSpPr>
          <p:cNvPr id="1048576" name="Rectangle 5"/>
          <p:cNvSpPr/>
          <p:nvPr>
            <p:ph type="ftr" sz="quarter" idx="3"/>
          </p:nvPr>
        </p:nvSpPr>
        <p:spPr>
          <a:xfrm>
            <a:off x="304800" y="6553200"/>
            <a:ext cx="85344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ctr" eaLnBrk="1" hangingPunct="1"/>
            <a:endParaRPr lang="en-US" altLang="en-US" sz="11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3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76200"/>
            <a:ext cx="2133600" cy="6477000"/>
          </a:xfrm>
        </p:spPr>
        <p:txBody>
          <a:bodyPr vert="eaVert"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960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76200"/>
            <a:ext cx="6248400" cy="6477000"/>
          </a:xfrm>
        </p:spPr>
        <p:txBody>
          <a:bodyPr vert="eaVert"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579" name="Rectangle 4"/>
          <p:cNvSpPr/>
          <p:nvPr>
            <p:ph type="dt" sz="half" idx="2"/>
          </p:nvPr>
        </p:nvSpPr>
        <p:spPr>
          <a:xfrm>
            <a:off x="304800" y="6553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100"/>
            </a:fld>
            <a:endParaRPr lang="en-US" altLang="en-US" sz="1100"/>
          </a:p>
        </p:txBody>
      </p:sp>
      <p:sp>
        <p:nvSpPr>
          <p:cNvPr id="1048576" name="Rectangle 5"/>
          <p:cNvSpPr/>
          <p:nvPr>
            <p:ph type="ftr" sz="quarter" idx="3"/>
          </p:nvPr>
        </p:nvSpPr>
        <p:spPr>
          <a:xfrm>
            <a:off x="304800" y="6553200"/>
            <a:ext cx="85344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ctr" eaLnBrk="1" hangingPunct="1"/>
            <a:endParaRPr lang="en-US" altLang="en-US" sz="11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  <a:effectLst/>
      </p:bgPr>
    </p:bg>
    <p:spTree>
      <p:nvGrpSpPr>
        <p:cNvPr id="2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76" name="Rectangle 5"/>
          <p:cNvSpPr/>
          <p:nvPr>
            <p:ph type="ftr" sz="quarter" idx="3"/>
          </p:nvPr>
        </p:nvSpPr>
        <p:spPr>
          <a:xfrm>
            <a:off x="304800" y="6553200"/>
            <a:ext cx="85344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ctr" eaLnBrk="1" hangingPunct="1"/>
            <a:endParaRPr lang="en-US" altLang="en-US" sz="1100"/>
          </a:p>
        </p:txBody>
      </p:sp>
      <p:sp>
        <p:nvSpPr>
          <p:cNvPr id="1048577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48578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48579" name="Rectangle 4"/>
          <p:cNvSpPr/>
          <p:nvPr>
            <p:ph type="dt" sz="half" idx="2"/>
          </p:nvPr>
        </p:nvSpPr>
        <p:spPr>
          <a:xfrm>
            <a:off x="304800" y="6553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fld id="{566ABCEB-ACFC-4714-9973-3DA970169C29}" type="datetime1">
              <a:rPr lang="en-US" altLang="en-US" sz="1100"/>
            </a:fld>
            <a:endParaRPr lang="en-US" altLang="en-US" sz="1100"/>
          </a:p>
        </p:txBody>
      </p:sp>
      <p:sp>
        <p:nvSpPr>
          <p:cNvPr id="1048580" name="Line 7"/>
          <p:cNvSpPr/>
          <p:nvPr/>
        </p:nvSpPr>
        <p:spPr>
          <a:xfrm flipV="1">
            <a:off x="838200" y="76200"/>
            <a:ext cx="0" cy="685800"/>
          </a:xfrm>
          <a:prstGeom prst="line">
            <a:avLst/>
          </a:prstGeom>
          <a:noFill/>
          <a:ln w="38100" cap="flat" cmpd="sng">
            <a:solidFill>
              <a:schemeClr val="lt2">
                <a:alpha val="100000"/>
              </a:schemeClr>
            </a:solidFill>
            <a:prstDash val="solid"/>
            <a:round/>
          </a:ln>
        </p:spPr>
      </p:sp>
      <p:sp>
        <p:nvSpPr>
          <p:cNvPr id="1048581" name="Oval 8"/>
          <p:cNvSpPr/>
          <p:nvPr/>
        </p:nvSpPr>
        <p:spPr>
          <a:xfrm>
            <a:off x="152400" y="304800"/>
            <a:ext cx="165100" cy="165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vert="horz" wrap="none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ctr" eaLnBrk="1" hangingPunct="1"/>
            <a:endParaRPr lang="en-US" altLang="en-US" sz="2400">
              <a:latin typeface="Times New Roman" panose="02020603050405020304" charset="0"/>
            </a:endParaRPr>
          </a:p>
        </p:txBody>
      </p:sp>
      <p:sp>
        <p:nvSpPr>
          <p:cNvPr id="1048582" name="Oval 9"/>
          <p:cNvSpPr/>
          <p:nvPr/>
        </p:nvSpPr>
        <p:spPr>
          <a:xfrm>
            <a:off x="368300" y="304800"/>
            <a:ext cx="165100" cy="165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none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ctr" eaLnBrk="1" hangingPunct="1"/>
            <a:endParaRPr lang="en-US" altLang="en-US" sz="2400">
              <a:latin typeface="Times New Roman" panose="02020603050405020304" charset="0"/>
            </a:endParaRPr>
          </a:p>
        </p:txBody>
      </p:sp>
      <p:sp>
        <p:nvSpPr>
          <p:cNvPr id="1048583" name="Oval 10"/>
          <p:cNvSpPr/>
          <p:nvPr/>
        </p:nvSpPr>
        <p:spPr>
          <a:xfrm>
            <a:off x="596900" y="304800"/>
            <a:ext cx="165100" cy="165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none" lIns="91440" tIns="45720" rIns="91440" bIns="45720" anchor="ctr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ctr" eaLnBrk="1" hangingPunct="1"/>
            <a:endParaRPr lang="en-US" altLang="en-US" sz="2400">
              <a:latin typeface="Times New Roman" panose="02020603050405020304" charset="0"/>
            </a:endParaRPr>
          </a:p>
        </p:txBody>
      </p:sp>
      <p:sp>
        <p:nvSpPr>
          <p:cNvPr id="1048584" name="Rectangle 11"/>
          <p:cNvSpPr/>
          <p:nvPr/>
        </p:nvSpPr>
        <p:spPr>
          <a:xfrm>
            <a:off x="6781800" y="6553200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4572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9144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3716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1828800" indent="0" algn="l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baseline="0">
                <a:solidFill>
                  <a:schemeClr val="dk1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algn="r" eaLnBrk="1" hangingPunct="1"/>
            <a:r>
              <a:rPr lang="en-US" altLang="en-US" sz="1100"/>
              <a:t>Lect-01.</a:t>
            </a:r>
            <a:fld id="{566ABCEB-ACFC-4714-9973-3DA970169C29}" type="slidenum">
              <a:rPr lang="en-US" altLang="en-US" sz="1100"/>
            </a:fld>
            <a:endParaRPr lang="en-US" altLang="en-US" sz="1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8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8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8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8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8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8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8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8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Font typeface="Arial" panose="02080604020202020204" pitchFamily="34" charset="0"/>
        <a:buChar char="•"/>
        <a:defRPr sz="30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Arial" panose="0208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.png"/><Relationship Id="rId7" Type="http://schemas.openxmlformats.org/officeDocument/2006/relationships/image" Target="../media/image6.png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3.w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Document1.doc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4.bin"/><Relationship Id="rId26" Type="http://schemas.openxmlformats.org/officeDocument/2006/relationships/vmlDrawing" Target="../drawings/vmlDrawing2.vml"/><Relationship Id="rId25" Type="http://schemas.openxmlformats.org/officeDocument/2006/relationships/slideLayout" Target="../slideLayouts/slideLayout2.xml"/><Relationship Id="rId24" Type="http://schemas.openxmlformats.org/officeDocument/2006/relationships/image" Target="../media/image16.wmf"/><Relationship Id="rId23" Type="http://schemas.openxmlformats.org/officeDocument/2006/relationships/oleObject" Target="../embeddings/Document5.doc"/><Relationship Id="rId22" Type="http://schemas.openxmlformats.org/officeDocument/2006/relationships/image" Target="../media/image15.wmf"/><Relationship Id="rId21" Type="http://schemas.openxmlformats.org/officeDocument/2006/relationships/oleObject" Target="../embeddings/Document4.doc"/><Relationship Id="rId20" Type="http://schemas.openxmlformats.org/officeDocument/2006/relationships/image" Target="../media/image14.wmf"/><Relationship Id="rId2" Type="http://schemas.openxmlformats.org/officeDocument/2006/relationships/image" Target="../media/image4.wmf"/><Relationship Id="rId19" Type="http://schemas.openxmlformats.org/officeDocument/2006/relationships/oleObject" Target="../embeddings/Document3.doc"/><Relationship Id="rId18" Type="http://schemas.openxmlformats.org/officeDocument/2006/relationships/image" Target="../media/image3.wmf"/><Relationship Id="rId17" Type="http://schemas.openxmlformats.org/officeDocument/2006/relationships/oleObject" Target="../embeddings/Document2.doc"/><Relationship Id="rId16" Type="http://schemas.openxmlformats.org/officeDocument/2006/relationships/image" Target="../media/image5.wmf"/><Relationship Id="rId15" Type="http://schemas.openxmlformats.org/officeDocument/2006/relationships/oleObject" Target="../embeddings/oleObject10.bin"/><Relationship Id="rId14" Type="http://schemas.openxmlformats.org/officeDocument/2006/relationships/image" Target="../media/image13.wmf"/><Relationship Id="rId13" Type="http://schemas.openxmlformats.org/officeDocument/2006/relationships/oleObject" Target="../embeddings/oleObject9.bin"/><Relationship Id="rId12" Type="http://schemas.openxmlformats.org/officeDocument/2006/relationships/image" Target="../media/image12.wmf"/><Relationship Id="rId11" Type="http://schemas.openxmlformats.org/officeDocument/2006/relationships/oleObject" Target="../embeddings/oleObject8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4.wmf"/><Relationship Id="rId1" Type="http://schemas.openxmlformats.org/officeDocument/2006/relationships/oleObject" Target="../embeddings/oleObject11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2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6" name="Rectangle 2"/>
          <p:cNvSpPr/>
          <p:nvPr>
            <p:ph type="ctrTitle" idx="4294967295"/>
          </p:nvPr>
        </p:nvSpPr>
        <p:spPr>
          <a:xfrm>
            <a:off x="1371600" y="1447800"/>
            <a:ext cx="7391400" cy="17526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algn="l">
              <a:defRPr sz="3600"/>
            </a:lvl1pPr>
          </a:lstStyle>
          <a:p>
            <a:pPr lvl="0" eaLnBrk="1" hangingPunct="1"/>
            <a:br>
              <a:rPr lang="en-US" altLang="en-US" sz="4000"/>
            </a:br>
            <a:r>
              <a:rPr lang="en-US" altLang="en-US" sz="4000"/>
              <a:t>Embedded Computer Systems</a:t>
            </a:r>
            <a:endParaRPr lang="en-US" altLang="en-US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7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Digital System v. Embedded System</a:t>
            </a:r>
            <a:endParaRPr lang="en-US" altLang="en-US"/>
          </a:p>
        </p:txBody>
      </p:sp>
      <p:sp>
        <p:nvSpPr>
          <p:cNvPr id="1048598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 b="1"/>
              <a:t>Digital System</a:t>
            </a:r>
            <a:r>
              <a:rPr lang="en-US" altLang="en-US"/>
              <a:t>: may provide service </a:t>
            </a:r>
            <a:endParaRPr lang="en-US" altLang="en-US"/>
          </a:p>
          <a:p>
            <a:pPr lvl="1" eaLnBrk="1" hangingPunct="1"/>
            <a:r>
              <a:rPr lang="en-US" altLang="en-US"/>
              <a:t>as a self-contained unit (e.g., desktop PC)</a:t>
            </a:r>
            <a:endParaRPr lang="en-US" altLang="en-US"/>
          </a:p>
          <a:p>
            <a:pPr lvl="1" eaLnBrk="1" hangingPunct="1"/>
            <a:r>
              <a:rPr lang="en-US" altLang="en-US"/>
              <a:t>as part of a larger system (e.g., digital control system for manufacturing plant)</a:t>
            </a:r>
            <a:endParaRPr lang="en-US" altLang="en-US"/>
          </a:p>
          <a:p>
            <a:pPr lvl="0" eaLnBrk="1" hangingPunct="1"/>
            <a:r>
              <a:rPr lang="en-US" altLang="en-US" b="1"/>
              <a:t>Embedded System</a:t>
            </a:r>
            <a:r>
              <a:rPr lang="en-US" altLang="en-US"/>
              <a:t>: </a:t>
            </a:r>
            <a:endParaRPr lang="en-US" altLang="en-US"/>
          </a:p>
          <a:p>
            <a:pPr lvl="1" eaLnBrk="1" hangingPunct="1"/>
            <a:r>
              <a:rPr lang="en-US" altLang="en-US"/>
              <a:t>part of a larger unit</a:t>
            </a:r>
            <a:endParaRPr lang="en-US" altLang="en-US"/>
          </a:p>
          <a:p>
            <a:pPr lvl="1" eaLnBrk="1" hangingPunct="1"/>
            <a:r>
              <a:rPr lang="en-US" altLang="en-US"/>
              <a:t>provides dedicated service to that unit</a:t>
            </a:r>
            <a:endParaRPr lang="en-US" altLang="en-US"/>
          </a:p>
        </p:txBody>
      </p:sp>
      <p:sp>
        <p:nvSpPr>
          <p:cNvPr id="1048599" name="Text Box 4"/>
          <p:cNvSpPr txBox="1"/>
          <p:nvPr/>
        </p:nvSpPr>
        <p:spPr>
          <a:xfrm>
            <a:off x="304800" y="5562600"/>
            <a:ext cx="8458200" cy="70167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000">
                <a:solidFill>
                  <a:schemeClr val="dk1"/>
                </a:solidFill>
              </a:rPr>
              <a:t>G. De Micheli and R. Gupta, “Hardware/Software Co-Design,” </a:t>
            </a:r>
            <a:r>
              <a:rPr lang="en-US" altLang="en-US" sz="2000" i="1">
                <a:solidFill>
                  <a:schemeClr val="dk1"/>
                </a:solidFill>
              </a:rPr>
              <a:t>Proceedings of the  IEEE</a:t>
            </a:r>
            <a:r>
              <a:rPr lang="en-US" altLang="en-US" sz="2000">
                <a:solidFill>
                  <a:schemeClr val="dk1"/>
                </a:solidFill>
              </a:rPr>
              <a:t>, 85(3), March 1997,  pp. 349-365</a:t>
            </a:r>
            <a:endParaRPr lang="en-US" altLang="en-US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2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Embedded Systems Overview</a:t>
            </a:r>
            <a:endParaRPr lang="en-US" altLang="en-US"/>
          </a:p>
        </p:txBody>
      </p:sp>
      <p:sp>
        <p:nvSpPr>
          <p:cNvPr id="1048603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 sz="2600"/>
              <a:t>Computing systems are everywhere</a:t>
            </a:r>
            <a:endParaRPr lang="en-US" altLang="en-US" sz="2600"/>
          </a:p>
          <a:p>
            <a:pPr lvl="0" eaLnBrk="1" hangingPunct="1"/>
            <a:r>
              <a:rPr lang="en-US" altLang="en-US" sz="2600"/>
              <a:t>Most of us think of “desktop” computers</a:t>
            </a:r>
            <a:endParaRPr lang="en-US" altLang="en-US" sz="2600"/>
          </a:p>
          <a:p>
            <a:pPr lvl="1" eaLnBrk="1" hangingPunct="1"/>
            <a:r>
              <a:rPr lang="en-US" altLang="en-US" sz="2400"/>
              <a:t>PC’s</a:t>
            </a:r>
            <a:endParaRPr lang="en-US" altLang="en-US" sz="2400"/>
          </a:p>
          <a:p>
            <a:pPr lvl="1" eaLnBrk="1" hangingPunct="1"/>
            <a:r>
              <a:rPr lang="en-US" altLang="en-US" sz="2400"/>
              <a:t>Laptops</a:t>
            </a:r>
            <a:endParaRPr lang="en-US" altLang="en-US" sz="2400"/>
          </a:p>
          <a:p>
            <a:pPr lvl="1" eaLnBrk="1" hangingPunct="1"/>
            <a:r>
              <a:rPr lang="en-US" altLang="en-US" sz="2400"/>
              <a:t>Mainframes</a:t>
            </a:r>
            <a:endParaRPr lang="en-US" altLang="en-US" sz="2400"/>
          </a:p>
          <a:p>
            <a:pPr lvl="1" eaLnBrk="1" hangingPunct="1"/>
            <a:r>
              <a:rPr lang="en-US" altLang="en-US" sz="2400"/>
              <a:t>Servers</a:t>
            </a:r>
            <a:endParaRPr lang="en-US" altLang="en-US" sz="2400"/>
          </a:p>
          <a:p>
            <a:pPr lvl="0" eaLnBrk="1" hangingPunct="1"/>
            <a:r>
              <a:rPr lang="en-US" altLang="en-US" sz="2600"/>
              <a:t>But there’s another type of computing system</a:t>
            </a:r>
            <a:endParaRPr lang="en-US" altLang="en-US" sz="2600"/>
          </a:p>
          <a:p>
            <a:pPr lvl="1" eaLnBrk="1" hangingPunct="1"/>
            <a:r>
              <a:rPr lang="en-US" altLang="en-US" sz="2400"/>
              <a:t>Far more common...</a:t>
            </a:r>
            <a:endParaRPr lang="en-US" altLang="en-US" sz="2400"/>
          </a:p>
          <a:p>
            <a:pPr lvl="0" eaLnBrk="1" hangingPunct="1"/>
            <a:endParaRPr lang="en-US" altLang="en-US" sz="2600"/>
          </a:p>
        </p:txBody>
      </p:sp>
      <p:pic>
        <p:nvPicPr>
          <p:cNvPr id="2097152" name="Picture 4" descr="MacPB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3276600" y="25146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3" name="Picture 5" descr="pc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743200" y="20574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04" name="Text Box 6"/>
          <p:cNvSpPr txBox="1"/>
          <p:nvPr/>
        </p:nvSpPr>
        <p:spPr>
          <a:xfrm>
            <a:off x="381000" y="5410200"/>
            <a:ext cx="7239000" cy="6858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000">
                <a:solidFill>
                  <a:schemeClr val="dk1"/>
                </a:solidFill>
              </a:rPr>
              <a:t>F. Vahid and T. Givargis, </a:t>
            </a:r>
            <a:r>
              <a:rPr lang="en-US" altLang="en-US" sz="2000" i="1">
                <a:solidFill>
                  <a:schemeClr val="dk1"/>
                </a:solidFill>
              </a:rPr>
              <a:t>Embedded System Design: A Unified Hardware/Software Introduction</a:t>
            </a:r>
            <a:r>
              <a:rPr lang="en-US" altLang="en-US" sz="2000">
                <a:solidFill>
                  <a:schemeClr val="dk1"/>
                </a:solidFill>
              </a:rPr>
              <a:t>, John Wiley &amp; Sons, 2002. </a:t>
            </a:r>
            <a:endParaRPr lang="en-US" altLang="en-US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5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Embedded Systems Overview (cont.)</a:t>
            </a:r>
            <a:endParaRPr lang="en-US" altLang="en-US"/>
          </a:p>
        </p:txBody>
      </p:sp>
      <p:sp>
        <p:nvSpPr>
          <p:cNvPr id="1048606" name="Rectangle 3"/>
          <p:cNvSpPr/>
          <p:nvPr>
            <p:ph type="body" idx="1"/>
          </p:nvPr>
        </p:nvSpPr>
        <p:spPr>
          <a:xfrm>
            <a:off x="304800" y="1066800"/>
            <a:ext cx="5973762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 sz="2600"/>
              <a:t>Embedded computing systems</a:t>
            </a:r>
            <a:endParaRPr lang="en-US" altLang="en-US" sz="2600"/>
          </a:p>
          <a:p>
            <a:pPr lvl="1" eaLnBrk="1" hangingPunct="1"/>
            <a:r>
              <a:rPr lang="en-US" altLang="en-US" sz="2400"/>
              <a:t>Computing systems embedded within electronic devices</a:t>
            </a:r>
            <a:endParaRPr lang="en-US" altLang="en-US" sz="2400"/>
          </a:p>
          <a:p>
            <a:pPr lvl="1" eaLnBrk="1" hangingPunct="1"/>
            <a:r>
              <a:rPr lang="en-US" altLang="en-US" sz="2400"/>
              <a:t>Hard to define. Nearly any computing system other than a desktop computer</a:t>
            </a:r>
            <a:endParaRPr lang="en-US" altLang="en-US" sz="2400"/>
          </a:p>
          <a:p>
            <a:pPr lvl="1" eaLnBrk="1" hangingPunct="1"/>
            <a:r>
              <a:rPr lang="en-US" altLang="en-US" sz="2400"/>
              <a:t>Billions of units produced yearly, versus millions of desktop units</a:t>
            </a:r>
            <a:endParaRPr lang="en-US" altLang="en-US" sz="2400"/>
          </a:p>
          <a:p>
            <a:pPr lvl="1" eaLnBrk="1" hangingPunct="1"/>
            <a:r>
              <a:rPr lang="en-US" altLang="en-US" sz="2400"/>
              <a:t>Perhaps 100s per household and per automobile</a:t>
            </a:r>
            <a:endParaRPr lang="en-US" altLang="en-US" sz="2400"/>
          </a:p>
          <a:p>
            <a:pPr lvl="0" eaLnBrk="1" hangingPunct="1"/>
            <a:endParaRPr lang="en-US" altLang="en-US" sz="2600"/>
          </a:p>
        </p:txBody>
      </p:sp>
      <p:graphicFrame>
        <p:nvGraphicFramePr>
          <p:cNvPr id="4194304" name="Object 4194303"/>
          <p:cNvGraphicFramePr/>
          <p:nvPr/>
        </p:nvGraphicFramePr>
        <p:xfrm>
          <a:off x="7848600" y="1905000"/>
          <a:ext cx="8763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" name="Document" showAsIcon="1" r:id="rId1" imgW="876935" imgH="377190" progId="Word.Document.8">
                  <p:embed followColorScheme="full"/>
                </p:oleObj>
              </mc:Choice>
              <mc:Fallback>
                <p:oleObj name="Document" showAsIcon="1" r:id="rId1" imgW="876935" imgH="377190" progId="Word.Document.8">
                  <p:embed followColorScheme="full"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7848600" y="1905000"/>
                        <a:ext cx="8763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4305" name="Object 4194304"/>
          <p:cNvGraphicFramePr/>
          <p:nvPr/>
        </p:nvGraphicFramePr>
        <p:xfrm>
          <a:off x="7924800" y="2362200"/>
          <a:ext cx="7461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Clip" showAsIcon="1" r:id="rId3" imgW="638175" imgH="407670" progId="MS_ClipArt_Gallery.5">
                  <p:embed followColorScheme="full"/>
                </p:oleObj>
              </mc:Choice>
              <mc:Fallback>
                <p:oleObj name="Clip" showAsIcon="1" r:id="rId3" imgW="638175" imgH="407670" progId="MS_ClipArt_Gallery.5">
                  <p:embed followColorScheme="full"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7924800" y="2362200"/>
                        <a:ext cx="7461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4306" name="Object 4194305"/>
          <p:cNvGraphicFramePr/>
          <p:nvPr/>
        </p:nvGraphicFramePr>
        <p:xfrm>
          <a:off x="8001000" y="2895600"/>
          <a:ext cx="5524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Clip" showAsIcon="1" r:id="rId5" imgW="1350645" imgH="1913255" progId="MS_ClipArt_Gallery.5">
                  <p:embed followColorScheme="full"/>
                </p:oleObj>
              </mc:Choice>
              <mc:Fallback>
                <p:oleObj name="Clip" showAsIcon="1" r:id="rId5" imgW="1350645" imgH="1913255" progId="MS_ClipArt_Gallery.5">
                  <p:embed followColorScheme="full"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>
                      <a:xfrm>
                        <a:off x="8001000" y="2895600"/>
                        <a:ext cx="5524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607" name="Text Box 7"/>
          <p:cNvSpPr txBox="1"/>
          <p:nvPr/>
        </p:nvSpPr>
        <p:spPr>
          <a:xfrm>
            <a:off x="6019800" y="1981200"/>
            <a:ext cx="1752600" cy="44704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50000"/>
              </a:spcBef>
              <a:buSzPct val="100000"/>
              <a:buFontTx/>
              <a:buNone/>
            </a:pPr>
            <a:r>
              <a:rPr lang="en-US" altLang="en-US" sz="1200">
                <a:solidFill>
                  <a:schemeClr val="dk1"/>
                </a:solidFill>
                <a:latin typeface="Times New Roman" panose="02020603050405020304" charset="0"/>
              </a:rPr>
              <a:t>Computers are in here...</a:t>
            </a:r>
            <a:endParaRPr lang="en-US" altLang="en-US" sz="1200">
              <a:solidFill>
                <a:schemeClr val="dk1"/>
              </a:solidFill>
              <a:latin typeface="Times New Roman" panose="02020603050405020304" charset="0"/>
            </a:endParaRPr>
          </a:p>
        </p:txBody>
      </p:sp>
      <p:sp>
        <p:nvSpPr>
          <p:cNvPr id="1048608" name="Text Box 8"/>
          <p:cNvSpPr txBox="1"/>
          <p:nvPr/>
        </p:nvSpPr>
        <p:spPr>
          <a:xfrm>
            <a:off x="6019800" y="2438400"/>
            <a:ext cx="17526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50000"/>
              </a:spcBef>
              <a:buSzPct val="100000"/>
              <a:buFontTx/>
              <a:buNone/>
            </a:pPr>
            <a:r>
              <a:rPr lang="en-US" altLang="en-US" sz="1200">
                <a:solidFill>
                  <a:schemeClr val="dk1"/>
                </a:solidFill>
                <a:latin typeface="Times New Roman" panose="02020603050405020304" charset="0"/>
              </a:rPr>
              <a:t>and here...</a:t>
            </a:r>
            <a:endParaRPr lang="en-US" altLang="en-US" sz="1200">
              <a:solidFill>
                <a:schemeClr val="dk1"/>
              </a:solidFill>
              <a:latin typeface="Times New Roman" panose="02020603050405020304" charset="0"/>
            </a:endParaRPr>
          </a:p>
        </p:txBody>
      </p:sp>
      <p:sp>
        <p:nvSpPr>
          <p:cNvPr id="1048609" name="Text Box 9"/>
          <p:cNvSpPr txBox="1"/>
          <p:nvPr/>
        </p:nvSpPr>
        <p:spPr>
          <a:xfrm>
            <a:off x="6019800" y="3048000"/>
            <a:ext cx="1752600" cy="274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50000"/>
              </a:spcBef>
              <a:buSzPct val="100000"/>
              <a:buFontTx/>
              <a:buNone/>
            </a:pPr>
            <a:r>
              <a:rPr lang="en-US" altLang="en-US" sz="1200">
                <a:solidFill>
                  <a:schemeClr val="dk1"/>
                </a:solidFill>
                <a:latin typeface="Times New Roman" panose="02020603050405020304" charset="0"/>
              </a:rPr>
              <a:t>and even here...</a:t>
            </a:r>
            <a:endParaRPr lang="en-US" altLang="en-US" sz="1200">
              <a:solidFill>
                <a:schemeClr val="dk1"/>
              </a:solidFill>
              <a:latin typeface="Times New Roman" panose="02020603050405020304" charset="0"/>
            </a:endParaRPr>
          </a:p>
        </p:txBody>
      </p:sp>
      <p:pic>
        <p:nvPicPr>
          <p:cNvPr id="2097157" name="Picture 10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6553200" y="2362200"/>
            <a:ext cx="3429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8" name="Picture 11" descr="pc"/>
          <p:cNvPicPr/>
          <p:nvPr/>
        </p:nvPicPr>
        <p:blipFill>
          <a:blip r:embed="rId8"/>
          <a:srcRect/>
          <a:stretch>
            <a:fillRect/>
          </a:stretch>
        </p:blipFill>
        <p:spPr>
          <a:xfrm>
            <a:off x="6248400" y="45720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9" name="Picture 12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6858000" y="466725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0" name="Picture 13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7086600" y="46482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1" name="Picture 14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7315200" y="46482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2" name="Picture 15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7543800" y="46482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3" name="Picture 16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7772400" y="46482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4" name="Picture 17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8001000" y="46482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5" name="Picture 18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8229600" y="46482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6" name="Picture 19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8458200" y="46482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7" name="Picture 20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7086600" y="44196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8" name="Picture 21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7315200" y="44196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69" name="Picture 22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7543800" y="44196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0" name="Picture 23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7772400" y="44196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1" name="Picture 24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8001000" y="44196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2" name="Picture 25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8229600" y="44196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3" name="Picture 26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7315200" y="41910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4" name="Picture 27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7543800" y="41910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5" name="Picture 28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7772400" y="41910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6" name="Picture 29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8001000" y="41910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7" name="Picture 30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7543800" y="39624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8" name="Picture 31" descr="ib_chip02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7772400" y="3962400"/>
            <a:ext cx="2286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10" name="Text Box 32"/>
          <p:cNvSpPr txBox="1"/>
          <p:nvPr/>
        </p:nvSpPr>
        <p:spPr>
          <a:xfrm>
            <a:off x="6858000" y="5029200"/>
            <a:ext cx="1752600" cy="6397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50000"/>
              </a:spcBef>
              <a:buSzPct val="100000"/>
              <a:buFontTx/>
              <a:buNone/>
            </a:pPr>
            <a:r>
              <a:rPr lang="en-US" altLang="en-US" sz="1200">
                <a:solidFill>
                  <a:schemeClr val="dk1"/>
                </a:solidFill>
                <a:latin typeface="Times New Roman" panose="02020603050405020304" charset="0"/>
              </a:rPr>
              <a:t>Lots more of these, though they cost a lot less each.</a:t>
            </a:r>
            <a:endParaRPr lang="en-US" altLang="en-US" sz="1200">
              <a:solidFill>
                <a:schemeClr val="dk1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79" name="Picture 2" descr="esd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838200" y="185737"/>
            <a:ext cx="7924800" cy="6367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1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A “Short List” of Embedded Systems</a:t>
            </a:r>
            <a:endParaRPr lang="en-US" altLang="en-US"/>
          </a:p>
        </p:txBody>
      </p:sp>
      <p:sp>
        <p:nvSpPr>
          <p:cNvPr id="1048612" name="Rectangle 3"/>
          <p:cNvSpPr/>
          <p:nvPr>
            <p:ph type="body" idx="1"/>
          </p:nvPr>
        </p:nvSpPr>
        <p:spPr>
          <a:xfrm>
            <a:off x="304800" y="5843587"/>
            <a:ext cx="8534400" cy="70961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>
              <a:lnSpc>
                <a:spcPct val="90000"/>
              </a:lnSpc>
              <a:buNone/>
            </a:pPr>
            <a:r>
              <a:rPr lang="en-US" altLang="en-US"/>
              <a:t>And the list goes on and on</a:t>
            </a:r>
            <a:endParaRPr lang="en-US" altLang="en-US"/>
          </a:p>
        </p:txBody>
      </p:sp>
      <p:sp>
        <p:nvSpPr>
          <p:cNvPr id="1048613" name="Text Box 4"/>
          <p:cNvSpPr txBox="1"/>
          <p:nvPr/>
        </p:nvSpPr>
        <p:spPr>
          <a:xfrm>
            <a:off x="4232275" y="2333625"/>
            <a:ext cx="1584325" cy="6111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000">
              <a:solidFill>
                <a:schemeClr val="dk1"/>
              </a:solidFill>
              <a:latin typeface="Times New Roman" panose="02020603050405020304" charset="0"/>
            </a:endParaRPr>
          </a:p>
        </p:txBody>
      </p:sp>
      <p:sp>
        <p:nvSpPr>
          <p:cNvPr id="1048614" name="Text Box 5"/>
          <p:cNvSpPr txBox="1"/>
          <p:nvPr/>
        </p:nvSpPr>
        <p:spPr>
          <a:xfrm>
            <a:off x="5543550" y="1589087"/>
            <a:ext cx="1381125" cy="5762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000">
              <a:solidFill>
                <a:schemeClr val="dk1"/>
              </a:solidFill>
              <a:latin typeface="Times New Roman" panose="02020603050405020304" charset="0"/>
            </a:endParaRPr>
          </a:p>
        </p:txBody>
      </p:sp>
      <p:sp>
        <p:nvSpPr>
          <p:cNvPr id="1048615" name="Text Box 6"/>
          <p:cNvSpPr txBox="1"/>
          <p:nvPr/>
        </p:nvSpPr>
        <p:spPr>
          <a:xfrm>
            <a:off x="6708775" y="1524000"/>
            <a:ext cx="1063625" cy="7048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000">
              <a:solidFill>
                <a:schemeClr val="dk1"/>
              </a:solidFill>
              <a:latin typeface="Times New Roman" panose="02020603050405020304" charset="0"/>
            </a:endParaRPr>
          </a:p>
        </p:txBody>
      </p:sp>
      <p:sp>
        <p:nvSpPr>
          <p:cNvPr id="1048616" name="Text Box 7"/>
          <p:cNvSpPr txBox="1"/>
          <p:nvPr/>
        </p:nvSpPr>
        <p:spPr>
          <a:xfrm>
            <a:off x="4462462" y="1571625"/>
            <a:ext cx="1144587" cy="6111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000">
              <a:solidFill>
                <a:schemeClr val="dk1"/>
              </a:solidFill>
              <a:latin typeface="Times New Roman" panose="02020603050405020304" charset="0"/>
            </a:endParaRPr>
          </a:p>
        </p:txBody>
      </p:sp>
      <p:sp>
        <p:nvSpPr>
          <p:cNvPr id="1048617" name="Text Box 8"/>
          <p:cNvSpPr txBox="1"/>
          <p:nvPr/>
        </p:nvSpPr>
        <p:spPr>
          <a:xfrm>
            <a:off x="1066800" y="1524000"/>
            <a:ext cx="1833562" cy="381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Anti-lock brakes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Auto-focus cameras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Automatic teller machines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Automatic toll systems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Automatic transmission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Avionic systems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Battery chargers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Camcorders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Cell phones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Cell-phone base stations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Cordless phones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Cruise control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Curbside check-in systems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Digital cameras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Disk drives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Electronic card readers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Electronic instruments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Electronic toys/games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Factory control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Fax machines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Fingerprint identifiers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Home security systems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Life-support systems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Medical testing systems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618" name="Text Box 9"/>
          <p:cNvSpPr txBox="1"/>
          <p:nvPr/>
        </p:nvSpPr>
        <p:spPr>
          <a:xfrm>
            <a:off x="2765425" y="1524000"/>
            <a:ext cx="1833562" cy="37512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Modems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MPEG decoders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Network cards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Network switches/routers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On-board navigation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Pagers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Photocopiers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Point-of-sale systems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Portable video games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Printers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Satellite phones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Scanners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Smart ovens/dishwashers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Speech recognizers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Stereo systems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Teleconferencing systems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Televisions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Temperature controllers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Theft tracking systems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TV set-top boxes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VCR’s, DVD players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Video game consoles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Video phones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Washers and dryers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000">
              <a:latin typeface="Times New Roman" panose="02020603050405020304" charset="0"/>
            </a:endParaRPr>
          </a:p>
        </p:txBody>
      </p:sp>
      <p:graphicFrame>
        <p:nvGraphicFramePr>
          <p:cNvPr id="4194307" name="Object 4194306"/>
          <p:cNvGraphicFramePr/>
          <p:nvPr/>
        </p:nvGraphicFramePr>
        <p:xfrm>
          <a:off x="6867525" y="2430462"/>
          <a:ext cx="7461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" name="Clip" showAsIcon="1" r:id="rId1" imgW="638175" imgH="407670" progId="MS_ClipArt_Gallery.5">
                  <p:embed followColorScheme="full"/>
                </p:oleObj>
              </mc:Choice>
              <mc:Fallback>
                <p:oleObj name="Clip" showAsIcon="1" r:id="rId1" imgW="638175" imgH="407670" progId="MS_ClipArt_Gallery.5">
                  <p:embed followColorScheme="full"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6867525" y="2430462"/>
                        <a:ext cx="7461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4308" name="Object 4194307"/>
          <p:cNvGraphicFramePr/>
          <p:nvPr/>
        </p:nvGraphicFramePr>
        <p:xfrm>
          <a:off x="5832475" y="3851275"/>
          <a:ext cx="80486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Clip" showAsIcon="1" r:id="rId3" imgW="1762125" imgH="1784985" progId="MS_ClipArt_Gallery.5">
                  <p:embed followColorScheme="full"/>
                </p:oleObj>
              </mc:Choice>
              <mc:Fallback>
                <p:oleObj name="Clip" showAsIcon="1" r:id="rId3" imgW="1762125" imgH="1784985" progId="MS_ClipArt_Gallery.5">
                  <p:embed followColorScheme="full"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5832475" y="3851275"/>
                        <a:ext cx="804862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4309" name="Object 4194308"/>
          <p:cNvGraphicFramePr/>
          <p:nvPr/>
        </p:nvGraphicFramePr>
        <p:xfrm>
          <a:off x="6923087" y="3008312"/>
          <a:ext cx="6350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Clip" showAsIcon="1" r:id="rId5" imgW="842010" imgH="902335" progId="MS_ClipArt_Gallery.5">
                  <p:embed followColorScheme="full"/>
                </p:oleObj>
              </mc:Choice>
              <mc:Fallback>
                <p:oleObj name="Clip" showAsIcon="1" r:id="rId5" imgW="842010" imgH="902335" progId="MS_ClipArt_Gallery.5">
                  <p:embed followColorScheme="full"/>
                  <p:pic>
                    <p:nvPicPr>
                      <p:cNvPr id="0" name="Object 12"/>
                      <p:cNvPicPr/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>
                      <a:xfrm>
                        <a:off x="6923087" y="3008312"/>
                        <a:ext cx="635000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4310" name="Object 4194309"/>
          <p:cNvGraphicFramePr/>
          <p:nvPr/>
        </p:nvGraphicFramePr>
        <p:xfrm>
          <a:off x="5940425" y="3008312"/>
          <a:ext cx="59055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Clip" showAsIcon="1" r:id="rId7" imgW="220345" imgH="252095" progId="MS_ClipArt_Gallery.5">
                  <p:embed followColorScheme="full"/>
                </p:oleObj>
              </mc:Choice>
              <mc:Fallback>
                <p:oleObj name="Clip" showAsIcon="1" r:id="rId7" imgW="220345" imgH="252095" progId="MS_ClipArt_Gallery.5">
                  <p:embed followColorScheme="full"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>
                      <a:xfrm>
                        <a:off x="5940425" y="3008312"/>
                        <a:ext cx="590550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4311" name="Object 4194310"/>
          <p:cNvGraphicFramePr/>
          <p:nvPr/>
        </p:nvGraphicFramePr>
        <p:xfrm>
          <a:off x="4491037" y="3883025"/>
          <a:ext cx="108743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Clip" showAsIcon="1" r:id="rId9" imgW="929640" imgH="635000" progId="MS_ClipArt_Gallery.5">
                  <p:embed followColorScheme="full"/>
                </p:oleObj>
              </mc:Choice>
              <mc:Fallback>
                <p:oleObj name="Clip" showAsIcon="1" r:id="rId9" imgW="929640" imgH="635000" progId="MS_ClipArt_Gallery.5">
                  <p:embed followColorScheme="full"/>
                  <p:pic>
                    <p:nvPicPr>
                      <p:cNvPr id="0" name="Object 14"/>
                      <p:cNvPicPr/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>
                      <a:xfrm>
                        <a:off x="4491037" y="3883025"/>
                        <a:ext cx="1087437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4312" name="Object 4194311"/>
          <p:cNvGraphicFramePr/>
          <p:nvPr/>
        </p:nvGraphicFramePr>
        <p:xfrm>
          <a:off x="5794375" y="2460625"/>
          <a:ext cx="88265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Clip" showAsIcon="1" r:id="rId11" imgW="1791335" imgH="828675" progId="MS_ClipArt_Gallery.5">
                  <p:embed followColorScheme="full"/>
                </p:oleObj>
              </mc:Choice>
              <mc:Fallback>
                <p:oleObj name="Clip" showAsIcon="1" r:id="rId11" imgW="1791335" imgH="828675" progId="MS_ClipArt_Gallery.5">
                  <p:embed followColorScheme="full"/>
                  <p:pic>
                    <p:nvPicPr>
                      <p:cNvPr id="0" name="Object 15"/>
                      <p:cNvPicPr/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>
                      <a:xfrm>
                        <a:off x="5794375" y="2460625"/>
                        <a:ext cx="88265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4313" name="Object 4194312"/>
          <p:cNvGraphicFramePr/>
          <p:nvPr/>
        </p:nvGraphicFramePr>
        <p:xfrm>
          <a:off x="4592637" y="3017837"/>
          <a:ext cx="88423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Clip" showAsIcon="1" r:id="rId13" imgW="1795780" imgH="1335405" progId="MS_ClipArt_Gallery.5">
                  <p:embed followColorScheme="full"/>
                </p:oleObj>
              </mc:Choice>
              <mc:Fallback>
                <p:oleObj name="Clip" showAsIcon="1" r:id="rId13" imgW="1795780" imgH="1335405" progId="MS_ClipArt_Gallery.5">
                  <p:embed followColorScheme="full"/>
                  <p:pic>
                    <p:nvPicPr>
                      <p:cNvPr id="0" name="Object 16"/>
                      <p:cNvPicPr/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>
                      <a:xfrm>
                        <a:off x="4592637" y="3017837"/>
                        <a:ext cx="88423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4314" name="Object 4194313"/>
          <p:cNvGraphicFramePr/>
          <p:nvPr/>
        </p:nvGraphicFramePr>
        <p:xfrm>
          <a:off x="6880225" y="3762375"/>
          <a:ext cx="719137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Clip" showAsIcon="1" r:id="rId15" imgW="1350645" imgH="1913255" progId="MS_ClipArt_Gallery.5">
                  <p:embed followColorScheme="full"/>
                </p:oleObj>
              </mc:Choice>
              <mc:Fallback>
                <p:oleObj name="Clip" showAsIcon="1" r:id="rId15" imgW="1350645" imgH="1913255" progId="MS_ClipArt_Gallery.5">
                  <p:embed followColorScheme="full"/>
                  <p:pic>
                    <p:nvPicPr>
                      <p:cNvPr id="0" name="Object 17"/>
                      <p:cNvPicPr/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>
                      <a:xfrm>
                        <a:off x="6880225" y="3762375"/>
                        <a:ext cx="719137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4315" name="Object 4194314"/>
          <p:cNvGraphicFramePr/>
          <p:nvPr/>
        </p:nvGraphicFramePr>
        <p:xfrm>
          <a:off x="4572000" y="2362200"/>
          <a:ext cx="8763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Document" showAsIcon="1" r:id="rId17" imgW="876935" imgH="377190" progId="Word.Document.8">
                  <p:embed followColorScheme="full"/>
                </p:oleObj>
              </mc:Choice>
              <mc:Fallback>
                <p:oleObj name="Document" showAsIcon="1" r:id="rId17" imgW="876935" imgH="377190" progId="Word.Document.8">
                  <p:embed followColorScheme="full"/>
                  <p:pic>
                    <p:nvPicPr>
                      <p:cNvPr id="0" name="Object 18"/>
                      <p:cNvPicPr/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>
                      <a:xfrm>
                        <a:off x="4572000" y="2362200"/>
                        <a:ext cx="8763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4316" name="Object 4194315"/>
          <p:cNvGraphicFramePr/>
          <p:nvPr/>
        </p:nvGraphicFramePr>
        <p:xfrm>
          <a:off x="4724400" y="1600200"/>
          <a:ext cx="579437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Document" showAsIcon="1" r:id="rId19" imgW="581025" imgH="378460" progId="Word.Document.8">
                  <p:embed followColorScheme="full"/>
                </p:oleObj>
              </mc:Choice>
              <mc:Fallback>
                <p:oleObj name="Document" showAsIcon="1" r:id="rId19" imgW="581025" imgH="378460" progId="Word.Document.8">
                  <p:embed followColorScheme="full"/>
                  <p:pic>
                    <p:nvPicPr>
                      <p:cNvPr id="0" name="Object 19"/>
                      <p:cNvPicPr/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>
                      <a:xfrm>
                        <a:off x="4724400" y="1600200"/>
                        <a:ext cx="579437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4317" name="Object 4194316"/>
          <p:cNvGraphicFramePr/>
          <p:nvPr/>
        </p:nvGraphicFramePr>
        <p:xfrm>
          <a:off x="5867400" y="1600200"/>
          <a:ext cx="73977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Document" showAsIcon="1" r:id="rId21" imgW="739140" imgH="349885" progId="Word.Document.8">
                  <p:embed followColorScheme="full"/>
                </p:oleObj>
              </mc:Choice>
              <mc:Fallback>
                <p:oleObj name="Document" showAsIcon="1" r:id="rId21" imgW="739140" imgH="349885" progId="Word.Document.8">
                  <p:embed followColorScheme="full"/>
                  <p:pic>
                    <p:nvPicPr>
                      <p:cNvPr id="0" name="Object 20"/>
                      <p:cNvPicPr/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>
                      <a:xfrm>
                        <a:off x="5867400" y="1600200"/>
                        <a:ext cx="739775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4318" name="Object 4194317"/>
          <p:cNvGraphicFramePr/>
          <p:nvPr/>
        </p:nvGraphicFramePr>
        <p:xfrm>
          <a:off x="6934200" y="1600200"/>
          <a:ext cx="52546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Document" showAsIcon="1" r:id="rId23" imgW="526415" imgH="449580" progId="Word.Document.8">
                  <p:embed followColorScheme="full"/>
                </p:oleObj>
              </mc:Choice>
              <mc:Fallback>
                <p:oleObj name="Document" showAsIcon="1" r:id="rId23" imgW="526415" imgH="449580" progId="Word.Document.8">
                  <p:embed followColorScheme="full"/>
                  <p:pic>
                    <p:nvPicPr>
                      <p:cNvPr id="0" name="Object 21"/>
                      <p:cNvPicPr/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>
                      <a:xfrm>
                        <a:off x="6934200" y="1600200"/>
                        <a:ext cx="525462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9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Examples of Embedded Systems</a:t>
            </a:r>
            <a:endParaRPr lang="en-US" altLang="en-US"/>
          </a:p>
        </p:txBody>
      </p:sp>
      <p:sp>
        <p:nvSpPr>
          <p:cNvPr id="1048620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PC having dedicated software programs and appropriate interfaces to a manufacturing assembly line</a:t>
            </a:r>
            <a:endParaRPr lang="en-US" altLang="en-US"/>
          </a:p>
          <a:p>
            <a:pPr lvl="0" eaLnBrk="1" hangingPunct="1"/>
            <a:r>
              <a:rPr lang="en-US" altLang="en-US"/>
              <a:t>Microprocessor dedicated to a control function in a computer, e.g., keyboard/mouse input control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1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Outline</a:t>
            </a:r>
            <a:endParaRPr lang="en-US" altLang="en-US"/>
          </a:p>
        </p:txBody>
      </p:sp>
      <p:sp>
        <p:nvSpPr>
          <p:cNvPr id="1048622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>
                <a:solidFill>
                  <a:schemeClr val="dk1"/>
                </a:solidFill>
              </a:rPr>
              <a:t>Embedded systems overview</a:t>
            </a:r>
            <a:endParaRPr lang="en-US" altLang="en-US">
              <a:solidFill>
                <a:schemeClr val="dk1"/>
              </a:solidFill>
            </a:endParaRPr>
          </a:p>
          <a:p>
            <a:pPr lvl="0" eaLnBrk="1" hangingPunct="1"/>
            <a:r>
              <a:rPr lang="en-US" altLang="en-US"/>
              <a:t>Design challenge – optimizing design metrics</a:t>
            </a:r>
            <a:endParaRPr lang="en-US" altLang="en-US"/>
          </a:p>
          <a:p>
            <a:pPr lvl="0" eaLnBrk="1" hangingPunct="1"/>
            <a:r>
              <a:rPr lang="en-US" altLang="en-US"/>
              <a:t>Technologies</a:t>
            </a:r>
            <a:endParaRPr lang="en-US" altLang="en-US"/>
          </a:p>
          <a:p>
            <a:pPr lvl="1" eaLnBrk="1" hangingPunct="1"/>
            <a:r>
              <a:rPr lang="en-US" altLang="en-US"/>
              <a:t>Processor technologies</a:t>
            </a:r>
            <a:endParaRPr lang="en-US" altLang="en-US"/>
          </a:p>
          <a:p>
            <a:pPr lvl="1" eaLnBrk="1" hangingPunct="1"/>
            <a:r>
              <a:rPr lang="en-US" altLang="en-US"/>
              <a:t>Design technologies</a:t>
            </a:r>
            <a:endParaRPr lang="en-US" altLang="en-US"/>
          </a:p>
          <a:p>
            <a:pPr lvl="0" eaLnBrk="1" hangingPunct="1"/>
            <a:r>
              <a:rPr lang="en-US" altLang="en-US"/>
              <a:t>Generic codesign methodology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3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Some Application Domains</a:t>
            </a:r>
            <a:endParaRPr lang="en-US" altLang="en-US"/>
          </a:p>
        </p:txBody>
      </p:sp>
      <p:sp>
        <p:nvSpPr>
          <p:cNvPr id="1048624" name="Rectangle 3"/>
          <p:cNvSpPr/>
          <p:nvPr>
            <p:ph type="body" idx="1"/>
          </p:nvPr>
        </p:nvSpPr>
        <p:spPr>
          <a:xfrm>
            <a:off x="304800" y="1066800"/>
            <a:ext cx="46482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 sz="2600"/>
              <a:t>CONSUMER PRODUCTS</a:t>
            </a:r>
            <a:endParaRPr lang="en-US" altLang="en-US" sz="2600"/>
          </a:p>
          <a:p>
            <a:pPr lvl="1" eaLnBrk="1" hangingPunct="1"/>
            <a:r>
              <a:rPr lang="en-US" altLang="en-US" sz="2400"/>
              <a:t>Appliances, Games, A/V, Intelligent home devices</a:t>
            </a:r>
            <a:endParaRPr lang="en-US" altLang="en-US" sz="2400"/>
          </a:p>
          <a:p>
            <a:pPr lvl="0" eaLnBrk="1" hangingPunct="1"/>
            <a:r>
              <a:rPr lang="en-US" altLang="en-US" sz="2600"/>
              <a:t>TRANSPORTATION</a:t>
            </a:r>
            <a:endParaRPr lang="en-US" altLang="en-US" sz="2600"/>
          </a:p>
          <a:p>
            <a:pPr lvl="1" eaLnBrk="1" hangingPunct="1"/>
            <a:r>
              <a:rPr lang="en-US" altLang="en-US" sz="2400"/>
              <a:t>Autos, Trains, Ships, Aircrafts</a:t>
            </a:r>
            <a:endParaRPr lang="en-US" altLang="en-US" sz="2400"/>
          </a:p>
          <a:p>
            <a:pPr lvl="0" eaLnBrk="1" hangingPunct="1"/>
            <a:r>
              <a:rPr lang="en-US" altLang="en-US" sz="2600"/>
              <a:t>PLANT CONTROL</a:t>
            </a:r>
            <a:endParaRPr lang="en-US" altLang="en-US" sz="2600"/>
          </a:p>
          <a:p>
            <a:pPr lvl="1" eaLnBrk="1" hangingPunct="1"/>
            <a:r>
              <a:rPr lang="en-US" altLang="en-US" sz="2400"/>
              <a:t>Manufacturing, Chemical, Power Generation</a:t>
            </a:r>
            <a:endParaRPr lang="en-US" altLang="en-US" sz="2400"/>
          </a:p>
          <a:p>
            <a:pPr lvl="0" eaLnBrk="1" hangingPunct="1"/>
            <a:r>
              <a:rPr lang="en-US" altLang="en-US" sz="2600"/>
              <a:t>NETWORKS</a:t>
            </a:r>
            <a:endParaRPr lang="en-US" altLang="en-US" sz="2600"/>
          </a:p>
          <a:p>
            <a:pPr lvl="1" eaLnBrk="1" hangingPunct="1"/>
            <a:r>
              <a:rPr lang="en-US" altLang="en-US" sz="2400"/>
              <a:t>Telecommunication, Defense</a:t>
            </a:r>
            <a:endParaRPr lang="en-US" altLang="en-US" sz="2400"/>
          </a:p>
          <a:p>
            <a:pPr lvl="0" eaLnBrk="1" hangingPunct="1"/>
            <a:endParaRPr lang="en-US" altLang="en-US" sz="2600"/>
          </a:p>
        </p:txBody>
      </p:sp>
      <p:sp>
        <p:nvSpPr>
          <p:cNvPr id="1048625" name="Rectangle 10"/>
          <p:cNvSpPr/>
          <p:nvPr/>
        </p:nvSpPr>
        <p:spPr>
          <a:xfrm>
            <a:off x="5181600" y="1123950"/>
            <a:ext cx="3657600" cy="52578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/>
            <a:r>
              <a:rPr lang="en-US" altLang="en-US"/>
              <a:t>Local</a:t>
            </a:r>
            <a:endParaRPr lang="en-US" altLang="en-US"/>
          </a:p>
          <a:p>
            <a:pPr marL="742950" lvl="1" indent="-445770" eaLnBrk="1" hangingPunct="1"/>
            <a:r>
              <a:rPr lang="en-US" altLang="en-US"/>
              <a:t>e.g., appliance</a:t>
            </a:r>
            <a:endParaRPr lang="en-US" altLang="en-US"/>
          </a:p>
          <a:p>
            <a:pPr marL="342900" lvl="0" indent="-342900" eaLnBrk="1" hangingPunct="1"/>
            <a:r>
              <a:rPr lang="en-US" altLang="en-US"/>
              <a:t>Locally distributed</a:t>
            </a:r>
            <a:endParaRPr lang="en-US" altLang="en-US"/>
          </a:p>
          <a:p>
            <a:pPr marL="742950" lvl="1" indent="-445770" eaLnBrk="1" hangingPunct="1"/>
            <a:r>
              <a:rPr lang="en-US" altLang="en-US"/>
              <a:t>e.g., aircraft control over a LAN</a:t>
            </a:r>
            <a:endParaRPr lang="en-US" altLang="en-US"/>
          </a:p>
          <a:p>
            <a:pPr marL="342900" lvl="0" indent="-342900" eaLnBrk="1" hangingPunct="1"/>
            <a:r>
              <a:rPr lang="en-US" altLang="en-US"/>
              <a:t>Geographically distributed</a:t>
            </a:r>
            <a:endParaRPr lang="en-US" altLang="en-US"/>
          </a:p>
          <a:p>
            <a:pPr marL="742950" lvl="1" indent="-445770" eaLnBrk="1" hangingPunct="1"/>
            <a:r>
              <a:rPr lang="en-US" altLang="en-US"/>
              <a:t>e.g., telephone network</a:t>
            </a:r>
            <a:endParaRPr lang="en-US" altLang="en-US"/>
          </a:p>
        </p:txBody>
      </p:sp>
      <p:grpSp>
        <p:nvGrpSpPr>
          <p:cNvPr id="86" name="Group 85"/>
          <p:cNvGrpSpPr/>
          <p:nvPr/>
        </p:nvGrpSpPr>
        <p:grpSpPr>
          <a:xfrm rot="0">
            <a:off x="5067300" y="990600"/>
            <a:ext cx="0" cy="5257800"/>
            <a:chOff x="3312" y="924"/>
            <a:chExt cx="0" cy="3312"/>
          </a:xfrm>
        </p:grpSpPr>
        <p:sp>
          <p:nvSpPr>
            <p:cNvPr id="1048626" name="Line 12"/>
            <p:cNvSpPr/>
            <p:nvPr/>
          </p:nvSpPr>
          <p:spPr>
            <a:xfrm>
              <a:off x="3312" y="924"/>
              <a:ext cx="0" cy="864"/>
            </a:xfrm>
            <a:prstGeom prst="line">
              <a:avLst/>
            </a:prstGeom>
            <a:noFill/>
            <a:ln w="57150" cap="flat" cmpd="sng">
              <a:solidFill>
                <a:schemeClr val="dk1">
                  <a:alpha val="100000"/>
                </a:schemeClr>
              </a:solidFill>
              <a:prstDash val="solid"/>
              <a:round/>
            </a:ln>
          </p:spPr>
        </p:sp>
        <p:sp>
          <p:nvSpPr>
            <p:cNvPr id="1048627" name="Line 13"/>
            <p:cNvSpPr/>
            <p:nvPr/>
          </p:nvSpPr>
          <p:spPr>
            <a:xfrm>
              <a:off x="3312" y="1872"/>
              <a:ext cx="0" cy="1344"/>
            </a:xfrm>
            <a:prstGeom prst="line">
              <a:avLst/>
            </a:prstGeom>
            <a:noFill/>
            <a:ln w="57150" cap="flat" cmpd="sng">
              <a:solidFill>
                <a:schemeClr val="dk1">
                  <a:alpha val="100000"/>
                </a:schemeClr>
              </a:solidFill>
              <a:prstDash val="lgDash"/>
              <a:round/>
            </a:ln>
          </p:spPr>
        </p:sp>
        <p:sp>
          <p:nvSpPr>
            <p:cNvPr id="1048628" name="Line 14"/>
            <p:cNvSpPr/>
            <p:nvPr/>
          </p:nvSpPr>
          <p:spPr>
            <a:xfrm>
              <a:off x="3312" y="3372"/>
              <a:ext cx="0" cy="864"/>
            </a:xfrm>
            <a:prstGeom prst="line">
              <a:avLst/>
            </a:prstGeom>
            <a:noFill/>
            <a:ln w="57150" cap="flat" cmpd="sng">
              <a:solidFill>
                <a:schemeClr val="dk1">
                  <a:alpha val="100000"/>
                </a:schemeClr>
              </a:solidFill>
              <a:prstDash val="sysDot"/>
              <a:round/>
            </a:ln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9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Parts of an Embedded System</a:t>
            </a:r>
            <a:endParaRPr lang="en-US" altLang="en-US"/>
          </a:p>
        </p:txBody>
      </p:sp>
      <p:sp>
        <p:nvSpPr>
          <p:cNvPr id="1048630" name="Oval 4"/>
          <p:cNvSpPr/>
          <p:nvPr/>
        </p:nvSpPr>
        <p:spPr>
          <a:xfrm rot="19634306">
            <a:off x="914400" y="990600"/>
            <a:ext cx="914400" cy="1828800"/>
          </a:xfrm>
          <a:prstGeom prst="ellipse">
            <a:avLst/>
          </a:prstGeom>
          <a:solidFill>
            <a:srgbClr val="DDDDDD"/>
          </a:solidFill>
          <a:ln>
            <a:noFill/>
          </a:ln>
        </p:spPr>
        <p:txBody>
          <a:bodyPr vert="horz" wrap="none" lIns="91440" tIns="45720" rIns="91440" bIns="45720" anchor="ctr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800">
              <a:solidFill>
                <a:schemeClr val="dk1"/>
              </a:solidFill>
            </a:endParaRPr>
          </a:p>
        </p:txBody>
      </p:sp>
      <p:sp>
        <p:nvSpPr>
          <p:cNvPr id="1048631" name="Oval 5"/>
          <p:cNvSpPr/>
          <p:nvPr/>
        </p:nvSpPr>
        <p:spPr>
          <a:xfrm>
            <a:off x="457200" y="1066800"/>
            <a:ext cx="8077200" cy="5410200"/>
          </a:xfrm>
          <a:prstGeom prst="ellipse">
            <a:avLst/>
          </a:prstGeom>
          <a:noFill/>
          <a:ln w="19050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vert="horz" wrap="none" lIns="91440" tIns="45720" rIns="91440" bIns="45720" anchor="ctr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endParaRPr lang="en-US" altLang="en-US" sz="2400">
              <a:latin typeface="Times New Roman" panose="02020603050405020304" charset="0"/>
            </a:endParaRPr>
          </a:p>
        </p:txBody>
      </p:sp>
      <p:grpSp>
        <p:nvGrpSpPr>
          <p:cNvPr id="88" name="Group 87"/>
          <p:cNvGrpSpPr/>
          <p:nvPr/>
        </p:nvGrpSpPr>
        <p:grpSpPr>
          <a:xfrm rot="0">
            <a:off x="2133600" y="1828800"/>
            <a:ext cx="1981200" cy="1828800"/>
            <a:chOff x="1344" y="1248"/>
            <a:chExt cx="1248" cy="1152"/>
          </a:xfrm>
        </p:grpSpPr>
        <p:sp>
          <p:nvSpPr>
            <p:cNvPr id="1048632" name="Rectangle 7"/>
            <p:cNvSpPr/>
            <p:nvPr/>
          </p:nvSpPr>
          <p:spPr>
            <a:xfrm>
              <a:off x="1344" y="1248"/>
              <a:ext cx="1056" cy="9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>
                  <a:alpha val="100000"/>
                </a:schemeClr>
              </a:solidFill>
              <a:prstDash val="solid"/>
              <a:round/>
            </a:ln>
          </p:spPr>
          <p:txBody>
            <a:bodyPr vert="horz" wrap="none" lIns="91440" tIns="45720" rIns="91440" bIns="45720" anchor="ctr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sp>
          <p:nvSpPr>
            <p:cNvPr id="1048633" name="Rectangle 8"/>
            <p:cNvSpPr/>
            <p:nvPr/>
          </p:nvSpPr>
          <p:spPr>
            <a:xfrm>
              <a:off x="1440" y="1344"/>
              <a:ext cx="1056" cy="9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>
                  <a:alpha val="100000"/>
                </a:schemeClr>
              </a:solidFill>
              <a:prstDash val="sysDot"/>
              <a:round/>
            </a:ln>
          </p:spPr>
          <p:txBody>
            <a:bodyPr vert="horz" wrap="none" lIns="91440" tIns="45720" rIns="91440" bIns="45720" anchor="ctr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sp>
          <p:nvSpPr>
            <p:cNvPr id="1048634" name="Rectangle 9"/>
            <p:cNvSpPr/>
            <p:nvPr/>
          </p:nvSpPr>
          <p:spPr>
            <a:xfrm>
              <a:off x="1536" y="1440"/>
              <a:ext cx="1056" cy="9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>
                  <a:alpha val="100000"/>
                </a:schemeClr>
              </a:solidFill>
              <a:prstDash val="solid"/>
              <a:round/>
            </a:ln>
          </p:spPr>
          <p:txBody>
            <a:bodyPr vert="horz" wrap="none" lIns="91440" tIns="45720" rIns="91440" bIns="45720" anchor="ctr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 rot="0">
            <a:off x="4876800" y="1828800"/>
            <a:ext cx="1981200" cy="1828800"/>
            <a:chOff x="1344" y="1248"/>
            <a:chExt cx="1248" cy="1152"/>
          </a:xfrm>
        </p:grpSpPr>
        <p:sp>
          <p:nvSpPr>
            <p:cNvPr id="1048635" name="Rectangle 11"/>
            <p:cNvSpPr/>
            <p:nvPr/>
          </p:nvSpPr>
          <p:spPr>
            <a:xfrm>
              <a:off x="1344" y="1248"/>
              <a:ext cx="1056" cy="9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>
                  <a:alpha val="100000"/>
                </a:schemeClr>
              </a:solidFill>
              <a:prstDash val="solid"/>
              <a:round/>
            </a:ln>
          </p:spPr>
          <p:txBody>
            <a:bodyPr vert="horz" wrap="none" lIns="91440" tIns="45720" rIns="91440" bIns="45720" anchor="ctr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sp>
          <p:nvSpPr>
            <p:cNvPr id="1048636" name="Rectangle 12"/>
            <p:cNvSpPr/>
            <p:nvPr/>
          </p:nvSpPr>
          <p:spPr>
            <a:xfrm>
              <a:off x="1440" y="1344"/>
              <a:ext cx="1056" cy="9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>
                  <a:alpha val="100000"/>
                </a:schemeClr>
              </a:solidFill>
              <a:prstDash val="sysDot"/>
              <a:round/>
            </a:ln>
          </p:spPr>
          <p:txBody>
            <a:bodyPr vert="horz" wrap="none" lIns="91440" tIns="45720" rIns="91440" bIns="45720" anchor="ctr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sp>
          <p:nvSpPr>
            <p:cNvPr id="1048637" name="Rectangle 13"/>
            <p:cNvSpPr/>
            <p:nvPr/>
          </p:nvSpPr>
          <p:spPr>
            <a:xfrm>
              <a:off x="1536" y="1440"/>
              <a:ext cx="1056" cy="9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>
                  <a:alpha val="100000"/>
                </a:schemeClr>
              </a:solidFill>
              <a:prstDash val="solid"/>
              <a:round/>
            </a:ln>
          </p:spPr>
          <p:txBody>
            <a:bodyPr vert="horz" wrap="none" lIns="91440" tIns="45720" rIns="91440" bIns="45720" anchor="ctr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</p:grpSp>
      <p:sp>
        <p:nvSpPr>
          <p:cNvPr id="1048638" name="Rectangle 14"/>
          <p:cNvSpPr/>
          <p:nvPr/>
        </p:nvSpPr>
        <p:spPr>
          <a:xfrm>
            <a:off x="2286000" y="4267200"/>
            <a:ext cx="4419600" cy="1447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vert="horz" wrap="none" lIns="91440" tIns="45720" rIns="91440" bIns="45720" anchor="ctr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endParaRPr lang="en-US" altLang="en-US" sz="2400">
              <a:latin typeface="Times New Roman" panose="02020603050405020304" charset="0"/>
            </a:endParaRPr>
          </a:p>
        </p:txBody>
      </p:sp>
      <p:sp>
        <p:nvSpPr>
          <p:cNvPr id="1048639" name="Rectangle 15"/>
          <p:cNvSpPr/>
          <p:nvPr/>
        </p:nvSpPr>
        <p:spPr>
          <a:xfrm>
            <a:off x="1066800" y="2743200"/>
            <a:ext cx="609600" cy="2057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>
                <a:alpha val="100000"/>
              </a:schemeClr>
            </a:solidFill>
            <a:prstDash val="lgDash"/>
            <a:round/>
          </a:ln>
        </p:spPr>
        <p:txBody>
          <a:bodyPr vert="horz" wrap="none" lIns="91440" tIns="45720" rIns="91440" bIns="45720" anchor="ctr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800">
              <a:solidFill>
                <a:schemeClr val="dk1"/>
              </a:solidFill>
            </a:endParaRPr>
          </a:p>
        </p:txBody>
      </p:sp>
      <p:sp>
        <p:nvSpPr>
          <p:cNvPr id="1048640" name="Rectangle 16"/>
          <p:cNvSpPr/>
          <p:nvPr/>
        </p:nvSpPr>
        <p:spPr>
          <a:xfrm>
            <a:off x="7239000" y="2819400"/>
            <a:ext cx="609600" cy="2057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>
                <a:alpha val="100000"/>
              </a:schemeClr>
            </a:solidFill>
            <a:prstDash val="lgDash"/>
            <a:round/>
          </a:ln>
        </p:spPr>
        <p:txBody>
          <a:bodyPr vert="horz" wrap="none" lIns="91440" tIns="45720" rIns="91440" bIns="45720" anchor="ctr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800">
              <a:solidFill>
                <a:schemeClr val="dk1"/>
              </a:solidFill>
            </a:endParaRPr>
          </a:p>
        </p:txBody>
      </p:sp>
      <p:sp>
        <p:nvSpPr>
          <p:cNvPr id="1048641" name="Line 17"/>
          <p:cNvSpPr/>
          <p:nvPr/>
        </p:nvSpPr>
        <p:spPr>
          <a:xfrm>
            <a:off x="228600" y="3733800"/>
            <a:ext cx="762000" cy="0"/>
          </a:xfrm>
          <a:prstGeom prst="line">
            <a:avLst/>
          </a:prstGeom>
          <a:noFill/>
          <a:ln w="57150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42" name="Line 18"/>
          <p:cNvSpPr/>
          <p:nvPr/>
        </p:nvSpPr>
        <p:spPr>
          <a:xfrm>
            <a:off x="7981950" y="3733800"/>
            <a:ext cx="762000" cy="0"/>
          </a:xfrm>
          <a:prstGeom prst="line">
            <a:avLst/>
          </a:prstGeom>
          <a:noFill/>
          <a:ln w="57150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43" name="Line 19"/>
          <p:cNvSpPr/>
          <p:nvPr/>
        </p:nvSpPr>
        <p:spPr>
          <a:xfrm>
            <a:off x="1752600" y="4343400"/>
            <a:ext cx="533400" cy="0"/>
          </a:xfrm>
          <a:prstGeom prst="line">
            <a:avLst/>
          </a:prstGeom>
          <a:noFill/>
          <a:ln w="57150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44" name="Line 20"/>
          <p:cNvSpPr/>
          <p:nvPr/>
        </p:nvSpPr>
        <p:spPr>
          <a:xfrm>
            <a:off x="6705600" y="4419600"/>
            <a:ext cx="533400" cy="0"/>
          </a:xfrm>
          <a:prstGeom prst="line">
            <a:avLst/>
          </a:prstGeom>
          <a:noFill/>
          <a:ln w="57150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45" name="Line 21"/>
          <p:cNvSpPr/>
          <p:nvPr/>
        </p:nvSpPr>
        <p:spPr>
          <a:xfrm rot="5400000">
            <a:off x="2934493" y="3923507"/>
            <a:ext cx="533400" cy="1587"/>
          </a:xfrm>
          <a:prstGeom prst="line">
            <a:avLst/>
          </a:prstGeom>
          <a:noFill/>
          <a:ln w="57150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sp>
        <p:nvSpPr>
          <p:cNvPr id="1048646" name="Line 22"/>
          <p:cNvSpPr/>
          <p:nvPr/>
        </p:nvSpPr>
        <p:spPr>
          <a:xfrm rot="16200000" flipV="1">
            <a:off x="3315493" y="3923507"/>
            <a:ext cx="533400" cy="1587"/>
          </a:xfrm>
          <a:prstGeom prst="line">
            <a:avLst/>
          </a:prstGeom>
          <a:noFill/>
          <a:ln w="57150" cap="flat" cmpd="sng">
            <a:solidFill>
              <a:schemeClr val="dk1">
                <a:alpha val="100000"/>
              </a:schemeClr>
            </a:solidFill>
            <a:prstDash val="solid"/>
            <a:round/>
            <a:tailEnd type="triangle" w="med" len="med"/>
          </a:ln>
        </p:spPr>
      </p:sp>
      <p:grpSp>
        <p:nvGrpSpPr>
          <p:cNvPr id="90" name="Group 89"/>
          <p:cNvGrpSpPr/>
          <p:nvPr/>
        </p:nvGrpSpPr>
        <p:grpSpPr>
          <a:xfrm rot="0">
            <a:off x="5867400" y="3657600"/>
            <a:ext cx="382587" cy="533400"/>
            <a:chOff x="3696" y="2304"/>
            <a:chExt cx="241" cy="336"/>
          </a:xfrm>
        </p:grpSpPr>
        <p:sp>
          <p:nvSpPr>
            <p:cNvPr id="1048647" name="Line 24"/>
            <p:cNvSpPr/>
            <p:nvPr/>
          </p:nvSpPr>
          <p:spPr>
            <a:xfrm rot="5400000">
              <a:off x="3528" y="2472"/>
              <a:ext cx="336" cy="1"/>
            </a:xfrm>
            <a:prstGeom prst="line">
              <a:avLst/>
            </a:prstGeom>
            <a:noFill/>
            <a:ln w="57150" cap="flat" cmpd="sng">
              <a:solidFill>
                <a:schemeClr val="dk1">
                  <a:alpha val="100000"/>
                </a:scheme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8648" name="Line 25"/>
            <p:cNvSpPr/>
            <p:nvPr/>
          </p:nvSpPr>
          <p:spPr>
            <a:xfrm rot="16200000" flipV="1">
              <a:off x="3768" y="2472"/>
              <a:ext cx="336" cy="1"/>
            </a:xfrm>
            <a:prstGeom prst="line">
              <a:avLst/>
            </a:prstGeom>
            <a:noFill/>
            <a:ln w="57150" cap="flat" cmpd="sng">
              <a:solidFill>
                <a:schemeClr val="dk1">
                  <a:alpha val="100000"/>
                </a:schemeClr>
              </a:solidFill>
              <a:prstDash val="solid"/>
              <a:round/>
              <a:tailEnd type="triangle" w="med" len="med"/>
            </a:ln>
          </p:spPr>
        </p:sp>
      </p:grpSp>
      <p:grpSp>
        <p:nvGrpSpPr>
          <p:cNvPr id="91" name="Group 90"/>
          <p:cNvGrpSpPr/>
          <p:nvPr/>
        </p:nvGrpSpPr>
        <p:grpSpPr>
          <a:xfrm rot="5400000">
            <a:off x="4267994" y="2666205"/>
            <a:ext cx="382587" cy="533400"/>
            <a:chOff x="3696" y="2304"/>
            <a:chExt cx="241" cy="336"/>
          </a:xfrm>
        </p:grpSpPr>
        <p:sp>
          <p:nvSpPr>
            <p:cNvPr id="1048649" name="Line 27"/>
            <p:cNvSpPr/>
            <p:nvPr/>
          </p:nvSpPr>
          <p:spPr>
            <a:xfrm rot="5400000">
              <a:off x="3528" y="2472"/>
              <a:ext cx="336" cy="1"/>
            </a:xfrm>
            <a:prstGeom prst="line">
              <a:avLst/>
            </a:prstGeom>
            <a:noFill/>
            <a:ln w="57150" cap="flat" cmpd="sng">
              <a:solidFill>
                <a:schemeClr val="dk1">
                  <a:alpha val="100000"/>
                </a:scheme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8650" name="Line 28"/>
            <p:cNvSpPr/>
            <p:nvPr/>
          </p:nvSpPr>
          <p:spPr>
            <a:xfrm rot="16200000" flipV="1">
              <a:off x="3768" y="2472"/>
              <a:ext cx="336" cy="1"/>
            </a:xfrm>
            <a:prstGeom prst="line">
              <a:avLst/>
            </a:prstGeom>
            <a:noFill/>
            <a:ln w="57150" cap="flat" cmpd="sng">
              <a:solidFill>
                <a:schemeClr val="dk1">
                  <a:alpha val="100000"/>
                </a:schemeClr>
              </a:solidFill>
              <a:prstDash val="solid"/>
              <a:round/>
              <a:tailEnd type="triangle" w="med" len="med"/>
            </a:ln>
          </p:spPr>
        </p:sp>
      </p:grpSp>
      <p:sp>
        <p:nvSpPr>
          <p:cNvPr id="1048651" name="Text Box 29"/>
          <p:cNvSpPr txBox="1"/>
          <p:nvPr/>
        </p:nvSpPr>
        <p:spPr>
          <a:xfrm>
            <a:off x="3276600" y="4343400"/>
            <a:ext cx="3370580" cy="13106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000" b="1">
                <a:latin typeface="Helvetica" pitchFamily="34" charset="0"/>
              </a:rPr>
              <a:t>HARDWIRED UNIT</a:t>
            </a:r>
            <a:endParaRPr lang="en-US" altLang="en-US" sz="2000" b="1">
              <a:latin typeface="Helvetica" pitchFamily="3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000" b="1">
                <a:latin typeface="Helvetica" pitchFamily="34" charset="0"/>
              </a:rPr>
              <a:t> Application-specific logic</a:t>
            </a:r>
            <a:endParaRPr lang="en-US" altLang="en-US" sz="2000" b="1">
              <a:latin typeface="Helvetica" pitchFamily="3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000" b="1">
                <a:latin typeface="Helvetica" pitchFamily="34" charset="0"/>
              </a:rPr>
              <a:t> Timers</a:t>
            </a:r>
            <a:endParaRPr lang="en-US" altLang="en-US" sz="2000" b="1">
              <a:latin typeface="Helvetica" pitchFamily="3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000" b="1">
                <a:latin typeface="Helvetica" pitchFamily="34" charset="0"/>
              </a:rPr>
              <a:t> A/D and D/A conversion</a:t>
            </a:r>
            <a:endParaRPr lang="en-US" altLang="en-US" sz="2000" b="1">
              <a:latin typeface="Helvetica" pitchFamily="34" charset="0"/>
            </a:endParaRPr>
          </a:p>
        </p:txBody>
      </p:sp>
      <p:sp>
        <p:nvSpPr>
          <p:cNvPr id="1048652" name="Text Box 30"/>
          <p:cNvSpPr txBox="1"/>
          <p:nvPr/>
        </p:nvSpPr>
        <p:spPr>
          <a:xfrm>
            <a:off x="2590800" y="2667000"/>
            <a:ext cx="1327150" cy="396875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000" b="1">
                <a:latin typeface="Helvetica" pitchFamily="34" charset="0"/>
              </a:rPr>
              <a:t>MEMORY</a:t>
            </a:r>
            <a:endParaRPr lang="en-US" altLang="en-US" sz="2000" b="1">
              <a:latin typeface="Helvetica" pitchFamily="34" charset="0"/>
            </a:endParaRPr>
          </a:p>
        </p:txBody>
      </p:sp>
      <p:sp>
        <p:nvSpPr>
          <p:cNvPr id="1048653" name="Text Box 31"/>
          <p:cNvSpPr txBox="1"/>
          <p:nvPr/>
        </p:nvSpPr>
        <p:spPr>
          <a:xfrm>
            <a:off x="5143500" y="2667000"/>
            <a:ext cx="1691650" cy="3962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000" b="1">
                <a:latin typeface="Helvetica" pitchFamily="34" charset="0"/>
              </a:rPr>
              <a:t>PROCESSOR</a:t>
            </a:r>
            <a:endParaRPr lang="en-US" altLang="en-US" sz="2000" b="1">
              <a:latin typeface="Helvetica" pitchFamily="34" charset="0"/>
            </a:endParaRPr>
          </a:p>
        </p:txBody>
      </p:sp>
      <p:sp>
        <p:nvSpPr>
          <p:cNvPr id="1048654" name="Text Box 32"/>
          <p:cNvSpPr txBox="1"/>
          <p:nvPr/>
        </p:nvSpPr>
        <p:spPr>
          <a:xfrm rot="16239496">
            <a:off x="703262" y="3564255"/>
            <a:ext cx="1313180" cy="396241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000" b="1">
                <a:latin typeface="Helvetica" pitchFamily="34" charset="0"/>
              </a:rPr>
              <a:t>SENSORS</a:t>
            </a:r>
            <a:endParaRPr lang="en-US" altLang="en-US" sz="2000" b="1">
              <a:latin typeface="Helvetica" pitchFamily="34" charset="0"/>
            </a:endParaRPr>
          </a:p>
        </p:txBody>
      </p:sp>
      <p:sp>
        <p:nvSpPr>
          <p:cNvPr id="1048655" name="Text Box 33"/>
          <p:cNvSpPr txBox="1"/>
          <p:nvPr/>
        </p:nvSpPr>
        <p:spPr>
          <a:xfrm rot="16212964">
            <a:off x="6660356" y="3665061"/>
            <a:ext cx="1673097" cy="396241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000" b="1">
                <a:latin typeface="Helvetica" pitchFamily="34" charset="0"/>
              </a:rPr>
              <a:t>ACTUATORS</a:t>
            </a:r>
            <a:endParaRPr lang="en-US" altLang="en-US" sz="2000" b="1">
              <a:latin typeface="Helvetica" pitchFamily="34" charset="0"/>
            </a:endParaRPr>
          </a:p>
        </p:txBody>
      </p:sp>
      <p:sp>
        <p:nvSpPr>
          <p:cNvPr id="1048656" name="Text Box 34"/>
          <p:cNvSpPr txBox="1"/>
          <p:nvPr/>
        </p:nvSpPr>
        <p:spPr>
          <a:xfrm>
            <a:off x="2895600" y="1295400"/>
            <a:ext cx="2633980" cy="3962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000" b="1">
                <a:latin typeface="Helvetica" pitchFamily="34" charset="0"/>
              </a:rPr>
              <a:t>EMBEDDED SYSTEM</a:t>
            </a:r>
            <a:endParaRPr lang="en-US" altLang="en-US" sz="2000" b="1">
              <a:latin typeface="Helvetica" pitchFamily="34" charset="0"/>
            </a:endParaRPr>
          </a:p>
        </p:txBody>
      </p:sp>
      <p:sp>
        <p:nvSpPr>
          <p:cNvPr id="1048657" name="Text Box 35"/>
          <p:cNvSpPr txBox="1"/>
          <p:nvPr/>
        </p:nvSpPr>
        <p:spPr>
          <a:xfrm>
            <a:off x="6477000" y="6096000"/>
            <a:ext cx="2034550" cy="3962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000" b="1">
                <a:latin typeface="Helvetica" pitchFamily="34" charset="0"/>
              </a:rPr>
              <a:t>ENVIRONMENT</a:t>
            </a:r>
            <a:endParaRPr lang="en-US" altLang="en-US" sz="2000" b="1">
              <a:latin typeface="Helvetica" pitchFamily="34" charset="0"/>
            </a:endParaRPr>
          </a:p>
        </p:txBody>
      </p:sp>
      <p:sp>
        <p:nvSpPr>
          <p:cNvPr id="1048658" name="Text Box 36"/>
          <p:cNvSpPr txBox="1"/>
          <p:nvPr/>
        </p:nvSpPr>
        <p:spPr>
          <a:xfrm>
            <a:off x="685800" y="1371600"/>
            <a:ext cx="817880" cy="3962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000" b="1">
                <a:latin typeface="Helvetica" pitchFamily="34" charset="0"/>
              </a:rPr>
              <a:t>USER</a:t>
            </a:r>
            <a:endParaRPr lang="en-US" altLang="en-US" sz="2000" b="1">
              <a:latin typeface="Helvetica" pitchFamily="34" charset="0"/>
            </a:endParaRPr>
          </a:p>
        </p:txBody>
      </p:sp>
      <p:grpSp>
        <p:nvGrpSpPr>
          <p:cNvPr id="92" name="Group 91"/>
          <p:cNvGrpSpPr/>
          <p:nvPr/>
        </p:nvGrpSpPr>
        <p:grpSpPr>
          <a:xfrm rot="19304132">
            <a:off x="1295400" y="1752600"/>
            <a:ext cx="382587" cy="533400"/>
            <a:chOff x="3696" y="2304"/>
            <a:chExt cx="241" cy="336"/>
          </a:xfrm>
        </p:grpSpPr>
        <p:sp>
          <p:nvSpPr>
            <p:cNvPr id="1048659" name="Line 38"/>
            <p:cNvSpPr/>
            <p:nvPr/>
          </p:nvSpPr>
          <p:spPr>
            <a:xfrm rot="5400000">
              <a:off x="3528" y="2472"/>
              <a:ext cx="336" cy="1"/>
            </a:xfrm>
            <a:prstGeom prst="line">
              <a:avLst/>
            </a:prstGeom>
            <a:noFill/>
            <a:ln w="57150" cap="flat" cmpd="sng">
              <a:solidFill>
                <a:schemeClr val="dk1">
                  <a:alpha val="100000"/>
                </a:scheme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8660" name="Line 39"/>
            <p:cNvSpPr/>
            <p:nvPr/>
          </p:nvSpPr>
          <p:spPr>
            <a:xfrm rot="16200000" flipV="1">
              <a:off x="3768" y="2472"/>
              <a:ext cx="336" cy="1"/>
            </a:xfrm>
            <a:prstGeom prst="line">
              <a:avLst/>
            </a:prstGeom>
            <a:noFill/>
            <a:ln w="57150" cap="flat" cmpd="sng">
              <a:solidFill>
                <a:schemeClr val="dk1">
                  <a:alpha val="100000"/>
                </a:schemeClr>
              </a:solidFill>
              <a:prstDash val="solid"/>
              <a:round/>
              <a:tailEnd type="triangle" w="med" len="med"/>
            </a:ln>
          </p:spPr>
        </p:sp>
      </p:grpSp>
      <p:sp>
        <p:nvSpPr>
          <p:cNvPr id="1048661" name="Text Box 40"/>
          <p:cNvSpPr txBox="1"/>
          <p:nvPr/>
        </p:nvSpPr>
        <p:spPr>
          <a:xfrm>
            <a:off x="1524000" y="2133600"/>
            <a:ext cx="551180" cy="3962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000" b="1">
                <a:latin typeface="Helvetica" pitchFamily="34" charset="0"/>
              </a:rPr>
              <a:t>I/O</a:t>
            </a:r>
            <a:endParaRPr lang="en-US" altLang="en-US" sz="2000" b="1"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2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Parts of an Embedded System (cont.)</a:t>
            </a:r>
            <a:endParaRPr lang="en-US" altLang="en-US"/>
          </a:p>
        </p:txBody>
      </p:sp>
      <p:sp>
        <p:nvSpPr>
          <p:cNvPr id="1048663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Actuators - mechanical components (e.g., valve)</a:t>
            </a:r>
            <a:endParaRPr lang="en-US" altLang="en-US"/>
          </a:p>
          <a:p>
            <a:pPr lvl="0" eaLnBrk="1" hangingPunct="1"/>
            <a:r>
              <a:rPr lang="en-US" altLang="en-US"/>
              <a:t>Sensors - input data (e.g., accelerometer for airbag control)</a:t>
            </a:r>
            <a:endParaRPr lang="en-US" altLang="en-US"/>
          </a:p>
          <a:p>
            <a:pPr lvl="0" eaLnBrk="1" hangingPunct="1"/>
            <a:r>
              <a:rPr lang="en-US" altLang="en-US"/>
              <a:t>Data conversion, storage, processing</a:t>
            </a:r>
            <a:endParaRPr lang="en-US" altLang="en-US"/>
          </a:p>
          <a:p>
            <a:pPr lvl="0" eaLnBrk="1" hangingPunct="1"/>
            <a:r>
              <a:rPr lang="en-US" altLang="en-US"/>
              <a:t>Decision-making</a:t>
            </a:r>
            <a:endParaRPr lang="en-US" altLang="en-US"/>
          </a:p>
          <a:p>
            <a:pPr lvl="0" eaLnBrk="1" hangingPunct="1">
              <a:buNone/>
            </a:pPr>
            <a:endParaRPr lang="en-US" altLang="en-US"/>
          </a:p>
          <a:p>
            <a:pPr lvl="0" eaLnBrk="1" hangingPunct="1"/>
            <a:r>
              <a:rPr lang="en-US" altLang="en-US"/>
              <a:t>Range of implementation options</a:t>
            </a:r>
            <a:endParaRPr lang="en-US" altLang="en-US"/>
          </a:p>
          <a:p>
            <a:pPr lvl="0" eaLnBrk="1" hangingPunct="1"/>
            <a:r>
              <a:rPr lang="en-US" altLang="en-US"/>
              <a:t>Single-chip implementation: system on a chip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4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Functions and Design Criteria</a:t>
            </a:r>
            <a:endParaRPr lang="en-US" altLang="en-US"/>
          </a:p>
        </p:txBody>
      </p:sp>
      <p:sp>
        <p:nvSpPr>
          <p:cNvPr id="1048665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Monitoring and control functions for the overall system (e.g., vehicle control)</a:t>
            </a:r>
            <a:endParaRPr lang="en-US" altLang="en-US"/>
          </a:p>
          <a:p>
            <a:pPr lvl="0" eaLnBrk="1" hangingPunct="1"/>
            <a:r>
              <a:rPr lang="en-US" altLang="en-US"/>
              <a:t>Information-processing functions (e.g., telecommunication system -- data compression, routing, etc.)</a:t>
            </a:r>
            <a:endParaRPr lang="en-US" altLang="en-US"/>
          </a:p>
          <a:p>
            <a:pPr lvl="0" eaLnBrk="1" hangingPunct="1">
              <a:buNone/>
            </a:pPr>
            <a:endParaRPr lang="en-US" altLang="en-US"/>
          </a:p>
          <a:p>
            <a:pPr lvl="0" eaLnBrk="1" hangingPunct="1"/>
            <a:r>
              <a:rPr lang="en-US" altLang="en-US"/>
              <a:t>Criteria: performance, reliability, availability, safety, usability, etc.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6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Some Common Characteristics</a:t>
            </a:r>
            <a:endParaRPr lang="en-US" altLang="en-US"/>
          </a:p>
        </p:txBody>
      </p:sp>
      <p:sp>
        <p:nvSpPr>
          <p:cNvPr id="1048667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Single-functioned</a:t>
            </a:r>
            <a:endParaRPr lang="en-US" altLang="en-US"/>
          </a:p>
          <a:p>
            <a:pPr lvl="1" eaLnBrk="1" hangingPunct="1"/>
            <a:r>
              <a:rPr lang="en-US" altLang="en-US"/>
              <a:t>Executes a single program, repeatedly</a:t>
            </a:r>
            <a:endParaRPr lang="en-US" altLang="en-US"/>
          </a:p>
          <a:p>
            <a:pPr lvl="0" eaLnBrk="1" hangingPunct="1"/>
            <a:r>
              <a:rPr lang="en-US" altLang="en-US"/>
              <a:t>Tightly-constrained</a:t>
            </a:r>
            <a:endParaRPr lang="en-US" altLang="en-US"/>
          </a:p>
          <a:p>
            <a:pPr lvl="1" eaLnBrk="1" hangingPunct="1"/>
            <a:r>
              <a:rPr lang="en-US" altLang="en-US"/>
              <a:t>Low cost, low power, small, fast, etc.</a:t>
            </a:r>
            <a:endParaRPr lang="en-US" altLang="en-US"/>
          </a:p>
          <a:p>
            <a:pPr lvl="0" eaLnBrk="1" hangingPunct="1"/>
            <a:r>
              <a:rPr lang="en-US" altLang="en-US"/>
              <a:t>Reactive and real-time</a:t>
            </a:r>
            <a:endParaRPr lang="en-US" altLang="en-US"/>
          </a:p>
          <a:p>
            <a:pPr lvl="1" eaLnBrk="1" hangingPunct="1"/>
            <a:r>
              <a:rPr lang="en-US" altLang="en-US"/>
              <a:t>Continually reacts to changes in the system’s environment</a:t>
            </a:r>
            <a:endParaRPr lang="en-US" altLang="en-US"/>
          </a:p>
          <a:p>
            <a:pPr lvl="1" eaLnBrk="1" hangingPunct="1"/>
            <a:r>
              <a:rPr lang="en-US" altLang="en-US"/>
              <a:t>Must compute certain results in real-time without delay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8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An Embedded System Example</a:t>
            </a:r>
            <a:endParaRPr lang="en-US" altLang="en-US"/>
          </a:p>
        </p:txBody>
      </p:sp>
      <p:grpSp>
        <p:nvGrpSpPr>
          <p:cNvPr id="97" name="Group 96"/>
          <p:cNvGrpSpPr/>
          <p:nvPr/>
        </p:nvGrpSpPr>
        <p:grpSpPr>
          <a:xfrm rot="0">
            <a:off x="1219200" y="1676400"/>
            <a:ext cx="6172200" cy="3276600"/>
            <a:chOff x="1197" y="1849"/>
            <a:chExt cx="7215" cy="4052"/>
          </a:xfrm>
        </p:grpSpPr>
        <p:sp>
          <p:nvSpPr>
            <p:cNvPr id="1048669" name="Rectangle 6"/>
            <p:cNvSpPr/>
            <p:nvPr/>
          </p:nvSpPr>
          <p:spPr>
            <a:xfrm>
              <a:off x="8412" y="3563"/>
              <a:ext cx="0" cy="188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8670" name="Rectangle 7"/>
            <p:cNvSpPr/>
            <p:nvPr/>
          </p:nvSpPr>
          <p:spPr>
            <a:xfrm>
              <a:off x="1835" y="1849"/>
              <a:ext cx="2170" cy="490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grpSp>
          <p:nvGrpSpPr>
            <p:cNvPr id="98" name="Group 97"/>
            <p:cNvGrpSpPr/>
            <p:nvPr/>
          </p:nvGrpSpPr>
          <p:grpSpPr>
            <a:xfrm rot="0">
              <a:off x="1197" y="1862"/>
              <a:ext cx="6992" cy="4039"/>
              <a:chOff x="1248" y="2179"/>
              <a:chExt cx="6992" cy="4039"/>
            </a:xfrm>
          </p:grpSpPr>
          <p:sp>
            <p:nvSpPr>
              <p:cNvPr id="1048671" name="Rectangle 9"/>
              <p:cNvSpPr/>
              <p:nvPr/>
            </p:nvSpPr>
            <p:spPr>
              <a:xfrm>
                <a:off x="2099" y="2275"/>
                <a:ext cx="6126" cy="3865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8672" name="Rectangle 10"/>
              <p:cNvSpPr/>
              <p:nvPr/>
            </p:nvSpPr>
            <p:spPr>
              <a:xfrm>
                <a:off x="1949" y="2179"/>
                <a:ext cx="6176" cy="389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8673" name="Rectangle 11"/>
              <p:cNvSpPr/>
              <p:nvPr/>
            </p:nvSpPr>
            <p:spPr>
              <a:xfrm>
                <a:off x="4209" y="3787"/>
                <a:ext cx="1576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Microcontroller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674" name="Rectangle 12"/>
              <p:cNvSpPr/>
              <p:nvPr/>
            </p:nvSpPr>
            <p:spPr>
              <a:xfrm>
                <a:off x="3058" y="2733"/>
                <a:ext cx="1809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CCD preprocessor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675" name="Rectangle 13"/>
              <p:cNvSpPr/>
              <p:nvPr/>
            </p:nvSpPr>
            <p:spPr>
              <a:xfrm>
                <a:off x="5206" y="2733"/>
                <a:ext cx="1724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Pixel coprocessor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676" name="Rectangle 14"/>
              <p:cNvSpPr/>
              <p:nvPr/>
            </p:nvSpPr>
            <p:spPr>
              <a:xfrm>
                <a:off x="2131" y="2899"/>
                <a:ext cx="576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A2D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677" name="Rectangle 15"/>
              <p:cNvSpPr/>
              <p:nvPr/>
            </p:nvSpPr>
            <p:spPr>
              <a:xfrm>
                <a:off x="7334" y="2733"/>
                <a:ext cx="563" cy="41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D2A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678" name="Rectangle 16"/>
              <p:cNvSpPr/>
              <p:nvPr/>
            </p:nvSpPr>
            <p:spPr>
              <a:xfrm>
                <a:off x="2040" y="3787"/>
                <a:ext cx="1428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JPEG codec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679" name="Rectangle 17"/>
              <p:cNvSpPr/>
              <p:nvPr/>
            </p:nvSpPr>
            <p:spPr>
              <a:xfrm>
                <a:off x="2060" y="4436"/>
                <a:ext cx="1831" cy="402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DMA controller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680" name="Rectangle 18"/>
              <p:cNvSpPr/>
              <p:nvPr/>
            </p:nvSpPr>
            <p:spPr>
              <a:xfrm>
                <a:off x="2060" y="5490"/>
                <a:ext cx="1818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Memory controller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681" name="Rectangle 19"/>
              <p:cNvSpPr/>
              <p:nvPr/>
            </p:nvSpPr>
            <p:spPr>
              <a:xfrm>
                <a:off x="3989" y="5490"/>
                <a:ext cx="1702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ISA bus interface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682" name="Rectangle 20"/>
              <p:cNvSpPr/>
              <p:nvPr/>
            </p:nvSpPr>
            <p:spPr>
              <a:xfrm>
                <a:off x="5834" y="5490"/>
                <a:ext cx="894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UART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683" name="Rectangle 21"/>
              <p:cNvSpPr/>
              <p:nvPr/>
            </p:nvSpPr>
            <p:spPr>
              <a:xfrm>
                <a:off x="6900" y="5490"/>
                <a:ext cx="997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LCD ctrl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684" name="Rectangle 22"/>
              <p:cNvSpPr/>
              <p:nvPr/>
            </p:nvSpPr>
            <p:spPr>
              <a:xfrm>
                <a:off x="6650" y="4436"/>
                <a:ext cx="1247" cy="402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Display ctrl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685" name="Rectangle 23"/>
              <p:cNvSpPr/>
              <p:nvPr/>
            </p:nvSpPr>
            <p:spPr>
              <a:xfrm>
                <a:off x="6183" y="3787"/>
                <a:ext cx="1714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Multiplier/Accum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686" name="Freeform 24"/>
              <p:cNvSpPr/>
              <p:nvPr/>
            </p:nvSpPr>
            <p:spPr bwMode="auto">
              <a:xfrm>
                <a:off x="2810" y="3470"/>
                <a:ext cx="4810" cy="1"/>
              </a:xfrm>
              <a:custGeom>
                <a:avLst/>
                <a:gdLst/>
                <a:ahLst/>
                <a:cxnLst/>
                <a:rect l="0" t="0" r="r" b="b"/>
                <a:pathLst>
                  <a:path w="4810" h="1">
                    <a:moveTo>
                      <a:pt x="0" y="0"/>
                    </a:moveTo>
                    <a:lnTo>
                      <a:pt x="4810" y="0"/>
                    </a:lnTo>
                  </a:path>
                </a:pathLst>
              </a:custGeom>
              <a:solidFill>
                <a:srgbClr val="FFFFFF">
                  <a:alpha val="100000"/>
                </a:srgbClr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</p:sp>
          <p:sp>
            <p:nvSpPr>
              <p:cNvPr id="1048687" name="Freeform 25"/>
              <p:cNvSpPr/>
              <p:nvPr/>
            </p:nvSpPr>
            <p:spPr bwMode="auto">
              <a:xfrm>
                <a:off x="2809" y="5160"/>
                <a:ext cx="4411" cy="4"/>
              </a:xfrm>
              <a:custGeom>
                <a:avLst/>
                <a:gdLst/>
                <a:ahLst/>
                <a:cxnLst/>
                <a:rect l="0" t="0" r="r" b="b"/>
                <a:pathLst>
                  <a:path w="4411" h="4">
                    <a:moveTo>
                      <a:pt x="0" y="4"/>
                    </a:moveTo>
                    <a:lnTo>
                      <a:pt x="4411" y="0"/>
                    </a:lnTo>
                  </a:path>
                </a:pathLst>
              </a:custGeom>
              <a:solidFill>
                <a:srgbClr val="FFFFFF">
                  <a:alpha val="100000"/>
                </a:srgbClr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</p:sp>
          <p:grpSp>
            <p:nvGrpSpPr>
              <p:cNvPr id="99" name="Group 98"/>
              <p:cNvGrpSpPr/>
              <p:nvPr/>
            </p:nvGrpSpPr>
            <p:grpSpPr>
              <a:xfrm rot="0">
                <a:off x="4838" y="5895"/>
                <a:ext cx="158" cy="323"/>
                <a:chOff x="9915" y="11780"/>
                <a:chExt cx="158" cy="323"/>
              </a:xfrm>
            </p:grpSpPr>
            <p:sp>
              <p:nvSpPr>
                <p:cNvPr id="1048688" name="Line 27"/>
                <p:cNvSpPr/>
                <p:nvPr/>
              </p:nvSpPr>
              <p:spPr>
                <a:xfrm>
                  <a:off x="9994" y="11925"/>
                  <a:ext cx="1" cy="33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689" name="Freeform 28"/>
                <p:cNvSpPr/>
                <p:nvPr/>
              </p:nvSpPr>
              <p:spPr bwMode="auto">
                <a:xfrm>
                  <a:off x="9918" y="11780"/>
                  <a:ext cx="155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49">
                      <a:moveTo>
                        <a:pt x="155" y="149"/>
                      </a:moveTo>
                      <a:lnTo>
                        <a:pt x="76" y="0"/>
                      </a:lnTo>
                      <a:lnTo>
                        <a:pt x="0" y="149"/>
                      </a:lnTo>
                      <a:lnTo>
                        <a:pt x="155" y="149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690" name="Freeform 29"/>
                <p:cNvSpPr/>
                <p:nvPr/>
              </p:nvSpPr>
              <p:spPr bwMode="auto">
                <a:xfrm>
                  <a:off x="9915" y="11954"/>
                  <a:ext cx="156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49">
                      <a:moveTo>
                        <a:pt x="0" y="0"/>
                      </a:moveTo>
                      <a:lnTo>
                        <a:pt x="79" y="149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00" name="Group 99"/>
              <p:cNvGrpSpPr/>
              <p:nvPr/>
            </p:nvGrpSpPr>
            <p:grpSpPr>
              <a:xfrm rot="0">
                <a:off x="6212" y="5895"/>
                <a:ext cx="158" cy="323"/>
                <a:chOff x="11499" y="11780"/>
                <a:chExt cx="158" cy="323"/>
              </a:xfrm>
            </p:grpSpPr>
            <p:sp>
              <p:nvSpPr>
                <p:cNvPr id="1048691" name="Line 31"/>
                <p:cNvSpPr/>
                <p:nvPr/>
              </p:nvSpPr>
              <p:spPr>
                <a:xfrm>
                  <a:off x="11578" y="11925"/>
                  <a:ext cx="1" cy="33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692" name="Freeform 32"/>
                <p:cNvSpPr/>
                <p:nvPr/>
              </p:nvSpPr>
              <p:spPr bwMode="auto">
                <a:xfrm>
                  <a:off x="11502" y="11780"/>
                  <a:ext cx="155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49">
                      <a:moveTo>
                        <a:pt x="155" y="149"/>
                      </a:moveTo>
                      <a:lnTo>
                        <a:pt x="76" y="0"/>
                      </a:lnTo>
                      <a:lnTo>
                        <a:pt x="0" y="149"/>
                      </a:lnTo>
                      <a:lnTo>
                        <a:pt x="155" y="149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693" name="Freeform 33"/>
                <p:cNvSpPr/>
                <p:nvPr/>
              </p:nvSpPr>
              <p:spPr bwMode="auto">
                <a:xfrm>
                  <a:off x="11499" y="11954"/>
                  <a:ext cx="156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49">
                      <a:moveTo>
                        <a:pt x="0" y="0"/>
                      </a:moveTo>
                      <a:lnTo>
                        <a:pt x="79" y="149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01" name="Group 100"/>
              <p:cNvGrpSpPr/>
              <p:nvPr/>
            </p:nvGrpSpPr>
            <p:grpSpPr>
              <a:xfrm rot="0">
                <a:off x="2999" y="5895"/>
                <a:ext cx="158" cy="323"/>
                <a:chOff x="7666" y="11780"/>
                <a:chExt cx="158" cy="323"/>
              </a:xfrm>
            </p:grpSpPr>
            <p:sp>
              <p:nvSpPr>
                <p:cNvPr id="1048694" name="Line 35"/>
                <p:cNvSpPr/>
                <p:nvPr/>
              </p:nvSpPr>
              <p:spPr>
                <a:xfrm>
                  <a:off x="7745" y="11925"/>
                  <a:ext cx="1" cy="33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695" name="Freeform 36"/>
                <p:cNvSpPr/>
                <p:nvPr/>
              </p:nvSpPr>
              <p:spPr bwMode="auto">
                <a:xfrm>
                  <a:off x="7669" y="11780"/>
                  <a:ext cx="155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49">
                      <a:moveTo>
                        <a:pt x="155" y="149"/>
                      </a:moveTo>
                      <a:lnTo>
                        <a:pt x="76" y="0"/>
                      </a:lnTo>
                      <a:lnTo>
                        <a:pt x="0" y="149"/>
                      </a:lnTo>
                      <a:lnTo>
                        <a:pt x="155" y="149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696" name="Freeform 37"/>
                <p:cNvSpPr/>
                <p:nvPr/>
              </p:nvSpPr>
              <p:spPr bwMode="auto">
                <a:xfrm>
                  <a:off x="7666" y="11954"/>
                  <a:ext cx="156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49">
                      <a:moveTo>
                        <a:pt x="0" y="0"/>
                      </a:moveTo>
                      <a:lnTo>
                        <a:pt x="79" y="149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02" name="Group 101"/>
              <p:cNvGrpSpPr/>
              <p:nvPr/>
            </p:nvGrpSpPr>
            <p:grpSpPr>
              <a:xfrm rot="0">
                <a:off x="2730" y="5164"/>
                <a:ext cx="158" cy="326"/>
                <a:chOff x="7417" y="11049"/>
                <a:chExt cx="158" cy="326"/>
              </a:xfrm>
            </p:grpSpPr>
            <p:sp>
              <p:nvSpPr>
                <p:cNvPr id="1048697" name="Line 39"/>
                <p:cNvSpPr/>
                <p:nvPr/>
              </p:nvSpPr>
              <p:spPr>
                <a:xfrm>
                  <a:off x="7496" y="11194"/>
                  <a:ext cx="1" cy="36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698" name="Freeform 40"/>
                <p:cNvSpPr/>
                <p:nvPr/>
              </p:nvSpPr>
              <p:spPr bwMode="auto">
                <a:xfrm>
                  <a:off x="7419" y="11049"/>
                  <a:ext cx="156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50">
                      <a:moveTo>
                        <a:pt x="156" y="150"/>
                      </a:moveTo>
                      <a:lnTo>
                        <a:pt x="77" y="0"/>
                      </a:lnTo>
                      <a:lnTo>
                        <a:pt x="0" y="150"/>
                      </a:lnTo>
                      <a:lnTo>
                        <a:pt x="156" y="15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699" name="Freeform 41"/>
                <p:cNvSpPr/>
                <p:nvPr/>
              </p:nvSpPr>
              <p:spPr bwMode="auto">
                <a:xfrm>
                  <a:off x="7417" y="11225"/>
                  <a:ext cx="155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50">
                      <a:moveTo>
                        <a:pt x="0" y="0"/>
                      </a:moveTo>
                      <a:lnTo>
                        <a:pt x="79" y="150"/>
                      </a:lnTo>
                      <a:lnTo>
                        <a:pt x="155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03" name="Group 102"/>
              <p:cNvGrpSpPr/>
              <p:nvPr/>
            </p:nvGrpSpPr>
            <p:grpSpPr>
              <a:xfrm rot="0">
                <a:off x="7147" y="4841"/>
                <a:ext cx="158" cy="323"/>
                <a:chOff x="12414" y="10726"/>
                <a:chExt cx="158" cy="323"/>
              </a:xfrm>
            </p:grpSpPr>
            <p:sp>
              <p:nvSpPr>
                <p:cNvPr id="1048700" name="Line 43"/>
                <p:cNvSpPr/>
                <p:nvPr/>
              </p:nvSpPr>
              <p:spPr>
                <a:xfrm>
                  <a:off x="12493" y="10871"/>
                  <a:ext cx="1" cy="33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701" name="Freeform 44"/>
                <p:cNvSpPr/>
                <p:nvPr/>
              </p:nvSpPr>
              <p:spPr bwMode="auto">
                <a:xfrm>
                  <a:off x="12416" y="10726"/>
                  <a:ext cx="156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49">
                      <a:moveTo>
                        <a:pt x="156" y="149"/>
                      </a:moveTo>
                      <a:lnTo>
                        <a:pt x="77" y="0"/>
                      </a:lnTo>
                      <a:lnTo>
                        <a:pt x="0" y="149"/>
                      </a:lnTo>
                      <a:lnTo>
                        <a:pt x="156" y="149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702" name="Freeform 45"/>
                <p:cNvSpPr/>
                <p:nvPr/>
              </p:nvSpPr>
              <p:spPr bwMode="auto">
                <a:xfrm>
                  <a:off x="12414" y="10900"/>
                  <a:ext cx="155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49">
                      <a:moveTo>
                        <a:pt x="0" y="0"/>
                      </a:moveTo>
                      <a:lnTo>
                        <a:pt x="79" y="149"/>
                      </a:lnTo>
                      <a:lnTo>
                        <a:pt x="155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04" name="Group 103"/>
              <p:cNvGrpSpPr/>
              <p:nvPr/>
            </p:nvGrpSpPr>
            <p:grpSpPr>
              <a:xfrm rot="0">
                <a:off x="7344" y="4841"/>
                <a:ext cx="156" cy="649"/>
                <a:chOff x="12831" y="10726"/>
                <a:chExt cx="156" cy="649"/>
              </a:xfrm>
            </p:grpSpPr>
            <p:sp>
              <p:nvSpPr>
                <p:cNvPr id="1048703" name="Line 47"/>
                <p:cNvSpPr/>
                <p:nvPr/>
              </p:nvSpPr>
              <p:spPr>
                <a:xfrm>
                  <a:off x="12910" y="10726"/>
                  <a:ext cx="1" cy="504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704" name="Freeform 48"/>
                <p:cNvSpPr/>
                <p:nvPr/>
              </p:nvSpPr>
              <p:spPr bwMode="auto">
                <a:xfrm>
                  <a:off x="12831" y="11225"/>
                  <a:ext cx="156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50">
                      <a:moveTo>
                        <a:pt x="0" y="0"/>
                      </a:moveTo>
                      <a:lnTo>
                        <a:pt x="79" y="150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05" name="Group 104"/>
              <p:cNvGrpSpPr/>
              <p:nvPr/>
            </p:nvGrpSpPr>
            <p:grpSpPr>
              <a:xfrm rot="0">
                <a:off x="4848" y="5164"/>
                <a:ext cx="158" cy="326"/>
                <a:chOff x="9915" y="11049"/>
                <a:chExt cx="158" cy="326"/>
              </a:xfrm>
            </p:grpSpPr>
            <p:sp>
              <p:nvSpPr>
                <p:cNvPr id="1048705" name="Line 50"/>
                <p:cNvSpPr/>
                <p:nvPr/>
              </p:nvSpPr>
              <p:spPr>
                <a:xfrm>
                  <a:off x="9994" y="11194"/>
                  <a:ext cx="1" cy="36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706" name="Freeform 51"/>
                <p:cNvSpPr/>
                <p:nvPr/>
              </p:nvSpPr>
              <p:spPr bwMode="auto">
                <a:xfrm>
                  <a:off x="9918" y="11049"/>
                  <a:ext cx="155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50">
                      <a:moveTo>
                        <a:pt x="155" y="150"/>
                      </a:moveTo>
                      <a:lnTo>
                        <a:pt x="76" y="0"/>
                      </a:lnTo>
                      <a:lnTo>
                        <a:pt x="0" y="150"/>
                      </a:lnTo>
                      <a:lnTo>
                        <a:pt x="155" y="15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707" name="Freeform 52"/>
                <p:cNvSpPr/>
                <p:nvPr/>
              </p:nvSpPr>
              <p:spPr bwMode="auto">
                <a:xfrm>
                  <a:off x="9915" y="11225"/>
                  <a:ext cx="156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50">
                      <a:moveTo>
                        <a:pt x="0" y="0"/>
                      </a:moveTo>
                      <a:lnTo>
                        <a:pt x="79" y="150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06" name="Group 105"/>
              <p:cNvGrpSpPr/>
              <p:nvPr/>
            </p:nvGrpSpPr>
            <p:grpSpPr>
              <a:xfrm rot="0">
                <a:off x="6222" y="5164"/>
                <a:ext cx="158" cy="326"/>
                <a:chOff x="11499" y="11049"/>
                <a:chExt cx="158" cy="326"/>
              </a:xfrm>
            </p:grpSpPr>
            <p:sp>
              <p:nvSpPr>
                <p:cNvPr id="1048708" name="Line 54"/>
                <p:cNvSpPr/>
                <p:nvPr/>
              </p:nvSpPr>
              <p:spPr>
                <a:xfrm>
                  <a:off x="11578" y="11194"/>
                  <a:ext cx="1" cy="36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709" name="Freeform 55"/>
                <p:cNvSpPr/>
                <p:nvPr/>
              </p:nvSpPr>
              <p:spPr bwMode="auto">
                <a:xfrm>
                  <a:off x="11502" y="11049"/>
                  <a:ext cx="155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50">
                      <a:moveTo>
                        <a:pt x="155" y="150"/>
                      </a:moveTo>
                      <a:lnTo>
                        <a:pt x="76" y="0"/>
                      </a:lnTo>
                      <a:lnTo>
                        <a:pt x="0" y="150"/>
                      </a:lnTo>
                      <a:lnTo>
                        <a:pt x="155" y="15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710" name="Freeform 56"/>
                <p:cNvSpPr/>
                <p:nvPr/>
              </p:nvSpPr>
              <p:spPr bwMode="auto">
                <a:xfrm>
                  <a:off x="11499" y="11225"/>
                  <a:ext cx="156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50">
                      <a:moveTo>
                        <a:pt x="0" y="0"/>
                      </a:moveTo>
                      <a:lnTo>
                        <a:pt x="79" y="150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07" name="Group 106"/>
              <p:cNvGrpSpPr/>
              <p:nvPr/>
            </p:nvGrpSpPr>
            <p:grpSpPr>
              <a:xfrm rot="0">
                <a:off x="2730" y="3464"/>
                <a:ext cx="158" cy="323"/>
                <a:chOff x="7417" y="9349"/>
                <a:chExt cx="158" cy="323"/>
              </a:xfrm>
            </p:grpSpPr>
            <p:sp>
              <p:nvSpPr>
                <p:cNvPr id="1048711" name="Line 58"/>
                <p:cNvSpPr/>
                <p:nvPr/>
              </p:nvSpPr>
              <p:spPr>
                <a:xfrm>
                  <a:off x="7496" y="9493"/>
                  <a:ext cx="1" cy="34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712" name="Freeform 59"/>
                <p:cNvSpPr/>
                <p:nvPr/>
              </p:nvSpPr>
              <p:spPr bwMode="auto">
                <a:xfrm>
                  <a:off x="7419" y="9349"/>
                  <a:ext cx="156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49">
                      <a:moveTo>
                        <a:pt x="156" y="149"/>
                      </a:moveTo>
                      <a:lnTo>
                        <a:pt x="77" y="0"/>
                      </a:lnTo>
                      <a:lnTo>
                        <a:pt x="0" y="149"/>
                      </a:lnTo>
                      <a:lnTo>
                        <a:pt x="156" y="149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713" name="Freeform 60"/>
                <p:cNvSpPr/>
                <p:nvPr/>
              </p:nvSpPr>
              <p:spPr bwMode="auto">
                <a:xfrm>
                  <a:off x="7417" y="9522"/>
                  <a:ext cx="155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50">
                      <a:moveTo>
                        <a:pt x="0" y="0"/>
                      </a:moveTo>
                      <a:lnTo>
                        <a:pt x="79" y="150"/>
                      </a:lnTo>
                      <a:lnTo>
                        <a:pt x="155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08" name="Group 107"/>
              <p:cNvGrpSpPr/>
              <p:nvPr/>
            </p:nvGrpSpPr>
            <p:grpSpPr>
              <a:xfrm rot="0">
                <a:off x="3870" y="3138"/>
                <a:ext cx="158" cy="326"/>
                <a:chOff x="8667" y="9023"/>
                <a:chExt cx="158" cy="326"/>
              </a:xfrm>
            </p:grpSpPr>
            <p:sp>
              <p:nvSpPr>
                <p:cNvPr id="1048714" name="Line 62"/>
                <p:cNvSpPr/>
                <p:nvPr/>
              </p:nvSpPr>
              <p:spPr>
                <a:xfrm>
                  <a:off x="8746" y="9168"/>
                  <a:ext cx="1" cy="36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715" name="Freeform 63"/>
                <p:cNvSpPr/>
                <p:nvPr/>
              </p:nvSpPr>
              <p:spPr bwMode="auto">
                <a:xfrm>
                  <a:off x="8670" y="9023"/>
                  <a:ext cx="155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50">
                      <a:moveTo>
                        <a:pt x="155" y="150"/>
                      </a:moveTo>
                      <a:lnTo>
                        <a:pt x="76" y="0"/>
                      </a:lnTo>
                      <a:lnTo>
                        <a:pt x="0" y="150"/>
                      </a:lnTo>
                      <a:lnTo>
                        <a:pt x="155" y="15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716" name="Freeform 64"/>
                <p:cNvSpPr/>
                <p:nvPr/>
              </p:nvSpPr>
              <p:spPr bwMode="auto">
                <a:xfrm>
                  <a:off x="8667" y="9199"/>
                  <a:ext cx="156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50">
                      <a:moveTo>
                        <a:pt x="0" y="0"/>
                      </a:moveTo>
                      <a:lnTo>
                        <a:pt x="79" y="150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09" name="Group 108"/>
              <p:cNvGrpSpPr/>
              <p:nvPr/>
            </p:nvGrpSpPr>
            <p:grpSpPr>
              <a:xfrm rot="0">
                <a:off x="5984" y="3138"/>
                <a:ext cx="158" cy="326"/>
                <a:chOff x="11331" y="9023"/>
                <a:chExt cx="158" cy="326"/>
              </a:xfrm>
            </p:grpSpPr>
            <p:sp>
              <p:nvSpPr>
                <p:cNvPr id="1048717" name="Line 66"/>
                <p:cNvSpPr/>
                <p:nvPr/>
              </p:nvSpPr>
              <p:spPr>
                <a:xfrm>
                  <a:off x="11410" y="9168"/>
                  <a:ext cx="1" cy="36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718" name="Freeform 67"/>
                <p:cNvSpPr/>
                <p:nvPr/>
              </p:nvSpPr>
              <p:spPr bwMode="auto">
                <a:xfrm>
                  <a:off x="11334" y="9023"/>
                  <a:ext cx="155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50">
                      <a:moveTo>
                        <a:pt x="155" y="150"/>
                      </a:moveTo>
                      <a:lnTo>
                        <a:pt x="76" y="0"/>
                      </a:lnTo>
                      <a:lnTo>
                        <a:pt x="0" y="150"/>
                      </a:lnTo>
                      <a:lnTo>
                        <a:pt x="155" y="15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719" name="Freeform 68"/>
                <p:cNvSpPr/>
                <p:nvPr/>
              </p:nvSpPr>
              <p:spPr bwMode="auto">
                <a:xfrm>
                  <a:off x="11331" y="9199"/>
                  <a:ext cx="156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50">
                      <a:moveTo>
                        <a:pt x="0" y="0"/>
                      </a:moveTo>
                      <a:lnTo>
                        <a:pt x="79" y="150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10" name="Group 109"/>
              <p:cNvGrpSpPr/>
              <p:nvPr/>
            </p:nvGrpSpPr>
            <p:grpSpPr>
              <a:xfrm rot="0">
                <a:off x="7542" y="3138"/>
                <a:ext cx="156" cy="326"/>
                <a:chOff x="12999" y="9023"/>
                <a:chExt cx="156" cy="326"/>
              </a:xfrm>
            </p:grpSpPr>
            <p:sp>
              <p:nvSpPr>
                <p:cNvPr id="1048720" name="Line 70"/>
                <p:cNvSpPr/>
                <p:nvPr/>
              </p:nvSpPr>
              <p:spPr>
                <a:xfrm flipV="1">
                  <a:off x="13076" y="9168"/>
                  <a:ext cx="1" cy="181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721" name="Freeform 71"/>
                <p:cNvSpPr/>
                <p:nvPr/>
              </p:nvSpPr>
              <p:spPr bwMode="auto">
                <a:xfrm>
                  <a:off x="12999" y="9023"/>
                  <a:ext cx="156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50">
                      <a:moveTo>
                        <a:pt x="156" y="150"/>
                      </a:moveTo>
                      <a:lnTo>
                        <a:pt x="77" y="0"/>
                      </a:lnTo>
                      <a:lnTo>
                        <a:pt x="0" y="150"/>
                      </a:lnTo>
                      <a:lnTo>
                        <a:pt x="156" y="15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11" name="Group 110"/>
              <p:cNvGrpSpPr/>
              <p:nvPr/>
            </p:nvGrpSpPr>
            <p:grpSpPr>
              <a:xfrm rot="0">
                <a:off x="7225" y="3464"/>
                <a:ext cx="158" cy="323"/>
                <a:chOff x="12332" y="9349"/>
                <a:chExt cx="158" cy="323"/>
              </a:xfrm>
            </p:grpSpPr>
            <p:sp>
              <p:nvSpPr>
                <p:cNvPr id="1048722" name="Line 73"/>
                <p:cNvSpPr/>
                <p:nvPr/>
              </p:nvSpPr>
              <p:spPr>
                <a:xfrm>
                  <a:off x="12411" y="9493"/>
                  <a:ext cx="1" cy="34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723" name="Freeform 74"/>
                <p:cNvSpPr/>
                <p:nvPr/>
              </p:nvSpPr>
              <p:spPr bwMode="auto">
                <a:xfrm>
                  <a:off x="12335" y="9349"/>
                  <a:ext cx="155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49">
                      <a:moveTo>
                        <a:pt x="155" y="149"/>
                      </a:moveTo>
                      <a:lnTo>
                        <a:pt x="76" y="0"/>
                      </a:lnTo>
                      <a:lnTo>
                        <a:pt x="0" y="149"/>
                      </a:lnTo>
                      <a:lnTo>
                        <a:pt x="155" y="149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724" name="Freeform 75"/>
                <p:cNvSpPr/>
                <p:nvPr/>
              </p:nvSpPr>
              <p:spPr bwMode="auto">
                <a:xfrm>
                  <a:off x="12332" y="9522"/>
                  <a:ext cx="156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50">
                      <a:moveTo>
                        <a:pt x="0" y="0"/>
                      </a:moveTo>
                      <a:lnTo>
                        <a:pt x="79" y="150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12" name="Group 111"/>
              <p:cNvGrpSpPr/>
              <p:nvPr/>
            </p:nvGrpSpPr>
            <p:grpSpPr>
              <a:xfrm rot="0">
                <a:off x="4978" y="3464"/>
                <a:ext cx="158" cy="323"/>
                <a:chOff x="9915" y="9349"/>
                <a:chExt cx="158" cy="323"/>
              </a:xfrm>
            </p:grpSpPr>
            <p:sp>
              <p:nvSpPr>
                <p:cNvPr id="1048725" name="Line 77"/>
                <p:cNvSpPr/>
                <p:nvPr/>
              </p:nvSpPr>
              <p:spPr>
                <a:xfrm>
                  <a:off x="9994" y="9493"/>
                  <a:ext cx="1" cy="34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726" name="Freeform 78"/>
                <p:cNvSpPr/>
                <p:nvPr/>
              </p:nvSpPr>
              <p:spPr bwMode="auto">
                <a:xfrm>
                  <a:off x="9918" y="9349"/>
                  <a:ext cx="155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49">
                      <a:moveTo>
                        <a:pt x="155" y="149"/>
                      </a:moveTo>
                      <a:lnTo>
                        <a:pt x="76" y="0"/>
                      </a:lnTo>
                      <a:lnTo>
                        <a:pt x="0" y="149"/>
                      </a:lnTo>
                      <a:lnTo>
                        <a:pt x="155" y="149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727" name="Freeform 79"/>
                <p:cNvSpPr/>
                <p:nvPr/>
              </p:nvSpPr>
              <p:spPr bwMode="auto">
                <a:xfrm>
                  <a:off x="9915" y="9522"/>
                  <a:ext cx="156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50">
                      <a:moveTo>
                        <a:pt x="0" y="0"/>
                      </a:moveTo>
                      <a:lnTo>
                        <a:pt x="79" y="150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sp>
            <p:nvSpPr>
              <p:cNvPr id="1048728" name="Rectangle 80"/>
              <p:cNvSpPr/>
              <p:nvPr/>
            </p:nvSpPr>
            <p:spPr>
              <a:xfrm>
                <a:off x="2170" y="2252"/>
                <a:ext cx="1375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0" tIns="0" rIns="0" bIns="0" anchor="t">
                <a:spAutoFit/>
              </a:bodyPr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Digital camera chip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729" name="Oval 81"/>
              <p:cNvSpPr/>
              <p:nvPr/>
            </p:nvSpPr>
            <p:spPr>
              <a:xfrm>
                <a:off x="1248" y="2672"/>
                <a:ext cx="144" cy="72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8730" name="Rectangle 82"/>
              <p:cNvSpPr/>
              <p:nvPr/>
            </p:nvSpPr>
            <p:spPr>
              <a:xfrm>
                <a:off x="1617" y="2691"/>
                <a:ext cx="144" cy="72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8731" name="Rectangle 83"/>
              <p:cNvSpPr/>
              <p:nvPr/>
            </p:nvSpPr>
            <p:spPr>
              <a:xfrm>
                <a:off x="1248" y="3393"/>
                <a:ext cx="283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0" tIns="0" rIns="0" bIns="0" anchor="t">
                <a:spAutoFit/>
              </a:bodyPr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lens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732" name="Rectangle 84"/>
              <p:cNvSpPr/>
              <p:nvPr/>
            </p:nvSpPr>
            <p:spPr>
              <a:xfrm>
                <a:off x="1463" y="2462"/>
                <a:ext cx="305" cy="1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0" tIns="0" rIns="0" bIns="0" anchor="t">
                <a:spAutoFit/>
              </a:bodyPr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CCD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733" name="Freeform 85"/>
              <p:cNvSpPr/>
              <p:nvPr/>
            </p:nvSpPr>
            <p:spPr bwMode="auto">
              <a:xfrm>
                <a:off x="2710" y="3050"/>
                <a:ext cx="350" cy="1"/>
              </a:xfrm>
              <a:custGeom>
                <a:avLst/>
                <a:gdLst/>
                <a:ahLst/>
                <a:cxnLst/>
                <a:rect l="0" t="0" r="r" b="b"/>
                <a:pathLst>
                  <a:path w="350" h="1">
                    <a:moveTo>
                      <a:pt x="0" y="0"/>
                    </a:moveTo>
                    <a:lnTo>
                      <a:pt x="350" y="1"/>
                    </a:lnTo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tailEnd type="triangle" w="med" len="med"/>
              </a:ln>
            </p:spPr>
          </p:sp>
          <p:sp>
            <p:nvSpPr>
              <p:cNvPr id="1048734" name="Line 86"/>
              <p:cNvSpPr/>
              <p:nvPr/>
            </p:nvSpPr>
            <p:spPr>
              <a:xfrm>
                <a:off x="1770" y="3110"/>
                <a:ext cx="360" cy="0"/>
              </a:xfrm>
              <a:prstGeom prst="line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tailEnd type="triangle" w="med" len="med"/>
              </a:ln>
            </p:spPr>
          </p:sp>
          <p:sp>
            <p:nvSpPr>
              <p:cNvPr id="1048735" name="Line 87"/>
              <p:cNvSpPr/>
              <p:nvPr/>
            </p:nvSpPr>
            <p:spPr>
              <a:xfrm>
                <a:off x="1390" y="3120"/>
                <a:ext cx="230" cy="0"/>
              </a:xfrm>
              <a:prstGeom prst="line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tailEnd type="triangle" w="med" len="med"/>
              </a:ln>
            </p:spPr>
          </p:sp>
          <p:sp>
            <p:nvSpPr>
              <p:cNvPr id="1048736" name="Freeform 88"/>
              <p:cNvSpPr/>
              <p:nvPr/>
            </p:nvSpPr>
            <p:spPr bwMode="auto">
              <a:xfrm>
                <a:off x="7910" y="2950"/>
                <a:ext cx="330" cy="1"/>
              </a:xfrm>
              <a:custGeom>
                <a:avLst/>
                <a:gdLst/>
                <a:ahLst/>
                <a:cxnLst/>
                <a:rect l="0" t="0" r="r" b="b"/>
                <a:pathLst>
                  <a:path w="330" h="1">
                    <a:moveTo>
                      <a:pt x="0" y="0"/>
                    </a:moveTo>
                    <a:lnTo>
                      <a:pt x="330" y="0"/>
                    </a:lnTo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tailEnd type="triangle" w="med" len="med"/>
              </a:ln>
            </p:spPr>
          </p:sp>
          <p:sp>
            <p:nvSpPr>
              <p:cNvPr id="1048737" name="Line 89"/>
              <p:cNvSpPr/>
              <p:nvPr/>
            </p:nvSpPr>
            <p:spPr>
              <a:xfrm flipH="1">
                <a:off x="1760" y="2820"/>
                <a:ext cx="1300" cy="0"/>
              </a:xfrm>
              <a:prstGeom prst="line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tailEnd type="triangle" w="med" len="med"/>
              </a:ln>
            </p:spPr>
          </p:sp>
          <p:sp>
            <p:nvSpPr>
              <p:cNvPr id="1048738" name="Line 90"/>
              <p:cNvSpPr/>
              <p:nvPr/>
            </p:nvSpPr>
            <p:spPr>
              <a:xfrm>
                <a:off x="5055" y="4185"/>
                <a:ext cx="0" cy="990"/>
              </a:xfrm>
              <a:prstGeom prst="line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sp>
          <p:sp>
            <p:nvSpPr>
              <p:cNvPr id="1048739" name="Line 91"/>
              <p:cNvSpPr/>
              <p:nvPr/>
            </p:nvSpPr>
            <p:spPr>
              <a:xfrm>
                <a:off x="2809" y="4986"/>
                <a:ext cx="1" cy="33"/>
              </a:xfrm>
              <a:prstGeom prst="line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</p:sp>
          <p:sp>
            <p:nvSpPr>
              <p:cNvPr id="1048740" name="Freeform 92"/>
              <p:cNvSpPr/>
              <p:nvPr/>
            </p:nvSpPr>
            <p:spPr bwMode="auto">
              <a:xfrm>
                <a:off x="2732" y="4841"/>
                <a:ext cx="156" cy="149"/>
              </a:xfrm>
              <a:custGeom>
                <a:avLst/>
                <a:gdLst/>
                <a:ahLst/>
                <a:cxnLst/>
                <a:rect l="0" t="0" r="r" b="b"/>
                <a:pathLst>
                  <a:path w="156" h="149">
                    <a:moveTo>
                      <a:pt x="156" y="149"/>
                    </a:moveTo>
                    <a:lnTo>
                      <a:pt x="77" y="0"/>
                    </a:lnTo>
                    <a:lnTo>
                      <a:pt x="0" y="149"/>
                    </a:lnTo>
                    <a:lnTo>
                      <a:pt x="156" y="149"/>
                    </a:lnTo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noFill/>
              </a:ln>
            </p:spPr>
          </p:sp>
          <p:sp>
            <p:nvSpPr>
              <p:cNvPr id="1048741" name="Freeform 93"/>
              <p:cNvSpPr/>
              <p:nvPr/>
            </p:nvSpPr>
            <p:spPr bwMode="auto">
              <a:xfrm>
                <a:off x="2730" y="5015"/>
                <a:ext cx="155" cy="149"/>
              </a:xfrm>
              <a:custGeom>
                <a:avLst/>
                <a:gdLst/>
                <a:ahLst/>
                <a:cxnLst/>
                <a:rect l="0" t="0" r="r" b="b"/>
                <a:pathLst>
                  <a:path w="155" h="149">
                    <a:moveTo>
                      <a:pt x="0" y="0"/>
                    </a:moveTo>
                    <a:lnTo>
                      <a:pt x="79" y="149"/>
                    </a:lnTo>
                    <a:lnTo>
                      <a:pt x="155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noFill/>
              </a:ln>
            </p:spPr>
          </p:sp>
          <p:sp>
            <p:nvSpPr>
              <p:cNvPr id="1048742" name="Freeform 94"/>
              <p:cNvSpPr/>
              <p:nvPr/>
            </p:nvSpPr>
            <p:spPr bwMode="auto">
              <a:xfrm>
                <a:off x="7910" y="5670"/>
                <a:ext cx="330" cy="1"/>
              </a:xfrm>
              <a:custGeom>
                <a:avLst/>
                <a:gdLst/>
                <a:ahLst/>
                <a:cxnLst/>
                <a:rect l="0" t="0" r="r" b="b"/>
                <a:pathLst>
                  <a:path w="330" h="1">
                    <a:moveTo>
                      <a:pt x="0" y="0"/>
                    </a:moveTo>
                    <a:lnTo>
                      <a:pt x="330" y="0"/>
                    </a:lnTo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tailEnd type="triangle" w="med" len="med"/>
              </a:ln>
            </p:spPr>
          </p:sp>
        </p:grpSp>
      </p:grpSp>
      <p:sp>
        <p:nvSpPr>
          <p:cNvPr id="1048743" name="Rectangle 95"/>
          <p:cNvSpPr/>
          <p:nvPr/>
        </p:nvSpPr>
        <p:spPr>
          <a:xfrm>
            <a:off x="304800" y="4953000"/>
            <a:ext cx="8382000" cy="14478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/>
            <a:r>
              <a:rPr lang="en-US" altLang="en-US" sz="2400"/>
              <a:t>Single-functioned -- always a digital camera</a:t>
            </a:r>
            <a:endParaRPr lang="en-US" altLang="en-US" sz="2400"/>
          </a:p>
          <a:p>
            <a:pPr marL="342900" lvl="0" indent="-342900" eaLnBrk="1" hangingPunct="1"/>
            <a:r>
              <a:rPr lang="en-US" altLang="en-US" sz="2400"/>
              <a:t>Tightly-constrained -- Low cost, low power, small, fast</a:t>
            </a:r>
            <a:endParaRPr lang="en-US" altLang="en-US" sz="2400"/>
          </a:p>
          <a:p>
            <a:pPr marL="342900" lvl="0" indent="-342900" eaLnBrk="1" hangingPunct="1"/>
            <a:r>
              <a:rPr lang="en-US" altLang="en-US" sz="2400"/>
              <a:t>Reactive and real-time -- only to a small extent</a:t>
            </a:r>
            <a:endParaRPr lang="en-US" altLang="en-US" sz="2400"/>
          </a:p>
        </p:txBody>
      </p:sp>
      <p:graphicFrame>
        <p:nvGraphicFramePr>
          <p:cNvPr id="4194319" name="Object 4194318"/>
          <p:cNvGraphicFramePr/>
          <p:nvPr/>
        </p:nvGraphicFramePr>
        <p:xfrm>
          <a:off x="7696200" y="1676400"/>
          <a:ext cx="7461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" name="Clip" showAsIcon="1" r:id="rId1" imgW="638175" imgH="407670" progId="MS_ClipArt_Gallery.5">
                  <p:embed followColorScheme="full"/>
                </p:oleObj>
              </mc:Choice>
              <mc:Fallback>
                <p:oleObj name="Clip" showAsIcon="1" r:id="rId1" imgW="638175" imgH="407670" progId="MS_ClipArt_Gallery.5">
                  <p:embed followColorScheme="full"/>
                  <p:pic>
                    <p:nvPicPr>
                      <p:cNvPr id="0" name="Object 96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7696200" y="1676400"/>
                        <a:ext cx="7461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97193" name="Picture 97" descr="ib_chip02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7848600" y="2362200"/>
            <a:ext cx="3429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44" name="Line 98"/>
          <p:cNvSpPr/>
          <p:nvPr/>
        </p:nvSpPr>
        <p:spPr>
          <a:xfrm flipH="1">
            <a:off x="7848600" y="2057400"/>
            <a:ext cx="152400" cy="381000"/>
          </a:xfrm>
          <a:prstGeom prst="line">
            <a:avLst/>
          </a:prstGeom>
          <a:noFill/>
          <a:ln w="12700" cap="sq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sp>
      <p:sp>
        <p:nvSpPr>
          <p:cNvPr id="1048745" name="Line 99"/>
          <p:cNvSpPr/>
          <p:nvPr/>
        </p:nvSpPr>
        <p:spPr>
          <a:xfrm>
            <a:off x="8001000" y="2057400"/>
            <a:ext cx="228600" cy="381000"/>
          </a:xfrm>
          <a:prstGeom prst="line">
            <a:avLst/>
          </a:prstGeom>
          <a:noFill/>
          <a:ln w="12700" cap="sq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sp>
      <p:sp>
        <p:nvSpPr>
          <p:cNvPr id="1048746" name="Line 100"/>
          <p:cNvSpPr/>
          <p:nvPr/>
        </p:nvSpPr>
        <p:spPr>
          <a:xfrm flipH="1" flipV="1">
            <a:off x="7162800" y="1752600"/>
            <a:ext cx="685800" cy="838200"/>
          </a:xfrm>
          <a:prstGeom prst="line">
            <a:avLst/>
          </a:prstGeom>
          <a:noFill/>
          <a:ln w="12700" cap="sq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sp>
      <p:sp>
        <p:nvSpPr>
          <p:cNvPr id="1048747" name="Line 101"/>
          <p:cNvSpPr/>
          <p:nvPr/>
        </p:nvSpPr>
        <p:spPr>
          <a:xfrm flipH="1">
            <a:off x="7162800" y="2590800"/>
            <a:ext cx="685800" cy="2286000"/>
          </a:xfrm>
          <a:prstGeom prst="line">
            <a:avLst/>
          </a:prstGeom>
          <a:noFill/>
          <a:ln w="12700" cap="sq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sp>
      <p:sp>
        <p:nvSpPr>
          <p:cNvPr id="1048748" name="Rectangle 102"/>
          <p:cNvSpPr/>
          <p:nvPr/>
        </p:nvSpPr>
        <p:spPr>
          <a:xfrm>
            <a:off x="381000" y="1066800"/>
            <a:ext cx="8382000" cy="14478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/>
            <a:r>
              <a:rPr lang="en-US" altLang="en-US" sz="2400"/>
              <a:t>Digital Camera</a:t>
            </a:r>
            <a:endParaRPr lang="en-US" alt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49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Design Challenge – Optimization</a:t>
            </a:r>
            <a:endParaRPr lang="en-US" altLang="en-US"/>
          </a:p>
        </p:txBody>
      </p:sp>
      <p:sp>
        <p:nvSpPr>
          <p:cNvPr id="1048750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Obvious design goal:</a:t>
            </a:r>
            <a:endParaRPr lang="en-US" altLang="en-US"/>
          </a:p>
          <a:p>
            <a:pPr lvl="1" eaLnBrk="1" hangingPunct="1"/>
            <a:r>
              <a:rPr lang="en-US" altLang="en-US"/>
              <a:t>Construct an implementation with desired functionality</a:t>
            </a:r>
            <a:endParaRPr lang="en-US" altLang="en-US"/>
          </a:p>
          <a:p>
            <a:pPr lvl="0" eaLnBrk="1" hangingPunct="1"/>
            <a:r>
              <a:rPr lang="en-US" altLang="en-US"/>
              <a:t>Key design challenge:</a:t>
            </a:r>
            <a:endParaRPr lang="en-US" altLang="en-US"/>
          </a:p>
          <a:p>
            <a:pPr lvl="1" eaLnBrk="1" hangingPunct="1"/>
            <a:r>
              <a:rPr lang="en-US" altLang="en-US"/>
              <a:t>Simultaneously optimize numerous design metrics</a:t>
            </a:r>
            <a:endParaRPr lang="en-US" altLang="en-US"/>
          </a:p>
          <a:p>
            <a:pPr lvl="0" eaLnBrk="1" hangingPunct="1"/>
            <a:r>
              <a:rPr lang="en-US" altLang="en-US"/>
              <a:t>Design metric</a:t>
            </a:r>
            <a:endParaRPr lang="en-US" altLang="en-US"/>
          </a:p>
          <a:p>
            <a:pPr lvl="1" eaLnBrk="1" hangingPunct="1"/>
            <a:r>
              <a:rPr lang="en-US" altLang="en-US"/>
              <a:t> A measurable feature of a system’s implementation</a:t>
            </a:r>
            <a:endParaRPr lang="en-US" altLang="en-US"/>
          </a:p>
          <a:p>
            <a:pPr lvl="1" eaLnBrk="1" hangingPunct="1"/>
            <a:r>
              <a:rPr lang="en-US" altLang="en-US"/>
              <a:t>Optimizing design metrics is a key challenge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51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 sz="3200"/>
              <a:t>Design Challenge – Optimization (cont.)</a:t>
            </a:r>
            <a:endParaRPr lang="en-US" altLang="en-US" sz="3200"/>
          </a:p>
        </p:txBody>
      </p:sp>
      <p:sp>
        <p:nvSpPr>
          <p:cNvPr id="1048752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>
              <a:lnSpc>
                <a:spcPct val="80000"/>
              </a:lnSpc>
            </a:pPr>
            <a:r>
              <a:rPr lang="en-US" altLang="en-US" sz="3500"/>
              <a:t>Common metrics</a:t>
            </a:r>
            <a:endParaRPr lang="en-US" altLang="en-US" sz="3500"/>
          </a:p>
          <a:p>
            <a:pPr lvl="1" eaLnBrk="1" hangingPunct="1">
              <a:lnSpc>
                <a:spcPct val="80000"/>
              </a:lnSpc>
            </a:pPr>
            <a:r>
              <a:rPr lang="en-US" altLang="en-US" sz="3200"/>
              <a:t>Unit cost: </a:t>
            </a:r>
            <a:r>
              <a:rPr lang="en-US" altLang="en-US" sz="2400"/>
              <a:t>the monetary cost of manufacturing each copy of the system, excluding NRE cost</a:t>
            </a:r>
            <a:endParaRPr lang="en-US" altLang="en-US" sz="2400"/>
          </a:p>
          <a:p>
            <a:pPr lvl="1" eaLnBrk="1" hangingPunct="1">
              <a:lnSpc>
                <a:spcPct val="80000"/>
              </a:lnSpc>
            </a:pPr>
            <a:r>
              <a:rPr lang="en-US" altLang="en-US" sz="3200"/>
              <a:t>NRE cost (Non-Recurring Engineering cost): </a:t>
            </a:r>
            <a:r>
              <a:rPr lang="en-US" altLang="en-US" sz="2400"/>
              <a:t>The one-time monetary cost of designing the system</a:t>
            </a:r>
            <a:endParaRPr lang="en-US" altLang="en-US" sz="2400"/>
          </a:p>
          <a:p>
            <a:pPr lvl="1" eaLnBrk="1" hangingPunct="1">
              <a:lnSpc>
                <a:spcPct val="80000"/>
              </a:lnSpc>
            </a:pPr>
            <a:r>
              <a:rPr lang="en-US" altLang="en-US" sz="3200"/>
              <a:t>Size: </a:t>
            </a:r>
            <a:r>
              <a:rPr lang="en-US" altLang="en-US" sz="2400"/>
              <a:t>the physical space required by the system</a:t>
            </a:r>
            <a:endParaRPr lang="en-US" altLang="en-US" sz="2400"/>
          </a:p>
          <a:p>
            <a:pPr lvl="1" eaLnBrk="1" hangingPunct="1">
              <a:lnSpc>
                <a:spcPct val="80000"/>
              </a:lnSpc>
            </a:pPr>
            <a:r>
              <a:rPr lang="en-US" altLang="en-US" sz="3200"/>
              <a:t>Performance: </a:t>
            </a:r>
            <a:r>
              <a:rPr lang="en-US" altLang="en-US" sz="2400"/>
              <a:t>the execution time or throughput of the system</a:t>
            </a:r>
            <a:endParaRPr lang="en-US" altLang="en-US" sz="2400"/>
          </a:p>
          <a:p>
            <a:pPr lvl="1" eaLnBrk="1" hangingPunct="1">
              <a:lnSpc>
                <a:spcPct val="80000"/>
              </a:lnSpc>
            </a:pPr>
            <a:r>
              <a:rPr lang="en-US" altLang="en-US" sz="3200"/>
              <a:t>Power: </a:t>
            </a:r>
            <a:r>
              <a:rPr lang="en-US" altLang="en-US" sz="2400"/>
              <a:t>the amount of power consumed by the system</a:t>
            </a:r>
            <a:endParaRPr lang="en-US" altLang="en-US" sz="2400"/>
          </a:p>
          <a:p>
            <a:pPr lvl="1" eaLnBrk="1" hangingPunct="1">
              <a:lnSpc>
                <a:spcPct val="80000"/>
              </a:lnSpc>
            </a:pPr>
            <a:r>
              <a:rPr lang="en-US" altLang="en-US" sz="3200"/>
              <a:t>Flexibility: </a:t>
            </a:r>
            <a:r>
              <a:rPr lang="en-US" altLang="en-US" sz="2400"/>
              <a:t>the ability to change the functionality of the system without incurring heavy NRE cost</a:t>
            </a:r>
            <a:endParaRPr lang="en-US" altLang="en-US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53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 sz="3200"/>
              <a:t>Design Challenge – Optimization (cont.)</a:t>
            </a:r>
            <a:endParaRPr lang="en-US" altLang="en-US" sz="3200"/>
          </a:p>
        </p:txBody>
      </p:sp>
      <p:sp>
        <p:nvSpPr>
          <p:cNvPr id="1048754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 sz="3400"/>
              <a:t>Common metrics (continued)</a:t>
            </a:r>
            <a:endParaRPr lang="en-US" altLang="en-US" sz="3400"/>
          </a:p>
          <a:p>
            <a:pPr lvl="1" eaLnBrk="1" hangingPunct="1"/>
            <a:r>
              <a:rPr lang="en-US" altLang="en-US" sz="3200"/>
              <a:t>Time-to-prototype: </a:t>
            </a:r>
            <a:r>
              <a:rPr lang="en-US" altLang="en-US" sz="2400"/>
              <a:t>the time needed to build a working version of the system</a:t>
            </a:r>
            <a:endParaRPr lang="en-US" altLang="en-US" sz="2400"/>
          </a:p>
          <a:p>
            <a:pPr lvl="1" eaLnBrk="1" hangingPunct="1"/>
            <a:r>
              <a:rPr lang="en-US" altLang="en-US" sz="3200"/>
              <a:t>Time-to-market: </a:t>
            </a:r>
            <a:r>
              <a:rPr lang="en-US" altLang="en-US" sz="2400"/>
              <a:t>the time required to develop a system to the point that it can be released and sold to customers</a:t>
            </a:r>
            <a:endParaRPr lang="en-US" altLang="en-US" sz="2400"/>
          </a:p>
          <a:p>
            <a:pPr lvl="1" eaLnBrk="1" hangingPunct="1"/>
            <a:r>
              <a:rPr lang="en-US" altLang="en-US" sz="3200"/>
              <a:t>Maintainability: </a:t>
            </a:r>
            <a:r>
              <a:rPr lang="en-US" altLang="en-US" sz="2400"/>
              <a:t>the ability to modify the system after its initial release</a:t>
            </a:r>
            <a:endParaRPr lang="en-US" altLang="en-US" sz="2400"/>
          </a:p>
          <a:p>
            <a:pPr lvl="1" eaLnBrk="1" hangingPunct="1"/>
            <a:r>
              <a:rPr lang="en-US" altLang="en-US" sz="3200"/>
              <a:t>Correctness, safety, many more</a:t>
            </a:r>
            <a:endParaRPr lang="en-US" altLang="en-US" sz="3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55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Design Metric Competition</a:t>
            </a:r>
            <a:endParaRPr lang="en-US" altLang="en-US"/>
          </a:p>
        </p:txBody>
      </p:sp>
      <p:sp>
        <p:nvSpPr>
          <p:cNvPr id="1048756" name="Rectangle 4"/>
          <p:cNvSpPr/>
          <p:nvPr>
            <p:ph type="body" sz="half" idx="1"/>
          </p:nvPr>
        </p:nvSpPr>
        <p:spPr>
          <a:xfrm>
            <a:off x="4572000" y="1066800"/>
            <a:ext cx="4189412" cy="5207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Font typeface="Arial" panose="02080604020202020204" pitchFamily="34" charset="0"/>
              <a:buChar char="•"/>
              <a:defRPr sz="2600">
                <a:solidFill>
                  <a:schemeClr val="lt2"/>
                </a:solidFill>
              </a:defRPr>
            </a:lvl1pPr>
            <a:lvl2pPr marL="742950" indent="-28575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80604020202020204" pitchFamily="34" charset="0"/>
              <a:buChar char="•"/>
              <a:defRPr sz="2400">
                <a:solidFill>
                  <a:schemeClr val="lt2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80604020202020204" pitchFamily="34" charset="0"/>
              <a:buChar char="•"/>
              <a:defRPr sz="2000">
                <a:solidFill>
                  <a:schemeClr val="lt2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Font typeface="Arial" panose="02080604020202020204" pitchFamily="34" charset="0"/>
              <a:buChar char="•"/>
              <a:defRPr sz="1800">
                <a:solidFill>
                  <a:schemeClr val="lt2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1800">
                <a:solidFill>
                  <a:schemeClr val="lt2"/>
                </a:solidFill>
              </a:defRPr>
            </a:lvl5pPr>
          </a:lstStyle>
          <a:p>
            <a:pPr lvl="0" eaLnBrk="1" hangingPunct="1"/>
            <a:r>
              <a:rPr lang="en-US" altLang="en-US"/>
              <a:t>Expertise with both </a:t>
            </a:r>
            <a:r>
              <a:rPr lang="en-US" altLang="en-US" u="sng"/>
              <a:t>software</a:t>
            </a:r>
            <a:r>
              <a:rPr lang="en-US" altLang="en-US"/>
              <a:t> and</a:t>
            </a:r>
            <a:r>
              <a:rPr lang="en-US" altLang="en-US" b="1"/>
              <a:t> </a:t>
            </a:r>
            <a:r>
              <a:rPr lang="en-US" altLang="en-US" u="sng"/>
              <a:t>hardware </a:t>
            </a:r>
            <a:r>
              <a:rPr lang="en-US" altLang="en-US"/>
              <a:t>is needed to optimize design metrics</a:t>
            </a:r>
            <a:endParaRPr lang="en-US" altLang="en-US"/>
          </a:p>
          <a:p>
            <a:pPr lvl="1" eaLnBrk="1" hangingPunct="1"/>
            <a:r>
              <a:rPr lang="en-US" altLang="en-US"/>
              <a:t>Not just a hardware or software expert, as is common</a:t>
            </a:r>
            <a:endParaRPr lang="en-US" altLang="en-US"/>
          </a:p>
          <a:p>
            <a:pPr lvl="1" eaLnBrk="1" hangingPunct="1"/>
            <a:r>
              <a:rPr lang="en-US" altLang="en-US"/>
              <a:t>A designer must be comfortable with various technologies</a:t>
            </a:r>
            <a:endParaRPr lang="en-US" altLang="en-US"/>
          </a:p>
        </p:txBody>
      </p:sp>
      <p:sp>
        <p:nvSpPr>
          <p:cNvPr id="1048757" name="Oval 6"/>
          <p:cNvSpPr/>
          <p:nvPr/>
        </p:nvSpPr>
        <p:spPr>
          <a:xfrm>
            <a:off x="2182812" y="2209800"/>
            <a:ext cx="1196975" cy="106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800">
              <a:solidFill>
                <a:schemeClr val="dk1"/>
              </a:solidFill>
            </a:endParaRPr>
          </a:p>
        </p:txBody>
      </p:sp>
      <p:sp>
        <p:nvSpPr>
          <p:cNvPr id="1048758" name="Line 7"/>
          <p:cNvSpPr/>
          <p:nvPr/>
        </p:nvSpPr>
        <p:spPr>
          <a:xfrm>
            <a:off x="3976687" y="2609850"/>
            <a:ext cx="0" cy="266700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759" name="Text Box 8"/>
          <p:cNvSpPr txBox="1"/>
          <p:nvPr/>
        </p:nvSpPr>
        <p:spPr>
          <a:xfrm>
            <a:off x="3976687" y="2571750"/>
            <a:ext cx="747712" cy="4000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600" b="1">
                <a:latin typeface="Times New Roman" panose="02020603050405020304" charset="0"/>
              </a:rPr>
              <a:t>Size</a:t>
            </a:r>
            <a:endParaRPr lang="en-US" altLang="en-US" sz="1600" b="1">
              <a:latin typeface="Times New Roman" panose="02020603050405020304" charset="0"/>
            </a:endParaRPr>
          </a:p>
        </p:txBody>
      </p:sp>
      <p:sp>
        <p:nvSpPr>
          <p:cNvPr id="1048760" name="Line 9"/>
          <p:cNvSpPr/>
          <p:nvPr/>
        </p:nvSpPr>
        <p:spPr>
          <a:xfrm>
            <a:off x="3379787" y="2743200"/>
            <a:ext cx="596900" cy="0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761" name="Line 10"/>
          <p:cNvSpPr/>
          <p:nvPr/>
        </p:nvSpPr>
        <p:spPr>
          <a:xfrm>
            <a:off x="2033587" y="2609850"/>
            <a:ext cx="0" cy="266700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762" name="Line 11"/>
          <p:cNvSpPr/>
          <p:nvPr/>
        </p:nvSpPr>
        <p:spPr>
          <a:xfrm flipH="1">
            <a:off x="2033587" y="2743200"/>
            <a:ext cx="149225" cy="0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763" name="Text Box 12"/>
          <p:cNvSpPr txBox="1"/>
          <p:nvPr/>
        </p:nvSpPr>
        <p:spPr>
          <a:xfrm>
            <a:off x="685800" y="2571750"/>
            <a:ext cx="1344612" cy="4000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600" b="1">
                <a:latin typeface="Times New Roman" panose="02020603050405020304" charset="0"/>
              </a:rPr>
              <a:t>Performance</a:t>
            </a:r>
            <a:endParaRPr lang="en-US" altLang="en-US" sz="1600" b="1">
              <a:latin typeface="Times New Roman" panose="02020603050405020304" charset="0"/>
            </a:endParaRPr>
          </a:p>
        </p:txBody>
      </p:sp>
      <p:sp>
        <p:nvSpPr>
          <p:cNvPr id="1048764" name="Line 13"/>
          <p:cNvSpPr/>
          <p:nvPr/>
        </p:nvSpPr>
        <p:spPr>
          <a:xfrm flipV="1">
            <a:off x="2781300" y="2076450"/>
            <a:ext cx="0" cy="133350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765" name="Line 14"/>
          <p:cNvSpPr/>
          <p:nvPr/>
        </p:nvSpPr>
        <p:spPr>
          <a:xfrm rot="5400000">
            <a:off x="2781300" y="1927225"/>
            <a:ext cx="0" cy="298450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766" name="Line 15"/>
          <p:cNvSpPr/>
          <p:nvPr/>
        </p:nvSpPr>
        <p:spPr>
          <a:xfrm>
            <a:off x="2781300" y="3276600"/>
            <a:ext cx="0" cy="133350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767" name="Line 16"/>
          <p:cNvSpPr/>
          <p:nvPr/>
        </p:nvSpPr>
        <p:spPr>
          <a:xfrm rot="5400000">
            <a:off x="2781300" y="3260725"/>
            <a:ext cx="0" cy="298450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768" name="Text Box 17"/>
          <p:cNvSpPr txBox="1"/>
          <p:nvPr/>
        </p:nvSpPr>
        <p:spPr>
          <a:xfrm>
            <a:off x="2333625" y="1676400"/>
            <a:ext cx="895350" cy="4000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600" b="1">
                <a:latin typeface="Times New Roman" panose="02020603050405020304" charset="0"/>
              </a:rPr>
              <a:t>Power</a:t>
            </a:r>
            <a:endParaRPr lang="en-US" altLang="en-US" sz="1600" b="1">
              <a:latin typeface="Times New Roman" panose="02020603050405020304" charset="0"/>
            </a:endParaRPr>
          </a:p>
        </p:txBody>
      </p:sp>
      <p:sp>
        <p:nvSpPr>
          <p:cNvPr id="1048769" name="Text Box 18"/>
          <p:cNvSpPr txBox="1"/>
          <p:nvPr/>
        </p:nvSpPr>
        <p:spPr>
          <a:xfrm>
            <a:off x="2482850" y="3409950"/>
            <a:ext cx="1046162" cy="3063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600" b="1">
                <a:latin typeface="Times New Roman" panose="02020603050405020304" charset="0"/>
              </a:rPr>
              <a:t>NRE cost</a:t>
            </a:r>
            <a:endParaRPr lang="en-US" altLang="en-US" sz="1600" b="1">
              <a:latin typeface="Times New Roman" panose="02020603050405020304" charset="0"/>
            </a:endParaRPr>
          </a:p>
        </p:txBody>
      </p:sp>
      <p:sp>
        <p:nvSpPr>
          <p:cNvPr id="1048770" name="Line 19"/>
          <p:cNvSpPr/>
          <p:nvPr/>
        </p:nvSpPr>
        <p:spPr>
          <a:xfrm flipH="1">
            <a:off x="3529012" y="2994025"/>
            <a:ext cx="447675" cy="0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tailEnd type="triangle" w="med" len="med"/>
          </a:ln>
        </p:spPr>
      </p:sp>
      <p:sp>
        <p:nvSpPr>
          <p:cNvPr id="1048771" name="Line 20"/>
          <p:cNvSpPr/>
          <p:nvPr/>
        </p:nvSpPr>
        <p:spPr>
          <a:xfrm rot="16200000" flipH="1">
            <a:off x="2282825" y="3609975"/>
            <a:ext cx="400050" cy="0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tailEnd type="triangle" w="med" len="med"/>
          </a:ln>
        </p:spPr>
      </p:sp>
      <p:sp>
        <p:nvSpPr>
          <p:cNvPr id="1048772" name="Line 21"/>
          <p:cNvSpPr/>
          <p:nvPr/>
        </p:nvSpPr>
        <p:spPr>
          <a:xfrm flipH="1">
            <a:off x="1585912" y="2476500"/>
            <a:ext cx="447675" cy="0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tailEnd type="triangle" w="med" len="med"/>
          </a:ln>
        </p:spPr>
      </p:sp>
      <p:sp>
        <p:nvSpPr>
          <p:cNvPr id="1048773" name="Line 22"/>
          <p:cNvSpPr/>
          <p:nvPr/>
        </p:nvSpPr>
        <p:spPr>
          <a:xfrm rot="5400000" flipH="1">
            <a:off x="2940050" y="1876425"/>
            <a:ext cx="400050" cy="0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tailEnd type="triangle" w="med" len="med"/>
          </a:ln>
        </p:spPr>
      </p:sp>
      <p:grpSp>
        <p:nvGrpSpPr>
          <p:cNvPr id="117" name="Group 116"/>
          <p:cNvGrpSpPr/>
          <p:nvPr/>
        </p:nvGrpSpPr>
        <p:grpSpPr>
          <a:xfrm rot="0">
            <a:off x="304800" y="4114800"/>
            <a:ext cx="4800600" cy="1828800"/>
            <a:chOff x="1197" y="1849"/>
            <a:chExt cx="7215" cy="4052"/>
          </a:xfrm>
        </p:grpSpPr>
        <p:sp>
          <p:nvSpPr>
            <p:cNvPr id="1048774" name="Rectangle 24"/>
            <p:cNvSpPr/>
            <p:nvPr/>
          </p:nvSpPr>
          <p:spPr>
            <a:xfrm>
              <a:off x="8412" y="3562"/>
              <a:ext cx="0" cy="338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0" tIns="0" rIns="0" bIns="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8775" name="Rectangle 25"/>
            <p:cNvSpPr/>
            <p:nvPr/>
          </p:nvSpPr>
          <p:spPr>
            <a:xfrm>
              <a:off x="1835" y="1849"/>
              <a:ext cx="2170" cy="490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grpSp>
          <p:nvGrpSpPr>
            <p:cNvPr id="118" name="Group 117"/>
            <p:cNvGrpSpPr/>
            <p:nvPr/>
          </p:nvGrpSpPr>
          <p:grpSpPr>
            <a:xfrm rot="0">
              <a:off x="1197" y="1862"/>
              <a:ext cx="6992" cy="4039"/>
              <a:chOff x="1248" y="2179"/>
              <a:chExt cx="6992" cy="4039"/>
            </a:xfrm>
          </p:grpSpPr>
          <p:sp>
            <p:nvSpPr>
              <p:cNvPr id="1048776" name="Rectangle 27"/>
              <p:cNvSpPr/>
              <p:nvPr/>
            </p:nvSpPr>
            <p:spPr>
              <a:xfrm>
                <a:off x="2099" y="2275"/>
                <a:ext cx="6126" cy="3865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8777" name="Rectangle 28"/>
              <p:cNvSpPr/>
              <p:nvPr/>
            </p:nvSpPr>
            <p:spPr>
              <a:xfrm>
                <a:off x="1949" y="2179"/>
                <a:ext cx="6176" cy="389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8778" name="Rectangle 29"/>
              <p:cNvSpPr/>
              <p:nvPr/>
            </p:nvSpPr>
            <p:spPr>
              <a:xfrm>
                <a:off x="4209" y="3787"/>
                <a:ext cx="1576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Microcontroller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779" name="Rectangle 30"/>
              <p:cNvSpPr/>
              <p:nvPr/>
            </p:nvSpPr>
            <p:spPr>
              <a:xfrm>
                <a:off x="3058" y="2733"/>
                <a:ext cx="1809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CCD preprocessor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780" name="Rectangle 31"/>
              <p:cNvSpPr/>
              <p:nvPr/>
            </p:nvSpPr>
            <p:spPr>
              <a:xfrm>
                <a:off x="5206" y="2733"/>
                <a:ext cx="1724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Pixel coprocessor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781" name="Rectangle 32"/>
              <p:cNvSpPr/>
              <p:nvPr/>
            </p:nvSpPr>
            <p:spPr>
              <a:xfrm>
                <a:off x="2131" y="2899"/>
                <a:ext cx="576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A2D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782" name="Rectangle 33"/>
              <p:cNvSpPr/>
              <p:nvPr/>
            </p:nvSpPr>
            <p:spPr>
              <a:xfrm>
                <a:off x="7334" y="2733"/>
                <a:ext cx="563" cy="41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D2A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783" name="Rectangle 34"/>
              <p:cNvSpPr/>
              <p:nvPr/>
            </p:nvSpPr>
            <p:spPr>
              <a:xfrm>
                <a:off x="2040" y="3787"/>
                <a:ext cx="1428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JPEG codec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784" name="Rectangle 35"/>
              <p:cNvSpPr/>
              <p:nvPr/>
            </p:nvSpPr>
            <p:spPr>
              <a:xfrm>
                <a:off x="2060" y="4436"/>
                <a:ext cx="1831" cy="402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DMA controller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785" name="Rectangle 36"/>
              <p:cNvSpPr/>
              <p:nvPr/>
            </p:nvSpPr>
            <p:spPr>
              <a:xfrm>
                <a:off x="2060" y="5490"/>
                <a:ext cx="1818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Memory controller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786" name="Rectangle 37"/>
              <p:cNvSpPr/>
              <p:nvPr/>
            </p:nvSpPr>
            <p:spPr>
              <a:xfrm>
                <a:off x="3989" y="5490"/>
                <a:ext cx="1702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ISA bus interface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787" name="Rectangle 38"/>
              <p:cNvSpPr/>
              <p:nvPr/>
            </p:nvSpPr>
            <p:spPr>
              <a:xfrm>
                <a:off x="5834" y="5490"/>
                <a:ext cx="894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UART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788" name="Rectangle 39"/>
              <p:cNvSpPr/>
              <p:nvPr/>
            </p:nvSpPr>
            <p:spPr>
              <a:xfrm>
                <a:off x="6900" y="5490"/>
                <a:ext cx="997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LCD ctrl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789" name="Rectangle 40"/>
              <p:cNvSpPr/>
              <p:nvPr/>
            </p:nvSpPr>
            <p:spPr>
              <a:xfrm>
                <a:off x="6650" y="4436"/>
                <a:ext cx="1247" cy="402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Display ctrl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790" name="Rectangle 41"/>
              <p:cNvSpPr/>
              <p:nvPr/>
            </p:nvSpPr>
            <p:spPr>
              <a:xfrm>
                <a:off x="6183" y="3787"/>
                <a:ext cx="1714" cy="403"/>
              </a:xfrm>
              <a:prstGeom prst="rect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0" tIns="45720" rIns="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Multiplier/Accum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791" name="Freeform 42"/>
              <p:cNvSpPr/>
              <p:nvPr/>
            </p:nvSpPr>
            <p:spPr bwMode="auto">
              <a:xfrm>
                <a:off x="2810" y="3470"/>
                <a:ext cx="4810" cy="1"/>
              </a:xfrm>
              <a:custGeom>
                <a:avLst/>
                <a:gdLst/>
                <a:ahLst/>
                <a:cxnLst/>
                <a:rect l="0" t="0" r="r" b="b"/>
                <a:pathLst>
                  <a:path w="4810" h="1">
                    <a:moveTo>
                      <a:pt x="0" y="0"/>
                    </a:moveTo>
                    <a:lnTo>
                      <a:pt x="4810" y="0"/>
                    </a:lnTo>
                  </a:path>
                </a:pathLst>
              </a:custGeom>
              <a:solidFill>
                <a:srgbClr val="FFFFFF">
                  <a:alpha val="100000"/>
                </a:srgbClr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</p:sp>
          <p:sp>
            <p:nvSpPr>
              <p:cNvPr id="1048792" name="Freeform 43"/>
              <p:cNvSpPr/>
              <p:nvPr/>
            </p:nvSpPr>
            <p:spPr bwMode="auto">
              <a:xfrm>
                <a:off x="2809" y="5160"/>
                <a:ext cx="4411" cy="4"/>
              </a:xfrm>
              <a:custGeom>
                <a:avLst/>
                <a:gdLst/>
                <a:ahLst/>
                <a:cxnLst/>
                <a:rect l="0" t="0" r="r" b="b"/>
                <a:pathLst>
                  <a:path w="4411" h="4">
                    <a:moveTo>
                      <a:pt x="0" y="4"/>
                    </a:moveTo>
                    <a:lnTo>
                      <a:pt x="4411" y="0"/>
                    </a:lnTo>
                  </a:path>
                </a:pathLst>
              </a:custGeom>
              <a:solidFill>
                <a:srgbClr val="FFFFFF">
                  <a:alpha val="100000"/>
                </a:srgbClr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</p:sp>
          <p:grpSp>
            <p:nvGrpSpPr>
              <p:cNvPr id="119" name="Group 118"/>
              <p:cNvGrpSpPr/>
              <p:nvPr/>
            </p:nvGrpSpPr>
            <p:grpSpPr>
              <a:xfrm rot="0">
                <a:off x="4838" y="5895"/>
                <a:ext cx="158" cy="323"/>
                <a:chOff x="9915" y="11780"/>
                <a:chExt cx="158" cy="323"/>
              </a:xfrm>
            </p:grpSpPr>
            <p:sp>
              <p:nvSpPr>
                <p:cNvPr id="1048793" name="Line 45"/>
                <p:cNvSpPr/>
                <p:nvPr/>
              </p:nvSpPr>
              <p:spPr>
                <a:xfrm>
                  <a:off x="9994" y="11925"/>
                  <a:ext cx="1" cy="33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794" name="Freeform 46"/>
                <p:cNvSpPr/>
                <p:nvPr/>
              </p:nvSpPr>
              <p:spPr bwMode="auto">
                <a:xfrm>
                  <a:off x="9918" y="11780"/>
                  <a:ext cx="155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49">
                      <a:moveTo>
                        <a:pt x="155" y="149"/>
                      </a:moveTo>
                      <a:lnTo>
                        <a:pt x="76" y="0"/>
                      </a:lnTo>
                      <a:lnTo>
                        <a:pt x="0" y="149"/>
                      </a:lnTo>
                      <a:lnTo>
                        <a:pt x="155" y="149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795" name="Freeform 47"/>
                <p:cNvSpPr/>
                <p:nvPr/>
              </p:nvSpPr>
              <p:spPr bwMode="auto">
                <a:xfrm>
                  <a:off x="9915" y="11954"/>
                  <a:ext cx="156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49">
                      <a:moveTo>
                        <a:pt x="0" y="0"/>
                      </a:moveTo>
                      <a:lnTo>
                        <a:pt x="79" y="149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20" name="Group 119"/>
              <p:cNvGrpSpPr/>
              <p:nvPr/>
            </p:nvGrpSpPr>
            <p:grpSpPr>
              <a:xfrm rot="0">
                <a:off x="6212" y="5895"/>
                <a:ext cx="158" cy="323"/>
                <a:chOff x="11499" y="11780"/>
                <a:chExt cx="158" cy="323"/>
              </a:xfrm>
            </p:grpSpPr>
            <p:sp>
              <p:nvSpPr>
                <p:cNvPr id="1048796" name="Line 49"/>
                <p:cNvSpPr/>
                <p:nvPr/>
              </p:nvSpPr>
              <p:spPr>
                <a:xfrm>
                  <a:off x="11578" y="11925"/>
                  <a:ext cx="1" cy="33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797" name="Freeform 50"/>
                <p:cNvSpPr/>
                <p:nvPr/>
              </p:nvSpPr>
              <p:spPr bwMode="auto">
                <a:xfrm>
                  <a:off x="11502" y="11780"/>
                  <a:ext cx="155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49">
                      <a:moveTo>
                        <a:pt x="155" y="149"/>
                      </a:moveTo>
                      <a:lnTo>
                        <a:pt x="76" y="0"/>
                      </a:lnTo>
                      <a:lnTo>
                        <a:pt x="0" y="149"/>
                      </a:lnTo>
                      <a:lnTo>
                        <a:pt x="155" y="149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798" name="Freeform 51"/>
                <p:cNvSpPr/>
                <p:nvPr/>
              </p:nvSpPr>
              <p:spPr bwMode="auto">
                <a:xfrm>
                  <a:off x="11499" y="11954"/>
                  <a:ext cx="156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49">
                      <a:moveTo>
                        <a:pt x="0" y="0"/>
                      </a:moveTo>
                      <a:lnTo>
                        <a:pt x="79" y="149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21" name="Group 120"/>
              <p:cNvGrpSpPr/>
              <p:nvPr/>
            </p:nvGrpSpPr>
            <p:grpSpPr>
              <a:xfrm rot="0">
                <a:off x="2999" y="5895"/>
                <a:ext cx="158" cy="323"/>
                <a:chOff x="7666" y="11780"/>
                <a:chExt cx="158" cy="323"/>
              </a:xfrm>
            </p:grpSpPr>
            <p:sp>
              <p:nvSpPr>
                <p:cNvPr id="1048799" name="Line 53"/>
                <p:cNvSpPr/>
                <p:nvPr/>
              </p:nvSpPr>
              <p:spPr>
                <a:xfrm>
                  <a:off x="7745" y="11925"/>
                  <a:ext cx="1" cy="33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800" name="Freeform 54"/>
                <p:cNvSpPr/>
                <p:nvPr/>
              </p:nvSpPr>
              <p:spPr bwMode="auto">
                <a:xfrm>
                  <a:off x="7669" y="11780"/>
                  <a:ext cx="155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49">
                      <a:moveTo>
                        <a:pt x="155" y="149"/>
                      </a:moveTo>
                      <a:lnTo>
                        <a:pt x="76" y="0"/>
                      </a:lnTo>
                      <a:lnTo>
                        <a:pt x="0" y="149"/>
                      </a:lnTo>
                      <a:lnTo>
                        <a:pt x="155" y="149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801" name="Freeform 55"/>
                <p:cNvSpPr/>
                <p:nvPr/>
              </p:nvSpPr>
              <p:spPr bwMode="auto">
                <a:xfrm>
                  <a:off x="7666" y="11954"/>
                  <a:ext cx="156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49">
                      <a:moveTo>
                        <a:pt x="0" y="0"/>
                      </a:moveTo>
                      <a:lnTo>
                        <a:pt x="79" y="149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22" name="Group 121"/>
              <p:cNvGrpSpPr/>
              <p:nvPr/>
            </p:nvGrpSpPr>
            <p:grpSpPr>
              <a:xfrm rot="0">
                <a:off x="2730" y="5164"/>
                <a:ext cx="158" cy="326"/>
                <a:chOff x="7417" y="11049"/>
                <a:chExt cx="158" cy="326"/>
              </a:xfrm>
            </p:grpSpPr>
            <p:sp>
              <p:nvSpPr>
                <p:cNvPr id="1048802" name="Line 57"/>
                <p:cNvSpPr/>
                <p:nvPr/>
              </p:nvSpPr>
              <p:spPr>
                <a:xfrm>
                  <a:off x="7496" y="11194"/>
                  <a:ext cx="1" cy="36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803" name="Freeform 58"/>
                <p:cNvSpPr/>
                <p:nvPr/>
              </p:nvSpPr>
              <p:spPr bwMode="auto">
                <a:xfrm>
                  <a:off x="7419" y="11049"/>
                  <a:ext cx="156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50">
                      <a:moveTo>
                        <a:pt x="156" y="150"/>
                      </a:moveTo>
                      <a:lnTo>
                        <a:pt x="77" y="0"/>
                      </a:lnTo>
                      <a:lnTo>
                        <a:pt x="0" y="150"/>
                      </a:lnTo>
                      <a:lnTo>
                        <a:pt x="156" y="15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804" name="Freeform 59"/>
                <p:cNvSpPr/>
                <p:nvPr/>
              </p:nvSpPr>
              <p:spPr bwMode="auto">
                <a:xfrm>
                  <a:off x="7417" y="11225"/>
                  <a:ext cx="155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50">
                      <a:moveTo>
                        <a:pt x="0" y="0"/>
                      </a:moveTo>
                      <a:lnTo>
                        <a:pt x="79" y="150"/>
                      </a:lnTo>
                      <a:lnTo>
                        <a:pt x="155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23" name="Group 122"/>
              <p:cNvGrpSpPr/>
              <p:nvPr/>
            </p:nvGrpSpPr>
            <p:grpSpPr>
              <a:xfrm rot="0">
                <a:off x="7147" y="4841"/>
                <a:ext cx="158" cy="323"/>
                <a:chOff x="12414" y="10726"/>
                <a:chExt cx="158" cy="323"/>
              </a:xfrm>
            </p:grpSpPr>
            <p:sp>
              <p:nvSpPr>
                <p:cNvPr id="1048805" name="Line 61"/>
                <p:cNvSpPr/>
                <p:nvPr/>
              </p:nvSpPr>
              <p:spPr>
                <a:xfrm>
                  <a:off x="12493" y="10871"/>
                  <a:ext cx="1" cy="33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806" name="Freeform 62"/>
                <p:cNvSpPr/>
                <p:nvPr/>
              </p:nvSpPr>
              <p:spPr bwMode="auto">
                <a:xfrm>
                  <a:off x="12416" y="10726"/>
                  <a:ext cx="156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49">
                      <a:moveTo>
                        <a:pt x="156" y="149"/>
                      </a:moveTo>
                      <a:lnTo>
                        <a:pt x="77" y="0"/>
                      </a:lnTo>
                      <a:lnTo>
                        <a:pt x="0" y="149"/>
                      </a:lnTo>
                      <a:lnTo>
                        <a:pt x="156" y="149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807" name="Freeform 63"/>
                <p:cNvSpPr/>
                <p:nvPr/>
              </p:nvSpPr>
              <p:spPr bwMode="auto">
                <a:xfrm>
                  <a:off x="12414" y="10900"/>
                  <a:ext cx="155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49">
                      <a:moveTo>
                        <a:pt x="0" y="0"/>
                      </a:moveTo>
                      <a:lnTo>
                        <a:pt x="79" y="149"/>
                      </a:lnTo>
                      <a:lnTo>
                        <a:pt x="155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24" name="Group 123"/>
              <p:cNvGrpSpPr/>
              <p:nvPr/>
            </p:nvGrpSpPr>
            <p:grpSpPr>
              <a:xfrm rot="0">
                <a:off x="7344" y="4841"/>
                <a:ext cx="156" cy="649"/>
                <a:chOff x="12831" y="10726"/>
                <a:chExt cx="156" cy="649"/>
              </a:xfrm>
            </p:grpSpPr>
            <p:sp>
              <p:nvSpPr>
                <p:cNvPr id="1048808" name="Line 65"/>
                <p:cNvSpPr/>
                <p:nvPr/>
              </p:nvSpPr>
              <p:spPr>
                <a:xfrm>
                  <a:off x="12910" y="10726"/>
                  <a:ext cx="1" cy="504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809" name="Freeform 66"/>
                <p:cNvSpPr/>
                <p:nvPr/>
              </p:nvSpPr>
              <p:spPr bwMode="auto">
                <a:xfrm>
                  <a:off x="12831" y="11225"/>
                  <a:ext cx="156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50">
                      <a:moveTo>
                        <a:pt x="0" y="0"/>
                      </a:moveTo>
                      <a:lnTo>
                        <a:pt x="79" y="150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25" name="Group 124"/>
              <p:cNvGrpSpPr/>
              <p:nvPr/>
            </p:nvGrpSpPr>
            <p:grpSpPr>
              <a:xfrm rot="0">
                <a:off x="4848" y="5164"/>
                <a:ext cx="158" cy="326"/>
                <a:chOff x="9915" y="11049"/>
                <a:chExt cx="158" cy="326"/>
              </a:xfrm>
            </p:grpSpPr>
            <p:sp>
              <p:nvSpPr>
                <p:cNvPr id="1048810" name="Line 68"/>
                <p:cNvSpPr/>
                <p:nvPr/>
              </p:nvSpPr>
              <p:spPr>
                <a:xfrm>
                  <a:off x="9994" y="11194"/>
                  <a:ext cx="1" cy="36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811" name="Freeform 69"/>
                <p:cNvSpPr/>
                <p:nvPr/>
              </p:nvSpPr>
              <p:spPr bwMode="auto">
                <a:xfrm>
                  <a:off x="9918" y="11049"/>
                  <a:ext cx="155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50">
                      <a:moveTo>
                        <a:pt x="155" y="150"/>
                      </a:moveTo>
                      <a:lnTo>
                        <a:pt x="76" y="0"/>
                      </a:lnTo>
                      <a:lnTo>
                        <a:pt x="0" y="150"/>
                      </a:lnTo>
                      <a:lnTo>
                        <a:pt x="155" y="15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812" name="Freeform 70"/>
                <p:cNvSpPr/>
                <p:nvPr/>
              </p:nvSpPr>
              <p:spPr bwMode="auto">
                <a:xfrm>
                  <a:off x="9915" y="11225"/>
                  <a:ext cx="156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50">
                      <a:moveTo>
                        <a:pt x="0" y="0"/>
                      </a:moveTo>
                      <a:lnTo>
                        <a:pt x="79" y="150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26" name="Group 125"/>
              <p:cNvGrpSpPr/>
              <p:nvPr/>
            </p:nvGrpSpPr>
            <p:grpSpPr>
              <a:xfrm rot="0">
                <a:off x="6222" y="5164"/>
                <a:ext cx="158" cy="326"/>
                <a:chOff x="11499" y="11049"/>
                <a:chExt cx="158" cy="326"/>
              </a:xfrm>
            </p:grpSpPr>
            <p:sp>
              <p:nvSpPr>
                <p:cNvPr id="1048813" name="Line 72"/>
                <p:cNvSpPr/>
                <p:nvPr/>
              </p:nvSpPr>
              <p:spPr>
                <a:xfrm>
                  <a:off x="11578" y="11194"/>
                  <a:ext cx="1" cy="36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814" name="Freeform 73"/>
                <p:cNvSpPr/>
                <p:nvPr/>
              </p:nvSpPr>
              <p:spPr bwMode="auto">
                <a:xfrm>
                  <a:off x="11502" y="11049"/>
                  <a:ext cx="155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50">
                      <a:moveTo>
                        <a:pt x="155" y="150"/>
                      </a:moveTo>
                      <a:lnTo>
                        <a:pt x="76" y="0"/>
                      </a:lnTo>
                      <a:lnTo>
                        <a:pt x="0" y="150"/>
                      </a:lnTo>
                      <a:lnTo>
                        <a:pt x="155" y="15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815" name="Freeform 74"/>
                <p:cNvSpPr/>
                <p:nvPr/>
              </p:nvSpPr>
              <p:spPr bwMode="auto">
                <a:xfrm>
                  <a:off x="11499" y="11225"/>
                  <a:ext cx="156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50">
                      <a:moveTo>
                        <a:pt x="0" y="0"/>
                      </a:moveTo>
                      <a:lnTo>
                        <a:pt x="79" y="150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27" name="Group 126"/>
              <p:cNvGrpSpPr/>
              <p:nvPr/>
            </p:nvGrpSpPr>
            <p:grpSpPr>
              <a:xfrm rot="0">
                <a:off x="2730" y="3464"/>
                <a:ext cx="158" cy="323"/>
                <a:chOff x="7417" y="9349"/>
                <a:chExt cx="158" cy="323"/>
              </a:xfrm>
            </p:grpSpPr>
            <p:sp>
              <p:nvSpPr>
                <p:cNvPr id="1048816" name="Line 76"/>
                <p:cNvSpPr/>
                <p:nvPr/>
              </p:nvSpPr>
              <p:spPr>
                <a:xfrm>
                  <a:off x="7496" y="9493"/>
                  <a:ext cx="1" cy="34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817" name="Freeform 77"/>
                <p:cNvSpPr/>
                <p:nvPr/>
              </p:nvSpPr>
              <p:spPr bwMode="auto">
                <a:xfrm>
                  <a:off x="7419" y="9349"/>
                  <a:ext cx="156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49">
                      <a:moveTo>
                        <a:pt x="156" y="149"/>
                      </a:moveTo>
                      <a:lnTo>
                        <a:pt x="77" y="0"/>
                      </a:lnTo>
                      <a:lnTo>
                        <a:pt x="0" y="149"/>
                      </a:lnTo>
                      <a:lnTo>
                        <a:pt x="156" y="149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818" name="Freeform 78"/>
                <p:cNvSpPr/>
                <p:nvPr/>
              </p:nvSpPr>
              <p:spPr bwMode="auto">
                <a:xfrm>
                  <a:off x="7417" y="9522"/>
                  <a:ext cx="155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50">
                      <a:moveTo>
                        <a:pt x="0" y="0"/>
                      </a:moveTo>
                      <a:lnTo>
                        <a:pt x="79" y="150"/>
                      </a:lnTo>
                      <a:lnTo>
                        <a:pt x="155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28" name="Group 127"/>
              <p:cNvGrpSpPr/>
              <p:nvPr/>
            </p:nvGrpSpPr>
            <p:grpSpPr>
              <a:xfrm rot="0">
                <a:off x="3870" y="3138"/>
                <a:ext cx="158" cy="326"/>
                <a:chOff x="8667" y="9023"/>
                <a:chExt cx="158" cy="326"/>
              </a:xfrm>
            </p:grpSpPr>
            <p:sp>
              <p:nvSpPr>
                <p:cNvPr id="1048819" name="Line 80"/>
                <p:cNvSpPr/>
                <p:nvPr/>
              </p:nvSpPr>
              <p:spPr>
                <a:xfrm>
                  <a:off x="8746" y="9168"/>
                  <a:ext cx="1" cy="36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820" name="Freeform 81"/>
                <p:cNvSpPr/>
                <p:nvPr/>
              </p:nvSpPr>
              <p:spPr bwMode="auto">
                <a:xfrm>
                  <a:off x="8670" y="9023"/>
                  <a:ext cx="155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50">
                      <a:moveTo>
                        <a:pt x="155" y="150"/>
                      </a:moveTo>
                      <a:lnTo>
                        <a:pt x="76" y="0"/>
                      </a:lnTo>
                      <a:lnTo>
                        <a:pt x="0" y="150"/>
                      </a:lnTo>
                      <a:lnTo>
                        <a:pt x="155" y="15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821" name="Freeform 82"/>
                <p:cNvSpPr/>
                <p:nvPr/>
              </p:nvSpPr>
              <p:spPr bwMode="auto">
                <a:xfrm>
                  <a:off x="8667" y="9199"/>
                  <a:ext cx="156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50">
                      <a:moveTo>
                        <a:pt x="0" y="0"/>
                      </a:moveTo>
                      <a:lnTo>
                        <a:pt x="79" y="150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29" name="Group 128"/>
              <p:cNvGrpSpPr/>
              <p:nvPr/>
            </p:nvGrpSpPr>
            <p:grpSpPr>
              <a:xfrm rot="0">
                <a:off x="5984" y="3138"/>
                <a:ext cx="158" cy="326"/>
                <a:chOff x="11331" y="9023"/>
                <a:chExt cx="158" cy="326"/>
              </a:xfrm>
            </p:grpSpPr>
            <p:sp>
              <p:nvSpPr>
                <p:cNvPr id="1048822" name="Line 84"/>
                <p:cNvSpPr/>
                <p:nvPr/>
              </p:nvSpPr>
              <p:spPr>
                <a:xfrm>
                  <a:off x="11410" y="9168"/>
                  <a:ext cx="1" cy="36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823" name="Freeform 85"/>
                <p:cNvSpPr/>
                <p:nvPr/>
              </p:nvSpPr>
              <p:spPr bwMode="auto">
                <a:xfrm>
                  <a:off x="11334" y="9023"/>
                  <a:ext cx="155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50">
                      <a:moveTo>
                        <a:pt x="155" y="150"/>
                      </a:moveTo>
                      <a:lnTo>
                        <a:pt x="76" y="0"/>
                      </a:lnTo>
                      <a:lnTo>
                        <a:pt x="0" y="150"/>
                      </a:lnTo>
                      <a:lnTo>
                        <a:pt x="155" y="15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824" name="Freeform 86"/>
                <p:cNvSpPr/>
                <p:nvPr/>
              </p:nvSpPr>
              <p:spPr bwMode="auto">
                <a:xfrm>
                  <a:off x="11331" y="9199"/>
                  <a:ext cx="156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50">
                      <a:moveTo>
                        <a:pt x="0" y="0"/>
                      </a:moveTo>
                      <a:lnTo>
                        <a:pt x="79" y="150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30" name="Group 129"/>
              <p:cNvGrpSpPr/>
              <p:nvPr/>
            </p:nvGrpSpPr>
            <p:grpSpPr>
              <a:xfrm rot="0">
                <a:off x="7542" y="3138"/>
                <a:ext cx="156" cy="326"/>
                <a:chOff x="12999" y="9023"/>
                <a:chExt cx="156" cy="326"/>
              </a:xfrm>
            </p:grpSpPr>
            <p:sp>
              <p:nvSpPr>
                <p:cNvPr id="1048825" name="Line 88"/>
                <p:cNvSpPr/>
                <p:nvPr/>
              </p:nvSpPr>
              <p:spPr>
                <a:xfrm flipV="1">
                  <a:off x="13076" y="9168"/>
                  <a:ext cx="1" cy="181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826" name="Freeform 89"/>
                <p:cNvSpPr/>
                <p:nvPr/>
              </p:nvSpPr>
              <p:spPr bwMode="auto">
                <a:xfrm>
                  <a:off x="12999" y="9023"/>
                  <a:ext cx="156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50">
                      <a:moveTo>
                        <a:pt x="156" y="150"/>
                      </a:moveTo>
                      <a:lnTo>
                        <a:pt x="77" y="0"/>
                      </a:lnTo>
                      <a:lnTo>
                        <a:pt x="0" y="150"/>
                      </a:lnTo>
                      <a:lnTo>
                        <a:pt x="156" y="15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31" name="Group 130"/>
              <p:cNvGrpSpPr/>
              <p:nvPr/>
            </p:nvGrpSpPr>
            <p:grpSpPr>
              <a:xfrm rot="0">
                <a:off x="7225" y="3464"/>
                <a:ext cx="158" cy="323"/>
                <a:chOff x="12332" y="9349"/>
                <a:chExt cx="158" cy="323"/>
              </a:xfrm>
            </p:grpSpPr>
            <p:sp>
              <p:nvSpPr>
                <p:cNvPr id="1048827" name="Line 91"/>
                <p:cNvSpPr/>
                <p:nvPr/>
              </p:nvSpPr>
              <p:spPr>
                <a:xfrm>
                  <a:off x="12411" y="9493"/>
                  <a:ext cx="1" cy="34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828" name="Freeform 92"/>
                <p:cNvSpPr/>
                <p:nvPr/>
              </p:nvSpPr>
              <p:spPr bwMode="auto">
                <a:xfrm>
                  <a:off x="12335" y="9349"/>
                  <a:ext cx="155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49">
                      <a:moveTo>
                        <a:pt x="155" y="149"/>
                      </a:moveTo>
                      <a:lnTo>
                        <a:pt x="76" y="0"/>
                      </a:lnTo>
                      <a:lnTo>
                        <a:pt x="0" y="149"/>
                      </a:lnTo>
                      <a:lnTo>
                        <a:pt x="155" y="149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829" name="Freeform 93"/>
                <p:cNvSpPr/>
                <p:nvPr/>
              </p:nvSpPr>
              <p:spPr bwMode="auto">
                <a:xfrm>
                  <a:off x="12332" y="9522"/>
                  <a:ext cx="156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50">
                      <a:moveTo>
                        <a:pt x="0" y="0"/>
                      </a:moveTo>
                      <a:lnTo>
                        <a:pt x="79" y="150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grpSp>
            <p:nvGrpSpPr>
              <p:cNvPr id="132" name="Group 131"/>
              <p:cNvGrpSpPr/>
              <p:nvPr/>
            </p:nvGrpSpPr>
            <p:grpSpPr>
              <a:xfrm rot="0">
                <a:off x="4978" y="3464"/>
                <a:ext cx="158" cy="323"/>
                <a:chOff x="9915" y="9349"/>
                <a:chExt cx="158" cy="323"/>
              </a:xfrm>
            </p:grpSpPr>
            <p:sp>
              <p:nvSpPr>
                <p:cNvPr id="1048830" name="Line 95"/>
                <p:cNvSpPr/>
                <p:nvPr/>
              </p:nvSpPr>
              <p:spPr>
                <a:xfrm>
                  <a:off x="9994" y="9493"/>
                  <a:ext cx="1" cy="34"/>
                </a:xfrm>
                <a:prstGeom prst="line">
                  <a:avLst/>
                </a:pr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</a:ln>
              </p:spPr>
            </p:sp>
            <p:sp>
              <p:nvSpPr>
                <p:cNvPr id="1048831" name="Freeform 96"/>
                <p:cNvSpPr/>
                <p:nvPr/>
              </p:nvSpPr>
              <p:spPr bwMode="auto">
                <a:xfrm>
                  <a:off x="9918" y="9349"/>
                  <a:ext cx="155" cy="14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5" h="149">
                      <a:moveTo>
                        <a:pt x="155" y="149"/>
                      </a:moveTo>
                      <a:lnTo>
                        <a:pt x="76" y="0"/>
                      </a:lnTo>
                      <a:lnTo>
                        <a:pt x="0" y="149"/>
                      </a:lnTo>
                      <a:lnTo>
                        <a:pt x="155" y="149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  <p:sp>
              <p:nvSpPr>
                <p:cNvPr id="1048832" name="Freeform 97"/>
                <p:cNvSpPr/>
                <p:nvPr/>
              </p:nvSpPr>
              <p:spPr bwMode="auto">
                <a:xfrm>
                  <a:off x="9915" y="9522"/>
                  <a:ext cx="156" cy="1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56" h="150">
                      <a:moveTo>
                        <a:pt x="0" y="0"/>
                      </a:moveTo>
                      <a:lnTo>
                        <a:pt x="79" y="150"/>
                      </a:lnTo>
                      <a:lnTo>
                        <a:pt x="15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>
                  <a:noFill/>
                </a:ln>
              </p:spPr>
            </p:sp>
          </p:grpSp>
          <p:sp>
            <p:nvSpPr>
              <p:cNvPr id="1048833" name="Rectangle 98"/>
              <p:cNvSpPr/>
              <p:nvPr/>
            </p:nvSpPr>
            <p:spPr>
              <a:xfrm>
                <a:off x="2171" y="2254"/>
                <a:ext cx="1768" cy="3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0" tIns="0" rIns="0" bIns="0" anchor="t">
                <a:spAutoFit/>
              </a:bodyPr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Digital camera chip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834" name="Oval 99"/>
              <p:cNvSpPr/>
              <p:nvPr/>
            </p:nvSpPr>
            <p:spPr>
              <a:xfrm>
                <a:off x="1248" y="2672"/>
                <a:ext cx="144" cy="72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8835" name="Rectangle 100"/>
              <p:cNvSpPr/>
              <p:nvPr/>
            </p:nvSpPr>
            <p:spPr>
              <a:xfrm>
                <a:off x="1617" y="2691"/>
                <a:ext cx="144" cy="72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8836" name="Rectangle 101"/>
              <p:cNvSpPr/>
              <p:nvPr/>
            </p:nvSpPr>
            <p:spPr>
              <a:xfrm>
                <a:off x="1248" y="3397"/>
                <a:ext cx="363" cy="3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0" tIns="0" rIns="0" bIns="0" anchor="t">
                <a:spAutoFit/>
              </a:bodyPr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lens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837" name="Rectangle 102"/>
              <p:cNvSpPr/>
              <p:nvPr/>
            </p:nvSpPr>
            <p:spPr>
              <a:xfrm>
                <a:off x="1463" y="2468"/>
                <a:ext cx="391" cy="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none" lIns="0" tIns="0" rIns="0" bIns="0" anchor="t">
                <a:spAutoFit/>
              </a:bodyPr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r>
                  <a:rPr lang="en-US" altLang="en-US" sz="1000">
                    <a:latin typeface="Times New Roman" panose="02020603050405020304" charset="0"/>
                  </a:rPr>
                  <a:t>CCD</a:t>
                </a:r>
                <a:endParaRPr lang="en-US" altLang="en-US" sz="1000">
                  <a:latin typeface="Times New Roman" panose="02020603050405020304" charset="0"/>
                </a:endParaRPr>
              </a:p>
            </p:txBody>
          </p:sp>
          <p:sp>
            <p:nvSpPr>
              <p:cNvPr id="1048838" name="Freeform 103"/>
              <p:cNvSpPr/>
              <p:nvPr/>
            </p:nvSpPr>
            <p:spPr bwMode="auto">
              <a:xfrm>
                <a:off x="2710" y="3050"/>
                <a:ext cx="350" cy="1"/>
              </a:xfrm>
              <a:custGeom>
                <a:avLst/>
                <a:gdLst/>
                <a:ahLst/>
                <a:cxnLst/>
                <a:rect l="0" t="0" r="r" b="b"/>
                <a:pathLst>
                  <a:path w="350" h="1">
                    <a:moveTo>
                      <a:pt x="0" y="0"/>
                    </a:moveTo>
                    <a:lnTo>
                      <a:pt x="350" y="1"/>
                    </a:lnTo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tailEnd type="triangle" w="med" len="med"/>
              </a:ln>
            </p:spPr>
          </p:sp>
          <p:sp>
            <p:nvSpPr>
              <p:cNvPr id="1048839" name="Line 104"/>
              <p:cNvSpPr/>
              <p:nvPr/>
            </p:nvSpPr>
            <p:spPr>
              <a:xfrm>
                <a:off x="1770" y="3110"/>
                <a:ext cx="360" cy="0"/>
              </a:xfrm>
              <a:prstGeom prst="line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tailEnd type="triangle" w="med" len="med"/>
              </a:ln>
            </p:spPr>
          </p:sp>
          <p:sp>
            <p:nvSpPr>
              <p:cNvPr id="1048840" name="Line 105"/>
              <p:cNvSpPr/>
              <p:nvPr/>
            </p:nvSpPr>
            <p:spPr>
              <a:xfrm>
                <a:off x="1390" y="3120"/>
                <a:ext cx="230" cy="0"/>
              </a:xfrm>
              <a:prstGeom prst="line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tailEnd type="triangle" w="med" len="med"/>
              </a:ln>
            </p:spPr>
          </p:sp>
          <p:sp>
            <p:nvSpPr>
              <p:cNvPr id="1048841" name="Freeform 106"/>
              <p:cNvSpPr/>
              <p:nvPr/>
            </p:nvSpPr>
            <p:spPr bwMode="auto">
              <a:xfrm>
                <a:off x="7910" y="2950"/>
                <a:ext cx="330" cy="1"/>
              </a:xfrm>
              <a:custGeom>
                <a:avLst/>
                <a:gdLst/>
                <a:ahLst/>
                <a:cxnLst/>
                <a:rect l="0" t="0" r="r" b="b"/>
                <a:pathLst>
                  <a:path w="330" h="1">
                    <a:moveTo>
                      <a:pt x="0" y="0"/>
                    </a:moveTo>
                    <a:lnTo>
                      <a:pt x="330" y="0"/>
                    </a:lnTo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tailEnd type="triangle" w="med" len="med"/>
              </a:ln>
            </p:spPr>
          </p:sp>
          <p:sp>
            <p:nvSpPr>
              <p:cNvPr id="1048842" name="Line 107"/>
              <p:cNvSpPr/>
              <p:nvPr/>
            </p:nvSpPr>
            <p:spPr>
              <a:xfrm flipH="1">
                <a:off x="1760" y="2820"/>
                <a:ext cx="1300" cy="0"/>
              </a:xfrm>
              <a:prstGeom prst="line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tailEnd type="triangle" w="med" len="med"/>
              </a:ln>
            </p:spPr>
          </p:sp>
          <p:sp>
            <p:nvSpPr>
              <p:cNvPr id="1048843" name="Line 108"/>
              <p:cNvSpPr/>
              <p:nvPr/>
            </p:nvSpPr>
            <p:spPr>
              <a:xfrm>
                <a:off x="5055" y="4185"/>
                <a:ext cx="0" cy="990"/>
              </a:xfrm>
              <a:prstGeom prst="line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sp>
          <p:sp>
            <p:nvSpPr>
              <p:cNvPr id="1048844" name="Line 109"/>
              <p:cNvSpPr/>
              <p:nvPr/>
            </p:nvSpPr>
            <p:spPr>
              <a:xfrm>
                <a:off x="2809" y="4986"/>
                <a:ext cx="1" cy="33"/>
              </a:xfrm>
              <a:prstGeom prst="line">
                <a:avLst/>
              </a:pr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</p:sp>
          <p:sp>
            <p:nvSpPr>
              <p:cNvPr id="1048845" name="Freeform 110"/>
              <p:cNvSpPr/>
              <p:nvPr/>
            </p:nvSpPr>
            <p:spPr bwMode="auto">
              <a:xfrm>
                <a:off x="2732" y="4841"/>
                <a:ext cx="156" cy="149"/>
              </a:xfrm>
              <a:custGeom>
                <a:avLst/>
                <a:gdLst/>
                <a:ahLst/>
                <a:cxnLst/>
                <a:rect l="0" t="0" r="r" b="b"/>
                <a:pathLst>
                  <a:path w="156" h="149">
                    <a:moveTo>
                      <a:pt x="156" y="149"/>
                    </a:moveTo>
                    <a:lnTo>
                      <a:pt x="77" y="0"/>
                    </a:lnTo>
                    <a:lnTo>
                      <a:pt x="0" y="149"/>
                    </a:lnTo>
                    <a:lnTo>
                      <a:pt x="156" y="149"/>
                    </a:lnTo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noFill/>
              </a:ln>
            </p:spPr>
          </p:sp>
          <p:sp>
            <p:nvSpPr>
              <p:cNvPr id="1048846" name="Freeform 111"/>
              <p:cNvSpPr/>
              <p:nvPr/>
            </p:nvSpPr>
            <p:spPr bwMode="auto">
              <a:xfrm>
                <a:off x="2730" y="5015"/>
                <a:ext cx="155" cy="149"/>
              </a:xfrm>
              <a:custGeom>
                <a:avLst/>
                <a:gdLst/>
                <a:ahLst/>
                <a:cxnLst/>
                <a:rect l="0" t="0" r="r" b="b"/>
                <a:pathLst>
                  <a:path w="155" h="149">
                    <a:moveTo>
                      <a:pt x="0" y="0"/>
                    </a:moveTo>
                    <a:lnTo>
                      <a:pt x="79" y="149"/>
                    </a:lnTo>
                    <a:lnTo>
                      <a:pt x="155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>
                  <a:alpha val="100000"/>
                </a:srgbClr>
              </a:solidFill>
              <a:ln>
                <a:noFill/>
              </a:ln>
            </p:spPr>
          </p:sp>
          <p:sp>
            <p:nvSpPr>
              <p:cNvPr id="1048847" name="Freeform 112"/>
              <p:cNvSpPr/>
              <p:nvPr/>
            </p:nvSpPr>
            <p:spPr bwMode="auto">
              <a:xfrm>
                <a:off x="7910" y="5670"/>
                <a:ext cx="330" cy="1"/>
              </a:xfrm>
              <a:custGeom>
                <a:avLst/>
                <a:gdLst/>
                <a:ahLst/>
                <a:cxnLst/>
                <a:rect l="0" t="0" r="r" b="b"/>
                <a:pathLst>
                  <a:path w="330" h="1">
                    <a:moveTo>
                      <a:pt x="0" y="0"/>
                    </a:moveTo>
                    <a:lnTo>
                      <a:pt x="330" y="0"/>
                    </a:lnTo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tailEnd type="triangle" w="med" len="med"/>
              </a:ln>
            </p:spPr>
          </p:sp>
        </p:grpSp>
      </p:grpSp>
      <p:sp>
        <p:nvSpPr>
          <p:cNvPr id="1048848" name="Text Box 113"/>
          <p:cNvSpPr txBox="1"/>
          <p:nvPr/>
        </p:nvSpPr>
        <p:spPr>
          <a:xfrm>
            <a:off x="5334000" y="5029200"/>
            <a:ext cx="1143000" cy="62483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50000"/>
              </a:spcBef>
              <a:buSzPct val="100000"/>
              <a:buFontTx/>
              <a:buNone/>
            </a:pPr>
            <a:r>
              <a:rPr lang="en-US" altLang="en-US" sz="1800" i="1">
                <a:latin typeface="Times New Roman" panose="02020603050405020304" charset="0"/>
              </a:rPr>
              <a:t>Hardware</a:t>
            </a:r>
            <a:endParaRPr lang="en-US" altLang="en-US" sz="1800" i="1">
              <a:latin typeface="Times New Roman" panose="02020603050405020304" charset="0"/>
            </a:endParaRPr>
          </a:p>
        </p:txBody>
      </p:sp>
      <p:sp>
        <p:nvSpPr>
          <p:cNvPr id="1048849" name="Text Box 114"/>
          <p:cNvSpPr txBox="1"/>
          <p:nvPr/>
        </p:nvSpPr>
        <p:spPr>
          <a:xfrm>
            <a:off x="5410200" y="5410200"/>
            <a:ext cx="1143000" cy="36671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50000"/>
              </a:spcBef>
              <a:buSzPct val="100000"/>
              <a:buFontTx/>
              <a:buNone/>
            </a:pPr>
            <a:r>
              <a:rPr lang="en-US" altLang="en-US" sz="1800" i="1">
                <a:latin typeface="Times New Roman" panose="02020603050405020304" charset="0"/>
              </a:rPr>
              <a:t>Software</a:t>
            </a:r>
            <a:endParaRPr lang="en-US" altLang="en-US" sz="1800" i="1">
              <a:latin typeface="Times New Roman" panose="02020603050405020304" charset="0"/>
            </a:endParaRPr>
          </a:p>
        </p:txBody>
      </p:sp>
      <p:sp>
        <p:nvSpPr>
          <p:cNvPr id="1048850" name="Freeform 115"/>
          <p:cNvSpPr/>
          <p:nvPr/>
        </p:nvSpPr>
        <p:spPr bwMode="auto">
          <a:xfrm>
            <a:off x="2971800" y="5029200"/>
            <a:ext cx="2514600" cy="533400"/>
          </a:xfrm>
          <a:custGeom>
            <a:avLst/>
            <a:gdLst/>
            <a:ahLst/>
            <a:cxnLst/>
            <a:rect l="0" t="0" r="r" b="b"/>
            <a:pathLst>
              <a:path w="1584" h="336">
                <a:moveTo>
                  <a:pt x="1584" y="336"/>
                </a:moveTo>
                <a:lnTo>
                  <a:pt x="144" y="192"/>
                </a:lnTo>
                <a:lnTo>
                  <a:pt x="0" y="0"/>
                </a:lnTo>
              </a:path>
            </a:pathLst>
          </a:custGeom>
          <a:noFill/>
          <a:ln w="12700" cap="sq" cmpd="sng">
            <a:solidFill>
              <a:schemeClr val="dk1">
                <a:alpha val="100000"/>
              </a:schemeClr>
            </a:solidFill>
            <a:prstDash val="solid"/>
            <a:round/>
            <a:tailEnd type="arrow" w="med" len="med"/>
          </a:ln>
        </p:spPr>
      </p:sp>
      <p:sp>
        <p:nvSpPr>
          <p:cNvPr id="1048851" name="Freeform 116"/>
          <p:cNvSpPr/>
          <p:nvPr/>
        </p:nvSpPr>
        <p:spPr bwMode="auto">
          <a:xfrm>
            <a:off x="1752600" y="4711700"/>
            <a:ext cx="3657600" cy="469900"/>
          </a:xfrm>
          <a:custGeom>
            <a:avLst/>
            <a:gdLst/>
            <a:ahLst/>
            <a:cxnLst/>
            <a:rect l="0" t="0" r="r" b="b"/>
            <a:pathLst>
              <a:path w="2304" h="296">
                <a:moveTo>
                  <a:pt x="2304" y="296"/>
                </a:moveTo>
                <a:cubicBezTo>
                  <a:pt x="2051" y="252"/>
                  <a:pt x="1168" y="64"/>
                  <a:pt x="784" y="32"/>
                </a:cubicBezTo>
                <a:cubicBezTo>
                  <a:pt x="400" y="0"/>
                  <a:pt x="163" y="89"/>
                  <a:pt x="0" y="104"/>
                </a:cubicBezTo>
              </a:path>
            </a:pathLst>
          </a:custGeom>
          <a:noFill/>
          <a:ln w="12700" cap="sq" cmpd="sng">
            <a:solidFill>
              <a:schemeClr val="dk1">
                <a:alpha val="100000"/>
              </a:schemeClr>
            </a:solidFill>
            <a:prstDash val="solid"/>
            <a:round/>
            <a:tailEnd type="arrow" w="sm" len="sm"/>
          </a:ln>
        </p:spPr>
      </p:sp>
      <p:sp>
        <p:nvSpPr>
          <p:cNvPr id="1048852" name="Freeform 117"/>
          <p:cNvSpPr/>
          <p:nvPr/>
        </p:nvSpPr>
        <p:spPr bwMode="auto">
          <a:xfrm>
            <a:off x="2006600" y="4572000"/>
            <a:ext cx="3403600" cy="609600"/>
          </a:xfrm>
          <a:custGeom>
            <a:avLst/>
            <a:gdLst/>
            <a:ahLst/>
            <a:cxnLst/>
            <a:rect l="0" t="0" r="r" b="b"/>
            <a:pathLst>
              <a:path w="2144" h="384">
                <a:moveTo>
                  <a:pt x="2144" y="384"/>
                </a:moveTo>
                <a:cubicBezTo>
                  <a:pt x="1840" y="331"/>
                  <a:pt x="640" y="128"/>
                  <a:pt x="320" y="64"/>
                </a:cubicBezTo>
                <a:cubicBezTo>
                  <a:pt x="0" y="0"/>
                  <a:pt x="244" y="13"/>
                  <a:pt x="224" y="0"/>
                </a:cubicBezTo>
              </a:path>
            </a:pathLst>
          </a:custGeom>
          <a:noFill/>
          <a:ln w="12700" cap="sq" cmpd="sng">
            <a:solidFill>
              <a:schemeClr val="dk1">
                <a:alpha val="100000"/>
              </a:schemeClr>
            </a:solidFill>
            <a:prstDash val="solid"/>
            <a:round/>
            <a:tailEnd type="arrow" w="sm" len="sm"/>
          </a:ln>
        </p:spPr>
      </p:sp>
      <p:sp>
        <p:nvSpPr>
          <p:cNvPr id="1048853" name="Freeform 118"/>
          <p:cNvSpPr/>
          <p:nvPr/>
        </p:nvSpPr>
        <p:spPr bwMode="auto">
          <a:xfrm>
            <a:off x="4038600" y="4572000"/>
            <a:ext cx="1371600" cy="609600"/>
          </a:xfrm>
          <a:custGeom>
            <a:avLst/>
            <a:gdLst/>
            <a:ahLst/>
            <a:cxnLst/>
            <a:rect l="0" t="0" r="r" b="b"/>
            <a:pathLst>
              <a:path w="864" h="384">
                <a:moveTo>
                  <a:pt x="864" y="384"/>
                </a:moveTo>
                <a:cubicBezTo>
                  <a:pt x="720" y="272"/>
                  <a:pt x="576" y="160"/>
                  <a:pt x="432" y="96"/>
                </a:cubicBezTo>
                <a:cubicBezTo>
                  <a:pt x="288" y="32"/>
                  <a:pt x="144" y="16"/>
                  <a:pt x="0" y="0"/>
                </a:cubicBezTo>
              </a:path>
            </a:pathLst>
          </a:custGeom>
          <a:noFill/>
          <a:ln w="12700" cap="sq" cmpd="sng">
            <a:solidFill>
              <a:schemeClr val="dk1">
                <a:alpha val="100000"/>
              </a:schemeClr>
            </a:solidFill>
            <a:prstDash val="solid"/>
            <a:round/>
            <a:tailEnd type="arrow" w="sm" len="sm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54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Time-to Market</a:t>
            </a:r>
            <a:endParaRPr lang="en-US" altLang="en-US"/>
          </a:p>
        </p:txBody>
      </p:sp>
      <p:sp>
        <p:nvSpPr>
          <p:cNvPr id="1048855" name="Rectangle 4"/>
          <p:cNvSpPr/>
          <p:nvPr/>
        </p:nvSpPr>
        <p:spPr>
          <a:xfrm>
            <a:off x="4649787" y="1066800"/>
            <a:ext cx="4189412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/>
            <a:r>
              <a:rPr lang="en-US" altLang="en-US" sz="2600"/>
              <a:t>Time required to develop a product to the point it can be sold to customers</a:t>
            </a:r>
            <a:endParaRPr lang="en-US" altLang="en-US" sz="2600"/>
          </a:p>
          <a:p>
            <a:pPr marL="342900" lvl="0" indent="-342900" eaLnBrk="1" hangingPunct="1"/>
            <a:r>
              <a:rPr lang="en-US" altLang="en-US" sz="2600"/>
              <a:t>Market window</a:t>
            </a:r>
            <a:endParaRPr lang="en-US" altLang="en-US" sz="2600"/>
          </a:p>
          <a:p>
            <a:pPr marL="742950" lvl="1" indent="-445770" eaLnBrk="1" hangingPunct="1"/>
            <a:r>
              <a:rPr lang="en-US" altLang="en-US" sz="2400"/>
              <a:t>Period during which the product would have highest sales</a:t>
            </a:r>
            <a:endParaRPr lang="en-US" altLang="en-US" sz="2400"/>
          </a:p>
          <a:p>
            <a:pPr marL="342900" lvl="0" indent="-342900" eaLnBrk="1" hangingPunct="1"/>
            <a:r>
              <a:rPr lang="en-US" altLang="en-US" sz="2600"/>
              <a:t>Average time-to-market constraint is about 8 months</a:t>
            </a:r>
            <a:endParaRPr lang="en-US" altLang="en-US" sz="2600"/>
          </a:p>
          <a:p>
            <a:pPr marL="342900" lvl="0" indent="-342900" eaLnBrk="1" hangingPunct="1"/>
            <a:r>
              <a:rPr lang="en-US" altLang="en-US" sz="2600"/>
              <a:t>Delays can be costly</a:t>
            </a:r>
            <a:endParaRPr lang="en-US" altLang="en-US" sz="2600"/>
          </a:p>
          <a:p>
            <a:pPr marL="342900" lvl="0" indent="-342900" eaLnBrk="1" hangingPunct="1"/>
            <a:endParaRPr lang="en-US" altLang="en-US" sz="2600"/>
          </a:p>
        </p:txBody>
      </p:sp>
      <p:sp>
        <p:nvSpPr>
          <p:cNvPr id="1048856" name="Line 6"/>
          <p:cNvSpPr/>
          <p:nvPr/>
        </p:nvSpPr>
        <p:spPr>
          <a:xfrm flipV="1">
            <a:off x="1185862" y="2362200"/>
            <a:ext cx="0" cy="2262187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tailEnd type="triangle" w="med" len="med"/>
          </a:ln>
        </p:spPr>
      </p:sp>
      <p:sp>
        <p:nvSpPr>
          <p:cNvPr id="1048857" name="Line 7"/>
          <p:cNvSpPr/>
          <p:nvPr/>
        </p:nvSpPr>
        <p:spPr>
          <a:xfrm>
            <a:off x="1185862" y="4624387"/>
            <a:ext cx="2940050" cy="0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tailEnd type="triangle" w="med" len="med"/>
          </a:ln>
        </p:spPr>
      </p:sp>
      <p:sp>
        <p:nvSpPr>
          <p:cNvPr id="1048858" name="Text Box 8"/>
          <p:cNvSpPr txBox="1"/>
          <p:nvPr/>
        </p:nvSpPr>
        <p:spPr>
          <a:xfrm rot="16200000">
            <a:off x="-96043" y="3305968"/>
            <a:ext cx="2058987" cy="3429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800" b="1">
                <a:solidFill>
                  <a:schemeClr val="dk1"/>
                </a:solidFill>
                <a:latin typeface="Times New Roman" panose="02020603050405020304" charset="0"/>
              </a:rPr>
              <a:t>Revenues ($)</a:t>
            </a:r>
            <a:endParaRPr lang="en-US" altLang="en-US" sz="1800" b="1">
              <a:solidFill>
                <a:schemeClr val="dk1"/>
              </a:solidFill>
              <a:latin typeface="Times New Roman" panose="02020603050405020304" charset="0"/>
            </a:endParaRPr>
          </a:p>
        </p:txBody>
      </p:sp>
      <p:sp>
        <p:nvSpPr>
          <p:cNvPr id="1048859" name="Text Box 9"/>
          <p:cNvSpPr txBox="1"/>
          <p:nvPr/>
        </p:nvSpPr>
        <p:spPr>
          <a:xfrm>
            <a:off x="1828800" y="4724400"/>
            <a:ext cx="1470025" cy="3095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800" b="1">
                <a:solidFill>
                  <a:schemeClr val="dk1"/>
                </a:solidFill>
                <a:latin typeface="Times New Roman" panose="02020603050405020304" charset="0"/>
              </a:rPr>
              <a:t>Time (months)</a:t>
            </a:r>
            <a:endParaRPr lang="en-US" altLang="en-US" sz="1800" b="1">
              <a:solidFill>
                <a:schemeClr val="dk1"/>
              </a:solidFill>
              <a:latin typeface="Times New Roman" panose="02020603050405020304" charset="0"/>
            </a:endParaRPr>
          </a:p>
        </p:txBody>
      </p:sp>
      <p:sp>
        <p:nvSpPr>
          <p:cNvPr id="1048860" name="Freeform 10"/>
          <p:cNvSpPr/>
          <p:nvPr/>
        </p:nvSpPr>
        <p:spPr bwMode="auto">
          <a:xfrm>
            <a:off x="1185862" y="2557462"/>
            <a:ext cx="2708275" cy="2066925"/>
          </a:xfrm>
          <a:custGeom>
            <a:avLst/>
            <a:gdLst/>
            <a:ahLst/>
            <a:cxnLst/>
            <a:rect l="0" t="0" r="r" b="b"/>
            <a:pathLst>
              <a:path w="2520" h="1920">
                <a:moveTo>
                  <a:pt x="0" y="1920"/>
                </a:moveTo>
                <a:cubicBezTo>
                  <a:pt x="132" y="1836"/>
                  <a:pt x="264" y="1752"/>
                  <a:pt x="360" y="1560"/>
                </a:cubicBezTo>
                <a:cubicBezTo>
                  <a:pt x="456" y="1368"/>
                  <a:pt x="480" y="1008"/>
                  <a:pt x="576" y="768"/>
                </a:cubicBezTo>
                <a:cubicBezTo>
                  <a:pt x="672" y="528"/>
                  <a:pt x="792" y="240"/>
                  <a:pt x="936" y="120"/>
                </a:cubicBezTo>
                <a:cubicBezTo>
                  <a:pt x="1080" y="0"/>
                  <a:pt x="1284" y="12"/>
                  <a:pt x="1440" y="48"/>
                </a:cubicBezTo>
                <a:cubicBezTo>
                  <a:pt x="1596" y="84"/>
                  <a:pt x="1752" y="144"/>
                  <a:pt x="1872" y="336"/>
                </a:cubicBezTo>
                <a:cubicBezTo>
                  <a:pt x="1992" y="528"/>
                  <a:pt x="2088" y="996"/>
                  <a:pt x="2160" y="1200"/>
                </a:cubicBezTo>
                <a:cubicBezTo>
                  <a:pt x="2232" y="1404"/>
                  <a:pt x="2244" y="1452"/>
                  <a:pt x="2304" y="1560"/>
                </a:cubicBezTo>
                <a:cubicBezTo>
                  <a:pt x="2364" y="1668"/>
                  <a:pt x="2442" y="1758"/>
                  <a:pt x="2520" y="1848"/>
                </a:cubicBezTo>
              </a:path>
            </a:pathLst>
          </a:custGeom>
          <a:noFill/>
          <a:ln w="1587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861" name="Line 11"/>
          <p:cNvSpPr/>
          <p:nvPr/>
        </p:nvSpPr>
        <p:spPr>
          <a:xfrm>
            <a:off x="1804987" y="3463925"/>
            <a:ext cx="0" cy="1160462"/>
          </a:xfrm>
          <a:prstGeom prst="line">
            <a:avLst/>
          </a:prstGeom>
          <a:noFill/>
          <a:ln w="15875" cap="flat" cmpd="sng">
            <a:solidFill>
              <a:srgbClr val="000000">
                <a:alpha val="100000"/>
              </a:srgbClr>
            </a:solidFill>
            <a:prstDash val="sysDot"/>
            <a:round/>
          </a:ln>
        </p:spPr>
      </p:sp>
      <p:sp>
        <p:nvSpPr>
          <p:cNvPr id="1048862" name="Line 12"/>
          <p:cNvSpPr/>
          <p:nvPr/>
        </p:nvSpPr>
        <p:spPr>
          <a:xfrm>
            <a:off x="3351212" y="3463925"/>
            <a:ext cx="0" cy="1160462"/>
          </a:xfrm>
          <a:prstGeom prst="line">
            <a:avLst/>
          </a:prstGeom>
          <a:noFill/>
          <a:ln w="15875" cap="flat" cmpd="sng">
            <a:solidFill>
              <a:srgbClr val="000000">
                <a:alpha val="100000"/>
              </a:srgbClr>
            </a:solidFill>
            <a:prstDash val="sysDot"/>
            <a:round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63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Delayed Market Entry</a:t>
            </a:r>
            <a:endParaRPr lang="en-US" altLang="en-US"/>
          </a:p>
        </p:txBody>
      </p:sp>
      <p:sp>
        <p:nvSpPr>
          <p:cNvPr id="1048864" name="Rectangle 4"/>
          <p:cNvSpPr/>
          <p:nvPr/>
        </p:nvSpPr>
        <p:spPr>
          <a:xfrm>
            <a:off x="4649787" y="838200"/>
            <a:ext cx="4189412" cy="50212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/>
            <a:r>
              <a:rPr lang="en-US" altLang="en-US" sz="2600"/>
              <a:t>Simplified revenue model</a:t>
            </a:r>
            <a:endParaRPr lang="en-US" altLang="en-US" sz="2600"/>
          </a:p>
          <a:p>
            <a:pPr marL="742950" lvl="1" indent="-445770" eaLnBrk="1" hangingPunct="1"/>
            <a:r>
              <a:rPr lang="en-US" altLang="en-US" sz="2400"/>
              <a:t>Product life = 2W, peak at W</a:t>
            </a:r>
            <a:endParaRPr lang="en-US" altLang="en-US" sz="2400"/>
          </a:p>
          <a:p>
            <a:pPr marL="742950" lvl="1" indent="-445770" eaLnBrk="1" hangingPunct="1"/>
            <a:r>
              <a:rPr lang="en-US" altLang="en-US" sz="2400"/>
              <a:t>Time of market entry defines a triangle, representing market penetration</a:t>
            </a:r>
            <a:endParaRPr lang="en-US" altLang="en-US" sz="2400"/>
          </a:p>
          <a:p>
            <a:pPr marL="742950" lvl="1" indent="-445770" eaLnBrk="1" hangingPunct="1"/>
            <a:r>
              <a:rPr lang="en-US" altLang="en-US" sz="2400"/>
              <a:t>Triangle area equals revenue</a:t>
            </a:r>
            <a:endParaRPr lang="en-US" altLang="en-US" sz="2400"/>
          </a:p>
          <a:p>
            <a:pPr marL="342900" lvl="0" indent="-342900" eaLnBrk="1" hangingPunct="1"/>
            <a:r>
              <a:rPr lang="en-US" altLang="en-US" sz="2600"/>
              <a:t>Loss </a:t>
            </a:r>
            <a:endParaRPr lang="en-US" altLang="en-US" sz="2600"/>
          </a:p>
          <a:p>
            <a:pPr marL="742950" lvl="1" indent="-445770" eaLnBrk="1" hangingPunct="1"/>
            <a:r>
              <a:rPr lang="en-US" altLang="en-US" sz="2400"/>
              <a:t>The difference between the on-time and delayed triangle areas</a:t>
            </a:r>
            <a:endParaRPr lang="en-US" altLang="en-US" sz="2400"/>
          </a:p>
          <a:p>
            <a:pPr marL="742950" lvl="1" indent="-445770" eaLnBrk="1" hangingPunct="1"/>
            <a:endParaRPr lang="en-US" altLang="en-US" sz="2400"/>
          </a:p>
        </p:txBody>
      </p:sp>
      <p:sp>
        <p:nvSpPr>
          <p:cNvPr id="1048865" name="Text Box 6"/>
          <p:cNvSpPr txBox="1"/>
          <p:nvPr/>
        </p:nvSpPr>
        <p:spPr>
          <a:xfrm>
            <a:off x="598487" y="4895850"/>
            <a:ext cx="1787525" cy="45561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600" b="1">
                <a:latin typeface="Times New Roman" panose="02020603050405020304" charset="0"/>
              </a:rPr>
              <a:t>On-time      Delayed</a:t>
            </a:r>
            <a:endParaRPr lang="en-US" altLang="en-US" sz="1600" b="1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600" b="1">
                <a:latin typeface="Times New Roman" panose="02020603050405020304" charset="0"/>
              </a:rPr>
              <a:t>entry           entry</a:t>
            </a:r>
            <a:endParaRPr lang="en-US" altLang="en-US" sz="1600" b="1">
              <a:latin typeface="Times New Roman" panose="02020603050405020304" charset="0"/>
            </a:endParaRPr>
          </a:p>
        </p:txBody>
      </p:sp>
      <p:sp>
        <p:nvSpPr>
          <p:cNvPr id="1048866" name="Freeform 7"/>
          <p:cNvSpPr/>
          <p:nvPr/>
        </p:nvSpPr>
        <p:spPr bwMode="auto">
          <a:xfrm>
            <a:off x="2490787" y="2486025"/>
            <a:ext cx="504825" cy="287337"/>
          </a:xfrm>
          <a:custGeom>
            <a:avLst/>
            <a:gdLst/>
            <a:ahLst/>
            <a:cxnLst/>
            <a:rect l="0" t="0" r="r" b="b"/>
            <a:pathLst>
              <a:path w="510" h="290">
                <a:moveTo>
                  <a:pt x="510" y="0"/>
                </a:moveTo>
                <a:lnTo>
                  <a:pt x="0" y="29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tailEnd type="arrow" w="sm" len="med"/>
          </a:ln>
        </p:spPr>
      </p:sp>
      <p:sp>
        <p:nvSpPr>
          <p:cNvPr id="1048867" name="Line 8"/>
          <p:cNvSpPr/>
          <p:nvPr/>
        </p:nvSpPr>
        <p:spPr>
          <a:xfrm>
            <a:off x="781050" y="4476750"/>
            <a:ext cx="3495675" cy="0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tailEnd type="triangle" w="med" len="med"/>
          </a:ln>
        </p:spPr>
      </p:sp>
      <p:sp>
        <p:nvSpPr>
          <p:cNvPr id="1048868" name="Freeform 9"/>
          <p:cNvSpPr/>
          <p:nvPr/>
        </p:nvSpPr>
        <p:spPr bwMode="auto">
          <a:xfrm>
            <a:off x="2424112" y="3130550"/>
            <a:ext cx="690562" cy="406400"/>
          </a:xfrm>
          <a:custGeom>
            <a:avLst/>
            <a:gdLst/>
            <a:ahLst/>
            <a:cxnLst/>
            <a:rect l="0" t="0" r="r" b="b"/>
            <a:pathLst>
              <a:path w="699" h="410">
                <a:moveTo>
                  <a:pt x="699" y="0"/>
                </a:moveTo>
                <a:lnTo>
                  <a:pt x="0" y="41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tailEnd type="arrow" w="sm" len="med"/>
          </a:ln>
        </p:spPr>
      </p:sp>
      <p:sp>
        <p:nvSpPr>
          <p:cNvPr id="1048869" name="Line 10"/>
          <p:cNvSpPr/>
          <p:nvPr/>
        </p:nvSpPr>
        <p:spPr>
          <a:xfrm flipV="1">
            <a:off x="2424112" y="2822575"/>
            <a:ext cx="0" cy="1654175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ysDot"/>
            <a:round/>
          </a:ln>
        </p:spPr>
      </p:sp>
      <p:sp>
        <p:nvSpPr>
          <p:cNvPr id="1048870" name="Freeform 11"/>
          <p:cNvSpPr/>
          <p:nvPr/>
        </p:nvSpPr>
        <p:spPr bwMode="auto">
          <a:xfrm>
            <a:off x="787400" y="2838450"/>
            <a:ext cx="1636712" cy="1638300"/>
          </a:xfrm>
          <a:custGeom>
            <a:avLst/>
            <a:gdLst/>
            <a:ahLst/>
            <a:cxnLst/>
            <a:rect l="0" t="0" r="r" b="b"/>
            <a:pathLst>
              <a:path w="1651" h="1655">
                <a:moveTo>
                  <a:pt x="0" y="1655"/>
                </a:moveTo>
                <a:lnTo>
                  <a:pt x="1651" y="0"/>
                </a:ln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871" name="Line 12"/>
          <p:cNvSpPr/>
          <p:nvPr/>
        </p:nvSpPr>
        <p:spPr>
          <a:xfrm>
            <a:off x="2424112" y="2838450"/>
            <a:ext cx="1566862" cy="1654175"/>
          </a:xfrm>
          <a:prstGeom prst="line">
            <a:avLst/>
          </a:pr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872" name="Line 13"/>
          <p:cNvSpPr/>
          <p:nvPr/>
        </p:nvSpPr>
        <p:spPr>
          <a:xfrm flipV="1">
            <a:off x="1566862" y="3551237"/>
            <a:ext cx="857250" cy="941387"/>
          </a:xfrm>
          <a:prstGeom prst="line">
            <a:avLst/>
          </a:pr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873" name="Line 14"/>
          <p:cNvSpPr/>
          <p:nvPr/>
        </p:nvSpPr>
        <p:spPr>
          <a:xfrm>
            <a:off x="2424112" y="3551237"/>
            <a:ext cx="1566862" cy="941387"/>
          </a:xfrm>
          <a:prstGeom prst="line">
            <a:avLst/>
          </a:pr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874" name="Line 15"/>
          <p:cNvSpPr/>
          <p:nvPr/>
        </p:nvSpPr>
        <p:spPr>
          <a:xfrm flipV="1">
            <a:off x="781050" y="2395537"/>
            <a:ext cx="0" cy="20812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tailEnd type="triangle" w="med" len="med"/>
          </a:ln>
        </p:spPr>
      </p:sp>
      <p:sp>
        <p:nvSpPr>
          <p:cNvPr id="1048875" name="Text Box 16"/>
          <p:cNvSpPr txBox="1"/>
          <p:nvPr/>
        </p:nvSpPr>
        <p:spPr>
          <a:xfrm>
            <a:off x="2632075" y="2133600"/>
            <a:ext cx="1495425" cy="25241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600" b="1">
                <a:latin typeface="Times New Roman" panose="02020603050405020304" charset="0"/>
              </a:rPr>
              <a:t>Peak revenue</a:t>
            </a:r>
            <a:endParaRPr lang="en-US" altLang="en-US" sz="1600" b="1">
              <a:latin typeface="Times New Roman" panose="02020603050405020304" charset="0"/>
            </a:endParaRPr>
          </a:p>
        </p:txBody>
      </p:sp>
      <p:sp>
        <p:nvSpPr>
          <p:cNvPr id="1048876" name="Text Box 17"/>
          <p:cNvSpPr txBox="1"/>
          <p:nvPr/>
        </p:nvSpPr>
        <p:spPr>
          <a:xfrm>
            <a:off x="2997200" y="2590800"/>
            <a:ext cx="1727200" cy="49688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600" b="1">
                <a:latin typeface="Times New Roman" panose="02020603050405020304" charset="0"/>
              </a:rPr>
              <a:t>Peak revenue from delayed entry</a:t>
            </a:r>
            <a:endParaRPr lang="en-US" altLang="en-US" sz="1600" b="1">
              <a:latin typeface="Times New Roman" panose="02020603050405020304" charset="0"/>
            </a:endParaRPr>
          </a:p>
        </p:txBody>
      </p:sp>
      <p:sp>
        <p:nvSpPr>
          <p:cNvPr id="1048877" name="Text Box 18"/>
          <p:cNvSpPr txBox="1"/>
          <p:nvPr/>
        </p:nvSpPr>
        <p:spPr>
          <a:xfrm>
            <a:off x="909637" y="3276600"/>
            <a:ext cx="785812" cy="5000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600" b="1">
                <a:latin typeface="Times New Roman" panose="02020603050405020304" charset="0"/>
              </a:rPr>
              <a:t>Market rise</a:t>
            </a:r>
            <a:endParaRPr lang="en-US" altLang="en-US" sz="1600" b="1">
              <a:latin typeface="Times New Roman" panose="02020603050405020304" charset="0"/>
            </a:endParaRPr>
          </a:p>
        </p:txBody>
      </p:sp>
      <p:sp>
        <p:nvSpPr>
          <p:cNvPr id="1048878" name="Text Box 19"/>
          <p:cNvSpPr txBox="1"/>
          <p:nvPr/>
        </p:nvSpPr>
        <p:spPr>
          <a:xfrm>
            <a:off x="3349625" y="3408362"/>
            <a:ext cx="785812" cy="5000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600" b="1">
                <a:latin typeface="Times New Roman" panose="02020603050405020304" charset="0"/>
              </a:rPr>
              <a:t>Market fall</a:t>
            </a:r>
            <a:endParaRPr lang="en-US" altLang="en-US" sz="1600" b="1">
              <a:latin typeface="Times New Roman" panose="02020603050405020304" charset="0"/>
            </a:endParaRPr>
          </a:p>
        </p:txBody>
      </p:sp>
      <p:sp>
        <p:nvSpPr>
          <p:cNvPr id="1048879" name="Text Box 20"/>
          <p:cNvSpPr txBox="1"/>
          <p:nvPr/>
        </p:nvSpPr>
        <p:spPr>
          <a:xfrm>
            <a:off x="2279650" y="4621212"/>
            <a:ext cx="285750" cy="2841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600" b="1">
                <a:latin typeface="Times New Roman" panose="02020603050405020304" charset="0"/>
              </a:rPr>
              <a:t>W</a:t>
            </a:r>
            <a:endParaRPr lang="en-US" altLang="en-US" sz="1600" b="1">
              <a:latin typeface="Times New Roman" panose="02020603050405020304" charset="0"/>
            </a:endParaRPr>
          </a:p>
        </p:txBody>
      </p:sp>
      <p:sp>
        <p:nvSpPr>
          <p:cNvPr id="1048880" name="Line 21"/>
          <p:cNvSpPr/>
          <p:nvPr/>
        </p:nvSpPr>
        <p:spPr>
          <a:xfrm>
            <a:off x="2424112" y="4405312"/>
            <a:ext cx="0" cy="215900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881" name="Text Box 22"/>
          <p:cNvSpPr txBox="1"/>
          <p:nvPr/>
        </p:nvSpPr>
        <p:spPr>
          <a:xfrm>
            <a:off x="3789362" y="4621212"/>
            <a:ext cx="477837" cy="2841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600" b="1">
                <a:latin typeface="Times New Roman" panose="02020603050405020304" charset="0"/>
              </a:rPr>
              <a:t>2W</a:t>
            </a:r>
            <a:endParaRPr lang="en-US" altLang="en-US" sz="1600" b="1">
              <a:latin typeface="Times New Roman" panose="02020603050405020304" charset="0"/>
            </a:endParaRPr>
          </a:p>
        </p:txBody>
      </p:sp>
      <p:sp>
        <p:nvSpPr>
          <p:cNvPr id="1048882" name="Line 23"/>
          <p:cNvSpPr/>
          <p:nvPr/>
        </p:nvSpPr>
        <p:spPr>
          <a:xfrm>
            <a:off x="3990975" y="4405312"/>
            <a:ext cx="0" cy="215900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883" name="Text Box 24"/>
          <p:cNvSpPr txBox="1"/>
          <p:nvPr/>
        </p:nvSpPr>
        <p:spPr>
          <a:xfrm>
            <a:off x="2514600" y="4953000"/>
            <a:ext cx="1497012" cy="2841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600" b="1">
                <a:solidFill>
                  <a:schemeClr val="dk1"/>
                </a:solidFill>
                <a:latin typeface="Times New Roman" panose="02020603050405020304" charset="0"/>
              </a:rPr>
              <a:t>Time</a:t>
            </a:r>
            <a:endParaRPr lang="en-US" altLang="en-US" sz="1600" b="1">
              <a:solidFill>
                <a:schemeClr val="dk1"/>
              </a:solidFill>
              <a:latin typeface="Times New Roman" panose="02020603050405020304" charset="0"/>
            </a:endParaRPr>
          </a:p>
        </p:txBody>
      </p:sp>
      <p:sp>
        <p:nvSpPr>
          <p:cNvPr id="1048884" name="Text Box 25"/>
          <p:cNvSpPr txBox="1"/>
          <p:nvPr/>
        </p:nvSpPr>
        <p:spPr>
          <a:xfrm>
            <a:off x="1439862" y="4606925"/>
            <a:ext cx="273050" cy="2238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600" b="1">
                <a:latin typeface="Times New Roman" panose="02020603050405020304" charset="0"/>
              </a:rPr>
              <a:t>D</a:t>
            </a:r>
            <a:endParaRPr lang="en-US" altLang="en-US" sz="1600" b="1">
              <a:latin typeface="Times New Roman" panose="02020603050405020304" charset="0"/>
            </a:endParaRPr>
          </a:p>
        </p:txBody>
      </p:sp>
      <p:sp>
        <p:nvSpPr>
          <p:cNvPr id="1048885" name="Line 26"/>
          <p:cNvSpPr/>
          <p:nvPr/>
        </p:nvSpPr>
        <p:spPr>
          <a:xfrm>
            <a:off x="1566862" y="4392612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886" name="Text Box 27"/>
          <p:cNvSpPr txBox="1"/>
          <p:nvPr/>
        </p:nvSpPr>
        <p:spPr>
          <a:xfrm>
            <a:off x="2066925" y="3108325"/>
            <a:ext cx="712787" cy="2873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600" b="1" i="1">
                <a:solidFill>
                  <a:schemeClr val="dk1"/>
                </a:solidFill>
                <a:latin typeface="Times New Roman" panose="02020603050405020304" charset="0"/>
              </a:rPr>
              <a:t>On-time</a:t>
            </a:r>
            <a:endParaRPr lang="en-US" altLang="en-US" sz="1600" b="1" i="1">
              <a:solidFill>
                <a:schemeClr val="dk1"/>
              </a:solidFill>
              <a:latin typeface="Times New Roman" panose="02020603050405020304" charset="0"/>
            </a:endParaRPr>
          </a:p>
        </p:txBody>
      </p:sp>
      <p:sp>
        <p:nvSpPr>
          <p:cNvPr id="1048887" name="Text Box 28"/>
          <p:cNvSpPr txBox="1"/>
          <p:nvPr/>
        </p:nvSpPr>
        <p:spPr>
          <a:xfrm>
            <a:off x="1995487" y="3821112"/>
            <a:ext cx="996950" cy="2873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600" b="1" i="1">
                <a:solidFill>
                  <a:schemeClr val="dk1"/>
                </a:solidFill>
                <a:latin typeface="Times New Roman" panose="02020603050405020304" charset="0"/>
              </a:rPr>
              <a:t>Delayed</a:t>
            </a:r>
            <a:endParaRPr lang="en-US" altLang="en-US" sz="1600" b="1" i="1">
              <a:solidFill>
                <a:schemeClr val="dk1"/>
              </a:solidFill>
              <a:latin typeface="Times New Roman" panose="02020603050405020304" charset="0"/>
            </a:endParaRPr>
          </a:p>
        </p:txBody>
      </p:sp>
      <p:sp>
        <p:nvSpPr>
          <p:cNvPr id="1048888" name="Freeform 29"/>
          <p:cNvSpPr/>
          <p:nvPr/>
        </p:nvSpPr>
        <p:spPr bwMode="auto">
          <a:xfrm>
            <a:off x="452437" y="4537075"/>
            <a:ext cx="282575" cy="446087"/>
          </a:xfrm>
          <a:custGeom>
            <a:avLst/>
            <a:gdLst/>
            <a:ahLst/>
            <a:cxnLst/>
            <a:rect l="0" t="0" r="r" b="b"/>
            <a:pathLst>
              <a:path w="286" h="450">
                <a:moveTo>
                  <a:pt x="98" y="450"/>
                </a:moveTo>
                <a:cubicBezTo>
                  <a:pt x="87" y="424"/>
                  <a:pt x="0" y="367"/>
                  <a:pt x="31" y="292"/>
                </a:cubicBezTo>
                <a:cubicBezTo>
                  <a:pt x="62" y="217"/>
                  <a:pt x="233" y="61"/>
                  <a:pt x="286" y="0"/>
                </a:cubicBez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tailEnd type="arrow" w="sm" len="med"/>
          </a:ln>
        </p:spPr>
      </p:sp>
      <p:sp>
        <p:nvSpPr>
          <p:cNvPr id="1048889" name="Freeform 30"/>
          <p:cNvSpPr/>
          <p:nvPr/>
        </p:nvSpPr>
        <p:spPr bwMode="auto">
          <a:xfrm>
            <a:off x="1304925" y="4581525"/>
            <a:ext cx="195262" cy="423862"/>
          </a:xfrm>
          <a:custGeom>
            <a:avLst/>
            <a:gdLst/>
            <a:ahLst/>
            <a:cxnLst/>
            <a:rect l="0" t="0" r="r" b="b"/>
            <a:pathLst>
              <a:path w="199" h="427">
                <a:moveTo>
                  <a:pt x="124" y="427"/>
                </a:moveTo>
                <a:cubicBezTo>
                  <a:pt x="105" y="404"/>
                  <a:pt x="0" y="363"/>
                  <a:pt x="12" y="292"/>
                </a:cubicBezTo>
                <a:cubicBezTo>
                  <a:pt x="24" y="221"/>
                  <a:pt x="160" y="61"/>
                  <a:pt x="199" y="0"/>
                </a:cubicBez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tailEnd type="arrow" w="sm" len="med"/>
          </a:ln>
        </p:spPr>
      </p:sp>
      <p:sp>
        <p:nvSpPr>
          <p:cNvPr id="1048890" name="Text Box 31"/>
          <p:cNvSpPr txBox="1"/>
          <p:nvPr/>
        </p:nvSpPr>
        <p:spPr>
          <a:xfrm rot="16200000">
            <a:off x="-204788" y="3349625"/>
            <a:ext cx="1497012" cy="2841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600" b="1">
                <a:solidFill>
                  <a:schemeClr val="dk1"/>
                </a:solidFill>
                <a:latin typeface="Times New Roman" panose="02020603050405020304" charset="0"/>
              </a:rPr>
              <a:t>Revenues ($)</a:t>
            </a:r>
            <a:endParaRPr lang="en-US" altLang="en-US" sz="1600" b="1">
              <a:solidFill>
                <a:schemeClr val="dk1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91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NRE and Unit Cost Metrics</a:t>
            </a:r>
            <a:endParaRPr lang="en-US" altLang="en-US"/>
          </a:p>
        </p:txBody>
      </p:sp>
      <p:sp>
        <p:nvSpPr>
          <p:cNvPr id="1048892" name="Rectangle 4"/>
          <p:cNvSpPr/>
          <p:nvPr/>
        </p:nvSpPr>
        <p:spPr>
          <a:xfrm>
            <a:off x="382587" y="1160462"/>
            <a:ext cx="8456612" cy="28829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</a:pPr>
            <a:r>
              <a:rPr lang="en-US" altLang="en-US" sz="2200"/>
              <a:t>Costs:</a:t>
            </a:r>
            <a:endParaRPr lang="en-US" altLang="en-US" sz="2200"/>
          </a:p>
          <a:p>
            <a:pPr marL="742950" lvl="1" indent="-445770" eaLnBrk="1" hangingPunct="1">
              <a:lnSpc>
                <a:spcPct val="90000"/>
              </a:lnSpc>
            </a:pPr>
            <a:r>
              <a:rPr lang="en-US" altLang="en-US" sz="2000"/>
              <a:t>Unit cost: the monetary cost of manufacturing each copy of the system, excluding NRE cost</a:t>
            </a:r>
            <a:endParaRPr lang="en-US" altLang="en-US" sz="2000"/>
          </a:p>
          <a:p>
            <a:pPr marL="742950" lvl="1" indent="-445770" eaLnBrk="1" hangingPunct="1">
              <a:lnSpc>
                <a:spcPct val="90000"/>
              </a:lnSpc>
            </a:pPr>
            <a:r>
              <a:rPr lang="en-US" altLang="en-US" sz="2000"/>
              <a:t>NRE cost (Non-Recurring Engineering cost): the one-time monetary cost of designing the system</a:t>
            </a:r>
            <a:endParaRPr lang="en-US" altLang="en-US" sz="2000"/>
          </a:p>
          <a:p>
            <a:pPr marL="742950" lvl="1" indent="-445770" eaLnBrk="1" hangingPunct="1">
              <a:lnSpc>
                <a:spcPct val="90000"/>
              </a:lnSpc>
            </a:pPr>
            <a:r>
              <a:rPr lang="en-US" altLang="en-US" sz="2000" i="1"/>
              <a:t>total cost = NRE cost  +    unit cost </a:t>
            </a:r>
            <a:r>
              <a:rPr lang="en-US" altLang="en-US" sz="2000" i="1"/>
              <a:t>* # of units</a:t>
            </a:r>
            <a:endParaRPr lang="en-US" altLang="en-US" sz="2000" i="1"/>
          </a:p>
          <a:p>
            <a:pPr marL="742950" lvl="1" indent="-445770" eaLnBrk="1" hangingPunct="1">
              <a:lnSpc>
                <a:spcPct val="90000"/>
              </a:lnSpc>
            </a:pPr>
            <a:r>
              <a:rPr lang="en-US" altLang="en-US" sz="2000" i="1"/>
              <a:t>per-product cost  	= total cost  /   # of units   </a:t>
            </a:r>
            <a:endParaRPr lang="en-US" altLang="en-US" sz="2000" i="1"/>
          </a:p>
          <a:p>
            <a:pPr marL="742950" lvl="1" indent="-445770" eaLnBrk="1" hangingPunct="1">
              <a:lnSpc>
                <a:spcPct val="90000"/>
              </a:lnSpc>
              <a:buClr>
                <a:schemeClr val="dk1"/>
              </a:buClr>
              <a:buNone/>
            </a:pPr>
            <a:r>
              <a:rPr lang="en-US" altLang="en-US" sz="2000" i="1"/>
              <a:t>				=  (NRE cost / # of units)  + unit cost</a:t>
            </a:r>
            <a:endParaRPr lang="en-US" altLang="en-US" sz="2000" i="1"/>
          </a:p>
          <a:p>
            <a:pPr marL="742950" lvl="1" indent="-445770" eaLnBrk="1" hangingPunct="1">
              <a:lnSpc>
                <a:spcPct val="90000"/>
              </a:lnSpc>
            </a:pPr>
            <a:endParaRPr lang="en-US" altLang="en-US" sz="2000"/>
          </a:p>
          <a:p>
            <a:pPr marL="342900" lvl="0" indent="-342900" eaLnBrk="1" hangingPunct="1">
              <a:lnSpc>
                <a:spcPct val="90000"/>
              </a:lnSpc>
            </a:pPr>
            <a:endParaRPr lang="en-US" altLang="en-US" sz="2200"/>
          </a:p>
        </p:txBody>
      </p:sp>
      <p:sp>
        <p:nvSpPr>
          <p:cNvPr id="1048893" name="Rectangle 5"/>
          <p:cNvSpPr/>
          <p:nvPr/>
        </p:nvSpPr>
        <p:spPr>
          <a:xfrm>
            <a:off x="457200" y="3962400"/>
            <a:ext cx="8305800" cy="15240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>
              <a:lnSpc>
                <a:spcPct val="90000"/>
              </a:lnSpc>
              <a:buSzPct val="100000"/>
              <a:buFontTx/>
            </a:pPr>
            <a:r>
              <a:rPr lang="en-US" altLang="en-US" sz="2000">
                <a:latin typeface="Times New Roman" panose="02020603050405020304" charset="0"/>
              </a:rPr>
              <a:t>Example</a:t>
            </a:r>
            <a:endParaRPr lang="en-US" altLang="en-US" sz="2000">
              <a:latin typeface="Times New Roman" panose="02020603050405020304" charset="0"/>
            </a:endParaRPr>
          </a:p>
          <a:p>
            <a:pPr marL="742950" lvl="1" indent="-445770">
              <a:lnSpc>
                <a:spcPct val="90000"/>
              </a:lnSpc>
              <a:buSzPct val="100000"/>
              <a:buFontTx/>
              <a:buChar char="–"/>
            </a:pPr>
            <a:r>
              <a:rPr lang="en-US" altLang="en-US" sz="1800">
                <a:latin typeface="Times New Roman" panose="02020603050405020304" charset="0"/>
              </a:rPr>
              <a:t>NRE=$2000, unit=$100</a:t>
            </a:r>
            <a:endParaRPr lang="en-US" altLang="en-US" sz="1800">
              <a:latin typeface="Times New Roman" panose="02020603050405020304" charset="0"/>
            </a:endParaRPr>
          </a:p>
          <a:p>
            <a:pPr marL="742950" lvl="1" indent="-445770">
              <a:lnSpc>
                <a:spcPct val="90000"/>
              </a:lnSpc>
              <a:buSzPct val="100000"/>
              <a:buFontTx/>
              <a:buChar char="–"/>
            </a:pPr>
            <a:r>
              <a:rPr lang="en-US" altLang="en-US" sz="1800">
                <a:latin typeface="Times New Roman" panose="02020603050405020304" charset="0"/>
              </a:rPr>
              <a:t>For 10 units</a:t>
            </a:r>
            <a:endParaRPr lang="en-US" altLang="en-US" sz="1800">
              <a:latin typeface="Times New Roman" panose="02020603050405020304" charset="0"/>
            </a:endParaRPr>
          </a:p>
          <a:p>
            <a:pPr marL="1143000" lvl="2" indent="-457200">
              <a:lnSpc>
                <a:spcPct val="90000"/>
              </a:lnSpc>
              <a:buFontTx/>
              <a:buChar char="–"/>
            </a:pPr>
            <a:r>
              <a:rPr lang="en-US" altLang="en-US" sz="1600">
                <a:latin typeface="Times New Roman" panose="02020603050405020304" charset="0"/>
              </a:rPr>
              <a:t>total cost = $2000 + 10</a:t>
            </a:r>
            <a:r>
              <a:rPr lang="en-US" altLang="en-US" sz="1600">
                <a:latin typeface="Times New Roman" panose="02020603050405020304" charset="0"/>
              </a:rPr>
              <a:t>*$100 = $3000</a:t>
            </a:r>
            <a:endParaRPr lang="en-US" altLang="en-US" sz="1600">
              <a:latin typeface="Times New Roman" panose="02020603050405020304" charset="0"/>
            </a:endParaRPr>
          </a:p>
          <a:p>
            <a:pPr marL="1143000" lvl="2" indent="-457200">
              <a:lnSpc>
                <a:spcPct val="90000"/>
              </a:lnSpc>
              <a:buFontTx/>
              <a:buChar char="–"/>
            </a:pPr>
            <a:r>
              <a:rPr lang="en-US" altLang="en-US" sz="1600">
                <a:latin typeface="Times New Roman" panose="02020603050405020304" charset="0"/>
              </a:rPr>
              <a:t>per-product cost = $2000/10 + $100 = $300</a:t>
            </a:r>
            <a:endParaRPr lang="en-US" altLang="en-US" sz="1600">
              <a:latin typeface="Times New Roman" panose="02020603050405020304" charset="0"/>
            </a:endParaRPr>
          </a:p>
          <a:p>
            <a:pPr marL="742950" lvl="1" indent="-445770">
              <a:lnSpc>
                <a:spcPct val="90000"/>
              </a:lnSpc>
              <a:buSzPct val="100000"/>
              <a:buFontTx/>
              <a:buChar char="–"/>
            </a:pPr>
            <a:endParaRPr lang="en-US" altLang="en-US" sz="1600">
              <a:latin typeface="Times New Roman" panose="02020603050405020304" charset="0"/>
            </a:endParaRPr>
          </a:p>
          <a:p>
            <a:pPr marL="342900" lvl="0" indent="-342900">
              <a:lnSpc>
                <a:spcPct val="90000"/>
              </a:lnSpc>
              <a:buSzPct val="100000"/>
              <a:buFontTx/>
            </a:pPr>
            <a:endParaRPr lang="en-US" altLang="en-US" sz="2400">
              <a:latin typeface="Times New Roman" panose="02020603050405020304" charset="0"/>
            </a:endParaRPr>
          </a:p>
        </p:txBody>
      </p:sp>
      <p:grpSp>
        <p:nvGrpSpPr>
          <p:cNvPr id="136" name="Group 135"/>
          <p:cNvGrpSpPr/>
          <p:nvPr/>
        </p:nvGrpSpPr>
        <p:grpSpPr>
          <a:xfrm rot="0">
            <a:off x="1752600" y="5410200"/>
            <a:ext cx="3733800" cy="669925"/>
            <a:chOff x="1104" y="3408"/>
            <a:chExt cx="2352" cy="422"/>
          </a:xfrm>
        </p:grpSpPr>
        <p:sp>
          <p:nvSpPr>
            <p:cNvPr id="1048894" name="AutoShape 7"/>
            <p:cNvSpPr/>
            <p:nvPr/>
          </p:nvSpPr>
          <p:spPr>
            <a:xfrm rot="5400000">
              <a:off x="2208" y="3216"/>
              <a:ext cx="96" cy="480"/>
            </a:xfrm>
            <a:prstGeom prst="rightBrace">
              <a:avLst/>
            </a:prstGeom>
            <a:noFill/>
            <a:ln w="12700" cap="sq" cmpd="sng">
              <a:solidFill>
                <a:schemeClr val="dk1">
                  <a:alpha val="100000"/>
                </a:schemeClr>
              </a:solidFill>
              <a:prstDash val="solid"/>
              <a:round/>
            </a:ln>
          </p:spPr>
          <p:txBody>
            <a:bodyPr vert="horz" wrap="none" lIns="91440" tIns="45720" rIns="91440" bIns="45720" anchor="ctr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sp>
          <p:nvSpPr>
            <p:cNvPr id="1048895" name="Text Box 8"/>
            <p:cNvSpPr txBox="1"/>
            <p:nvPr/>
          </p:nvSpPr>
          <p:spPr>
            <a:xfrm>
              <a:off x="1104" y="3504"/>
              <a:ext cx="2352" cy="32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Pct val="100000"/>
                <a:buFontTx/>
                <a:buNone/>
              </a:pPr>
              <a:r>
                <a:rPr lang="en-US" altLang="en-US" sz="1400" i="1">
                  <a:latin typeface="Times New Roman" panose="02020603050405020304" charset="0"/>
                </a:rPr>
                <a:t>Amortizing NRE cost over the units results in an additional $200 per unit</a:t>
              </a:r>
              <a:endParaRPr lang="en-US" altLang="en-US" sz="1400" i="1">
                <a:latin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96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NRE and unit cost metrics</a:t>
            </a:r>
            <a:endParaRPr lang="en-US" altLang="en-US"/>
          </a:p>
        </p:txBody>
      </p:sp>
      <p:graphicFrame>
        <p:nvGraphicFramePr>
          <p:cNvPr id="4194320" name="Object 4194319"/>
          <p:cNvGraphicFramePr/>
          <p:nvPr/>
        </p:nvGraphicFramePr>
        <p:xfrm>
          <a:off x="1219200" y="3276600"/>
          <a:ext cx="6691312" cy="280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" name="Picture" r:id="rId1" imgW="4608195" imgH="1934210" progId="Word.Picture.8">
                  <p:embed followColorScheme="full"/>
                </p:oleObj>
              </mc:Choice>
              <mc:Fallback>
                <p:oleObj name="Picture" r:id="rId1" imgW="4608195" imgH="1934210" progId="Word.Picture.8">
                  <p:embed followColorScheme="full"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219200" y="3276600"/>
                        <a:ext cx="6691312" cy="280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897" name="Rectangle 4"/>
          <p:cNvSpPr/>
          <p:nvPr>
            <p:ph type="body" sz="half" idx="2"/>
          </p:nvPr>
        </p:nvSpPr>
        <p:spPr>
          <a:xfrm>
            <a:off x="382587" y="1066800"/>
            <a:ext cx="8456612" cy="1952625"/>
          </a:xfrm>
          <a:prstGeom prst="rect">
            <a:avLst/>
          </a:prstGeom>
          <a:solidFill>
            <a:schemeClr val="lt1">
              <a:alpha val="100000"/>
            </a:schemeClr>
          </a:solidFill>
          <a:ln>
            <a:noFill/>
          </a:ln>
        </p:spPr>
        <p:txBody>
          <a:bodyPr vert="horz" lIns="91440" tIns="45720" rIns="91440" bIns="45720" anchor="t"/>
          <a:lstStyle>
            <a:lvl1pPr marL="342900" indent="-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Font typeface="Arial" panose="02080604020202020204" pitchFamily="34" charset="0"/>
              <a:buChar char="•"/>
              <a:defRPr sz="2600">
                <a:solidFill>
                  <a:schemeClr val="lt2"/>
                </a:solidFill>
              </a:defRPr>
            </a:lvl1pPr>
            <a:lvl2pPr marL="742950" indent="-28575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80604020202020204" pitchFamily="34" charset="0"/>
              <a:buChar char="•"/>
              <a:defRPr sz="2400">
                <a:solidFill>
                  <a:schemeClr val="lt2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panose="02080604020202020204" pitchFamily="34" charset="0"/>
              <a:buChar char="•"/>
              <a:defRPr sz="2000">
                <a:solidFill>
                  <a:schemeClr val="lt2"/>
                </a:solidFill>
              </a:defRPr>
            </a:lvl3pPr>
            <a:lvl4pPr marL="16002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Font typeface="Arial" panose="02080604020202020204" pitchFamily="34" charset="0"/>
              <a:buChar char="•"/>
              <a:defRPr sz="1800">
                <a:solidFill>
                  <a:schemeClr val="lt2"/>
                </a:solidFill>
              </a:defRPr>
            </a:lvl4pPr>
            <a:lvl5pPr marL="2057400" indent="-2286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 sz="1800">
                <a:solidFill>
                  <a:schemeClr val="lt2"/>
                </a:solidFill>
              </a:defRPr>
            </a:lvl5pPr>
          </a:lstStyle>
          <a:p>
            <a:pPr lvl="0" eaLnBrk="1" hangingPunct="1"/>
            <a:r>
              <a:rPr lang="en-US" altLang="en-US"/>
              <a:t>Compare technologies by costs -- best depends on quantity</a:t>
            </a:r>
            <a:endParaRPr lang="en-US" altLang="en-US"/>
          </a:p>
          <a:p>
            <a:pPr lvl="1" eaLnBrk="1" hangingPunct="1"/>
            <a:r>
              <a:rPr lang="en-US" altLang="en-US"/>
              <a:t>Technology A:  NRE=$2,000,   unit=$100</a:t>
            </a:r>
            <a:endParaRPr lang="en-US" altLang="en-US"/>
          </a:p>
          <a:p>
            <a:pPr lvl="1" eaLnBrk="1" hangingPunct="1"/>
            <a:r>
              <a:rPr lang="en-US" altLang="en-US"/>
              <a:t>Technology B:  NRE=$30,000,  unit=$30</a:t>
            </a:r>
            <a:endParaRPr lang="en-US" altLang="en-US"/>
          </a:p>
          <a:p>
            <a:pPr lvl="1" eaLnBrk="1" hangingPunct="1"/>
            <a:r>
              <a:rPr lang="en-US" altLang="en-US"/>
              <a:t>Technology C:  NRE=$100,000, unit=$2</a:t>
            </a:r>
            <a:endParaRPr lang="en-US" altLang="en-US"/>
          </a:p>
          <a:p>
            <a:pPr lvl="0" eaLnBrk="1" hangingPunct="1"/>
            <a:endParaRPr lang="en-US" altLang="en-US"/>
          </a:p>
        </p:txBody>
      </p:sp>
      <p:sp>
        <p:nvSpPr>
          <p:cNvPr id="1048898" name="Text Box 5"/>
          <p:cNvSpPr txBox="1"/>
          <p:nvPr/>
        </p:nvSpPr>
        <p:spPr>
          <a:xfrm>
            <a:off x="457200" y="5867400"/>
            <a:ext cx="73914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5000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But, must also consider time-to-market</a:t>
            </a:r>
            <a:endParaRPr lang="en-US" altLang="en-US" sz="240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02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The Performance Design Metric</a:t>
            </a:r>
            <a:endParaRPr lang="en-US" altLang="en-US"/>
          </a:p>
        </p:txBody>
      </p:sp>
      <p:sp>
        <p:nvSpPr>
          <p:cNvPr id="1048903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>
              <a:lnSpc>
                <a:spcPct val="90000"/>
              </a:lnSpc>
            </a:pPr>
            <a:r>
              <a:rPr lang="en-US" altLang="en-US" sz="2600"/>
              <a:t>Widely-used measure of system, widely-abused</a:t>
            </a:r>
            <a:endParaRPr lang="en-US" altLang="en-US" sz="26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Clock frequency, instructions per second – not good measures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Digital camera example – a user cares about how fast it processes images, not clock speed or instructions per second</a:t>
            </a:r>
            <a:endParaRPr lang="en-US" altLang="en-US" sz="2000"/>
          </a:p>
          <a:p>
            <a:pPr lvl="0" eaLnBrk="1" hangingPunct="1">
              <a:lnSpc>
                <a:spcPct val="90000"/>
              </a:lnSpc>
            </a:pPr>
            <a:r>
              <a:rPr lang="en-US" altLang="en-US" sz="2600"/>
              <a:t>Latency (response time)</a:t>
            </a:r>
            <a:endParaRPr lang="en-US" altLang="en-US" sz="26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Time between task start and end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e.g., Camera’s A and B process images in 0.25 seconds</a:t>
            </a:r>
            <a:endParaRPr lang="en-US" altLang="en-US" sz="2000"/>
          </a:p>
          <a:p>
            <a:pPr lvl="0" eaLnBrk="1" hangingPunct="1">
              <a:lnSpc>
                <a:spcPct val="90000"/>
              </a:lnSpc>
            </a:pPr>
            <a:r>
              <a:rPr lang="en-US" altLang="en-US" sz="2600"/>
              <a:t>Throughput</a:t>
            </a:r>
            <a:endParaRPr lang="en-US" altLang="en-US" sz="26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Tasks per second, e.g. Camera A processes 4 images per second</a:t>
            </a:r>
            <a:endParaRPr lang="en-US" altLang="en-US" sz="20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Throughput can be more than latency seems to imply due to concurrency, e.g. Camera B may process 8 images per second (by capturing a new image while previous image is being stored).</a:t>
            </a:r>
            <a:endParaRPr lang="en-US" altLang="en-US" sz="2000"/>
          </a:p>
          <a:p>
            <a:pPr lvl="0" eaLnBrk="1" hangingPunct="1">
              <a:lnSpc>
                <a:spcPct val="90000"/>
              </a:lnSpc>
            </a:pPr>
            <a:r>
              <a:rPr lang="en-US" altLang="en-US" sz="2600" i="1"/>
              <a:t>Speedup</a:t>
            </a:r>
            <a:r>
              <a:rPr lang="en-US" altLang="en-US" sz="2600"/>
              <a:t> of B over S = B’s performance / A’s performance</a:t>
            </a:r>
            <a:endParaRPr lang="en-US" altLang="en-US" sz="260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Throughput speedup = 8/4 = 2</a:t>
            </a:r>
            <a:endParaRPr lang="en-US" altLang="en-US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04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Three Key Technologies</a:t>
            </a:r>
            <a:endParaRPr lang="en-US" altLang="en-US"/>
          </a:p>
        </p:txBody>
      </p:sp>
      <p:sp>
        <p:nvSpPr>
          <p:cNvPr id="1048905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Technology</a:t>
            </a:r>
            <a:endParaRPr lang="en-US" altLang="en-US"/>
          </a:p>
          <a:p>
            <a:pPr lvl="1" eaLnBrk="1" hangingPunct="1"/>
            <a:r>
              <a:rPr lang="en-US" altLang="en-US"/>
              <a:t>A manner of accomplishing a task, especially using technical processes, methods, or knowledge</a:t>
            </a:r>
            <a:endParaRPr lang="en-US" altLang="en-US"/>
          </a:p>
          <a:p>
            <a:pPr lvl="0" eaLnBrk="1" hangingPunct="1"/>
            <a:r>
              <a:rPr lang="en-US" altLang="en-US"/>
              <a:t>Three key technologies for embedded systems</a:t>
            </a:r>
            <a:endParaRPr lang="en-US" altLang="en-US"/>
          </a:p>
          <a:p>
            <a:pPr lvl="1" eaLnBrk="1" hangingPunct="1"/>
            <a:r>
              <a:rPr lang="en-US" altLang="en-US"/>
              <a:t>Processor technology (CprE 581, 583, 681)</a:t>
            </a:r>
            <a:endParaRPr lang="en-US" altLang="en-US"/>
          </a:p>
          <a:p>
            <a:pPr lvl="1" eaLnBrk="1" hangingPunct="1"/>
            <a:r>
              <a:rPr lang="en-US" altLang="en-US"/>
              <a:t>IC technology (EE 501, 507, 511)</a:t>
            </a:r>
            <a:endParaRPr lang="en-US" altLang="en-US"/>
          </a:p>
          <a:p>
            <a:pPr lvl="1" eaLnBrk="1" hangingPunct="1"/>
            <a:r>
              <a:rPr lang="en-US" altLang="en-US"/>
              <a:t>Design technology (CprE 588)</a:t>
            </a:r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06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Processor Technology</a:t>
            </a:r>
            <a:endParaRPr lang="en-US" altLang="en-US"/>
          </a:p>
        </p:txBody>
      </p:sp>
      <p:sp>
        <p:nvSpPr>
          <p:cNvPr id="1048907" name="Rectangle 3"/>
          <p:cNvSpPr/>
          <p:nvPr>
            <p:ph type="body" idx="1"/>
          </p:nvPr>
        </p:nvSpPr>
        <p:spPr>
          <a:xfrm>
            <a:off x="304800" y="1066800"/>
            <a:ext cx="8534400" cy="18605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>
              <a:lnSpc>
                <a:spcPct val="90000"/>
              </a:lnSpc>
            </a:pPr>
            <a:r>
              <a:rPr lang="en-US" altLang="en-US" sz="2600"/>
              <a:t>The architecture of the computation engine used to implement a system’s desired functionality</a:t>
            </a:r>
            <a:endParaRPr lang="en-US" altLang="en-US" sz="2600"/>
          </a:p>
          <a:p>
            <a:pPr lvl="0" eaLnBrk="1" hangingPunct="1">
              <a:lnSpc>
                <a:spcPct val="90000"/>
              </a:lnSpc>
            </a:pPr>
            <a:r>
              <a:rPr lang="en-US" altLang="en-US" sz="2600"/>
              <a:t>Processor does not have to be programmable</a:t>
            </a:r>
            <a:endParaRPr lang="en-US" altLang="en-US" sz="260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“Processor” </a:t>
            </a:r>
            <a:r>
              <a:rPr lang="en-US" altLang="en-US" sz="2400" i="1"/>
              <a:t>not</a:t>
            </a:r>
            <a:r>
              <a:rPr lang="en-US" altLang="en-US" sz="2400"/>
              <a:t> equal to general-purpose processor</a:t>
            </a:r>
            <a:endParaRPr lang="en-US" altLang="en-US" sz="2400"/>
          </a:p>
          <a:p>
            <a:pPr lvl="0" eaLnBrk="1" hangingPunct="1">
              <a:lnSpc>
                <a:spcPct val="90000"/>
              </a:lnSpc>
            </a:pPr>
            <a:endParaRPr lang="en-US" altLang="en-US" sz="2600"/>
          </a:p>
        </p:txBody>
      </p:sp>
      <p:sp>
        <p:nvSpPr>
          <p:cNvPr id="1048908" name="Text Box 4"/>
          <p:cNvSpPr txBox="1"/>
          <p:nvPr/>
        </p:nvSpPr>
        <p:spPr>
          <a:xfrm>
            <a:off x="4487862" y="5897562"/>
            <a:ext cx="1079500" cy="153987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 b="1">
                <a:latin typeface="Times New Roman" panose="02020603050405020304" charset="0"/>
              </a:rPr>
              <a:t>Application-specific</a:t>
            </a:r>
            <a:endParaRPr lang="en-US" altLang="en-US" sz="1000" b="1">
              <a:latin typeface="Times New Roman" panose="02020603050405020304" charset="0"/>
            </a:endParaRPr>
          </a:p>
        </p:txBody>
      </p:sp>
      <p:sp>
        <p:nvSpPr>
          <p:cNvPr id="1048909" name="Text Box 5"/>
          <p:cNvSpPr txBox="1"/>
          <p:nvPr/>
        </p:nvSpPr>
        <p:spPr>
          <a:xfrm>
            <a:off x="5056187" y="3327400"/>
            <a:ext cx="733425" cy="279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4572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Registers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10" name="Text Box 6"/>
          <p:cNvSpPr txBox="1"/>
          <p:nvPr/>
        </p:nvSpPr>
        <p:spPr>
          <a:xfrm>
            <a:off x="5056187" y="3698875"/>
            <a:ext cx="733425" cy="3714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4572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Custom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ALU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11" name="Rectangle 7"/>
          <p:cNvSpPr/>
          <p:nvPr/>
        </p:nvSpPr>
        <p:spPr>
          <a:xfrm>
            <a:off x="4999037" y="3049587"/>
            <a:ext cx="847725" cy="1112837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800">
              <a:solidFill>
                <a:schemeClr val="dk1"/>
              </a:solidFill>
            </a:endParaRPr>
          </a:p>
        </p:txBody>
      </p:sp>
      <p:sp>
        <p:nvSpPr>
          <p:cNvPr id="1048912" name="Text Box 8"/>
          <p:cNvSpPr txBox="1"/>
          <p:nvPr/>
        </p:nvSpPr>
        <p:spPr>
          <a:xfrm>
            <a:off x="4999037" y="3049587"/>
            <a:ext cx="776287" cy="233362"/>
          </a:xfrm>
          <a:prstGeom prst="rect">
            <a:avLst/>
          </a:prstGeom>
          <a:noFill/>
          <a:ln>
            <a:noFill/>
          </a:ln>
        </p:spPr>
        <p:txBody>
          <a:bodyPr vert="horz" lIns="0" tIns="4572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Datapath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13" name="Rectangle 9"/>
          <p:cNvSpPr/>
          <p:nvPr/>
        </p:nvSpPr>
        <p:spPr>
          <a:xfrm>
            <a:off x="3854450" y="3049587"/>
            <a:ext cx="969962" cy="1490662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800">
              <a:solidFill>
                <a:schemeClr val="dk1"/>
              </a:solidFill>
            </a:endParaRPr>
          </a:p>
        </p:txBody>
      </p:sp>
      <p:sp>
        <p:nvSpPr>
          <p:cNvPr id="1048914" name="Text Box 10"/>
          <p:cNvSpPr txBox="1"/>
          <p:nvPr/>
        </p:nvSpPr>
        <p:spPr>
          <a:xfrm>
            <a:off x="3854450" y="3049587"/>
            <a:ext cx="930275" cy="277812"/>
          </a:xfrm>
          <a:prstGeom prst="rect">
            <a:avLst/>
          </a:prstGeom>
          <a:noFill/>
          <a:ln>
            <a:noFill/>
          </a:ln>
        </p:spPr>
        <p:txBody>
          <a:bodyPr vert="horz" lIns="0" tIns="4572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Controller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15" name="Text Box 11"/>
          <p:cNvSpPr txBox="1"/>
          <p:nvPr/>
        </p:nvSpPr>
        <p:spPr>
          <a:xfrm>
            <a:off x="3883025" y="4722812"/>
            <a:ext cx="900112" cy="371475"/>
          </a:xfrm>
          <a:prstGeom prst="rect">
            <a:avLst/>
          </a:prstGeom>
          <a:noFill/>
          <a:ln>
            <a:noFill/>
          </a:ln>
        </p:spPr>
        <p:txBody>
          <a:bodyPr vert="horz" lIns="0" tIns="4572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Program memory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16" name="Text Box 12"/>
          <p:cNvSpPr txBox="1"/>
          <p:nvPr/>
        </p:nvSpPr>
        <p:spPr>
          <a:xfrm>
            <a:off x="3860800" y="5038725"/>
            <a:ext cx="947737" cy="741362"/>
          </a:xfrm>
          <a:prstGeom prst="rect">
            <a:avLst/>
          </a:prstGeom>
          <a:noFill/>
          <a:ln>
            <a:noFill/>
          </a:ln>
        </p:spPr>
        <p:txBody>
          <a:bodyPr vert="horz" lIns="0" tIns="4572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Assembly code for: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  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  total = 0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  for i =1 to …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17" name="Line 13"/>
          <p:cNvSpPr/>
          <p:nvPr/>
        </p:nvSpPr>
        <p:spPr>
          <a:xfrm flipV="1">
            <a:off x="4113212" y="4344987"/>
            <a:ext cx="0" cy="37306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tailEnd type="triangle" w="med" len="med"/>
          </a:ln>
        </p:spPr>
      </p:sp>
      <p:sp>
        <p:nvSpPr>
          <p:cNvPr id="1048918" name="Line 14"/>
          <p:cNvSpPr/>
          <p:nvPr/>
        </p:nvSpPr>
        <p:spPr>
          <a:xfrm>
            <a:off x="4565650" y="4344987"/>
            <a:ext cx="0" cy="37306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tailEnd type="triangle" w="med" len="med"/>
          </a:ln>
        </p:spPr>
      </p:sp>
      <p:sp>
        <p:nvSpPr>
          <p:cNvPr id="1048919" name="Rectangle 15"/>
          <p:cNvSpPr/>
          <p:nvPr/>
        </p:nvSpPr>
        <p:spPr>
          <a:xfrm>
            <a:off x="3984625" y="3327400"/>
            <a:ext cx="706437" cy="7302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4572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Control logic and State register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20" name="Freeform 16"/>
          <p:cNvSpPr/>
          <p:nvPr/>
        </p:nvSpPr>
        <p:spPr bwMode="auto">
          <a:xfrm>
            <a:off x="4830762" y="3606800"/>
            <a:ext cx="158750" cy="0"/>
          </a:xfrm>
          <a:custGeom>
            <a:avLst/>
            <a:gdLst/>
            <a:ahLst/>
            <a:cxnLst/>
            <a:rect l="0" t="0" r="r" b="b"/>
            <a:pathLst>
              <a:path w="177" h="2">
                <a:moveTo>
                  <a:pt x="0" y="0"/>
                </a:moveTo>
                <a:lnTo>
                  <a:pt x="177" y="2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921" name="Line 17"/>
          <p:cNvSpPr/>
          <p:nvPr/>
        </p:nvSpPr>
        <p:spPr>
          <a:xfrm>
            <a:off x="4113212" y="4065587"/>
            <a:ext cx="0" cy="9366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922" name="Line 18"/>
          <p:cNvSpPr/>
          <p:nvPr/>
        </p:nvSpPr>
        <p:spPr>
          <a:xfrm>
            <a:off x="4565650" y="4065587"/>
            <a:ext cx="0" cy="9366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923" name="Line 19"/>
          <p:cNvSpPr/>
          <p:nvPr/>
        </p:nvSpPr>
        <p:spPr>
          <a:xfrm>
            <a:off x="5443537" y="3606800"/>
            <a:ext cx="0" cy="92075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924" name="Text Box 20"/>
          <p:cNvSpPr txBox="1"/>
          <p:nvPr/>
        </p:nvSpPr>
        <p:spPr>
          <a:xfrm>
            <a:off x="4999037" y="4348162"/>
            <a:ext cx="855662" cy="4651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4572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Data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memory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25" name="Line 21"/>
          <p:cNvSpPr/>
          <p:nvPr/>
        </p:nvSpPr>
        <p:spPr>
          <a:xfrm>
            <a:off x="5443537" y="4162425"/>
            <a:ext cx="0" cy="185737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926" name="Rectangle 22"/>
          <p:cNvSpPr/>
          <p:nvPr/>
        </p:nvSpPr>
        <p:spPr>
          <a:xfrm>
            <a:off x="3984625" y="4159250"/>
            <a:ext cx="257175" cy="1857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IR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27" name="Rectangle 23"/>
          <p:cNvSpPr/>
          <p:nvPr/>
        </p:nvSpPr>
        <p:spPr>
          <a:xfrm>
            <a:off x="4419600" y="4159250"/>
            <a:ext cx="258762" cy="1857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PC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28" name="Rectangle 24"/>
          <p:cNvSpPr/>
          <p:nvPr/>
        </p:nvSpPr>
        <p:spPr>
          <a:xfrm>
            <a:off x="3852862" y="4718050"/>
            <a:ext cx="977900" cy="1112837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800">
              <a:solidFill>
                <a:schemeClr val="dk1"/>
              </a:solidFill>
            </a:endParaRPr>
          </a:p>
        </p:txBody>
      </p:sp>
      <p:sp>
        <p:nvSpPr>
          <p:cNvPr id="1048929" name="Text Box 25"/>
          <p:cNvSpPr txBox="1"/>
          <p:nvPr/>
        </p:nvSpPr>
        <p:spPr>
          <a:xfrm>
            <a:off x="6245225" y="5897562"/>
            <a:ext cx="1517650" cy="1524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 b="1">
                <a:latin typeface="Times New Roman" panose="02020603050405020304" charset="0"/>
              </a:rPr>
              <a:t>Single-purpose</a:t>
            </a:r>
            <a:r>
              <a:rPr lang="en-US" altLang="en-US" sz="1000" b="1">
                <a:latin typeface="Times New Roman" panose="02020603050405020304" charset="0"/>
              </a:rPr>
              <a:t> </a:t>
            </a:r>
            <a:r>
              <a:rPr lang="en-US" altLang="en-US" sz="1000">
                <a:latin typeface="Times New Roman" panose="02020603050405020304" charset="0"/>
              </a:rPr>
              <a:t>(“hardware”)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30" name="Rectangle 26"/>
          <p:cNvSpPr/>
          <p:nvPr/>
        </p:nvSpPr>
        <p:spPr>
          <a:xfrm>
            <a:off x="7170737" y="3049587"/>
            <a:ext cx="820737" cy="1112837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800">
              <a:solidFill>
                <a:schemeClr val="dk1"/>
              </a:solidFill>
            </a:endParaRPr>
          </a:p>
        </p:txBody>
      </p:sp>
      <p:sp>
        <p:nvSpPr>
          <p:cNvPr id="1048931" name="Text Box 27"/>
          <p:cNvSpPr txBox="1"/>
          <p:nvPr/>
        </p:nvSpPr>
        <p:spPr>
          <a:xfrm>
            <a:off x="7189787" y="3062287"/>
            <a:ext cx="811212" cy="20161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Datapath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32" name="Freeform 28"/>
          <p:cNvSpPr/>
          <p:nvPr/>
        </p:nvSpPr>
        <p:spPr bwMode="auto">
          <a:xfrm>
            <a:off x="6935787" y="3722687"/>
            <a:ext cx="223837" cy="0"/>
          </a:xfrm>
          <a:custGeom>
            <a:avLst/>
            <a:gdLst/>
            <a:ahLst/>
            <a:cxnLst/>
            <a:rect l="0" t="0" r="r" b="b"/>
            <a:pathLst>
              <a:path w="250" h="1">
                <a:moveTo>
                  <a:pt x="0" y="0"/>
                </a:moveTo>
                <a:lnTo>
                  <a:pt x="250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933" name="Rectangle 29"/>
          <p:cNvSpPr/>
          <p:nvPr/>
        </p:nvSpPr>
        <p:spPr>
          <a:xfrm>
            <a:off x="6092825" y="3055937"/>
            <a:ext cx="833437" cy="1108075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800">
              <a:solidFill>
                <a:schemeClr val="dk1"/>
              </a:solidFill>
            </a:endParaRPr>
          </a:p>
        </p:txBody>
      </p:sp>
      <p:sp>
        <p:nvSpPr>
          <p:cNvPr id="1048934" name="Text Box 30"/>
          <p:cNvSpPr txBox="1"/>
          <p:nvPr/>
        </p:nvSpPr>
        <p:spPr>
          <a:xfrm>
            <a:off x="6092825" y="3062287"/>
            <a:ext cx="838200" cy="16192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Controller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35" name="Rectangle 31"/>
          <p:cNvSpPr/>
          <p:nvPr/>
        </p:nvSpPr>
        <p:spPr>
          <a:xfrm>
            <a:off x="6184900" y="3305175"/>
            <a:ext cx="646112" cy="279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Control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 logic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36" name="Freeform 32"/>
          <p:cNvSpPr/>
          <p:nvPr/>
        </p:nvSpPr>
        <p:spPr bwMode="auto">
          <a:xfrm>
            <a:off x="6499225" y="3590925"/>
            <a:ext cx="4762" cy="152400"/>
          </a:xfrm>
          <a:custGeom>
            <a:avLst/>
            <a:gdLst/>
            <a:ahLst/>
            <a:cxnLst/>
            <a:rect l="0" t="0" r="r" b="b"/>
            <a:pathLst>
              <a:path w="7" h="237">
                <a:moveTo>
                  <a:pt x="7" y="0"/>
                </a:moveTo>
                <a:lnTo>
                  <a:pt x="0" y="237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937" name="Text Box 33"/>
          <p:cNvSpPr txBox="1"/>
          <p:nvPr/>
        </p:nvSpPr>
        <p:spPr>
          <a:xfrm>
            <a:off x="6184900" y="3741737"/>
            <a:ext cx="646112" cy="2778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State register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38" name="Text Box 34"/>
          <p:cNvSpPr txBox="1"/>
          <p:nvPr/>
        </p:nvSpPr>
        <p:spPr>
          <a:xfrm>
            <a:off x="7153275" y="4348162"/>
            <a:ext cx="838200" cy="4651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4572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Data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memory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39" name="Line 35"/>
          <p:cNvSpPr/>
          <p:nvPr/>
        </p:nvSpPr>
        <p:spPr>
          <a:xfrm>
            <a:off x="7570787" y="4162425"/>
            <a:ext cx="0" cy="185737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940" name="Rectangle 36"/>
          <p:cNvSpPr/>
          <p:nvPr/>
        </p:nvSpPr>
        <p:spPr>
          <a:xfrm>
            <a:off x="7380287" y="3308350"/>
            <a:ext cx="387350" cy="1857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index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41" name="Rectangle 37"/>
          <p:cNvSpPr/>
          <p:nvPr/>
        </p:nvSpPr>
        <p:spPr>
          <a:xfrm>
            <a:off x="7386637" y="3552825"/>
            <a:ext cx="387350" cy="1857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total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42" name="Rectangle 38"/>
          <p:cNvSpPr/>
          <p:nvPr/>
        </p:nvSpPr>
        <p:spPr>
          <a:xfrm>
            <a:off x="7386637" y="3805237"/>
            <a:ext cx="387350" cy="1857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+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43" name="Rectangle 39"/>
          <p:cNvSpPr/>
          <p:nvPr/>
        </p:nvSpPr>
        <p:spPr>
          <a:xfrm>
            <a:off x="1576387" y="4162425"/>
            <a:ext cx="258762" cy="1857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IR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44" name="Rectangle 40"/>
          <p:cNvSpPr/>
          <p:nvPr/>
        </p:nvSpPr>
        <p:spPr>
          <a:xfrm>
            <a:off x="1993900" y="4162425"/>
            <a:ext cx="258762" cy="1857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PC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45" name="Text Box 41"/>
          <p:cNvSpPr txBox="1"/>
          <p:nvPr/>
        </p:nvSpPr>
        <p:spPr>
          <a:xfrm>
            <a:off x="2700337" y="3333750"/>
            <a:ext cx="839787" cy="4651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9144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Register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file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46" name="Text Box 42"/>
          <p:cNvSpPr txBox="1"/>
          <p:nvPr/>
        </p:nvSpPr>
        <p:spPr>
          <a:xfrm>
            <a:off x="2709862" y="3884612"/>
            <a:ext cx="838200" cy="4635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9144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General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ALU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47" name="Rectangle 43"/>
          <p:cNvSpPr/>
          <p:nvPr/>
        </p:nvSpPr>
        <p:spPr>
          <a:xfrm>
            <a:off x="2616200" y="3049587"/>
            <a:ext cx="1000125" cy="1484312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800">
              <a:solidFill>
                <a:schemeClr val="dk1"/>
              </a:solidFill>
            </a:endParaRPr>
          </a:p>
        </p:txBody>
      </p:sp>
      <p:sp>
        <p:nvSpPr>
          <p:cNvPr id="1048948" name="Text Box 44"/>
          <p:cNvSpPr txBox="1"/>
          <p:nvPr/>
        </p:nvSpPr>
        <p:spPr>
          <a:xfrm>
            <a:off x="2616200" y="3049587"/>
            <a:ext cx="1000125" cy="277812"/>
          </a:xfrm>
          <a:prstGeom prst="rect">
            <a:avLst/>
          </a:prstGeom>
          <a:noFill/>
          <a:ln>
            <a:noFill/>
          </a:ln>
        </p:spPr>
        <p:txBody>
          <a:bodyPr vert="horz" lIns="0" tIns="4572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Datapath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49" name="Rectangle 45"/>
          <p:cNvSpPr/>
          <p:nvPr/>
        </p:nvSpPr>
        <p:spPr>
          <a:xfrm>
            <a:off x="1447800" y="3049587"/>
            <a:ext cx="963612" cy="1484312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800">
              <a:solidFill>
                <a:schemeClr val="dk1"/>
              </a:solidFill>
            </a:endParaRPr>
          </a:p>
        </p:txBody>
      </p:sp>
      <p:sp>
        <p:nvSpPr>
          <p:cNvPr id="1048950" name="Text Box 46"/>
          <p:cNvSpPr txBox="1"/>
          <p:nvPr/>
        </p:nvSpPr>
        <p:spPr>
          <a:xfrm>
            <a:off x="1447800" y="3049587"/>
            <a:ext cx="963612" cy="277812"/>
          </a:xfrm>
          <a:prstGeom prst="rect">
            <a:avLst/>
          </a:prstGeom>
          <a:noFill/>
          <a:ln>
            <a:noFill/>
          </a:ln>
        </p:spPr>
        <p:txBody>
          <a:bodyPr vert="horz" lIns="0" tIns="4572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Controller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51" name="Rectangle 47"/>
          <p:cNvSpPr/>
          <p:nvPr/>
        </p:nvSpPr>
        <p:spPr>
          <a:xfrm>
            <a:off x="1447800" y="4721225"/>
            <a:ext cx="982662" cy="11144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800">
              <a:solidFill>
                <a:schemeClr val="dk1"/>
              </a:solidFill>
            </a:endParaRPr>
          </a:p>
        </p:txBody>
      </p:sp>
      <p:sp>
        <p:nvSpPr>
          <p:cNvPr id="1048952" name="Text Box 48"/>
          <p:cNvSpPr txBox="1"/>
          <p:nvPr/>
        </p:nvSpPr>
        <p:spPr>
          <a:xfrm>
            <a:off x="1447800" y="4721225"/>
            <a:ext cx="793750" cy="371475"/>
          </a:xfrm>
          <a:prstGeom prst="rect">
            <a:avLst/>
          </a:prstGeom>
          <a:noFill/>
          <a:ln>
            <a:noFill/>
          </a:ln>
        </p:spPr>
        <p:txBody>
          <a:bodyPr vert="horz" lIns="0" tIns="4572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Program memory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53" name="Text Box 49"/>
          <p:cNvSpPr txBox="1"/>
          <p:nvPr/>
        </p:nvSpPr>
        <p:spPr>
          <a:xfrm>
            <a:off x="1447800" y="5060950"/>
            <a:ext cx="938212" cy="741362"/>
          </a:xfrm>
          <a:prstGeom prst="rect">
            <a:avLst/>
          </a:prstGeom>
          <a:noFill/>
          <a:ln>
            <a:noFill/>
          </a:ln>
        </p:spPr>
        <p:txBody>
          <a:bodyPr vert="horz" lIns="0" tIns="4572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Assembly code for: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  total = 0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  for i =1 to …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54" name="Line 50"/>
          <p:cNvSpPr/>
          <p:nvPr/>
        </p:nvSpPr>
        <p:spPr>
          <a:xfrm flipV="1">
            <a:off x="1706562" y="4348162"/>
            <a:ext cx="0" cy="37306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tailEnd type="triangle" w="med" len="med"/>
          </a:ln>
        </p:spPr>
      </p:sp>
      <p:sp>
        <p:nvSpPr>
          <p:cNvPr id="1048955" name="Line 51"/>
          <p:cNvSpPr/>
          <p:nvPr/>
        </p:nvSpPr>
        <p:spPr>
          <a:xfrm>
            <a:off x="2117725" y="4348162"/>
            <a:ext cx="0" cy="37306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tailEnd type="triangle" w="med" len="med"/>
          </a:ln>
        </p:spPr>
      </p:sp>
      <p:sp>
        <p:nvSpPr>
          <p:cNvPr id="1048956" name="Rectangle 52"/>
          <p:cNvSpPr/>
          <p:nvPr/>
        </p:nvSpPr>
        <p:spPr>
          <a:xfrm>
            <a:off x="1576387" y="3327400"/>
            <a:ext cx="679450" cy="7429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4572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Control 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logic and State register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57" name="Freeform 53"/>
          <p:cNvSpPr/>
          <p:nvPr/>
        </p:nvSpPr>
        <p:spPr bwMode="auto">
          <a:xfrm>
            <a:off x="2420937" y="3792537"/>
            <a:ext cx="188912" cy="0"/>
          </a:xfrm>
          <a:custGeom>
            <a:avLst/>
            <a:gdLst/>
            <a:ahLst/>
            <a:cxnLst/>
            <a:rect l="0" t="0" r="r" b="b"/>
            <a:pathLst>
              <a:path w="209" h="1">
                <a:moveTo>
                  <a:pt x="0" y="0"/>
                </a:moveTo>
                <a:lnTo>
                  <a:pt x="209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958" name="Line 54"/>
          <p:cNvSpPr/>
          <p:nvPr/>
        </p:nvSpPr>
        <p:spPr>
          <a:xfrm>
            <a:off x="1706562" y="4070350"/>
            <a:ext cx="0" cy="92075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959" name="Line 55"/>
          <p:cNvSpPr/>
          <p:nvPr/>
        </p:nvSpPr>
        <p:spPr>
          <a:xfrm>
            <a:off x="2117725" y="4070350"/>
            <a:ext cx="0" cy="92075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960" name="Freeform 56"/>
          <p:cNvSpPr/>
          <p:nvPr/>
        </p:nvSpPr>
        <p:spPr bwMode="auto">
          <a:xfrm>
            <a:off x="3101975" y="3798887"/>
            <a:ext cx="0" cy="82550"/>
          </a:xfrm>
          <a:custGeom>
            <a:avLst/>
            <a:gdLst/>
            <a:ahLst/>
            <a:cxnLst/>
            <a:rect l="0" t="0" r="r" b="b"/>
            <a:pathLst>
              <a:path w="1" h="130">
                <a:moveTo>
                  <a:pt x="0" y="0"/>
                </a:moveTo>
                <a:lnTo>
                  <a:pt x="0" y="13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961" name="Text Box 57"/>
          <p:cNvSpPr txBox="1"/>
          <p:nvPr/>
        </p:nvSpPr>
        <p:spPr>
          <a:xfrm>
            <a:off x="2608262" y="4721225"/>
            <a:ext cx="1000125" cy="4635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4572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Data</a:t>
            </a:r>
            <a:endParaRPr lang="en-US" altLang="en-US" sz="1000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>
                <a:latin typeface="Times New Roman" panose="02020603050405020304" charset="0"/>
              </a:rPr>
              <a:t>memory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62" name="Freeform 58"/>
          <p:cNvSpPr/>
          <p:nvPr/>
        </p:nvSpPr>
        <p:spPr bwMode="auto">
          <a:xfrm>
            <a:off x="3101975" y="4533900"/>
            <a:ext cx="3175" cy="187325"/>
          </a:xfrm>
          <a:custGeom>
            <a:avLst/>
            <a:gdLst/>
            <a:ahLst/>
            <a:cxnLst/>
            <a:rect l="0" t="0" r="r" b="b"/>
            <a:pathLst>
              <a:path w="5" h="288">
                <a:moveTo>
                  <a:pt x="5" y="0"/>
                </a:moveTo>
                <a:lnTo>
                  <a:pt x="0" y="288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8963" name="Text Box 59"/>
          <p:cNvSpPr txBox="1"/>
          <p:nvPr/>
        </p:nvSpPr>
        <p:spPr>
          <a:xfrm>
            <a:off x="2017712" y="5895975"/>
            <a:ext cx="1589087" cy="1524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000" b="1">
                <a:latin typeface="Times New Roman" panose="02020603050405020304" charset="0"/>
              </a:rPr>
              <a:t>General-purpose</a:t>
            </a:r>
            <a:r>
              <a:rPr lang="en-US" altLang="en-US" sz="1000" b="1">
                <a:latin typeface="Times New Roman" panose="02020603050405020304" charset="0"/>
              </a:rPr>
              <a:t> </a:t>
            </a:r>
            <a:r>
              <a:rPr lang="en-US" altLang="en-US" sz="1000">
                <a:latin typeface="Times New Roman" panose="02020603050405020304" charset="0"/>
              </a:rPr>
              <a:t>(“software”)</a:t>
            </a: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64" name="Line 60"/>
          <p:cNvSpPr/>
          <p:nvPr/>
        </p:nvSpPr>
        <p:spPr>
          <a:xfrm>
            <a:off x="3719512" y="3048000"/>
            <a:ext cx="0" cy="2997200"/>
          </a:xfrm>
          <a:prstGeom prst="line">
            <a:avLst/>
          </a:prstGeom>
          <a:noFill/>
          <a:ln w="9525" cap="flat" cmpd="sng">
            <a:solidFill>
              <a:srgbClr val="969696">
                <a:alpha val="100000"/>
              </a:srgbClr>
            </a:solidFill>
            <a:prstDash val="dash"/>
            <a:round/>
          </a:ln>
        </p:spPr>
      </p:sp>
      <p:sp>
        <p:nvSpPr>
          <p:cNvPr id="1048965" name="Line 61"/>
          <p:cNvSpPr/>
          <p:nvPr/>
        </p:nvSpPr>
        <p:spPr>
          <a:xfrm>
            <a:off x="5962650" y="3048000"/>
            <a:ext cx="0" cy="2997200"/>
          </a:xfrm>
          <a:prstGeom prst="line">
            <a:avLst/>
          </a:prstGeom>
          <a:noFill/>
          <a:ln w="9525" cap="flat" cmpd="sng">
            <a:solidFill>
              <a:srgbClr val="969696">
                <a:alpha val="100000"/>
              </a:srgbClr>
            </a:solidFill>
            <a:prstDash val="dash"/>
            <a:round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66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Processor Technology (cont.)</a:t>
            </a:r>
            <a:endParaRPr lang="en-US" altLang="en-US"/>
          </a:p>
        </p:txBody>
      </p:sp>
      <p:sp>
        <p:nvSpPr>
          <p:cNvPr id="1048967" name="Rectangle 3"/>
          <p:cNvSpPr/>
          <p:nvPr>
            <p:ph type="body" idx="1"/>
          </p:nvPr>
        </p:nvSpPr>
        <p:spPr>
          <a:xfrm>
            <a:off x="381000" y="11430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 sz="2800"/>
              <a:t>Processors vary in their customization for the problem at hand</a:t>
            </a:r>
            <a:endParaRPr lang="en-US" altLang="en-US" sz="2800"/>
          </a:p>
        </p:txBody>
      </p:sp>
      <p:sp>
        <p:nvSpPr>
          <p:cNvPr id="1048968" name="AutoShape 4"/>
          <p:cNvSpPr/>
          <p:nvPr/>
        </p:nvSpPr>
        <p:spPr>
          <a:xfrm>
            <a:off x="3246437" y="2057400"/>
            <a:ext cx="914400" cy="914400"/>
          </a:xfrm>
          <a:prstGeom prst="plus">
            <a:avLst/>
          </a:prstGeom>
          <a:solidFill>
            <a:srgbClr val="000000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800">
              <a:solidFill>
                <a:schemeClr val="dk1"/>
              </a:solidFill>
            </a:endParaRPr>
          </a:p>
        </p:txBody>
      </p:sp>
      <p:sp>
        <p:nvSpPr>
          <p:cNvPr id="1048969" name="Text Box 5"/>
          <p:cNvSpPr txBox="1"/>
          <p:nvPr/>
        </p:nvSpPr>
        <p:spPr>
          <a:xfrm>
            <a:off x="4999037" y="2057400"/>
            <a:ext cx="2239962" cy="15541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800">
                <a:latin typeface="Times New Roman" panose="02020603050405020304" charset="0"/>
              </a:rPr>
              <a:t>total = 0</a:t>
            </a:r>
            <a:endParaRPr lang="en-US" altLang="en-US" sz="18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800">
                <a:latin typeface="Times New Roman" panose="02020603050405020304" charset="0"/>
              </a:rPr>
              <a:t>for i = 1 to N  loop</a:t>
            </a:r>
            <a:endParaRPr lang="en-US" altLang="en-US" sz="18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800">
                <a:latin typeface="Times New Roman" panose="02020603050405020304" charset="0"/>
              </a:rPr>
              <a:t>   total += M[i]</a:t>
            </a:r>
            <a:endParaRPr lang="en-US" altLang="en-US" sz="18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800">
                <a:latin typeface="Times New Roman" panose="02020603050405020304" charset="0"/>
              </a:rPr>
              <a:t>end loop</a:t>
            </a:r>
            <a:r>
              <a:rPr lang="en-US" altLang="en-US" sz="900">
                <a:latin typeface="Times New Roman" panose="02020603050405020304" charset="0"/>
              </a:rPr>
              <a:t>  </a:t>
            </a:r>
            <a:endParaRPr lang="en-US" altLang="en-US" sz="900">
              <a:latin typeface="Times New Roman" panose="02020603050405020304" charset="0"/>
            </a:endParaRPr>
          </a:p>
        </p:txBody>
      </p:sp>
      <p:sp>
        <p:nvSpPr>
          <p:cNvPr id="1048970" name="Rectangle 6"/>
          <p:cNvSpPr/>
          <p:nvPr/>
        </p:nvSpPr>
        <p:spPr>
          <a:xfrm>
            <a:off x="838200" y="4068762"/>
            <a:ext cx="1462087" cy="914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71" name="AutoShape 7"/>
          <p:cNvSpPr/>
          <p:nvPr/>
        </p:nvSpPr>
        <p:spPr>
          <a:xfrm>
            <a:off x="3849687" y="4068762"/>
            <a:ext cx="1462087" cy="914400"/>
          </a:xfrm>
          <a:prstGeom prst="plus">
            <a:avLst/>
          </a:prstGeom>
          <a:solidFill>
            <a:srgbClr val="FFFFFF"/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000">
              <a:latin typeface="Times New Roman" panose="02020603050405020304" charset="0"/>
            </a:endParaRPr>
          </a:p>
        </p:txBody>
      </p:sp>
      <p:sp>
        <p:nvSpPr>
          <p:cNvPr id="1048972" name="Text Box 8"/>
          <p:cNvSpPr txBox="1"/>
          <p:nvPr/>
        </p:nvSpPr>
        <p:spPr>
          <a:xfrm>
            <a:off x="609600" y="5181600"/>
            <a:ext cx="1828800" cy="838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800">
                <a:latin typeface="Times New Roman" panose="02020603050405020304" charset="0"/>
              </a:rPr>
              <a:t>General-purpose processor</a:t>
            </a:r>
            <a:endParaRPr lang="en-US" altLang="en-US" sz="1800">
              <a:latin typeface="Times New Roman" panose="02020603050405020304" charset="0"/>
            </a:endParaRPr>
          </a:p>
        </p:txBody>
      </p:sp>
      <p:sp>
        <p:nvSpPr>
          <p:cNvPr id="1048973" name="Text Box 9"/>
          <p:cNvSpPr txBox="1"/>
          <p:nvPr/>
        </p:nvSpPr>
        <p:spPr>
          <a:xfrm>
            <a:off x="6781800" y="5181600"/>
            <a:ext cx="1676400" cy="65563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800">
                <a:latin typeface="Times New Roman" panose="02020603050405020304" charset="0"/>
              </a:rPr>
              <a:t>Single-purpose processor</a:t>
            </a:r>
            <a:endParaRPr lang="en-US" altLang="en-US" sz="1800">
              <a:latin typeface="Times New Roman" panose="02020603050405020304" charset="0"/>
            </a:endParaRPr>
          </a:p>
        </p:txBody>
      </p:sp>
      <p:sp>
        <p:nvSpPr>
          <p:cNvPr id="1048974" name="Text Box 10"/>
          <p:cNvSpPr txBox="1"/>
          <p:nvPr/>
        </p:nvSpPr>
        <p:spPr>
          <a:xfrm>
            <a:off x="3505200" y="5181600"/>
            <a:ext cx="22098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800">
                <a:latin typeface="Times New Roman" panose="02020603050405020304" charset="0"/>
              </a:rPr>
              <a:t>Application-specific processor</a:t>
            </a:r>
            <a:endParaRPr lang="en-US" altLang="en-US" sz="1800">
              <a:latin typeface="Times New Roman" panose="02020603050405020304" charset="0"/>
            </a:endParaRPr>
          </a:p>
        </p:txBody>
      </p:sp>
      <p:sp>
        <p:nvSpPr>
          <p:cNvPr id="1048975" name="Text Box 11"/>
          <p:cNvSpPr txBox="1"/>
          <p:nvPr/>
        </p:nvSpPr>
        <p:spPr>
          <a:xfrm>
            <a:off x="2743200" y="3048000"/>
            <a:ext cx="1905000" cy="655637"/>
          </a:xfrm>
          <a:prstGeom prst="rect">
            <a:avLst/>
          </a:prstGeom>
          <a:noFill/>
          <a:ln>
            <a:noFill/>
          </a:ln>
        </p:spPr>
        <p:txBody>
          <a:bodyPr vert="horz" lIns="0" tIns="4572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800">
                <a:latin typeface="Times New Roman" panose="02020603050405020304" charset="0"/>
              </a:rPr>
              <a:t>Desired functionality</a:t>
            </a:r>
            <a:endParaRPr lang="en-US" altLang="en-US" sz="1800">
              <a:latin typeface="Times New Roman" panose="02020603050405020304" charset="0"/>
            </a:endParaRPr>
          </a:p>
        </p:txBody>
      </p:sp>
      <p:sp>
        <p:nvSpPr>
          <p:cNvPr id="1048976" name="AutoShape 12"/>
          <p:cNvSpPr/>
          <p:nvPr/>
        </p:nvSpPr>
        <p:spPr>
          <a:xfrm>
            <a:off x="7086600" y="4068762"/>
            <a:ext cx="914400" cy="914400"/>
          </a:xfrm>
          <a:prstGeom prst="plus">
            <a:avLst/>
          </a:prstGeom>
          <a:solidFill>
            <a:srgbClr val="FFFFFF"/>
          </a:solidFill>
          <a:ln w="1270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endParaRPr lang="en-US" altLang="en-US" sz="2400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endParaRPr lang="en-US" altLang="en-US" sz="2400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endParaRPr lang="en-US" altLang="en-US" sz="240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77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General-Purpose Processors</a:t>
            </a:r>
            <a:endParaRPr lang="en-US" altLang="en-US"/>
          </a:p>
        </p:txBody>
      </p:sp>
      <p:sp>
        <p:nvSpPr>
          <p:cNvPr id="1048978" name="Rectangle 3"/>
          <p:cNvSpPr/>
          <p:nvPr>
            <p:ph type="body" idx="1"/>
          </p:nvPr>
        </p:nvSpPr>
        <p:spPr>
          <a:xfrm>
            <a:off x="381000" y="1066800"/>
            <a:ext cx="5638800" cy="449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>
              <a:lnSpc>
                <a:spcPct val="90000"/>
              </a:lnSpc>
            </a:pPr>
            <a:r>
              <a:rPr lang="en-US" altLang="en-US" sz="2600"/>
              <a:t>Programmable device used in a variety of applications</a:t>
            </a:r>
            <a:endParaRPr lang="en-US" altLang="en-US" sz="260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Also known as “microprocessor”</a:t>
            </a:r>
            <a:endParaRPr lang="en-US" altLang="en-US" sz="2400"/>
          </a:p>
          <a:p>
            <a:pPr lvl="0" eaLnBrk="1" hangingPunct="1">
              <a:lnSpc>
                <a:spcPct val="90000"/>
              </a:lnSpc>
            </a:pPr>
            <a:r>
              <a:rPr lang="en-US" altLang="en-US" sz="2600"/>
              <a:t>Features</a:t>
            </a:r>
            <a:endParaRPr lang="en-US" altLang="en-US" sz="260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Program memory</a:t>
            </a: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General datapath with large register file and general ALU</a:t>
            </a:r>
            <a:endParaRPr lang="en-US" altLang="en-US" sz="2400"/>
          </a:p>
          <a:p>
            <a:pPr lvl="0" eaLnBrk="1" hangingPunct="1">
              <a:lnSpc>
                <a:spcPct val="90000"/>
              </a:lnSpc>
            </a:pPr>
            <a:r>
              <a:rPr lang="en-US" altLang="en-US" sz="2600"/>
              <a:t>User benefits</a:t>
            </a:r>
            <a:endParaRPr lang="en-US" altLang="en-US" sz="260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Low time-to-market and NRE costs</a:t>
            </a: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High flexibility</a:t>
            </a:r>
            <a:endParaRPr lang="en-US" altLang="en-US" sz="2400"/>
          </a:p>
          <a:p>
            <a:pPr lvl="0" eaLnBrk="1" hangingPunct="1">
              <a:lnSpc>
                <a:spcPct val="90000"/>
              </a:lnSpc>
            </a:pPr>
            <a:r>
              <a:rPr lang="en-US" altLang="en-US" sz="2600"/>
              <a:t>“Intel/AMD” the most well-known, but there are hundreds of others</a:t>
            </a:r>
            <a:endParaRPr lang="en-US" altLang="en-US" sz="2600"/>
          </a:p>
        </p:txBody>
      </p:sp>
      <p:grpSp>
        <p:nvGrpSpPr>
          <p:cNvPr id="144" name="Group 143"/>
          <p:cNvGrpSpPr/>
          <p:nvPr/>
        </p:nvGrpSpPr>
        <p:grpSpPr>
          <a:xfrm rot="0">
            <a:off x="6400800" y="1724025"/>
            <a:ext cx="2522537" cy="3914775"/>
            <a:chOff x="3979" y="1375"/>
            <a:chExt cx="1589" cy="2466"/>
          </a:xfrm>
        </p:grpSpPr>
        <p:sp>
          <p:nvSpPr>
            <p:cNvPr id="1048979" name="Rectangle 5"/>
            <p:cNvSpPr/>
            <p:nvPr/>
          </p:nvSpPr>
          <p:spPr>
            <a:xfrm>
              <a:off x="4073" y="2348"/>
              <a:ext cx="230" cy="17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IR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8980" name="Rectangle 6"/>
            <p:cNvSpPr/>
            <p:nvPr/>
          </p:nvSpPr>
          <p:spPr>
            <a:xfrm>
              <a:off x="4428" y="2348"/>
              <a:ext cx="230" cy="17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PC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8981" name="Text Box 7"/>
            <p:cNvSpPr txBox="1"/>
            <p:nvPr/>
          </p:nvSpPr>
          <p:spPr>
            <a:xfrm>
              <a:off x="4910" y="1614"/>
              <a:ext cx="576" cy="40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0" tIns="91440" rIns="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Register</a:t>
              </a:r>
              <a:endParaRPr lang="en-US" altLang="en-US" sz="14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file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8982" name="Text Box 8"/>
            <p:cNvSpPr txBox="1"/>
            <p:nvPr/>
          </p:nvSpPr>
          <p:spPr>
            <a:xfrm>
              <a:off x="4910" y="2139"/>
              <a:ext cx="576" cy="403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0" tIns="91440" rIns="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General</a:t>
              </a:r>
              <a:endParaRPr lang="en-US" altLang="en-US" sz="14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ALU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8983" name="Rectangle 9"/>
            <p:cNvSpPr/>
            <p:nvPr/>
          </p:nvSpPr>
          <p:spPr>
            <a:xfrm>
              <a:off x="4819" y="1375"/>
              <a:ext cx="749" cy="1234"/>
            </a:xfrm>
            <a:prstGeom prst="rect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Datapath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8984" name="Rectangle 10"/>
            <p:cNvSpPr/>
            <p:nvPr/>
          </p:nvSpPr>
          <p:spPr>
            <a:xfrm>
              <a:off x="3979" y="1375"/>
              <a:ext cx="749" cy="1240"/>
            </a:xfrm>
            <a:prstGeom prst="rect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Controller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8985" name="Rectangle 11"/>
            <p:cNvSpPr/>
            <p:nvPr/>
          </p:nvSpPr>
          <p:spPr>
            <a:xfrm>
              <a:off x="3985" y="2754"/>
              <a:ext cx="738" cy="108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sp>
          <p:nvSpPr>
            <p:cNvPr id="1048986" name="Text Box 12"/>
            <p:cNvSpPr txBox="1"/>
            <p:nvPr/>
          </p:nvSpPr>
          <p:spPr>
            <a:xfrm>
              <a:off x="3985" y="2724"/>
              <a:ext cx="744" cy="21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45720" rIns="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Program memory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8987" name="Text Box 13"/>
            <p:cNvSpPr txBox="1"/>
            <p:nvPr/>
          </p:nvSpPr>
          <p:spPr>
            <a:xfrm>
              <a:off x="4045" y="3120"/>
              <a:ext cx="628" cy="461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45720" rIns="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Assembly code for:</a:t>
              </a:r>
              <a:endParaRPr lang="en-US" altLang="en-US" sz="12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200">
                <a:latin typeface="Times New Roman" panose="02020603050405020304" charset="0"/>
              </a:endParaRPr>
            </a:p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  total = 0</a:t>
              </a:r>
              <a:endParaRPr lang="en-US" altLang="en-US" sz="1200">
                <a:latin typeface="Times New Roman" panose="02020603050405020304" charset="0"/>
              </a:endParaRPr>
            </a:p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  for i =1 to …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8988" name="Line 14"/>
            <p:cNvSpPr/>
            <p:nvPr/>
          </p:nvSpPr>
          <p:spPr>
            <a:xfrm flipV="1">
              <a:off x="4194" y="2523"/>
              <a:ext cx="0" cy="231"/>
            </a:xfrm>
            <a:prstGeom prst="line">
              <a:avLst/>
            </a:pr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tailEnd type="triangle" w="lg" len="lg"/>
            </a:ln>
          </p:spPr>
        </p:sp>
        <p:sp>
          <p:nvSpPr>
            <p:cNvPr id="1048989" name="Line 15"/>
            <p:cNvSpPr/>
            <p:nvPr/>
          </p:nvSpPr>
          <p:spPr>
            <a:xfrm>
              <a:off x="4542" y="2523"/>
              <a:ext cx="0" cy="231"/>
            </a:xfrm>
            <a:prstGeom prst="line">
              <a:avLst/>
            </a:pr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  <a:tailEnd type="triangle" w="lg" len="lg"/>
            </a:ln>
          </p:spPr>
        </p:sp>
        <p:sp>
          <p:nvSpPr>
            <p:cNvPr id="1048990" name="Rectangle 16"/>
            <p:cNvSpPr/>
            <p:nvPr/>
          </p:nvSpPr>
          <p:spPr>
            <a:xfrm>
              <a:off x="4067" y="1614"/>
              <a:ext cx="591" cy="641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0" tIns="4572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Control </a:t>
              </a:r>
              <a:endParaRPr lang="en-US" altLang="en-US" sz="14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logic and State register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8991" name="Freeform 17"/>
            <p:cNvSpPr/>
            <p:nvPr/>
          </p:nvSpPr>
          <p:spPr bwMode="auto">
            <a:xfrm>
              <a:off x="4731" y="1974"/>
              <a:ext cx="84" cy="0"/>
            </a:xfrm>
            <a:custGeom>
              <a:avLst/>
              <a:gdLst/>
              <a:ahLst/>
              <a:cxnLst/>
              <a:rect l="0" t="0" r="r" b="b"/>
              <a:pathLst>
                <a:path w="209" h="1">
                  <a:moveTo>
                    <a:pt x="0" y="0"/>
                  </a:moveTo>
                  <a:lnTo>
                    <a:pt x="209" y="0"/>
                  </a:ln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8992" name="Freeform 18"/>
            <p:cNvSpPr/>
            <p:nvPr/>
          </p:nvSpPr>
          <p:spPr bwMode="auto">
            <a:xfrm>
              <a:off x="5190" y="2016"/>
              <a:ext cx="1" cy="126"/>
            </a:xfrm>
            <a:custGeom>
              <a:avLst/>
              <a:gdLst/>
              <a:ahLst/>
              <a:cxnLst/>
              <a:rect l="0" t="0" r="r" b="b"/>
              <a:pathLst>
                <a:path w="1" h="126">
                  <a:moveTo>
                    <a:pt x="0" y="0"/>
                  </a:moveTo>
                  <a:lnTo>
                    <a:pt x="0" y="126"/>
                  </a:ln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8993" name="Text Box 19"/>
            <p:cNvSpPr txBox="1"/>
            <p:nvPr/>
          </p:nvSpPr>
          <p:spPr>
            <a:xfrm>
              <a:off x="4815" y="2754"/>
              <a:ext cx="740" cy="45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0" tIns="45720" rIns="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Data</a:t>
              </a:r>
              <a:endParaRPr lang="en-US" altLang="en-US" sz="14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memory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8994" name="Freeform 20"/>
            <p:cNvSpPr/>
            <p:nvPr/>
          </p:nvSpPr>
          <p:spPr bwMode="auto">
            <a:xfrm>
              <a:off x="5190" y="2609"/>
              <a:ext cx="1" cy="151"/>
            </a:xfrm>
            <a:custGeom>
              <a:avLst/>
              <a:gdLst/>
              <a:ahLst/>
              <a:cxnLst/>
              <a:rect l="0" t="0" r="r" b="b"/>
              <a:pathLst>
                <a:path w="1" h="151">
                  <a:moveTo>
                    <a:pt x="1" y="0"/>
                  </a:moveTo>
                  <a:lnTo>
                    <a:pt x="0" y="151"/>
                  </a:ln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8995" name="Freeform 21"/>
            <p:cNvSpPr/>
            <p:nvPr/>
          </p:nvSpPr>
          <p:spPr bwMode="auto">
            <a:xfrm>
              <a:off x="4194" y="2256"/>
              <a:ext cx="1" cy="90"/>
            </a:xfrm>
            <a:custGeom>
              <a:avLst/>
              <a:gdLst/>
              <a:ahLst/>
              <a:cxnLst/>
              <a:rect l="0" t="0" r="r" b="b"/>
              <a:pathLst>
                <a:path w="1" h="90">
                  <a:moveTo>
                    <a:pt x="0" y="0"/>
                  </a:moveTo>
                  <a:lnTo>
                    <a:pt x="0" y="90"/>
                  </a:ln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8996" name="Freeform 22"/>
            <p:cNvSpPr/>
            <p:nvPr/>
          </p:nvSpPr>
          <p:spPr bwMode="auto">
            <a:xfrm>
              <a:off x="4542" y="2256"/>
              <a:ext cx="1" cy="90"/>
            </a:xfrm>
            <a:custGeom>
              <a:avLst/>
              <a:gdLst/>
              <a:ahLst/>
              <a:cxnLst/>
              <a:rect l="0" t="0" r="r" b="b"/>
              <a:pathLst>
                <a:path w="1" h="90">
                  <a:moveTo>
                    <a:pt x="0" y="0"/>
                  </a:moveTo>
                  <a:lnTo>
                    <a:pt x="0" y="90"/>
                  </a:lnTo>
                </a:path>
              </a:pathLst>
            </a:cu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97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Application-Specific Processors</a:t>
            </a:r>
            <a:endParaRPr lang="en-US" altLang="en-US"/>
          </a:p>
        </p:txBody>
      </p:sp>
      <p:sp>
        <p:nvSpPr>
          <p:cNvPr id="1048998" name="Rectangle 3"/>
          <p:cNvSpPr/>
          <p:nvPr>
            <p:ph type="body" idx="1"/>
          </p:nvPr>
        </p:nvSpPr>
        <p:spPr>
          <a:xfrm>
            <a:off x="304800" y="1066800"/>
            <a:ext cx="5897562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 sz="2600"/>
              <a:t>Programmable processor optimized for a particular class of applications having common characteristics</a:t>
            </a:r>
            <a:endParaRPr lang="en-US" altLang="en-US" sz="2600"/>
          </a:p>
          <a:p>
            <a:pPr lvl="1" eaLnBrk="1" hangingPunct="1"/>
            <a:r>
              <a:rPr lang="en-US" altLang="en-US" sz="2400"/>
              <a:t>Compromise between general-purpose and single-purpose processors</a:t>
            </a:r>
            <a:endParaRPr lang="en-US" altLang="en-US" sz="2400"/>
          </a:p>
          <a:p>
            <a:pPr lvl="0" eaLnBrk="1" hangingPunct="1"/>
            <a:r>
              <a:rPr lang="en-US" altLang="en-US" sz="2600"/>
              <a:t>Features</a:t>
            </a:r>
            <a:endParaRPr lang="en-US" altLang="en-US" sz="2600"/>
          </a:p>
          <a:p>
            <a:pPr lvl="1" eaLnBrk="1" hangingPunct="1"/>
            <a:r>
              <a:rPr lang="en-US" altLang="en-US" sz="2400"/>
              <a:t>Program memory</a:t>
            </a:r>
            <a:endParaRPr lang="en-US" altLang="en-US" sz="2400"/>
          </a:p>
          <a:p>
            <a:pPr lvl="1" eaLnBrk="1" hangingPunct="1"/>
            <a:r>
              <a:rPr lang="en-US" altLang="en-US" sz="2400"/>
              <a:t>Optimized datapath</a:t>
            </a:r>
            <a:endParaRPr lang="en-US" altLang="en-US" sz="2400"/>
          </a:p>
          <a:p>
            <a:pPr lvl="1" eaLnBrk="1" hangingPunct="1"/>
            <a:r>
              <a:rPr lang="en-US" altLang="en-US" sz="2400"/>
              <a:t>Special functional units</a:t>
            </a:r>
            <a:endParaRPr lang="en-US" altLang="en-US" sz="2400"/>
          </a:p>
          <a:p>
            <a:pPr lvl="0" eaLnBrk="1" hangingPunct="1"/>
            <a:r>
              <a:rPr lang="en-US" altLang="en-US" sz="2600"/>
              <a:t>Benefits</a:t>
            </a:r>
            <a:endParaRPr lang="en-US" altLang="en-US" sz="2600"/>
          </a:p>
          <a:p>
            <a:pPr lvl="1" eaLnBrk="1" hangingPunct="1"/>
            <a:r>
              <a:rPr lang="en-US" altLang="en-US" sz="2400"/>
              <a:t>Some flexibility, good performance, size and power</a:t>
            </a:r>
            <a:endParaRPr lang="en-US" altLang="en-US" sz="2400"/>
          </a:p>
        </p:txBody>
      </p:sp>
      <p:sp>
        <p:nvSpPr>
          <p:cNvPr id="1048999" name="Rectangle 4"/>
          <p:cNvSpPr/>
          <p:nvPr/>
        </p:nvSpPr>
        <p:spPr>
          <a:xfrm>
            <a:off x="6542087" y="3144837"/>
            <a:ext cx="365125" cy="2746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IR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000" name="Rectangle 5"/>
          <p:cNvSpPr/>
          <p:nvPr/>
        </p:nvSpPr>
        <p:spPr>
          <a:xfrm>
            <a:off x="7105650" y="3144837"/>
            <a:ext cx="365125" cy="2746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PC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001" name="Text Box 6"/>
          <p:cNvSpPr txBox="1"/>
          <p:nvPr/>
        </p:nvSpPr>
        <p:spPr>
          <a:xfrm>
            <a:off x="7870825" y="1979612"/>
            <a:ext cx="914400" cy="4587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9144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Registers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002" name="Text Box 7"/>
          <p:cNvSpPr txBox="1"/>
          <p:nvPr/>
        </p:nvSpPr>
        <p:spPr>
          <a:xfrm>
            <a:off x="7848600" y="2667000"/>
            <a:ext cx="914400" cy="53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9144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Custom</a:t>
            </a:r>
            <a:endParaRPr lang="en-US" altLang="en-US" sz="1400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ALU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003" name="Rectangle 8"/>
          <p:cNvSpPr/>
          <p:nvPr/>
        </p:nvSpPr>
        <p:spPr>
          <a:xfrm>
            <a:off x="7726362" y="1600200"/>
            <a:ext cx="1189037" cy="16764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5000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Datapath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004" name="Rectangle 9"/>
          <p:cNvSpPr/>
          <p:nvPr/>
        </p:nvSpPr>
        <p:spPr>
          <a:xfrm>
            <a:off x="6392862" y="1600200"/>
            <a:ext cx="1189037" cy="1968500"/>
          </a:xfrm>
          <a:prstGeom prst="rect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5000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Controller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005" name="Rectangle 10"/>
          <p:cNvSpPr/>
          <p:nvPr/>
        </p:nvSpPr>
        <p:spPr>
          <a:xfrm>
            <a:off x="6402387" y="3789362"/>
            <a:ext cx="1171575" cy="17256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800">
              <a:solidFill>
                <a:schemeClr val="dk1"/>
              </a:solidFill>
            </a:endParaRPr>
          </a:p>
        </p:txBody>
      </p:sp>
      <p:sp>
        <p:nvSpPr>
          <p:cNvPr id="1049006" name="Text Box 11"/>
          <p:cNvSpPr txBox="1"/>
          <p:nvPr/>
        </p:nvSpPr>
        <p:spPr>
          <a:xfrm>
            <a:off x="6402387" y="3741737"/>
            <a:ext cx="1181100" cy="346075"/>
          </a:xfrm>
          <a:prstGeom prst="rect">
            <a:avLst/>
          </a:prstGeom>
          <a:noFill/>
          <a:ln>
            <a:noFill/>
          </a:ln>
        </p:spPr>
        <p:txBody>
          <a:bodyPr vert="horz" lIns="0" tIns="4572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Program memory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007" name="Text Box 12"/>
          <p:cNvSpPr txBox="1"/>
          <p:nvPr/>
        </p:nvSpPr>
        <p:spPr>
          <a:xfrm>
            <a:off x="6497637" y="4370387"/>
            <a:ext cx="996950" cy="731837"/>
          </a:xfrm>
          <a:prstGeom prst="rect">
            <a:avLst/>
          </a:prstGeom>
          <a:noFill/>
          <a:ln>
            <a:noFill/>
          </a:ln>
        </p:spPr>
        <p:txBody>
          <a:bodyPr vert="horz" lIns="0" tIns="4572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Assembly code for:</a:t>
            </a:r>
            <a:endParaRPr lang="en-US" altLang="en-US" sz="1200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endParaRPr lang="en-US" altLang="en-US" sz="12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  total = 0</a:t>
            </a:r>
            <a:endParaRPr lang="en-US" altLang="en-US" sz="12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  for i =1 to …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008" name="Line 13"/>
          <p:cNvSpPr/>
          <p:nvPr/>
        </p:nvSpPr>
        <p:spPr>
          <a:xfrm flipV="1">
            <a:off x="6734175" y="3422650"/>
            <a:ext cx="0" cy="366712"/>
          </a:xfrm>
          <a:prstGeom prst="line">
            <a:avLst/>
          </a:pr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tailEnd type="triangle" w="lg" len="lg"/>
          </a:ln>
        </p:spPr>
      </p:sp>
      <p:sp>
        <p:nvSpPr>
          <p:cNvPr id="1049009" name="Line 14"/>
          <p:cNvSpPr/>
          <p:nvPr/>
        </p:nvSpPr>
        <p:spPr>
          <a:xfrm>
            <a:off x="7286625" y="3422650"/>
            <a:ext cx="0" cy="366712"/>
          </a:xfrm>
          <a:prstGeom prst="line">
            <a:avLst/>
          </a:pr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  <a:tailEnd type="triangle" w="lg" len="lg"/>
          </a:ln>
        </p:spPr>
      </p:sp>
      <p:sp>
        <p:nvSpPr>
          <p:cNvPr id="1049010" name="Rectangle 15"/>
          <p:cNvSpPr/>
          <p:nvPr/>
        </p:nvSpPr>
        <p:spPr>
          <a:xfrm>
            <a:off x="6532562" y="1979612"/>
            <a:ext cx="938212" cy="10175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4572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Control </a:t>
            </a:r>
            <a:endParaRPr lang="en-US" altLang="en-US" sz="1400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logic and State register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011" name="Freeform 16"/>
          <p:cNvSpPr/>
          <p:nvPr/>
        </p:nvSpPr>
        <p:spPr bwMode="auto">
          <a:xfrm>
            <a:off x="7586662" y="2551112"/>
            <a:ext cx="133350" cy="0"/>
          </a:xfrm>
          <a:custGeom>
            <a:avLst/>
            <a:gdLst/>
            <a:ahLst/>
            <a:cxnLst/>
            <a:rect l="0" t="0" r="r" b="b"/>
            <a:pathLst>
              <a:path w="209" h="1">
                <a:moveTo>
                  <a:pt x="0" y="0"/>
                </a:moveTo>
                <a:lnTo>
                  <a:pt x="209" y="0"/>
                </a:ln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012" name="Freeform 17"/>
          <p:cNvSpPr/>
          <p:nvPr/>
        </p:nvSpPr>
        <p:spPr bwMode="auto">
          <a:xfrm>
            <a:off x="8305800" y="2438400"/>
            <a:ext cx="1587" cy="200025"/>
          </a:xfrm>
          <a:custGeom>
            <a:avLst/>
            <a:gdLst/>
            <a:ahLst/>
            <a:cxnLst/>
            <a:rect l="0" t="0" r="r" b="b"/>
            <a:pathLst>
              <a:path w="1" h="126">
                <a:moveTo>
                  <a:pt x="0" y="0"/>
                </a:moveTo>
                <a:lnTo>
                  <a:pt x="0" y="126"/>
                </a:ln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013" name="Text Box 18"/>
          <p:cNvSpPr txBox="1"/>
          <p:nvPr/>
        </p:nvSpPr>
        <p:spPr>
          <a:xfrm>
            <a:off x="7696200" y="3505200"/>
            <a:ext cx="1174750" cy="723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lIns="0" tIns="45720" rIns="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Data</a:t>
            </a:r>
            <a:endParaRPr lang="en-US" altLang="en-US" sz="1400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memory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014" name="Freeform 19"/>
          <p:cNvSpPr/>
          <p:nvPr/>
        </p:nvSpPr>
        <p:spPr bwMode="auto">
          <a:xfrm>
            <a:off x="8291512" y="3275012"/>
            <a:ext cx="1587" cy="239712"/>
          </a:xfrm>
          <a:custGeom>
            <a:avLst/>
            <a:gdLst/>
            <a:ahLst/>
            <a:cxnLst/>
            <a:rect l="0" t="0" r="r" b="b"/>
            <a:pathLst>
              <a:path w="1" h="151">
                <a:moveTo>
                  <a:pt x="1" y="0"/>
                </a:moveTo>
                <a:lnTo>
                  <a:pt x="0" y="151"/>
                </a:ln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015" name="Freeform 20"/>
          <p:cNvSpPr/>
          <p:nvPr/>
        </p:nvSpPr>
        <p:spPr bwMode="auto">
          <a:xfrm>
            <a:off x="6734175" y="2998787"/>
            <a:ext cx="1587" cy="142875"/>
          </a:xfrm>
          <a:custGeom>
            <a:avLst/>
            <a:gdLst/>
            <a:ahLst/>
            <a:cxnLst/>
            <a:rect l="0" t="0" r="r" b="b"/>
            <a:pathLst>
              <a:path w="1" h="90">
                <a:moveTo>
                  <a:pt x="0" y="0"/>
                </a:moveTo>
                <a:lnTo>
                  <a:pt x="0" y="90"/>
                </a:ln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016" name="Freeform 21"/>
          <p:cNvSpPr/>
          <p:nvPr/>
        </p:nvSpPr>
        <p:spPr bwMode="auto">
          <a:xfrm>
            <a:off x="7286625" y="2998787"/>
            <a:ext cx="1587" cy="142875"/>
          </a:xfrm>
          <a:custGeom>
            <a:avLst/>
            <a:gdLst/>
            <a:ahLst/>
            <a:cxnLst/>
            <a:rect l="0" t="0" r="r" b="b"/>
            <a:pathLst>
              <a:path w="1" h="90">
                <a:moveTo>
                  <a:pt x="0" y="0"/>
                </a:moveTo>
                <a:lnTo>
                  <a:pt x="0" y="90"/>
                </a:ln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17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 sz="3200"/>
              <a:t>Independence of Processor Technologies</a:t>
            </a:r>
            <a:endParaRPr lang="en-US" altLang="en-US" sz="3200"/>
          </a:p>
        </p:txBody>
      </p:sp>
      <p:sp>
        <p:nvSpPr>
          <p:cNvPr id="1049018" name="Rectangle 3"/>
          <p:cNvSpPr/>
          <p:nvPr>
            <p:ph type="body" idx="1"/>
          </p:nvPr>
        </p:nvSpPr>
        <p:spPr>
          <a:xfrm>
            <a:off x="304800" y="1066800"/>
            <a:ext cx="8534400" cy="21383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 sz="2600"/>
              <a:t>Basic tradeoff</a:t>
            </a:r>
            <a:endParaRPr lang="en-US" altLang="en-US" sz="2600"/>
          </a:p>
          <a:p>
            <a:pPr lvl="1" eaLnBrk="1" hangingPunct="1"/>
            <a:r>
              <a:rPr lang="en-US" altLang="en-US" sz="2400"/>
              <a:t>General vs. custom</a:t>
            </a:r>
            <a:endParaRPr lang="en-US" altLang="en-US" sz="2400"/>
          </a:p>
          <a:p>
            <a:pPr lvl="1" eaLnBrk="1" hangingPunct="1"/>
            <a:r>
              <a:rPr lang="en-US" altLang="en-US" sz="2400"/>
              <a:t>With respect to processor technology or IC technology</a:t>
            </a:r>
            <a:endParaRPr lang="en-US" altLang="en-US" sz="2400"/>
          </a:p>
          <a:p>
            <a:pPr lvl="1" eaLnBrk="1" hangingPunct="1"/>
            <a:r>
              <a:rPr lang="en-US" altLang="en-US" sz="2400"/>
              <a:t>The two technologies are independent</a:t>
            </a:r>
            <a:endParaRPr lang="en-US" altLang="en-US" sz="2400"/>
          </a:p>
        </p:txBody>
      </p:sp>
      <p:grpSp>
        <p:nvGrpSpPr>
          <p:cNvPr id="147" name="Group 146"/>
          <p:cNvGrpSpPr/>
          <p:nvPr/>
        </p:nvGrpSpPr>
        <p:grpSpPr>
          <a:xfrm rot="0">
            <a:off x="609600" y="3352800"/>
            <a:ext cx="7620000" cy="2627312"/>
            <a:chOff x="576" y="1968"/>
            <a:chExt cx="4800" cy="1655"/>
          </a:xfrm>
        </p:grpSpPr>
        <p:grpSp>
          <p:nvGrpSpPr>
            <p:cNvPr id="148" name="Group 147"/>
            <p:cNvGrpSpPr/>
            <p:nvPr/>
          </p:nvGrpSpPr>
          <p:grpSpPr>
            <a:xfrm rot="0">
              <a:off x="1788" y="3205"/>
              <a:ext cx="644" cy="200"/>
              <a:chOff x="1628" y="3741"/>
              <a:chExt cx="644" cy="200"/>
            </a:xfrm>
          </p:grpSpPr>
          <p:sp>
            <p:nvSpPr>
              <p:cNvPr id="1049019" name="AutoShape 6"/>
              <p:cNvSpPr/>
              <p:nvPr/>
            </p:nvSpPr>
            <p:spPr>
              <a:xfrm>
                <a:off x="2264" y="3741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20" name="AutoShape 7"/>
              <p:cNvSpPr/>
              <p:nvPr/>
            </p:nvSpPr>
            <p:spPr>
              <a:xfrm>
                <a:off x="2247" y="3762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21" name="AutoShape 8"/>
              <p:cNvSpPr/>
              <p:nvPr/>
            </p:nvSpPr>
            <p:spPr>
              <a:xfrm>
                <a:off x="2231" y="3783"/>
                <a:ext cx="8" cy="85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22" name="AutoShape 9"/>
              <p:cNvSpPr/>
              <p:nvPr/>
            </p:nvSpPr>
            <p:spPr>
              <a:xfrm>
                <a:off x="2214" y="3803"/>
                <a:ext cx="9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23" name="AutoShape 10"/>
              <p:cNvSpPr/>
              <p:nvPr/>
            </p:nvSpPr>
            <p:spPr>
              <a:xfrm>
                <a:off x="2198" y="3824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24" name="AutoShape 11"/>
              <p:cNvSpPr/>
              <p:nvPr/>
            </p:nvSpPr>
            <p:spPr>
              <a:xfrm>
                <a:off x="2157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25" name="AutoShape 12"/>
              <p:cNvSpPr/>
              <p:nvPr/>
            </p:nvSpPr>
            <p:spPr>
              <a:xfrm>
                <a:off x="2133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26" name="AutoShape 13"/>
              <p:cNvSpPr/>
              <p:nvPr/>
            </p:nvSpPr>
            <p:spPr>
              <a:xfrm>
                <a:off x="2108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27" name="AutoShape 14"/>
              <p:cNvSpPr/>
              <p:nvPr/>
            </p:nvSpPr>
            <p:spPr>
              <a:xfrm>
                <a:off x="2083" y="3855"/>
                <a:ext cx="9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28" name="AutoShape 15"/>
              <p:cNvSpPr/>
              <p:nvPr/>
            </p:nvSpPr>
            <p:spPr>
              <a:xfrm>
                <a:off x="2059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29" name="AutoShape 16"/>
              <p:cNvSpPr/>
              <p:nvPr/>
            </p:nvSpPr>
            <p:spPr>
              <a:xfrm>
                <a:off x="2034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30" name="AutoShape 17"/>
              <p:cNvSpPr/>
              <p:nvPr/>
            </p:nvSpPr>
            <p:spPr>
              <a:xfrm>
                <a:off x="2010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31" name="AutoShape 18"/>
              <p:cNvSpPr/>
              <p:nvPr/>
            </p:nvSpPr>
            <p:spPr>
              <a:xfrm>
                <a:off x="1985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32" name="AutoShape 19"/>
              <p:cNvSpPr/>
              <p:nvPr/>
            </p:nvSpPr>
            <p:spPr>
              <a:xfrm>
                <a:off x="1960" y="3855"/>
                <a:ext cx="9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33" name="AutoShape 20"/>
              <p:cNvSpPr/>
              <p:nvPr/>
            </p:nvSpPr>
            <p:spPr>
              <a:xfrm>
                <a:off x="1936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34" name="AutoShape 21"/>
              <p:cNvSpPr/>
              <p:nvPr/>
            </p:nvSpPr>
            <p:spPr>
              <a:xfrm>
                <a:off x="1911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35" name="AutoShape 22"/>
              <p:cNvSpPr/>
              <p:nvPr/>
            </p:nvSpPr>
            <p:spPr>
              <a:xfrm>
                <a:off x="1887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36" name="AutoShape 23"/>
              <p:cNvSpPr/>
              <p:nvPr/>
            </p:nvSpPr>
            <p:spPr>
              <a:xfrm>
                <a:off x="1862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37" name="AutoShape 24"/>
              <p:cNvSpPr/>
              <p:nvPr/>
            </p:nvSpPr>
            <p:spPr>
              <a:xfrm>
                <a:off x="1838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38" name="AutoShape 25"/>
              <p:cNvSpPr/>
              <p:nvPr/>
            </p:nvSpPr>
            <p:spPr>
              <a:xfrm>
                <a:off x="1813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39" name="AutoShape 26"/>
              <p:cNvSpPr/>
              <p:nvPr/>
            </p:nvSpPr>
            <p:spPr>
              <a:xfrm>
                <a:off x="1788" y="3855"/>
                <a:ext cx="9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40" name="AutoShape 27"/>
              <p:cNvSpPr/>
              <p:nvPr/>
            </p:nvSpPr>
            <p:spPr>
              <a:xfrm>
                <a:off x="1764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41" name="AutoShape 28"/>
              <p:cNvSpPr/>
              <p:nvPr/>
            </p:nvSpPr>
            <p:spPr>
              <a:xfrm>
                <a:off x="1739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42" name="AutoShape 29"/>
              <p:cNvSpPr/>
              <p:nvPr/>
            </p:nvSpPr>
            <p:spPr>
              <a:xfrm>
                <a:off x="1715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43" name="AutoShape 30"/>
              <p:cNvSpPr/>
              <p:nvPr/>
            </p:nvSpPr>
            <p:spPr>
              <a:xfrm>
                <a:off x="1690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44" name="AutoShape 31"/>
              <p:cNvSpPr/>
              <p:nvPr/>
            </p:nvSpPr>
            <p:spPr>
              <a:xfrm>
                <a:off x="1665" y="3855"/>
                <a:ext cx="9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45" name="AutoShape 32"/>
              <p:cNvSpPr/>
              <p:nvPr/>
            </p:nvSpPr>
            <p:spPr>
              <a:xfrm>
                <a:off x="1641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46" name="Rectangle 33"/>
              <p:cNvSpPr/>
              <p:nvPr/>
            </p:nvSpPr>
            <p:spPr>
              <a:xfrm>
                <a:off x="1628" y="3778"/>
                <a:ext cx="548" cy="107"/>
              </a:xfrm>
              <a:prstGeom prst="rect">
                <a:avLst/>
              </a:prstGeom>
              <a:solidFill>
                <a:srgbClr val="808080"/>
              </a:solidFill>
              <a:ln w="9525" cap="flat" cmpd="sng">
                <a:noFill/>
                <a:prstDash val="solid"/>
                <a:round/>
              </a:ln>
              <a:scene3d>
                <a:camera prst="legacyObliqueTopRight">
                  <a:rot lat="0" lon="0" rev="0"/>
                </a:camera>
                <a:lightRig rig="legacyFlat3" dir="r"/>
              </a:scene3d>
              <a:sp3d extrusionH="430200" prstMaterial="legacyPlastic">
                <a:bevelT w="13500" h="13500" prst="angle"/>
                <a:bevelB w="13500" h="13500" prst="angle"/>
                <a:extrusionClr>
                  <a:srgbClr val="808080"/>
                </a:extrusionClr>
              </a:sp3d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1049047" name="Rectangle 34"/>
            <p:cNvSpPr/>
            <p:nvPr/>
          </p:nvSpPr>
          <p:spPr>
            <a:xfrm>
              <a:off x="1872" y="1968"/>
              <a:ext cx="633" cy="5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General-purpose</a:t>
              </a:r>
              <a:endParaRPr lang="en-US" altLang="en-US" sz="14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processor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048" name="Rectangle 35"/>
            <p:cNvSpPr/>
            <p:nvPr/>
          </p:nvSpPr>
          <p:spPr>
            <a:xfrm>
              <a:off x="2631" y="1968"/>
              <a:ext cx="590" cy="5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0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ASIP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049" name="Rectangle 36"/>
            <p:cNvSpPr/>
            <p:nvPr/>
          </p:nvSpPr>
          <p:spPr>
            <a:xfrm>
              <a:off x="3390" y="1968"/>
              <a:ext cx="590" cy="53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Single-</a:t>
              </a:r>
              <a:endParaRPr lang="en-US" altLang="en-US" sz="14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purpose</a:t>
              </a:r>
              <a:endParaRPr lang="en-US" altLang="en-US" sz="14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processor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grpSp>
          <p:nvGrpSpPr>
            <p:cNvPr id="149" name="Group 148"/>
            <p:cNvGrpSpPr/>
            <p:nvPr/>
          </p:nvGrpSpPr>
          <p:grpSpPr>
            <a:xfrm rot="0">
              <a:off x="2547" y="3205"/>
              <a:ext cx="644" cy="200"/>
              <a:chOff x="2387" y="3741"/>
              <a:chExt cx="644" cy="200"/>
            </a:xfrm>
          </p:grpSpPr>
          <p:sp>
            <p:nvSpPr>
              <p:cNvPr id="1049050" name="AutoShape 38"/>
              <p:cNvSpPr/>
              <p:nvPr/>
            </p:nvSpPr>
            <p:spPr>
              <a:xfrm>
                <a:off x="3023" y="3741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51" name="AutoShape 39"/>
              <p:cNvSpPr/>
              <p:nvPr/>
            </p:nvSpPr>
            <p:spPr>
              <a:xfrm>
                <a:off x="3006" y="3762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52" name="AutoShape 40"/>
              <p:cNvSpPr/>
              <p:nvPr/>
            </p:nvSpPr>
            <p:spPr>
              <a:xfrm>
                <a:off x="2990" y="3783"/>
                <a:ext cx="8" cy="85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53" name="AutoShape 41"/>
              <p:cNvSpPr/>
              <p:nvPr/>
            </p:nvSpPr>
            <p:spPr>
              <a:xfrm>
                <a:off x="2973" y="3803"/>
                <a:ext cx="9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54" name="AutoShape 42"/>
              <p:cNvSpPr/>
              <p:nvPr/>
            </p:nvSpPr>
            <p:spPr>
              <a:xfrm>
                <a:off x="2957" y="3824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55" name="AutoShape 43"/>
              <p:cNvSpPr/>
              <p:nvPr/>
            </p:nvSpPr>
            <p:spPr>
              <a:xfrm>
                <a:off x="2916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56" name="AutoShape 44"/>
              <p:cNvSpPr/>
              <p:nvPr/>
            </p:nvSpPr>
            <p:spPr>
              <a:xfrm>
                <a:off x="2892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57" name="AutoShape 45"/>
              <p:cNvSpPr/>
              <p:nvPr/>
            </p:nvSpPr>
            <p:spPr>
              <a:xfrm>
                <a:off x="2867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58" name="AutoShape 46"/>
              <p:cNvSpPr/>
              <p:nvPr/>
            </p:nvSpPr>
            <p:spPr>
              <a:xfrm>
                <a:off x="2842" y="3855"/>
                <a:ext cx="9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59" name="AutoShape 47"/>
              <p:cNvSpPr/>
              <p:nvPr/>
            </p:nvSpPr>
            <p:spPr>
              <a:xfrm>
                <a:off x="2818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60" name="AutoShape 48"/>
              <p:cNvSpPr/>
              <p:nvPr/>
            </p:nvSpPr>
            <p:spPr>
              <a:xfrm>
                <a:off x="2793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61" name="AutoShape 49"/>
              <p:cNvSpPr/>
              <p:nvPr/>
            </p:nvSpPr>
            <p:spPr>
              <a:xfrm>
                <a:off x="2769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62" name="AutoShape 50"/>
              <p:cNvSpPr/>
              <p:nvPr/>
            </p:nvSpPr>
            <p:spPr>
              <a:xfrm>
                <a:off x="2744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63" name="AutoShape 51"/>
              <p:cNvSpPr/>
              <p:nvPr/>
            </p:nvSpPr>
            <p:spPr>
              <a:xfrm>
                <a:off x="2719" y="3855"/>
                <a:ext cx="9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64" name="AutoShape 52"/>
              <p:cNvSpPr/>
              <p:nvPr/>
            </p:nvSpPr>
            <p:spPr>
              <a:xfrm>
                <a:off x="2695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65" name="AutoShape 53"/>
              <p:cNvSpPr/>
              <p:nvPr/>
            </p:nvSpPr>
            <p:spPr>
              <a:xfrm>
                <a:off x="2670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66" name="AutoShape 54"/>
              <p:cNvSpPr/>
              <p:nvPr/>
            </p:nvSpPr>
            <p:spPr>
              <a:xfrm>
                <a:off x="2646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67" name="AutoShape 55"/>
              <p:cNvSpPr/>
              <p:nvPr/>
            </p:nvSpPr>
            <p:spPr>
              <a:xfrm>
                <a:off x="2621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68" name="AutoShape 56"/>
              <p:cNvSpPr/>
              <p:nvPr/>
            </p:nvSpPr>
            <p:spPr>
              <a:xfrm>
                <a:off x="2597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69" name="AutoShape 57"/>
              <p:cNvSpPr/>
              <p:nvPr/>
            </p:nvSpPr>
            <p:spPr>
              <a:xfrm>
                <a:off x="2572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70" name="AutoShape 58"/>
              <p:cNvSpPr/>
              <p:nvPr/>
            </p:nvSpPr>
            <p:spPr>
              <a:xfrm>
                <a:off x="2547" y="3855"/>
                <a:ext cx="9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71" name="AutoShape 59"/>
              <p:cNvSpPr/>
              <p:nvPr/>
            </p:nvSpPr>
            <p:spPr>
              <a:xfrm>
                <a:off x="2523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72" name="AutoShape 60"/>
              <p:cNvSpPr/>
              <p:nvPr/>
            </p:nvSpPr>
            <p:spPr>
              <a:xfrm>
                <a:off x="2498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73" name="AutoShape 61"/>
              <p:cNvSpPr/>
              <p:nvPr/>
            </p:nvSpPr>
            <p:spPr>
              <a:xfrm>
                <a:off x="2474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74" name="AutoShape 62"/>
              <p:cNvSpPr/>
              <p:nvPr/>
            </p:nvSpPr>
            <p:spPr>
              <a:xfrm>
                <a:off x="2449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75" name="AutoShape 63"/>
              <p:cNvSpPr/>
              <p:nvPr/>
            </p:nvSpPr>
            <p:spPr>
              <a:xfrm>
                <a:off x="2424" y="3855"/>
                <a:ext cx="9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76" name="AutoShape 64"/>
              <p:cNvSpPr/>
              <p:nvPr/>
            </p:nvSpPr>
            <p:spPr>
              <a:xfrm>
                <a:off x="2400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77" name="Rectangle 65"/>
              <p:cNvSpPr/>
              <p:nvPr/>
            </p:nvSpPr>
            <p:spPr>
              <a:xfrm>
                <a:off x="2387" y="3778"/>
                <a:ext cx="548" cy="107"/>
              </a:xfrm>
              <a:prstGeom prst="rect">
                <a:avLst/>
              </a:prstGeom>
              <a:solidFill>
                <a:srgbClr val="808080"/>
              </a:solidFill>
              <a:ln w="9525" cap="flat" cmpd="sng">
                <a:noFill/>
                <a:prstDash val="solid"/>
                <a:round/>
              </a:ln>
              <a:scene3d>
                <a:camera prst="legacyObliqueTopRight">
                  <a:rot lat="0" lon="0" rev="0"/>
                </a:camera>
                <a:lightRig rig="legacyFlat3" dir="r"/>
              </a:scene3d>
              <a:sp3d extrusionH="430200" prstMaterial="legacyPlastic">
                <a:bevelT w="13500" h="13500" prst="angle"/>
                <a:bevelB w="13500" h="13500" prst="angle"/>
                <a:extrusionClr>
                  <a:srgbClr val="808080"/>
                </a:extrusionClr>
              </a:sp3d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50" name="Group 149"/>
            <p:cNvGrpSpPr/>
            <p:nvPr/>
          </p:nvGrpSpPr>
          <p:grpSpPr>
            <a:xfrm rot="0">
              <a:off x="3305" y="3205"/>
              <a:ext cx="645" cy="200"/>
              <a:chOff x="3145" y="3741"/>
              <a:chExt cx="645" cy="200"/>
            </a:xfrm>
          </p:grpSpPr>
          <p:sp>
            <p:nvSpPr>
              <p:cNvPr id="1049078" name="AutoShape 67"/>
              <p:cNvSpPr/>
              <p:nvPr/>
            </p:nvSpPr>
            <p:spPr>
              <a:xfrm>
                <a:off x="3782" y="3741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79" name="AutoShape 68"/>
              <p:cNvSpPr/>
              <p:nvPr/>
            </p:nvSpPr>
            <p:spPr>
              <a:xfrm>
                <a:off x="3765" y="3762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80" name="AutoShape 69"/>
              <p:cNvSpPr/>
              <p:nvPr/>
            </p:nvSpPr>
            <p:spPr>
              <a:xfrm>
                <a:off x="3749" y="3783"/>
                <a:ext cx="8" cy="85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81" name="AutoShape 70"/>
              <p:cNvSpPr/>
              <p:nvPr/>
            </p:nvSpPr>
            <p:spPr>
              <a:xfrm>
                <a:off x="3732" y="3803"/>
                <a:ext cx="9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82" name="AutoShape 71"/>
              <p:cNvSpPr/>
              <p:nvPr/>
            </p:nvSpPr>
            <p:spPr>
              <a:xfrm>
                <a:off x="3716" y="3824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83" name="AutoShape 72"/>
              <p:cNvSpPr/>
              <p:nvPr/>
            </p:nvSpPr>
            <p:spPr>
              <a:xfrm>
                <a:off x="3675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84" name="AutoShape 73"/>
              <p:cNvSpPr/>
              <p:nvPr/>
            </p:nvSpPr>
            <p:spPr>
              <a:xfrm>
                <a:off x="3650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85" name="AutoShape 74"/>
              <p:cNvSpPr/>
              <p:nvPr/>
            </p:nvSpPr>
            <p:spPr>
              <a:xfrm>
                <a:off x="3626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86" name="AutoShape 75"/>
              <p:cNvSpPr/>
              <p:nvPr/>
            </p:nvSpPr>
            <p:spPr>
              <a:xfrm>
                <a:off x="3601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87" name="AutoShape 76"/>
              <p:cNvSpPr/>
              <p:nvPr/>
            </p:nvSpPr>
            <p:spPr>
              <a:xfrm>
                <a:off x="3576" y="3855"/>
                <a:ext cx="9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88" name="AutoShape 77"/>
              <p:cNvSpPr/>
              <p:nvPr/>
            </p:nvSpPr>
            <p:spPr>
              <a:xfrm>
                <a:off x="3552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89" name="AutoShape 78"/>
              <p:cNvSpPr/>
              <p:nvPr/>
            </p:nvSpPr>
            <p:spPr>
              <a:xfrm>
                <a:off x="3527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90" name="AutoShape 79"/>
              <p:cNvSpPr/>
              <p:nvPr/>
            </p:nvSpPr>
            <p:spPr>
              <a:xfrm>
                <a:off x="3503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91" name="AutoShape 80"/>
              <p:cNvSpPr/>
              <p:nvPr/>
            </p:nvSpPr>
            <p:spPr>
              <a:xfrm>
                <a:off x="3478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92" name="AutoShape 81"/>
              <p:cNvSpPr/>
              <p:nvPr/>
            </p:nvSpPr>
            <p:spPr>
              <a:xfrm>
                <a:off x="3453" y="3855"/>
                <a:ext cx="9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93" name="AutoShape 82"/>
              <p:cNvSpPr/>
              <p:nvPr/>
            </p:nvSpPr>
            <p:spPr>
              <a:xfrm>
                <a:off x="3429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94" name="AutoShape 83"/>
              <p:cNvSpPr/>
              <p:nvPr/>
            </p:nvSpPr>
            <p:spPr>
              <a:xfrm>
                <a:off x="3404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95" name="AutoShape 84"/>
              <p:cNvSpPr/>
              <p:nvPr/>
            </p:nvSpPr>
            <p:spPr>
              <a:xfrm>
                <a:off x="3379" y="3855"/>
                <a:ext cx="9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96" name="AutoShape 85"/>
              <p:cNvSpPr/>
              <p:nvPr/>
            </p:nvSpPr>
            <p:spPr>
              <a:xfrm>
                <a:off x="3355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97" name="AutoShape 86"/>
              <p:cNvSpPr/>
              <p:nvPr/>
            </p:nvSpPr>
            <p:spPr>
              <a:xfrm>
                <a:off x="3330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98" name="AutoShape 87"/>
              <p:cNvSpPr/>
              <p:nvPr/>
            </p:nvSpPr>
            <p:spPr>
              <a:xfrm>
                <a:off x="3306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099" name="AutoShape 88"/>
              <p:cNvSpPr/>
              <p:nvPr/>
            </p:nvSpPr>
            <p:spPr>
              <a:xfrm>
                <a:off x="3281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100" name="AutoShape 89"/>
              <p:cNvSpPr/>
              <p:nvPr/>
            </p:nvSpPr>
            <p:spPr>
              <a:xfrm>
                <a:off x="3256" y="3855"/>
                <a:ext cx="9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101" name="AutoShape 90"/>
              <p:cNvSpPr/>
              <p:nvPr/>
            </p:nvSpPr>
            <p:spPr>
              <a:xfrm>
                <a:off x="3232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102" name="AutoShape 91"/>
              <p:cNvSpPr/>
              <p:nvPr/>
            </p:nvSpPr>
            <p:spPr>
              <a:xfrm>
                <a:off x="3207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103" name="AutoShape 92"/>
              <p:cNvSpPr/>
              <p:nvPr/>
            </p:nvSpPr>
            <p:spPr>
              <a:xfrm>
                <a:off x="3183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104" name="AutoShape 93"/>
              <p:cNvSpPr/>
              <p:nvPr/>
            </p:nvSpPr>
            <p:spPr>
              <a:xfrm>
                <a:off x="3158" y="3855"/>
                <a:ext cx="8" cy="86"/>
              </a:xfrm>
              <a:prstGeom prst="can">
                <a:avLst/>
              </a:prstGeom>
              <a:solidFill>
                <a:srgbClr val="808080"/>
              </a:solidFill>
              <a:ln w="3175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  <p:sp>
            <p:nvSpPr>
              <p:cNvPr id="1049105" name="Rectangle 94"/>
              <p:cNvSpPr/>
              <p:nvPr/>
            </p:nvSpPr>
            <p:spPr>
              <a:xfrm>
                <a:off x="3145" y="3778"/>
                <a:ext cx="549" cy="107"/>
              </a:xfrm>
              <a:prstGeom prst="rect">
                <a:avLst/>
              </a:prstGeom>
              <a:solidFill>
                <a:srgbClr val="808080"/>
              </a:solidFill>
              <a:ln w="9525" cap="flat" cmpd="sng">
                <a:noFill/>
                <a:prstDash val="solid"/>
                <a:round/>
              </a:ln>
              <a:scene3d>
                <a:camera prst="legacyObliqueTopRight">
                  <a:rot lat="0" lon="0" rev="0"/>
                </a:camera>
                <a:lightRig rig="legacyFlat3" dir="r"/>
              </a:scene3d>
              <a:sp3d extrusionH="430200" prstMaterial="legacyPlastic">
                <a:bevelT w="13500" h="13500" prst="angle"/>
                <a:bevelB w="13500" h="13500" prst="angle"/>
                <a:extrusionClr>
                  <a:srgbClr val="808080"/>
                </a:extrusionClr>
              </a:sp3d>
            </p:spPr>
            <p:txBody>
              <a:bodyPr vert="horz" lIns="91440" tIns="45720" rIns="91440" bIns="45720" anchor="t"/>
              <a:lstStyle>
                <a:lvl1pPr marL="342900" indent="-3429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90000"/>
                  <a:buFont typeface="Arial" panose="02080604020202020204" pitchFamily="34" charset="0"/>
                  <a:buChar char="•"/>
                  <a:defRPr sz="3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1pPr>
                <a:lvl2pPr marL="742950" indent="-28575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90000"/>
                  <a:buFont typeface="Arial" panose="02080604020202020204" pitchFamily="34" charset="0"/>
                  <a:buChar char="•"/>
                  <a:defRPr sz="28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2pPr>
                <a:lvl3pPr marL="11430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100000"/>
                  <a:buFontTx/>
                  <a:buChar char="•"/>
                  <a:defRPr sz="24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3pPr>
                <a:lvl4pPr marL="16002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dk1"/>
                  </a:buClr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4pPr>
                <a:lvl5pPr marL="2057400" indent="-228600" algn="l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SzPct val="100000"/>
                  <a:buFontTx/>
                  <a:buChar char="•"/>
                  <a:defRPr sz="2000" b="0" i="0" u="none" baseline="0">
                    <a:solidFill>
                      <a:schemeClr val="lt2"/>
                    </a:solidFill>
                    <a:latin typeface="Arial" panose="02080604020202020204" pitchFamily="34" charset="0"/>
                    <a:sym typeface="Arial" panose="02080604020202020204" pitchFamily="34" charset="0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SzPct val="100000"/>
                  <a:buFontTx/>
                  <a:buNone/>
                </a:pPr>
                <a:endParaRPr lang="en-US" altLang="en-US" sz="1800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1049106" name="Line 95"/>
            <p:cNvSpPr/>
            <p:nvPr/>
          </p:nvSpPr>
          <p:spPr>
            <a:xfrm>
              <a:off x="2167" y="2502"/>
              <a:ext cx="0" cy="641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9107" name="Freeform 96"/>
            <p:cNvSpPr/>
            <p:nvPr/>
          </p:nvSpPr>
          <p:spPr bwMode="auto">
            <a:xfrm>
              <a:off x="2924" y="2502"/>
              <a:ext cx="2" cy="600"/>
            </a:xfrm>
            <a:custGeom>
              <a:avLst/>
              <a:gdLst/>
              <a:ahLst/>
              <a:cxnLst/>
              <a:rect l="0" t="0" r="r" b="b"/>
              <a:pathLst>
                <a:path w="4" h="809">
                  <a:moveTo>
                    <a:pt x="4" y="0"/>
                  </a:moveTo>
                  <a:lnTo>
                    <a:pt x="0" y="809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9108" name="Line 97"/>
            <p:cNvSpPr/>
            <p:nvPr/>
          </p:nvSpPr>
          <p:spPr>
            <a:xfrm>
              <a:off x="3685" y="2502"/>
              <a:ext cx="0" cy="641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9109" name="Freeform 98"/>
            <p:cNvSpPr/>
            <p:nvPr/>
          </p:nvSpPr>
          <p:spPr bwMode="auto">
            <a:xfrm>
              <a:off x="2167" y="2502"/>
              <a:ext cx="681" cy="615"/>
            </a:xfrm>
            <a:custGeom>
              <a:avLst/>
              <a:gdLst/>
              <a:ahLst/>
              <a:cxnLst/>
              <a:rect l="0" t="0" r="r" b="b"/>
              <a:pathLst>
                <a:path w="1162" h="829">
                  <a:moveTo>
                    <a:pt x="0" y="0"/>
                  </a:moveTo>
                  <a:lnTo>
                    <a:pt x="1162" y="829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9110" name="Line 99"/>
            <p:cNvSpPr/>
            <p:nvPr/>
          </p:nvSpPr>
          <p:spPr>
            <a:xfrm>
              <a:off x="2926" y="2502"/>
              <a:ext cx="717" cy="587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9111" name="Freeform 100"/>
            <p:cNvSpPr/>
            <p:nvPr/>
          </p:nvSpPr>
          <p:spPr bwMode="auto">
            <a:xfrm>
              <a:off x="2994" y="2502"/>
              <a:ext cx="691" cy="615"/>
            </a:xfrm>
            <a:custGeom>
              <a:avLst/>
              <a:gdLst/>
              <a:ahLst/>
              <a:cxnLst/>
              <a:rect l="0" t="0" r="r" b="b"/>
              <a:pathLst>
                <a:path w="1180" h="829">
                  <a:moveTo>
                    <a:pt x="1180" y="0"/>
                  </a:moveTo>
                  <a:lnTo>
                    <a:pt x="0" y="829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9112" name="Line 101"/>
            <p:cNvSpPr/>
            <p:nvPr/>
          </p:nvSpPr>
          <p:spPr>
            <a:xfrm flipH="1">
              <a:off x="2378" y="2502"/>
              <a:ext cx="1307" cy="587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9113" name="Line 102"/>
            <p:cNvSpPr/>
            <p:nvPr/>
          </p:nvSpPr>
          <p:spPr>
            <a:xfrm flipH="1">
              <a:off x="2252" y="2502"/>
              <a:ext cx="674" cy="587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9114" name="Line 103"/>
            <p:cNvSpPr/>
            <p:nvPr/>
          </p:nvSpPr>
          <p:spPr>
            <a:xfrm>
              <a:off x="2167" y="2502"/>
              <a:ext cx="1349" cy="587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9115" name="Text Box 104"/>
            <p:cNvSpPr txBox="1"/>
            <p:nvPr/>
          </p:nvSpPr>
          <p:spPr>
            <a:xfrm>
              <a:off x="2496" y="3463"/>
              <a:ext cx="725" cy="1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Semi-custom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116" name="Text Box 105"/>
            <p:cNvSpPr txBox="1"/>
            <p:nvPr/>
          </p:nvSpPr>
          <p:spPr>
            <a:xfrm>
              <a:off x="1742" y="3463"/>
              <a:ext cx="675" cy="1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PLD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117" name="Text Box 106"/>
            <p:cNvSpPr txBox="1"/>
            <p:nvPr/>
          </p:nvSpPr>
          <p:spPr>
            <a:xfrm>
              <a:off x="3302" y="3463"/>
              <a:ext cx="682" cy="1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Full-custom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118" name="Text Box 107"/>
            <p:cNvSpPr txBox="1"/>
            <p:nvPr/>
          </p:nvSpPr>
          <p:spPr>
            <a:xfrm>
              <a:off x="672" y="2182"/>
              <a:ext cx="1112" cy="464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General,</a:t>
              </a:r>
              <a:endParaRPr lang="en-US" altLang="en-US" sz="14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u="sng">
                  <a:latin typeface="Times New Roman" panose="02020603050405020304" charset="0"/>
                </a:rPr>
                <a:t>providing improved:</a:t>
              </a:r>
              <a:endParaRPr lang="en-US" altLang="en-US" sz="1400" u="sng">
                <a:latin typeface="Times New Roman" panose="02020603050405020304" charset="0"/>
              </a:endParaRPr>
            </a:p>
          </p:txBody>
        </p:sp>
        <p:sp>
          <p:nvSpPr>
            <p:cNvPr id="1049119" name="Text Box 108"/>
            <p:cNvSpPr txBox="1"/>
            <p:nvPr/>
          </p:nvSpPr>
          <p:spPr>
            <a:xfrm>
              <a:off x="4103" y="2182"/>
              <a:ext cx="1177" cy="373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Customized, </a:t>
              </a:r>
              <a:endParaRPr lang="en-US" altLang="en-US" sz="14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u="sng">
                  <a:latin typeface="Times New Roman" panose="02020603050405020304" charset="0"/>
                </a:rPr>
                <a:t>providing improved:</a:t>
              </a:r>
              <a:endParaRPr lang="en-US" altLang="en-US" sz="1400" u="sng">
                <a:latin typeface="Times New Roman" panose="02020603050405020304" charset="0"/>
              </a:endParaRPr>
            </a:p>
          </p:txBody>
        </p:sp>
        <p:sp>
          <p:nvSpPr>
            <p:cNvPr id="1049120" name="Text Box 109"/>
            <p:cNvSpPr txBox="1"/>
            <p:nvPr/>
          </p:nvSpPr>
          <p:spPr>
            <a:xfrm>
              <a:off x="4036" y="2609"/>
              <a:ext cx="1340" cy="747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i="1">
                  <a:latin typeface="Times New Roman" panose="02020603050405020304" charset="0"/>
                </a:rPr>
                <a:t>Power efficiency</a:t>
              </a:r>
              <a:endParaRPr lang="en-US" altLang="en-US" sz="1400" i="1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i="1">
                  <a:latin typeface="Times New Roman" panose="02020603050405020304" charset="0"/>
                </a:rPr>
                <a:t>Performance</a:t>
              </a:r>
              <a:endParaRPr lang="en-US" altLang="en-US" sz="1400" i="1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i="1">
                  <a:latin typeface="Times New Roman" panose="02020603050405020304" charset="0"/>
                </a:rPr>
                <a:t>Size</a:t>
              </a:r>
              <a:endParaRPr lang="en-US" altLang="en-US" sz="1400" i="1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i="1">
                  <a:latin typeface="Times New Roman" panose="02020603050405020304" charset="0"/>
                </a:rPr>
                <a:t>Cost (high volume)</a:t>
              </a:r>
              <a:endParaRPr lang="en-US" altLang="en-US" sz="1400" i="1">
                <a:latin typeface="Times New Roman" panose="02020603050405020304" charset="0"/>
              </a:endParaRPr>
            </a:p>
          </p:txBody>
        </p:sp>
        <p:sp>
          <p:nvSpPr>
            <p:cNvPr id="1049121" name="Text Box 110"/>
            <p:cNvSpPr txBox="1"/>
            <p:nvPr/>
          </p:nvSpPr>
          <p:spPr>
            <a:xfrm>
              <a:off x="576" y="2555"/>
              <a:ext cx="1246" cy="10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i="1">
                  <a:latin typeface="Times New Roman" panose="02020603050405020304" charset="0"/>
                </a:rPr>
                <a:t>Flexibility</a:t>
              </a:r>
              <a:endParaRPr lang="en-US" altLang="en-US" sz="1400" i="1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i="1">
                  <a:latin typeface="Times New Roman" panose="02020603050405020304" charset="0"/>
                </a:rPr>
                <a:t>Maintainability</a:t>
              </a:r>
              <a:endParaRPr lang="en-US" altLang="en-US" sz="1400" i="1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i="1">
                  <a:latin typeface="Times New Roman" panose="02020603050405020304" charset="0"/>
                </a:rPr>
                <a:t>NRE cost</a:t>
              </a:r>
              <a:endParaRPr lang="en-US" altLang="en-US" sz="1400" i="1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i="1">
                  <a:latin typeface="Times New Roman" panose="02020603050405020304" charset="0"/>
                </a:rPr>
                <a:t>Time- to-prototype</a:t>
              </a:r>
              <a:endParaRPr lang="en-US" altLang="en-US" sz="1400" i="1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i="1">
                  <a:latin typeface="Times New Roman" panose="02020603050405020304" charset="0"/>
                </a:rPr>
                <a:t>Time-to-market</a:t>
              </a:r>
              <a:endParaRPr lang="en-US" altLang="en-US" sz="1400" i="1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i="1">
                  <a:latin typeface="Times New Roman" panose="02020603050405020304" charset="0"/>
                </a:rPr>
                <a:t>Cost (low volume)</a:t>
              </a:r>
              <a:endParaRPr lang="en-US" altLang="en-US" sz="1400" i="1">
                <a:latin typeface="Times New Roman" panose="02020603050405020304" charset="0"/>
              </a:endParaRPr>
            </a:p>
          </p:txBody>
        </p:sp>
        <p:sp>
          <p:nvSpPr>
            <p:cNvPr id="1049122" name="AutoShape 111"/>
            <p:cNvSpPr/>
            <p:nvPr/>
          </p:nvSpPr>
          <p:spPr>
            <a:xfrm>
              <a:off x="1742" y="2662"/>
              <a:ext cx="211" cy="214"/>
            </a:xfrm>
            <a:prstGeom prst="leftArrow">
              <a:avLst>
                <a:gd name="adj1" fmla="val 50000"/>
                <a:gd name="adj2" fmla="val 25000"/>
              </a:avLst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sp>
          <p:nvSpPr>
            <p:cNvPr id="1049123" name="AutoShape 112"/>
            <p:cNvSpPr/>
            <p:nvPr/>
          </p:nvSpPr>
          <p:spPr>
            <a:xfrm flipH="1">
              <a:off x="3892" y="2715"/>
              <a:ext cx="211" cy="214"/>
            </a:xfrm>
            <a:prstGeom prst="leftArrow">
              <a:avLst>
                <a:gd name="adj1" fmla="val 50000"/>
                <a:gd name="adj2" fmla="val 25000"/>
              </a:avLst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24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Design Technology</a:t>
            </a:r>
            <a:endParaRPr lang="en-US" altLang="en-US"/>
          </a:p>
        </p:txBody>
      </p:sp>
      <p:sp>
        <p:nvSpPr>
          <p:cNvPr id="1049125" name="Rectangle 3"/>
          <p:cNvSpPr/>
          <p:nvPr>
            <p:ph type="body" idx="1"/>
          </p:nvPr>
        </p:nvSpPr>
        <p:spPr>
          <a:xfrm>
            <a:off x="304800" y="1066800"/>
            <a:ext cx="8534400" cy="12080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The manner in which we convert our concept of desired system functionality into an implementation</a:t>
            </a:r>
            <a:endParaRPr lang="en-US" altLang="en-US"/>
          </a:p>
          <a:p>
            <a:pPr lvl="1" eaLnBrk="1" hangingPunct="1"/>
            <a:endParaRPr lang="en-US" altLang="en-US"/>
          </a:p>
        </p:txBody>
      </p:sp>
      <p:grpSp>
        <p:nvGrpSpPr>
          <p:cNvPr id="152" name="Group 151"/>
          <p:cNvGrpSpPr/>
          <p:nvPr/>
        </p:nvGrpSpPr>
        <p:grpSpPr>
          <a:xfrm rot="0">
            <a:off x="1219200" y="2438400"/>
            <a:ext cx="6180137" cy="3678237"/>
            <a:chOff x="1861" y="1944"/>
            <a:chExt cx="7373" cy="4392"/>
          </a:xfrm>
        </p:grpSpPr>
        <p:sp>
          <p:nvSpPr>
            <p:cNvPr id="1049126" name="Text Box 5"/>
            <p:cNvSpPr txBox="1"/>
            <p:nvPr/>
          </p:nvSpPr>
          <p:spPr>
            <a:xfrm>
              <a:off x="1861" y="3787"/>
              <a:ext cx="2241" cy="113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0" rIns="9144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 i="1">
                  <a:latin typeface="Times New Roman" panose="02020603050405020304" charset="0"/>
                </a:rPr>
                <a:t>Libraries/IP:</a:t>
              </a:r>
              <a:r>
                <a:rPr lang="en-US" altLang="en-US" sz="1000">
                  <a:latin typeface="Times New Roman" panose="02020603050405020304" charset="0"/>
                </a:rPr>
                <a:t> Incorporates pre-designed implementation from lower abstraction level into higher level.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27" name="Line 6"/>
            <p:cNvSpPr/>
            <p:nvPr/>
          </p:nvSpPr>
          <p:spPr>
            <a:xfrm>
              <a:off x="5130" y="3024"/>
              <a:ext cx="0" cy="360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9128" name="Line 7"/>
            <p:cNvSpPr/>
            <p:nvPr/>
          </p:nvSpPr>
          <p:spPr>
            <a:xfrm>
              <a:off x="5130" y="3960"/>
              <a:ext cx="0" cy="360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9129" name="Line 8"/>
            <p:cNvSpPr/>
            <p:nvPr/>
          </p:nvSpPr>
          <p:spPr>
            <a:xfrm>
              <a:off x="5130" y="4896"/>
              <a:ext cx="0" cy="360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9130" name="Text Box 9"/>
            <p:cNvSpPr txBox="1"/>
            <p:nvPr/>
          </p:nvSpPr>
          <p:spPr>
            <a:xfrm>
              <a:off x="4410" y="2448"/>
              <a:ext cx="1440" cy="57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System</a:t>
              </a:r>
              <a:endParaRPr lang="en-US" altLang="en-US" sz="10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specification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31" name="Text Box 10"/>
            <p:cNvSpPr txBox="1"/>
            <p:nvPr/>
          </p:nvSpPr>
          <p:spPr>
            <a:xfrm>
              <a:off x="4410" y="3384"/>
              <a:ext cx="1440" cy="57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Behavioral</a:t>
              </a:r>
              <a:endParaRPr lang="en-US" altLang="en-US" sz="10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specification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32" name="Text Box 11"/>
            <p:cNvSpPr txBox="1"/>
            <p:nvPr/>
          </p:nvSpPr>
          <p:spPr>
            <a:xfrm>
              <a:off x="4410" y="4320"/>
              <a:ext cx="1440" cy="57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RT</a:t>
              </a:r>
              <a:endParaRPr lang="en-US" altLang="en-US" sz="10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specification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33" name="Text Box 12"/>
            <p:cNvSpPr txBox="1"/>
            <p:nvPr/>
          </p:nvSpPr>
          <p:spPr>
            <a:xfrm>
              <a:off x="4410" y="5256"/>
              <a:ext cx="1440" cy="57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Logic</a:t>
              </a:r>
              <a:endParaRPr lang="en-US" altLang="en-US" sz="10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specification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34" name="Line 13"/>
            <p:cNvSpPr/>
            <p:nvPr/>
          </p:nvSpPr>
          <p:spPr>
            <a:xfrm>
              <a:off x="5130" y="5832"/>
              <a:ext cx="0" cy="360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9135" name="Text Box 14"/>
            <p:cNvSpPr txBox="1"/>
            <p:nvPr/>
          </p:nvSpPr>
          <p:spPr>
            <a:xfrm>
              <a:off x="5130" y="5904"/>
              <a:ext cx="2160" cy="432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To final implementation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36" name="Line 15"/>
            <p:cNvSpPr/>
            <p:nvPr/>
          </p:nvSpPr>
          <p:spPr>
            <a:xfrm>
              <a:off x="4122" y="2938"/>
              <a:ext cx="0" cy="706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ysDot"/>
              <a:round/>
              <a:tailEnd type="arrow" w="med" len="med"/>
            </a:ln>
          </p:spPr>
        </p:sp>
        <p:sp>
          <p:nvSpPr>
            <p:cNvPr id="1049137" name="Text Box 16"/>
            <p:cNvSpPr txBox="1"/>
            <p:nvPr/>
          </p:nvSpPr>
          <p:spPr>
            <a:xfrm>
              <a:off x="1861" y="2635"/>
              <a:ext cx="2241" cy="1152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0" rIns="9144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 i="1">
                  <a:latin typeface="Times New Roman" panose="02020603050405020304" charset="0"/>
                </a:rPr>
                <a:t>Compilation/Synthesis:</a:t>
              </a:r>
              <a:r>
                <a:rPr lang="en-US" altLang="en-US" sz="1000">
                  <a:latin typeface="Times New Roman" panose="02020603050405020304" charset="0"/>
                </a:rPr>
                <a:t> Automates exploration and insertion of implementation details for lower level.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38" name="Freeform 17"/>
            <p:cNvSpPr/>
            <p:nvPr/>
          </p:nvSpPr>
          <p:spPr bwMode="auto">
            <a:xfrm flipH="1">
              <a:off x="4122" y="4666"/>
              <a:ext cx="288" cy="864"/>
            </a:xfrm>
            <a:custGeom>
              <a:avLst/>
              <a:gdLst/>
              <a:ahLst/>
              <a:cxnLst/>
              <a:rect l="0" t="0" r="r" b="b"/>
              <a:pathLst>
                <a:path w="432" h="864">
                  <a:moveTo>
                    <a:pt x="0" y="864"/>
                  </a:moveTo>
                  <a:cubicBezTo>
                    <a:pt x="216" y="720"/>
                    <a:pt x="432" y="576"/>
                    <a:pt x="432" y="432"/>
                  </a:cubicBezTo>
                  <a:cubicBezTo>
                    <a:pt x="432" y="288"/>
                    <a:pt x="216" y="144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ysDot"/>
              <a:round/>
              <a:tailEnd type="arrow" w="med" len="med"/>
            </a:ln>
          </p:spPr>
        </p:sp>
        <p:sp>
          <p:nvSpPr>
            <p:cNvPr id="1049139" name="Text Box 18"/>
            <p:cNvSpPr txBox="1"/>
            <p:nvPr/>
          </p:nvSpPr>
          <p:spPr>
            <a:xfrm>
              <a:off x="1861" y="4939"/>
              <a:ext cx="2274" cy="1340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0" rIns="9144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 i="1">
                  <a:latin typeface="Times New Roman" panose="02020603050405020304" charset="0"/>
                </a:rPr>
                <a:t>Test/Verification:</a:t>
              </a:r>
              <a:r>
                <a:rPr lang="en-US" altLang="en-US" sz="1000">
                  <a:latin typeface="Times New Roman" panose="02020603050405020304" charset="0"/>
                </a:rPr>
                <a:t> Ensures correct functionality at each level, thus reducing costly iterations between levels.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40" name="Line 19"/>
            <p:cNvSpPr/>
            <p:nvPr/>
          </p:nvSpPr>
          <p:spPr>
            <a:xfrm>
              <a:off x="3978" y="4968"/>
              <a:ext cx="288" cy="288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141" name="Line 20"/>
            <p:cNvSpPr/>
            <p:nvPr/>
          </p:nvSpPr>
          <p:spPr>
            <a:xfrm rot="5400000">
              <a:off x="3978" y="4954"/>
              <a:ext cx="288" cy="288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142" name="Line 21"/>
            <p:cNvSpPr/>
            <p:nvPr/>
          </p:nvSpPr>
          <p:spPr>
            <a:xfrm flipV="1">
              <a:off x="4122" y="3960"/>
              <a:ext cx="0" cy="706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ysDot"/>
              <a:round/>
              <a:tailEnd type="arrow" w="med" len="med"/>
            </a:ln>
          </p:spPr>
        </p:sp>
        <p:sp>
          <p:nvSpPr>
            <p:cNvPr id="1049143" name="Text Box 22"/>
            <p:cNvSpPr txBox="1"/>
            <p:nvPr/>
          </p:nvSpPr>
          <p:spPr>
            <a:xfrm>
              <a:off x="5706" y="1944"/>
              <a:ext cx="1440" cy="57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Compilation/</a:t>
              </a:r>
              <a:endParaRPr lang="en-US" altLang="en-US" sz="10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Synthesis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44" name="Text Box 23"/>
            <p:cNvSpPr txBox="1"/>
            <p:nvPr/>
          </p:nvSpPr>
          <p:spPr>
            <a:xfrm>
              <a:off x="6714" y="1944"/>
              <a:ext cx="1440" cy="57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Libraries/</a:t>
              </a:r>
              <a:endParaRPr lang="en-US" altLang="en-US" sz="10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IP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45" name="Text Box 24"/>
            <p:cNvSpPr txBox="1"/>
            <p:nvPr/>
          </p:nvSpPr>
          <p:spPr>
            <a:xfrm>
              <a:off x="7794" y="1944"/>
              <a:ext cx="1440" cy="57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Test/</a:t>
              </a:r>
              <a:endParaRPr lang="en-US" altLang="en-US" sz="10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Verification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46" name="Text Box 25"/>
            <p:cNvSpPr txBox="1"/>
            <p:nvPr/>
          </p:nvSpPr>
          <p:spPr>
            <a:xfrm>
              <a:off x="5706" y="2520"/>
              <a:ext cx="1440" cy="57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System</a:t>
              </a:r>
              <a:endParaRPr lang="en-US" altLang="en-US" sz="10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synthesis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47" name="Text Box 26"/>
            <p:cNvSpPr txBox="1"/>
            <p:nvPr/>
          </p:nvSpPr>
          <p:spPr>
            <a:xfrm>
              <a:off x="5706" y="3428"/>
              <a:ext cx="1440" cy="57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Behavior</a:t>
              </a:r>
              <a:endParaRPr lang="en-US" altLang="en-US" sz="10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synthesis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48" name="Text Box 27"/>
            <p:cNvSpPr txBox="1"/>
            <p:nvPr/>
          </p:nvSpPr>
          <p:spPr>
            <a:xfrm>
              <a:off x="5706" y="4364"/>
              <a:ext cx="1440" cy="57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RT</a:t>
              </a:r>
              <a:endParaRPr lang="en-US" altLang="en-US" sz="10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synthesis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49" name="Text Box 28"/>
            <p:cNvSpPr txBox="1"/>
            <p:nvPr/>
          </p:nvSpPr>
          <p:spPr>
            <a:xfrm>
              <a:off x="5706" y="5286"/>
              <a:ext cx="1440" cy="57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Logic</a:t>
              </a:r>
              <a:endParaRPr lang="en-US" altLang="en-US" sz="10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synthesis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50" name="Text Box 29"/>
            <p:cNvSpPr txBox="1"/>
            <p:nvPr/>
          </p:nvSpPr>
          <p:spPr>
            <a:xfrm>
              <a:off x="6642" y="2520"/>
              <a:ext cx="1440" cy="57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Hw/Sw/</a:t>
              </a:r>
              <a:endParaRPr lang="en-US" altLang="en-US" sz="10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OS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51" name="Text Box 30"/>
            <p:cNvSpPr txBox="1"/>
            <p:nvPr/>
          </p:nvSpPr>
          <p:spPr>
            <a:xfrm>
              <a:off x="6642" y="3428"/>
              <a:ext cx="1440" cy="57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Cores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52" name="Text Box 31"/>
            <p:cNvSpPr txBox="1"/>
            <p:nvPr/>
          </p:nvSpPr>
          <p:spPr>
            <a:xfrm>
              <a:off x="6642" y="4364"/>
              <a:ext cx="1440" cy="57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RT</a:t>
              </a:r>
              <a:endParaRPr lang="en-US" altLang="en-US" sz="10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components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53" name="Text Box 32"/>
            <p:cNvSpPr txBox="1"/>
            <p:nvPr/>
          </p:nvSpPr>
          <p:spPr>
            <a:xfrm>
              <a:off x="6642" y="5286"/>
              <a:ext cx="1440" cy="57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Gates/</a:t>
              </a:r>
              <a:endParaRPr lang="en-US" altLang="en-US" sz="10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Cells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54" name="Text Box 33"/>
            <p:cNvSpPr txBox="1"/>
            <p:nvPr/>
          </p:nvSpPr>
          <p:spPr>
            <a:xfrm>
              <a:off x="7794" y="2520"/>
              <a:ext cx="1296" cy="57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Model simulat./</a:t>
              </a:r>
              <a:endParaRPr lang="en-US" altLang="en-US" sz="10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checkers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55" name="Text Box 34"/>
            <p:cNvSpPr txBox="1"/>
            <p:nvPr/>
          </p:nvSpPr>
          <p:spPr>
            <a:xfrm>
              <a:off x="7794" y="3428"/>
              <a:ext cx="1296" cy="57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Hw-Sw</a:t>
              </a:r>
              <a:endParaRPr lang="en-US" altLang="en-US" sz="10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cosimulators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56" name="Text Box 35"/>
            <p:cNvSpPr txBox="1"/>
            <p:nvPr/>
          </p:nvSpPr>
          <p:spPr>
            <a:xfrm>
              <a:off x="7794" y="4364"/>
              <a:ext cx="1296" cy="57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HDL simulators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57" name="Text Box 36"/>
            <p:cNvSpPr txBox="1"/>
            <p:nvPr/>
          </p:nvSpPr>
          <p:spPr>
            <a:xfrm>
              <a:off x="7794" y="5286"/>
              <a:ext cx="1296" cy="57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Gate</a:t>
              </a:r>
              <a:endParaRPr lang="en-US" altLang="en-US" sz="10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000">
                  <a:latin typeface="Times New Roman" panose="02020603050405020304" charset="0"/>
                </a:rPr>
                <a:t> simulators</a:t>
              </a:r>
              <a:endParaRPr lang="en-US" altLang="en-US" sz="1000">
                <a:latin typeface="Times New Roman" panose="02020603050405020304" charset="0"/>
              </a:endParaRPr>
            </a:p>
          </p:txBody>
        </p:sp>
        <p:sp>
          <p:nvSpPr>
            <p:cNvPr id="1049158" name="Line 37"/>
            <p:cNvSpPr/>
            <p:nvPr/>
          </p:nvSpPr>
          <p:spPr>
            <a:xfrm>
              <a:off x="6066" y="2520"/>
              <a:ext cx="3024" cy="0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59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 sz="3200"/>
              <a:t>Design Productivity Exponential Increase</a:t>
            </a:r>
            <a:endParaRPr lang="en-US" altLang="en-US" sz="3200"/>
          </a:p>
        </p:txBody>
      </p:sp>
      <p:sp>
        <p:nvSpPr>
          <p:cNvPr id="1049160" name="Rectangle 3"/>
          <p:cNvSpPr/>
          <p:nvPr>
            <p:ph type="body" idx="1"/>
          </p:nvPr>
        </p:nvSpPr>
        <p:spPr>
          <a:xfrm>
            <a:off x="304800" y="5437187"/>
            <a:ext cx="8534400" cy="111601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Exponential increase over the past few decades</a:t>
            </a:r>
            <a:endParaRPr lang="en-US" altLang="en-US"/>
          </a:p>
        </p:txBody>
      </p:sp>
      <p:sp>
        <p:nvSpPr>
          <p:cNvPr id="1049161" name="Freeform 4"/>
          <p:cNvSpPr/>
          <p:nvPr/>
        </p:nvSpPr>
        <p:spPr bwMode="auto">
          <a:xfrm>
            <a:off x="7104062" y="1662112"/>
            <a:ext cx="1587" cy="2743200"/>
          </a:xfrm>
          <a:custGeom>
            <a:avLst/>
            <a:gdLst/>
            <a:ahLst/>
            <a:cxnLst/>
            <a:rect l="0" t="0" r="r" b="b"/>
            <a:pathLst>
              <a:path w="1" h="1733">
                <a:moveTo>
                  <a:pt x="0" y="0"/>
                </a:moveTo>
                <a:lnTo>
                  <a:pt x="1" y="1733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62" name="Line 5"/>
          <p:cNvSpPr/>
          <p:nvPr/>
        </p:nvSpPr>
        <p:spPr>
          <a:xfrm>
            <a:off x="739775" y="1649412"/>
            <a:ext cx="0" cy="2755900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63" name="Freeform 6"/>
          <p:cNvSpPr/>
          <p:nvPr/>
        </p:nvSpPr>
        <p:spPr bwMode="auto">
          <a:xfrm>
            <a:off x="746125" y="1649412"/>
            <a:ext cx="6583362" cy="3175"/>
          </a:xfrm>
          <a:custGeom>
            <a:avLst/>
            <a:gdLst/>
            <a:ahLst/>
            <a:cxnLst/>
            <a:rect l="0" t="0" r="r" b="b"/>
            <a:pathLst>
              <a:path w="5250" h="1">
                <a:moveTo>
                  <a:pt x="0" y="0"/>
                </a:moveTo>
                <a:lnTo>
                  <a:pt x="5250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64" name="Freeform 7"/>
          <p:cNvSpPr/>
          <p:nvPr/>
        </p:nvSpPr>
        <p:spPr bwMode="auto">
          <a:xfrm>
            <a:off x="746125" y="2054225"/>
            <a:ext cx="6583362" cy="1587"/>
          </a:xfrm>
          <a:custGeom>
            <a:avLst/>
            <a:gdLst/>
            <a:ahLst/>
            <a:cxnLst/>
            <a:rect l="0" t="0" r="r" b="b"/>
            <a:pathLst>
              <a:path w="5250" h="1">
                <a:moveTo>
                  <a:pt x="0" y="0"/>
                </a:moveTo>
                <a:lnTo>
                  <a:pt x="5250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65" name="Freeform 8"/>
          <p:cNvSpPr/>
          <p:nvPr/>
        </p:nvSpPr>
        <p:spPr bwMode="auto">
          <a:xfrm>
            <a:off x="746125" y="2446337"/>
            <a:ext cx="6583362" cy="3175"/>
          </a:xfrm>
          <a:custGeom>
            <a:avLst/>
            <a:gdLst/>
            <a:ahLst/>
            <a:cxnLst/>
            <a:rect l="0" t="0" r="r" b="b"/>
            <a:pathLst>
              <a:path w="5250" h="2">
                <a:moveTo>
                  <a:pt x="0" y="0"/>
                </a:moveTo>
                <a:lnTo>
                  <a:pt x="5250" y="2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66" name="Freeform 9"/>
          <p:cNvSpPr/>
          <p:nvPr/>
        </p:nvSpPr>
        <p:spPr bwMode="auto">
          <a:xfrm>
            <a:off x="746125" y="3225800"/>
            <a:ext cx="6570662" cy="4762"/>
          </a:xfrm>
          <a:custGeom>
            <a:avLst/>
            <a:gdLst/>
            <a:ahLst/>
            <a:cxnLst/>
            <a:rect l="0" t="0" r="r" b="b"/>
            <a:pathLst>
              <a:path w="5240" h="3">
                <a:moveTo>
                  <a:pt x="0" y="3"/>
                </a:moveTo>
                <a:lnTo>
                  <a:pt x="5240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67" name="Freeform 10"/>
          <p:cNvSpPr/>
          <p:nvPr/>
        </p:nvSpPr>
        <p:spPr bwMode="auto">
          <a:xfrm>
            <a:off x="746125" y="4014787"/>
            <a:ext cx="6573837" cy="11112"/>
          </a:xfrm>
          <a:custGeom>
            <a:avLst/>
            <a:gdLst/>
            <a:ahLst/>
            <a:cxnLst/>
            <a:rect l="0" t="0" r="r" b="b"/>
            <a:pathLst>
              <a:path w="5243" h="7">
                <a:moveTo>
                  <a:pt x="0" y="7"/>
                </a:moveTo>
                <a:lnTo>
                  <a:pt x="5243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68" name="Freeform 11"/>
          <p:cNvSpPr/>
          <p:nvPr/>
        </p:nvSpPr>
        <p:spPr bwMode="auto">
          <a:xfrm>
            <a:off x="741362" y="4413250"/>
            <a:ext cx="6575425" cy="7937"/>
          </a:xfrm>
          <a:custGeom>
            <a:avLst/>
            <a:gdLst/>
            <a:ahLst/>
            <a:cxnLst/>
            <a:rect l="0" t="0" r="r" b="b"/>
            <a:pathLst>
              <a:path w="5244" h="5">
                <a:moveTo>
                  <a:pt x="0" y="5"/>
                </a:moveTo>
                <a:lnTo>
                  <a:pt x="5244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69" name="Freeform 12"/>
          <p:cNvSpPr/>
          <p:nvPr/>
        </p:nvSpPr>
        <p:spPr bwMode="auto">
          <a:xfrm>
            <a:off x="746125" y="3621087"/>
            <a:ext cx="6573837" cy="3175"/>
          </a:xfrm>
          <a:custGeom>
            <a:avLst/>
            <a:gdLst/>
            <a:ahLst/>
            <a:cxnLst/>
            <a:rect l="0" t="0" r="r" b="b"/>
            <a:pathLst>
              <a:path w="5243" h="1">
                <a:moveTo>
                  <a:pt x="0" y="0"/>
                </a:moveTo>
                <a:lnTo>
                  <a:pt x="5243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70" name="Freeform 13"/>
          <p:cNvSpPr/>
          <p:nvPr/>
        </p:nvSpPr>
        <p:spPr bwMode="auto">
          <a:xfrm>
            <a:off x="757237" y="2825750"/>
            <a:ext cx="6572250" cy="12700"/>
          </a:xfrm>
          <a:custGeom>
            <a:avLst/>
            <a:gdLst/>
            <a:ahLst/>
            <a:cxnLst/>
            <a:rect l="0" t="0" r="r" b="b"/>
            <a:pathLst>
              <a:path w="5242" h="7">
                <a:moveTo>
                  <a:pt x="0" y="7"/>
                </a:moveTo>
                <a:lnTo>
                  <a:pt x="5242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71" name="Text Box 14"/>
          <p:cNvSpPr txBox="1"/>
          <p:nvPr/>
        </p:nvSpPr>
        <p:spPr>
          <a:xfrm>
            <a:off x="7400925" y="1571625"/>
            <a:ext cx="673100" cy="29527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100,000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172" name="Text Box 15"/>
          <p:cNvSpPr txBox="1"/>
          <p:nvPr/>
        </p:nvSpPr>
        <p:spPr>
          <a:xfrm>
            <a:off x="7400925" y="1989137"/>
            <a:ext cx="565150" cy="2841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10,000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173" name="Text Box 16"/>
          <p:cNvSpPr txBox="1"/>
          <p:nvPr/>
        </p:nvSpPr>
        <p:spPr>
          <a:xfrm>
            <a:off x="7400925" y="2379662"/>
            <a:ext cx="455612" cy="2619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1,000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174" name="Text Box 17"/>
          <p:cNvSpPr txBox="1"/>
          <p:nvPr/>
        </p:nvSpPr>
        <p:spPr>
          <a:xfrm>
            <a:off x="7400925" y="2770187"/>
            <a:ext cx="306387" cy="27305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100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175" name="Text Box 18"/>
          <p:cNvSpPr txBox="1"/>
          <p:nvPr/>
        </p:nvSpPr>
        <p:spPr>
          <a:xfrm>
            <a:off x="7400925" y="3175000"/>
            <a:ext cx="209550" cy="2841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10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176" name="Text Box 19"/>
          <p:cNvSpPr txBox="1"/>
          <p:nvPr/>
        </p:nvSpPr>
        <p:spPr>
          <a:xfrm>
            <a:off x="7400925" y="3556000"/>
            <a:ext cx="179387" cy="27305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1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177" name="Text Box 20"/>
          <p:cNvSpPr txBox="1"/>
          <p:nvPr/>
        </p:nvSpPr>
        <p:spPr>
          <a:xfrm>
            <a:off x="7400925" y="3970337"/>
            <a:ext cx="279400" cy="2492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0.1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178" name="Text Box 21"/>
          <p:cNvSpPr txBox="1"/>
          <p:nvPr/>
        </p:nvSpPr>
        <p:spPr>
          <a:xfrm>
            <a:off x="7400925" y="4335462"/>
            <a:ext cx="369887" cy="2746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0.01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179" name="Line 22"/>
          <p:cNvSpPr/>
          <p:nvPr/>
        </p:nvSpPr>
        <p:spPr>
          <a:xfrm>
            <a:off x="739775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80" name="Line 23"/>
          <p:cNvSpPr/>
          <p:nvPr/>
        </p:nvSpPr>
        <p:spPr>
          <a:xfrm>
            <a:off x="958850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81" name="Line 24"/>
          <p:cNvSpPr/>
          <p:nvPr/>
        </p:nvSpPr>
        <p:spPr>
          <a:xfrm>
            <a:off x="1177925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82" name="Line 25"/>
          <p:cNvSpPr/>
          <p:nvPr/>
        </p:nvSpPr>
        <p:spPr>
          <a:xfrm>
            <a:off x="1397000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83" name="Line 26"/>
          <p:cNvSpPr/>
          <p:nvPr/>
        </p:nvSpPr>
        <p:spPr>
          <a:xfrm>
            <a:off x="1616075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84" name="Line 27"/>
          <p:cNvSpPr/>
          <p:nvPr/>
        </p:nvSpPr>
        <p:spPr>
          <a:xfrm>
            <a:off x="2057400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85" name="Line 28"/>
          <p:cNvSpPr/>
          <p:nvPr/>
        </p:nvSpPr>
        <p:spPr>
          <a:xfrm>
            <a:off x="2495550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86" name="Line 29"/>
          <p:cNvSpPr/>
          <p:nvPr/>
        </p:nvSpPr>
        <p:spPr>
          <a:xfrm>
            <a:off x="2714625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87" name="Line 30"/>
          <p:cNvSpPr/>
          <p:nvPr/>
        </p:nvSpPr>
        <p:spPr>
          <a:xfrm>
            <a:off x="3154362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88" name="Freeform 31"/>
          <p:cNvSpPr/>
          <p:nvPr/>
        </p:nvSpPr>
        <p:spPr bwMode="auto">
          <a:xfrm>
            <a:off x="3368675" y="4433887"/>
            <a:ext cx="6350" cy="217487"/>
          </a:xfrm>
          <a:custGeom>
            <a:avLst/>
            <a:gdLst/>
            <a:ahLst/>
            <a:cxnLst/>
            <a:rect l="0" t="0" r="r" b="b"/>
            <a:pathLst>
              <a:path w="5" h="137">
                <a:moveTo>
                  <a:pt x="5" y="0"/>
                </a:moveTo>
                <a:lnTo>
                  <a:pt x="0" y="137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89" name="Freeform 32"/>
          <p:cNvSpPr/>
          <p:nvPr/>
        </p:nvSpPr>
        <p:spPr bwMode="auto">
          <a:xfrm>
            <a:off x="3806825" y="4433887"/>
            <a:ext cx="6350" cy="217487"/>
          </a:xfrm>
          <a:custGeom>
            <a:avLst/>
            <a:gdLst/>
            <a:ahLst/>
            <a:cxnLst/>
            <a:rect l="0" t="0" r="r" b="b"/>
            <a:pathLst>
              <a:path w="5" h="137">
                <a:moveTo>
                  <a:pt x="5" y="0"/>
                </a:moveTo>
                <a:lnTo>
                  <a:pt x="0" y="137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90" name="Line 33"/>
          <p:cNvSpPr/>
          <p:nvPr/>
        </p:nvSpPr>
        <p:spPr>
          <a:xfrm>
            <a:off x="4033837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91" name="Line 34"/>
          <p:cNvSpPr/>
          <p:nvPr/>
        </p:nvSpPr>
        <p:spPr>
          <a:xfrm>
            <a:off x="4471987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92" name="Line 35"/>
          <p:cNvSpPr/>
          <p:nvPr/>
        </p:nvSpPr>
        <p:spPr>
          <a:xfrm>
            <a:off x="4692650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93" name="Line 36"/>
          <p:cNvSpPr/>
          <p:nvPr/>
        </p:nvSpPr>
        <p:spPr>
          <a:xfrm>
            <a:off x="5132387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94" name="Line 37"/>
          <p:cNvSpPr/>
          <p:nvPr/>
        </p:nvSpPr>
        <p:spPr>
          <a:xfrm>
            <a:off x="5351462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95" name="Line 38"/>
          <p:cNvSpPr/>
          <p:nvPr/>
        </p:nvSpPr>
        <p:spPr>
          <a:xfrm>
            <a:off x="5570537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96" name="Line 39"/>
          <p:cNvSpPr/>
          <p:nvPr/>
        </p:nvSpPr>
        <p:spPr>
          <a:xfrm>
            <a:off x="5789612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97" name="Line 40"/>
          <p:cNvSpPr/>
          <p:nvPr/>
        </p:nvSpPr>
        <p:spPr>
          <a:xfrm>
            <a:off x="6888162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98" name="Line 41"/>
          <p:cNvSpPr/>
          <p:nvPr/>
        </p:nvSpPr>
        <p:spPr>
          <a:xfrm>
            <a:off x="7108825" y="4422775"/>
            <a:ext cx="0" cy="212725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199" name="Line 42"/>
          <p:cNvSpPr/>
          <p:nvPr/>
        </p:nvSpPr>
        <p:spPr>
          <a:xfrm>
            <a:off x="6669087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00" name="Line 43"/>
          <p:cNvSpPr/>
          <p:nvPr/>
        </p:nvSpPr>
        <p:spPr>
          <a:xfrm>
            <a:off x="6448425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01" name="Line 44"/>
          <p:cNvSpPr/>
          <p:nvPr/>
        </p:nvSpPr>
        <p:spPr>
          <a:xfrm>
            <a:off x="6229350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02" name="Line 45"/>
          <p:cNvSpPr/>
          <p:nvPr/>
        </p:nvSpPr>
        <p:spPr>
          <a:xfrm>
            <a:off x="6010275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03" name="Line 46"/>
          <p:cNvSpPr/>
          <p:nvPr/>
        </p:nvSpPr>
        <p:spPr>
          <a:xfrm>
            <a:off x="1835150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04" name="Line 47"/>
          <p:cNvSpPr/>
          <p:nvPr/>
        </p:nvSpPr>
        <p:spPr>
          <a:xfrm>
            <a:off x="2276475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05" name="Line 48"/>
          <p:cNvSpPr/>
          <p:nvPr/>
        </p:nvSpPr>
        <p:spPr>
          <a:xfrm>
            <a:off x="2935287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06" name="Line 49"/>
          <p:cNvSpPr/>
          <p:nvPr/>
        </p:nvSpPr>
        <p:spPr>
          <a:xfrm>
            <a:off x="3594100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07" name="Freeform 50"/>
          <p:cNvSpPr/>
          <p:nvPr/>
        </p:nvSpPr>
        <p:spPr bwMode="auto">
          <a:xfrm>
            <a:off x="4246562" y="4433887"/>
            <a:ext cx="6350" cy="201612"/>
          </a:xfrm>
          <a:custGeom>
            <a:avLst/>
            <a:gdLst/>
            <a:ahLst/>
            <a:cxnLst/>
            <a:rect l="0" t="0" r="r" b="b"/>
            <a:pathLst>
              <a:path w="5" h="127">
                <a:moveTo>
                  <a:pt x="5" y="0"/>
                </a:moveTo>
                <a:lnTo>
                  <a:pt x="0" y="127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08" name="Line 51"/>
          <p:cNvSpPr/>
          <p:nvPr/>
        </p:nvSpPr>
        <p:spPr>
          <a:xfrm>
            <a:off x="4911725" y="4433887"/>
            <a:ext cx="0" cy="214312"/>
          </a:xfrm>
          <a:prstGeom prst="line">
            <a:avLst/>
          </a:pr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09" name="Text Box 52"/>
          <p:cNvSpPr txBox="1"/>
          <p:nvPr/>
        </p:nvSpPr>
        <p:spPr>
          <a:xfrm rot="16200000" flipH="1">
            <a:off x="989806" y="4495006"/>
            <a:ext cx="428625" cy="3762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1983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210" name="Rectangle 53"/>
          <p:cNvSpPr/>
          <p:nvPr/>
        </p:nvSpPr>
        <p:spPr>
          <a:xfrm rot="5443167" flipH="1" flipV="1">
            <a:off x="582612" y="4578350"/>
            <a:ext cx="552450" cy="34607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1981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211" name="Text Box 54"/>
          <p:cNvSpPr txBox="1"/>
          <p:nvPr/>
        </p:nvSpPr>
        <p:spPr>
          <a:xfrm rot="16200000" flipH="1">
            <a:off x="1871662" y="4495800"/>
            <a:ext cx="431800" cy="37782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1987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212" name="Text Box 55"/>
          <p:cNvSpPr txBox="1"/>
          <p:nvPr/>
        </p:nvSpPr>
        <p:spPr>
          <a:xfrm rot="16200000" flipH="1">
            <a:off x="2299494" y="4491830"/>
            <a:ext cx="414337" cy="381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1989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213" name="Text Box 56"/>
          <p:cNvSpPr txBox="1"/>
          <p:nvPr/>
        </p:nvSpPr>
        <p:spPr>
          <a:xfrm rot="16200000" flipH="1">
            <a:off x="2759075" y="4492624"/>
            <a:ext cx="414337" cy="3730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1991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214" name="Text Box 57"/>
          <p:cNvSpPr txBox="1"/>
          <p:nvPr/>
        </p:nvSpPr>
        <p:spPr>
          <a:xfrm rot="16200000" flipH="1">
            <a:off x="3182143" y="4491831"/>
            <a:ext cx="417512" cy="36512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1993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215" name="Text Box 58"/>
          <p:cNvSpPr txBox="1"/>
          <p:nvPr/>
        </p:nvSpPr>
        <p:spPr>
          <a:xfrm rot="16200000" flipH="1">
            <a:off x="1392237" y="4497387"/>
            <a:ext cx="444500" cy="3937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1985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216" name="Text Box 59"/>
          <p:cNvSpPr txBox="1"/>
          <p:nvPr/>
        </p:nvSpPr>
        <p:spPr>
          <a:xfrm rot="16200000" flipH="1">
            <a:off x="3650456" y="4485481"/>
            <a:ext cx="382587" cy="38417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1995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217" name="Text Box 60"/>
          <p:cNvSpPr txBox="1"/>
          <p:nvPr/>
        </p:nvSpPr>
        <p:spPr>
          <a:xfrm rot="16200000" flipH="1">
            <a:off x="4076699" y="4489450"/>
            <a:ext cx="398462" cy="38258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1997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218" name="Text Box 61"/>
          <p:cNvSpPr txBox="1"/>
          <p:nvPr/>
        </p:nvSpPr>
        <p:spPr>
          <a:xfrm rot="16200000" flipH="1">
            <a:off x="4506913" y="4492624"/>
            <a:ext cx="414337" cy="3857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1999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219" name="Text Box 62"/>
          <p:cNvSpPr txBox="1"/>
          <p:nvPr/>
        </p:nvSpPr>
        <p:spPr>
          <a:xfrm rot="16200000" flipH="1">
            <a:off x="4940300" y="4492625"/>
            <a:ext cx="414337" cy="3635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2001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220" name="Text Box 63"/>
          <p:cNvSpPr txBox="1"/>
          <p:nvPr/>
        </p:nvSpPr>
        <p:spPr>
          <a:xfrm rot="16200000" flipH="1">
            <a:off x="5371306" y="4495006"/>
            <a:ext cx="428625" cy="3730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2003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221" name="Text Box 64"/>
          <p:cNvSpPr txBox="1"/>
          <p:nvPr/>
        </p:nvSpPr>
        <p:spPr>
          <a:xfrm rot="16200000" flipH="1">
            <a:off x="5808662" y="4498975"/>
            <a:ext cx="447675" cy="37782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2005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222" name="Text Box 65"/>
          <p:cNvSpPr txBox="1"/>
          <p:nvPr/>
        </p:nvSpPr>
        <p:spPr>
          <a:xfrm rot="16200000" flipH="1">
            <a:off x="6281737" y="4486275"/>
            <a:ext cx="387350" cy="38735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2007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223" name="Text Box 66"/>
          <p:cNvSpPr txBox="1"/>
          <p:nvPr/>
        </p:nvSpPr>
        <p:spPr>
          <a:xfrm rot="16200000" flipH="1">
            <a:off x="6716712" y="4484688"/>
            <a:ext cx="379412" cy="4016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2009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224" name="Line 67"/>
          <p:cNvSpPr/>
          <p:nvPr/>
        </p:nvSpPr>
        <p:spPr>
          <a:xfrm flipV="1">
            <a:off x="741362" y="3103562"/>
            <a:ext cx="6367462" cy="974725"/>
          </a:xfrm>
          <a:prstGeom prst="line">
            <a:avLst/>
          </a:prstGeom>
          <a:noFill/>
          <a:ln w="2857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25" name="Text Box 68"/>
          <p:cNvSpPr txBox="1"/>
          <p:nvPr/>
        </p:nvSpPr>
        <p:spPr>
          <a:xfrm rot="16200000">
            <a:off x="7335838" y="2884487"/>
            <a:ext cx="1694953" cy="4064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Productivity</a:t>
            </a:r>
            <a:endParaRPr lang="en-US" altLang="en-US" sz="1400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(K) Trans./Staff – Mo.</a:t>
            </a:r>
            <a:endParaRPr lang="en-US" altLang="en-US" sz="140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226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Design Productivity Gap</a:t>
            </a:r>
            <a:endParaRPr lang="en-US" altLang="en-US"/>
          </a:p>
        </p:txBody>
      </p:sp>
      <p:sp>
        <p:nvSpPr>
          <p:cNvPr id="1049227" name="Rectangle 3"/>
          <p:cNvSpPr/>
          <p:nvPr>
            <p:ph type="body" idx="1"/>
          </p:nvPr>
        </p:nvSpPr>
        <p:spPr>
          <a:xfrm>
            <a:off x="304800" y="1066800"/>
            <a:ext cx="8534400" cy="14874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 sz="2600"/>
              <a:t>While designer productivity has grown at an impressive rate over the past decades, the rate of improvement has not kept pace with chip capacity</a:t>
            </a:r>
            <a:endParaRPr lang="en-US" altLang="en-US" sz="2600"/>
          </a:p>
        </p:txBody>
      </p:sp>
      <p:sp>
        <p:nvSpPr>
          <p:cNvPr id="1049228" name="Text Box 5"/>
          <p:cNvSpPr txBox="1"/>
          <p:nvPr/>
        </p:nvSpPr>
        <p:spPr>
          <a:xfrm>
            <a:off x="1658937" y="2971800"/>
            <a:ext cx="457200" cy="1825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10,000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29" name="Text Box 6"/>
          <p:cNvSpPr txBox="1"/>
          <p:nvPr/>
        </p:nvSpPr>
        <p:spPr>
          <a:xfrm>
            <a:off x="1658937" y="3248025"/>
            <a:ext cx="457200" cy="1825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1,000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30" name="Text Box 7"/>
          <p:cNvSpPr txBox="1"/>
          <p:nvPr/>
        </p:nvSpPr>
        <p:spPr>
          <a:xfrm>
            <a:off x="1658937" y="3517900"/>
            <a:ext cx="457200" cy="1825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100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31" name="Text Box 8"/>
          <p:cNvSpPr txBox="1"/>
          <p:nvPr/>
        </p:nvSpPr>
        <p:spPr>
          <a:xfrm>
            <a:off x="1658937" y="3781425"/>
            <a:ext cx="457200" cy="1825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10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32" name="Text Box 9"/>
          <p:cNvSpPr txBox="1"/>
          <p:nvPr/>
        </p:nvSpPr>
        <p:spPr>
          <a:xfrm>
            <a:off x="1658937" y="4060825"/>
            <a:ext cx="457200" cy="1825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33" name="Text Box 10"/>
          <p:cNvSpPr txBox="1"/>
          <p:nvPr/>
        </p:nvSpPr>
        <p:spPr>
          <a:xfrm>
            <a:off x="1658937" y="4319587"/>
            <a:ext cx="457200" cy="1825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0.1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34" name="Text Box 11"/>
          <p:cNvSpPr txBox="1"/>
          <p:nvPr/>
        </p:nvSpPr>
        <p:spPr>
          <a:xfrm>
            <a:off x="1658937" y="4611687"/>
            <a:ext cx="457200" cy="1825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0.01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35" name="Text Box 12"/>
          <p:cNvSpPr txBox="1"/>
          <p:nvPr/>
        </p:nvSpPr>
        <p:spPr>
          <a:xfrm>
            <a:off x="1658937" y="4884737"/>
            <a:ext cx="457200" cy="1825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0.001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36" name="Text Box 13"/>
          <p:cNvSpPr txBox="1"/>
          <p:nvPr/>
        </p:nvSpPr>
        <p:spPr>
          <a:xfrm>
            <a:off x="381000" y="3552825"/>
            <a:ext cx="1414462" cy="69215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Logic transistors per chip</a:t>
            </a:r>
            <a:endParaRPr lang="en-US" altLang="en-US" sz="1400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(in millions)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237" name="Text Box 14"/>
          <p:cNvSpPr txBox="1"/>
          <p:nvPr/>
        </p:nvSpPr>
        <p:spPr>
          <a:xfrm>
            <a:off x="6910387" y="2981325"/>
            <a:ext cx="736600" cy="1825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100,000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38" name="Text Box 15"/>
          <p:cNvSpPr txBox="1"/>
          <p:nvPr/>
        </p:nvSpPr>
        <p:spPr>
          <a:xfrm>
            <a:off x="6910387" y="3257550"/>
            <a:ext cx="736600" cy="1825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10,000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39" name="Text Box 16"/>
          <p:cNvSpPr txBox="1"/>
          <p:nvPr/>
        </p:nvSpPr>
        <p:spPr>
          <a:xfrm>
            <a:off x="6910387" y="3527425"/>
            <a:ext cx="736600" cy="1825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1000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40" name="Text Box 17"/>
          <p:cNvSpPr txBox="1"/>
          <p:nvPr/>
        </p:nvSpPr>
        <p:spPr>
          <a:xfrm>
            <a:off x="6910387" y="3790950"/>
            <a:ext cx="736600" cy="1825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100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41" name="Text Box 18"/>
          <p:cNvSpPr txBox="1"/>
          <p:nvPr/>
        </p:nvSpPr>
        <p:spPr>
          <a:xfrm>
            <a:off x="6910387" y="4070350"/>
            <a:ext cx="736600" cy="1825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10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42" name="Text Box 19"/>
          <p:cNvSpPr txBox="1"/>
          <p:nvPr/>
        </p:nvSpPr>
        <p:spPr>
          <a:xfrm>
            <a:off x="6910387" y="4329112"/>
            <a:ext cx="736600" cy="1825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43" name="Text Box 20"/>
          <p:cNvSpPr txBox="1"/>
          <p:nvPr/>
        </p:nvSpPr>
        <p:spPr>
          <a:xfrm>
            <a:off x="6910387" y="4621212"/>
            <a:ext cx="736600" cy="1825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0.1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44" name="Text Box 21"/>
          <p:cNvSpPr txBox="1"/>
          <p:nvPr/>
        </p:nvSpPr>
        <p:spPr>
          <a:xfrm>
            <a:off x="6910387" y="4894262"/>
            <a:ext cx="736600" cy="18256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0.01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45" name="Text Box 22"/>
          <p:cNvSpPr txBox="1"/>
          <p:nvPr/>
        </p:nvSpPr>
        <p:spPr>
          <a:xfrm>
            <a:off x="7219950" y="3740150"/>
            <a:ext cx="1706562" cy="69215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Productivity</a:t>
            </a:r>
            <a:endParaRPr lang="en-US" altLang="en-US" sz="1400">
              <a:latin typeface="Times New Roman" panose="02020603050405020304" charset="0"/>
            </a:endParaRPr>
          </a:p>
          <a:p>
            <a:pPr marL="0" lvl="0" indent="0" algn="ctr">
              <a:spcBef>
                <a:spcPct val="0"/>
              </a:spcBef>
              <a:buSzPct val="100000"/>
              <a:buFontTx/>
              <a:buNone/>
            </a:pPr>
            <a:r>
              <a:rPr lang="en-US" altLang="en-US" sz="1400">
                <a:latin typeface="Times New Roman" panose="02020603050405020304" charset="0"/>
              </a:rPr>
              <a:t>(K) Trans./Staff-Mo.</a:t>
            </a:r>
            <a:endParaRPr lang="en-US" altLang="en-US" sz="1400">
              <a:latin typeface="Times New Roman" panose="02020603050405020304" charset="0"/>
            </a:endParaRPr>
          </a:p>
        </p:txBody>
      </p:sp>
      <p:sp>
        <p:nvSpPr>
          <p:cNvPr id="1049246" name="Freeform 23"/>
          <p:cNvSpPr/>
          <p:nvPr/>
        </p:nvSpPr>
        <p:spPr bwMode="auto">
          <a:xfrm>
            <a:off x="2224087" y="3041650"/>
            <a:ext cx="4570412" cy="1587"/>
          </a:xfrm>
          <a:custGeom>
            <a:avLst/>
            <a:gdLst/>
            <a:ahLst/>
            <a:cxnLst/>
            <a:rect l="0" t="0" r="r" b="b"/>
            <a:pathLst>
              <a:path w="5250" h="1">
                <a:moveTo>
                  <a:pt x="0" y="0"/>
                </a:moveTo>
                <a:lnTo>
                  <a:pt x="5250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47" name="Freeform 24"/>
          <p:cNvSpPr/>
          <p:nvPr/>
        </p:nvSpPr>
        <p:spPr bwMode="auto">
          <a:xfrm>
            <a:off x="2224087" y="3319462"/>
            <a:ext cx="4570412" cy="1587"/>
          </a:xfrm>
          <a:custGeom>
            <a:avLst/>
            <a:gdLst/>
            <a:ahLst/>
            <a:cxnLst/>
            <a:rect l="0" t="0" r="r" b="b"/>
            <a:pathLst>
              <a:path w="5250" h="1">
                <a:moveTo>
                  <a:pt x="0" y="0"/>
                </a:moveTo>
                <a:lnTo>
                  <a:pt x="5250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48" name="Freeform 25"/>
          <p:cNvSpPr/>
          <p:nvPr/>
        </p:nvSpPr>
        <p:spPr bwMode="auto">
          <a:xfrm>
            <a:off x="2224087" y="3597275"/>
            <a:ext cx="4570412" cy="1587"/>
          </a:xfrm>
          <a:custGeom>
            <a:avLst/>
            <a:gdLst/>
            <a:ahLst/>
            <a:cxnLst/>
            <a:rect l="0" t="0" r="r" b="b"/>
            <a:pathLst>
              <a:path w="5250" h="1">
                <a:moveTo>
                  <a:pt x="0" y="0"/>
                </a:moveTo>
                <a:lnTo>
                  <a:pt x="5250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49" name="Freeform 26"/>
          <p:cNvSpPr/>
          <p:nvPr/>
        </p:nvSpPr>
        <p:spPr bwMode="auto">
          <a:xfrm>
            <a:off x="2224087" y="3876675"/>
            <a:ext cx="4570412" cy="1587"/>
          </a:xfrm>
          <a:custGeom>
            <a:avLst/>
            <a:gdLst/>
            <a:ahLst/>
            <a:cxnLst/>
            <a:rect l="0" t="0" r="r" b="b"/>
            <a:pathLst>
              <a:path w="5250" h="1">
                <a:moveTo>
                  <a:pt x="0" y="0"/>
                </a:moveTo>
                <a:lnTo>
                  <a:pt x="5250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50" name="Freeform 27"/>
          <p:cNvSpPr/>
          <p:nvPr/>
        </p:nvSpPr>
        <p:spPr bwMode="auto">
          <a:xfrm>
            <a:off x="2224087" y="4154487"/>
            <a:ext cx="4570412" cy="1587"/>
          </a:xfrm>
          <a:custGeom>
            <a:avLst/>
            <a:gdLst/>
            <a:ahLst/>
            <a:cxnLst/>
            <a:rect l="0" t="0" r="r" b="b"/>
            <a:pathLst>
              <a:path w="5250" h="1">
                <a:moveTo>
                  <a:pt x="0" y="0"/>
                </a:moveTo>
                <a:lnTo>
                  <a:pt x="5250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51" name="Freeform 28"/>
          <p:cNvSpPr/>
          <p:nvPr/>
        </p:nvSpPr>
        <p:spPr bwMode="auto">
          <a:xfrm>
            <a:off x="2224087" y="4433887"/>
            <a:ext cx="4570412" cy="1587"/>
          </a:xfrm>
          <a:custGeom>
            <a:avLst/>
            <a:gdLst/>
            <a:ahLst/>
            <a:cxnLst/>
            <a:rect l="0" t="0" r="r" b="b"/>
            <a:pathLst>
              <a:path w="5250" h="1">
                <a:moveTo>
                  <a:pt x="0" y="0"/>
                </a:moveTo>
                <a:lnTo>
                  <a:pt x="5250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52" name="Freeform 29"/>
          <p:cNvSpPr/>
          <p:nvPr/>
        </p:nvSpPr>
        <p:spPr bwMode="auto">
          <a:xfrm>
            <a:off x="2224087" y="4711700"/>
            <a:ext cx="4570412" cy="1587"/>
          </a:xfrm>
          <a:custGeom>
            <a:avLst/>
            <a:gdLst/>
            <a:ahLst/>
            <a:cxnLst/>
            <a:rect l="0" t="0" r="r" b="b"/>
            <a:pathLst>
              <a:path w="5250" h="1">
                <a:moveTo>
                  <a:pt x="0" y="0"/>
                </a:moveTo>
                <a:lnTo>
                  <a:pt x="5250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53" name="Freeform 30"/>
          <p:cNvSpPr/>
          <p:nvPr/>
        </p:nvSpPr>
        <p:spPr bwMode="auto">
          <a:xfrm>
            <a:off x="2224087" y="4991100"/>
            <a:ext cx="4570412" cy="1587"/>
          </a:xfrm>
          <a:custGeom>
            <a:avLst/>
            <a:gdLst/>
            <a:ahLst/>
            <a:cxnLst/>
            <a:rect l="0" t="0" r="r" b="b"/>
            <a:pathLst>
              <a:path w="5250" h="1">
                <a:moveTo>
                  <a:pt x="0" y="0"/>
                </a:moveTo>
                <a:lnTo>
                  <a:pt x="5250" y="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54" name="Freeform 31"/>
          <p:cNvSpPr/>
          <p:nvPr/>
        </p:nvSpPr>
        <p:spPr bwMode="auto">
          <a:xfrm>
            <a:off x="2219325" y="3041650"/>
            <a:ext cx="3175" cy="1951037"/>
          </a:xfrm>
          <a:custGeom>
            <a:avLst/>
            <a:gdLst/>
            <a:ahLst/>
            <a:cxnLst/>
            <a:rect l="0" t="0" r="r" b="b"/>
            <a:pathLst>
              <a:path w="2" h="1229">
                <a:moveTo>
                  <a:pt x="0" y="0"/>
                </a:moveTo>
                <a:lnTo>
                  <a:pt x="2" y="1229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55" name="Freeform 32"/>
          <p:cNvSpPr/>
          <p:nvPr/>
        </p:nvSpPr>
        <p:spPr bwMode="auto">
          <a:xfrm>
            <a:off x="6797675" y="3041650"/>
            <a:ext cx="3175" cy="1951037"/>
          </a:xfrm>
          <a:custGeom>
            <a:avLst/>
            <a:gdLst/>
            <a:ahLst/>
            <a:cxnLst/>
            <a:rect l="0" t="0" r="r" b="b"/>
            <a:pathLst>
              <a:path w="2" h="1229">
                <a:moveTo>
                  <a:pt x="0" y="0"/>
                </a:moveTo>
                <a:lnTo>
                  <a:pt x="2" y="1229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56" name="Freeform 33"/>
          <p:cNvSpPr/>
          <p:nvPr/>
        </p:nvSpPr>
        <p:spPr bwMode="auto">
          <a:xfrm>
            <a:off x="2222500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57" name="Freeform 34"/>
          <p:cNvSpPr/>
          <p:nvPr/>
        </p:nvSpPr>
        <p:spPr bwMode="auto">
          <a:xfrm>
            <a:off x="2379662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58" name="Freeform 35"/>
          <p:cNvSpPr/>
          <p:nvPr/>
        </p:nvSpPr>
        <p:spPr bwMode="auto">
          <a:xfrm>
            <a:off x="2536825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59" name="Freeform 36"/>
          <p:cNvSpPr/>
          <p:nvPr/>
        </p:nvSpPr>
        <p:spPr bwMode="auto">
          <a:xfrm>
            <a:off x="2695575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60" name="Freeform 37"/>
          <p:cNvSpPr/>
          <p:nvPr/>
        </p:nvSpPr>
        <p:spPr bwMode="auto">
          <a:xfrm>
            <a:off x="2852737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61" name="Freeform 38"/>
          <p:cNvSpPr/>
          <p:nvPr/>
        </p:nvSpPr>
        <p:spPr bwMode="auto">
          <a:xfrm>
            <a:off x="3011487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62" name="Freeform 39"/>
          <p:cNvSpPr/>
          <p:nvPr/>
        </p:nvSpPr>
        <p:spPr bwMode="auto">
          <a:xfrm>
            <a:off x="3168650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63" name="Freeform 40"/>
          <p:cNvSpPr/>
          <p:nvPr/>
        </p:nvSpPr>
        <p:spPr bwMode="auto">
          <a:xfrm>
            <a:off x="3327400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64" name="Freeform 41"/>
          <p:cNvSpPr/>
          <p:nvPr/>
        </p:nvSpPr>
        <p:spPr bwMode="auto">
          <a:xfrm>
            <a:off x="3484562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65" name="Freeform 42"/>
          <p:cNvSpPr/>
          <p:nvPr/>
        </p:nvSpPr>
        <p:spPr bwMode="auto">
          <a:xfrm>
            <a:off x="3643312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66" name="Freeform 43"/>
          <p:cNvSpPr/>
          <p:nvPr/>
        </p:nvSpPr>
        <p:spPr bwMode="auto">
          <a:xfrm>
            <a:off x="3800475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67" name="Freeform 44"/>
          <p:cNvSpPr/>
          <p:nvPr/>
        </p:nvSpPr>
        <p:spPr bwMode="auto">
          <a:xfrm>
            <a:off x="3957637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68" name="Freeform 45"/>
          <p:cNvSpPr/>
          <p:nvPr/>
        </p:nvSpPr>
        <p:spPr bwMode="auto">
          <a:xfrm>
            <a:off x="4116387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69" name="Freeform 46"/>
          <p:cNvSpPr/>
          <p:nvPr/>
        </p:nvSpPr>
        <p:spPr bwMode="auto">
          <a:xfrm>
            <a:off x="4273550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70" name="Freeform 47"/>
          <p:cNvSpPr/>
          <p:nvPr/>
        </p:nvSpPr>
        <p:spPr bwMode="auto">
          <a:xfrm>
            <a:off x="4432300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71" name="Freeform 48"/>
          <p:cNvSpPr/>
          <p:nvPr/>
        </p:nvSpPr>
        <p:spPr bwMode="auto">
          <a:xfrm>
            <a:off x="4589462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72" name="Freeform 49"/>
          <p:cNvSpPr/>
          <p:nvPr/>
        </p:nvSpPr>
        <p:spPr bwMode="auto">
          <a:xfrm>
            <a:off x="4748212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73" name="Freeform 50"/>
          <p:cNvSpPr/>
          <p:nvPr/>
        </p:nvSpPr>
        <p:spPr bwMode="auto">
          <a:xfrm>
            <a:off x="4905375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74" name="Freeform 51"/>
          <p:cNvSpPr/>
          <p:nvPr/>
        </p:nvSpPr>
        <p:spPr bwMode="auto">
          <a:xfrm>
            <a:off x="5064125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75" name="Freeform 52"/>
          <p:cNvSpPr/>
          <p:nvPr/>
        </p:nvSpPr>
        <p:spPr bwMode="auto">
          <a:xfrm>
            <a:off x="5221287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76" name="Freeform 53"/>
          <p:cNvSpPr/>
          <p:nvPr/>
        </p:nvSpPr>
        <p:spPr bwMode="auto">
          <a:xfrm>
            <a:off x="5378450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77" name="Freeform 54"/>
          <p:cNvSpPr/>
          <p:nvPr/>
        </p:nvSpPr>
        <p:spPr bwMode="auto">
          <a:xfrm>
            <a:off x="5537200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78" name="Freeform 55"/>
          <p:cNvSpPr/>
          <p:nvPr/>
        </p:nvSpPr>
        <p:spPr bwMode="auto">
          <a:xfrm>
            <a:off x="5694362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79" name="Freeform 56"/>
          <p:cNvSpPr/>
          <p:nvPr/>
        </p:nvSpPr>
        <p:spPr bwMode="auto">
          <a:xfrm>
            <a:off x="5853112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80" name="Freeform 57"/>
          <p:cNvSpPr/>
          <p:nvPr/>
        </p:nvSpPr>
        <p:spPr bwMode="auto">
          <a:xfrm>
            <a:off x="6010275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81" name="Freeform 58"/>
          <p:cNvSpPr/>
          <p:nvPr/>
        </p:nvSpPr>
        <p:spPr bwMode="auto">
          <a:xfrm>
            <a:off x="6169025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82" name="Freeform 59"/>
          <p:cNvSpPr/>
          <p:nvPr/>
        </p:nvSpPr>
        <p:spPr bwMode="auto">
          <a:xfrm>
            <a:off x="6326187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83" name="Freeform 60"/>
          <p:cNvSpPr/>
          <p:nvPr/>
        </p:nvSpPr>
        <p:spPr bwMode="auto">
          <a:xfrm>
            <a:off x="6484937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84" name="Freeform 61"/>
          <p:cNvSpPr/>
          <p:nvPr/>
        </p:nvSpPr>
        <p:spPr bwMode="auto">
          <a:xfrm>
            <a:off x="6642100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85" name="Freeform 62"/>
          <p:cNvSpPr/>
          <p:nvPr/>
        </p:nvSpPr>
        <p:spPr bwMode="auto">
          <a:xfrm>
            <a:off x="6800850" y="4999037"/>
            <a:ext cx="3175" cy="158750"/>
          </a:xfrm>
          <a:custGeom>
            <a:avLst/>
            <a:gdLst/>
            <a:ahLst/>
            <a:cxnLst/>
            <a:rect l="0" t="0" r="r" b="b"/>
            <a:pathLst>
              <a:path w="2" h="100">
                <a:moveTo>
                  <a:pt x="2" y="0"/>
                </a:moveTo>
                <a:lnTo>
                  <a:pt x="0" y="100"/>
                </a:lnTo>
              </a:path>
            </a:pathLst>
          </a:custGeom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286" name="Rectangle 63"/>
          <p:cNvSpPr/>
          <p:nvPr/>
        </p:nvSpPr>
        <p:spPr>
          <a:xfrm rot="16243167">
            <a:off x="2022474" y="5326063"/>
            <a:ext cx="411162" cy="1984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1981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87" name="Rectangle 64"/>
          <p:cNvSpPr/>
          <p:nvPr/>
        </p:nvSpPr>
        <p:spPr>
          <a:xfrm rot="16243167">
            <a:off x="2336799" y="5326063"/>
            <a:ext cx="411162" cy="1984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1983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88" name="Rectangle 65"/>
          <p:cNvSpPr/>
          <p:nvPr/>
        </p:nvSpPr>
        <p:spPr>
          <a:xfrm rot="16243167">
            <a:off x="2652712" y="5326063"/>
            <a:ext cx="411162" cy="1984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1985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89" name="Rectangle 66"/>
          <p:cNvSpPr/>
          <p:nvPr/>
        </p:nvSpPr>
        <p:spPr>
          <a:xfrm rot="16243167">
            <a:off x="2967037" y="5326063"/>
            <a:ext cx="411162" cy="1984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1987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90" name="Rectangle 67"/>
          <p:cNvSpPr/>
          <p:nvPr/>
        </p:nvSpPr>
        <p:spPr>
          <a:xfrm rot="16243167">
            <a:off x="3282949" y="5326063"/>
            <a:ext cx="411162" cy="1984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1989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91" name="Rectangle 68"/>
          <p:cNvSpPr/>
          <p:nvPr/>
        </p:nvSpPr>
        <p:spPr>
          <a:xfrm rot="16243167">
            <a:off x="3597274" y="5326063"/>
            <a:ext cx="411162" cy="1984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1991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92" name="Rectangle 69"/>
          <p:cNvSpPr/>
          <p:nvPr/>
        </p:nvSpPr>
        <p:spPr>
          <a:xfrm rot="16243167">
            <a:off x="3913187" y="5326063"/>
            <a:ext cx="411162" cy="1984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1993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93" name="Rectangle 70"/>
          <p:cNvSpPr/>
          <p:nvPr/>
        </p:nvSpPr>
        <p:spPr>
          <a:xfrm rot="16243167">
            <a:off x="4229099" y="5326063"/>
            <a:ext cx="411162" cy="1984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1995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94" name="Rectangle 71"/>
          <p:cNvSpPr/>
          <p:nvPr/>
        </p:nvSpPr>
        <p:spPr>
          <a:xfrm rot="16243167">
            <a:off x="4543424" y="5326063"/>
            <a:ext cx="411162" cy="1984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1997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95" name="Rectangle 72"/>
          <p:cNvSpPr/>
          <p:nvPr/>
        </p:nvSpPr>
        <p:spPr>
          <a:xfrm rot="16243167">
            <a:off x="4859337" y="5326063"/>
            <a:ext cx="411162" cy="1984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1999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96" name="Rectangle 73"/>
          <p:cNvSpPr/>
          <p:nvPr/>
        </p:nvSpPr>
        <p:spPr>
          <a:xfrm rot="16243167">
            <a:off x="5173662" y="5326063"/>
            <a:ext cx="411162" cy="1984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2001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97" name="Rectangle 74"/>
          <p:cNvSpPr/>
          <p:nvPr/>
        </p:nvSpPr>
        <p:spPr>
          <a:xfrm rot="16243167">
            <a:off x="5489574" y="5326063"/>
            <a:ext cx="411162" cy="1984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2003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98" name="Rectangle 75"/>
          <p:cNvSpPr/>
          <p:nvPr/>
        </p:nvSpPr>
        <p:spPr>
          <a:xfrm rot="16243167">
            <a:off x="5803899" y="5326063"/>
            <a:ext cx="411162" cy="1984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2005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299" name="Rectangle 76"/>
          <p:cNvSpPr/>
          <p:nvPr/>
        </p:nvSpPr>
        <p:spPr>
          <a:xfrm rot="16243167">
            <a:off x="6119812" y="5326063"/>
            <a:ext cx="411162" cy="1984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2007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300" name="Rectangle 77"/>
          <p:cNvSpPr/>
          <p:nvPr/>
        </p:nvSpPr>
        <p:spPr>
          <a:xfrm rot="16243167">
            <a:off x="6435724" y="5326063"/>
            <a:ext cx="411162" cy="1984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r">
              <a:spcBef>
                <a:spcPct val="0"/>
              </a:spcBef>
              <a:buSzPct val="100000"/>
              <a:buFontTx/>
              <a:buNone/>
            </a:pPr>
            <a:r>
              <a:rPr lang="en-US" altLang="en-US" sz="1200">
                <a:latin typeface="Times New Roman" panose="02020603050405020304" charset="0"/>
              </a:rPr>
              <a:t>2009</a:t>
            </a:r>
            <a:endParaRPr lang="en-US" altLang="en-US" sz="1200">
              <a:latin typeface="Times New Roman" panose="02020603050405020304" charset="0"/>
            </a:endParaRPr>
          </a:p>
        </p:txBody>
      </p:sp>
      <p:sp>
        <p:nvSpPr>
          <p:cNvPr id="1049301" name="Freeform 78"/>
          <p:cNvSpPr/>
          <p:nvPr/>
        </p:nvSpPr>
        <p:spPr bwMode="auto">
          <a:xfrm>
            <a:off x="2235200" y="4094162"/>
            <a:ext cx="4559300" cy="685800"/>
          </a:xfrm>
          <a:custGeom>
            <a:avLst/>
            <a:gdLst/>
            <a:ahLst/>
            <a:cxnLst/>
            <a:rect l="0" t="0" r="r" b="b"/>
            <a:pathLst>
              <a:path w="2872" h="432">
                <a:moveTo>
                  <a:pt x="0" y="432"/>
                </a:moveTo>
                <a:lnTo>
                  <a:pt x="2872" y="0"/>
                </a:lnTo>
              </a:path>
            </a:pathLst>
          </a:cu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302" name="Line 79"/>
          <p:cNvSpPr/>
          <p:nvPr/>
        </p:nvSpPr>
        <p:spPr>
          <a:xfrm flipV="1">
            <a:off x="2209800" y="3167062"/>
            <a:ext cx="4584700" cy="1600200"/>
          </a:xfrm>
          <a:prstGeom prst="line">
            <a:avLst/>
          </a:prstGeom>
          <a:noFill/>
          <a:ln w="1905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sp>
      <p:sp>
        <p:nvSpPr>
          <p:cNvPr id="1049303" name="Text Box 80"/>
          <p:cNvSpPr txBox="1"/>
          <p:nvPr/>
        </p:nvSpPr>
        <p:spPr>
          <a:xfrm>
            <a:off x="3303587" y="3887787"/>
            <a:ext cx="895350" cy="1984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50000"/>
              </a:spcBef>
              <a:buSzPct val="100000"/>
              <a:buFontTx/>
              <a:buNone/>
            </a:pPr>
            <a:r>
              <a:rPr lang="en-US" altLang="en-US" sz="1300">
                <a:latin typeface="Times New Roman" panose="02020603050405020304" charset="0"/>
              </a:rPr>
              <a:t>IC capacity</a:t>
            </a:r>
            <a:endParaRPr lang="en-US" altLang="en-US" sz="1300">
              <a:latin typeface="Times New Roman" panose="02020603050405020304" charset="0"/>
            </a:endParaRPr>
          </a:p>
        </p:txBody>
      </p:sp>
      <p:sp>
        <p:nvSpPr>
          <p:cNvPr id="1049304" name="Text Box 81"/>
          <p:cNvSpPr txBox="1"/>
          <p:nvPr/>
        </p:nvSpPr>
        <p:spPr>
          <a:xfrm>
            <a:off x="4484687" y="4484687"/>
            <a:ext cx="895350" cy="1984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50000"/>
              </a:spcBef>
              <a:buSzPct val="100000"/>
              <a:buFontTx/>
              <a:buNone/>
            </a:pPr>
            <a:r>
              <a:rPr lang="en-US" altLang="en-US" sz="1300">
                <a:latin typeface="Times New Roman" panose="02020603050405020304" charset="0"/>
              </a:rPr>
              <a:t>productivity</a:t>
            </a:r>
            <a:endParaRPr lang="en-US" altLang="en-US" sz="1300">
              <a:latin typeface="Times New Roman" panose="02020603050405020304" charset="0"/>
            </a:endParaRPr>
          </a:p>
        </p:txBody>
      </p:sp>
      <p:sp>
        <p:nvSpPr>
          <p:cNvPr id="1049305" name="AutoShape 82"/>
          <p:cNvSpPr/>
          <p:nvPr/>
        </p:nvSpPr>
        <p:spPr>
          <a:xfrm>
            <a:off x="5842000" y="3497262"/>
            <a:ext cx="330200" cy="711200"/>
          </a:xfrm>
          <a:prstGeom prst="rightBrace">
            <a:avLst/>
          </a:prstGeom>
          <a:noFill/>
          <a:ln w="222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vert="horz" wrap="none" lIns="0" tIns="0" rIns="0" bIns="0" anchor="ctr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1800">
              <a:solidFill>
                <a:schemeClr val="dk1"/>
              </a:solidFill>
            </a:endParaRPr>
          </a:p>
        </p:txBody>
      </p:sp>
      <p:sp>
        <p:nvSpPr>
          <p:cNvPr id="1049306" name="Text Box 83"/>
          <p:cNvSpPr txBox="1"/>
          <p:nvPr/>
        </p:nvSpPr>
        <p:spPr>
          <a:xfrm>
            <a:off x="6211887" y="3697287"/>
            <a:ext cx="361950" cy="1984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 algn="ctr">
              <a:spcBef>
                <a:spcPct val="50000"/>
              </a:spcBef>
              <a:buSzPct val="100000"/>
              <a:buFontTx/>
              <a:buNone/>
            </a:pPr>
            <a:r>
              <a:rPr lang="en-US" altLang="en-US" sz="1300" b="1">
                <a:latin typeface="Times New Roman" panose="02020603050405020304" charset="0"/>
              </a:rPr>
              <a:t>Gap</a:t>
            </a:r>
            <a:endParaRPr lang="en-US" altLang="en-US" sz="1300" b="1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307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Design Productivity Gap (cont.)</a:t>
            </a:r>
            <a:endParaRPr lang="en-US" altLang="en-US"/>
          </a:p>
        </p:txBody>
      </p:sp>
      <p:sp>
        <p:nvSpPr>
          <p:cNvPr id="1049308" name="Rectangle 3"/>
          <p:cNvSpPr/>
          <p:nvPr>
            <p:ph type="body" idx="1"/>
          </p:nvPr>
        </p:nvSpPr>
        <p:spPr>
          <a:xfrm>
            <a:off x="304800" y="1066800"/>
            <a:ext cx="8534400" cy="241776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>
              <a:lnSpc>
                <a:spcPct val="90000"/>
              </a:lnSpc>
            </a:pPr>
            <a:r>
              <a:rPr lang="en-US" altLang="en-US" sz="2600"/>
              <a:t>1981 leading edge chip required 100 designer months</a:t>
            </a:r>
            <a:endParaRPr lang="en-US" altLang="en-US" sz="260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10,000 transistors  /  100 transistors/month</a:t>
            </a:r>
            <a:endParaRPr lang="en-US" altLang="en-US" sz="2400"/>
          </a:p>
          <a:p>
            <a:pPr lvl="0" eaLnBrk="1" hangingPunct="1">
              <a:lnSpc>
                <a:spcPct val="90000"/>
              </a:lnSpc>
            </a:pPr>
            <a:r>
              <a:rPr lang="en-US" altLang="en-US" sz="2600"/>
              <a:t>2002 leading edge chip requires 30,000 designer months</a:t>
            </a:r>
            <a:endParaRPr lang="en-US" altLang="en-US" sz="260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150,000,000  /  5000 transistors/month</a:t>
            </a:r>
            <a:endParaRPr lang="en-US" altLang="en-US" sz="2400"/>
          </a:p>
          <a:p>
            <a:pPr lvl="0" eaLnBrk="1" hangingPunct="1">
              <a:lnSpc>
                <a:spcPct val="90000"/>
              </a:lnSpc>
            </a:pPr>
            <a:r>
              <a:rPr lang="en-US" altLang="en-US" sz="2600"/>
              <a:t>Designer cost increase from $1M to $300M</a:t>
            </a:r>
            <a:endParaRPr lang="en-US" altLang="en-US" sz="2600"/>
          </a:p>
        </p:txBody>
      </p:sp>
      <p:grpSp>
        <p:nvGrpSpPr>
          <p:cNvPr id="156" name="Group 155"/>
          <p:cNvGrpSpPr/>
          <p:nvPr/>
        </p:nvGrpSpPr>
        <p:grpSpPr>
          <a:xfrm rot="0">
            <a:off x="381000" y="3657600"/>
            <a:ext cx="8545512" cy="2278062"/>
            <a:chOff x="224" y="2045"/>
            <a:chExt cx="5383" cy="1675"/>
          </a:xfrm>
        </p:grpSpPr>
        <p:sp>
          <p:nvSpPr>
            <p:cNvPr id="1049309" name="Text Box 5"/>
            <p:cNvSpPr txBox="1"/>
            <p:nvPr/>
          </p:nvSpPr>
          <p:spPr>
            <a:xfrm>
              <a:off x="1029" y="2045"/>
              <a:ext cx="288" cy="1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10,000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10" name="Text Box 6"/>
            <p:cNvSpPr txBox="1"/>
            <p:nvPr/>
          </p:nvSpPr>
          <p:spPr>
            <a:xfrm>
              <a:off x="1029" y="2219"/>
              <a:ext cx="288" cy="1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1,000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11" name="Text Box 7"/>
            <p:cNvSpPr txBox="1"/>
            <p:nvPr/>
          </p:nvSpPr>
          <p:spPr>
            <a:xfrm>
              <a:off x="1029" y="2389"/>
              <a:ext cx="288" cy="1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100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12" name="Text Box 8"/>
            <p:cNvSpPr txBox="1"/>
            <p:nvPr/>
          </p:nvSpPr>
          <p:spPr>
            <a:xfrm>
              <a:off x="1029" y="2555"/>
              <a:ext cx="288" cy="1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10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13" name="Text Box 9"/>
            <p:cNvSpPr txBox="1"/>
            <p:nvPr/>
          </p:nvSpPr>
          <p:spPr>
            <a:xfrm>
              <a:off x="1029" y="2731"/>
              <a:ext cx="288" cy="1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14" name="Text Box 10"/>
            <p:cNvSpPr txBox="1"/>
            <p:nvPr/>
          </p:nvSpPr>
          <p:spPr>
            <a:xfrm>
              <a:off x="1029" y="2894"/>
              <a:ext cx="288" cy="1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0.1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15" name="Text Box 11"/>
            <p:cNvSpPr txBox="1"/>
            <p:nvPr/>
          </p:nvSpPr>
          <p:spPr>
            <a:xfrm>
              <a:off x="1029" y="3078"/>
              <a:ext cx="288" cy="1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0.01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16" name="Text Box 12"/>
            <p:cNvSpPr txBox="1"/>
            <p:nvPr/>
          </p:nvSpPr>
          <p:spPr>
            <a:xfrm>
              <a:off x="1029" y="3250"/>
              <a:ext cx="288" cy="1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0.001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17" name="Text Box 13"/>
            <p:cNvSpPr txBox="1"/>
            <p:nvPr/>
          </p:nvSpPr>
          <p:spPr>
            <a:xfrm>
              <a:off x="224" y="2411"/>
              <a:ext cx="891" cy="43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Logic transistors per chip</a:t>
              </a:r>
              <a:endParaRPr lang="en-US" altLang="en-US" sz="14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(in millions)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318" name="Text Box 14"/>
            <p:cNvSpPr txBox="1"/>
            <p:nvPr/>
          </p:nvSpPr>
          <p:spPr>
            <a:xfrm>
              <a:off x="4337" y="2051"/>
              <a:ext cx="464" cy="1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100,000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19" name="Text Box 15"/>
            <p:cNvSpPr txBox="1"/>
            <p:nvPr/>
          </p:nvSpPr>
          <p:spPr>
            <a:xfrm>
              <a:off x="4337" y="2225"/>
              <a:ext cx="464" cy="1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10,000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20" name="Text Box 16"/>
            <p:cNvSpPr txBox="1"/>
            <p:nvPr/>
          </p:nvSpPr>
          <p:spPr>
            <a:xfrm>
              <a:off x="4337" y="2395"/>
              <a:ext cx="464" cy="1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1000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21" name="Text Box 17"/>
            <p:cNvSpPr txBox="1"/>
            <p:nvPr/>
          </p:nvSpPr>
          <p:spPr>
            <a:xfrm>
              <a:off x="4337" y="2561"/>
              <a:ext cx="464" cy="1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100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22" name="Text Box 18"/>
            <p:cNvSpPr txBox="1"/>
            <p:nvPr/>
          </p:nvSpPr>
          <p:spPr>
            <a:xfrm>
              <a:off x="4337" y="2737"/>
              <a:ext cx="464" cy="1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10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23" name="Text Box 19"/>
            <p:cNvSpPr txBox="1"/>
            <p:nvPr/>
          </p:nvSpPr>
          <p:spPr>
            <a:xfrm>
              <a:off x="4337" y="2900"/>
              <a:ext cx="464" cy="1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24" name="Text Box 20"/>
            <p:cNvSpPr txBox="1"/>
            <p:nvPr/>
          </p:nvSpPr>
          <p:spPr>
            <a:xfrm>
              <a:off x="4337" y="3084"/>
              <a:ext cx="464" cy="1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0.1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25" name="Text Box 21"/>
            <p:cNvSpPr txBox="1"/>
            <p:nvPr/>
          </p:nvSpPr>
          <p:spPr>
            <a:xfrm>
              <a:off x="4337" y="3256"/>
              <a:ext cx="464" cy="11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0.01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26" name="Text Box 22"/>
            <p:cNvSpPr txBox="1"/>
            <p:nvPr/>
          </p:nvSpPr>
          <p:spPr>
            <a:xfrm>
              <a:off x="4532" y="2529"/>
              <a:ext cx="1075" cy="43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Productivity</a:t>
              </a:r>
              <a:endParaRPr lang="en-US" altLang="en-US" sz="1400">
                <a:latin typeface="Times New Roman" panose="02020603050405020304" charset="0"/>
              </a:endParaRPr>
            </a:p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(K) Trans./Staff-Mo.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327" name="Freeform 23"/>
            <p:cNvSpPr/>
            <p:nvPr/>
          </p:nvSpPr>
          <p:spPr bwMode="auto">
            <a:xfrm>
              <a:off x="1385" y="2089"/>
              <a:ext cx="2879" cy="1"/>
            </a:xfrm>
            <a:custGeom>
              <a:avLst/>
              <a:gdLst/>
              <a:ahLst/>
              <a:cxnLst/>
              <a:rect l="0" t="0" r="r" b="b"/>
              <a:pathLst>
                <a:path w="5250" h="1">
                  <a:moveTo>
                    <a:pt x="0" y="0"/>
                  </a:moveTo>
                  <a:lnTo>
                    <a:pt x="5250" y="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28" name="Freeform 24"/>
            <p:cNvSpPr/>
            <p:nvPr/>
          </p:nvSpPr>
          <p:spPr bwMode="auto">
            <a:xfrm>
              <a:off x="1385" y="2264"/>
              <a:ext cx="2879" cy="1"/>
            </a:xfrm>
            <a:custGeom>
              <a:avLst/>
              <a:gdLst/>
              <a:ahLst/>
              <a:cxnLst/>
              <a:rect l="0" t="0" r="r" b="b"/>
              <a:pathLst>
                <a:path w="5250" h="1">
                  <a:moveTo>
                    <a:pt x="0" y="0"/>
                  </a:moveTo>
                  <a:lnTo>
                    <a:pt x="5250" y="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29" name="Freeform 25"/>
            <p:cNvSpPr/>
            <p:nvPr/>
          </p:nvSpPr>
          <p:spPr bwMode="auto">
            <a:xfrm>
              <a:off x="1385" y="2439"/>
              <a:ext cx="2879" cy="1"/>
            </a:xfrm>
            <a:custGeom>
              <a:avLst/>
              <a:gdLst/>
              <a:ahLst/>
              <a:cxnLst/>
              <a:rect l="0" t="0" r="r" b="b"/>
              <a:pathLst>
                <a:path w="5250" h="1">
                  <a:moveTo>
                    <a:pt x="0" y="0"/>
                  </a:moveTo>
                  <a:lnTo>
                    <a:pt x="5250" y="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30" name="Freeform 26"/>
            <p:cNvSpPr/>
            <p:nvPr/>
          </p:nvSpPr>
          <p:spPr bwMode="auto">
            <a:xfrm>
              <a:off x="1385" y="2615"/>
              <a:ext cx="2879" cy="1"/>
            </a:xfrm>
            <a:custGeom>
              <a:avLst/>
              <a:gdLst/>
              <a:ahLst/>
              <a:cxnLst/>
              <a:rect l="0" t="0" r="r" b="b"/>
              <a:pathLst>
                <a:path w="5250" h="1">
                  <a:moveTo>
                    <a:pt x="0" y="0"/>
                  </a:moveTo>
                  <a:lnTo>
                    <a:pt x="5250" y="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31" name="Freeform 27"/>
            <p:cNvSpPr/>
            <p:nvPr/>
          </p:nvSpPr>
          <p:spPr bwMode="auto">
            <a:xfrm>
              <a:off x="1385" y="2790"/>
              <a:ext cx="2879" cy="1"/>
            </a:xfrm>
            <a:custGeom>
              <a:avLst/>
              <a:gdLst/>
              <a:ahLst/>
              <a:cxnLst/>
              <a:rect l="0" t="0" r="r" b="b"/>
              <a:pathLst>
                <a:path w="5250" h="1">
                  <a:moveTo>
                    <a:pt x="0" y="0"/>
                  </a:moveTo>
                  <a:lnTo>
                    <a:pt x="5250" y="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32" name="Freeform 28"/>
            <p:cNvSpPr/>
            <p:nvPr/>
          </p:nvSpPr>
          <p:spPr bwMode="auto">
            <a:xfrm>
              <a:off x="1385" y="2966"/>
              <a:ext cx="2879" cy="1"/>
            </a:xfrm>
            <a:custGeom>
              <a:avLst/>
              <a:gdLst/>
              <a:ahLst/>
              <a:cxnLst/>
              <a:rect l="0" t="0" r="r" b="b"/>
              <a:pathLst>
                <a:path w="5250" h="1">
                  <a:moveTo>
                    <a:pt x="0" y="0"/>
                  </a:moveTo>
                  <a:lnTo>
                    <a:pt x="5250" y="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33" name="Freeform 29"/>
            <p:cNvSpPr/>
            <p:nvPr/>
          </p:nvSpPr>
          <p:spPr bwMode="auto">
            <a:xfrm>
              <a:off x="1385" y="3141"/>
              <a:ext cx="2879" cy="1"/>
            </a:xfrm>
            <a:custGeom>
              <a:avLst/>
              <a:gdLst/>
              <a:ahLst/>
              <a:cxnLst/>
              <a:rect l="0" t="0" r="r" b="b"/>
              <a:pathLst>
                <a:path w="5250" h="1">
                  <a:moveTo>
                    <a:pt x="0" y="0"/>
                  </a:moveTo>
                  <a:lnTo>
                    <a:pt x="5250" y="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34" name="Freeform 30"/>
            <p:cNvSpPr/>
            <p:nvPr/>
          </p:nvSpPr>
          <p:spPr bwMode="auto">
            <a:xfrm>
              <a:off x="1385" y="3317"/>
              <a:ext cx="2879" cy="1"/>
            </a:xfrm>
            <a:custGeom>
              <a:avLst/>
              <a:gdLst/>
              <a:ahLst/>
              <a:cxnLst/>
              <a:rect l="0" t="0" r="r" b="b"/>
              <a:pathLst>
                <a:path w="5250" h="1">
                  <a:moveTo>
                    <a:pt x="0" y="0"/>
                  </a:moveTo>
                  <a:lnTo>
                    <a:pt x="5250" y="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35" name="Freeform 31"/>
            <p:cNvSpPr/>
            <p:nvPr/>
          </p:nvSpPr>
          <p:spPr bwMode="auto">
            <a:xfrm>
              <a:off x="1382" y="2089"/>
              <a:ext cx="2" cy="1229"/>
            </a:xfrm>
            <a:custGeom>
              <a:avLst/>
              <a:gdLst/>
              <a:ahLst/>
              <a:cxnLst/>
              <a:rect l="0" t="0" r="r" b="b"/>
              <a:pathLst>
                <a:path w="2" h="1229">
                  <a:moveTo>
                    <a:pt x="0" y="0"/>
                  </a:moveTo>
                  <a:lnTo>
                    <a:pt x="2" y="1229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36" name="Freeform 32"/>
            <p:cNvSpPr/>
            <p:nvPr/>
          </p:nvSpPr>
          <p:spPr bwMode="auto">
            <a:xfrm>
              <a:off x="4266" y="2089"/>
              <a:ext cx="2" cy="1229"/>
            </a:xfrm>
            <a:custGeom>
              <a:avLst/>
              <a:gdLst/>
              <a:ahLst/>
              <a:cxnLst/>
              <a:rect l="0" t="0" r="r" b="b"/>
              <a:pathLst>
                <a:path w="2" h="1229">
                  <a:moveTo>
                    <a:pt x="0" y="0"/>
                  </a:moveTo>
                  <a:lnTo>
                    <a:pt x="2" y="1229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37" name="Freeform 33"/>
            <p:cNvSpPr/>
            <p:nvPr/>
          </p:nvSpPr>
          <p:spPr bwMode="auto">
            <a:xfrm>
              <a:off x="1384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38" name="Freeform 34"/>
            <p:cNvSpPr/>
            <p:nvPr/>
          </p:nvSpPr>
          <p:spPr bwMode="auto">
            <a:xfrm>
              <a:off x="1483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39" name="Freeform 35"/>
            <p:cNvSpPr/>
            <p:nvPr/>
          </p:nvSpPr>
          <p:spPr bwMode="auto">
            <a:xfrm>
              <a:off x="1582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40" name="Freeform 36"/>
            <p:cNvSpPr/>
            <p:nvPr/>
          </p:nvSpPr>
          <p:spPr bwMode="auto">
            <a:xfrm>
              <a:off x="1682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41" name="Freeform 37"/>
            <p:cNvSpPr/>
            <p:nvPr/>
          </p:nvSpPr>
          <p:spPr bwMode="auto">
            <a:xfrm>
              <a:off x="1781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42" name="Freeform 38"/>
            <p:cNvSpPr/>
            <p:nvPr/>
          </p:nvSpPr>
          <p:spPr bwMode="auto">
            <a:xfrm>
              <a:off x="1881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43" name="Freeform 39"/>
            <p:cNvSpPr/>
            <p:nvPr/>
          </p:nvSpPr>
          <p:spPr bwMode="auto">
            <a:xfrm>
              <a:off x="1980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44" name="Freeform 40"/>
            <p:cNvSpPr/>
            <p:nvPr/>
          </p:nvSpPr>
          <p:spPr bwMode="auto">
            <a:xfrm>
              <a:off x="2080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45" name="Freeform 41"/>
            <p:cNvSpPr/>
            <p:nvPr/>
          </p:nvSpPr>
          <p:spPr bwMode="auto">
            <a:xfrm>
              <a:off x="2179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46" name="Freeform 42"/>
            <p:cNvSpPr/>
            <p:nvPr/>
          </p:nvSpPr>
          <p:spPr bwMode="auto">
            <a:xfrm>
              <a:off x="2279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47" name="Freeform 43"/>
            <p:cNvSpPr/>
            <p:nvPr/>
          </p:nvSpPr>
          <p:spPr bwMode="auto">
            <a:xfrm>
              <a:off x="2378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48" name="Freeform 44"/>
            <p:cNvSpPr/>
            <p:nvPr/>
          </p:nvSpPr>
          <p:spPr bwMode="auto">
            <a:xfrm>
              <a:off x="2477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49" name="Freeform 45"/>
            <p:cNvSpPr/>
            <p:nvPr/>
          </p:nvSpPr>
          <p:spPr bwMode="auto">
            <a:xfrm>
              <a:off x="2577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50" name="Freeform 46"/>
            <p:cNvSpPr/>
            <p:nvPr/>
          </p:nvSpPr>
          <p:spPr bwMode="auto">
            <a:xfrm>
              <a:off x="2676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51" name="Freeform 47"/>
            <p:cNvSpPr/>
            <p:nvPr/>
          </p:nvSpPr>
          <p:spPr bwMode="auto">
            <a:xfrm>
              <a:off x="2776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52" name="Freeform 48"/>
            <p:cNvSpPr/>
            <p:nvPr/>
          </p:nvSpPr>
          <p:spPr bwMode="auto">
            <a:xfrm>
              <a:off x="2875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53" name="Freeform 49"/>
            <p:cNvSpPr/>
            <p:nvPr/>
          </p:nvSpPr>
          <p:spPr bwMode="auto">
            <a:xfrm>
              <a:off x="2975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54" name="Freeform 50"/>
            <p:cNvSpPr/>
            <p:nvPr/>
          </p:nvSpPr>
          <p:spPr bwMode="auto">
            <a:xfrm>
              <a:off x="3074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55" name="Freeform 51"/>
            <p:cNvSpPr/>
            <p:nvPr/>
          </p:nvSpPr>
          <p:spPr bwMode="auto">
            <a:xfrm>
              <a:off x="3174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56" name="Freeform 52"/>
            <p:cNvSpPr/>
            <p:nvPr/>
          </p:nvSpPr>
          <p:spPr bwMode="auto">
            <a:xfrm>
              <a:off x="3273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57" name="Freeform 53"/>
            <p:cNvSpPr/>
            <p:nvPr/>
          </p:nvSpPr>
          <p:spPr bwMode="auto">
            <a:xfrm>
              <a:off x="3372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58" name="Freeform 54"/>
            <p:cNvSpPr/>
            <p:nvPr/>
          </p:nvSpPr>
          <p:spPr bwMode="auto">
            <a:xfrm>
              <a:off x="3472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59" name="Freeform 55"/>
            <p:cNvSpPr/>
            <p:nvPr/>
          </p:nvSpPr>
          <p:spPr bwMode="auto">
            <a:xfrm>
              <a:off x="3571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60" name="Freeform 56"/>
            <p:cNvSpPr/>
            <p:nvPr/>
          </p:nvSpPr>
          <p:spPr bwMode="auto">
            <a:xfrm>
              <a:off x="3671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61" name="Freeform 57"/>
            <p:cNvSpPr/>
            <p:nvPr/>
          </p:nvSpPr>
          <p:spPr bwMode="auto">
            <a:xfrm>
              <a:off x="3770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62" name="Freeform 58"/>
            <p:cNvSpPr/>
            <p:nvPr/>
          </p:nvSpPr>
          <p:spPr bwMode="auto">
            <a:xfrm>
              <a:off x="3870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63" name="Freeform 59"/>
            <p:cNvSpPr/>
            <p:nvPr/>
          </p:nvSpPr>
          <p:spPr bwMode="auto">
            <a:xfrm>
              <a:off x="3969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64" name="Freeform 60"/>
            <p:cNvSpPr/>
            <p:nvPr/>
          </p:nvSpPr>
          <p:spPr bwMode="auto">
            <a:xfrm>
              <a:off x="4069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65" name="Freeform 61"/>
            <p:cNvSpPr/>
            <p:nvPr/>
          </p:nvSpPr>
          <p:spPr bwMode="auto">
            <a:xfrm>
              <a:off x="4168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66" name="Freeform 62"/>
            <p:cNvSpPr/>
            <p:nvPr/>
          </p:nvSpPr>
          <p:spPr bwMode="auto">
            <a:xfrm>
              <a:off x="4268" y="3322"/>
              <a:ext cx="2" cy="100"/>
            </a:xfrm>
            <a:custGeom>
              <a:avLst/>
              <a:gdLst/>
              <a:ahLst/>
              <a:cxnLst/>
              <a:rect l="0" t="0" r="r" b="b"/>
              <a:pathLst>
                <a:path w="2" h="100">
                  <a:moveTo>
                    <a:pt x="2" y="0"/>
                  </a:moveTo>
                  <a:lnTo>
                    <a:pt x="0" y="10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67" name="Rectangle 63"/>
            <p:cNvSpPr/>
            <p:nvPr/>
          </p:nvSpPr>
          <p:spPr>
            <a:xfrm rot="16243167">
              <a:off x="1258" y="3528"/>
              <a:ext cx="259" cy="1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1981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68" name="Rectangle 64"/>
            <p:cNvSpPr/>
            <p:nvPr/>
          </p:nvSpPr>
          <p:spPr>
            <a:xfrm rot="16243167">
              <a:off x="1456" y="3528"/>
              <a:ext cx="259" cy="1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1983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69" name="Rectangle 65"/>
            <p:cNvSpPr/>
            <p:nvPr/>
          </p:nvSpPr>
          <p:spPr>
            <a:xfrm rot="16243167">
              <a:off x="1655" y="3528"/>
              <a:ext cx="259" cy="1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1985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70" name="Rectangle 66"/>
            <p:cNvSpPr/>
            <p:nvPr/>
          </p:nvSpPr>
          <p:spPr>
            <a:xfrm rot="16243167">
              <a:off x="1853" y="3528"/>
              <a:ext cx="259" cy="1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1987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71" name="Rectangle 67"/>
            <p:cNvSpPr/>
            <p:nvPr/>
          </p:nvSpPr>
          <p:spPr>
            <a:xfrm rot="16243167">
              <a:off x="2052" y="3528"/>
              <a:ext cx="259" cy="1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1989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72" name="Rectangle 68"/>
            <p:cNvSpPr/>
            <p:nvPr/>
          </p:nvSpPr>
          <p:spPr>
            <a:xfrm rot="16243167">
              <a:off x="2250" y="3528"/>
              <a:ext cx="259" cy="1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1991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73" name="Rectangle 69"/>
            <p:cNvSpPr/>
            <p:nvPr/>
          </p:nvSpPr>
          <p:spPr>
            <a:xfrm rot="16243167">
              <a:off x="2449" y="3528"/>
              <a:ext cx="259" cy="1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1993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74" name="Rectangle 70"/>
            <p:cNvSpPr/>
            <p:nvPr/>
          </p:nvSpPr>
          <p:spPr>
            <a:xfrm rot="16243167">
              <a:off x="2648" y="3528"/>
              <a:ext cx="259" cy="1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1995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75" name="Rectangle 71"/>
            <p:cNvSpPr/>
            <p:nvPr/>
          </p:nvSpPr>
          <p:spPr>
            <a:xfrm rot="16243167">
              <a:off x="2846" y="3528"/>
              <a:ext cx="259" cy="1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1997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76" name="Rectangle 72"/>
            <p:cNvSpPr/>
            <p:nvPr/>
          </p:nvSpPr>
          <p:spPr>
            <a:xfrm rot="16243167">
              <a:off x="3045" y="3528"/>
              <a:ext cx="259" cy="1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1999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77" name="Rectangle 73"/>
            <p:cNvSpPr/>
            <p:nvPr/>
          </p:nvSpPr>
          <p:spPr>
            <a:xfrm rot="16243167">
              <a:off x="3243" y="3528"/>
              <a:ext cx="259" cy="1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2001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78" name="Rectangle 74"/>
            <p:cNvSpPr/>
            <p:nvPr/>
          </p:nvSpPr>
          <p:spPr>
            <a:xfrm rot="16243167">
              <a:off x="3442" y="3528"/>
              <a:ext cx="259" cy="1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2003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79" name="Rectangle 75"/>
            <p:cNvSpPr/>
            <p:nvPr/>
          </p:nvSpPr>
          <p:spPr>
            <a:xfrm rot="16243167">
              <a:off x="3640" y="3528"/>
              <a:ext cx="259" cy="1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2005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80" name="Rectangle 76"/>
            <p:cNvSpPr/>
            <p:nvPr/>
          </p:nvSpPr>
          <p:spPr>
            <a:xfrm rot="16243167">
              <a:off x="3839" y="3528"/>
              <a:ext cx="259" cy="1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2007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81" name="Rectangle 77"/>
            <p:cNvSpPr/>
            <p:nvPr/>
          </p:nvSpPr>
          <p:spPr>
            <a:xfrm rot="16243167">
              <a:off x="4038" y="3528"/>
              <a:ext cx="259" cy="125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200">
                  <a:latin typeface="Times New Roman" panose="02020603050405020304" charset="0"/>
                </a:rPr>
                <a:t>2009</a:t>
              </a:r>
              <a:endParaRPr lang="en-US" altLang="en-US" sz="1200">
                <a:latin typeface="Times New Roman" panose="02020603050405020304" charset="0"/>
              </a:endParaRPr>
            </a:p>
          </p:txBody>
        </p:sp>
        <p:sp>
          <p:nvSpPr>
            <p:cNvPr id="1049382" name="Freeform 78"/>
            <p:cNvSpPr/>
            <p:nvPr/>
          </p:nvSpPr>
          <p:spPr bwMode="auto">
            <a:xfrm>
              <a:off x="1392" y="2752"/>
              <a:ext cx="2872" cy="432"/>
            </a:xfrm>
            <a:custGeom>
              <a:avLst/>
              <a:gdLst/>
              <a:ahLst/>
              <a:cxnLst/>
              <a:rect l="0" t="0" r="r" b="b"/>
              <a:pathLst>
                <a:path w="2872" h="432">
                  <a:moveTo>
                    <a:pt x="0" y="432"/>
                  </a:moveTo>
                  <a:lnTo>
                    <a:pt x="2872" y="0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83" name="Line 79"/>
            <p:cNvSpPr/>
            <p:nvPr/>
          </p:nvSpPr>
          <p:spPr>
            <a:xfrm flipV="1">
              <a:off x="1376" y="2168"/>
              <a:ext cx="2888" cy="1008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84" name="Text Box 80"/>
            <p:cNvSpPr txBox="1"/>
            <p:nvPr/>
          </p:nvSpPr>
          <p:spPr>
            <a:xfrm>
              <a:off x="2065" y="2611"/>
              <a:ext cx="564" cy="14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ctr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Pct val="100000"/>
                <a:buFontTx/>
                <a:buNone/>
              </a:pPr>
              <a:r>
                <a:rPr lang="en-US" altLang="en-US" sz="1300">
                  <a:latin typeface="Times New Roman" panose="02020603050405020304" charset="0"/>
                </a:rPr>
                <a:t>IC capacity</a:t>
              </a:r>
              <a:endParaRPr lang="en-US" altLang="en-US" sz="1300">
                <a:latin typeface="Times New Roman" panose="02020603050405020304" charset="0"/>
              </a:endParaRPr>
            </a:p>
          </p:txBody>
        </p:sp>
        <p:sp>
          <p:nvSpPr>
            <p:cNvPr id="1049385" name="Text Box 81"/>
            <p:cNvSpPr txBox="1"/>
            <p:nvPr/>
          </p:nvSpPr>
          <p:spPr>
            <a:xfrm>
              <a:off x="2809" y="2988"/>
              <a:ext cx="564" cy="14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ctr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Pct val="100000"/>
                <a:buFontTx/>
                <a:buNone/>
              </a:pPr>
              <a:r>
                <a:rPr lang="en-US" altLang="en-US" sz="1300">
                  <a:latin typeface="Times New Roman" panose="02020603050405020304" charset="0"/>
                </a:rPr>
                <a:t>productivity</a:t>
              </a:r>
              <a:endParaRPr lang="en-US" altLang="en-US" sz="1300">
                <a:latin typeface="Times New Roman" panose="02020603050405020304" charset="0"/>
              </a:endParaRPr>
            </a:p>
          </p:txBody>
        </p:sp>
        <p:sp>
          <p:nvSpPr>
            <p:cNvPr id="1049386" name="AutoShape 82"/>
            <p:cNvSpPr/>
            <p:nvPr/>
          </p:nvSpPr>
          <p:spPr>
            <a:xfrm>
              <a:off x="3664" y="2376"/>
              <a:ext cx="208" cy="448"/>
            </a:xfrm>
            <a:prstGeom prst="rightBrace">
              <a:avLst/>
            </a:prstGeom>
            <a:noFill/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wrap="none" lIns="0" tIns="0" rIns="0" bIns="0" anchor="ctr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sp>
          <p:nvSpPr>
            <p:cNvPr id="1049387" name="Text Box 83"/>
            <p:cNvSpPr txBox="1"/>
            <p:nvPr/>
          </p:nvSpPr>
          <p:spPr>
            <a:xfrm>
              <a:off x="3897" y="2492"/>
              <a:ext cx="228" cy="146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ctr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SzPct val="100000"/>
                <a:buFontTx/>
                <a:buNone/>
              </a:pPr>
              <a:r>
                <a:rPr lang="en-US" altLang="en-US" sz="1300" b="1">
                  <a:latin typeface="Times New Roman" panose="02020603050405020304" charset="0"/>
                </a:rPr>
                <a:t>Gap</a:t>
              </a:r>
              <a:endParaRPr lang="en-US" altLang="en-US" sz="1300" b="1">
                <a:latin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388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The Mythical Man-Month</a:t>
            </a:r>
            <a:endParaRPr lang="en-US" altLang="en-US"/>
          </a:p>
        </p:txBody>
      </p:sp>
      <p:sp>
        <p:nvSpPr>
          <p:cNvPr id="1049389" name="Rectangle 3"/>
          <p:cNvSpPr/>
          <p:nvPr>
            <p:ph type="body" idx="1"/>
          </p:nvPr>
        </p:nvSpPr>
        <p:spPr>
          <a:xfrm>
            <a:off x="152400" y="1524000"/>
            <a:ext cx="8763000" cy="2057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 sz="2100"/>
              <a:t>The situation is even worse than the productivity gap indicates</a:t>
            </a:r>
            <a:endParaRPr lang="en-US" altLang="en-US" sz="2100"/>
          </a:p>
          <a:p>
            <a:pPr lvl="0" eaLnBrk="1" hangingPunct="1"/>
            <a:r>
              <a:rPr lang="en-US" altLang="en-US" sz="1900"/>
              <a:t>In theory, adding designers to team reduces project completion time</a:t>
            </a:r>
            <a:endParaRPr lang="en-US" altLang="en-US" sz="1900"/>
          </a:p>
          <a:p>
            <a:pPr lvl="0" eaLnBrk="1" hangingPunct="1"/>
            <a:r>
              <a:rPr lang="en-US" altLang="en-US" sz="1900"/>
              <a:t>In reality, productivity per designer decreases due to complexities of team management and communication </a:t>
            </a:r>
            <a:endParaRPr lang="en-US" altLang="en-US" sz="1900"/>
          </a:p>
          <a:p>
            <a:pPr lvl="0" eaLnBrk="1" hangingPunct="1"/>
            <a:r>
              <a:rPr lang="en-US" altLang="en-US" sz="1900"/>
              <a:t>In the software community, known as “the mythical man-month” (Brooks 1975)</a:t>
            </a:r>
            <a:endParaRPr lang="en-US" altLang="en-US" sz="1900"/>
          </a:p>
          <a:p>
            <a:pPr lvl="0" eaLnBrk="1" hangingPunct="1"/>
            <a:r>
              <a:rPr lang="en-US" altLang="en-US" sz="1900"/>
              <a:t>At some point, can actually lengthen project completion time! (“Too many cooks”)</a:t>
            </a:r>
            <a:endParaRPr lang="en-US" altLang="en-US" sz="1900"/>
          </a:p>
        </p:txBody>
      </p:sp>
      <p:grpSp>
        <p:nvGrpSpPr>
          <p:cNvPr id="158" name="Group 157"/>
          <p:cNvGrpSpPr/>
          <p:nvPr/>
        </p:nvGrpSpPr>
        <p:grpSpPr>
          <a:xfrm rot="0">
            <a:off x="3124200" y="4068762"/>
            <a:ext cx="5564187" cy="2255837"/>
            <a:chOff x="1013" y="496"/>
            <a:chExt cx="3505" cy="1421"/>
          </a:xfrm>
        </p:grpSpPr>
        <p:sp>
          <p:nvSpPr>
            <p:cNvPr id="1049390" name="Line 5"/>
            <p:cNvSpPr/>
            <p:nvPr/>
          </p:nvSpPr>
          <p:spPr>
            <a:xfrm>
              <a:off x="1648" y="1633"/>
              <a:ext cx="2748" cy="0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9391" name="Line 6"/>
            <p:cNvSpPr/>
            <p:nvPr/>
          </p:nvSpPr>
          <p:spPr>
            <a:xfrm flipV="1">
              <a:off x="1648" y="496"/>
              <a:ext cx="0" cy="1137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9392" name="Text Box 7"/>
            <p:cNvSpPr txBox="1"/>
            <p:nvPr/>
          </p:nvSpPr>
          <p:spPr>
            <a:xfrm>
              <a:off x="2258" y="1688"/>
              <a:ext cx="245" cy="10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10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393" name="Text Box 8"/>
            <p:cNvSpPr txBox="1"/>
            <p:nvPr/>
          </p:nvSpPr>
          <p:spPr>
            <a:xfrm>
              <a:off x="2869" y="1688"/>
              <a:ext cx="244" cy="10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20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394" name="Text Box 9"/>
            <p:cNvSpPr txBox="1"/>
            <p:nvPr/>
          </p:nvSpPr>
          <p:spPr>
            <a:xfrm>
              <a:off x="3480" y="1688"/>
              <a:ext cx="244" cy="10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30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395" name="Text Box 10"/>
            <p:cNvSpPr txBox="1"/>
            <p:nvPr/>
          </p:nvSpPr>
          <p:spPr>
            <a:xfrm>
              <a:off x="4091" y="1688"/>
              <a:ext cx="244" cy="10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40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396" name="Text Box 11"/>
            <p:cNvSpPr txBox="1"/>
            <p:nvPr/>
          </p:nvSpPr>
          <p:spPr>
            <a:xfrm>
              <a:off x="1648" y="1688"/>
              <a:ext cx="244" cy="10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0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397" name="Line 12"/>
            <p:cNvSpPr/>
            <p:nvPr/>
          </p:nvSpPr>
          <p:spPr>
            <a:xfrm>
              <a:off x="2869" y="1633"/>
              <a:ext cx="0" cy="55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98" name="Line 13"/>
            <p:cNvSpPr/>
            <p:nvPr/>
          </p:nvSpPr>
          <p:spPr>
            <a:xfrm>
              <a:off x="3480" y="1633"/>
              <a:ext cx="0" cy="55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399" name="Line 14"/>
            <p:cNvSpPr/>
            <p:nvPr/>
          </p:nvSpPr>
          <p:spPr>
            <a:xfrm>
              <a:off x="4091" y="1633"/>
              <a:ext cx="0" cy="55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400" name="Line 15"/>
            <p:cNvSpPr/>
            <p:nvPr/>
          </p:nvSpPr>
          <p:spPr>
            <a:xfrm flipH="1">
              <a:off x="1526" y="1471"/>
              <a:ext cx="122" cy="0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401" name="Line 16"/>
            <p:cNvSpPr/>
            <p:nvPr/>
          </p:nvSpPr>
          <p:spPr>
            <a:xfrm flipH="1">
              <a:off x="1526" y="1308"/>
              <a:ext cx="122" cy="0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402" name="Line 17"/>
            <p:cNvSpPr/>
            <p:nvPr/>
          </p:nvSpPr>
          <p:spPr>
            <a:xfrm flipH="1">
              <a:off x="1526" y="1146"/>
              <a:ext cx="122" cy="0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403" name="Line 18"/>
            <p:cNvSpPr/>
            <p:nvPr/>
          </p:nvSpPr>
          <p:spPr>
            <a:xfrm flipH="1">
              <a:off x="1526" y="983"/>
              <a:ext cx="122" cy="0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404" name="Line 19"/>
            <p:cNvSpPr/>
            <p:nvPr/>
          </p:nvSpPr>
          <p:spPr>
            <a:xfrm flipH="1">
              <a:off x="1526" y="821"/>
              <a:ext cx="122" cy="0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405" name="Line 20"/>
            <p:cNvSpPr/>
            <p:nvPr/>
          </p:nvSpPr>
          <p:spPr>
            <a:xfrm flipH="1">
              <a:off x="1526" y="659"/>
              <a:ext cx="122" cy="0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406" name="Text Box 21"/>
            <p:cNvSpPr txBox="1"/>
            <p:nvPr/>
          </p:nvSpPr>
          <p:spPr>
            <a:xfrm>
              <a:off x="1013" y="1398"/>
              <a:ext cx="489" cy="109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10000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407" name="Text Box 22"/>
            <p:cNvSpPr txBox="1"/>
            <p:nvPr/>
          </p:nvSpPr>
          <p:spPr>
            <a:xfrm>
              <a:off x="1013" y="1236"/>
              <a:ext cx="489" cy="10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20000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408" name="Text Box 23"/>
            <p:cNvSpPr txBox="1"/>
            <p:nvPr/>
          </p:nvSpPr>
          <p:spPr>
            <a:xfrm>
              <a:off x="1013" y="1073"/>
              <a:ext cx="489" cy="10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30000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409" name="Text Box 24"/>
            <p:cNvSpPr txBox="1"/>
            <p:nvPr/>
          </p:nvSpPr>
          <p:spPr>
            <a:xfrm>
              <a:off x="1013" y="911"/>
              <a:ext cx="489" cy="10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40000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410" name="Text Box 25"/>
            <p:cNvSpPr txBox="1"/>
            <p:nvPr/>
          </p:nvSpPr>
          <p:spPr>
            <a:xfrm>
              <a:off x="1013" y="748"/>
              <a:ext cx="489" cy="109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50000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411" name="Text Box 26"/>
            <p:cNvSpPr txBox="1"/>
            <p:nvPr/>
          </p:nvSpPr>
          <p:spPr>
            <a:xfrm>
              <a:off x="1013" y="586"/>
              <a:ext cx="489" cy="10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60000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412" name="Line 27"/>
            <p:cNvSpPr/>
            <p:nvPr/>
          </p:nvSpPr>
          <p:spPr>
            <a:xfrm>
              <a:off x="1648" y="1552"/>
              <a:ext cx="2443" cy="54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413" name="Oval 28"/>
            <p:cNvSpPr/>
            <p:nvPr/>
          </p:nvSpPr>
          <p:spPr>
            <a:xfrm>
              <a:off x="1892" y="1227"/>
              <a:ext cx="61" cy="28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sp>
          <p:nvSpPr>
            <p:cNvPr id="1049414" name="Oval 29"/>
            <p:cNvSpPr/>
            <p:nvPr/>
          </p:nvSpPr>
          <p:spPr>
            <a:xfrm>
              <a:off x="2197" y="929"/>
              <a:ext cx="61" cy="28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sp>
          <p:nvSpPr>
            <p:cNvPr id="1049415" name="Oval 30"/>
            <p:cNvSpPr/>
            <p:nvPr/>
          </p:nvSpPr>
          <p:spPr>
            <a:xfrm>
              <a:off x="2503" y="740"/>
              <a:ext cx="61" cy="2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sp>
          <p:nvSpPr>
            <p:cNvPr id="1049416" name="Oval 31"/>
            <p:cNvSpPr/>
            <p:nvPr/>
          </p:nvSpPr>
          <p:spPr>
            <a:xfrm>
              <a:off x="2808" y="605"/>
              <a:ext cx="61" cy="26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sp>
          <p:nvSpPr>
            <p:cNvPr id="1049417" name="Oval 32"/>
            <p:cNvSpPr/>
            <p:nvPr/>
          </p:nvSpPr>
          <p:spPr>
            <a:xfrm>
              <a:off x="3113" y="550"/>
              <a:ext cx="61" cy="2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sp>
          <p:nvSpPr>
            <p:cNvPr id="1049418" name="Oval 33"/>
            <p:cNvSpPr/>
            <p:nvPr/>
          </p:nvSpPr>
          <p:spPr>
            <a:xfrm>
              <a:off x="3419" y="577"/>
              <a:ext cx="61" cy="28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sp>
          <p:nvSpPr>
            <p:cNvPr id="1049419" name="Oval 34"/>
            <p:cNvSpPr/>
            <p:nvPr/>
          </p:nvSpPr>
          <p:spPr>
            <a:xfrm>
              <a:off x="3724" y="685"/>
              <a:ext cx="61" cy="28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sp>
          <p:nvSpPr>
            <p:cNvPr id="1049420" name="Oval 35"/>
            <p:cNvSpPr/>
            <p:nvPr/>
          </p:nvSpPr>
          <p:spPr>
            <a:xfrm>
              <a:off x="4029" y="902"/>
              <a:ext cx="62" cy="27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 vert="horz" lIns="91440" tIns="45720" rIns="91440" bIns="4572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sp>
          <p:nvSpPr>
            <p:cNvPr id="1049421" name="Freeform 36"/>
            <p:cNvSpPr/>
            <p:nvPr/>
          </p:nvSpPr>
          <p:spPr bwMode="auto">
            <a:xfrm>
              <a:off x="1648" y="559"/>
              <a:ext cx="2405" cy="998"/>
            </a:xfrm>
            <a:custGeom>
              <a:avLst/>
              <a:gdLst/>
              <a:ahLst/>
              <a:cxnLst/>
              <a:rect l="0" t="0" r="r" b="b"/>
              <a:pathLst>
                <a:path w="2836" h="2651">
                  <a:moveTo>
                    <a:pt x="0" y="2651"/>
                  </a:moveTo>
                  <a:cubicBezTo>
                    <a:pt x="53" y="2513"/>
                    <a:pt x="202" y="2093"/>
                    <a:pt x="316" y="1821"/>
                  </a:cubicBezTo>
                  <a:cubicBezTo>
                    <a:pt x="430" y="1549"/>
                    <a:pt x="564" y="1235"/>
                    <a:pt x="683" y="1018"/>
                  </a:cubicBezTo>
                  <a:cubicBezTo>
                    <a:pt x="802" y="801"/>
                    <a:pt x="907" y="661"/>
                    <a:pt x="1028" y="516"/>
                  </a:cubicBezTo>
                  <a:cubicBezTo>
                    <a:pt x="1149" y="371"/>
                    <a:pt x="1289" y="232"/>
                    <a:pt x="1411" y="148"/>
                  </a:cubicBezTo>
                  <a:cubicBezTo>
                    <a:pt x="1533" y="64"/>
                    <a:pt x="1644" y="26"/>
                    <a:pt x="1763" y="13"/>
                  </a:cubicBezTo>
                  <a:cubicBezTo>
                    <a:pt x="1882" y="0"/>
                    <a:pt x="2003" y="12"/>
                    <a:pt x="2123" y="73"/>
                  </a:cubicBezTo>
                  <a:cubicBezTo>
                    <a:pt x="2243" y="134"/>
                    <a:pt x="2364" y="236"/>
                    <a:pt x="2483" y="381"/>
                  </a:cubicBezTo>
                  <a:cubicBezTo>
                    <a:pt x="2602" y="526"/>
                    <a:pt x="2762" y="826"/>
                    <a:pt x="2836" y="943"/>
                  </a:cubicBez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422" name="Text Box 37"/>
            <p:cNvSpPr txBox="1"/>
            <p:nvPr/>
          </p:nvSpPr>
          <p:spPr>
            <a:xfrm>
              <a:off x="1953" y="1255"/>
              <a:ext cx="244" cy="107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43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423" name="Text Box 38"/>
            <p:cNvSpPr txBox="1"/>
            <p:nvPr/>
          </p:nvSpPr>
          <p:spPr>
            <a:xfrm>
              <a:off x="2258" y="957"/>
              <a:ext cx="245" cy="10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24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424" name="Text Box 39"/>
            <p:cNvSpPr txBox="1"/>
            <p:nvPr/>
          </p:nvSpPr>
          <p:spPr>
            <a:xfrm>
              <a:off x="2503" y="767"/>
              <a:ext cx="244" cy="10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19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425" name="Text Box 40"/>
            <p:cNvSpPr txBox="1"/>
            <p:nvPr/>
          </p:nvSpPr>
          <p:spPr>
            <a:xfrm>
              <a:off x="2869" y="631"/>
              <a:ext cx="244" cy="109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16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426" name="Text Box 41"/>
            <p:cNvSpPr txBox="1"/>
            <p:nvPr/>
          </p:nvSpPr>
          <p:spPr>
            <a:xfrm>
              <a:off x="3174" y="577"/>
              <a:ext cx="245" cy="10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15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427" name="Text Box 42"/>
            <p:cNvSpPr txBox="1"/>
            <p:nvPr/>
          </p:nvSpPr>
          <p:spPr>
            <a:xfrm>
              <a:off x="3419" y="631"/>
              <a:ext cx="244" cy="109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16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428" name="Text Box 43"/>
            <p:cNvSpPr txBox="1"/>
            <p:nvPr/>
          </p:nvSpPr>
          <p:spPr>
            <a:xfrm>
              <a:off x="3541" y="713"/>
              <a:ext cx="244" cy="10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18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429" name="Text Box 44"/>
            <p:cNvSpPr txBox="1"/>
            <p:nvPr/>
          </p:nvSpPr>
          <p:spPr>
            <a:xfrm>
              <a:off x="3785" y="929"/>
              <a:ext cx="244" cy="109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23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430" name="Text Box 45"/>
            <p:cNvSpPr txBox="1"/>
            <p:nvPr/>
          </p:nvSpPr>
          <p:spPr>
            <a:xfrm>
              <a:off x="3846" y="496"/>
              <a:ext cx="672" cy="109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Team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431" name="Line 46"/>
            <p:cNvSpPr/>
            <p:nvPr/>
          </p:nvSpPr>
          <p:spPr>
            <a:xfrm flipH="1">
              <a:off x="3663" y="550"/>
              <a:ext cx="183" cy="81"/>
            </a:xfrm>
            <a:prstGeom prst="line">
              <a:avLst/>
            </a:pr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ysDot"/>
              <a:round/>
            </a:ln>
          </p:spPr>
        </p:sp>
        <p:sp>
          <p:nvSpPr>
            <p:cNvPr id="1049432" name="Text Box 47"/>
            <p:cNvSpPr txBox="1"/>
            <p:nvPr/>
          </p:nvSpPr>
          <p:spPr>
            <a:xfrm>
              <a:off x="3358" y="1362"/>
              <a:ext cx="733" cy="109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Individual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433" name="Line 48"/>
            <p:cNvSpPr/>
            <p:nvPr/>
          </p:nvSpPr>
          <p:spPr>
            <a:xfrm flipH="1">
              <a:off x="3052" y="1416"/>
              <a:ext cx="306" cy="163"/>
            </a:xfrm>
            <a:prstGeom prst="line">
              <a:avLst/>
            </a:pr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ysDot"/>
              <a:round/>
            </a:ln>
          </p:spPr>
        </p:sp>
        <p:sp>
          <p:nvSpPr>
            <p:cNvPr id="1049434" name="Text Box 49"/>
            <p:cNvSpPr txBox="1"/>
            <p:nvPr/>
          </p:nvSpPr>
          <p:spPr>
            <a:xfrm>
              <a:off x="2258" y="1146"/>
              <a:ext cx="1710" cy="162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Months until completion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435" name="Line 50"/>
            <p:cNvSpPr/>
            <p:nvPr/>
          </p:nvSpPr>
          <p:spPr>
            <a:xfrm flipH="1">
              <a:off x="2136" y="1200"/>
              <a:ext cx="122" cy="55"/>
            </a:xfrm>
            <a:prstGeom prst="line">
              <a:avLst/>
            </a:prstGeom>
            <a:noFill/>
            <a:ln w="19050" cap="flat" cmpd="sng">
              <a:solidFill>
                <a:srgbClr val="000000">
                  <a:alpha val="100000"/>
                </a:srgbClr>
              </a:solidFill>
              <a:prstDash val="sysDot"/>
              <a:round/>
            </a:ln>
          </p:spPr>
        </p:sp>
        <p:sp>
          <p:nvSpPr>
            <p:cNvPr id="1049436" name="Text Box 51"/>
            <p:cNvSpPr txBox="1"/>
            <p:nvPr/>
          </p:nvSpPr>
          <p:spPr>
            <a:xfrm>
              <a:off x="1709" y="1808"/>
              <a:ext cx="2626" cy="109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anchor="t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>
                  <a:latin typeface="Times New Roman" panose="02020603050405020304" charset="0"/>
                </a:rPr>
                <a:t>Number of designers</a:t>
              </a:r>
              <a:endParaRPr lang="en-US" altLang="en-US" sz="1400">
                <a:latin typeface="Times New Roman" panose="02020603050405020304" charset="0"/>
              </a:endParaRPr>
            </a:p>
          </p:txBody>
        </p:sp>
        <p:sp>
          <p:nvSpPr>
            <p:cNvPr id="1049437" name="Line 52"/>
            <p:cNvSpPr/>
            <p:nvPr/>
          </p:nvSpPr>
          <p:spPr>
            <a:xfrm>
              <a:off x="2258" y="1633"/>
              <a:ext cx="0" cy="55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  <p:sp>
          <p:nvSpPr>
            <p:cNvPr id="1049438" name="Line 53"/>
            <p:cNvSpPr/>
            <p:nvPr/>
          </p:nvSpPr>
          <p:spPr>
            <a:xfrm>
              <a:off x="1652" y="1637"/>
              <a:ext cx="0" cy="55"/>
            </a:xfrm>
            <a:prstGeom prst="line">
              <a:avLst/>
            </a:pr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</p:sp>
      </p:grpSp>
      <p:sp>
        <p:nvSpPr>
          <p:cNvPr id="1049439" name="Rectangle 54"/>
          <p:cNvSpPr/>
          <p:nvPr/>
        </p:nvSpPr>
        <p:spPr>
          <a:xfrm>
            <a:off x="304800" y="4191000"/>
            <a:ext cx="2971800" cy="1676400"/>
          </a:xfrm>
          <a:prstGeom prst="rect">
            <a:avLst/>
          </a:prstGeom>
          <a:noFill/>
          <a:ln>
            <a:noFill/>
          </a:ln>
        </p:spPr>
        <p:txBody>
          <a:bodyPr vert="horz" lIns="92075" tIns="46038" rIns="92075" bIns="46038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/>
            <a:r>
              <a:rPr lang="en-US" altLang="en-US" sz="1700"/>
              <a:t>1M transistors</a:t>
            </a:r>
            <a:r>
              <a:rPr lang="en-US" altLang="en-US" sz="1500"/>
              <a:t>, </a:t>
            </a:r>
            <a:r>
              <a:rPr lang="en-US" altLang="en-US" sz="1700"/>
              <a:t>1 designer=5000 trans/month</a:t>
            </a:r>
            <a:endParaRPr lang="en-US" altLang="en-US" sz="1700"/>
          </a:p>
          <a:p>
            <a:pPr marL="342900" lvl="0" indent="-342900" eaLnBrk="1" hangingPunct="1"/>
            <a:r>
              <a:rPr lang="en-US" altLang="en-US" sz="1700"/>
              <a:t>Each additional designer reduces for 100 trans/month</a:t>
            </a:r>
            <a:endParaRPr lang="en-US" altLang="en-US" sz="1700"/>
          </a:p>
          <a:p>
            <a:pPr marL="342900" lvl="0" indent="-342900" eaLnBrk="1" hangingPunct="1"/>
            <a:r>
              <a:rPr lang="en-US" altLang="en-US" sz="1700"/>
              <a:t>So 2 designers produce 4900 trans/month each</a:t>
            </a:r>
            <a:endParaRPr lang="en-US" altLang="en-US" sz="17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440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Co-Design Methodology</a:t>
            </a:r>
            <a:endParaRPr lang="en-US" altLang="en-US"/>
          </a:p>
        </p:txBody>
      </p:sp>
      <p:sp>
        <p:nvSpPr>
          <p:cNvPr id="1049441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 b="1"/>
              <a:t>Co-design</a:t>
            </a:r>
            <a:endParaRPr lang="en-US" altLang="en-US" b="1"/>
          </a:p>
          <a:p>
            <a:pPr lvl="1" eaLnBrk="1" hangingPunct="1"/>
            <a:r>
              <a:rPr lang="en-US" altLang="en-US"/>
              <a:t>Design of systems involving both hardware and software components</a:t>
            </a:r>
            <a:endParaRPr lang="en-US" altLang="en-US"/>
          </a:p>
          <a:p>
            <a:pPr lvl="1" eaLnBrk="1" hangingPunct="1"/>
            <a:r>
              <a:rPr lang="en-US" altLang="en-US"/>
              <a:t>Starts with formal, abstract specification; series of refinements maps to target architecture: allocation, partitioning, scheduling, communication synthesis</a:t>
            </a:r>
            <a:endParaRPr lang="en-US" altLang="en-US"/>
          </a:p>
          <a:p>
            <a:pPr lvl="1" eaLnBrk="1" hangingPunct="1"/>
            <a:r>
              <a:rPr lang="en-US" altLang="en-US"/>
              <a:t>Means to manage large-scale, complex systems</a:t>
            </a:r>
            <a:endParaRPr lang="en-US" altLang="en-US"/>
          </a:p>
        </p:txBody>
      </p:sp>
      <p:sp>
        <p:nvSpPr>
          <p:cNvPr id="1049442" name="Text Box 4"/>
          <p:cNvSpPr txBox="1"/>
          <p:nvPr/>
        </p:nvSpPr>
        <p:spPr>
          <a:xfrm>
            <a:off x="381000" y="5486400"/>
            <a:ext cx="7772400" cy="100647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000">
                <a:solidFill>
                  <a:schemeClr val="dk1"/>
                </a:solidFill>
              </a:rPr>
              <a:t>R. Domer, D. Gajski, J. Zhu, “Specification and Design of Embedded Systems,” </a:t>
            </a:r>
            <a:r>
              <a:rPr lang="en-US" altLang="en-US" sz="2000" i="1">
                <a:solidFill>
                  <a:schemeClr val="dk1"/>
                </a:solidFill>
              </a:rPr>
              <a:t>it+ti magazine</a:t>
            </a:r>
            <a:r>
              <a:rPr lang="en-US" altLang="en-US" sz="2000">
                <a:solidFill>
                  <a:schemeClr val="dk1"/>
                </a:solidFill>
              </a:rPr>
              <a:t>, Oldenbourg Verlag (Germany), No. 3, June 1998.</a:t>
            </a:r>
            <a:endParaRPr lang="en-US" altLang="en-US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443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Complex Systems</a:t>
            </a:r>
            <a:endParaRPr lang="en-US" altLang="en-US"/>
          </a:p>
        </p:txBody>
      </p:sp>
      <p:sp>
        <p:nvSpPr>
          <p:cNvPr id="1049444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SOC (System-On-a-Chip)</a:t>
            </a:r>
            <a:endParaRPr lang="en-US" altLang="en-US"/>
          </a:p>
          <a:p>
            <a:pPr lvl="1" eaLnBrk="1" hangingPunct="1"/>
            <a:r>
              <a:rPr lang="en-US" altLang="en-US"/>
              <a:t>Millions of gates on a chip</a:t>
            </a:r>
            <a:endParaRPr lang="en-US" altLang="en-US"/>
          </a:p>
          <a:p>
            <a:pPr lvl="2" eaLnBrk="1" hangingPunct="1"/>
            <a:r>
              <a:rPr lang="en-US" altLang="en-US"/>
              <a:t>Decreasing processing technologies (deep sub-micron, 0.25 </a:t>
            </a:r>
            <a:r>
              <a:rPr lang="en-US" altLang="en-US">
                <a:latin typeface="Times" pitchFamily="18" charset="0"/>
              </a:rPr>
              <a:t>µ</a:t>
            </a:r>
            <a:r>
              <a:rPr lang="en-US" altLang="en-US"/>
              <a:t>m and below): decreasing geometry size, increasing chip density</a:t>
            </a:r>
            <a:endParaRPr lang="en-US" altLang="en-US"/>
          </a:p>
          <a:p>
            <a:pPr lvl="1" eaLnBrk="1" hangingPunct="1"/>
            <a:r>
              <a:rPr lang="en-US" altLang="en-US"/>
              <a:t>Problems</a:t>
            </a:r>
            <a:endParaRPr lang="en-US" altLang="en-US"/>
          </a:p>
          <a:p>
            <a:pPr lvl="2" eaLnBrk="1" hangingPunct="1"/>
            <a:r>
              <a:rPr lang="en-US" altLang="en-US"/>
              <a:t>Electronic design automation (EDA) tools</a:t>
            </a:r>
            <a:endParaRPr lang="en-US" altLang="en-US"/>
          </a:p>
          <a:p>
            <a:pPr lvl="2" eaLnBrk="1" hangingPunct="1"/>
            <a:r>
              <a:rPr lang="en-US" altLang="en-US"/>
              <a:t>Time-to-market</a:t>
            </a:r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445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Complex Systems (cont.)</a:t>
            </a:r>
            <a:endParaRPr lang="en-US" altLang="en-US"/>
          </a:p>
        </p:txBody>
      </p:sp>
      <p:sp>
        <p:nvSpPr>
          <p:cNvPr id="1049446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 b="1"/>
              <a:t>Abstraction</a:t>
            </a:r>
            <a:endParaRPr lang="en-US" altLang="en-US" b="1"/>
          </a:p>
          <a:p>
            <a:pPr lvl="1" eaLnBrk="1" hangingPunct="1"/>
            <a:r>
              <a:rPr lang="en-US" altLang="en-US"/>
              <a:t>Reduce the number of objects managed by a design task, e.g., by grouping objects using hierarchy</a:t>
            </a:r>
            <a:endParaRPr lang="en-US" altLang="en-US"/>
          </a:p>
          <a:p>
            <a:pPr lvl="1" eaLnBrk="1" hangingPunct="1"/>
            <a:r>
              <a:rPr lang="en-US" altLang="en-US"/>
              <a:t>Computer-aided design (CAD) example</a:t>
            </a:r>
            <a:endParaRPr lang="en-US" altLang="en-US"/>
          </a:p>
          <a:p>
            <a:pPr lvl="2" eaLnBrk="1" hangingPunct="1"/>
            <a:r>
              <a:rPr lang="en-US" altLang="en-US"/>
              <a:t>Logic level: transistors grouped into gates</a:t>
            </a:r>
            <a:endParaRPr lang="en-US" altLang="en-US"/>
          </a:p>
          <a:p>
            <a:pPr lvl="2" eaLnBrk="1" hangingPunct="1"/>
            <a:r>
              <a:rPr lang="en-US" altLang="en-US"/>
              <a:t>Register transfer level (RTL): gates grouped into registers, ALUs, and other RTL components</a:t>
            </a:r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447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Complex Systems (cont.)</a:t>
            </a:r>
            <a:endParaRPr lang="en-US" altLang="en-US"/>
          </a:p>
        </p:txBody>
      </p:sp>
      <p:sp>
        <p:nvSpPr>
          <p:cNvPr id="1049448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 b="1"/>
              <a:t>Abstraction</a:t>
            </a:r>
            <a:endParaRPr lang="en-US" altLang="en-US" b="1"/>
          </a:p>
          <a:p>
            <a:pPr lvl="1" eaLnBrk="1" hangingPunct="1"/>
            <a:r>
              <a:rPr lang="en-US" altLang="en-US"/>
              <a:t>Co-design example</a:t>
            </a:r>
            <a:endParaRPr lang="en-US" altLang="en-US"/>
          </a:p>
          <a:p>
            <a:pPr lvl="2" eaLnBrk="1" hangingPunct="1"/>
            <a:r>
              <a:rPr lang="en-US" altLang="en-US"/>
              <a:t>System level: processors (off-the-shelf or application-specific), memories, application-specific integrated circuits (ASICs), I/O interfaces, etc.</a:t>
            </a:r>
            <a:endParaRPr lang="en-US" altLang="en-US"/>
          </a:p>
          <a:p>
            <a:pPr lvl="2" eaLnBrk="1" hangingPunct="1"/>
            <a:r>
              <a:rPr lang="en-US" altLang="en-US"/>
              <a:t>Integration of intellectual property (IP) - representations of products of the mind</a:t>
            </a:r>
            <a:endParaRPr lang="en-US" altLang="en-US"/>
          </a:p>
          <a:p>
            <a:pPr lvl="2" eaLnBrk="1" hangingPunct="1"/>
            <a:r>
              <a:rPr lang="en-US" altLang="en-US"/>
              <a:t>Reuse of formerly designed circuits as core cells</a:t>
            </a:r>
            <a:endParaRPr lang="en-US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449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Generic Co-Design Methodology</a:t>
            </a:r>
            <a:endParaRPr lang="en-US" altLang="en-US"/>
          </a:p>
        </p:txBody>
      </p:sp>
      <p:pic>
        <p:nvPicPr>
          <p:cNvPr id="2097195" name="Picture 4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2895600" y="990600"/>
            <a:ext cx="4243387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9450" name="Text Box 6"/>
          <p:cNvSpPr txBox="1"/>
          <p:nvPr/>
        </p:nvSpPr>
        <p:spPr>
          <a:xfrm>
            <a:off x="228600" y="990600"/>
            <a:ext cx="2895600" cy="613664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 u="sng">
                <a:latin typeface="Times New Roman" panose="02020603050405020304" charset="0"/>
              </a:rPr>
              <a:t>Synthesis</a:t>
            </a:r>
            <a:endParaRPr lang="en-US" altLang="en-US" sz="2400" u="sng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Specification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Allocation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Partitioning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Scheduling</a:t>
            </a:r>
            <a:br>
              <a:rPr lang="en-US" altLang="en-US" sz="2400">
                <a:latin typeface="Times New Roman" panose="02020603050405020304" charset="0"/>
              </a:rPr>
            </a:br>
            <a:br>
              <a:rPr lang="en-US" altLang="en-US" sz="2400">
                <a:latin typeface="Times New Roman" panose="02020603050405020304" charset="0"/>
              </a:rPr>
            </a:b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Communication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 synthesis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 u="sng">
                <a:latin typeface="Times New Roman" panose="02020603050405020304" charset="0"/>
              </a:rPr>
              <a:t>Implementation</a:t>
            </a:r>
            <a:endParaRPr lang="en-US" altLang="en-US" sz="2400" u="sng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Software synthesis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Hardware synthesis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Interface synthesis</a:t>
            </a:r>
            <a:endParaRPr lang="en-US" altLang="en-US" sz="2400">
              <a:latin typeface="Times New Roman" panose="02020603050405020304" charset="0"/>
            </a:endParaRPr>
          </a:p>
        </p:txBody>
      </p:sp>
      <p:sp>
        <p:nvSpPr>
          <p:cNvPr id="1049451" name="Text Box 7"/>
          <p:cNvSpPr txBox="1"/>
          <p:nvPr/>
        </p:nvSpPr>
        <p:spPr>
          <a:xfrm>
            <a:off x="4251325" y="1031875"/>
            <a:ext cx="1088548" cy="4470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 b="1" i="1">
                <a:latin typeface="Times New Roman" panose="02020603050405020304" charset="0"/>
              </a:rPr>
              <a:t>model</a:t>
            </a:r>
            <a:endParaRPr lang="en-US" altLang="en-US" sz="2400" b="1" i="1">
              <a:latin typeface="Times New Roman" panose="02020603050405020304" charset="0"/>
            </a:endParaRPr>
          </a:p>
        </p:txBody>
      </p:sp>
      <p:sp>
        <p:nvSpPr>
          <p:cNvPr id="1049452" name="Text Box 8"/>
          <p:cNvSpPr txBox="1"/>
          <p:nvPr/>
        </p:nvSpPr>
        <p:spPr>
          <a:xfrm>
            <a:off x="4343400" y="1676400"/>
            <a:ext cx="782310" cy="4470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 b="1" i="1">
                <a:latin typeface="Times New Roman" panose="02020603050405020304" charset="0"/>
              </a:rPr>
              <a:t>task</a:t>
            </a:r>
            <a:endParaRPr lang="en-US" altLang="en-US" sz="2400" b="1" i="1">
              <a:latin typeface="Times New Roman" panose="02020603050405020304" charset="0"/>
            </a:endParaRPr>
          </a:p>
        </p:txBody>
      </p:sp>
      <p:sp>
        <p:nvSpPr>
          <p:cNvPr id="1049453" name="Text Box 9"/>
          <p:cNvSpPr txBox="1"/>
          <p:nvPr/>
        </p:nvSpPr>
        <p:spPr>
          <a:xfrm>
            <a:off x="7162800" y="1219200"/>
            <a:ext cx="1998980" cy="3291841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 u="sng">
                <a:latin typeface="Times New Roman" panose="02020603050405020304" charset="0"/>
              </a:rPr>
              <a:t>Analysis </a:t>
            </a:r>
            <a:br>
              <a:rPr lang="en-US" altLang="en-US" sz="2400" u="sng">
                <a:latin typeface="Times New Roman" panose="02020603050405020304" charset="0"/>
              </a:rPr>
            </a:br>
            <a:r>
              <a:rPr lang="en-US" altLang="en-US" sz="2400" u="sng">
                <a:latin typeface="Times New Roman" panose="02020603050405020304" charset="0"/>
              </a:rPr>
              <a:t>&amp; </a:t>
            </a:r>
            <a:endParaRPr lang="en-US" altLang="en-US" sz="2400" u="sng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 u="sng">
                <a:latin typeface="Times New Roman" panose="02020603050405020304" charset="0"/>
              </a:rPr>
              <a:t>Validation</a:t>
            </a:r>
            <a:endParaRPr lang="en-US" altLang="en-US" sz="2400" u="sng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Note: design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models may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be captured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in the same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language</a:t>
            </a:r>
            <a:endParaRPr lang="en-US" altLang="en-US" sz="240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454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System Specification</a:t>
            </a:r>
            <a:endParaRPr lang="en-US" altLang="en-US"/>
          </a:p>
        </p:txBody>
      </p:sp>
      <p:sp>
        <p:nvSpPr>
          <p:cNvPr id="1049455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Describes the functionality of the system without specifying the implementation</a:t>
            </a:r>
            <a:endParaRPr lang="en-US" altLang="en-US"/>
          </a:p>
          <a:p>
            <a:pPr lvl="0" eaLnBrk="1" hangingPunct="1"/>
            <a:r>
              <a:rPr lang="en-US" altLang="en-US"/>
              <a:t>Describes non-functional properties such as performance, power, cost, and other quality metrics or design constraints</a:t>
            </a:r>
            <a:endParaRPr lang="en-US" altLang="en-US"/>
          </a:p>
          <a:p>
            <a:pPr lvl="0" eaLnBrk="1" hangingPunct="1"/>
            <a:r>
              <a:rPr lang="en-US" altLang="en-US"/>
              <a:t>May be </a:t>
            </a:r>
            <a:r>
              <a:rPr lang="en-US" altLang="en-US" i="1"/>
              <a:t>executable</a:t>
            </a:r>
            <a:r>
              <a:rPr lang="en-US" altLang="en-US"/>
              <a:t> to allow dynamic verification</a:t>
            </a:r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456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System Specification Example</a:t>
            </a:r>
            <a:endParaRPr lang="en-US" altLang="en-US"/>
          </a:p>
        </p:txBody>
      </p:sp>
      <p:grpSp>
        <p:nvGrpSpPr>
          <p:cNvPr id="166" name="Group 165"/>
          <p:cNvGrpSpPr/>
          <p:nvPr/>
        </p:nvGrpSpPr>
        <p:grpSpPr>
          <a:xfrm rot="0">
            <a:off x="1981200" y="1219200"/>
            <a:ext cx="6934200" cy="4857750"/>
            <a:chOff x="660" y="804"/>
            <a:chExt cx="4368" cy="3060"/>
          </a:xfrm>
        </p:grpSpPr>
        <p:pic>
          <p:nvPicPr>
            <p:cNvPr id="2097196" name="Picture 5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660" y="804"/>
              <a:ext cx="4368" cy="30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457" name="Text Box 6"/>
            <p:cNvSpPr txBox="1"/>
            <p:nvPr/>
          </p:nvSpPr>
          <p:spPr>
            <a:xfrm>
              <a:off x="1152" y="1056"/>
              <a:ext cx="528" cy="192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shared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458" name="Text Box 7"/>
            <p:cNvSpPr txBox="1"/>
            <p:nvPr/>
          </p:nvSpPr>
          <p:spPr>
            <a:xfrm>
              <a:off x="2592" y="1056"/>
              <a:ext cx="528" cy="192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sync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459" name="Text Box 8"/>
            <p:cNvSpPr txBox="1"/>
            <p:nvPr/>
          </p:nvSpPr>
          <p:spPr>
            <a:xfrm>
              <a:off x="2304" y="1392"/>
              <a:ext cx="384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read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460" name="Text Box 9"/>
            <p:cNvSpPr txBox="1"/>
            <p:nvPr/>
          </p:nvSpPr>
          <p:spPr>
            <a:xfrm>
              <a:off x="1296" y="1440"/>
              <a:ext cx="480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write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461" name="Text Box 10"/>
            <p:cNvSpPr txBox="1"/>
            <p:nvPr/>
          </p:nvSpPr>
          <p:spPr>
            <a:xfrm>
              <a:off x="2640" y="2352"/>
              <a:ext cx="384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sync</a:t>
              </a:r>
              <a:endParaRPr lang="en-US" altLang="en-US" sz="1400" b="1">
                <a:latin typeface="Helvetica" pitchFamily="34" charset="0"/>
              </a:endParaRPr>
            </a:p>
          </p:txBody>
        </p:sp>
      </p:grpSp>
      <p:sp>
        <p:nvSpPr>
          <p:cNvPr id="1049462" name="Text Box 12"/>
          <p:cNvSpPr txBox="1"/>
          <p:nvPr/>
        </p:nvSpPr>
        <p:spPr>
          <a:xfrm>
            <a:off x="365125" y="1260475"/>
            <a:ext cx="1529080" cy="2225041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B0: </a:t>
            </a:r>
            <a:r>
              <a:rPr lang="en-US" altLang="en-US" sz="2400" b="1" i="1">
                <a:latin typeface="Times New Roman" panose="02020603050405020304" charset="0"/>
              </a:rPr>
              <a:t>top </a:t>
            </a:r>
            <a:br>
              <a:rPr lang="en-US" altLang="en-US" sz="2400" b="1" i="1">
                <a:latin typeface="Times New Roman" panose="02020603050405020304" charset="0"/>
              </a:rPr>
            </a:br>
            <a:r>
              <a:rPr lang="en-US" altLang="en-US" sz="2400" b="1" i="1">
                <a:latin typeface="Times New Roman" panose="02020603050405020304" charset="0"/>
              </a:rPr>
              <a:t>behavior</a:t>
            </a:r>
            <a:endParaRPr lang="en-US" altLang="en-US" sz="2400" b="1" i="1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integer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variable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boolean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 variable</a:t>
            </a:r>
            <a:endParaRPr lang="en-US" altLang="en-US" sz="2400">
              <a:latin typeface="Times New Roman" panose="02020603050405020304" charset="0"/>
            </a:endParaRPr>
          </a:p>
        </p:txBody>
      </p:sp>
      <p:sp>
        <p:nvSpPr>
          <p:cNvPr id="1049463" name="Line 13"/>
          <p:cNvSpPr/>
          <p:nvPr/>
        </p:nvSpPr>
        <p:spPr>
          <a:xfrm flipV="1">
            <a:off x="1447800" y="1828800"/>
            <a:ext cx="1447800" cy="533400"/>
          </a:xfrm>
          <a:prstGeom prst="line">
            <a:avLst/>
          </a:prstGeom>
          <a:noFill/>
          <a:ln w="12700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sp>
      <p:sp>
        <p:nvSpPr>
          <p:cNvPr id="1049464" name="Line 14"/>
          <p:cNvSpPr/>
          <p:nvPr/>
        </p:nvSpPr>
        <p:spPr>
          <a:xfrm flipV="1">
            <a:off x="1524000" y="1828800"/>
            <a:ext cx="3733800" cy="1295400"/>
          </a:xfrm>
          <a:prstGeom prst="line">
            <a:avLst/>
          </a:prstGeom>
          <a:noFill/>
          <a:ln w="12700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</p:sp>
      <p:sp>
        <p:nvSpPr>
          <p:cNvPr id="1049465" name="Text Box 15"/>
          <p:cNvSpPr txBox="1"/>
          <p:nvPr/>
        </p:nvSpPr>
        <p:spPr>
          <a:xfrm>
            <a:off x="7527925" y="1946275"/>
            <a:ext cx="1430308" cy="8026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 b="1" i="1">
                <a:latin typeface="Times New Roman" panose="02020603050405020304" charset="0"/>
              </a:rPr>
              <a:t>child </a:t>
            </a:r>
            <a:endParaRPr lang="en-US" altLang="en-US" sz="2400" b="1" i="1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 b="1" i="1">
                <a:latin typeface="Times New Roman" panose="02020603050405020304" charset="0"/>
              </a:rPr>
              <a:t>behavior</a:t>
            </a:r>
            <a:endParaRPr lang="en-US" altLang="en-US" sz="2400" b="1" i="1">
              <a:latin typeface="Times New Roman" panose="02020603050405020304" charset="0"/>
            </a:endParaRPr>
          </a:p>
        </p:txBody>
      </p:sp>
      <p:sp>
        <p:nvSpPr>
          <p:cNvPr id="1049466" name="Text Box 16"/>
          <p:cNvSpPr txBox="1"/>
          <p:nvPr/>
        </p:nvSpPr>
        <p:spPr>
          <a:xfrm>
            <a:off x="457200" y="3886200"/>
            <a:ext cx="2368272" cy="258064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Graphical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representation: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Hierarchy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Concurrency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Transitions 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 between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 behaviors</a:t>
            </a:r>
            <a:endParaRPr lang="en-US" altLang="en-US" sz="2400">
              <a:latin typeface="Times New Roman" panose="02020603050405020304" charset="0"/>
            </a:endParaRPr>
          </a:p>
        </p:txBody>
      </p:sp>
      <p:sp>
        <p:nvSpPr>
          <p:cNvPr id="1049467" name="Text Box 17"/>
          <p:cNvSpPr txBox="1"/>
          <p:nvPr/>
        </p:nvSpPr>
        <p:spPr>
          <a:xfrm>
            <a:off x="3048000" y="4648200"/>
            <a:ext cx="3510279" cy="18694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 u="sng">
                <a:latin typeface="Times New Roman" panose="02020603050405020304" charset="0"/>
              </a:rPr>
              <a:t>Behaviors</a:t>
            </a:r>
            <a:endParaRPr lang="en-US" altLang="en-US" sz="2400" u="sng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Sequential: B1, B2, B3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Concurrent: B4, B5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Atomic: B1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Composite: B2</a:t>
            </a:r>
            <a:endParaRPr lang="en-US" altLang="en-US" sz="240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468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System Specification Example (cont.)</a:t>
            </a:r>
            <a:endParaRPr lang="en-US" altLang="en-US"/>
          </a:p>
        </p:txBody>
      </p:sp>
      <p:grpSp>
        <p:nvGrpSpPr>
          <p:cNvPr id="168" name="Group 167"/>
          <p:cNvGrpSpPr/>
          <p:nvPr/>
        </p:nvGrpSpPr>
        <p:grpSpPr>
          <a:xfrm rot="0">
            <a:off x="1981200" y="1219200"/>
            <a:ext cx="6934200" cy="4857750"/>
            <a:chOff x="660" y="804"/>
            <a:chExt cx="4368" cy="3060"/>
          </a:xfrm>
        </p:grpSpPr>
        <p:pic>
          <p:nvPicPr>
            <p:cNvPr id="2097197" name="Picture 5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660" y="804"/>
              <a:ext cx="4368" cy="30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469" name="Text Box 6"/>
            <p:cNvSpPr txBox="1"/>
            <p:nvPr/>
          </p:nvSpPr>
          <p:spPr>
            <a:xfrm>
              <a:off x="1152" y="1056"/>
              <a:ext cx="528" cy="192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solidFill>
                    <a:schemeClr val="dk1"/>
                  </a:solidFill>
                  <a:latin typeface="Helvetica" pitchFamily="34" charset="0"/>
                </a:rPr>
                <a:t>shared</a:t>
              </a:r>
              <a:endParaRPr lang="en-US" altLang="en-US" sz="1400" b="1">
                <a:solidFill>
                  <a:schemeClr val="dk1"/>
                </a:solidFill>
                <a:latin typeface="Helvetica" pitchFamily="34" charset="0"/>
              </a:endParaRPr>
            </a:p>
          </p:txBody>
        </p:sp>
        <p:sp>
          <p:nvSpPr>
            <p:cNvPr id="1049470" name="Text Box 7"/>
            <p:cNvSpPr txBox="1"/>
            <p:nvPr/>
          </p:nvSpPr>
          <p:spPr>
            <a:xfrm>
              <a:off x="2592" y="1056"/>
              <a:ext cx="528" cy="192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solidFill>
                    <a:schemeClr val="dk1"/>
                  </a:solidFill>
                  <a:latin typeface="Helvetica" pitchFamily="34" charset="0"/>
                </a:rPr>
                <a:t>sync</a:t>
              </a:r>
              <a:endParaRPr lang="en-US" altLang="en-US" sz="1400" b="1">
                <a:solidFill>
                  <a:schemeClr val="dk1"/>
                </a:solidFill>
                <a:latin typeface="Helvetica" pitchFamily="34" charset="0"/>
              </a:endParaRPr>
            </a:p>
          </p:txBody>
        </p:sp>
        <p:sp>
          <p:nvSpPr>
            <p:cNvPr id="1049471" name="Text Box 8"/>
            <p:cNvSpPr txBox="1"/>
            <p:nvPr/>
          </p:nvSpPr>
          <p:spPr>
            <a:xfrm>
              <a:off x="2304" y="1392"/>
              <a:ext cx="384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solidFill>
                    <a:schemeClr val="dk1"/>
                  </a:solidFill>
                  <a:latin typeface="Helvetica" pitchFamily="34" charset="0"/>
                </a:rPr>
                <a:t>read</a:t>
              </a:r>
              <a:endParaRPr lang="en-US" altLang="en-US" sz="1400" b="1">
                <a:solidFill>
                  <a:schemeClr val="dk1"/>
                </a:solidFill>
                <a:latin typeface="Helvetica" pitchFamily="34" charset="0"/>
              </a:endParaRPr>
            </a:p>
          </p:txBody>
        </p:sp>
        <p:sp>
          <p:nvSpPr>
            <p:cNvPr id="1049472" name="Text Box 9"/>
            <p:cNvSpPr txBox="1"/>
            <p:nvPr/>
          </p:nvSpPr>
          <p:spPr>
            <a:xfrm>
              <a:off x="1296" y="1440"/>
              <a:ext cx="480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solidFill>
                    <a:schemeClr val="dk1"/>
                  </a:solidFill>
                  <a:latin typeface="Helvetica" pitchFamily="34" charset="0"/>
                </a:rPr>
                <a:t>write</a:t>
              </a:r>
              <a:endParaRPr lang="en-US" altLang="en-US" sz="1400" b="1">
                <a:solidFill>
                  <a:schemeClr val="dk1"/>
                </a:solidFill>
                <a:latin typeface="Helvetica" pitchFamily="34" charset="0"/>
              </a:endParaRPr>
            </a:p>
          </p:txBody>
        </p:sp>
        <p:sp>
          <p:nvSpPr>
            <p:cNvPr id="1049473" name="Text Box 10"/>
            <p:cNvSpPr txBox="1"/>
            <p:nvPr/>
          </p:nvSpPr>
          <p:spPr>
            <a:xfrm>
              <a:off x="2640" y="2352"/>
              <a:ext cx="384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solidFill>
                    <a:schemeClr val="dk1"/>
                  </a:solidFill>
                  <a:latin typeface="Helvetica" pitchFamily="34" charset="0"/>
                </a:rPr>
                <a:t>sync</a:t>
              </a:r>
              <a:endParaRPr lang="en-US" altLang="en-US" sz="1400" b="1">
                <a:solidFill>
                  <a:schemeClr val="dk1"/>
                </a:solidFill>
                <a:latin typeface="Helvetica" pitchFamily="34" charset="0"/>
              </a:endParaRPr>
            </a:p>
          </p:txBody>
        </p:sp>
      </p:grpSp>
      <p:sp>
        <p:nvSpPr>
          <p:cNvPr id="1049474" name="Text Box 12"/>
          <p:cNvSpPr txBox="1"/>
          <p:nvPr/>
        </p:nvSpPr>
        <p:spPr>
          <a:xfrm>
            <a:off x="152400" y="1412875"/>
            <a:ext cx="2695575" cy="41084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 u="sng">
                <a:latin typeface="Times New Roman" panose="02020603050405020304" charset="0"/>
              </a:rPr>
              <a:t>Producer-</a:t>
            </a:r>
            <a:endParaRPr lang="en-US" altLang="en-US" sz="2400" u="sng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 u="sng">
                <a:latin typeface="Times New Roman" panose="02020603050405020304" charset="0"/>
              </a:rPr>
              <a:t>consumer</a:t>
            </a:r>
            <a:endParaRPr lang="en-US" altLang="en-US" sz="2400" u="sng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 u="sng">
                <a:latin typeface="Times New Roman" panose="02020603050405020304" charset="0"/>
              </a:rPr>
              <a:t>functionality</a:t>
            </a:r>
            <a:endParaRPr lang="en-US" altLang="en-US" sz="2400" u="sng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B6 computes a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value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B4 consumes the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value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Synchronization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 is needed: B4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 waits until B6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 produces the value</a:t>
            </a:r>
            <a:endParaRPr lang="en-US" altLang="en-US" sz="240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475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System Specification Example</a:t>
            </a:r>
            <a:endParaRPr lang="en-US" altLang="en-US"/>
          </a:p>
        </p:txBody>
      </p:sp>
      <p:sp>
        <p:nvSpPr>
          <p:cNvPr id="1049476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Atomic behaviors</a:t>
            </a:r>
            <a:endParaRPr lang="en-US" altLang="en-US"/>
          </a:p>
        </p:txBody>
      </p:sp>
      <p:sp>
        <p:nvSpPr>
          <p:cNvPr id="1049477" name="Rectangle 4"/>
          <p:cNvSpPr/>
          <p:nvPr/>
        </p:nvSpPr>
        <p:spPr>
          <a:xfrm>
            <a:off x="1143000" y="1676400"/>
            <a:ext cx="1447800" cy="1905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B1(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stmt;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...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  <p:sp>
        <p:nvSpPr>
          <p:cNvPr id="1049478" name="Rectangle 5"/>
          <p:cNvSpPr/>
          <p:nvPr/>
        </p:nvSpPr>
        <p:spPr>
          <a:xfrm>
            <a:off x="3581400" y="1676400"/>
            <a:ext cx="1447800" cy="1905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B3(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stmt;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...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  <p:sp>
        <p:nvSpPr>
          <p:cNvPr id="1049479" name="Rectangle 6"/>
          <p:cNvSpPr/>
          <p:nvPr/>
        </p:nvSpPr>
        <p:spPr>
          <a:xfrm>
            <a:off x="6019800" y="1676400"/>
            <a:ext cx="1447800" cy="1905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B7(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stmt;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...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  <p:sp>
        <p:nvSpPr>
          <p:cNvPr id="1049480" name="Rectangle 7"/>
          <p:cNvSpPr/>
          <p:nvPr/>
        </p:nvSpPr>
        <p:spPr>
          <a:xfrm>
            <a:off x="1143000" y="3733800"/>
            <a:ext cx="2971800" cy="27432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B6(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int local;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…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shared = local + 1;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signal(sync);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  <p:sp>
        <p:nvSpPr>
          <p:cNvPr id="1049481" name="Rectangle 8"/>
          <p:cNvSpPr/>
          <p:nvPr/>
        </p:nvSpPr>
        <p:spPr>
          <a:xfrm>
            <a:off x="4800600" y="3733800"/>
            <a:ext cx="2971800" cy="27432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B4(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int local;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wait(sync);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local = shared - 1;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...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482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Allocation</a:t>
            </a:r>
            <a:endParaRPr lang="en-US" altLang="en-US"/>
          </a:p>
        </p:txBody>
      </p:sp>
      <p:sp>
        <p:nvSpPr>
          <p:cNvPr id="1049483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Selects the type and number of components from a library and determines their interconnection</a:t>
            </a:r>
            <a:endParaRPr lang="en-US" altLang="en-US"/>
          </a:p>
          <a:p>
            <a:pPr lvl="0" eaLnBrk="1" hangingPunct="1"/>
            <a:r>
              <a:rPr lang="en-US" altLang="en-US"/>
              <a:t>Implements functionality so as to</a:t>
            </a:r>
            <a:endParaRPr lang="en-US" altLang="en-US"/>
          </a:p>
          <a:p>
            <a:pPr lvl="1" eaLnBrk="1" hangingPunct="1"/>
            <a:r>
              <a:rPr lang="en-US" altLang="en-US"/>
              <a:t>Satisfy constraints</a:t>
            </a:r>
            <a:endParaRPr lang="en-US" altLang="en-US"/>
          </a:p>
          <a:p>
            <a:pPr lvl="1" eaLnBrk="1" hangingPunct="1"/>
            <a:r>
              <a:rPr lang="en-US" altLang="en-US"/>
              <a:t>Minimize objective cost function</a:t>
            </a:r>
            <a:endParaRPr lang="en-US" altLang="en-US"/>
          </a:p>
          <a:p>
            <a:pPr lvl="0" eaLnBrk="1" hangingPunct="1"/>
            <a:r>
              <a:rPr lang="en-US" altLang="en-US"/>
              <a:t>Result may be customization of a generic target architecture</a:t>
            </a:r>
            <a:endParaRPr lang="en-US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484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Allocation Example</a:t>
            </a:r>
            <a:endParaRPr lang="en-US" altLang="en-US"/>
          </a:p>
        </p:txBody>
      </p:sp>
      <p:grpSp>
        <p:nvGrpSpPr>
          <p:cNvPr id="172" name="Group 171"/>
          <p:cNvGrpSpPr/>
          <p:nvPr/>
        </p:nvGrpSpPr>
        <p:grpSpPr>
          <a:xfrm rot="0">
            <a:off x="1295400" y="1447800"/>
            <a:ext cx="6705600" cy="3871912"/>
            <a:chOff x="816" y="912"/>
            <a:chExt cx="4224" cy="2439"/>
          </a:xfrm>
        </p:grpSpPr>
        <p:pic>
          <p:nvPicPr>
            <p:cNvPr id="2097198" name="Picture 6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816" y="912"/>
              <a:ext cx="4224" cy="24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485" name="Text Box 7"/>
            <p:cNvSpPr txBox="1"/>
            <p:nvPr/>
          </p:nvSpPr>
          <p:spPr>
            <a:xfrm>
              <a:off x="1104" y="1344"/>
              <a:ext cx="427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Proc1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486" name="Text Box 8"/>
            <p:cNvSpPr txBox="1"/>
            <p:nvPr/>
          </p:nvSpPr>
          <p:spPr>
            <a:xfrm>
              <a:off x="1824" y="1344"/>
              <a:ext cx="503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LMem1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487" name="Text Box 9"/>
            <p:cNvSpPr txBox="1"/>
            <p:nvPr/>
          </p:nvSpPr>
          <p:spPr>
            <a:xfrm>
              <a:off x="4272" y="1344"/>
              <a:ext cx="503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LMem2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488" name="Text Box 10"/>
            <p:cNvSpPr txBox="1"/>
            <p:nvPr/>
          </p:nvSpPr>
          <p:spPr>
            <a:xfrm>
              <a:off x="3504" y="1344"/>
              <a:ext cx="442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ASIC1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489" name="Text Box 11"/>
            <p:cNvSpPr txBox="1"/>
            <p:nvPr/>
          </p:nvSpPr>
          <p:spPr>
            <a:xfrm>
              <a:off x="2688" y="1344"/>
              <a:ext cx="522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GMem1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490" name="Text Box 12"/>
            <p:cNvSpPr txBox="1"/>
            <p:nvPr/>
          </p:nvSpPr>
          <p:spPr>
            <a:xfrm>
              <a:off x="1560" y="2280"/>
              <a:ext cx="384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IF1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491" name="Text Box 13"/>
            <p:cNvSpPr txBox="1"/>
            <p:nvPr/>
          </p:nvSpPr>
          <p:spPr>
            <a:xfrm>
              <a:off x="2820" y="2280"/>
              <a:ext cx="384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IF2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492" name="Text Box 14"/>
            <p:cNvSpPr txBox="1"/>
            <p:nvPr/>
          </p:nvSpPr>
          <p:spPr>
            <a:xfrm>
              <a:off x="4068" y="2280"/>
              <a:ext cx="384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IF3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493" name="Text Box 15"/>
            <p:cNvSpPr txBox="1"/>
            <p:nvPr/>
          </p:nvSpPr>
          <p:spPr>
            <a:xfrm>
              <a:off x="960" y="2784"/>
              <a:ext cx="816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system bus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494" name="Text Box 16"/>
            <p:cNvSpPr txBox="1"/>
            <p:nvPr/>
          </p:nvSpPr>
          <p:spPr>
            <a:xfrm>
              <a:off x="2208" y="3024"/>
              <a:ext cx="576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Arbiter1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495" name="Text Box 17"/>
            <p:cNvSpPr txBox="1"/>
            <p:nvPr/>
          </p:nvSpPr>
          <p:spPr>
            <a:xfrm>
              <a:off x="2016" y="2016"/>
              <a:ext cx="384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bus1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496" name="Text Box 18"/>
            <p:cNvSpPr txBox="1"/>
            <p:nvPr/>
          </p:nvSpPr>
          <p:spPr>
            <a:xfrm>
              <a:off x="2976" y="2016"/>
              <a:ext cx="384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bus2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497" name="Text Box 19"/>
            <p:cNvSpPr txBox="1"/>
            <p:nvPr/>
          </p:nvSpPr>
          <p:spPr>
            <a:xfrm>
              <a:off x="4560" y="2016"/>
              <a:ext cx="384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bus3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498" name="Text Box 20"/>
            <p:cNvSpPr txBox="1"/>
            <p:nvPr/>
          </p:nvSpPr>
          <p:spPr>
            <a:xfrm>
              <a:off x="912" y="1008"/>
              <a:ext cx="384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PE1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499" name="Text Box 21"/>
            <p:cNvSpPr txBox="1"/>
            <p:nvPr/>
          </p:nvSpPr>
          <p:spPr>
            <a:xfrm>
              <a:off x="3408" y="1008"/>
              <a:ext cx="384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PE2</a:t>
              </a:r>
              <a:endParaRPr lang="en-US" altLang="en-US" sz="1400" b="1">
                <a:latin typeface="Helvetica" pitchFamily="34" charset="0"/>
              </a:endParaRPr>
            </a:p>
          </p:txBody>
        </p:sp>
      </p:grpSp>
      <p:sp>
        <p:nvSpPr>
          <p:cNvPr id="1049500" name="Text Box 22"/>
          <p:cNvSpPr txBox="1"/>
          <p:nvPr/>
        </p:nvSpPr>
        <p:spPr>
          <a:xfrm>
            <a:off x="304800" y="4724400"/>
            <a:ext cx="3162300" cy="1552575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PE: Processing Element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LMem: Local Memory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GMem: Global Memory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IF: Interface</a:t>
            </a:r>
            <a:endParaRPr lang="en-US" altLang="en-US" sz="2400">
              <a:latin typeface="Times New Roman" panose="02020603050405020304" charset="0"/>
            </a:endParaRPr>
          </a:p>
        </p:txBody>
      </p:sp>
      <p:sp>
        <p:nvSpPr>
          <p:cNvPr id="1049501" name="Text Box 23"/>
          <p:cNvSpPr txBox="1"/>
          <p:nvPr/>
        </p:nvSpPr>
        <p:spPr>
          <a:xfrm>
            <a:off x="5257800" y="5029200"/>
            <a:ext cx="3446462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Target Architecture Model</a:t>
            </a:r>
            <a:endParaRPr lang="en-US" altLang="en-US" sz="240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502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Partitioning</a:t>
            </a:r>
            <a:endParaRPr lang="en-US" altLang="en-US"/>
          </a:p>
        </p:txBody>
      </p:sp>
      <p:sp>
        <p:nvSpPr>
          <p:cNvPr id="1049503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>
              <a:lnSpc>
                <a:spcPct val="90000"/>
              </a:lnSpc>
            </a:pPr>
            <a:r>
              <a:rPr lang="en-US" altLang="en-US"/>
              <a:t>Defines the mapping between the set of behaviors in the specification and the set of allocated components in the architecture</a:t>
            </a: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Satisfy constraints</a:t>
            </a: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Minimize costs</a:t>
            </a:r>
            <a:endParaRPr lang="en-US" altLang="en-US"/>
          </a:p>
          <a:p>
            <a:pPr lvl="0" eaLnBrk="1" hangingPunct="1">
              <a:lnSpc>
                <a:spcPct val="90000"/>
              </a:lnSpc>
            </a:pPr>
            <a:r>
              <a:rPr lang="en-US" altLang="en-US"/>
              <a:t>Not yet near implementation</a:t>
            </a: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Multiple behaviors in a single PE (scheduling)</a:t>
            </a: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Interactions between PEs (communication) </a:t>
            </a:r>
            <a:endParaRPr lang="en-US" altLang="en-US"/>
          </a:p>
          <a:p>
            <a:pPr lvl="0" eaLnBrk="1" hangingPunct="1">
              <a:lnSpc>
                <a:spcPct val="90000"/>
              </a:lnSpc>
            </a:pPr>
            <a:r>
              <a:rPr lang="en-US" altLang="en-US"/>
              <a:t>Design model</a:t>
            </a: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additional level of hierarchy</a:t>
            </a: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functional equivalence with specification</a:t>
            </a:r>
            <a:endParaRPr lang="en-US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504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Partitioning Example</a:t>
            </a:r>
            <a:endParaRPr lang="en-US" altLang="en-US"/>
          </a:p>
        </p:txBody>
      </p:sp>
      <p:sp>
        <p:nvSpPr>
          <p:cNvPr id="1049505" name="Text Box 4"/>
          <p:cNvSpPr txBox="1"/>
          <p:nvPr/>
        </p:nvSpPr>
        <p:spPr>
          <a:xfrm>
            <a:off x="1050925" y="5984875"/>
            <a:ext cx="4046537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System model after partitioning</a:t>
            </a:r>
            <a:endParaRPr lang="en-US" altLang="en-US" sz="2400">
              <a:latin typeface="Times New Roman" panose="02020603050405020304" charset="0"/>
            </a:endParaRPr>
          </a:p>
        </p:txBody>
      </p:sp>
      <p:grpSp>
        <p:nvGrpSpPr>
          <p:cNvPr id="175" name="Group 174"/>
          <p:cNvGrpSpPr/>
          <p:nvPr/>
        </p:nvGrpSpPr>
        <p:grpSpPr>
          <a:xfrm rot="0">
            <a:off x="914400" y="1371600"/>
            <a:ext cx="6553200" cy="4649787"/>
            <a:chOff x="816" y="960"/>
            <a:chExt cx="4128" cy="2929"/>
          </a:xfrm>
        </p:grpSpPr>
        <p:pic>
          <p:nvPicPr>
            <p:cNvPr id="2097199" name="Picture 6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816" y="960"/>
              <a:ext cx="4128" cy="29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506" name="Text Box 7"/>
            <p:cNvSpPr txBox="1"/>
            <p:nvPr/>
          </p:nvSpPr>
          <p:spPr>
            <a:xfrm>
              <a:off x="1190" y="1015"/>
              <a:ext cx="3595" cy="192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shared       sync         B1_start      B1_done     B4_start     B4_done 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07" name="Text Box 8"/>
            <p:cNvSpPr txBox="1"/>
            <p:nvPr/>
          </p:nvSpPr>
          <p:spPr>
            <a:xfrm>
              <a:off x="3062" y="1879"/>
              <a:ext cx="563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B1_start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08" name="Text Box 9"/>
            <p:cNvSpPr txBox="1"/>
            <p:nvPr/>
          </p:nvSpPr>
          <p:spPr>
            <a:xfrm>
              <a:off x="3360" y="2256"/>
              <a:ext cx="587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B1_done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09" name="Text Box 10"/>
            <p:cNvSpPr txBox="1"/>
            <p:nvPr/>
          </p:nvSpPr>
          <p:spPr>
            <a:xfrm>
              <a:off x="3120" y="2688"/>
              <a:ext cx="563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B4_start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10" name="Text Box 11"/>
            <p:cNvSpPr txBox="1"/>
            <p:nvPr/>
          </p:nvSpPr>
          <p:spPr>
            <a:xfrm>
              <a:off x="3360" y="3120"/>
              <a:ext cx="587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B4_done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11" name="Text Box 12"/>
            <p:cNvSpPr txBox="1"/>
            <p:nvPr/>
          </p:nvSpPr>
          <p:spPr>
            <a:xfrm>
              <a:off x="1056" y="1584"/>
              <a:ext cx="328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PE0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12" name="Text Box 13"/>
            <p:cNvSpPr txBox="1"/>
            <p:nvPr/>
          </p:nvSpPr>
          <p:spPr>
            <a:xfrm>
              <a:off x="3840" y="1584"/>
              <a:ext cx="328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PE1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13" name="Text Box 14"/>
            <p:cNvSpPr txBox="1"/>
            <p:nvPr/>
          </p:nvSpPr>
          <p:spPr>
            <a:xfrm>
              <a:off x="864" y="1008"/>
              <a:ext cx="320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Top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14" name="Text Box 15"/>
            <p:cNvSpPr txBox="1"/>
            <p:nvPr/>
          </p:nvSpPr>
          <p:spPr>
            <a:xfrm>
              <a:off x="2472" y="2040"/>
              <a:ext cx="528" cy="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>
                  <a:alpha val="100000"/>
                </a:schemeClr>
              </a:solidFill>
              <a:prstDash val="solid"/>
              <a:round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B1_ctrl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15" name="Text Box 16"/>
            <p:cNvSpPr txBox="1"/>
            <p:nvPr/>
          </p:nvSpPr>
          <p:spPr>
            <a:xfrm>
              <a:off x="2496" y="2856"/>
              <a:ext cx="528" cy="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>
                  <a:alpha val="100000"/>
                </a:schemeClr>
              </a:solidFill>
              <a:prstDash val="solid"/>
              <a:round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B4_ctrl</a:t>
              </a:r>
              <a:endParaRPr lang="en-US" altLang="en-US" sz="1400" b="1">
                <a:latin typeface="Helvetica" pitchFamily="34" charset="0"/>
              </a:endParaRPr>
            </a:p>
          </p:txBody>
        </p:sp>
      </p:grpSp>
      <p:sp>
        <p:nvSpPr>
          <p:cNvPr id="1049516" name="Text Box 17"/>
          <p:cNvSpPr txBox="1"/>
          <p:nvPr/>
        </p:nvSpPr>
        <p:spPr>
          <a:xfrm>
            <a:off x="2362200" y="2590800"/>
            <a:ext cx="1571625" cy="822325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 b="1" i="1">
                <a:latin typeface="Times New Roman" panose="02020603050405020304" charset="0"/>
              </a:rPr>
              <a:t>controlling</a:t>
            </a:r>
            <a:br>
              <a:rPr lang="en-US" altLang="en-US" sz="2400" b="1" i="1">
                <a:latin typeface="Times New Roman" panose="02020603050405020304" charset="0"/>
              </a:rPr>
            </a:br>
            <a:r>
              <a:rPr lang="en-US" altLang="en-US" sz="2400" b="1" i="1">
                <a:latin typeface="Times New Roman" panose="02020603050405020304" charset="0"/>
              </a:rPr>
              <a:t>behavior</a:t>
            </a:r>
            <a:endParaRPr lang="en-US" altLang="en-US" sz="2400" b="1" i="1">
              <a:latin typeface="Times New Roman" panose="02020603050405020304" charset="0"/>
            </a:endParaRPr>
          </a:p>
        </p:txBody>
      </p:sp>
      <p:sp>
        <p:nvSpPr>
          <p:cNvPr id="1049517" name="Text Box 18"/>
          <p:cNvSpPr txBox="1"/>
          <p:nvPr/>
        </p:nvSpPr>
        <p:spPr>
          <a:xfrm>
            <a:off x="6858000" y="2514600"/>
            <a:ext cx="1663700" cy="191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Child (B1)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assigned to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different PE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than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parent (B0)</a:t>
            </a:r>
            <a:endParaRPr lang="en-US" altLang="en-US" sz="2400">
              <a:latin typeface="Times New Roman" panose="02020603050405020304" charset="0"/>
            </a:endParaRPr>
          </a:p>
        </p:txBody>
      </p:sp>
      <p:sp>
        <p:nvSpPr>
          <p:cNvPr id="1049518" name="Text Box 19"/>
          <p:cNvSpPr txBox="1"/>
          <p:nvPr/>
        </p:nvSpPr>
        <p:spPr>
          <a:xfrm>
            <a:off x="3276600" y="10668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 b="1" i="1">
                <a:latin typeface="Times New Roman" panose="02020603050405020304" charset="0"/>
              </a:rPr>
              <a:t>synchronization variables</a:t>
            </a:r>
            <a:endParaRPr lang="en-US" altLang="en-US" sz="2400" b="1" i="1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519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Partitioning Example (cont.)</a:t>
            </a:r>
            <a:endParaRPr lang="en-US" altLang="en-US"/>
          </a:p>
        </p:txBody>
      </p:sp>
      <p:sp>
        <p:nvSpPr>
          <p:cNvPr id="1049520" name="Rectangle 3"/>
          <p:cNvSpPr/>
          <p:nvPr>
            <p:ph type="body" idx="1"/>
          </p:nvPr>
        </p:nvSpPr>
        <p:spPr>
          <a:xfrm>
            <a:off x="304800" y="914400"/>
            <a:ext cx="85344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Atomic behaviors</a:t>
            </a:r>
            <a:endParaRPr lang="en-US" altLang="en-US"/>
          </a:p>
        </p:txBody>
      </p:sp>
      <p:sp>
        <p:nvSpPr>
          <p:cNvPr id="1049521" name="Rectangle 4"/>
          <p:cNvSpPr/>
          <p:nvPr/>
        </p:nvSpPr>
        <p:spPr>
          <a:xfrm>
            <a:off x="304800" y="1581150"/>
            <a:ext cx="2819400" cy="2286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B1(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wait(B1_start);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…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signal(B1_done);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  <p:sp>
        <p:nvSpPr>
          <p:cNvPr id="1049522" name="Rectangle 5"/>
          <p:cNvSpPr/>
          <p:nvPr/>
        </p:nvSpPr>
        <p:spPr>
          <a:xfrm>
            <a:off x="6172200" y="1524000"/>
            <a:ext cx="1371600" cy="190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B3(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stmt;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...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  <p:sp>
        <p:nvSpPr>
          <p:cNvPr id="1049523" name="Rectangle 6"/>
          <p:cNvSpPr/>
          <p:nvPr/>
        </p:nvSpPr>
        <p:spPr>
          <a:xfrm>
            <a:off x="7391400" y="2038350"/>
            <a:ext cx="1447800" cy="1905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B7(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stmt;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...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  <p:sp>
        <p:nvSpPr>
          <p:cNvPr id="1049524" name="Rectangle 7"/>
          <p:cNvSpPr/>
          <p:nvPr/>
        </p:nvSpPr>
        <p:spPr>
          <a:xfrm>
            <a:off x="6477000" y="4114800"/>
            <a:ext cx="2438400" cy="24384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B6( )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{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int local;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…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shared = local + 1;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signal(sync);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}</a:t>
            </a:r>
            <a:endParaRPr lang="en-US" altLang="en-US" sz="1900" b="1"/>
          </a:p>
        </p:txBody>
      </p:sp>
      <p:sp>
        <p:nvSpPr>
          <p:cNvPr id="1049525" name="Rectangle 8"/>
          <p:cNvSpPr/>
          <p:nvPr/>
        </p:nvSpPr>
        <p:spPr>
          <a:xfrm>
            <a:off x="304800" y="3962400"/>
            <a:ext cx="2971800" cy="27432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B4( )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{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int local;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wait(B4_start);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wait(sync);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local = shared - 1;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…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signal(B4_done);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}</a:t>
            </a:r>
            <a:endParaRPr lang="en-US" altLang="en-US" sz="1900" b="1"/>
          </a:p>
        </p:txBody>
      </p:sp>
      <p:sp>
        <p:nvSpPr>
          <p:cNvPr id="1049526" name="Rectangle 9"/>
          <p:cNvSpPr/>
          <p:nvPr/>
        </p:nvSpPr>
        <p:spPr>
          <a:xfrm>
            <a:off x="3200400" y="1581150"/>
            <a:ext cx="2743200" cy="2286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B1_ctrl(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signal(B1_start);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wait(B1_done);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  <p:sp>
        <p:nvSpPr>
          <p:cNvPr id="1049527" name="Rectangle 10"/>
          <p:cNvSpPr/>
          <p:nvPr/>
        </p:nvSpPr>
        <p:spPr>
          <a:xfrm>
            <a:off x="3352800" y="4038600"/>
            <a:ext cx="2971800" cy="16764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B4_ctrl( )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{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signal(B4_start);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wait(B4_done);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}</a:t>
            </a:r>
            <a:endParaRPr lang="en-US" altLang="en-US" sz="1900" b="1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528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Scheduling</a:t>
            </a:r>
            <a:endParaRPr lang="en-US" altLang="en-US"/>
          </a:p>
        </p:txBody>
      </p:sp>
      <p:sp>
        <p:nvSpPr>
          <p:cNvPr id="1049529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Given a set of behaviors and optionally a set of performance constraints, determines a </a:t>
            </a:r>
            <a:r>
              <a:rPr lang="en-US" altLang="en-US" u="sng"/>
              <a:t>total order</a:t>
            </a:r>
            <a:r>
              <a:rPr lang="en-US" altLang="en-US"/>
              <a:t> in time for invoking behaviors running on the same PE</a:t>
            </a:r>
            <a:endParaRPr lang="en-US" altLang="en-US"/>
          </a:p>
          <a:p>
            <a:pPr lvl="0" eaLnBrk="1" hangingPunct="1"/>
            <a:r>
              <a:rPr lang="en-US" altLang="en-US"/>
              <a:t>Maintains the </a:t>
            </a:r>
            <a:r>
              <a:rPr lang="en-US" altLang="en-US" u="sng"/>
              <a:t>partial order</a:t>
            </a:r>
            <a:r>
              <a:rPr lang="en-US" altLang="en-US"/>
              <a:t> imposed by dependencies in the functionality</a:t>
            </a:r>
            <a:endParaRPr lang="en-US" altLang="en-US"/>
          </a:p>
          <a:p>
            <a:pPr lvl="0" eaLnBrk="1" hangingPunct="1"/>
            <a:r>
              <a:rPr lang="en-US" altLang="en-US"/>
              <a:t>Minimizes synchronization overhead between PEs and context-switching overhead within each PE</a:t>
            </a:r>
            <a:endParaRPr lang="en-US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530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Scheduling</a:t>
            </a:r>
            <a:endParaRPr lang="en-US" altLang="en-US"/>
          </a:p>
        </p:txBody>
      </p:sp>
      <p:sp>
        <p:nvSpPr>
          <p:cNvPr id="1049531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Ordering information</a:t>
            </a:r>
            <a:endParaRPr lang="en-US" altLang="en-US"/>
          </a:p>
          <a:p>
            <a:pPr lvl="1" eaLnBrk="1" hangingPunct="1"/>
            <a:r>
              <a:rPr lang="en-US" altLang="en-US"/>
              <a:t>Known at compile time</a:t>
            </a:r>
            <a:endParaRPr lang="en-US" altLang="en-US"/>
          </a:p>
          <a:p>
            <a:pPr lvl="2" eaLnBrk="1" hangingPunct="1"/>
            <a:r>
              <a:rPr lang="en-US" altLang="en-US"/>
              <a:t>Static scheduling</a:t>
            </a:r>
            <a:endParaRPr lang="en-US" altLang="en-US"/>
          </a:p>
          <a:p>
            <a:pPr lvl="2" eaLnBrk="1" hangingPunct="1"/>
            <a:r>
              <a:rPr lang="en-US" altLang="en-US"/>
              <a:t>Higher </a:t>
            </a:r>
            <a:r>
              <a:rPr lang="en-US" altLang="en-US" u="sng"/>
              <a:t>inter-PE synchronization overhead</a:t>
            </a:r>
            <a:r>
              <a:rPr lang="en-US" altLang="en-US"/>
              <a:t> if inaccurate performance estimation, i.e., longer wait times and lower CPU utilization</a:t>
            </a:r>
            <a:endParaRPr lang="en-US" altLang="en-US"/>
          </a:p>
          <a:p>
            <a:pPr lvl="1" eaLnBrk="1" hangingPunct="1"/>
            <a:r>
              <a:rPr lang="en-US" altLang="en-US"/>
              <a:t>Unknown until runtime (e.g., data-, event-dependent)</a:t>
            </a:r>
            <a:endParaRPr lang="en-US" altLang="en-US"/>
          </a:p>
          <a:p>
            <a:pPr lvl="2" eaLnBrk="1" hangingPunct="1"/>
            <a:r>
              <a:rPr lang="en-US" altLang="en-US"/>
              <a:t>Dynamic scheduling</a:t>
            </a:r>
            <a:endParaRPr lang="en-US" altLang="en-US"/>
          </a:p>
          <a:p>
            <a:pPr lvl="2" eaLnBrk="1" hangingPunct="1"/>
            <a:r>
              <a:rPr lang="en-US" altLang="en-US"/>
              <a:t>Higher </a:t>
            </a:r>
            <a:r>
              <a:rPr lang="en-US" altLang="en-US" u="sng"/>
              <a:t>context-switching overhead</a:t>
            </a:r>
            <a:r>
              <a:rPr lang="en-US" altLang="en-US"/>
              <a:t> (running task blocked, new task scheduled)</a:t>
            </a:r>
            <a:endParaRPr lang="en-US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532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Scheduling Example</a:t>
            </a:r>
            <a:endParaRPr lang="en-US" altLang="en-US"/>
          </a:p>
        </p:txBody>
      </p:sp>
      <p:grpSp>
        <p:nvGrpSpPr>
          <p:cNvPr id="180" name="Group 179"/>
          <p:cNvGrpSpPr/>
          <p:nvPr/>
        </p:nvGrpSpPr>
        <p:grpSpPr>
          <a:xfrm rot="0">
            <a:off x="2514600" y="1066800"/>
            <a:ext cx="6629400" cy="4738687"/>
            <a:chOff x="816" y="816"/>
            <a:chExt cx="4176" cy="2985"/>
          </a:xfrm>
        </p:grpSpPr>
        <p:pic>
          <p:nvPicPr>
            <p:cNvPr id="2097200" name="Picture 14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816" y="816"/>
              <a:ext cx="4176" cy="29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533" name="Text Box 15"/>
            <p:cNvSpPr txBox="1"/>
            <p:nvPr/>
          </p:nvSpPr>
          <p:spPr>
            <a:xfrm>
              <a:off x="1728" y="816"/>
              <a:ext cx="2560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shared       sync               B6_start        B3_start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34" name="Text Box 16"/>
            <p:cNvSpPr txBox="1"/>
            <p:nvPr/>
          </p:nvSpPr>
          <p:spPr>
            <a:xfrm>
              <a:off x="2822" y="1735"/>
              <a:ext cx="563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B6_start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35" name="Text Box 17"/>
            <p:cNvSpPr txBox="1"/>
            <p:nvPr/>
          </p:nvSpPr>
          <p:spPr>
            <a:xfrm>
              <a:off x="2928" y="2208"/>
              <a:ext cx="370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sync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36" name="Text Box 18"/>
            <p:cNvSpPr txBox="1"/>
            <p:nvPr/>
          </p:nvSpPr>
          <p:spPr>
            <a:xfrm>
              <a:off x="2832" y="2640"/>
              <a:ext cx="563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B3_start</a:t>
              </a:r>
              <a:endParaRPr lang="en-US" altLang="en-US" sz="1400" b="1">
                <a:latin typeface="Helvetica" pitchFamily="34" charset="0"/>
              </a:endParaRPr>
            </a:p>
          </p:txBody>
        </p:sp>
      </p:grpSp>
      <p:sp>
        <p:nvSpPr>
          <p:cNvPr id="1049537" name="Text Box 20"/>
          <p:cNvSpPr txBox="1"/>
          <p:nvPr/>
        </p:nvSpPr>
        <p:spPr>
          <a:xfrm>
            <a:off x="3581400" y="5638800"/>
            <a:ext cx="4664075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System model after static scheduling</a:t>
            </a:r>
            <a:endParaRPr lang="en-US" altLang="en-US" sz="2400">
              <a:latin typeface="Times New Roman" panose="02020603050405020304" charset="0"/>
            </a:endParaRPr>
          </a:p>
        </p:txBody>
      </p:sp>
      <p:sp>
        <p:nvSpPr>
          <p:cNvPr id="1049538" name="Text Box 21"/>
          <p:cNvSpPr txBox="1"/>
          <p:nvPr/>
        </p:nvSpPr>
        <p:spPr>
          <a:xfrm>
            <a:off x="152400" y="1447800"/>
            <a:ext cx="2535237" cy="4473575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Scheduling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decision: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Sequential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ordering of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behaviors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on PE0, PE1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Synchronization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 to maintain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 partial order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 across Pes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Optimization - no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 control behaviors</a:t>
            </a:r>
            <a:endParaRPr lang="en-US" altLang="en-US" sz="240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539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Scheduling Example (cont.)</a:t>
            </a:r>
            <a:endParaRPr lang="en-US" altLang="en-US"/>
          </a:p>
        </p:txBody>
      </p:sp>
      <p:sp>
        <p:nvSpPr>
          <p:cNvPr id="1049540" name="Rectangle 3"/>
          <p:cNvSpPr/>
          <p:nvPr>
            <p:ph type="body" idx="1"/>
          </p:nvPr>
        </p:nvSpPr>
        <p:spPr>
          <a:xfrm>
            <a:off x="304800" y="9906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Atomic behaviors</a:t>
            </a:r>
            <a:endParaRPr lang="en-US" altLang="en-US"/>
          </a:p>
        </p:txBody>
      </p:sp>
      <p:sp>
        <p:nvSpPr>
          <p:cNvPr id="1049541" name="Rectangle 4"/>
          <p:cNvSpPr/>
          <p:nvPr/>
        </p:nvSpPr>
        <p:spPr>
          <a:xfrm>
            <a:off x="685800" y="1600200"/>
            <a:ext cx="2667000" cy="1905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B1(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…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signal(B6_start);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  <p:sp>
        <p:nvSpPr>
          <p:cNvPr id="1049542" name="Rectangle 5"/>
          <p:cNvSpPr/>
          <p:nvPr/>
        </p:nvSpPr>
        <p:spPr>
          <a:xfrm>
            <a:off x="3505200" y="1600200"/>
            <a:ext cx="2590800" cy="1905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B3(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wait(B3_start);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...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  <p:sp>
        <p:nvSpPr>
          <p:cNvPr id="1049543" name="Rectangle 6"/>
          <p:cNvSpPr/>
          <p:nvPr/>
        </p:nvSpPr>
        <p:spPr>
          <a:xfrm>
            <a:off x="6553200" y="1600200"/>
            <a:ext cx="1447800" cy="1905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B7(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stmt;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...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  <p:sp>
        <p:nvSpPr>
          <p:cNvPr id="1049544" name="Rectangle 7"/>
          <p:cNvSpPr/>
          <p:nvPr/>
        </p:nvSpPr>
        <p:spPr>
          <a:xfrm>
            <a:off x="685800" y="3657600"/>
            <a:ext cx="3124200" cy="29718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B6(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int local;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wait(B6_start);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…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shared = local + 1;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signal(sync);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  <p:sp>
        <p:nvSpPr>
          <p:cNvPr id="1049545" name="Rectangle 8"/>
          <p:cNvSpPr/>
          <p:nvPr/>
        </p:nvSpPr>
        <p:spPr>
          <a:xfrm>
            <a:off x="4343400" y="3657600"/>
            <a:ext cx="2971800" cy="29718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B4(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int local;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wait(sync);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local = shared - 1;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…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signal(B3_start);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546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Communication Synthesis</a:t>
            </a:r>
            <a:endParaRPr lang="en-US" altLang="en-US"/>
          </a:p>
        </p:txBody>
      </p:sp>
      <p:sp>
        <p:nvSpPr>
          <p:cNvPr id="1049547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Implements the shared-variable accesses between concurrent behaviors using an inter-PE communication scheme</a:t>
            </a:r>
            <a:endParaRPr lang="en-US" altLang="en-US"/>
          </a:p>
          <a:p>
            <a:pPr lvl="1" eaLnBrk="1" hangingPunct="1"/>
            <a:r>
              <a:rPr lang="en-US" altLang="en-US"/>
              <a:t>Shared memory: read or write to a shared-memory address</a:t>
            </a:r>
            <a:endParaRPr lang="en-US" altLang="en-US"/>
          </a:p>
          <a:p>
            <a:pPr lvl="1" eaLnBrk="1" hangingPunct="1"/>
            <a:r>
              <a:rPr lang="en-US" altLang="en-US"/>
              <a:t>Local PE memory: send or receive message-passing calls</a:t>
            </a:r>
            <a:endParaRPr lang="en-US" altLang="en-US"/>
          </a:p>
          <a:p>
            <a:pPr lvl="0" eaLnBrk="1" hangingPunct="1"/>
            <a:r>
              <a:rPr lang="en-US" altLang="en-US"/>
              <a:t>Inserts interfaces to communication channels (local or system buses)</a:t>
            </a:r>
            <a:endParaRPr lang="en-US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548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Communication example</a:t>
            </a:r>
            <a:endParaRPr lang="en-US" altLang="en-US"/>
          </a:p>
        </p:txBody>
      </p:sp>
      <p:grpSp>
        <p:nvGrpSpPr>
          <p:cNvPr id="184" name="Group 183"/>
          <p:cNvGrpSpPr/>
          <p:nvPr/>
        </p:nvGrpSpPr>
        <p:grpSpPr>
          <a:xfrm rot="0">
            <a:off x="1828800" y="1447800"/>
            <a:ext cx="7162800" cy="4573587"/>
            <a:chOff x="528" y="912"/>
            <a:chExt cx="4512" cy="2881"/>
          </a:xfrm>
        </p:grpSpPr>
        <p:pic>
          <p:nvPicPr>
            <p:cNvPr id="2097201" name="Picture 5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528" y="912"/>
              <a:ext cx="4512" cy="28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549" name="Text Box 6"/>
            <p:cNvSpPr txBox="1"/>
            <p:nvPr/>
          </p:nvSpPr>
          <p:spPr>
            <a:xfrm>
              <a:off x="1104" y="960"/>
              <a:ext cx="2100" cy="186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none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lbus0           lbus1         lbus2        sbus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50" name="Text Box 7"/>
            <p:cNvSpPr txBox="1"/>
            <p:nvPr/>
          </p:nvSpPr>
          <p:spPr>
            <a:xfrm>
              <a:off x="1512" y="1452"/>
              <a:ext cx="346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IF0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51" name="Text Box 8"/>
            <p:cNvSpPr txBox="1"/>
            <p:nvPr/>
          </p:nvSpPr>
          <p:spPr>
            <a:xfrm>
              <a:off x="3120" y="1452"/>
              <a:ext cx="346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IF1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52" name="Text Box 9"/>
            <p:cNvSpPr txBox="1"/>
            <p:nvPr/>
          </p:nvSpPr>
          <p:spPr>
            <a:xfrm>
              <a:off x="4032" y="1452"/>
              <a:ext cx="346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lIns="91440" tIns="45720" rIns="91440" bIns="45720" anchor="t">
              <a:spAutoFit/>
            </a:bodyPr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IF2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53" name="Rectangle 10"/>
            <p:cNvSpPr/>
            <p:nvPr/>
          </p:nvSpPr>
          <p:spPr>
            <a:xfrm>
              <a:off x="708" y="2064"/>
              <a:ext cx="1968" cy="13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ctr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>
                <a:spcBef>
                  <a:spcPct val="0"/>
                </a:spcBef>
                <a:buSzPct val="100000"/>
                <a:buFontTx/>
                <a:buNone/>
              </a:pPr>
              <a:endParaRPr lang="en-US" altLang="en-US" sz="1800">
                <a:solidFill>
                  <a:schemeClr val="dk1"/>
                </a:solidFill>
              </a:endParaRPr>
            </a:p>
          </p:txBody>
        </p:sp>
        <p:sp>
          <p:nvSpPr>
            <p:cNvPr id="1049554" name="Rectangle 11"/>
            <p:cNvSpPr/>
            <p:nvPr/>
          </p:nvSpPr>
          <p:spPr>
            <a:xfrm>
              <a:off x="1296" y="2208"/>
              <a:ext cx="528" cy="192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accent2">
                  <a:alpha val="100000"/>
                </a:schemeClr>
              </a:solidFill>
              <a:prstDash val="solid"/>
              <a:round/>
            </a:ln>
          </p:spPr>
          <p:txBody>
            <a:bodyPr vert="horz" wrap="none" lIns="91440" tIns="45720" rIns="91440" bIns="45720" anchor="ctr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B6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55" name="Rectangle 12"/>
            <p:cNvSpPr/>
            <p:nvPr/>
          </p:nvSpPr>
          <p:spPr>
            <a:xfrm>
              <a:off x="1296" y="2640"/>
              <a:ext cx="528" cy="192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accent2">
                  <a:alpha val="100000"/>
                </a:schemeClr>
              </a:solidFill>
              <a:prstDash val="solid"/>
              <a:round/>
            </a:ln>
          </p:spPr>
          <p:txBody>
            <a:bodyPr vert="horz" wrap="none" lIns="91440" tIns="45720" rIns="91440" bIns="45720" anchor="ctr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B7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56" name="Rectangle 13"/>
            <p:cNvSpPr/>
            <p:nvPr/>
          </p:nvSpPr>
          <p:spPr>
            <a:xfrm>
              <a:off x="1296" y="3072"/>
              <a:ext cx="528" cy="192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accent2">
                  <a:alpha val="100000"/>
                </a:schemeClr>
              </a:solidFill>
              <a:prstDash val="solid"/>
              <a:round/>
            </a:ln>
          </p:spPr>
          <p:txBody>
            <a:bodyPr vert="horz" wrap="none" lIns="91440" tIns="45720" rIns="91440" bIns="45720" anchor="ctr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B3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57" name="Rectangle 14"/>
            <p:cNvSpPr/>
            <p:nvPr/>
          </p:nvSpPr>
          <p:spPr>
            <a:xfrm>
              <a:off x="3024" y="2256"/>
              <a:ext cx="528" cy="192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accent2">
                  <a:alpha val="100000"/>
                </a:schemeClr>
              </a:solidFill>
              <a:prstDash val="solid"/>
              <a:round/>
            </a:ln>
          </p:spPr>
          <p:txBody>
            <a:bodyPr vert="horz" wrap="none" lIns="91440" tIns="45720" rIns="91440" bIns="45720" anchor="ctr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B1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58" name="Rectangle 15"/>
            <p:cNvSpPr/>
            <p:nvPr/>
          </p:nvSpPr>
          <p:spPr>
            <a:xfrm>
              <a:off x="3024" y="2976"/>
              <a:ext cx="528" cy="192"/>
            </a:xfrm>
            <a:prstGeom prst="rect">
              <a:avLst/>
            </a:prstGeom>
            <a:solidFill>
              <a:schemeClr val="lt1"/>
            </a:solidFill>
            <a:ln w="38100" cap="flat" cmpd="sng">
              <a:solidFill>
                <a:schemeClr val="accent2">
                  <a:alpha val="100000"/>
                </a:schemeClr>
              </a:solidFill>
              <a:prstDash val="solid"/>
              <a:round/>
            </a:ln>
          </p:spPr>
          <p:txBody>
            <a:bodyPr vert="horz" wrap="none" lIns="91440" tIns="45720" rIns="91440" bIns="45720" anchor="ctr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B4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59" name="Rectangle 16"/>
            <p:cNvSpPr/>
            <p:nvPr/>
          </p:nvSpPr>
          <p:spPr>
            <a:xfrm>
              <a:off x="672" y="1860"/>
              <a:ext cx="336" cy="1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ctr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PE0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60" name="Rectangle 17"/>
            <p:cNvSpPr/>
            <p:nvPr/>
          </p:nvSpPr>
          <p:spPr>
            <a:xfrm>
              <a:off x="2976" y="1824"/>
              <a:ext cx="288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ctr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PE1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61" name="Line 18"/>
            <p:cNvSpPr/>
            <p:nvPr/>
          </p:nvSpPr>
          <p:spPr>
            <a:xfrm>
              <a:off x="1536" y="2400"/>
              <a:ext cx="0" cy="192"/>
            </a:xfrm>
            <a:prstGeom prst="line">
              <a:avLst/>
            </a:prstGeom>
            <a:noFill/>
            <a:ln w="9525" cap="flat" cmpd="sng">
              <a:solidFill>
                <a:schemeClr val="dk1">
                  <a:alpha val="100000"/>
                </a:scheme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9562" name="Line 19"/>
            <p:cNvSpPr/>
            <p:nvPr/>
          </p:nvSpPr>
          <p:spPr>
            <a:xfrm>
              <a:off x="1536" y="2880"/>
              <a:ext cx="0" cy="192"/>
            </a:xfrm>
            <a:prstGeom prst="line">
              <a:avLst/>
            </a:prstGeom>
            <a:noFill/>
            <a:ln w="9525" cap="flat" cmpd="sng">
              <a:solidFill>
                <a:schemeClr val="dk1">
                  <a:alpha val="100000"/>
                </a:schemeClr>
              </a:solidFill>
              <a:prstDash val="solid"/>
              <a:round/>
              <a:tailEnd type="triangle" w="med" len="med"/>
            </a:ln>
          </p:spPr>
        </p:sp>
        <p:sp>
          <p:nvSpPr>
            <p:cNvPr id="1049563" name="Rectangle 20"/>
            <p:cNvSpPr/>
            <p:nvPr/>
          </p:nvSpPr>
          <p:spPr>
            <a:xfrm rot="5400000">
              <a:off x="3864" y="2520"/>
              <a:ext cx="720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ctr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Shared_mem</a:t>
              </a:r>
              <a:endParaRPr lang="en-US" altLang="en-US" sz="1400" b="1">
                <a:latin typeface="Helvetica" pitchFamily="34" charset="0"/>
              </a:endParaRPr>
            </a:p>
          </p:txBody>
        </p:sp>
        <p:sp>
          <p:nvSpPr>
            <p:cNvPr id="1049564" name="Rectangle 21"/>
            <p:cNvSpPr/>
            <p:nvPr/>
          </p:nvSpPr>
          <p:spPr>
            <a:xfrm rot="5400000">
              <a:off x="4272" y="2496"/>
              <a:ext cx="864" cy="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none" lIns="91440" tIns="45720" rIns="91440" bIns="45720" anchor="ctr"/>
            <a:lstStyle>
              <a:lvl1pPr marL="342900" indent="-3429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90000"/>
                <a:buFont typeface="Arial" panose="02080604020202020204" pitchFamily="34" charset="0"/>
                <a:buChar char="•"/>
                <a:defRPr sz="3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1pPr>
              <a:lvl2pPr marL="742950" indent="-28575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90000"/>
                <a:buFont typeface="Arial" panose="02080604020202020204" pitchFamily="34" charset="0"/>
                <a:buChar char="•"/>
                <a:defRPr sz="28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2pPr>
              <a:lvl3pPr marL="11430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Tx/>
                <a:buChar char="•"/>
                <a:defRPr sz="24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3pPr>
              <a:lvl4pPr marL="16002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dk1"/>
                </a:buClr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4pPr>
              <a:lvl5pPr marL="2057400" indent="-228600" algn="l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SzPct val="100000"/>
                <a:buFontTx/>
                <a:buChar char="•"/>
                <a:defRPr sz="2000" b="0" i="0" u="none" baseline="0">
                  <a:solidFill>
                    <a:schemeClr val="lt2"/>
                  </a:solidFill>
                  <a:latin typeface="Arial" panose="02080604020202020204" pitchFamily="34" charset="0"/>
                  <a:sym typeface="Arial" panose="0208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SzPct val="100000"/>
                <a:buFontTx/>
                <a:buNone/>
              </a:pPr>
              <a:r>
                <a:rPr lang="en-US" altLang="en-US" sz="1400" b="1">
                  <a:latin typeface="Helvetica" pitchFamily="34" charset="0"/>
                </a:rPr>
                <a:t>Arbiter</a:t>
              </a:r>
              <a:endParaRPr lang="en-US" altLang="en-US" sz="1400" b="1">
                <a:latin typeface="Helvetica" pitchFamily="34" charset="0"/>
              </a:endParaRPr>
            </a:p>
          </p:txBody>
        </p:sp>
      </p:grpSp>
      <p:sp>
        <p:nvSpPr>
          <p:cNvPr id="1049565" name="Text Box 23"/>
          <p:cNvSpPr txBox="1"/>
          <p:nvPr/>
        </p:nvSpPr>
        <p:spPr>
          <a:xfrm>
            <a:off x="3124200" y="5943600"/>
            <a:ext cx="6711176" cy="44704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System model after communication synthesis</a:t>
            </a:r>
            <a:endParaRPr lang="en-US" altLang="en-US" sz="2400">
              <a:latin typeface="Times New Roman" panose="02020603050405020304" charset="0"/>
            </a:endParaRPr>
          </a:p>
        </p:txBody>
      </p:sp>
      <p:sp>
        <p:nvSpPr>
          <p:cNvPr id="1049566" name="Text Box 24"/>
          <p:cNvSpPr txBox="1"/>
          <p:nvPr/>
        </p:nvSpPr>
        <p:spPr>
          <a:xfrm>
            <a:off x="152400" y="2209800"/>
            <a:ext cx="1973580" cy="32918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vert="horz" wrap="none" lIns="91440" tIns="45720" rIns="91440" bIns="45720" anchor="t">
            <a:spAutoFit/>
          </a:bodyPr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Synthesis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  <a:buNone/>
            </a:pPr>
            <a:r>
              <a:rPr lang="en-US" altLang="en-US" sz="2400">
                <a:latin typeface="Times New Roman" panose="02020603050405020304" charset="0"/>
              </a:rPr>
              <a:t>decision: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Put all 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global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variables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into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Shared_mem</a:t>
            </a:r>
            <a:endParaRPr lang="en-US" altLang="en-US" sz="2400">
              <a:latin typeface="Times New Roman" panose="02020603050405020304" charset="0"/>
            </a:endParaRPr>
          </a:p>
          <a:p>
            <a:pPr marL="0" lvl="0" indent="0">
              <a:spcBef>
                <a:spcPct val="0"/>
              </a:spcBef>
              <a:buSzPct val="100000"/>
              <a:buFontTx/>
            </a:pPr>
            <a:r>
              <a:rPr lang="en-US" altLang="en-US" sz="2400">
                <a:latin typeface="Times New Roman" panose="02020603050405020304" charset="0"/>
              </a:rPr>
              <a:t> New global</a:t>
            </a:r>
            <a:br>
              <a:rPr lang="en-US" altLang="en-US" sz="2400">
                <a:latin typeface="Times New Roman" panose="02020603050405020304" charset="0"/>
              </a:rPr>
            </a:br>
            <a:r>
              <a:rPr lang="en-US" altLang="en-US" sz="2400">
                <a:latin typeface="Times New Roman" panose="02020603050405020304" charset="0"/>
              </a:rPr>
              <a:t>  variables in Top</a:t>
            </a:r>
            <a:endParaRPr lang="en-US" altLang="en-US" sz="240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567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Communication Example (cont.)</a:t>
            </a:r>
            <a:endParaRPr lang="en-US" altLang="en-US"/>
          </a:p>
        </p:txBody>
      </p:sp>
      <p:sp>
        <p:nvSpPr>
          <p:cNvPr id="1049568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Atomic behaviors</a:t>
            </a:r>
            <a:endParaRPr lang="en-US" altLang="en-US"/>
          </a:p>
        </p:txBody>
      </p:sp>
      <p:sp>
        <p:nvSpPr>
          <p:cNvPr id="1049569" name="Rectangle 4"/>
          <p:cNvSpPr/>
          <p:nvPr/>
        </p:nvSpPr>
        <p:spPr>
          <a:xfrm>
            <a:off x="685800" y="1676400"/>
            <a:ext cx="3048000" cy="16764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B1( )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{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…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signal (</a:t>
            </a:r>
            <a:r>
              <a:rPr lang="en-US" altLang="en-US" sz="1900" b="1"/>
              <a:t>*B6_start_addr);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}</a:t>
            </a:r>
            <a:endParaRPr lang="en-US" altLang="en-US" sz="1900" b="1"/>
          </a:p>
        </p:txBody>
      </p:sp>
      <p:sp>
        <p:nvSpPr>
          <p:cNvPr id="1049570" name="Rectangle 5"/>
          <p:cNvSpPr/>
          <p:nvPr/>
        </p:nvSpPr>
        <p:spPr>
          <a:xfrm>
            <a:off x="3962400" y="1676400"/>
            <a:ext cx="2971800" cy="17526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B3( )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{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wait(</a:t>
            </a:r>
            <a:r>
              <a:rPr lang="en-US" altLang="en-US" sz="1900" b="1"/>
              <a:t>*B3_start_addr);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...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}</a:t>
            </a:r>
            <a:endParaRPr lang="en-US" altLang="en-US" sz="1900" b="1"/>
          </a:p>
        </p:txBody>
      </p:sp>
      <p:sp>
        <p:nvSpPr>
          <p:cNvPr id="1049571" name="Rectangle 6"/>
          <p:cNvSpPr/>
          <p:nvPr/>
        </p:nvSpPr>
        <p:spPr>
          <a:xfrm>
            <a:off x="7239000" y="1676400"/>
            <a:ext cx="1447800" cy="1905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B7(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stmt;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...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  <p:sp>
        <p:nvSpPr>
          <p:cNvPr id="1049572" name="Rectangle 7"/>
          <p:cNvSpPr/>
          <p:nvPr/>
        </p:nvSpPr>
        <p:spPr>
          <a:xfrm>
            <a:off x="685800" y="3733800"/>
            <a:ext cx="3733800" cy="2667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B6( )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{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int local;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wait (</a:t>
            </a:r>
            <a:r>
              <a:rPr lang="en-US" altLang="en-US" sz="1900" b="1"/>
              <a:t>*B6_start_addr);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…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</a:t>
            </a:r>
            <a:r>
              <a:rPr lang="en-US" altLang="en-US" sz="1900" b="1"/>
              <a:t>*shared_addr = local + 1;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signal(</a:t>
            </a:r>
            <a:r>
              <a:rPr lang="en-US" altLang="en-US" sz="1900" b="1"/>
              <a:t>*sync_addr);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}</a:t>
            </a:r>
            <a:endParaRPr lang="en-US" altLang="en-US" sz="1900" b="1"/>
          </a:p>
        </p:txBody>
      </p:sp>
      <p:sp>
        <p:nvSpPr>
          <p:cNvPr id="1049573" name="Rectangle 8"/>
          <p:cNvSpPr/>
          <p:nvPr/>
        </p:nvSpPr>
        <p:spPr>
          <a:xfrm>
            <a:off x="4724400" y="3733800"/>
            <a:ext cx="3962400" cy="2667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B4( )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{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int local;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wait (</a:t>
            </a:r>
            <a:r>
              <a:rPr lang="en-US" altLang="en-US" sz="1900" b="1"/>
              <a:t>*sync_addr);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local = </a:t>
            </a:r>
            <a:r>
              <a:rPr lang="en-US" altLang="en-US" sz="1900" b="1"/>
              <a:t>*shared_addr - 1;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…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   signal (</a:t>
            </a:r>
            <a:r>
              <a:rPr lang="en-US" altLang="en-US" sz="1900" b="1"/>
              <a:t>*B3_start_addr);</a:t>
            </a:r>
            <a:endParaRPr lang="en-US" altLang="en-US" sz="19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1900" b="1"/>
              <a:t>}</a:t>
            </a:r>
            <a:endParaRPr lang="en-US" altLang="en-US" sz="1900" b="1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574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Communication Example (cont.)</a:t>
            </a:r>
            <a:endParaRPr lang="en-US" altLang="en-US"/>
          </a:p>
        </p:txBody>
      </p:sp>
      <p:sp>
        <p:nvSpPr>
          <p:cNvPr id="1049575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Atomic behaviors</a:t>
            </a:r>
            <a:endParaRPr lang="en-US" altLang="en-US"/>
          </a:p>
        </p:txBody>
      </p:sp>
      <p:sp>
        <p:nvSpPr>
          <p:cNvPr id="1049576" name="Rectangle 4"/>
          <p:cNvSpPr/>
          <p:nvPr/>
        </p:nvSpPr>
        <p:spPr>
          <a:xfrm>
            <a:off x="838200" y="1828800"/>
            <a:ext cx="1447800" cy="1905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IF0(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stmt;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...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  <p:sp>
        <p:nvSpPr>
          <p:cNvPr id="1049577" name="Rectangle 5"/>
          <p:cNvSpPr/>
          <p:nvPr/>
        </p:nvSpPr>
        <p:spPr>
          <a:xfrm>
            <a:off x="2819400" y="3886200"/>
            <a:ext cx="3124200" cy="24384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Shared_mem(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int shared;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bool sync;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bool B3_start;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bool B6_start;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  <p:sp>
        <p:nvSpPr>
          <p:cNvPr id="1049578" name="Rectangle 6"/>
          <p:cNvSpPr/>
          <p:nvPr/>
        </p:nvSpPr>
        <p:spPr>
          <a:xfrm>
            <a:off x="6553200" y="1828800"/>
            <a:ext cx="1676400" cy="19812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Arbiter(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stmt;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...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  <p:sp>
        <p:nvSpPr>
          <p:cNvPr id="1049579" name="Rectangle 7"/>
          <p:cNvSpPr/>
          <p:nvPr/>
        </p:nvSpPr>
        <p:spPr>
          <a:xfrm>
            <a:off x="2743200" y="1828800"/>
            <a:ext cx="1447800" cy="1905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IF1(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stmt;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...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  <p:sp>
        <p:nvSpPr>
          <p:cNvPr id="1049580" name="Rectangle 8"/>
          <p:cNvSpPr/>
          <p:nvPr/>
        </p:nvSpPr>
        <p:spPr>
          <a:xfrm>
            <a:off x="4572000" y="1828800"/>
            <a:ext cx="1447800" cy="1905000"/>
          </a:xfrm>
          <a:prstGeom prst="rect">
            <a:avLst/>
          </a:prstGeom>
          <a:noFill/>
          <a:ln w="9525" cap="flat" cmpd="sng">
            <a:solidFill>
              <a:schemeClr val="dk1">
                <a:alpha val="100000"/>
              </a:schemeClr>
            </a:solidFill>
            <a:prstDash val="sysDot"/>
            <a:round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IF2( )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{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stmt;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   ...</a:t>
            </a:r>
            <a:endParaRPr lang="en-US" altLang="en-US" sz="2100" b="1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en-US" sz="2100" b="1"/>
              <a:t>}</a:t>
            </a:r>
            <a:endParaRPr lang="en-US" altLang="en-US" sz="2100" b="1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581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Analysis and Validation</a:t>
            </a:r>
            <a:endParaRPr lang="en-US" altLang="en-US"/>
          </a:p>
        </p:txBody>
      </p:sp>
      <p:sp>
        <p:nvSpPr>
          <p:cNvPr id="1049582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>
              <a:lnSpc>
                <a:spcPct val="90000"/>
              </a:lnSpc>
            </a:pPr>
            <a:r>
              <a:rPr lang="en-US" altLang="en-US"/>
              <a:t>Functional validation of design models at each step using simulation or formal verification</a:t>
            </a:r>
            <a:endParaRPr lang="en-US" altLang="en-US"/>
          </a:p>
          <a:p>
            <a:pPr lvl="0" eaLnBrk="1" hangingPunct="1">
              <a:lnSpc>
                <a:spcPct val="90000"/>
              </a:lnSpc>
            </a:pPr>
            <a:r>
              <a:rPr lang="en-US" altLang="en-US"/>
              <a:t>Analysis to estimate quality metrics and make design decisions</a:t>
            </a:r>
            <a:endParaRPr lang="en-US" altLang="en-US"/>
          </a:p>
          <a:p>
            <a:pPr lvl="0" eaLnBrk="1" hangingPunct="1">
              <a:lnSpc>
                <a:spcPct val="90000"/>
              </a:lnSpc>
            </a:pPr>
            <a:r>
              <a:rPr lang="en-US" altLang="en-US"/>
              <a:t>Tools</a:t>
            </a: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Static analyzer - program, ASIC metrics</a:t>
            </a: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Simulator - functional, cycle-based, discrete-event</a:t>
            </a: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Debugger - access to state of behaviors</a:t>
            </a: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Profiler - dynamic execution information</a:t>
            </a: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Visualizer - graphical displays of state, data</a:t>
            </a:r>
            <a:endParaRPr lang="en-US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583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Backend</a:t>
            </a:r>
            <a:endParaRPr lang="en-US" altLang="en-US"/>
          </a:p>
        </p:txBody>
      </p:sp>
      <p:sp>
        <p:nvSpPr>
          <p:cNvPr id="1049584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/>
              <a:t>Implementations</a:t>
            </a:r>
            <a:endParaRPr lang="en-US" altLang="en-US"/>
          </a:p>
          <a:p>
            <a:pPr lvl="1" eaLnBrk="1" hangingPunct="1"/>
            <a:r>
              <a:rPr lang="en-US" altLang="en-US"/>
              <a:t>Processor: compiler translates model into machine code</a:t>
            </a:r>
            <a:endParaRPr lang="en-US" altLang="en-US"/>
          </a:p>
          <a:p>
            <a:pPr lvl="1" eaLnBrk="1" hangingPunct="1"/>
            <a:r>
              <a:rPr lang="en-US" altLang="en-US"/>
              <a:t>ASIC: high-level synthesis tool translates model into netlist of RTL components</a:t>
            </a:r>
            <a:endParaRPr lang="en-US" altLang="en-US"/>
          </a:p>
          <a:p>
            <a:pPr lvl="1" eaLnBrk="1" hangingPunct="1"/>
            <a:r>
              <a:rPr lang="en-US" altLang="en-US"/>
              <a:t>Interface</a:t>
            </a:r>
            <a:endParaRPr lang="en-US" altLang="en-US"/>
          </a:p>
          <a:p>
            <a:pPr lvl="2" eaLnBrk="1" hangingPunct="1"/>
            <a:r>
              <a:rPr lang="en-US" altLang="en-US"/>
              <a:t>Special type of ASIC that links a PE with other components</a:t>
            </a:r>
            <a:endParaRPr lang="en-US" altLang="en-US"/>
          </a:p>
          <a:p>
            <a:pPr lvl="2" eaLnBrk="1" hangingPunct="1"/>
            <a:r>
              <a:rPr lang="en-US" altLang="en-US"/>
              <a:t>Implements the behavior of a communication channel</a:t>
            </a:r>
            <a:endParaRPr lang="en-US" altLang="en-US"/>
          </a:p>
          <a:p>
            <a:pPr lvl="1" eaLnBrk="1" hangingPunct="1"/>
            <a:endParaRPr lang="en-US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585" name="Rectangle 2"/>
          <p:cNvSpPr/>
          <p:nvPr>
            <p:ph type="title"/>
          </p:nvPr>
        </p:nvSpPr>
        <p:spPr>
          <a:xfrm>
            <a:off x="990600" y="76200"/>
            <a:ext cx="7848600" cy="6858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ctr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36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</a:lstStyle>
          <a:p>
            <a:pPr lvl="0" eaLnBrk="1" hangingPunct="1"/>
            <a:r>
              <a:rPr lang="en-US" altLang="en-US"/>
              <a:t>Summary</a:t>
            </a:r>
            <a:endParaRPr lang="en-US" altLang="en-US"/>
          </a:p>
        </p:txBody>
      </p:sp>
      <p:sp>
        <p:nvSpPr>
          <p:cNvPr id="1049586" name="Rectangle 3"/>
          <p:cNvSpPr/>
          <p:nvPr>
            <p:ph type="body" idx="1"/>
          </p:nvPr>
        </p:nvSpPr>
        <p:spPr>
          <a:xfrm>
            <a:off x="304800" y="10668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anchor="t"/>
          <a:lstStyle>
            <a:lvl1pPr marL="342900" indent="-3429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90000"/>
              <a:buFont typeface="Arial" panose="02080604020202020204" pitchFamily="34" charset="0"/>
              <a:buChar char="•"/>
              <a:defRPr sz="3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1pPr>
            <a:lvl2pPr marL="742950" indent="-28575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80604020202020204" pitchFamily="34" charset="0"/>
              <a:buChar char="•"/>
              <a:defRPr sz="28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2pPr>
            <a:lvl3pPr marL="11430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Tx/>
              <a:buChar char="•"/>
              <a:defRPr sz="24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3pPr>
            <a:lvl4pPr marL="16002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4pPr>
            <a:lvl5pPr marL="2057400" indent="-228600" algn="l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sz="2000" b="0" i="0" u="none" baseline="0">
                <a:solidFill>
                  <a:schemeClr val="lt2"/>
                </a:solidFill>
                <a:latin typeface="Arial" panose="02080604020202020204" pitchFamily="34" charset="0"/>
                <a:sym typeface="Arial" panose="02080604020202020204" pitchFamily="34" charset="0"/>
              </a:defRPr>
            </a:lvl5pPr>
          </a:lstStyle>
          <a:p>
            <a:pPr lvl="0" eaLnBrk="1" hangingPunct="1"/>
            <a:r>
              <a:rPr lang="en-US" altLang="en-US" sz="2600"/>
              <a:t>Embedded systems are everywhere</a:t>
            </a:r>
            <a:endParaRPr lang="en-US" altLang="en-US" sz="2600"/>
          </a:p>
          <a:p>
            <a:pPr lvl="0" eaLnBrk="1" hangingPunct="1"/>
            <a:r>
              <a:rPr lang="en-US" altLang="en-US" sz="2600"/>
              <a:t>Key challenge: optimization of design metrics</a:t>
            </a:r>
            <a:endParaRPr lang="en-US" altLang="en-US" sz="2600"/>
          </a:p>
          <a:p>
            <a:pPr lvl="1" eaLnBrk="1" hangingPunct="1"/>
            <a:r>
              <a:rPr lang="en-US" altLang="en-US" sz="2400"/>
              <a:t>Design metrics compete with one another</a:t>
            </a:r>
            <a:endParaRPr lang="en-US" altLang="en-US" sz="2400"/>
          </a:p>
          <a:p>
            <a:pPr lvl="0" eaLnBrk="1" hangingPunct="1"/>
            <a:r>
              <a:rPr lang="en-US" altLang="en-US" sz="2600"/>
              <a:t>A unified view of hardware and software is necessary to improve productivity</a:t>
            </a:r>
            <a:endParaRPr lang="en-US" altLang="en-US" sz="2600"/>
          </a:p>
          <a:p>
            <a:pPr lvl="0" eaLnBrk="1" hangingPunct="1"/>
            <a:r>
              <a:rPr lang="en-US" altLang="en-US" sz="2600"/>
              <a:t>Key technologies</a:t>
            </a:r>
            <a:endParaRPr lang="en-US" altLang="en-US" sz="2600"/>
          </a:p>
          <a:p>
            <a:pPr lvl="1" eaLnBrk="1" hangingPunct="1"/>
            <a:r>
              <a:rPr lang="en-US" altLang="en-US" sz="2400"/>
              <a:t>Processor: general-purpose, application-specific, single-purpose</a:t>
            </a:r>
            <a:endParaRPr lang="en-US" altLang="en-US" sz="2400"/>
          </a:p>
          <a:p>
            <a:pPr lvl="1" eaLnBrk="1" hangingPunct="1"/>
            <a:r>
              <a:rPr lang="en-US" altLang="en-US" sz="2400"/>
              <a:t>Design: compilation/synthesis, libraries/IP, test/verification</a:t>
            </a:r>
            <a:endParaRPr lang="en-US" altLang="en-US" sz="2400"/>
          </a:p>
          <a:p>
            <a:pPr lvl="1" eaLnBrk="1" hangingPunct="1"/>
            <a:endParaRPr lang="en-US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336666"/>
      </a:dk1>
      <a:lt1>
        <a:srgbClr val="FFFFFF"/>
      </a:lt1>
      <a:dk2>
        <a:srgbClr val="666699"/>
      </a:dk2>
      <a:lt2>
        <a:srgbClr val="000000"/>
      </a:lt2>
      <a:accent1>
        <a:srgbClr val="99CCCC"/>
      </a:accent1>
      <a:accent2>
        <a:srgbClr val="CCCCCC"/>
      </a:accent2>
      <a:accent3>
        <a:srgbClr val="FFFFFF"/>
      </a:accent3>
      <a:accent4>
        <a:srgbClr val="2A5757"/>
      </a:accent4>
      <a:accent5>
        <a:srgbClr val="CAE2E2"/>
      </a:accent5>
      <a:accent6>
        <a:srgbClr val="B7B7B7"/>
      </a:accent6>
      <a:hlink>
        <a:srgbClr val="006666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9999FF"/>
        </a:dk1>
        <a:lt1>
          <a:srgbClr val="000000"/>
        </a:lt1>
        <a:dk2>
          <a:srgbClr val="25252F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383DC"/>
        </a:accent4>
        <a:accent5>
          <a:srgbClr val="ADB9FF"/>
        </a:accent5>
        <a:accent6>
          <a:srgbClr val="002D89"/>
        </a:accent6>
        <a:hlink>
          <a:srgbClr val="00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Color Scheme 2">
        <a:dk1>
          <a:srgbClr val="FFFFFF"/>
        </a:dk1>
        <a:lt1>
          <a:srgbClr val="0B1E45"/>
        </a:lt1>
        <a:dk2>
          <a:srgbClr val="314183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AB1"/>
        </a:accent3>
        <a:accent4>
          <a:srgbClr val="DCDCDC"/>
        </a:accent4>
        <a:accent5>
          <a:srgbClr val="B9B9FF"/>
        </a:accent5>
        <a:accent6>
          <a:srgbClr val="005BE5"/>
        </a:accent6>
        <a:hlink>
          <a:srgbClr val="00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Color Scheme 3">
        <a:dk1>
          <a:srgbClr val="FFFFCC"/>
        </a:dk1>
        <a:lt1>
          <a:srgbClr val="006666"/>
        </a:lt1>
        <a:dk2>
          <a:srgbClr val="194349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9B9"/>
        </a:accent3>
        <a:accent4>
          <a:srgbClr val="DCDCAF"/>
        </a:accent4>
        <a:accent5>
          <a:srgbClr val="CAE2AA"/>
        </a:accent5>
        <a:accent6>
          <a:srgbClr val="00A39F"/>
        </a:accent6>
        <a:hlink>
          <a:srgbClr val="6699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Color Scheme 4">
        <a:dk1>
          <a:srgbClr val="FFFFCC"/>
        </a:dk1>
        <a:lt1>
          <a:srgbClr val="0000FF"/>
        </a:lt1>
        <a:dk2>
          <a:srgbClr val="194349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CDCAF"/>
        </a:accent4>
        <a:accent5>
          <a:srgbClr val="AACAFF"/>
        </a:accent5>
        <a:accent6>
          <a:srgbClr val="2DB72D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Color Scheme 5">
        <a:dk1>
          <a:srgbClr val="FFFFCC"/>
        </a:dk1>
        <a:lt1>
          <a:srgbClr val="72A497"/>
        </a:lt1>
        <a:dk2>
          <a:srgbClr val="194349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CDCAF"/>
        </a:accent4>
        <a:accent5>
          <a:srgbClr val="C1B6AD"/>
        </a:accent5>
        <a:accent6>
          <a:srgbClr val="702935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Color Scheme 6">
        <a:dk1>
          <a:srgbClr val="FFFFFF"/>
        </a:dk1>
        <a:lt1>
          <a:srgbClr val="710F0F"/>
        </a:lt1>
        <a:dk2>
          <a:srgbClr val="1C1C1C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CAAAA"/>
        </a:accent3>
        <a:accent4>
          <a:srgbClr val="DCDCDC"/>
        </a:accent4>
        <a:accent5>
          <a:srgbClr val="FFCAAA"/>
        </a:accent5>
        <a:accent6>
          <a:srgbClr val="E52D00"/>
        </a:accent6>
        <a:hlink>
          <a:srgbClr val="666699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Color Scheme 7">
        <a:dk1>
          <a:srgbClr val="336666"/>
        </a:dk1>
        <a:lt1>
          <a:srgbClr val="FFFFFF"/>
        </a:lt1>
        <a:dk2>
          <a:srgbClr val="666699"/>
        </a:dk2>
        <a:lt2>
          <a:srgbClr val="000000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757"/>
        </a:accent4>
        <a:accent5>
          <a:srgbClr val="CAE2E2"/>
        </a:accent5>
        <a:accent6>
          <a:srgbClr val="B7B7B7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Color Scheme 8">
        <a:dk1>
          <a:srgbClr val="000000"/>
        </a:dk1>
        <a:lt1>
          <a:srgbClr val="FFFFFF"/>
        </a:lt1>
        <a:dk2>
          <a:srgbClr val="666699"/>
        </a:dk2>
        <a:lt2>
          <a:srgbClr val="0000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5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Color Scheme 9">
        <a:dk1>
          <a:srgbClr val="000000"/>
        </a:dk1>
        <a:lt1>
          <a:srgbClr val="FFFFFF"/>
        </a:lt1>
        <a:dk2>
          <a:srgbClr val="666699"/>
        </a:dk2>
        <a:lt2>
          <a:srgbClr val="000000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789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Color Scheme 10">
        <a:dk1>
          <a:srgbClr val="000000"/>
        </a:dk1>
        <a:lt1>
          <a:srgbClr val="FFFFFF"/>
        </a:lt1>
        <a:dk2>
          <a:srgbClr val="666699"/>
        </a:dk2>
        <a:lt2>
          <a:srgbClr val="000000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9B9CA"/>
        </a:accent5>
        <a:accent6>
          <a:srgbClr val="8989E5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808080"/>
      </a:dk2>
      <a:lt2>
        <a:srgbClr val="00000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20081</Words>
  <Application>WPS Presentation</Application>
  <PresentationFormat/>
  <Paragraphs>1481</Paragraphs>
  <Slides>59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17</vt:i4>
      </vt:variant>
      <vt:variant>
        <vt:lpstr>幻灯片标题</vt:lpstr>
      </vt:variant>
      <vt:variant>
        <vt:i4>59</vt:i4>
      </vt:variant>
    </vt:vector>
  </HeadingPairs>
  <TitlesOfParts>
    <vt:vector size="91" baseType="lpstr">
      <vt:lpstr>Arial</vt:lpstr>
      <vt:lpstr>SimSun</vt:lpstr>
      <vt:lpstr>Wingdings</vt:lpstr>
      <vt:lpstr>Times New Roman</vt:lpstr>
      <vt:lpstr>Helvetica</vt:lpstr>
      <vt:lpstr>Quicksand Light</vt:lpstr>
      <vt:lpstr>Times</vt:lpstr>
      <vt:lpstr>Calibri Light</vt:lpstr>
      <vt:lpstr>Arial Rounded MT Bold</vt:lpstr>
      <vt:lpstr>Microsoft YaHei</vt:lpstr>
      <vt:lpstr>Droid Sans Fallback</vt:lpstr>
      <vt:lpstr>Arial Unicode MS</vt:lpstr>
      <vt:lpstr>Calibri</vt:lpstr>
      <vt:lpstr>MS Outlook</vt:lpstr>
      <vt:lpstr>Office 主题</vt:lpstr>
      <vt:lpstr>Word.Document.8</vt:lpstr>
      <vt:lpstr>Word.Document.8</vt:lpstr>
      <vt:lpstr>Word.Document.8</vt:lpstr>
      <vt:lpstr>Word.Document.8</vt:lpstr>
      <vt:lpstr>Word.Document.8</vt:lpstr>
      <vt:lpstr>MS_ClipArt_Gallery.5</vt:lpstr>
      <vt:lpstr>MS_ClipArt_Gallery.5</vt:lpstr>
      <vt:lpstr>MS_ClipArt_Gallery.5</vt:lpstr>
      <vt:lpstr>Word.Picture.8</vt:lpstr>
      <vt:lpstr>MS_ClipArt_Gallery.5</vt:lpstr>
      <vt:lpstr>MS_ClipArt_Gallery.5</vt:lpstr>
      <vt:lpstr>MS_ClipArt_Gallery.5</vt:lpstr>
      <vt:lpstr>MS_ClipArt_Gallery.5</vt:lpstr>
      <vt:lpstr>MS_ClipArt_Gallery.5</vt:lpstr>
      <vt:lpstr>MS_ClipArt_Gallery.5</vt:lpstr>
      <vt:lpstr>MS_ClipArt_Gallery.5</vt:lpstr>
      <vt:lpstr>MS_ClipArt_Gallery.5</vt:lpstr>
      <vt:lpstr> Embedded Computer Systems</vt:lpstr>
      <vt:lpstr>Digital System v. Embedded System</vt:lpstr>
      <vt:lpstr>Embedded Systems Overview</vt:lpstr>
      <vt:lpstr>Embedded Systems Overview (cont.)</vt:lpstr>
      <vt:lpstr>PowerPoint 演示文稿</vt:lpstr>
      <vt:lpstr>A “Short List” of Embedded Systems</vt:lpstr>
      <vt:lpstr>Examples of Embedded Systems</vt:lpstr>
      <vt:lpstr>Outline</vt:lpstr>
      <vt:lpstr>Some Application Domains</vt:lpstr>
      <vt:lpstr>Parts of an Embedded System</vt:lpstr>
      <vt:lpstr>Parts of an Embedded System (cont.)</vt:lpstr>
      <vt:lpstr>Functions and Design Criteria</vt:lpstr>
      <vt:lpstr>Some Common Characteristics</vt:lpstr>
      <vt:lpstr>An Embedded System Example</vt:lpstr>
      <vt:lpstr>Design Challenge – Optimization</vt:lpstr>
      <vt:lpstr>Design Challenge – Optimization (cont.)</vt:lpstr>
      <vt:lpstr>Design Challenge – Optimization (cont.)</vt:lpstr>
      <vt:lpstr>Design Metric Competition</vt:lpstr>
      <vt:lpstr>Time-to Market</vt:lpstr>
      <vt:lpstr>Delayed Market Entry</vt:lpstr>
      <vt:lpstr>NRE and Unit Cost Metrics</vt:lpstr>
      <vt:lpstr>NRE and unit cost metrics</vt:lpstr>
      <vt:lpstr>The Performance Design Metric</vt:lpstr>
      <vt:lpstr>Three Key Technologies</vt:lpstr>
      <vt:lpstr>Processor Technology</vt:lpstr>
      <vt:lpstr>Processor Technology (cont.)</vt:lpstr>
      <vt:lpstr>General-Purpose Processors</vt:lpstr>
      <vt:lpstr>Application-Specific Processors</vt:lpstr>
      <vt:lpstr>Independence of Processor Technologies</vt:lpstr>
      <vt:lpstr>Design Technology</vt:lpstr>
      <vt:lpstr>Design Productivity Exponential Increase</vt:lpstr>
      <vt:lpstr>Design Productivity Gap</vt:lpstr>
      <vt:lpstr>Design Productivity Gap (cont.)</vt:lpstr>
      <vt:lpstr>The Mythical Man-Month</vt:lpstr>
      <vt:lpstr>Co-Design Methodology</vt:lpstr>
      <vt:lpstr>Complex Systems</vt:lpstr>
      <vt:lpstr>Complex Systems (cont.)</vt:lpstr>
      <vt:lpstr>Complex Systems (cont.)</vt:lpstr>
      <vt:lpstr>Generic Co-Design Methodology</vt:lpstr>
      <vt:lpstr>System Specification</vt:lpstr>
      <vt:lpstr>System Specification Example</vt:lpstr>
      <vt:lpstr>System Specification Example (cont.)</vt:lpstr>
      <vt:lpstr>System Specification Example</vt:lpstr>
      <vt:lpstr>Allocation</vt:lpstr>
      <vt:lpstr>Allocation Example</vt:lpstr>
      <vt:lpstr>Partitioning</vt:lpstr>
      <vt:lpstr>Partitioning Example</vt:lpstr>
      <vt:lpstr>Partitioning Example (cont.)</vt:lpstr>
      <vt:lpstr>Scheduling</vt:lpstr>
      <vt:lpstr>Scheduling</vt:lpstr>
      <vt:lpstr>Scheduling Example</vt:lpstr>
      <vt:lpstr>Scheduling Example (cont.)</vt:lpstr>
      <vt:lpstr>Communication Synthesis</vt:lpstr>
      <vt:lpstr>Communication example</vt:lpstr>
      <vt:lpstr>Communication Example (cont.)</vt:lpstr>
      <vt:lpstr>Communication Example (cont.)</vt:lpstr>
      <vt:lpstr>Analysis and Validation</vt:lpstr>
      <vt:lpstr>Backend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_x000B_Embedded Computer Systems</dc:title>
  <dc:creator>JDY-LX2</dc:creator>
  <cp:lastModifiedBy>root</cp:lastModifiedBy>
  <cp:revision>9</cp:revision>
  <dcterms:created xsi:type="dcterms:W3CDTF">2026-10-11T09:40:29Z</dcterms:created>
  <dcterms:modified xsi:type="dcterms:W3CDTF">2026-10-11T09:40:29Z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dd9e36b494d0490fbad87d8773c8e5b7_23</vt:lpwstr>
  </property>
  <property fmtid="{D5CDD505-2E9C-101B-9397-08002B2CF9AE}" pid="4" name="KSOProductBuildVer">
    <vt:lpwstr>1033-11.1.0.10702</vt:lpwstr>
  </property>
</Properties>
</file>