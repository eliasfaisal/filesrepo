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116E-AF1C-4DE4-8614-C15CDAFAAC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9E0032-17D3-4146-A3F9-FD2512C348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36116E-AF1C-4DE4-8614-C15CDAFAAC50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Manual Code Auditing for Software Security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4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754"/>
    </mc:Choice>
    <mc:Fallback>
      <p:transition spd="slow" advTm="8275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 of Manual Code Auditing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/>
              <a:t>Manual code auditing is the process of reviewing source code line by line to identify security vulnerabilities and coding flaws without the use of automated tools.</a:t>
            </a:r>
            <a:endParaRPr lang="en-US" sz="40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/>
              <a:t>It requires human expertise to analyze logic, data flow, and security loopholes.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134"/>
    </mc:Choice>
    <mc:Fallback>
      <p:transition spd="slow" advTm="100134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 of Software Security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/>
              <a:t>Helps detect complex vulnerabilities that automated tools may miss, such as business logic errors and authentication flaws.</a:t>
            </a:r>
            <a:endParaRPr lang="en-US" sz="32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/>
              <a:t>Ensures compliance with security best practices (e.g., OWASP, NIST, CERT guidelines).</a:t>
            </a:r>
            <a:endParaRPr lang="en-US" sz="32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/>
              <a:t>Strengthens software resilience by identifying weaknesses before deployment.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299"/>
    </mc:Choice>
    <mc:Fallback>
      <p:transition spd="slow" advTm="98299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90252"/>
          </a:xfrm>
        </p:spPr>
        <p:txBody>
          <a:bodyPr/>
          <a:lstStyle/>
          <a:p>
            <a:r>
              <a:rPr lang="en-US" b="1" dirty="0"/>
              <a:t>Types of auditing:</a:t>
            </a:r>
            <a:endParaRPr lang="en-US" b="1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097280" y="1564478"/>
            <a:ext cx="10443079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b="1" dirty="0"/>
              <a:t>Manual Auditing: </a:t>
            </a:r>
            <a:endParaRPr lang="en-US" altLang="en-US" sz="3200" b="1" dirty="0"/>
          </a:p>
          <a:p>
            <a:pPr marL="749935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000" dirty="0"/>
              <a:t>Detects logical vulnerabilities, insecure coding patterns, and improper access controls. </a:t>
            </a:r>
            <a:endParaRPr lang="en-US" altLang="en-US" sz="3000" dirty="0"/>
          </a:p>
          <a:p>
            <a:pPr marL="749935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000" dirty="0"/>
              <a:t>Requires expert knowledge but provides high accuracy in findings. </a:t>
            </a:r>
            <a:endParaRPr lang="en-US" altLang="en-US" sz="3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b="1" dirty="0"/>
              <a:t>Automated Auditing: </a:t>
            </a:r>
            <a:endParaRPr lang="en-US" altLang="en-US" sz="3200" b="1" dirty="0"/>
          </a:p>
          <a:p>
            <a:pPr marL="749935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000" dirty="0"/>
              <a:t>Quickly scans large codebases for known security patterns. </a:t>
            </a:r>
            <a:endParaRPr lang="en-US" altLang="en-US" sz="3000" dirty="0"/>
          </a:p>
          <a:p>
            <a:pPr marL="749935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3000" dirty="0"/>
              <a:t> It may produce false positives/negatives and miss context-sensitive vulnerabilities.</a:t>
            </a:r>
            <a:endParaRPr lang="en-US" altLang="en-US" sz="3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3841"/>
    </mc:Choice>
    <mc:Fallback>
      <p:transition spd="slow" advTm="12384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Security Vulnerabilities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Buffer Overflow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SQL Injection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Cross-Site Scripting (XSS)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Cross-Site Request Forgery (CSRF)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Hardcoded Secrets and Weak Cryptography</a:t>
            </a:r>
            <a:endParaRPr lang="en-US" sz="3600" dirty="0"/>
          </a:p>
          <a:p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991"/>
    </mc:Choice>
    <mc:Fallback>
      <p:transition spd="slow" advTm="4199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Steps in Manual Code Auditing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Understanding Code Structure and Functionality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Reviewing Authentication and Authorization Mechanisms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Identifying Insecure Data Handling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Examining Error Handling and Logging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Checking for Compliance with Security Standards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012"/>
    </mc:Choice>
    <mc:Fallback>
      <p:transition spd="slow" advTm="75012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Review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Line-by-Line Analysis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Static Code Analysis (Manual vs. Automated)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Pattern Recognition for Common Vulnerabilities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Context-Aware Review (Understanding Application Flow)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994"/>
    </mc:Choice>
    <mc:Fallback>
      <p:transition spd="slow" advTm="128994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to Assist Manual Code Auditing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Code Linters (</a:t>
            </a:r>
            <a:r>
              <a:rPr lang="en-US" sz="3200" b="1" dirty="0" err="1"/>
              <a:t>ESLint</a:t>
            </a:r>
            <a:r>
              <a:rPr lang="en-US" sz="3200" b="1" dirty="0"/>
              <a:t>, </a:t>
            </a:r>
            <a:r>
              <a:rPr lang="en-US" sz="3200" b="1" dirty="0" err="1"/>
              <a:t>Pylint</a:t>
            </a:r>
            <a:r>
              <a:rPr lang="en-US" sz="3200" b="1" dirty="0"/>
              <a:t>)</a:t>
            </a:r>
            <a:endParaRPr lang="en-U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 err="1"/>
              <a:t>ESLint</a:t>
            </a:r>
            <a:r>
              <a:rPr lang="en-US" sz="2800" dirty="0"/>
              <a:t> – A JavaScript linter that helps detect problematic patterns in code.</a:t>
            </a:r>
            <a:endParaRPr 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 err="1"/>
              <a:t>Pylint</a:t>
            </a:r>
            <a:r>
              <a:rPr lang="en-US" sz="2800" dirty="0"/>
              <a:t> – A Python tool that checks for coding errors and enforces coding standards.</a:t>
            </a:r>
            <a:endParaRPr 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Helps ensure </a:t>
            </a:r>
            <a:r>
              <a:rPr lang="en-US" sz="2800" b="1" dirty="0"/>
              <a:t>code consistency and adherence to best practices</a:t>
            </a:r>
            <a:r>
              <a:rPr lang="en-US" sz="2800" dirty="0"/>
              <a:t>.</a:t>
            </a:r>
            <a:endParaRPr lang="en-US" sz="2800" dirty="0"/>
          </a:p>
          <a:p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505"/>
    </mc:Choice>
    <mc:Fallback>
      <p:transition spd="slow" advTm="10150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to Assist Manual Code Auditing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Security-Oriented IDE Plugins (</a:t>
            </a:r>
            <a:r>
              <a:rPr lang="en-US" sz="3600" b="1" dirty="0" err="1"/>
              <a:t>SonarLint</a:t>
            </a:r>
            <a:r>
              <a:rPr lang="en-US" sz="3600" b="1" dirty="0"/>
              <a:t>, Bandit)</a:t>
            </a:r>
            <a:endParaRPr lang="en-US" sz="3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 err="1"/>
              <a:t>SonarLint</a:t>
            </a:r>
            <a:r>
              <a:rPr lang="en-US" sz="3200" dirty="0"/>
              <a:t> – Identifies code smells, security vulnerabilities, and bugs in real time.</a:t>
            </a:r>
            <a:endParaRPr lang="en-U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/>
              <a:t>Bandit</a:t>
            </a:r>
            <a:r>
              <a:rPr lang="en-US" sz="3200" dirty="0"/>
              <a:t> – A Python security tool that scans for common security issues in code.</a:t>
            </a:r>
            <a:endParaRPr lang="en-U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Assists developers in identifying vulnerabilities </a:t>
            </a:r>
            <a:r>
              <a:rPr lang="en-US" sz="3200" b="1" dirty="0"/>
              <a:t>while coding</a:t>
            </a:r>
            <a:r>
              <a:rPr lang="en-US" sz="3200" dirty="0"/>
              <a:t>.</a:t>
            </a:r>
            <a:endParaRPr lang="en-US" sz="3200" dirty="0"/>
          </a:p>
          <a:p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9448"/>
    </mc:Choice>
    <mc:Fallback>
      <p:transition spd="slow" advTm="99448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to Assist Manual Code Auditing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Version Control and Code Review Platforms (GitHub, GitLab, Bitbucket)</a:t>
            </a:r>
            <a:endParaRPr lang="en-US" sz="3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400" dirty="0"/>
              <a:t>Enables </a:t>
            </a:r>
            <a:r>
              <a:rPr lang="en-US" sz="3400" b="1" dirty="0"/>
              <a:t>peer reviews and collaborative auditing</a:t>
            </a:r>
            <a:r>
              <a:rPr lang="en-US" sz="3400" dirty="0"/>
              <a:t>.</a:t>
            </a:r>
            <a:endParaRPr lang="en-US" sz="3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400" dirty="0"/>
              <a:t>Facilitates tracking of </a:t>
            </a:r>
            <a:r>
              <a:rPr lang="en-US" sz="3400" b="1" dirty="0"/>
              <a:t>code changes and security patches</a:t>
            </a:r>
            <a:r>
              <a:rPr lang="en-US" sz="3400" dirty="0"/>
              <a:t>.</a:t>
            </a:r>
            <a:endParaRPr lang="en-US" sz="3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400" dirty="0"/>
              <a:t>Helps enforce </a:t>
            </a:r>
            <a:r>
              <a:rPr lang="en-US" sz="3400" b="1" dirty="0"/>
              <a:t>secure development lifecycle practices</a:t>
            </a:r>
            <a:r>
              <a:rPr lang="en-US" sz="3400" dirty="0"/>
              <a:t>.</a:t>
            </a:r>
            <a:endParaRPr lang="en-US" sz="3400" dirty="0"/>
          </a:p>
          <a:p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353"/>
    </mc:Choice>
    <mc:Fallback>
      <p:transition spd="slow" advTm="97353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for Manual Code Auditing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/>
              <a:t>Follow Secure Coding Guidelines (OWASP, CERT, NIST)</a:t>
            </a:r>
            <a:endParaRPr lang="en-US" sz="36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/>
              <a:t>Use a Checklist-Based Approach</a:t>
            </a:r>
            <a:endParaRPr lang="en-US" sz="36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/>
              <a:t>Collaborate with Development and Security Teams</a:t>
            </a:r>
            <a:endParaRPr lang="en-US" sz="36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/>
              <a:t>Document Findings and Recommendations</a:t>
            </a:r>
            <a:endParaRPr lang="en-US" sz="36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9708"/>
    </mc:Choice>
    <mc:Fallback>
      <p:transition spd="slow" advTm="299708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and 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Time-consuming and resource-intensive</a:t>
            </a:r>
            <a:endParaRPr lang="en-US" sz="4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Requires expertise in programming and security</a:t>
            </a:r>
            <a:endParaRPr lang="en-US" sz="4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Cannot detect all vulnerabilities</a:t>
            </a:r>
            <a:endParaRPr lang="en-US" sz="4000" dirty="0"/>
          </a:p>
          <a:p>
            <a:pPr>
              <a:buFont typeface="Wingdings" panose="05000000000000000000" pitchFamily="2" charset="2"/>
              <a:buChar char="q"/>
            </a:pP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3583"/>
    </mc:Choice>
    <mc:Fallback>
      <p:transition spd="slow" advTm="113583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/>
              <a:t>Future of Code Auditing</a:t>
            </a:r>
            <a:endParaRPr lang="en-US" sz="4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4000" dirty="0"/>
              <a:t>Integration with AI and Machine Learning</a:t>
            </a:r>
            <a:endParaRPr lang="en-US" sz="4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4000" dirty="0"/>
              <a:t>Improving Developer Awareness and Training</a:t>
            </a:r>
            <a:endParaRPr lang="en-US" sz="4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4000" dirty="0"/>
              <a:t>Enhancing Collaboration Between Developers and Security Teams</a:t>
            </a:r>
            <a:endParaRPr lang="en-US" sz="4000" dirty="0"/>
          </a:p>
          <a:p>
            <a:pPr>
              <a:buFont typeface="Wingdings" panose="05000000000000000000" pitchFamily="2" charset="2"/>
              <a:buChar char="q"/>
            </a:pP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5513"/>
    </mc:Choice>
    <mc:Fallback>
      <p:transition spd="slow" advTm="125513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sz="2800" b="1" dirty="0"/>
              <a:t>What is manual code auditing, and why is it important for software security?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b="1" dirty="0"/>
              <a:t>List and briefly explain two common security vulnerabilities that can be detected through manual auditing.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b="1" dirty="0"/>
              <a:t>What are the key steps involved in performing a manual code audit?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b="1" dirty="0"/>
              <a:t>How do tools like </a:t>
            </a:r>
            <a:r>
              <a:rPr lang="en-US" sz="2800" b="1" dirty="0" err="1"/>
              <a:t>ESLint</a:t>
            </a:r>
            <a:r>
              <a:rPr lang="en-US" sz="2800" b="1" dirty="0"/>
              <a:t>, </a:t>
            </a:r>
            <a:r>
              <a:rPr lang="en-US" sz="2800" b="1" dirty="0" err="1"/>
              <a:t>SonarLint</a:t>
            </a:r>
            <a:r>
              <a:rPr lang="en-US" sz="2800" b="1" dirty="0"/>
              <a:t>, and GitHub assist in manual code auditing?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b="1" dirty="0"/>
              <a:t>Discuss one real-world example where manual code auditing helped identify a critical security flaw.</a:t>
            </a:r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511"/>
    </mc:Choice>
    <mc:Fallback>
      <p:transition spd="slow" advTm="2151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0</TotalTime>
  <Words>3406</Words>
  <Application>WPS Presentation</Application>
  <PresentationFormat>Widescreen</PresentationFormat>
  <Paragraphs>107</Paragraphs>
  <Slides>14</Slides>
  <Notes>0</Notes>
  <HiddenSlides>0</HiddenSlides>
  <MMClips>14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Retrospect</vt:lpstr>
      <vt:lpstr>Manual Code Auditing for Software Security </vt:lpstr>
      <vt:lpstr>Definition of Manual Code Auditing</vt:lpstr>
      <vt:lpstr>Importance of Software Security</vt:lpstr>
      <vt:lpstr>Types of auditing:</vt:lpstr>
      <vt:lpstr>Common Security Vulnerabilities</vt:lpstr>
      <vt:lpstr>Steps in Manual Code Auditing</vt:lpstr>
      <vt:lpstr>Code Review Techniques</vt:lpstr>
      <vt:lpstr>Tools to Assist Manual Code Auditing</vt:lpstr>
      <vt:lpstr>Tools to Assist Manual Code Auditing</vt:lpstr>
      <vt:lpstr>Tools to Assist Manual Code Auditing</vt:lpstr>
      <vt:lpstr>Best Practices for Manual Code Auditing</vt:lpstr>
      <vt:lpstr>Challenges and Limitations</vt:lpstr>
      <vt:lpstr>Conclusion </vt:lpstr>
      <vt:lpstr>Assignment-4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Code Auditing for Software Security </dc:title>
  <dc:creator>rashad elhabob</dc:creator>
  <cp:lastModifiedBy>suhaip ali</cp:lastModifiedBy>
  <cp:revision>11</cp:revision>
  <dcterms:created xsi:type="dcterms:W3CDTF">2025-03-09T16:18:00Z</dcterms:created>
  <dcterms:modified xsi:type="dcterms:W3CDTF">2025-11-28T22:29:40Z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787A79A29DC64E3F847EF6AB9798B07B_12</vt:lpwstr>
  </property>
  <property fmtid="{D5CDD505-2E9C-101B-9397-08002B2CF9AE}" pid="3" name="KSOProductBuildVer">
    <vt:lpwstr>1033-12.2.0.23155</vt:lpwstr>
  </property>
</Properties>
</file>