
<file path=[Content_Types].xml><?xml version="1.0" encoding="utf-8"?>
<Types xmlns="http://schemas.openxmlformats.org/package/2006/content-types">
  <Default Extension="jpeg" ContentType="image/jpeg"/>
  <Default Extension="JPG" ContentType="image/.jpg"/>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324" r:id="rId3"/>
    <p:sldId id="329" r:id="rId5"/>
    <p:sldId id="330" r:id="rId6"/>
    <p:sldId id="331" r:id="rId7"/>
    <p:sldId id="256" r:id="rId8"/>
    <p:sldId id="257" r:id="rId9"/>
    <p:sldId id="281" r:id="rId10"/>
    <p:sldId id="282" r:id="rId11"/>
    <p:sldId id="284" r:id="rId12"/>
    <p:sldId id="285" r:id="rId13"/>
    <p:sldId id="332" r:id="rId14"/>
    <p:sldId id="258" r:id="rId15"/>
    <p:sldId id="275" r:id="rId16"/>
    <p:sldId id="279" r:id="rId17"/>
    <p:sldId id="276" r:id="rId18"/>
    <p:sldId id="280" r:id="rId19"/>
    <p:sldId id="277" r:id="rId20"/>
    <p:sldId id="278" r:id="rId21"/>
    <p:sldId id="259" r:id="rId22"/>
    <p:sldId id="263" r:id="rId23"/>
    <p:sldId id="260" r:id="rId24"/>
    <p:sldId id="262" r:id="rId25"/>
    <p:sldId id="333" r:id="rId26"/>
    <p:sldId id="274"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883" autoAdjust="0"/>
  </p:normalViewPr>
  <p:slideViewPr>
    <p:cSldViewPr snapToGrid="0">
      <p:cViewPr varScale="1">
        <p:scale>
          <a:sx n="61" d="100"/>
          <a:sy n="61" d="100"/>
        </p:scale>
        <p:origin x="884"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6864"/>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13D49B-A14A-4CB5-B9A9-2E66E8A8393B}"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B74A40-DD47-41D9-8E86-16C40796BD9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Образ слайда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195" name="Заметки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ru-RU" altLang="en-US"/>
          </a:p>
        </p:txBody>
      </p:sp>
      <p:sp>
        <p:nvSpPr>
          <p:cNvPr id="8196" name="Номер слайда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242DE9D-B2C1-4712-A93F-BF2B1A7AA242}" type="slidenum">
              <a:rPr lang="ru-RU" altLang="en-US" smtClean="0">
                <a:ea typeface="SimSun" panose="02010600030101010101" pitchFamily="2" charset="-122"/>
              </a:rPr>
            </a:fld>
            <a:endParaRPr lang="ru-RU" altLang="en-US">
              <a:ea typeface="SimSun"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Образ слайда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267" name="Заметки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defTabSz="1219200" eaLnBrk="1" hangingPunct="1">
              <a:spcBef>
                <a:spcPct val="0"/>
              </a:spcBef>
            </a:pPr>
            <a:r>
              <a:rPr lang="en-US" altLang="en-US"/>
              <a:t>Lorem Ipsum has been the industry's standard dummy text ever since Lorem Ipsum has been the</a:t>
            </a:r>
            <a:endParaRPr lang="ru-RU" altLang="en-US"/>
          </a:p>
          <a:p>
            <a:pPr defTabSz="1219200" eaLnBrk="1" hangingPunct="1">
              <a:spcBef>
                <a:spcPct val="0"/>
              </a:spcBef>
            </a:pPr>
            <a:endParaRPr lang="ru-RU" altLang="en-US"/>
          </a:p>
        </p:txBody>
      </p:sp>
      <p:sp>
        <p:nvSpPr>
          <p:cNvPr id="11268" name="Номер слайда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EBAC3B5-E325-4CBB-83A3-F60F32683D4A}" type="slidenum">
              <a:rPr lang="ru-RU" altLang="en-US" smtClean="0">
                <a:ea typeface="SimSun" panose="02010600030101010101" pitchFamily="2" charset="-122"/>
              </a:rPr>
            </a:fld>
            <a:endParaRPr lang="ru-RU" altLang="en-US">
              <a:ea typeface="SimSun"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Образ слайда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315" name="Заметки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defTabSz="1219200" eaLnBrk="1" hangingPunct="1">
              <a:spcBef>
                <a:spcPct val="0"/>
              </a:spcBef>
            </a:pPr>
            <a:r>
              <a:rPr lang="en-US" altLang="en-US"/>
              <a:t>Lorem Ipsum has been the industry's standard dummy text ever since Lorem Ipsum has been the</a:t>
            </a:r>
            <a:endParaRPr lang="ru-RU" altLang="en-US"/>
          </a:p>
          <a:p>
            <a:pPr defTabSz="1219200" eaLnBrk="1" hangingPunct="1">
              <a:spcBef>
                <a:spcPct val="0"/>
              </a:spcBef>
            </a:pPr>
            <a:endParaRPr lang="ru-RU" altLang="en-US"/>
          </a:p>
        </p:txBody>
      </p:sp>
      <p:sp>
        <p:nvSpPr>
          <p:cNvPr id="13316" name="Номер слайда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6D1092A-73A5-49C2-B270-999BF4894B3B}" type="slidenum">
              <a:rPr lang="ru-RU" altLang="en-US" smtClean="0">
                <a:ea typeface="SimSun" panose="02010600030101010101" pitchFamily="2" charset="-122"/>
              </a:rPr>
            </a:fld>
            <a:endParaRPr lang="ru-RU" altLang="en-US">
              <a:ea typeface="SimSun"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Образ слайда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363" name="Заметки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defTabSz="1219200" eaLnBrk="1" hangingPunct="1">
              <a:spcBef>
                <a:spcPct val="0"/>
              </a:spcBef>
            </a:pPr>
            <a:r>
              <a:rPr lang="en-US" altLang="en-US"/>
              <a:t>Lorem Ipsum has been the industry's standard dummy text ever since Lorem Ipsum has been the</a:t>
            </a:r>
            <a:endParaRPr lang="ru-RU" altLang="en-US"/>
          </a:p>
          <a:p>
            <a:pPr defTabSz="1219200" eaLnBrk="1" hangingPunct="1">
              <a:spcBef>
                <a:spcPct val="0"/>
              </a:spcBef>
            </a:pPr>
            <a:endParaRPr lang="ru-RU" altLang="en-US"/>
          </a:p>
        </p:txBody>
      </p:sp>
      <p:sp>
        <p:nvSpPr>
          <p:cNvPr id="15364" name="Номер слайда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CDED4A9-171D-4BF2-BC24-28FB6AE5D3DE}" type="slidenum">
              <a:rPr lang="ru-RU" altLang="en-US" smtClean="0">
                <a:ea typeface="SimSun" panose="02010600030101010101" pitchFamily="2" charset="-122"/>
              </a:rPr>
            </a:fld>
            <a:endParaRPr lang="ru-RU" altLang="en-US">
              <a:ea typeface="SimSun"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8A87A34-81AB-432B-8DAE-1953F412C126}" type="datetimeFigureOut">
              <a:rPr lang="en-US" smtClean="0"/>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D22F896-40B5-4ADD-8801-0D06FADFA095}"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71_Пользовательский макет">
    <p:spTree>
      <p:nvGrpSpPr>
        <p:cNvPr id="1" name=""/>
        <p:cNvGrpSpPr/>
        <p:nvPr/>
      </p:nvGrpSpPr>
      <p:grpSpPr>
        <a:xfrm>
          <a:off x="0" y="0"/>
          <a:ext cx="0" cy="0"/>
          <a:chOff x="0" y="0"/>
          <a:chExt cx="0" cy="0"/>
        </a:xfrm>
      </p:grpSpPr>
      <p:sp>
        <p:nvSpPr>
          <p:cNvPr id="6" name="Полилиния 14"/>
          <p:cNvSpPr/>
          <p:nvPr userDrawn="1"/>
        </p:nvSpPr>
        <p:spPr>
          <a:xfrm>
            <a:off x="5691718" y="0"/>
            <a:ext cx="6091767" cy="6858000"/>
          </a:xfrm>
          <a:custGeom>
            <a:avLst/>
            <a:gdLst>
              <a:gd name="connsiteX0" fmla="*/ 1 w 10627592"/>
              <a:gd name="connsiteY0" fmla="*/ 0 h 11965375"/>
              <a:gd name="connsiteX1" fmla="*/ 5750559 w 10627592"/>
              <a:gd name="connsiteY1" fmla="*/ 0 h 11965375"/>
              <a:gd name="connsiteX2" fmla="*/ 9845777 w 10627592"/>
              <a:gd name="connsiteY2" fmla="*/ 4095219 h 11965375"/>
              <a:gd name="connsiteX3" fmla="*/ 9845777 w 10627592"/>
              <a:gd name="connsiteY3" fmla="*/ 7870156 h 11965375"/>
              <a:gd name="connsiteX4" fmla="*/ 5750559 w 10627592"/>
              <a:gd name="connsiteY4" fmla="*/ 11965375 h 11965375"/>
              <a:gd name="connsiteX5" fmla="*/ 0 w 10627592"/>
              <a:gd name="connsiteY5" fmla="*/ 11965375 h 11965375"/>
              <a:gd name="connsiteX6" fmla="*/ 4095218 w 10627592"/>
              <a:gd name="connsiteY6" fmla="*/ 7870156 h 11965375"/>
              <a:gd name="connsiteX7" fmla="*/ 4095219 w 10627592"/>
              <a:gd name="connsiteY7" fmla="*/ 4095219 h 1196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27592" h="11965375">
                <a:moveTo>
                  <a:pt x="1" y="0"/>
                </a:moveTo>
                <a:lnTo>
                  <a:pt x="5750559" y="0"/>
                </a:lnTo>
                <a:lnTo>
                  <a:pt x="9845777" y="4095219"/>
                </a:lnTo>
                <a:cubicBezTo>
                  <a:pt x="10888197" y="5137640"/>
                  <a:pt x="10888197" y="6827735"/>
                  <a:pt x="9845777" y="7870156"/>
                </a:cubicBezTo>
                <a:lnTo>
                  <a:pt x="5750559" y="11965375"/>
                </a:lnTo>
                <a:lnTo>
                  <a:pt x="0" y="11965375"/>
                </a:lnTo>
                <a:lnTo>
                  <a:pt x="4095218" y="7870156"/>
                </a:lnTo>
                <a:cubicBezTo>
                  <a:pt x="5137639" y="6827736"/>
                  <a:pt x="5137639" y="5137638"/>
                  <a:pt x="4095219" y="4095219"/>
                </a:cubicBezTo>
                <a:close/>
              </a:path>
            </a:pathLst>
          </a:custGeom>
          <a:gradFill>
            <a:gsLst>
              <a:gs pos="0">
                <a:schemeClr val="accent1"/>
              </a:gs>
              <a:gs pos="100000">
                <a:schemeClr val="accent2"/>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sz="750"/>
          </a:p>
        </p:txBody>
      </p:sp>
      <p:sp>
        <p:nvSpPr>
          <p:cNvPr id="7" name="Заголовок 1"/>
          <p:cNvSpPr txBox="1"/>
          <p:nvPr userDrawn="1"/>
        </p:nvSpPr>
        <p:spPr>
          <a:xfrm>
            <a:off x="768351" y="6453188"/>
            <a:ext cx="4787900" cy="215900"/>
          </a:xfrm>
          <a:prstGeom prst="rect">
            <a:avLst/>
          </a:prstGeom>
        </p:spPr>
        <p:txBody>
          <a:bodyPr/>
          <a:lstStyle>
            <a:lvl1pPr marL="0" marR="0" indent="0" algn="l" defTabSz="2438400" rtl="0" eaLnBrk="1" fontAlgn="auto" latinLnBrk="0" hangingPunct="1">
              <a:lnSpc>
                <a:spcPct val="100000"/>
              </a:lnSpc>
              <a:spcBef>
                <a:spcPct val="0"/>
              </a:spcBef>
              <a:spcAft>
                <a:spcPts val="0"/>
              </a:spcAft>
              <a:buClrTx/>
              <a:buSzTx/>
              <a:buFontTx/>
              <a:buNone/>
              <a:tabLst>
                <a:tab pos="3641725" algn="l"/>
              </a:tabLst>
              <a:defRPr lang="ru-RU" sz="16600" b="1" i="0" kern="1200" spc="0" baseline="0" dirty="0">
                <a:solidFill>
                  <a:schemeClr val="tx2">
                    <a:lumMod val="90000"/>
                    <a:lumOff val="10000"/>
                  </a:schemeClr>
                </a:solidFill>
                <a:latin typeface="Tahoma" panose="020B0604030504040204" charset="0"/>
                <a:ea typeface="Tahoma" panose="020B0604030504040204" charset="0"/>
                <a:cs typeface="Tahoma" panose="020B0604030504040204" charset="0"/>
              </a:defRPr>
            </a:lvl1pPr>
          </a:lstStyle>
          <a:p>
            <a:pPr>
              <a:defRPr/>
            </a:pPr>
            <a:r>
              <a:rPr lang="en-US" sz="900" b="0">
                <a:solidFill>
                  <a:schemeClr val="tx2">
                    <a:lumMod val="50000"/>
                    <a:lumOff val="50000"/>
                  </a:schemeClr>
                </a:solidFill>
                <a:latin typeface="Arial" panose="020B0604020202020204" pitchFamily="34" charset="0"/>
                <a:cs typeface="Arial" panose="020B0604020202020204" pitchFamily="34" charset="0"/>
              </a:rPr>
              <a:t>Free presentation PowerPoint - SLIDESELLER.COM</a:t>
            </a:r>
            <a:endParaRPr lang="en-US" sz="900" b="0">
              <a:solidFill>
                <a:schemeClr val="tx2">
                  <a:lumMod val="50000"/>
                  <a:lumOff val="50000"/>
                </a:schemeClr>
              </a:solidFill>
              <a:latin typeface="Arial" panose="020B0604020202020204" pitchFamily="34" charset="0"/>
              <a:cs typeface="Arial" panose="020B0604020202020204" pitchFamily="34" charset="0"/>
            </a:endParaRPr>
          </a:p>
        </p:txBody>
      </p:sp>
      <p:sp>
        <p:nvSpPr>
          <p:cNvPr id="8" name="Заголовок 1"/>
          <p:cNvSpPr>
            <a:spLocks noGrp="1"/>
          </p:cNvSpPr>
          <p:nvPr>
            <p:ph type="title"/>
          </p:nvPr>
        </p:nvSpPr>
        <p:spPr>
          <a:xfrm>
            <a:off x="800856" y="837013"/>
            <a:ext cx="4359101" cy="1439993"/>
          </a:xfrm>
          <a:prstGeom prst="rect">
            <a:avLst/>
          </a:prstGeom>
        </p:spPr>
        <p:txBody>
          <a:bodyPr>
            <a:noAutofit/>
          </a:bodyPr>
          <a:lstStyle>
            <a:lvl1pPr marL="0" marR="0" indent="0" algn="l" defTabSz="914400" rtl="0" eaLnBrk="1" fontAlgn="auto" latinLnBrk="0" hangingPunct="1">
              <a:lnSpc>
                <a:spcPct val="100000"/>
              </a:lnSpc>
              <a:spcBef>
                <a:spcPct val="0"/>
              </a:spcBef>
              <a:spcAft>
                <a:spcPts val="0"/>
              </a:spcAft>
              <a:buClrTx/>
              <a:buSzTx/>
              <a:buFontTx/>
              <a:buNone/>
              <a:tabLst>
                <a:tab pos="1365250" algn="l"/>
              </a:tabLst>
              <a:defRPr lang="ru-RU" sz="3000" b="0" i="0" kern="1200" spc="0" baseline="0" dirty="0">
                <a:solidFill>
                  <a:schemeClr val="tx2"/>
                </a:solidFill>
                <a:latin typeface="Roboto Black" panose="02000000000000000000" pitchFamily="2" charset="0"/>
                <a:ea typeface="Roboto Black" panose="02000000000000000000" pitchFamily="2" charset="0"/>
                <a:cs typeface="Roboto Black" panose="02000000000000000000" pitchFamily="2" charset="0"/>
              </a:defRPr>
            </a:lvl1pPr>
          </a:lstStyle>
          <a:p>
            <a:r>
              <a:rPr lang="en-US"/>
              <a:t>Click to edit Master title style</a:t>
            </a:r>
            <a:endParaRPr lang="ru-RU" dirty="0"/>
          </a:p>
        </p:txBody>
      </p:sp>
      <p:sp>
        <p:nvSpPr>
          <p:cNvPr id="9" name="Текст 3"/>
          <p:cNvSpPr>
            <a:spLocks noGrp="1"/>
          </p:cNvSpPr>
          <p:nvPr>
            <p:ph type="body" sz="quarter" idx="15"/>
          </p:nvPr>
        </p:nvSpPr>
        <p:spPr>
          <a:xfrm>
            <a:off x="804195" y="477014"/>
            <a:ext cx="4357728" cy="331192"/>
          </a:xfrm>
          <a:prstGeom prst="rect">
            <a:avLst/>
          </a:prstGeom>
        </p:spPr>
        <p:txBody>
          <a:bodyPr/>
          <a:lstStyle>
            <a:lvl1pPr algn="l">
              <a:defRPr lang="en-US" sz="1050" b="0" i="0" baseline="0" dirty="0">
                <a:solidFill>
                  <a:schemeClr val="tx2">
                    <a:lumMod val="40000"/>
                    <a:lumOff val="60000"/>
                  </a:schemeClr>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endParaRPr lang="en-US"/>
          </a:p>
        </p:txBody>
      </p:sp>
      <p:sp>
        <p:nvSpPr>
          <p:cNvPr id="10" name="Текст 3"/>
          <p:cNvSpPr>
            <a:spLocks noGrp="1"/>
          </p:cNvSpPr>
          <p:nvPr>
            <p:ph type="body" sz="quarter" idx="14"/>
          </p:nvPr>
        </p:nvSpPr>
        <p:spPr>
          <a:xfrm>
            <a:off x="800939" y="3213002"/>
            <a:ext cx="4359019" cy="2538929"/>
          </a:xfrm>
          <a:prstGeom prst="rect">
            <a:avLst/>
          </a:prstGeom>
        </p:spPr>
        <p:txBody>
          <a:bodyPr/>
          <a:lstStyle>
            <a:lvl1pPr>
              <a:defRPr lang="en-US" sz="1050" b="0" i="0" baseline="0" dirty="0">
                <a:solidFill>
                  <a:schemeClr val="tx2"/>
                </a:solidFill>
                <a:latin typeface="Roboto Light" panose="02000000000000000000" charset="0"/>
                <a:ea typeface="Roboto Light" panose="02000000000000000000" charset="0"/>
                <a:cs typeface="Roboto Light" panose="02000000000000000000" charset="0"/>
              </a:defRPr>
            </a:lvl1pPr>
          </a:lstStyle>
          <a:p>
            <a:pPr lvl="0"/>
            <a:r>
              <a:rPr lang="en-US"/>
              <a:t>Click to edit Master text styles</a:t>
            </a:r>
            <a:endParaRPr lang="en-US"/>
          </a:p>
        </p:txBody>
      </p:sp>
      <p:sp>
        <p:nvSpPr>
          <p:cNvPr id="13" name="Рисунок 12"/>
          <p:cNvSpPr>
            <a:spLocks noGrp="1"/>
          </p:cNvSpPr>
          <p:nvPr>
            <p:ph type="pic" sz="quarter" idx="39"/>
          </p:nvPr>
        </p:nvSpPr>
        <p:spPr>
          <a:xfrm rot="10800000" flipV="1">
            <a:off x="5267962" y="719804"/>
            <a:ext cx="5418668" cy="5418392"/>
          </a:xfrm>
          <a:custGeom>
            <a:avLst/>
            <a:gdLst>
              <a:gd name="connsiteX0" fmla="*/ 4945206 w 9852765"/>
              <a:gd name="connsiteY0" fmla="*/ 0 h 9852763"/>
              <a:gd name="connsiteX1" fmla="*/ 3717578 w 9852765"/>
              <a:gd name="connsiteY1" fmla="*/ 508501 h 9852763"/>
              <a:gd name="connsiteX2" fmla="*/ 508502 w 9852765"/>
              <a:gd name="connsiteY2" fmla="*/ 3717574 h 9852763"/>
              <a:gd name="connsiteX3" fmla="*/ 0 w 9852765"/>
              <a:gd name="connsiteY3" fmla="*/ 4945207 h 9852763"/>
              <a:gd name="connsiteX4" fmla="*/ 508502 w 9852765"/>
              <a:gd name="connsiteY4" fmla="*/ 6172837 h 9852763"/>
              <a:gd name="connsiteX5" fmla="*/ 3679928 w 9852765"/>
              <a:gd name="connsiteY5" fmla="*/ 9344262 h 9852763"/>
              <a:gd name="connsiteX6" fmla="*/ 6135190 w 9852765"/>
              <a:gd name="connsiteY6" fmla="*/ 9344262 h 9852763"/>
              <a:gd name="connsiteX7" fmla="*/ 9344265 w 9852765"/>
              <a:gd name="connsiteY7" fmla="*/ 6135189 h 9852763"/>
              <a:gd name="connsiteX8" fmla="*/ 9344263 w 9852765"/>
              <a:gd name="connsiteY8" fmla="*/ 3679927 h 9852763"/>
              <a:gd name="connsiteX9" fmla="*/ 6172838 w 9852765"/>
              <a:gd name="connsiteY9" fmla="*/ 508501 h 9852763"/>
              <a:gd name="connsiteX10" fmla="*/ 4945206 w 9852765"/>
              <a:gd name="connsiteY10" fmla="*/ 0 h 985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52765" h="9852763">
                <a:moveTo>
                  <a:pt x="4945206" y="0"/>
                </a:moveTo>
                <a:cubicBezTo>
                  <a:pt x="4500891" y="0"/>
                  <a:pt x="4056578" y="169500"/>
                  <a:pt x="3717578" y="508501"/>
                </a:cubicBezTo>
                <a:lnTo>
                  <a:pt x="508502" y="3717574"/>
                </a:lnTo>
                <a:cubicBezTo>
                  <a:pt x="169502" y="4056577"/>
                  <a:pt x="2" y="4500892"/>
                  <a:pt x="0" y="4945207"/>
                </a:cubicBezTo>
                <a:cubicBezTo>
                  <a:pt x="0" y="5389523"/>
                  <a:pt x="169502" y="5833837"/>
                  <a:pt x="508502" y="6172837"/>
                </a:cubicBezTo>
                <a:lnTo>
                  <a:pt x="3679928" y="9344262"/>
                </a:lnTo>
                <a:cubicBezTo>
                  <a:pt x="4357930" y="10022265"/>
                  <a:pt x="5457188" y="10022264"/>
                  <a:pt x="6135190" y="9344262"/>
                </a:cubicBezTo>
                <a:lnTo>
                  <a:pt x="9344265" y="6135189"/>
                </a:lnTo>
                <a:cubicBezTo>
                  <a:pt x="10022266" y="5457186"/>
                  <a:pt x="10022266" y="4357930"/>
                  <a:pt x="9344263" y="3679927"/>
                </a:cubicBezTo>
                <a:lnTo>
                  <a:pt x="6172838" y="508501"/>
                </a:lnTo>
                <a:cubicBezTo>
                  <a:pt x="5833837" y="169500"/>
                  <a:pt x="5389521" y="0"/>
                  <a:pt x="4945206" y="0"/>
                </a:cubicBezTo>
                <a:close/>
              </a:path>
            </a:pathLst>
          </a:custGeom>
          <a:pattFill prst="lgCheck">
            <a:fgClr>
              <a:schemeClr val="tx2">
                <a:lumMod val="25000"/>
                <a:lumOff val="75000"/>
              </a:schemeClr>
            </a:fgClr>
            <a:bgClr>
              <a:schemeClr val="tx2">
                <a:lumMod val="10000"/>
                <a:lumOff val="9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defRPr lang="ru-RU" sz="300" dirty="0"/>
            </a:lvl1pPr>
          </a:lstStyle>
          <a:p>
            <a:pPr lvl="0"/>
            <a:endParaRPr lang="ru-RU" noProof="0" dirty="0"/>
          </a:p>
        </p:txBody>
      </p:sp>
      <p:sp>
        <p:nvSpPr>
          <p:cNvPr id="11" name="Номер слайда 5"/>
          <p:cNvSpPr>
            <a:spLocks noGrp="1"/>
          </p:cNvSpPr>
          <p:nvPr>
            <p:ph type="sldNum" sz="quarter" idx="40"/>
          </p:nvPr>
        </p:nvSpPr>
        <p:spPr>
          <a:xfrm>
            <a:off x="9357784" y="5981700"/>
            <a:ext cx="2844800" cy="877888"/>
          </a:xfrm>
        </p:spPr>
        <p:txBody>
          <a:bodyPr/>
          <a:lstStyle>
            <a:lvl1pPr>
              <a:defRPr sz="5200">
                <a:solidFill>
                  <a:srgbClr val="F2F2F2"/>
                </a:solidFill>
                <a:latin typeface="Roboto Light" panose="02000000000000000000" charset="0"/>
                <a:ea typeface="Roboto Light" panose="02000000000000000000" charset="0"/>
                <a:cs typeface="Roboto Light" panose="02000000000000000000" charset="0"/>
              </a:defRPr>
            </a:lvl1pPr>
          </a:lstStyle>
          <a:p>
            <a:pPr>
              <a:defRPr/>
            </a:pPr>
            <a:fld id="{9BB231BE-98BF-4078-8C21-FE4A86A304B9}" type="slidenum">
              <a:rPr lang="ru-RU" altLang="en-US"/>
            </a:fld>
            <a:endParaRPr lang="ru-RU" altLang="en-US"/>
          </a:p>
        </p:txBody>
      </p:sp>
    </p:spTree>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15_Пользовательский макет">
    <p:spTree>
      <p:nvGrpSpPr>
        <p:cNvPr id="1" name=""/>
        <p:cNvGrpSpPr/>
        <p:nvPr/>
      </p:nvGrpSpPr>
      <p:grpSpPr>
        <a:xfrm>
          <a:off x="0" y="0"/>
          <a:ext cx="0" cy="0"/>
          <a:chOff x="0" y="0"/>
          <a:chExt cx="0" cy="0"/>
        </a:xfrm>
      </p:grpSpPr>
      <p:sp>
        <p:nvSpPr>
          <p:cNvPr id="8" name="Заголовок 1"/>
          <p:cNvSpPr txBox="1"/>
          <p:nvPr userDrawn="1"/>
        </p:nvSpPr>
        <p:spPr>
          <a:xfrm>
            <a:off x="768351" y="6453188"/>
            <a:ext cx="4787900" cy="215900"/>
          </a:xfrm>
          <a:prstGeom prst="rect">
            <a:avLst/>
          </a:prstGeom>
        </p:spPr>
        <p:txBody>
          <a:bodyPr/>
          <a:lstStyle>
            <a:lvl1pPr marL="0" marR="0" indent="0" algn="l" defTabSz="2438400" rtl="0" eaLnBrk="1" fontAlgn="auto" latinLnBrk="0" hangingPunct="1">
              <a:lnSpc>
                <a:spcPct val="100000"/>
              </a:lnSpc>
              <a:spcBef>
                <a:spcPct val="0"/>
              </a:spcBef>
              <a:spcAft>
                <a:spcPts val="0"/>
              </a:spcAft>
              <a:buClrTx/>
              <a:buSzTx/>
              <a:buFontTx/>
              <a:buNone/>
              <a:tabLst>
                <a:tab pos="3641725" algn="l"/>
              </a:tabLst>
              <a:defRPr lang="ru-RU" sz="16600" b="1" i="0" kern="1200" spc="0" baseline="0" dirty="0">
                <a:solidFill>
                  <a:schemeClr val="tx2">
                    <a:lumMod val="90000"/>
                    <a:lumOff val="10000"/>
                  </a:schemeClr>
                </a:solidFill>
                <a:latin typeface="Tahoma" panose="020B0604030504040204" charset="0"/>
                <a:ea typeface="Tahoma" panose="020B0604030504040204" charset="0"/>
                <a:cs typeface="Tahoma" panose="020B0604030504040204" charset="0"/>
              </a:defRPr>
            </a:lvl1pPr>
          </a:lstStyle>
          <a:p>
            <a:pPr>
              <a:defRPr/>
            </a:pPr>
            <a:r>
              <a:rPr lang="en-US" sz="900" b="0">
                <a:solidFill>
                  <a:schemeClr val="tx2">
                    <a:lumMod val="50000"/>
                    <a:lumOff val="50000"/>
                  </a:schemeClr>
                </a:solidFill>
                <a:latin typeface="Arial" panose="020B0604020202020204" pitchFamily="34" charset="0"/>
                <a:cs typeface="Arial" panose="020B0604020202020204" pitchFamily="34" charset="0"/>
              </a:rPr>
              <a:t>Free presentation PowerPoint - SLIDESELLER.COM</a:t>
            </a:r>
            <a:endParaRPr lang="en-US" sz="900" b="0">
              <a:solidFill>
                <a:schemeClr val="tx2">
                  <a:lumMod val="50000"/>
                  <a:lumOff val="50000"/>
                </a:schemeClr>
              </a:solidFill>
              <a:latin typeface="Arial" panose="020B0604020202020204" pitchFamily="34" charset="0"/>
              <a:cs typeface="Arial" panose="020B0604020202020204" pitchFamily="34" charset="0"/>
            </a:endParaRPr>
          </a:p>
        </p:txBody>
      </p:sp>
      <p:sp>
        <p:nvSpPr>
          <p:cNvPr id="34" name="Заголовок 1"/>
          <p:cNvSpPr>
            <a:spLocks noGrp="1"/>
          </p:cNvSpPr>
          <p:nvPr>
            <p:ph type="title"/>
          </p:nvPr>
        </p:nvSpPr>
        <p:spPr>
          <a:xfrm>
            <a:off x="800856" y="837012"/>
            <a:ext cx="10595763" cy="636534"/>
          </a:xfrm>
          <a:prstGeom prst="rect">
            <a:avLst/>
          </a:prstGeom>
        </p:spPr>
        <p:txBody>
          <a:bodyPr>
            <a:noAutofit/>
          </a:bodyPr>
          <a:lstStyle>
            <a:lvl1pPr marL="0" marR="0" indent="0" algn="ctr" defTabSz="914400" rtl="0" eaLnBrk="1" fontAlgn="auto" latinLnBrk="0" hangingPunct="1">
              <a:lnSpc>
                <a:spcPct val="100000"/>
              </a:lnSpc>
              <a:spcBef>
                <a:spcPct val="0"/>
              </a:spcBef>
              <a:spcAft>
                <a:spcPts val="0"/>
              </a:spcAft>
              <a:buClrTx/>
              <a:buSzTx/>
              <a:buFontTx/>
              <a:buNone/>
              <a:tabLst>
                <a:tab pos="1365250" algn="l"/>
              </a:tabLst>
              <a:defRPr lang="ru-RU" sz="3000" b="0" i="0" kern="1200" spc="113" baseline="0" dirty="0">
                <a:solidFill>
                  <a:schemeClr val="tx2"/>
                </a:solidFill>
                <a:latin typeface="Roboto Black" panose="02000000000000000000" pitchFamily="2" charset="0"/>
                <a:ea typeface="Roboto Black" panose="02000000000000000000" pitchFamily="2" charset="0"/>
                <a:cs typeface="Roboto Black" panose="02000000000000000000" pitchFamily="2" charset="0"/>
              </a:defRPr>
            </a:lvl1pPr>
          </a:lstStyle>
          <a:p>
            <a:r>
              <a:rPr lang="en-US"/>
              <a:t>Click to edit Master title style</a:t>
            </a:r>
            <a:endParaRPr lang="ru-RU" dirty="0"/>
          </a:p>
        </p:txBody>
      </p:sp>
      <p:sp>
        <p:nvSpPr>
          <p:cNvPr id="35" name="Текст 3"/>
          <p:cNvSpPr>
            <a:spLocks noGrp="1"/>
          </p:cNvSpPr>
          <p:nvPr>
            <p:ph type="body" sz="quarter" idx="15"/>
          </p:nvPr>
        </p:nvSpPr>
        <p:spPr>
          <a:xfrm>
            <a:off x="804197" y="477014"/>
            <a:ext cx="10592423" cy="331192"/>
          </a:xfrm>
          <a:prstGeom prst="rect">
            <a:avLst/>
          </a:prstGeom>
        </p:spPr>
        <p:txBody>
          <a:bodyPr/>
          <a:lstStyle>
            <a:lvl1pPr algn="ctr">
              <a:defRPr lang="en-US" sz="1050" b="0" i="0" baseline="0" dirty="0">
                <a:solidFill>
                  <a:schemeClr val="tx2">
                    <a:lumMod val="40000"/>
                    <a:lumOff val="60000"/>
                  </a:schemeClr>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endParaRPr lang="en-US"/>
          </a:p>
        </p:txBody>
      </p:sp>
      <p:sp>
        <p:nvSpPr>
          <p:cNvPr id="15" name="Рисунок 41"/>
          <p:cNvSpPr>
            <a:spLocks noGrp="1"/>
          </p:cNvSpPr>
          <p:nvPr>
            <p:ph type="pic" sz="quarter" idx="35"/>
          </p:nvPr>
        </p:nvSpPr>
        <p:spPr>
          <a:xfrm rot="10800000" flipV="1">
            <a:off x="804196" y="1978826"/>
            <a:ext cx="4294379" cy="4294161"/>
          </a:xfrm>
          <a:custGeom>
            <a:avLst/>
            <a:gdLst>
              <a:gd name="connsiteX0" fmla="*/ 4808490 w 9653868"/>
              <a:gd name="connsiteY0" fmla="*/ 0 h 9653868"/>
              <a:gd name="connsiteX1" fmla="*/ 3605641 w 9653868"/>
              <a:gd name="connsiteY1" fmla="*/ 498236 h 9653868"/>
              <a:gd name="connsiteX2" fmla="*/ 498237 w 9653868"/>
              <a:gd name="connsiteY2" fmla="*/ 3605641 h 9653868"/>
              <a:gd name="connsiteX3" fmla="*/ 498237 w 9653868"/>
              <a:gd name="connsiteY3" fmla="*/ 6011339 h 9653868"/>
              <a:gd name="connsiteX4" fmla="*/ 3642529 w 9653868"/>
              <a:gd name="connsiteY4" fmla="*/ 9155632 h 9653868"/>
              <a:gd name="connsiteX5" fmla="*/ 6048227 w 9653868"/>
              <a:gd name="connsiteY5" fmla="*/ 9155632 h 9653868"/>
              <a:gd name="connsiteX6" fmla="*/ 9155632 w 9653868"/>
              <a:gd name="connsiteY6" fmla="*/ 6048227 h 9653868"/>
              <a:gd name="connsiteX7" fmla="*/ 9155632 w 9653868"/>
              <a:gd name="connsiteY7" fmla="*/ 3642530 h 9653868"/>
              <a:gd name="connsiteX8" fmla="*/ 6011339 w 9653868"/>
              <a:gd name="connsiteY8" fmla="*/ 498236 h 9653868"/>
              <a:gd name="connsiteX9" fmla="*/ 4808490 w 9653868"/>
              <a:gd name="connsiteY9" fmla="*/ 0 h 9653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53868" h="9653868">
                <a:moveTo>
                  <a:pt x="4808490" y="0"/>
                </a:moveTo>
                <a:cubicBezTo>
                  <a:pt x="4373143" y="0"/>
                  <a:pt x="3937799" y="166079"/>
                  <a:pt x="3605641" y="498236"/>
                </a:cubicBezTo>
                <a:lnTo>
                  <a:pt x="498237" y="3605641"/>
                </a:lnTo>
                <a:cubicBezTo>
                  <a:pt x="-166079" y="4269956"/>
                  <a:pt x="-166079" y="5347024"/>
                  <a:pt x="498237" y="6011339"/>
                </a:cubicBezTo>
                <a:lnTo>
                  <a:pt x="3642529" y="9155632"/>
                </a:lnTo>
                <a:cubicBezTo>
                  <a:pt x="4306845" y="9819947"/>
                  <a:pt x="5383912" y="9819947"/>
                  <a:pt x="6048227" y="9155632"/>
                </a:cubicBezTo>
                <a:lnTo>
                  <a:pt x="9155632" y="6048227"/>
                </a:lnTo>
                <a:cubicBezTo>
                  <a:pt x="9819947" y="5383912"/>
                  <a:pt x="9819947" y="4306844"/>
                  <a:pt x="9155632" y="3642530"/>
                </a:cubicBezTo>
                <a:lnTo>
                  <a:pt x="6011339" y="498236"/>
                </a:lnTo>
                <a:cubicBezTo>
                  <a:pt x="5679181" y="166079"/>
                  <a:pt x="5243835" y="0"/>
                  <a:pt x="4808490" y="0"/>
                </a:cubicBezTo>
                <a:close/>
              </a:path>
            </a:pathLst>
          </a:custGeom>
          <a:pattFill prst="lgCheck">
            <a:fgClr>
              <a:schemeClr val="tx2">
                <a:lumMod val="25000"/>
                <a:lumOff val="75000"/>
              </a:schemeClr>
            </a:fgClr>
            <a:bgClr>
              <a:schemeClr val="tx2">
                <a:lumMod val="10000"/>
                <a:lumOff val="9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ru-RU" sz="300" dirty="0"/>
            </a:lvl1pPr>
          </a:lstStyle>
          <a:p>
            <a:pPr lvl="0"/>
            <a:endParaRPr lang="ru-RU" noProof="0" dirty="0"/>
          </a:p>
        </p:txBody>
      </p:sp>
      <p:sp>
        <p:nvSpPr>
          <p:cNvPr id="19" name="Текст 3"/>
          <p:cNvSpPr>
            <a:spLocks noGrp="1"/>
          </p:cNvSpPr>
          <p:nvPr>
            <p:ph type="body" sz="quarter" idx="51"/>
          </p:nvPr>
        </p:nvSpPr>
        <p:spPr>
          <a:xfrm>
            <a:off x="5807987" y="4230263"/>
            <a:ext cx="1475181" cy="782730"/>
          </a:xfrm>
          <a:prstGeom prst="rect">
            <a:avLst/>
          </a:prstGeom>
        </p:spPr>
        <p:txBody>
          <a:bodyPr/>
          <a:lstStyle>
            <a:lvl1pPr algn="ctr">
              <a:defRPr lang="en-US" sz="900" b="0" i="0" baseline="0" dirty="0">
                <a:solidFill>
                  <a:schemeClr val="tx2"/>
                </a:solidFill>
                <a:latin typeface="Roboto Light" panose="02000000000000000000" charset="0"/>
                <a:ea typeface="Roboto Light" panose="02000000000000000000" charset="0"/>
                <a:cs typeface="Roboto Light" panose="02000000000000000000" charset="0"/>
              </a:defRPr>
            </a:lvl1pPr>
          </a:lstStyle>
          <a:p>
            <a:pPr lvl="0"/>
            <a:r>
              <a:rPr lang="en-US"/>
              <a:t>Click to edit Master text styles</a:t>
            </a:r>
            <a:endParaRPr lang="en-US"/>
          </a:p>
        </p:txBody>
      </p:sp>
      <p:sp>
        <p:nvSpPr>
          <p:cNvPr id="20" name="Текст 3"/>
          <p:cNvSpPr>
            <a:spLocks noGrp="1"/>
          </p:cNvSpPr>
          <p:nvPr>
            <p:ph type="body" sz="quarter" idx="52"/>
          </p:nvPr>
        </p:nvSpPr>
        <p:spPr>
          <a:xfrm>
            <a:off x="7864712" y="4230263"/>
            <a:ext cx="1475181" cy="782730"/>
          </a:xfrm>
          <a:prstGeom prst="rect">
            <a:avLst/>
          </a:prstGeom>
        </p:spPr>
        <p:txBody>
          <a:bodyPr/>
          <a:lstStyle>
            <a:lvl1pPr algn="ctr">
              <a:defRPr lang="en-US" sz="900" b="0" i="0" baseline="0" dirty="0">
                <a:solidFill>
                  <a:schemeClr val="tx2"/>
                </a:solidFill>
                <a:latin typeface="Roboto Light" panose="02000000000000000000" charset="0"/>
                <a:ea typeface="Roboto Light" panose="02000000000000000000" charset="0"/>
                <a:cs typeface="Roboto Light" panose="02000000000000000000" charset="0"/>
              </a:defRPr>
            </a:lvl1pPr>
          </a:lstStyle>
          <a:p>
            <a:pPr lvl="0"/>
            <a:r>
              <a:rPr lang="en-US"/>
              <a:t>Click to edit Master text styles</a:t>
            </a:r>
            <a:endParaRPr lang="en-US"/>
          </a:p>
        </p:txBody>
      </p:sp>
      <p:sp>
        <p:nvSpPr>
          <p:cNvPr id="21" name="Текст 3"/>
          <p:cNvSpPr>
            <a:spLocks noGrp="1"/>
          </p:cNvSpPr>
          <p:nvPr>
            <p:ph type="body" sz="quarter" idx="53"/>
          </p:nvPr>
        </p:nvSpPr>
        <p:spPr>
          <a:xfrm>
            <a:off x="9921438" y="4230263"/>
            <a:ext cx="1475181" cy="782730"/>
          </a:xfrm>
          <a:prstGeom prst="rect">
            <a:avLst/>
          </a:prstGeom>
        </p:spPr>
        <p:txBody>
          <a:bodyPr/>
          <a:lstStyle>
            <a:lvl1pPr algn="ctr">
              <a:defRPr lang="en-US" sz="900" b="0" i="0" baseline="0" dirty="0">
                <a:solidFill>
                  <a:schemeClr val="tx2"/>
                </a:solidFill>
                <a:latin typeface="Roboto Light" panose="02000000000000000000" charset="0"/>
                <a:ea typeface="Roboto Light" panose="02000000000000000000" charset="0"/>
                <a:cs typeface="Roboto Light" panose="02000000000000000000" charset="0"/>
              </a:defRPr>
            </a:lvl1pPr>
          </a:lstStyle>
          <a:p>
            <a:pPr lvl="0"/>
            <a:r>
              <a:rPr lang="en-US"/>
              <a:t>Click to edit Master text styles</a:t>
            </a:r>
            <a:endParaRPr lang="en-US"/>
          </a:p>
        </p:txBody>
      </p:sp>
      <p:sp>
        <p:nvSpPr>
          <p:cNvPr id="9" name="Номер слайда 5"/>
          <p:cNvSpPr>
            <a:spLocks noGrp="1"/>
          </p:cNvSpPr>
          <p:nvPr>
            <p:ph type="sldNum" sz="quarter" idx="54"/>
          </p:nvPr>
        </p:nvSpPr>
        <p:spPr>
          <a:xfrm>
            <a:off x="9357784" y="5981700"/>
            <a:ext cx="2844800" cy="877888"/>
          </a:xfrm>
        </p:spPr>
        <p:txBody>
          <a:bodyPr/>
          <a:lstStyle>
            <a:lvl1pPr>
              <a:defRPr sz="5200">
                <a:solidFill>
                  <a:srgbClr val="F2F2F2"/>
                </a:solidFill>
                <a:latin typeface="Roboto Light" panose="02000000000000000000" charset="0"/>
                <a:ea typeface="Roboto Light" panose="02000000000000000000" charset="0"/>
                <a:cs typeface="Roboto Light" panose="02000000000000000000" charset="0"/>
              </a:defRPr>
            </a:lvl1pPr>
          </a:lstStyle>
          <a:p>
            <a:pPr>
              <a:defRPr/>
            </a:pPr>
            <a:fld id="{A64556A8-2946-48BB-841A-2EFBAD1C6C19}" type="slidenum">
              <a:rPr lang="ru-RU" altLang="en-US"/>
            </a:fld>
            <a:endParaRPr lang="ru-RU" altLang="en-US"/>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8A87A34-81AB-432B-8DAE-1953F412C126}" type="datetimeFigureOut">
              <a:rPr lang="en-US" smtClean="0"/>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D22F896-40B5-4ADD-8801-0D06FADFA095}" type="slidenum">
              <a:rPr lang="en-US" smtClean="0"/>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image" Target="../media/image2.GIF"/></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3.xml"/><Relationship Id="rId2" Type="http://schemas.openxmlformats.org/officeDocument/2006/relationships/tags" Target="../tags/tag1.xml"/><Relationship Id="rId1" Type="http://schemas.openxmlformats.org/officeDocument/2006/relationships/image" Target="../media/image5.GIF"/></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3.xml"/><Relationship Id="rId2" Type="http://schemas.openxmlformats.org/officeDocument/2006/relationships/tags" Target="../tags/tag2.xml"/><Relationship Id="rId1" Type="http://schemas.openxmlformats.org/officeDocument/2006/relationships/image" Target="../media/image5.GIF"/></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3.xml"/><Relationship Id="rId2" Type="http://schemas.openxmlformats.org/officeDocument/2006/relationships/tags" Target="../tags/tag3.xml"/><Relationship Id="rId1" Type="http://schemas.openxmlformats.org/officeDocument/2006/relationships/image" Target="../media/image5.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crowdstrike.com/press-releases/crowdstrike-added-to-the-department-of-homeland-securitys-continuous-diagnostics-and-mitigation-approved-products-list/"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10"/>
          <p:cNvPicPr>
            <a:picLocks noChangeAspect="1"/>
          </p:cNvPicPr>
          <p:nvPr/>
        </p:nvPicPr>
        <p:blipFill>
          <a:blip r:embed="rId1"/>
          <a:srcRect/>
          <a:stretch>
            <a:fillRect/>
          </a:stretch>
        </p:blipFill>
        <p:spPr bwMode="auto">
          <a:xfrm>
            <a:off x="10407649" y="206377"/>
            <a:ext cx="1225550" cy="91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p:cNvSpPr txBox="1"/>
          <p:nvPr/>
        </p:nvSpPr>
        <p:spPr>
          <a:xfrm>
            <a:off x="1920876" y="2286001"/>
            <a:ext cx="4403725" cy="2584450"/>
          </a:xfrm>
          <a:prstGeom prst="rect">
            <a:avLst/>
          </a:prstGeom>
          <a:noFill/>
        </p:spPr>
        <p:txBody>
          <a:bodyPr>
            <a:spAutoFit/>
          </a:bodyPr>
          <a:lstStyle/>
          <a:p>
            <a:pPr>
              <a:defRPr/>
            </a:pPr>
            <a:r>
              <a:rPr lang="en-US" b="1" dirty="0">
                <a:solidFill>
                  <a:schemeClr val="accent1"/>
                </a:solidFill>
                <a:cs typeface="Arial" panose="020B0604020202020204" pitchFamily="34" charset="0"/>
              </a:rPr>
              <a:t>Name:</a:t>
            </a:r>
            <a:r>
              <a:rPr lang="en-US" b="1" dirty="0">
                <a:cs typeface="Arial" panose="020B0604020202020204" pitchFamily="34" charset="0"/>
              </a:rPr>
              <a:t> Suhaib Ali Abdelgader Yousif</a:t>
            </a:r>
            <a:endParaRPr lang="en-US" b="1" dirty="0">
              <a:cs typeface="Arial" panose="020B0604020202020204" pitchFamily="34" charset="0"/>
            </a:endParaRPr>
          </a:p>
          <a:p>
            <a:pPr>
              <a:defRPr/>
            </a:pPr>
            <a:r>
              <a:rPr lang="en-US" b="1" dirty="0">
                <a:solidFill>
                  <a:schemeClr val="accent1"/>
                </a:solidFill>
                <a:cs typeface="Arial" panose="020B0604020202020204" pitchFamily="34" charset="0"/>
              </a:rPr>
              <a:t>Nationality:</a:t>
            </a:r>
            <a:r>
              <a:rPr lang="en-US" b="1" dirty="0">
                <a:cs typeface="Arial" panose="020B0604020202020204" pitchFamily="34" charset="0"/>
              </a:rPr>
              <a:t> Sudanese</a:t>
            </a:r>
            <a:endParaRPr lang="en-US" b="1" dirty="0">
              <a:cs typeface="Arial" panose="020B0604020202020204" pitchFamily="34" charset="0"/>
            </a:endParaRPr>
          </a:p>
          <a:p>
            <a:pPr>
              <a:defRPr/>
            </a:pPr>
            <a:r>
              <a:rPr lang="en-US" b="1" dirty="0">
                <a:solidFill>
                  <a:schemeClr val="accent1"/>
                </a:solidFill>
                <a:cs typeface="Arial" panose="020B0604020202020204" pitchFamily="34" charset="0"/>
              </a:rPr>
              <a:t>College</a:t>
            </a:r>
            <a:r>
              <a:rPr lang="fr-FR" b="1" dirty="0">
                <a:solidFill>
                  <a:schemeClr val="accent1"/>
                </a:solidFill>
                <a:cs typeface="Arial" panose="020B0604020202020204" pitchFamily="34" charset="0"/>
              </a:rPr>
              <a:t>: </a:t>
            </a:r>
            <a:r>
              <a:rPr lang="en-US" b="1" dirty="0">
                <a:cs typeface="Arial" panose="020B0604020202020204" pitchFamily="34" charset="0"/>
              </a:rPr>
              <a:t>Computer Science</a:t>
            </a:r>
            <a:endParaRPr lang="fr-FR" b="1" dirty="0">
              <a:cs typeface="Arial" panose="020B0604020202020204" pitchFamily="34" charset="0"/>
            </a:endParaRPr>
          </a:p>
          <a:p>
            <a:pPr>
              <a:defRPr/>
            </a:pPr>
            <a:r>
              <a:rPr lang="fr-FR" b="1" dirty="0">
                <a:solidFill>
                  <a:schemeClr val="accent1"/>
                </a:solidFill>
                <a:cs typeface="Arial" panose="020B0604020202020204" pitchFamily="34" charset="0"/>
              </a:rPr>
              <a:t>Major:</a:t>
            </a:r>
            <a:r>
              <a:rPr lang="fr-FR" b="1" dirty="0">
                <a:cs typeface="Arial" panose="020B0604020202020204" pitchFamily="34" charset="0"/>
              </a:rPr>
              <a:t> </a:t>
            </a:r>
            <a:r>
              <a:rPr lang="en-US" b="1" dirty="0">
                <a:cs typeface="Arial" panose="020B0604020202020204" pitchFamily="34" charset="0"/>
              </a:rPr>
              <a:t>Information Security</a:t>
            </a:r>
            <a:endParaRPr lang="en-US" b="1" dirty="0">
              <a:cs typeface="Arial" panose="020B0604020202020204" pitchFamily="34" charset="0"/>
            </a:endParaRPr>
          </a:p>
          <a:p>
            <a:pPr>
              <a:defRPr/>
            </a:pPr>
            <a:endParaRPr lang="en-US" b="1" dirty="0">
              <a:cs typeface="Arial" panose="020B0604020202020204" pitchFamily="34" charset="0"/>
            </a:endParaRPr>
          </a:p>
          <a:p>
            <a:pPr>
              <a:defRPr/>
            </a:pPr>
            <a:r>
              <a:rPr lang="en-US" b="1" dirty="0">
                <a:solidFill>
                  <a:schemeClr val="accent1"/>
                </a:solidFill>
                <a:cs typeface="Arial" panose="020B0604020202020204" pitchFamily="34" charset="0"/>
              </a:rPr>
              <a:t>Research</a:t>
            </a:r>
            <a:r>
              <a:rPr lang="fr-FR" b="1" dirty="0">
                <a:solidFill>
                  <a:schemeClr val="accent1"/>
                </a:solidFill>
                <a:cs typeface="Arial" panose="020B0604020202020204" pitchFamily="34" charset="0"/>
              </a:rPr>
              <a:t> area</a:t>
            </a:r>
            <a:r>
              <a:rPr lang="fr-FR" b="1" dirty="0">
                <a:cs typeface="Arial" panose="020B0604020202020204" pitchFamily="34" charset="0"/>
              </a:rPr>
              <a:t>:</a:t>
            </a:r>
            <a:endParaRPr lang="fr-FR" b="1" dirty="0">
              <a:cs typeface="Arial" panose="020B0604020202020204" pitchFamily="34" charset="0"/>
            </a:endParaRPr>
          </a:p>
          <a:p>
            <a:pPr marL="128905" indent="-128905">
              <a:buFont typeface="Arial" panose="020B0604020202020204" pitchFamily="34" charset="0"/>
              <a:buChar char="•"/>
              <a:defRPr/>
            </a:pPr>
            <a:r>
              <a:rPr lang="en-US" b="1" dirty="0">
                <a:cs typeface="Arial" panose="020B0604020202020204" pitchFamily="34" charset="0"/>
              </a:rPr>
              <a:t>Steganography.</a:t>
            </a:r>
            <a:endParaRPr lang="en-US" b="1" dirty="0">
              <a:cs typeface="Arial" panose="020B0604020202020204" pitchFamily="34" charset="0"/>
            </a:endParaRPr>
          </a:p>
          <a:p>
            <a:pPr marL="128905" indent="-128905">
              <a:buFont typeface="Arial" panose="020B0604020202020204" pitchFamily="34" charset="0"/>
              <a:buChar char="•"/>
              <a:defRPr/>
            </a:pPr>
            <a:r>
              <a:rPr lang="en-US" b="1" dirty="0">
                <a:cs typeface="Arial" panose="020B0604020202020204" pitchFamily="34" charset="0"/>
              </a:rPr>
              <a:t>Network Security. </a:t>
            </a:r>
            <a:endParaRPr lang="en-US" b="1" dirty="0">
              <a:cs typeface="Arial" panose="020B0604020202020204" pitchFamily="34" charset="0"/>
            </a:endParaRPr>
          </a:p>
          <a:p>
            <a:pPr>
              <a:defRPr/>
            </a:pPr>
            <a:endParaRPr lang="en-US" b="1" dirty="0">
              <a:cs typeface="Arial" panose="020B0604020202020204" pitchFamily="34" charset="0"/>
            </a:endParaRPr>
          </a:p>
        </p:txBody>
      </p:sp>
      <p:sp>
        <p:nvSpPr>
          <p:cNvPr id="18" name="Text Placeholder 1"/>
          <p:cNvSpPr>
            <a:spLocks noGrp="1"/>
          </p:cNvSpPr>
          <p:nvPr>
            <p:ph type="body" sz="quarter" idx="14"/>
          </p:nvPr>
        </p:nvSpPr>
        <p:spPr>
          <a:xfrm>
            <a:off x="2514984" y="386965"/>
            <a:ext cx="3644076" cy="695598"/>
          </a:xfrm>
        </p:spPr>
        <p:txBody>
          <a:bodyPr>
            <a:normAutofit/>
          </a:bodyPr>
          <a:lstStyle/>
          <a:p>
            <a:pPr marL="0" indent="0">
              <a:buNone/>
              <a:defRPr/>
            </a:pPr>
            <a:r>
              <a:rPr sz="1400" b="1" dirty="0"/>
              <a:t>Collage of Computer Science and Information Technology, Karary University</a:t>
            </a:r>
            <a:endParaRPr sz="1400" b="1" dirty="0"/>
          </a:p>
        </p:txBody>
      </p:sp>
      <p:pic>
        <p:nvPicPr>
          <p:cNvPr id="7174" name="Picture 2" descr="F:\Karary Journals\Karary_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4351" y="320676"/>
            <a:ext cx="803275"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Content Placeholder 3" descr="SUHAIB photo"/>
          <p:cNvPicPr>
            <a:picLocks noChangeAspect="1"/>
          </p:cNvPicPr>
          <p:nvPr>
            <p:ph type="pic" sz="quarter" idx="39"/>
          </p:nvPr>
        </p:nvPicPr>
        <p:blipFill>
          <a:blip r:embed="rId3"/>
          <a:stretch>
            <a:fillRect/>
          </a:stretch>
        </p:blipFill>
        <p:spPr>
          <a:xfrm>
            <a:off x="6665595" y="1742440"/>
            <a:ext cx="3855085" cy="4052570"/>
          </a:xfrm>
          <a:prstGeom prst="rect">
            <a:avLst/>
          </a:prstGeom>
        </p:spPr>
      </p:pic>
    </p:spTree>
  </p:cSld>
  <p:clrMapOvr>
    <a:masterClrMapping/>
  </p:clrMapOvr>
  <p:transition spd="slow" advTm="47276"/>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Полилиния 64"/>
          <p:cNvSpPr/>
          <p:nvPr/>
        </p:nvSpPr>
        <p:spPr>
          <a:xfrm>
            <a:off x="1524001" y="2511426"/>
            <a:ext cx="3617913" cy="3489325"/>
          </a:xfrm>
          <a:custGeom>
            <a:avLst/>
            <a:gdLst>
              <a:gd name="connsiteX0" fmla="*/ 1846679 w 10123246"/>
              <a:gd name="connsiteY0" fmla="*/ 0 h 9763772"/>
              <a:gd name="connsiteX1" fmla="*/ 4251882 w 10123246"/>
              <a:gd name="connsiteY1" fmla="*/ 996266 h 9763772"/>
              <a:gd name="connsiteX2" fmla="*/ 9126983 w 10123246"/>
              <a:gd name="connsiteY2" fmla="*/ 5871370 h 9763772"/>
              <a:gd name="connsiteX3" fmla="*/ 9874180 w 10123246"/>
              <a:gd name="connsiteY3" fmla="*/ 9556549 h 9763772"/>
              <a:gd name="connsiteX4" fmla="*/ 9778004 w 10123246"/>
              <a:gd name="connsiteY4" fmla="*/ 9763772 h 9763772"/>
              <a:gd name="connsiteX5" fmla="*/ 0 w 10123246"/>
              <a:gd name="connsiteY5" fmla="*/ 9763772 h 9763772"/>
              <a:gd name="connsiteX6" fmla="*/ 0 w 10123246"/>
              <a:gd name="connsiteY6" fmla="*/ 544822 h 9763772"/>
              <a:gd name="connsiteX7" fmla="*/ 118296 w 10123246"/>
              <a:gd name="connsiteY7" fmla="*/ 470892 h 9763772"/>
              <a:gd name="connsiteX8" fmla="*/ 1846679 w 10123246"/>
              <a:gd name="connsiteY8" fmla="*/ 0 h 9763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123246" h="9763772">
                <a:moveTo>
                  <a:pt x="1846679" y="0"/>
                </a:moveTo>
                <a:cubicBezTo>
                  <a:pt x="2717195" y="0"/>
                  <a:pt x="3587703" y="332090"/>
                  <a:pt x="4251882" y="996266"/>
                </a:cubicBezTo>
                <a:lnTo>
                  <a:pt x="9126983" y="5871370"/>
                </a:lnTo>
                <a:cubicBezTo>
                  <a:pt x="10123246" y="6867637"/>
                  <a:pt x="10372312" y="8328156"/>
                  <a:pt x="9874180" y="9556549"/>
                </a:cubicBezTo>
                <a:lnTo>
                  <a:pt x="9778004" y="9763772"/>
                </a:lnTo>
                <a:lnTo>
                  <a:pt x="0" y="9763772"/>
                </a:lnTo>
                <a:lnTo>
                  <a:pt x="0" y="544822"/>
                </a:lnTo>
                <a:lnTo>
                  <a:pt x="118296" y="470892"/>
                </a:lnTo>
                <a:cubicBezTo>
                  <a:pt x="649726" y="156965"/>
                  <a:pt x="1248205" y="0"/>
                  <a:pt x="1846679"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sz="750"/>
          </a:p>
        </p:txBody>
      </p:sp>
      <p:sp>
        <p:nvSpPr>
          <p:cNvPr id="17411" name="Заголовок 1"/>
          <p:cNvSpPr>
            <a:spLocks noGrp="1"/>
          </p:cNvSpPr>
          <p:nvPr>
            <p:ph type="title"/>
          </p:nvPr>
        </p:nvSpPr>
        <p:spPr>
          <a:xfrm>
            <a:off x="2439822" y="1078296"/>
            <a:ext cx="7945438" cy="477838"/>
          </a:xfrm>
        </p:spPr>
        <p:txBody>
          <a:bodyPr/>
          <a:lstStyle/>
          <a:p>
            <a:pPr algn="l" defTabSz="914400" fontAlgn="base">
              <a:spcAft>
                <a:spcPct val="0"/>
              </a:spcAft>
              <a:tabLst>
                <a:tab pos="1365250" algn="l"/>
                <a:tab pos="2115820" algn="l"/>
              </a:tabLst>
              <a:defRPr/>
            </a:pPr>
            <a:r>
              <a:rPr lang="en-US" altLang="en-US" b="1" dirty="0">
                <a:solidFill>
                  <a:schemeClr val="tx1"/>
                </a:solidFill>
                <a:latin typeface="Times New Roman" panose="02020603050405020304" pitchFamily="18" charset="0"/>
                <a:ea typeface="SimSun" panose="02010600030101010101" pitchFamily="2" charset="-122"/>
                <a:cs typeface="Tahoma" panose="020B0604030504040204" charset="0"/>
              </a:rPr>
              <a:t>     Course Outline</a:t>
            </a:r>
            <a:endParaRPr lang="en-US" altLang="en-US" b="1" dirty="0">
              <a:solidFill>
                <a:schemeClr val="tx1"/>
              </a:solidFill>
              <a:latin typeface="Times New Roman" panose="02020603050405020304" pitchFamily="18" charset="0"/>
              <a:ea typeface="SimSun" panose="02010600030101010101" pitchFamily="2" charset="-122"/>
              <a:cs typeface="Tahoma" panose="020B0604030504040204" charset="0"/>
            </a:endParaRPr>
          </a:p>
        </p:txBody>
      </p:sp>
      <p:pic>
        <p:nvPicPr>
          <p:cNvPr id="15" name="Picture Placeholder 14"/>
          <p:cNvPicPr>
            <a:picLocks noGrp="1" noChangeAspect="1"/>
          </p:cNvPicPr>
          <p:nvPr>
            <p:ph type="pic" sz="quarter" idx="35"/>
          </p:nvPr>
        </p:nvPicPr>
        <p:blipFill>
          <a:blip r:embed="rId1"/>
          <a:srcRect l="559" r="559"/>
          <a:stretch>
            <a:fillRect/>
          </a:stretch>
        </p:blipFill>
        <p:spPr>
          <a:xfrm rot="10800000" flipV="1">
            <a:off x="1661979" y="2545294"/>
            <a:ext cx="3220784" cy="3220784"/>
          </a:xfrm>
        </p:spPr>
      </p:pic>
      <p:grpSp>
        <p:nvGrpSpPr>
          <p:cNvPr id="10246" name="Группа 14"/>
          <p:cNvGrpSpPr/>
          <p:nvPr/>
        </p:nvGrpSpPr>
        <p:grpSpPr bwMode="auto">
          <a:xfrm>
            <a:off x="5803900" y="2447926"/>
            <a:ext cx="541338" cy="434975"/>
            <a:chOff x="7238376" y="585921"/>
            <a:chExt cx="340828" cy="282136"/>
          </a:xfrm>
        </p:grpSpPr>
        <p:sp>
          <p:nvSpPr>
            <p:cNvPr id="10264" name="Freeform 1323"/>
            <p:cNvSpPr/>
            <p:nvPr/>
          </p:nvSpPr>
          <p:spPr bwMode="auto">
            <a:xfrm>
              <a:off x="7238376" y="633287"/>
              <a:ext cx="340828" cy="234770"/>
            </a:xfrm>
            <a:custGeom>
              <a:avLst/>
              <a:gdLst>
                <a:gd name="T0" fmla="*/ 2147483646 w 165"/>
                <a:gd name="T1" fmla="*/ 2147483646 h 114"/>
                <a:gd name="T2" fmla="*/ 2147483646 w 165"/>
                <a:gd name="T3" fmla="*/ 2147483646 h 114"/>
                <a:gd name="T4" fmla="*/ 2147483646 w 165"/>
                <a:gd name="T5" fmla="*/ 2147483646 h 114"/>
                <a:gd name="T6" fmla="*/ 0 w 165"/>
                <a:gd name="T7" fmla="*/ 2147483646 h 114"/>
                <a:gd name="T8" fmla="*/ 0 w 165"/>
                <a:gd name="T9" fmla="*/ 2147483646 h 114"/>
                <a:gd name="T10" fmla="*/ 2147483646 w 165"/>
                <a:gd name="T11" fmla="*/ 0 h 114"/>
                <a:gd name="T12" fmla="*/ 2147483646 w 165"/>
                <a:gd name="T13" fmla="*/ 0 h 114"/>
                <a:gd name="T14" fmla="*/ 2147483646 w 165"/>
                <a:gd name="T15" fmla="*/ 2147483646 h 114"/>
                <a:gd name="T16" fmla="*/ 2147483646 w 165"/>
                <a:gd name="T17" fmla="*/ 2147483646 h 1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5" h="114">
                  <a:moveTo>
                    <a:pt x="165" y="93"/>
                  </a:moveTo>
                  <a:cubicBezTo>
                    <a:pt x="165" y="104"/>
                    <a:pt x="156" y="114"/>
                    <a:pt x="144" y="114"/>
                  </a:cubicBezTo>
                  <a:cubicBezTo>
                    <a:pt x="21" y="114"/>
                    <a:pt x="21" y="114"/>
                    <a:pt x="21" y="114"/>
                  </a:cubicBezTo>
                  <a:cubicBezTo>
                    <a:pt x="9" y="114"/>
                    <a:pt x="0" y="104"/>
                    <a:pt x="0" y="93"/>
                  </a:cubicBezTo>
                  <a:cubicBezTo>
                    <a:pt x="0" y="21"/>
                    <a:pt x="0" y="21"/>
                    <a:pt x="0" y="21"/>
                  </a:cubicBezTo>
                  <a:cubicBezTo>
                    <a:pt x="0" y="10"/>
                    <a:pt x="9" y="0"/>
                    <a:pt x="21" y="0"/>
                  </a:cubicBezTo>
                  <a:cubicBezTo>
                    <a:pt x="144" y="0"/>
                    <a:pt x="144" y="0"/>
                    <a:pt x="144" y="0"/>
                  </a:cubicBezTo>
                  <a:cubicBezTo>
                    <a:pt x="156" y="0"/>
                    <a:pt x="165" y="10"/>
                    <a:pt x="165" y="21"/>
                  </a:cubicBezTo>
                  <a:lnTo>
                    <a:pt x="165" y="93"/>
                  </a:lnTo>
                  <a:close/>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sp>
          <p:nvSpPr>
            <p:cNvPr id="10265" name="Freeform 1324"/>
            <p:cNvSpPr/>
            <p:nvPr/>
          </p:nvSpPr>
          <p:spPr bwMode="auto">
            <a:xfrm>
              <a:off x="7353702" y="585921"/>
              <a:ext cx="109147" cy="47366"/>
            </a:xfrm>
            <a:custGeom>
              <a:avLst/>
              <a:gdLst>
                <a:gd name="T0" fmla="*/ 0 w 53"/>
                <a:gd name="T1" fmla="*/ 2147483646 h 23"/>
                <a:gd name="T2" fmla="*/ 0 w 53"/>
                <a:gd name="T3" fmla="*/ 2147483646 h 23"/>
                <a:gd name="T4" fmla="*/ 2147483646 w 53"/>
                <a:gd name="T5" fmla="*/ 0 h 23"/>
                <a:gd name="T6" fmla="*/ 2147483646 w 53"/>
                <a:gd name="T7" fmla="*/ 0 h 23"/>
                <a:gd name="T8" fmla="*/ 2147483646 w 53"/>
                <a:gd name="T9" fmla="*/ 2147483646 h 23"/>
                <a:gd name="T10" fmla="*/ 2147483646 w 53"/>
                <a:gd name="T11" fmla="*/ 2147483646 h 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3" h="23">
                  <a:moveTo>
                    <a:pt x="0" y="23"/>
                  </a:moveTo>
                  <a:cubicBezTo>
                    <a:pt x="0" y="11"/>
                    <a:pt x="0" y="11"/>
                    <a:pt x="0" y="11"/>
                  </a:cubicBezTo>
                  <a:cubicBezTo>
                    <a:pt x="0" y="5"/>
                    <a:pt x="5" y="0"/>
                    <a:pt x="11" y="0"/>
                  </a:cubicBezTo>
                  <a:cubicBezTo>
                    <a:pt x="42" y="0"/>
                    <a:pt x="42" y="0"/>
                    <a:pt x="42" y="0"/>
                  </a:cubicBezTo>
                  <a:cubicBezTo>
                    <a:pt x="48" y="0"/>
                    <a:pt x="53" y="5"/>
                    <a:pt x="53" y="11"/>
                  </a:cubicBezTo>
                  <a:cubicBezTo>
                    <a:pt x="53" y="23"/>
                    <a:pt x="53" y="23"/>
                    <a:pt x="53" y="23"/>
                  </a:cubicBezTo>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sp>
          <p:nvSpPr>
            <p:cNvPr id="10266" name="Line 1325"/>
            <p:cNvSpPr>
              <a:spLocks noChangeShapeType="1"/>
            </p:cNvSpPr>
            <p:nvPr/>
          </p:nvSpPr>
          <p:spPr bwMode="auto">
            <a:xfrm>
              <a:off x="7511245" y="725959"/>
              <a:ext cx="61782" cy="0"/>
            </a:xfrm>
            <a:prstGeom prst="line">
              <a:avLst/>
            </a:prstGeom>
            <a:noFill/>
            <a:ln w="38100" cap="rnd">
              <a:solidFill>
                <a:schemeClr val="bg1"/>
              </a:solidFill>
              <a:round/>
            </a:ln>
            <a:extLst>
              <a:ext uri="{909E8E84-426E-40DD-AFC4-6F175D3DCCD1}">
                <a14:hiddenFill xmlns:a14="http://schemas.microsoft.com/office/drawing/2010/main">
                  <a:noFill/>
                </a14:hiddenFill>
              </a:ext>
            </a:extLst>
          </p:spPr>
          <p:txBody>
            <a:bodyPr lIns="34286" tIns="17143" rIns="34286" bIns="17143"/>
            <a:lstStyle/>
            <a:p>
              <a:endParaRPr lang="en-US"/>
            </a:p>
          </p:txBody>
        </p:sp>
        <p:sp>
          <p:nvSpPr>
            <p:cNvPr id="10267" name="Line 1326"/>
            <p:cNvSpPr>
              <a:spLocks noChangeShapeType="1"/>
            </p:cNvSpPr>
            <p:nvPr/>
          </p:nvSpPr>
          <p:spPr bwMode="auto">
            <a:xfrm>
              <a:off x="7357821" y="725959"/>
              <a:ext cx="100910" cy="0"/>
            </a:xfrm>
            <a:prstGeom prst="line">
              <a:avLst/>
            </a:prstGeom>
            <a:noFill/>
            <a:ln w="38100" cap="rnd">
              <a:solidFill>
                <a:schemeClr val="bg1"/>
              </a:solidFill>
              <a:round/>
            </a:ln>
            <a:extLst>
              <a:ext uri="{909E8E84-426E-40DD-AFC4-6F175D3DCCD1}">
                <a14:hiddenFill xmlns:a14="http://schemas.microsoft.com/office/drawing/2010/main">
                  <a:noFill/>
                </a14:hiddenFill>
              </a:ext>
            </a:extLst>
          </p:spPr>
          <p:txBody>
            <a:bodyPr lIns="34286" tIns="17143" rIns="34286" bIns="17143"/>
            <a:lstStyle/>
            <a:p>
              <a:endParaRPr lang="en-US"/>
            </a:p>
          </p:txBody>
        </p:sp>
        <p:sp>
          <p:nvSpPr>
            <p:cNvPr id="10268" name="Line 1327"/>
            <p:cNvSpPr>
              <a:spLocks noChangeShapeType="1"/>
            </p:cNvSpPr>
            <p:nvPr/>
          </p:nvSpPr>
          <p:spPr bwMode="auto">
            <a:xfrm>
              <a:off x="7240436" y="725959"/>
              <a:ext cx="67960" cy="0"/>
            </a:xfrm>
            <a:prstGeom prst="line">
              <a:avLst/>
            </a:prstGeom>
            <a:noFill/>
            <a:ln w="38100" cap="rnd">
              <a:solidFill>
                <a:schemeClr val="bg1"/>
              </a:solidFill>
              <a:round/>
            </a:ln>
            <a:extLst>
              <a:ext uri="{909E8E84-426E-40DD-AFC4-6F175D3DCCD1}">
                <a14:hiddenFill xmlns:a14="http://schemas.microsoft.com/office/drawing/2010/main">
                  <a:noFill/>
                </a14:hiddenFill>
              </a:ext>
            </a:extLst>
          </p:spPr>
          <p:txBody>
            <a:bodyPr lIns="34286" tIns="17143" rIns="34286" bIns="17143"/>
            <a:lstStyle/>
            <a:p>
              <a:endParaRPr lang="en-US"/>
            </a:p>
          </p:txBody>
        </p:sp>
        <p:sp>
          <p:nvSpPr>
            <p:cNvPr id="10269" name="Freeform 1328"/>
            <p:cNvSpPr/>
            <p:nvPr/>
          </p:nvSpPr>
          <p:spPr bwMode="auto">
            <a:xfrm>
              <a:off x="7314574" y="707425"/>
              <a:ext cx="37069" cy="37069"/>
            </a:xfrm>
            <a:custGeom>
              <a:avLst/>
              <a:gdLst>
                <a:gd name="T0" fmla="*/ 2147483646 w 18"/>
                <a:gd name="T1" fmla="*/ 2147483646 h 18"/>
                <a:gd name="T2" fmla="*/ 2147483646 w 18"/>
                <a:gd name="T3" fmla="*/ 2147483646 h 18"/>
                <a:gd name="T4" fmla="*/ 2147483646 w 18"/>
                <a:gd name="T5" fmla="*/ 2147483646 h 18"/>
                <a:gd name="T6" fmla="*/ 0 w 18"/>
                <a:gd name="T7" fmla="*/ 2147483646 h 18"/>
                <a:gd name="T8" fmla="*/ 0 w 18"/>
                <a:gd name="T9" fmla="*/ 2147483646 h 18"/>
                <a:gd name="T10" fmla="*/ 2147483646 w 18"/>
                <a:gd name="T11" fmla="*/ 0 h 18"/>
                <a:gd name="T12" fmla="*/ 2147483646 w 18"/>
                <a:gd name="T13" fmla="*/ 0 h 18"/>
                <a:gd name="T14" fmla="*/ 2147483646 w 18"/>
                <a:gd name="T15" fmla="*/ 2147483646 h 18"/>
                <a:gd name="T16" fmla="*/ 2147483646 w 18"/>
                <a:gd name="T17" fmla="*/ 2147483646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 h="18">
                  <a:moveTo>
                    <a:pt x="18" y="13"/>
                  </a:moveTo>
                  <a:cubicBezTo>
                    <a:pt x="18" y="16"/>
                    <a:pt x="15" y="18"/>
                    <a:pt x="12" y="18"/>
                  </a:cubicBezTo>
                  <a:cubicBezTo>
                    <a:pt x="5" y="18"/>
                    <a:pt x="5" y="18"/>
                    <a:pt x="5" y="18"/>
                  </a:cubicBezTo>
                  <a:cubicBezTo>
                    <a:pt x="2" y="18"/>
                    <a:pt x="0" y="16"/>
                    <a:pt x="0" y="13"/>
                  </a:cubicBezTo>
                  <a:cubicBezTo>
                    <a:pt x="0" y="6"/>
                    <a:pt x="0" y="6"/>
                    <a:pt x="0" y="6"/>
                  </a:cubicBezTo>
                  <a:cubicBezTo>
                    <a:pt x="0" y="3"/>
                    <a:pt x="2" y="0"/>
                    <a:pt x="5" y="0"/>
                  </a:cubicBezTo>
                  <a:cubicBezTo>
                    <a:pt x="12" y="0"/>
                    <a:pt x="12" y="0"/>
                    <a:pt x="12" y="0"/>
                  </a:cubicBezTo>
                  <a:cubicBezTo>
                    <a:pt x="15" y="0"/>
                    <a:pt x="18" y="3"/>
                    <a:pt x="18" y="6"/>
                  </a:cubicBezTo>
                  <a:lnTo>
                    <a:pt x="18" y="13"/>
                  </a:lnTo>
                  <a:close/>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sp>
          <p:nvSpPr>
            <p:cNvPr id="10270" name="Freeform 1329"/>
            <p:cNvSpPr/>
            <p:nvPr/>
          </p:nvSpPr>
          <p:spPr bwMode="auto">
            <a:xfrm>
              <a:off x="7273386" y="728019"/>
              <a:ext cx="117385" cy="102969"/>
            </a:xfrm>
            <a:custGeom>
              <a:avLst/>
              <a:gdLst>
                <a:gd name="T0" fmla="*/ 2147483646 w 57"/>
                <a:gd name="T1" fmla="*/ 0 h 50"/>
                <a:gd name="T2" fmla="*/ 2147483646 w 57"/>
                <a:gd name="T3" fmla="*/ 2147483646 h 50"/>
                <a:gd name="T4" fmla="*/ 2147483646 w 57"/>
                <a:gd name="T5" fmla="*/ 2147483646 h 50"/>
                <a:gd name="T6" fmla="*/ 2147483646 w 57"/>
                <a:gd name="T7" fmla="*/ 2147483646 h 50"/>
                <a:gd name="T8" fmla="*/ 0 w 57"/>
                <a:gd name="T9" fmla="*/ 2147483646 h 50"/>
                <a:gd name="T10" fmla="*/ 0 w 57"/>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50">
                  <a:moveTo>
                    <a:pt x="57" y="0"/>
                  </a:moveTo>
                  <a:cubicBezTo>
                    <a:pt x="57" y="34"/>
                    <a:pt x="57" y="34"/>
                    <a:pt x="57" y="34"/>
                  </a:cubicBezTo>
                  <a:cubicBezTo>
                    <a:pt x="57" y="41"/>
                    <a:pt x="48" y="50"/>
                    <a:pt x="41" y="50"/>
                  </a:cubicBezTo>
                  <a:cubicBezTo>
                    <a:pt x="16" y="50"/>
                    <a:pt x="16" y="50"/>
                    <a:pt x="16" y="50"/>
                  </a:cubicBezTo>
                  <a:cubicBezTo>
                    <a:pt x="10" y="50"/>
                    <a:pt x="0" y="41"/>
                    <a:pt x="0" y="34"/>
                  </a:cubicBezTo>
                  <a:cubicBezTo>
                    <a:pt x="0" y="0"/>
                    <a:pt x="0" y="0"/>
                    <a:pt x="0" y="0"/>
                  </a:cubicBezTo>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sp>
          <p:nvSpPr>
            <p:cNvPr id="10271" name="Freeform 1330"/>
            <p:cNvSpPr/>
            <p:nvPr/>
          </p:nvSpPr>
          <p:spPr bwMode="auto">
            <a:xfrm>
              <a:off x="7464909" y="707425"/>
              <a:ext cx="38099" cy="37069"/>
            </a:xfrm>
            <a:custGeom>
              <a:avLst/>
              <a:gdLst>
                <a:gd name="T0" fmla="*/ 2147483646 w 18"/>
                <a:gd name="T1" fmla="*/ 2147483646 h 18"/>
                <a:gd name="T2" fmla="*/ 2147483646 w 18"/>
                <a:gd name="T3" fmla="*/ 2147483646 h 18"/>
                <a:gd name="T4" fmla="*/ 2147483646 w 18"/>
                <a:gd name="T5" fmla="*/ 2147483646 h 18"/>
                <a:gd name="T6" fmla="*/ 0 w 18"/>
                <a:gd name="T7" fmla="*/ 2147483646 h 18"/>
                <a:gd name="T8" fmla="*/ 0 w 18"/>
                <a:gd name="T9" fmla="*/ 2147483646 h 18"/>
                <a:gd name="T10" fmla="*/ 2147483646 w 18"/>
                <a:gd name="T11" fmla="*/ 0 h 18"/>
                <a:gd name="T12" fmla="*/ 2147483646 w 18"/>
                <a:gd name="T13" fmla="*/ 0 h 18"/>
                <a:gd name="T14" fmla="*/ 2147483646 w 18"/>
                <a:gd name="T15" fmla="*/ 2147483646 h 18"/>
                <a:gd name="T16" fmla="*/ 2147483646 w 18"/>
                <a:gd name="T17" fmla="*/ 2147483646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 h="18">
                  <a:moveTo>
                    <a:pt x="18" y="13"/>
                  </a:moveTo>
                  <a:cubicBezTo>
                    <a:pt x="18" y="16"/>
                    <a:pt x="16" y="18"/>
                    <a:pt x="13" y="18"/>
                  </a:cubicBezTo>
                  <a:cubicBezTo>
                    <a:pt x="5" y="18"/>
                    <a:pt x="5" y="18"/>
                    <a:pt x="5" y="18"/>
                  </a:cubicBezTo>
                  <a:cubicBezTo>
                    <a:pt x="3" y="18"/>
                    <a:pt x="0" y="16"/>
                    <a:pt x="0" y="13"/>
                  </a:cubicBezTo>
                  <a:cubicBezTo>
                    <a:pt x="0" y="6"/>
                    <a:pt x="0" y="6"/>
                    <a:pt x="0" y="6"/>
                  </a:cubicBezTo>
                  <a:cubicBezTo>
                    <a:pt x="0" y="3"/>
                    <a:pt x="3" y="0"/>
                    <a:pt x="5" y="0"/>
                  </a:cubicBezTo>
                  <a:cubicBezTo>
                    <a:pt x="13" y="0"/>
                    <a:pt x="13" y="0"/>
                    <a:pt x="13" y="0"/>
                  </a:cubicBezTo>
                  <a:cubicBezTo>
                    <a:pt x="16" y="0"/>
                    <a:pt x="18" y="3"/>
                    <a:pt x="18" y="6"/>
                  </a:cubicBezTo>
                  <a:lnTo>
                    <a:pt x="18" y="13"/>
                  </a:lnTo>
                  <a:close/>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sp>
          <p:nvSpPr>
            <p:cNvPr id="10272" name="Freeform 1331"/>
            <p:cNvSpPr/>
            <p:nvPr/>
          </p:nvSpPr>
          <p:spPr bwMode="auto">
            <a:xfrm>
              <a:off x="7425780" y="728019"/>
              <a:ext cx="118415" cy="102969"/>
            </a:xfrm>
            <a:custGeom>
              <a:avLst/>
              <a:gdLst>
                <a:gd name="T0" fmla="*/ 2147483646 w 57"/>
                <a:gd name="T1" fmla="*/ 0 h 50"/>
                <a:gd name="T2" fmla="*/ 2147483646 w 57"/>
                <a:gd name="T3" fmla="*/ 2147483646 h 50"/>
                <a:gd name="T4" fmla="*/ 2147483646 w 57"/>
                <a:gd name="T5" fmla="*/ 2147483646 h 50"/>
                <a:gd name="T6" fmla="*/ 2147483646 w 57"/>
                <a:gd name="T7" fmla="*/ 2147483646 h 50"/>
                <a:gd name="T8" fmla="*/ 0 w 57"/>
                <a:gd name="T9" fmla="*/ 2147483646 h 50"/>
                <a:gd name="T10" fmla="*/ 0 w 57"/>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50">
                  <a:moveTo>
                    <a:pt x="57" y="0"/>
                  </a:moveTo>
                  <a:cubicBezTo>
                    <a:pt x="57" y="34"/>
                    <a:pt x="57" y="34"/>
                    <a:pt x="57" y="34"/>
                  </a:cubicBezTo>
                  <a:cubicBezTo>
                    <a:pt x="57" y="41"/>
                    <a:pt x="51" y="50"/>
                    <a:pt x="45" y="50"/>
                  </a:cubicBezTo>
                  <a:cubicBezTo>
                    <a:pt x="12" y="50"/>
                    <a:pt x="12" y="50"/>
                    <a:pt x="12" y="50"/>
                  </a:cubicBezTo>
                  <a:cubicBezTo>
                    <a:pt x="5" y="50"/>
                    <a:pt x="0" y="41"/>
                    <a:pt x="0" y="34"/>
                  </a:cubicBezTo>
                  <a:cubicBezTo>
                    <a:pt x="0" y="0"/>
                    <a:pt x="0" y="0"/>
                    <a:pt x="0" y="0"/>
                  </a:cubicBezTo>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grpSp>
      <p:grpSp>
        <p:nvGrpSpPr>
          <p:cNvPr id="10247" name="Группа 27"/>
          <p:cNvGrpSpPr/>
          <p:nvPr/>
        </p:nvGrpSpPr>
        <p:grpSpPr bwMode="auto">
          <a:xfrm>
            <a:off x="9394826" y="2530476"/>
            <a:ext cx="485775" cy="447675"/>
            <a:chOff x="10999245" y="1615112"/>
            <a:chExt cx="802921" cy="762365"/>
          </a:xfrm>
        </p:grpSpPr>
        <p:sp>
          <p:nvSpPr>
            <p:cNvPr id="10258" name="Freeform 1246"/>
            <p:cNvSpPr/>
            <p:nvPr/>
          </p:nvSpPr>
          <p:spPr bwMode="auto">
            <a:xfrm>
              <a:off x="10999245" y="1863826"/>
              <a:ext cx="802921" cy="513651"/>
            </a:xfrm>
            <a:custGeom>
              <a:avLst/>
              <a:gdLst>
                <a:gd name="T0" fmla="*/ 2147483646 w 148"/>
                <a:gd name="T1" fmla="*/ 2147483646 h 95"/>
                <a:gd name="T2" fmla="*/ 2147483646 w 148"/>
                <a:gd name="T3" fmla="*/ 0 h 95"/>
                <a:gd name="T4" fmla="*/ 2147483646 w 148"/>
                <a:gd name="T5" fmla="*/ 0 h 95"/>
                <a:gd name="T6" fmla="*/ 2147483646 w 148"/>
                <a:gd name="T7" fmla="*/ 0 h 95"/>
                <a:gd name="T8" fmla="*/ 2147483646 w 148"/>
                <a:gd name="T9" fmla="*/ 0 h 95"/>
                <a:gd name="T10" fmla="*/ 2147483646 w 148"/>
                <a:gd name="T11" fmla="*/ 2147483646 h 95"/>
                <a:gd name="T12" fmla="*/ 2147483646 w 148"/>
                <a:gd name="T13" fmla="*/ 2147483646 h 95"/>
                <a:gd name="T14" fmla="*/ 2147483646 w 148"/>
                <a:gd name="T15" fmla="*/ 2147483646 h 95"/>
                <a:gd name="T16" fmla="*/ 2147483646 w 148"/>
                <a:gd name="T17" fmla="*/ 2147483646 h 95"/>
                <a:gd name="T18" fmla="*/ 2147483646 w 148"/>
                <a:gd name="T19" fmla="*/ 2147483646 h 95"/>
                <a:gd name="T20" fmla="*/ 2147483646 w 148"/>
                <a:gd name="T21" fmla="*/ 2147483646 h 95"/>
                <a:gd name="T22" fmla="*/ 2147483646 w 148"/>
                <a:gd name="T23" fmla="*/ 2147483646 h 95"/>
                <a:gd name="T24" fmla="*/ 2147483646 w 148"/>
                <a:gd name="T25" fmla="*/ 2147483646 h 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8" h="95">
                  <a:moveTo>
                    <a:pt x="131" y="28"/>
                  </a:moveTo>
                  <a:cubicBezTo>
                    <a:pt x="117" y="1"/>
                    <a:pt x="97" y="0"/>
                    <a:pt x="97" y="0"/>
                  </a:cubicBezTo>
                  <a:cubicBezTo>
                    <a:pt x="80" y="0"/>
                    <a:pt x="80" y="0"/>
                    <a:pt x="80" y="0"/>
                  </a:cubicBezTo>
                  <a:cubicBezTo>
                    <a:pt x="75" y="0"/>
                    <a:pt x="75" y="0"/>
                    <a:pt x="75" y="0"/>
                  </a:cubicBezTo>
                  <a:cubicBezTo>
                    <a:pt x="50" y="0"/>
                    <a:pt x="50" y="0"/>
                    <a:pt x="50" y="0"/>
                  </a:cubicBezTo>
                  <a:cubicBezTo>
                    <a:pt x="50" y="0"/>
                    <a:pt x="31" y="1"/>
                    <a:pt x="17" y="28"/>
                  </a:cubicBezTo>
                  <a:cubicBezTo>
                    <a:pt x="2" y="55"/>
                    <a:pt x="0" y="95"/>
                    <a:pt x="48" y="95"/>
                  </a:cubicBezTo>
                  <a:cubicBezTo>
                    <a:pt x="48" y="95"/>
                    <a:pt x="48" y="95"/>
                    <a:pt x="48" y="95"/>
                  </a:cubicBezTo>
                  <a:cubicBezTo>
                    <a:pt x="49" y="95"/>
                    <a:pt x="49" y="95"/>
                    <a:pt x="49" y="95"/>
                  </a:cubicBezTo>
                  <a:cubicBezTo>
                    <a:pt x="50" y="95"/>
                    <a:pt x="65" y="95"/>
                    <a:pt x="99" y="95"/>
                  </a:cubicBezTo>
                  <a:cubicBezTo>
                    <a:pt x="99" y="95"/>
                    <a:pt x="99" y="95"/>
                    <a:pt x="99" y="95"/>
                  </a:cubicBezTo>
                  <a:cubicBezTo>
                    <a:pt x="99" y="95"/>
                    <a:pt x="99" y="95"/>
                    <a:pt x="99" y="95"/>
                  </a:cubicBezTo>
                  <a:cubicBezTo>
                    <a:pt x="148" y="95"/>
                    <a:pt x="146" y="55"/>
                    <a:pt x="131" y="28"/>
                  </a:cubicBezTo>
                  <a:close/>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sp>
          <p:nvSpPr>
            <p:cNvPr id="10259" name="Freeform 1247"/>
            <p:cNvSpPr/>
            <p:nvPr/>
          </p:nvSpPr>
          <p:spPr bwMode="auto">
            <a:xfrm>
              <a:off x="11037094" y="1793537"/>
              <a:ext cx="727223" cy="210868"/>
            </a:xfrm>
            <a:custGeom>
              <a:avLst/>
              <a:gdLst>
                <a:gd name="T0" fmla="*/ 2147483646 w 134"/>
                <a:gd name="T1" fmla="*/ 2147483646 h 39"/>
                <a:gd name="T2" fmla="*/ 2147483646 w 134"/>
                <a:gd name="T3" fmla="*/ 2147483646 h 39"/>
                <a:gd name="T4" fmla="*/ 2147483646 w 134"/>
                <a:gd name="T5" fmla="*/ 0 h 39"/>
                <a:gd name="T6" fmla="*/ 2147483646 w 134"/>
                <a:gd name="T7" fmla="*/ 0 h 39"/>
                <a:gd name="T8" fmla="*/ 0 w 134"/>
                <a:gd name="T9" fmla="*/ 2147483646 h 39"/>
                <a:gd name="T10" fmla="*/ 2147483646 w 134"/>
                <a:gd name="T11" fmla="*/ 2147483646 h 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4" h="39">
                  <a:moveTo>
                    <a:pt x="123" y="39"/>
                  </a:moveTo>
                  <a:cubicBezTo>
                    <a:pt x="134" y="32"/>
                    <a:pt x="134" y="32"/>
                    <a:pt x="134" y="32"/>
                  </a:cubicBezTo>
                  <a:cubicBezTo>
                    <a:pt x="117" y="2"/>
                    <a:pt x="94" y="0"/>
                    <a:pt x="91" y="0"/>
                  </a:cubicBezTo>
                  <a:cubicBezTo>
                    <a:pt x="91" y="0"/>
                    <a:pt x="43" y="0"/>
                    <a:pt x="43" y="0"/>
                  </a:cubicBezTo>
                  <a:cubicBezTo>
                    <a:pt x="40" y="0"/>
                    <a:pt x="17" y="2"/>
                    <a:pt x="0" y="32"/>
                  </a:cubicBezTo>
                  <a:cubicBezTo>
                    <a:pt x="11" y="39"/>
                    <a:pt x="11" y="39"/>
                    <a:pt x="11" y="39"/>
                  </a:cubicBezTo>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sp>
          <p:nvSpPr>
            <p:cNvPr id="10260" name="Oval 1248"/>
            <p:cNvSpPr>
              <a:spLocks noChangeArrowheads="1"/>
            </p:cNvSpPr>
            <p:nvPr/>
          </p:nvSpPr>
          <p:spPr bwMode="auto">
            <a:xfrm>
              <a:off x="11304732" y="1615112"/>
              <a:ext cx="97324" cy="97324"/>
            </a:xfrm>
            <a:prstGeom prst="ellipse">
              <a:avLst/>
            </a:prstGeom>
            <a:noFill/>
            <a:ln w="38100" cap="rnd">
              <a:solidFill>
                <a:schemeClr val="bg1"/>
              </a:solidFill>
              <a:round/>
            </a:ln>
            <a:extLst>
              <a:ext uri="{909E8E84-426E-40DD-AFC4-6F175D3DCCD1}">
                <a14:hiddenFill xmlns:a14="http://schemas.microsoft.com/office/drawing/2010/main">
                  <a:solidFill>
                    <a:srgbClr val="FFFFFF"/>
                  </a:solidFill>
                </a14:hiddenFill>
              </a:ext>
            </a:extLst>
          </p:spPr>
          <p:txBody>
            <a:bodyPr lIns="34286" tIns="17143" rIns="34286" bIns="17143"/>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200">
                <a:latin typeface="Times New Roman" panose="02020603050405020304" pitchFamily="18" charset="0"/>
                <a:ea typeface="SimSun" panose="02010600030101010101" pitchFamily="2" charset="-122"/>
              </a:endParaRPr>
            </a:p>
          </p:txBody>
        </p:sp>
        <p:sp>
          <p:nvSpPr>
            <p:cNvPr id="10261" name="Oval 1249"/>
            <p:cNvSpPr>
              <a:spLocks noChangeArrowheads="1"/>
            </p:cNvSpPr>
            <p:nvPr/>
          </p:nvSpPr>
          <p:spPr bwMode="auto">
            <a:xfrm>
              <a:off x="11402056" y="1615112"/>
              <a:ext cx="97324" cy="97324"/>
            </a:xfrm>
            <a:prstGeom prst="ellipse">
              <a:avLst/>
            </a:prstGeom>
            <a:noFill/>
            <a:ln w="38100" cap="rnd">
              <a:solidFill>
                <a:schemeClr val="bg1"/>
              </a:solidFill>
              <a:round/>
            </a:ln>
            <a:extLst>
              <a:ext uri="{909E8E84-426E-40DD-AFC4-6F175D3DCCD1}">
                <a14:hiddenFill xmlns:a14="http://schemas.microsoft.com/office/drawing/2010/main">
                  <a:solidFill>
                    <a:srgbClr val="FFFFFF"/>
                  </a:solidFill>
                </a14:hiddenFill>
              </a:ext>
            </a:extLst>
          </p:spPr>
          <p:txBody>
            <a:bodyPr lIns="34286" tIns="17143" rIns="34286" bIns="17143"/>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200">
                <a:latin typeface="Times New Roman" panose="02020603050405020304" pitchFamily="18" charset="0"/>
                <a:ea typeface="SimSun" panose="02010600030101010101" pitchFamily="2" charset="-122"/>
              </a:endParaRPr>
            </a:p>
          </p:txBody>
        </p:sp>
        <p:sp>
          <p:nvSpPr>
            <p:cNvPr id="10262" name="Line 1250"/>
            <p:cNvSpPr>
              <a:spLocks noChangeShapeType="1"/>
            </p:cNvSpPr>
            <p:nvPr/>
          </p:nvSpPr>
          <p:spPr bwMode="auto">
            <a:xfrm>
              <a:off x="11450717" y="1712436"/>
              <a:ext cx="37849" cy="64883"/>
            </a:xfrm>
            <a:prstGeom prst="line">
              <a:avLst/>
            </a:prstGeom>
            <a:noFill/>
            <a:ln w="38100" cap="rnd">
              <a:solidFill>
                <a:schemeClr val="bg1"/>
              </a:solidFill>
              <a:round/>
            </a:ln>
            <a:extLst>
              <a:ext uri="{909E8E84-426E-40DD-AFC4-6F175D3DCCD1}">
                <a14:hiddenFill xmlns:a14="http://schemas.microsoft.com/office/drawing/2010/main">
                  <a:noFill/>
                </a14:hiddenFill>
              </a:ext>
            </a:extLst>
          </p:spPr>
          <p:txBody>
            <a:bodyPr lIns="34286" tIns="17143" rIns="34286" bIns="17143"/>
            <a:lstStyle/>
            <a:p>
              <a:endParaRPr lang="en-US"/>
            </a:p>
          </p:txBody>
        </p:sp>
        <p:sp>
          <p:nvSpPr>
            <p:cNvPr id="10263" name="Line 1251"/>
            <p:cNvSpPr>
              <a:spLocks noChangeShapeType="1"/>
            </p:cNvSpPr>
            <p:nvPr/>
          </p:nvSpPr>
          <p:spPr bwMode="auto">
            <a:xfrm flipH="1">
              <a:off x="11315547" y="1712436"/>
              <a:ext cx="37849" cy="64883"/>
            </a:xfrm>
            <a:prstGeom prst="line">
              <a:avLst/>
            </a:prstGeom>
            <a:noFill/>
            <a:ln w="38100" cap="rnd">
              <a:solidFill>
                <a:schemeClr val="bg1"/>
              </a:solidFill>
              <a:round/>
            </a:ln>
            <a:extLst>
              <a:ext uri="{909E8E84-426E-40DD-AFC4-6F175D3DCCD1}">
                <a14:hiddenFill xmlns:a14="http://schemas.microsoft.com/office/drawing/2010/main">
                  <a:noFill/>
                </a14:hiddenFill>
              </a:ext>
            </a:extLst>
          </p:spPr>
          <p:txBody>
            <a:bodyPr lIns="34286" tIns="17143" rIns="34286" bIns="17143"/>
            <a:lstStyle/>
            <a:p>
              <a:endParaRPr lang="en-US"/>
            </a:p>
          </p:txBody>
        </p:sp>
      </p:grpSp>
      <p:grpSp>
        <p:nvGrpSpPr>
          <p:cNvPr id="10248" name="Группа 58"/>
          <p:cNvGrpSpPr/>
          <p:nvPr/>
        </p:nvGrpSpPr>
        <p:grpSpPr bwMode="auto">
          <a:xfrm>
            <a:off x="1662114" y="857251"/>
            <a:ext cx="860425" cy="860425"/>
            <a:chOff x="1230385" y="6391200"/>
            <a:chExt cx="1725167" cy="1725167"/>
          </a:xfrm>
        </p:grpSpPr>
        <p:sp>
          <p:nvSpPr>
            <p:cNvPr id="36" name="Овал 59"/>
            <p:cNvSpPr/>
            <p:nvPr/>
          </p:nvSpPr>
          <p:spPr>
            <a:xfrm>
              <a:off x="1230385" y="6391200"/>
              <a:ext cx="1725167" cy="172516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sz="750"/>
            </a:p>
          </p:txBody>
        </p:sp>
        <p:grpSp>
          <p:nvGrpSpPr>
            <p:cNvPr id="10253" name="Группа 60"/>
            <p:cNvGrpSpPr/>
            <p:nvPr/>
          </p:nvGrpSpPr>
          <p:grpSpPr bwMode="auto">
            <a:xfrm>
              <a:off x="1609729" y="6870167"/>
              <a:ext cx="966478" cy="767232"/>
              <a:chOff x="8036388" y="2641187"/>
              <a:chExt cx="334650" cy="265660"/>
            </a:xfrm>
          </p:grpSpPr>
          <p:sp>
            <p:nvSpPr>
              <p:cNvPr id="38" name="Freeform 1970"/>
              <p:cNvSpPr/>
              <p:nvPr/>
            </p:nvSpPr>
            <p:spPr bwMode="auto">
              <a:xfrm>
                <a:off x="8104522" y="2640660"/>
                <a:ext cx="198382" cy="186260"/>
              </a:xfrm>
              <a:custGeom>
                <a:avLst/>
                <a:gdLst>
                  <a:gd name="T0" fmla="*/ 0 w 96"/>
                  <a:gd name="T1" fmla="*/ 3 h 90"/>
                  <a:gd name="T2" fmla="*/ 48 w 96"/>
                  <a:gd name="T3" fmla="*/ 90 h 90"/>
                  <a:gd name="T4" fmla="*/ 96 w 96"/>
                  <a:gd name="T5" fmla="*/ 3 h 90"/>
                  <a:gd name="T6" fmla="*/ 96 w 96"/>
                  <a:gd name="T7" fmla="*/ 0 h 90"/>
                  <a:gd name="T8" fmla="*/ 0 w 96"/>
                  <a:gd name="T9" fmla="*/ 0 h 90"/>
                  <a:gd name="T10" fmla="*/ 0 w 96"/>
                  <a:gd name="T11" fmla="*/ 3 h 90"/>
                </a:gdLst>
                <a:ahLst/>
                <a:cxnLst>
                  <a:cxn ang="0">
                    <a:pos x="T0" y="T1"/>
                  </a:cxn>
                  <a:cxn ang="0">
                    <a:pos x="T2" y="T3"/>
                  </a:cxn>
                  <a:cxn ang="0">
                    <a:pos x="T4" y="T5"/>
                  </a:cxn>
                  <a:cxn ang="0">
                    <a:pos x="T6" y="T7"/>
                  </a:cxn>
                  <a:cxn ang="0">
                    <a:pos x="T8" y="T9"/>
                  </a:cxn>
                  <a:cxn ang="0">
                    <a:pos x="T10" y="T11"/>
                  </a:cxn>
                </a:cxnLst>
                <a:rect l="0" t="0" r="r" b="b"/>
                <a:pathLst>
                  <a:path w="96" h="90">
                    <a:moveTo>
                      <a:pt x="0" y="3"/>
                    </a:moveTo>
                    <a:cubicBezTo>
                      <a:pt x="0" y="51"/>
                      <a:pt x="21" y="90"/>
                      <a:pt x="48" y="90"/>
                    </a:cubicBezTo>
                    <a:cubicBezTo>
                      <a:pt x="75" y="90"/>
                      <a:pt x="96" y="51"/>
                      <a:pt x="96" y="3"/>
                    </a:cubicBezTo>
                    <a:cubicBezTo>
                      <a:pt x="96" y="2"/>
                      <a:pt x="96" y="1"/>
                      <a:pt x="96" y="0"/>
                    </a:cubicBezTo>
                    <a:cubicBezTo>
                      <a:pt x="0" y="0"/>
                      <a:pt x="0" y="0"/>
                      <a:pt x="0" y="0"/>
                    </a:cubicBezTo>
                    <a:cubicBezTo>
                      <a:pt x="0" y="1"/>
                      <a:pt x="0" y="2"/>
                      <a:pt x="0" y="3"/>
                    </a:cubicBezTo>
                    <a:close/>
                  </a:path>
                </a:pathLst>
              </a:custGeom>
              <a:noFill/>
              <a:ln w="38100" cap="rnd">
                <a:solidFill>
                  <a:schemeClr val="bg2"/>
                </a:solidFill>
                <a:prstDash val="solid"/>
                <a:round/>
              </a:ln>
            </p:spPr>
            <p:txBody>
              <a:bodyPr lIns="34288" tIns="17144" rIns="34288" bIns="17144"/>
              <a:lstStyle/>
              <a:p>
                <a:pPr>
                  <a:defRPr/>
                </a:pPr>
                <a:endParaRPr lang="en-US" sz="750"/>
              </a:p>
            </p:txBody>
          </p:sp>
          <p:sp>
            <p:nvSpPr>
              <p:cNvPr id="39" name="Freeform 1971"/>
              <p:cNvSpPr/>
              <p:nvPr/>
            </p:nvSpPr>
            <p:spPr bwMode="auto">
              <a:xfrm>
                <a:off x="8036190" y="2685848"/>
                <a:ext cx="335046" cy="141072"/>
              </a:xfrm>
              <a:custGeom>
                <a:avLst/>
                <a:gdLst>
                  <a:gd name="T0" fmla="*/ 32 w 162"/>
                  <a:gd name="T1" fmla="*/ 0 h 68"/>
                  <a:gd name="T2" fmla="*/ 0 w 162"/>
                  <a:gd name="T3" fmla="*/ 0 h 68"/>
                  <a:gd name="T4" fmla="*/ 81 w 162"/>
                  <a:gd name="T5" fmla="*/ 68 h 68"/>
                  <a:gd name="T6" fmla="*/ 162 w 162"/>
                  <a:gd name="T7" fmla="*/ 0 h 68"/>
                  <a:gd name="T8" fmla="*/ 131 w 162"/>
                  <a:gd name="T9" fmla="*/ 0 h 68"/>
                </a:gdLst>
                <a:ahLst/>
                <a:cxnLst>
                  <a:cxn ang="0">
                    <a:pos x="T0" y="T1"/>
                  </a:cxn>
                  <a:cxn ang="0">
                    <a:pos x="T2" y="T3"/>
                  </a:cxn>
                  <a:cxn ang="0">
                    <a:pos x="T4" y="T5"/>
                  </a:cxn>
                  <a:cxn ang="0">
                    <a:pos x="T6" y="T7"/>
                  </a:cxn>
                  <a:cxn ang="0">
                    <a:pos x="T8" y="T9"/>
                  </a:cxn>
                </a:cxnLst>
                <a:rect l="0" t="0" r="r" b="b"/>
                <a:pathLst>
                  <a:path w="162" h="68">
                    <a:moveTo>
                      <a:pt x="32" y="0"/>
                    </a:moveTo>
                    <a:cubicBezTo>
                      <a:pt x="0" y="0"/>
                      <a:pt x="0" y="0"/>
                      <a:pt x="0" y="0"/>
                    </a:cubicBezTo>
                    <a:cubicBezTo>
                      <a:pt x="8" y="39"/>
                      <a:pt x="41" y="68"/>
                      <a:pt x="81" y="68"/>
                    </a:cubicBezTo>
                    <a:cubicBezTo>
                      <a:pt x="121" y="68"/>
                      <a:pt x="154" y="39"/>
                      <a:pt x="162" y="0"/>
                    </a:cubicBezTo>
                    <a:cubicBezTo>
                      <a:pt x="131" y="0"/>
                      <a:pt x="131" y="0"/>
                      <a:pt x="131" y="0"/>
                    </a:cubicBezTo>
                  </a:path>
                </a:pathLst>
              </a:custGeom>
              <a:noFill/>
              <a:ln w="38100" cap="rnd">
                <a:solidFill>
                  <a:schemeClr val="bg2"/>
                </a:solidFill>
                <a:prstDash val="solid"/>
                <a:round/>
              </a:ln>
            </p:spPr>
            <p:txBody>
              <a:bodyPr lIns="34288" tIns="17144" rIns="34288" bIns="17144"/>
              <a:lstStyle/>
              <a:p>
                <a:pPr>
                  <a:defRPr/>
                </a:pPr>
                <a:endParaRPr lang="en-US" sz="750"/>
              </a:p>
            </p:txBody>
          </p:sp>
          <p:sp>
            <p:nvSpPr>
              <p:cNvPr id="40" name="Freeform 1972"/>
              <p:cNvSpPr/>
              <p:nvPr/>
            </p:nvSpPr>
            <p:spPr bwMode="auto">
              <a:xfrm>
                <a:off x="8148607" y="2826920"/>
                <a:ext cx="113519" cy="80455"/>
              </a:xfrm>
              <a:custGeom>
                <a:avLst/>
                <a:gdLst>
                  <a:gd name="T0" fmla="*/ 55 w 55"/>
                  <a:gd name="T1" fmla="*/ 39 h 39"/>
                  <a:gd name="T2" fmla="*/ 38 w 55"/>
                  <a:gd name="T3" fmla="*/ 0 h 39"/>
                  <a:gd name="T4" fmla="*/ 27 w 55"/>
                  <a:gd name="T5" fmla="*/ 0 h 39"/>
                  <a:gd name="T6" fmla="*/ 16 w 55"/>
                  <a:gd name="T7" fmla="*/ 0 h 39"/>
                  <a:gd name="T8" fmla="*/ 0 w 55"/>
                  <a:gd name="T9" fmla="*/ 39 h 39"/>
                </a:gdLst>
                <a:ahLst/>
                <a:cxnLst>
                  <a:cxn ang="0">
                    <a:pos x="T0" y="T1"/>
                  </a:cxn>
                  <a:cxn ang="0">
                    <a:pos x="T2" y="T3"/>
                  </a:cxn>
                  <a:cxn ang="0">
                    <a:pos x="T4" y="T5"/>
                  </a:cxn>
                  <a:cxn ang="0">
                    <a:pos x="T6" y="T7"/>
                  </a:cxn>
                  <a:cxn ang="0">
                    <a:pos x="T8" y="T9"/>
                  </a:cxn>
                </a:cxnLst>
                <a:rect l="0" t="0" r="r" b="b"/>
                <a:pathLst>
                  <a:path w="55" h="39">
                    <a:moveTo>
                      <a:pt x="55" y="39"/>
                    </a:moveTo>
                    <a:cubicBezTo>
                      <a:pt x="55" y="39"/>
                      <a:pt x="38" y="25"/>
                      <a:pt x="38" y="0"/>
                    </a:cubicBezTo>
                    <a:cubicBezTo>
                      <a:pt x="28" y="0"/>
                      <a:pt x="27" y="0"/>
                      <a:pt x="27" y="0"/>
                    </a:cubicBezTo>
                    <a:cubicBezTo>
                      <a:pt x="27" y="0"/>
                      <a:pt x="27" y="0"/>
                      <a:pt x="16" y="0"/>
                    </a:cubicBezTo>
                    <a:cubicBezTo>
                      <a:pt x="16" y="25"/>
                      <a:pt x="0" y="39"/>
                      <a:pt x="0" y="39"/>
                    </a:cubicBezTo>
                  </a:path>
                </a:pathLst>
              </a:custGeom>
              <a:noFill/>
              <a:ln w="38100" cap="rnd">
                <a:solidFill>
                  <a:schemeClr val="bg2"/>
                </a:solidFill>
                <a:prstDash val="solid"/>
                <a:round/>
              </a:ln>
            </p:spPr>
            <p:txBody>
              <a:bodyPr lIns="34288" tIns="17144" rIns="34288" bIns="17144"/>
              <a:lstStyle/>
              <a:p>
                <a:pPr>
                  <a:defRPr/>
                </a:pPr>
                <a:endParaRPr lang="en-US" sz="750"/>
              </a:p>
            </p:txBody>
          </p:sp>
          <p:sp>
            <p:nvSpPr>
              <p:cNvPr id="41" name="Line 1973"/>
              <p:cNvSpPr>
                <a:spLocks noChangeShapeType="1"/>
              </p:cNvSpPr>
              <p:nvPr/>
            </p:nvSpPr>
            <p:spPr bwMode="auto">
              <a:xfrm>
                <a:off x="8129871" y="2907375"/>
                <a:ext cx="148786" cy="0"/>
              </a:xfrm>
              <a:prstGeom prst="line">
                <a:avLst/>
              </a:prstGeom>
              <a:noFill/>
              <a:ln w="38100" cap="rnd">
                <a:solidFill>
                  <a:schemeClr val="bg2"/>
                </a:solidFill>
                <a:prstDash val="solid"/>
                <a:round/>
              </a:ln>
            </p:spPr>
            <p:txBody>
              <a:bodyPr lIns="34288" tIns="17144" rIns="34288" bIns="17144"/>
              <a:lstStyle/>
              <a:p>
                <a:pPr>
                  <a:defRPr/>
                </a:pPr>
                <a:endParaRPr lang="en-US" sz="750"/>
              </a:p>
            </p:txBody>
          </p:sp>
        </p:grpSp>
      </p:grpSp>
      <p:sp>
        <p:nvSpPr>
          <p:cNvPr id="33" name="Text Box 141"/>
          <p:cNvSpPr txBox="1">
            <a:spLocks noChangeArrowheads="1"/>
          </p:cNvSpPr>
          <p:nvPr/>
        </p:nvSpPr>
        <p:spPr bwMode="auto">
          <a:xfrm>
            <a:off x="5402862" y="1838650"/>
            <a:ext cx="5696059" cy="3730317"/>
          </a:xfrm>
          <a:prstGeom prst="rect">
            <a:avLst/>
          </a:prstGeom>
          <a:noFill/>
          <a:ln>
            <a:noFill/>
          </a:ln>
        </p:spPr>
        <p:txBody>
          <a:bodyPr wrap="square">
            <a:spAutoFit/>
          </a:bodyPr>
          <a:lstStyle>
            <a:lvl1pPr eaLnBrk="0" hangingPunct="0">
              <a:defRPr b="1">
                <a:solidFill>
                  <a:schemeClr val="tx1"/>
                </a:solidFill>
                <a:latin typeface="Times New Roman" panose="02020603050405020304" pitchFamily="18" charset="0"/>
                <a:cs typeface="Arial" panose="020B0604020202020204" pitchFamily="34" charset="0"/>
              </a:defRPr>
            </a:lvl1pPr>
            <a:lvl2pPr marL="742950" indent="-285750" eaLnBrk="0" hangingPunct="0">
              <a:defRPr b="1">
                <a:solidFill>
                  <a:schemeClr val="tx1"/>
                </a:solidFill>
                <a:latin typeface="Times New Roman" panose="02020603050405020304" pitchFamily="18" charset="0"/>
                <a:cs typeface="Arial" panose="020B0604020202020204" pitchFamily="34" charset="0"/>
              </a:defRPr>
            </a:lvl2pPr>
            <a:lvl3pPr marL="1143000" indent="-228600" eaLnBrk="0" hangingPunct="0">
              <a:defRPr b="1">
                <a:solidFill>
                  <a:schemeClr val="tx1"/>
                </a:solidFill>
                <a:latin typeface="Times New Roman" panose="02020603050405020304" pitchFamily="18" charset="0"/>
                <a:cs typeface="Arial" panose="020B0604020202020204" pitchFamily="34" charset="0"/>
              </a:defRPr>
            </a:lvl3pPr>
            <a:lvl4pPr marL="1600200" indent="-228600" eaLnBrk="0" hangingPunct="0">
              <a:defRPr b="1">
                <a:solidFill>
                  <a:schemeClr val="tx1"/>
                </a:solidFill>
                <a:latin typeface="Times New Roman" panose="02020603050405020304" pitchFamily="18" charset="0"/>
                <a:cs typeface="Arial" panose="020B0604020202020204" pitchFamily="34" charset="0"/>
              </a:defRPr>
            </a:lvl4pPr>
            <a:lvl5pPr marL="2057400" indent="-228600" eaLnBrk="0" hangingPunct="0">
              <a:defRPr b="1">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cs typeface="Arial" panose="020B0604020202020204" pitchFamily="34" charset="0"/>
              </a:defRPr>
            </a:lvl9pPr>
          </a:lstStyle>
          <a:p>
            <a:pPr marL="214630" indent="-214630" defTabSz="342900" eaLnBrk="1" hangingPunct="1">
              <a:lnSpc>
                <a:spcPct val="150000"/>
              </a:lnSpc>
              <a:buFont typeface="Arial" panose="020B0604020202020204" pitchFamily="34" charset="0"/>
              <a:buChar char="•"/>
              <a:defRPr/>
            </a:pPr>
            <a:r>
              <a:rPr lang="en-US" sz="2000" kern="0" dirty="0">
                <a:solidFill>
                  <a:srgbClr val="000000"/>
                </a:solidFill>
              </a:rPr>
              <a:t>Introduction to software security.</a:t>
            </a:r>
            <a:endParaRPr lang="en-US" sz="2000" kern="0" dirty="0">
              <a:solidFill>
                <a:srgbClr val="000000"/>
              </a:solidFill>
            </a:endParaRPr>
          </a:p>
          <a:p>
            <a:pPr marL="214630" indent="-214630" defTabSz="342900" eaLnBrk="1" hangingPunct="1">
              <a:lnSpc>
                <a:spcPct val="150000"/>
              </a:lnSpc>
              <a:buFont typeface="Arial" panose="020B0604020202020204" pitchFamily="34" charset="0"/>
              <a:buChar char="•"/>
              <a:defRPr/>
            </a:pPr>
            <a:r>
              <a:rPr lang="en-US" sz="2000" kern="0" dirty="0">
                <a:solidFill>
                  <a:srgbClr val="000000"/>
                </a:solidFill>
              </a:rPr>
              <a:t>Buffer overflow and other memory corruptions.</a:t>
            </a:r>
            <a:endParaRPr lang="en-US" sz="2000" kern="0" dirty="0">
              <a:solidFill>
                <a:srgbClr val="000000"/>
              </a:solidFill>
            </a:endParaRPr>
          </a:p>
          <a:p>
            <a:pPr marL="214630" indent="-214630" defTabSz="342900" eaLnBrk="1" hangingPunct="1">
              <a:lnSpc>
                <a:spcPct val="150000"/>
              </a:lnSpc>
              <a:buFont typeface="Arial" panose="020B0604020202020204" pitchFamily="34" charset="0"/>
              <a:buChar char="•"/>
              <a:defRPr/>
            </a:pPr>
            <a:r>
              <a:rPr lang="en-US" sz="2000" kern="0" dirty="0">
                <a:solidFill>
                  <a:srgbClr val="000000"/>
                </a:solidFill>
              </a:rPr>
              <a:t>In-band signaling and malicious input.</a:t>
            </a:r>
            <a:endParaRPr lang="en-US" sz="2000" kern="0" dirty="0">
              <a:solidFill>
                <a:srgbClr val="000000"/>
              </a:solidFill>
            </a:endParaRPr>
          </a:p>
          <a:p>
            <a:pPr marL="214630" indent="-214630" defTabSz="342900" eaLnBrk="1" hangingPunct="1">
              <a:lnSpc>
                <a:spcPct val="150000"/>
              </a:lnSpc>
              <a:buFont typeface="Arial" panose="020B0604020202020204" pitchFamily="34" charset="0"/>
              <a:buChar char="•"/>
              <a:defRPr/>
            </a:pPr>
            <a:r>
              <a:rPr lang="en-US" sz="2000" kern="0" dirty="0">
                <a:solidFill>
                  <a:srgbClr val="000000"/>
                </a:solidFill>
              </a:rPr>
              <a:t>SQL command injection attacks.</a:t>
            </a:r>
            <a:endParaRPr lang="en-US" sz="2000" kern="0" dirty="0">
              <a:solidFill>
                <a:srgbClr val="000000"/>
              </a:solidFill>
            </a:endParaRPr>
          </a:p>
          <a:p>
            <a:pPr marL="214630" indent="-214630" defTabSz="342900" eaLnBrk="1" hangingPunct="1">
              <a:lnSpc>
                <a:spcPct val="150000"/>
              </a:lnSpc>
              <a:buFont typeface="Arial" panose="020B0604020202020204" pitchFamily="34" charset="0"/>
              <a:buChar char="•"/>
              <a:defRPr/>
            </a:pPr>
            <a:r>
              <a:rPr lang="en-US" sz="2000" kern="0" dirty="0">
                <a:solidFill>
                  <a:srgbClr val="000000"/>
                </a:solidFill>
              </a:rPr>
              <a:t>Manual code auditing for software security.</a:t>
            </a:r>
            <a:endParaRPr lang="en-US" sz="2000" kern="0" dirty="0">
              <a:solidFill>
                <a:srgbClr val="000000"/>
              </a:solidFill>
            </a:endParaRPr>
          </a:p>
          <a:p>
            <a:pPr marL="214630" indent="-214630" defTabSz="342900" eaLnBrk="1" hangingPunct="1">
              <a:lnSpc>
                <a:spcPct val="150000"/>
              </a:lnSpc>
              <a:buFont typeface="Arial" panose="020B0604020202020204" pitchFamily="34" charset="0"/>
              <a:buChar char="•"/>
              <a:defRPr/>
            </a:pPr>
            <a:r>
              <a:rPr lang="en-US" sz="2000" kern="0" dirty="0">
                <a:solidFill>
                  <a:srgbClr val="000000"/>
                </a:solidFill>
              </a:rPr>
              <a:t>Analysis tools for security.</a:t>
            </a:r>
            <a:endParaRPr lang="en-US" sz="2000" kern="0" dirty="0">
              <a:solidFill>
                <a:srgbClr val="000000"/>
              </a:solidFill>
            </a:endParaRPr>
          </a:p>
          <a:p>
            <a:pPr marL="214630" indent="-214630" defTabSz="342900" eaLnBrk="1" hangingPunct="1">
              <a:lnSpc>
                <a:spcPct val="150000"/>
              </a:lnSpc>
              <a:buFont typeface="Arial" panose="020B0604020202020204" pitchFamily="34" charset="0"/>
              <a:buChar char="•"/>
              <a:defRPr/>
            </a:pPr>
            <a:r>
              <a:rPr lang="en-US" sz="2000" kern="0" dirty="0">
                <a:solidFill>
                  <a:srgbClr val="000000"/>
                </a:solidFill>
              </a:rPr>
              <a:t>Programming language mechanisms.</a:t>
            </a:r>
            <a:endParaRPr lang="en-US" sz="2000" kern="0" dirty="0">
              <a:solidFill>
                <a:srgbClr val="000000"/>
              </a:solidFill>
            </a:endParaRPr>
          </a:p>
          <a:p>
            <a:pPr marL="214630" indent="-214630" defTabSz="342900" eaLnBrk="1" hangingPunct="1">
              <a:lnSpc>
                <a:spcPct val="150000"/>
              </a:lnSpc>
              <a:buFont typeface="Arial" panose="020B0604020202020204" pitchFamily="34" charset="0"/>
              <a:buChar char="•"/>
              <a:defRPr/>
            </a:pPr>
            <a:endParaRPr lang="en-US" sz="2000" kern="0" dirty="0">
              <a:solidFill>
                <a:srgbClr val="000000"/>
              </a:solidFill>
            </a:endParaRPr>
          </a:p>
        </p:txBody>
      </p:sp>
    </p:spTree>
    <p:custDataLst>
      <p:tags r:id="rId2"/>
    </p:custDataLst>
  </p:cSld>
  <p:clrMapOvr>
    <a:masterClrMapping/>
  </p:clrMapOvr>
  <p:transition spd="slow" advTm="6393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strips(downRight)">
                                      <p:cBhvr>
                                        <p:cTn id="7"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Полилиния 64"/>
          <p:cNvSpPr/>
          <p:nvPr/>
        </p:nvSpPr>
        <p:spPr>
          <a:xfrm>
            <a:off x="1524001" y="2511426"/>
            <a:ext cx="3617913" cy="3489325"/>
          </a:xfrm>
          <a:custGeom>
            <a:avLst/>
            <a:gdLst>
              <a:gd name="connsiteX0" fmla="*/ 1846679 w 10123246"/>
              <a:gd name="connsiteY0" fmla="*/ 0 h 9763772"/>
              <a:gd name="connsiteX1" fmla="*/ 4251882 w 10123246"/>
              <a:gd name="connsiteY1" fmla="*/ 996266 h 9763772"/>
              <a:gd name="connsiteX2" fmla="*/ 9126983 w 10123246"/>
              <a:gd name="connsiteY2" fmla="*/ 5871370 h 9763772"/>
              <a:gd name="connsiteX3" fmla="*/ 9874180 w 10123246"/>
              <a:gd name="connsiteY3" fmla="*/ 9556549 h 9763772"/>
              <a:gd name="connsiteX4" fmla="*/ 9778004 w 10123246"/>
              <a:gd name="connsiteY4" fmla="*/ 9763772 h 9763772"/>
              <a:gd name="connsiteX5" fmla="*/ 0 w 10123246"/>
              <a:gd name="connsiteY5" fmla="*/ 9763772 h 9763772"/>
              <a:gd name="connsiteX6" fmla="*/ 0 w 10123246"/>
              <a:gd name="connsiteY6" fmla="*/ 544822 h 9763772"/>
              <a:gd name="connsiteX7" fmla="*/ 118296 w 10123246"/>
              <a:gd name="connsiteY7" fmla="*/ 470892 h 9763772"/>
              <a:gd name="connsiteX8" fmla="*/ 1846679 w 10123246"/>
              <a:gd name="connsiteY8" fmla="*/ 0 h 9763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123246" h="9763772">
                <a:moveTo>
                  <a:pt x="1846679" y="0"/>
                </a:moveTo>
                <a:cubicBezTo>
                  <a:pt x="2717195" y="0"/>
                  <a:pt x="3587703" y="332090"/>
                  <a:pt x="4251882" y="996266"/>
                </a:cubicBezTo>
                <a:lnTo>
                  <a:pt x="9126983" y="5871370"/>
                </a:lnTo>
                <a:cubicBezTo>
                  <a:pt x="10123246" y="6867637"/>
                  <a:pt x="10372312" y="8328156"/>
                  <a:pt x="9874180" y="9556549"/>
                </a:cubicBezTo>
                <a:lnTo>
                  <a:pt x="9778004" y="9763772"/>
                </a:lnTo>
                <a:lnTo>
                  <a:pt x="0" y="9763772"/>
                </a:lnTo>
                <a:lnTo>
                  <a:pt x="0" y="544822"/>
                </a:lnTo>
                <a:lnTo>
                  <a:pt x="118296" y="470892"/>
                </a:lnTo>
                <a:cubicBezTo>
                  <a:pt x="649726" y="156965"/>
                  <a:pt x="1248205" y="0"/>
                  <a:pt x="1846679"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sz="750"/>
          </a:p>
        </p:txBody>
      </p:sp>
      <p:sp>
        <p:nvSpPr>
          <p:cNvPr id="19459" name="Заголовок 1"/>
          <p:cNvSpPr>
            <a:spLocks noGrp="1"/>
          </p:cNvSpPr>
          <p:nvPr>
            <p:ph type="title"/>
          </p:nvPr>
        </p:nvSpPr>
        <p:spPr>
          <a:xfrm>
            <a:off x="2176464" y="381000"/>
            <a:ext cx="7945437" cy="477838"/>
          </a:xfrm>
        </p:spPr>
        <p:txBody>
          <a:bodyPr/>
          <a:lstStyle/>
          <a:p>
            <a:pPr algn="l" defTabSz="914400" fontAlgn="base">
              <a:spcAft>
                <a:spcPct val="0"/>
              </a:spcAft>
              <a:tabLst>
                <a:tab pos="1365250" algn="l"/>
                <a:tab pos="2115820" algn="l"/>
              </a:tabLst>
              <a:defRPr/>
            </a:pPr>
            <a:r>
              <a:rPr lang="en-US" altLang="en-US" b="1">
                <a:solidFill>
                  <a:schemeClr val="bg1"/>
                </a:solidFill>
                <a:latin typeface="Times New Roman" panose="02020603050405020304" pitchFamily="18" charset="0"/>
                <a:ea typeface="SimSun" panose="02010600030101010101" pitchFamily="2" charset="-122"/>
                <a:cs typeface="Tahoma" panose="020B0604030504040204" charset="0"/>
              </a:rPr>
              <a:t>     Evaluation</a:t>
            </a:r>
            <a:endParaRPr lang="en-US" altLang="en-US" b="1">
              <a:solidFill>
                <a:schemeClr val="bg1"/>
              </a:solidFill>
              <a:latin typeface="Times New Roman" panose="02020603050405020304" pitchFamily="18" charset="0"/>
              <a:ea typeface="SimSun" panose="02010600030101010101" pitchFamily="2" charset="-122"/>
              <a:cs typeface="Tahoma" panose="020B0604030504040204" charset="0"/>
            </a:endParaRPr>
          </a:p>
        </p:txBody>
      </p:sp>
      <p:sp>
        <p:nvSpPr>
          <p:cNvPr id="12292" name="Slide Number Placeholder 2"/>
          <p:cNvSpPr>
            <a:spLocks noGrp="1" noChangeArrowheads="1"/>
          </p:cNvSpPr>
          <p:nvPr>
            <p:ph type="sldNum" sz="quarter" idx="5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fld id="{383D373C-7213-4796-8237-6717D5F99905}" type="slidenum">
              <a:rPr lang="ru-RU" altLang="en-US" sz="5200">
                <a:solidFill>
                  <a:srgbClr val="F2F2F2"/>
                </a:solidFill>
                <a:latin typeface="Roboto Light" panose="02000000000000000000" charset="0"/>
              </a:rPr>
            </a:fld>
            <a:endParaRPr lang="ru-RU" altLang="en-US" sz="5200">
              <a:solidFill>
                <a:srgbClr val="F2F2F2"/>
              </a:solidFill>
              <a:latin typeface="Roboto Light" panose="02000000000000000000" charset="0"/>
            </a:endParaRPr>
          </a:p>
        </p:txBody>
      </p:sp>
      <p:pic>
        <p:nvPicPr>
          <p:cNvPr id="15" name="Picture Placeholder 14"/>
          <p:cNvPicPr>
            <a:picLocks noGrp="1" noChangeAspect="1"/>
          </p:cNvPicPr>
          <p:nvPr>
            <p:ph type="pic" sz="quarter" idx="35"/>
          </p:nvPr>
        </p:nvPicPr>
        <p:blipFill>
          <a:blip r:embed="rId1"/>
          <a:srcRect l="559" r="559"/>
          <a:stretch>
            <a:fillRect/>
          </a:stretch>
        </p:blipFill>
        <p:spPr>
          <a:xfrm rot="10800000" flipV="1">
            <a:off x="1661979" y="2545294"/>
            <a:ext cx="3220784" cy="3220784"/>
          </a:xfrm>
        </p:spPr>
      </p:pic>
      <p:grpSp>
        <p:nvGrpSpPr>
          <p:cNvPr id="12294" name="Группа 14"/>
          <p:cNvGrpSpPr/>
          <p:nvPr/>
        </p:nvGrpSpPr>
        <p:grpSpPr bwMode="auto">
          <a:xfrm>
            <a:off x="5803900" y="2447926"/>
            <a:ext cx="541338" cy="434975"/>
            <a:chOff x="7238376" y="585921"/>
            <a:chExt cx="340828" cy="282136"/>
          </a:xfrm>
        </p:grpSpPr>
        <p:sp>
          <p:nvSpPr>
            <p:cNvPr id="12311" name="Freeform 1323"/>
            <p:cNvSpPr/>
            <p:nvPr/>
          </p:nvSpPr>
          <p:spPr bwMode="auto">
            <a:xfrm>
              <a:off x="7238376" y="633287"/>
              <a:ext cx="340828" cy="234770"/>
            </a:xfrm>
            <a:custGeom>
              <a:avLst/>
              <a:gdLst>
                <a:gd name="T0" fmla="*/ 2147483646 w 165"/>
                <a:gd name="T1" fmla="*/ 2147483646 h 114"/>
                <a:gd name="T2" fmla="*/ 2147483646 w 165"/>
                <a:gd name="T3" fmla="*/ 2147483646 h 114"/>
                <a:gd name="T4" fmla="*/ 2147483646 w 165"/>
                <a:gd name="T5" fmla="*/ 2147483646 h 114"/>
                <a:gd name="T6" fmla="*/ 0 w 165"/>
                <a:gd name="T7" fmla="*/ 2147483646 h 114"/>
                <a:gd name="T8" fmla="*/ 0 w 165"/>
                <a:gd name="T9" fmla="*/ 2147483646 h 114"/>
                <a:gd name="T10" fmla="*/ 2147483646 w 165"/>
                <a:gd name="T11" fmla="*/ 0 h 114"/>
                <a:gd name="T12" fmla="*/ 2147483646 w 165"/>
                <a:gd name="T13" fmla="*/ 0 h 114"/>
                <a:gd name="T14" fmla="*/ 2147483646 w 165"/>
                <a:gd name="T15" fmla="*/ 2147483646 h 114"/>
                <a:gd name="T16" fmla="*/ 2147483646 w 165"/>
                <a:gd name="T17" fmla="*/ 2147483646 h 1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5" h="114">
                  <a:moveTo>
                    <a:pt x="165" y="93"/>
                  </a:moveTo>
                  <a:cubicBezTo>
                    <a:pt x="165" y="104"/>
                    <a:pt x="156" y="114"/>
                    <a:pt x="144" y="114"/>
                  </a:cubicBezTo>
                  <a:cubicBezTo>
                    <a:pt x="21" y="114"/>
                    <a:pt x="21" y="114"/>
                    <a:pt x="21" y="114"/>
                  </a:cubicBezTo>
                  <a:cubicBezTo>
                    <a:pt x="9" y="114"/>
                    <a:pt x="0" y="104"/>
                    <a:pt x="0" y="93"/>
                  </a:cubicBezTo>
                  <a:cubicBezTo>
                    <a:pt x="0" y="21"/>
                    <a:pt x="0" y="21"/>
                    <a:pt x="0" y="21"/>
                  </a:cubicBezTo>
                  <a:cubicBezTo>
                    <a:pt x="0" y="10"/>
                    <a:pt x="9" y="0"/>
                    <a:pt x="21" y="0"/>
                  </a:cubicBezTo>
                  <a:cubicBezTo>
                    <a:pt x="144" y="0"/>
                    <a:pt x="144" y="0"/>
                    <a:pt x="144" y="0"/>
                  </a:cubicBezTo>
                  <a:cubicBezTo>
                    <a:pt x="156" y="0"/>
                    <a:pt x="165" y="10"/>
                    <a:pt x="165" y="21"/>
                  </a:cubicBezTo>
                  <a:lnTo>
                    <a:pt x="165" y="93"/>
                  </a:lnTo>
                  <a:close/>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sp>
          <p:nvSpPr>
            <p:cNvPr id="12312" name="Freeform 1324"/>
            <p:cNvSpPr/>
            <p:nvPr/>
          </p:nvSpPr>
          <p:spPr bwMode="auto">
            <a:xfrm>
              <a:off x="7353702" y="585921"/>
              <a:ext cx="109147" cy="47366"/>
            </a:xfrm>
            <a:custGeom>
              <a:avLst/>
              <a:gdLst>
                <a:gd name="T0" fmla="*/ 0 w 53"/>
                <a:gd name="T1" fmla="*/ 2147483646 h 23"/>
                <a:gd name="T2" fmla="*/ 0 w 53"/>
                <a:gd name="T3" fmla="*/ 2147483646 h 23"/>
                <a:gd name="T4" fmla="*/ 2147483646 w 53"/>
                <a:gd name="T5" fmla="*/ 0 h 23"/>
                <a:gd name="T6" fmla="*/ 2147483646 w 53"/>
                <a:gd name="T7" fmla="*/ 0 h 23"/>
                <a:gd name="T8" fmla="*/ 2147483646 w 53"/>
                <a:gd name="T9" fmla="*/ 2147483646 h 23"/>
                <a:gd name="T10" fmla="*/ 2147483646 w 53"/>
                <a:gd name="T11" fmla="*/ 2147483646 h 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3" h="23">
                  <a:moveTo>
                    <a:pt x="0" y="23"/>
                  </a:moveTo>
                  <a:cubicBezTo>
                    <a:pt x="0" y="11"/>
                    <a:pt x="0" y="11"/>
                    <a:pt x="0" y="11"/>
                  </a:cubicBezTo>
                  <a:cubicBezTo>
                    <a:pt x="0" y="5"/>
                    <a:pt x="5" y="0"/>
                    <a:pt x="11" y="0"/>
                  </a:cubicBezTo>
                  <a:cubicBezTo>
                    <a:pt x="42" y="0"/>
                    <a:pt x="42" y="0"/>
                    <a:pt x="42" y="0"/>
                  </a:cubicBezTo>
                  <a:cubicBezTo>
                    <a:pt x="48" y="0"/>
                    <a:pt x="53" y="5"/>
                    <a:pt x="53" y="11"/>
                  </a:cubicBezTo>
                  <a:cubicBezTo>
                    <a:pt x="53" y="23"/>
                    <a:pt x="53" y="23"/>
                    <a:pt x="53" y="23"/>
                  </a:cubicBezTo>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sp>
          <p:nvSpPr>
            <p:cNvPr id="12313" name="Line 1325"/>
            <p:cNvSpPr>
              <a:spLocks noChangeShapeType="1"/>
            </p:cNvSpPr>
            <p:nvPr/>
          </p:nvSpPr>
          <p:spPr bwMode="auto">
            <a:xfrm>
              <a:off x="7511245" y="725959"/>
              <a:ext cx="61782" cy="0"/>
            </a:xfrm>
            <a:prstGeom prst="line">
              <a:avLst/>
            </a:prstGeom>
            <a:noFill/>
            <a:ln w="38100" cap="rnd">
              <a:solidFill>
                <a:schemeClr val="bg1"/>
              </a:solidFill>
              <a:round/>
            </a:ln>
            <a:extLst>
              <a:ext uri="{909E8E84-426E-40DD-AFC4-6F175D3DCCD1}">
                <a14:hiddenFill xmlns:a14="http://schemas.microsoft.com/office/drawing/2010/main">
                  <a:noFill/>
                </a14:hiddenFill>
              </a:ext>
            </a:extLst>
          </p:spPr>
          <p:txBody>
            <a:bodyPr lIns="34286" tIns="17143" rIns="34286" bIns="17143"/>
            <a:lstStyle/>
            <a:p>
              <a:endParaRPr lang="en-US"/>
            </a:p>
          </p:txBody>
        </p:sp>
        <p:sp>
          <p:nvSpPr>
            <p:cNvPr id="12314" name="Line 1326"/>
            <p:cNvSpPr>
              <a:spLocks noChangeShapeType="1"/>
            </p:cNvSpPr>
            <p:nvPr/>
          </p:nvSpPr>
          <p:spPr bwMode="auto">
            <a:xfrm>
              <a:off x="7357821" y="725959"/>
              <a:ext cx="100910" cy="0"/>
            </a:xfrm>
            <a:prstGeom prst="line">
              <a:avLst/>
            </a:prstGeom>
            <a:noFill/>
            <a:ln w="38100" cap="rnd">
              <a:solidFill>
                <a:schemeClr val="bg1"/>
              </a:solidFill>
              <a:round/>
            </a:ln>
            <a:extLst>
              <a:ext uri="{909E8E84-426E-40DD-AFC4-6F175D3DCCD1}">
                <a14:hiddenFill xmlns:a14="http://schemas.microsoft.com/office/drawing/2010/main">
                  <a:noFill/>
                </a14:hiddenFill>
              </a:ext>
            </a:extLst>
          </p:spPr>
          <p:txBody>
            <a:bodyPr lIns="34286" tIns="17143" rIns="34286" bIns="17143"/>
            <a:lstStyle/>
            <a:p>
              <a:endParaRPr lang="en-US"/>
            </a:p>
          </p:txBody>
        </p:sp>
        <p:sp>
          <p:nvSpPr>
            <p:cNvPr id="12315" name="Line 1327"/>
            <p:cNvSpPr>
              <a:spLocks noChangeShapeType="1"/>
            </p:cNvSpPr>
            <p:nvPr/>
          </p:nvSpPr>
          <p:spPr bwMode="auto">
            <a:xfrm>
              <a:off x="7240436" y="725959"/>
              <a:ext cx="67960" cy="0"/>
            </a:xfrm>
            <a:prstGeom prst="line">
              <a:avLst/>
            </a:prstGeom>
            <a:noFill/>
            <a:ln w="38100" cap="rnd">
              <a:solidFill>
                <a:schemeClr val="bg1"/>
              </a:solidFill>
              <a:round/>
            </a:ln>
            <a:extLst>
              <a:ext uri="{909E8E84-426E-40DD-AFC4-6F175D3DCCD1}">
                <a14:hiddenFill xmlns:a14="http://schemas.microsoft.com/office/drawing/2010/main">
                  <a:noFill/>
                </a14:hiddenFill>
              </a:ext>
            </a:extLst>
          </p:spPr>
          <p:txBody>
            <a:bodyPr lIns="34286" tIns="17143" rIns="34286" bIns="17143"/>
            <a:lstStyle/>
            <a:p>
              <a:endParaRPr lang="en-US"/>
            </a:p>
          </p:txBody>
        </p:sp>
        <p:sp>
          <p:nvSpPr>
            <p:cNvPr id="12316" name="Freeform 1328"/>
            <p:cNvSpPr/>
            <p:nvPr/>
          </p:nvSpPr>
          <p:spPr bwMode="auto">
            <a:xfrm>
              <a:off x="7314574" y="707425"/>
              <a:ext cx="37069" cy="37069"/>
            </a:xfrm>
            <a:custGeom>
              <a:avLst/>
              <a:gdLst>
                <a:gd name="T0" fmla="*/ 2147483646 w 18"/>
                <a:gd name="T1" fmla="*/ 2147483646 h 18"/>
                <a:gd name="T2" fmla="*/ 2147483646 w 18"/>
                <a:gd name="T3" fmla="*/ 2147483646 h 18"/>
                <a:gd name="T4" fmla="*/ 2147483646 w 18"/>
                <a:gd name="T5" fmla="*/ 2147483646 h 18"/>
                <a:gd name="T6" fmla="*/ 0 w 18"/>
                <a:gd name="T7" fmla="*/ 2147483646 h 18"/>
                <a:gd name="T8" fmla="*/ 0 w 18"/>
                <a:gd name="T9" fmla="*/ 2147483646 h 18"/>
                <a:gd name="T10" fmla="*/ 2147483646 w 18"/>
                <a:gd name="T11" fmla="*/ 0 h 18"/>
                <a:gd name="T12" fmla="*/ 2147483646 w 18"/>
                <a:gd name="T13" fmla="*/ 0 h 18"/>
                <a:gd name="T14" fmla="*/ 2147483646 w 18"/>
                <a:gd name="T15" fmla="*/ 2147483646 h 18"/>
                <a:gd name="T16" fmla="*/ 2147483646 w 18"/>
                <a:gd name="T17" fmla="*/ 2147483646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 h="18">
                  <a:moveTo>
                    <a:pt x="18" y="13"/>
                  </a:moveTo>
                  <a:cubicBezTo>
                    <a:pt x="18" y="16"/>
                    <a:pt x="15" y="18"/>
                    <a:pt x="12" y="18"/>
                  </a:cubicBezTo>
                  <a:cubicBezTo>
                    <a:pt x="5" y="18"/>
                    <a:pt x="5" y="18"/>
                    <a:pt x="5" y="18"/>
                  </a:cubicBezTo>
                  <a:cubicBezTo>
                    <a:pt x="2" y="18"/>
                    <a:pt x="0" y="16"/>
                    <a:pt x="0" y="13"/>
                  </a:cubicBezTo>
                  <a:cubicBezTo>
                    <a:pt x="0" y="6"/>
                    <a:pt x="0" y="6"/>
                    <a:pt x="0" y="6"/>
                  </a:cubicBezTo>
                  <a:cubicBezTo>
                    <a:pt x="0" y="3"/>
                    <a:pt x="2" y="0"/>
                    <a:pt x="5" y="0"/>
                  </a:cubicBezTo>
                  <a:cubicBezTo>
                    <a:pt x="12" y="0"/>
                    <a:pt x="12" y="0"/>
                    <a:pt x="12" y="0"/>
                  </a:cubicBezTo>
                  <a:cubicBezTo>
                    <a:pt x="15" y="0"/>
                    <a:pt x="18" y="3"/>
                    <a:pt x="18" y="6"/>
                  </a:cubicBezTo>
                  <a:lnTo>
                    <a:pt x="18" y="13"/>
                  </a:lnTo>
                  <a:close/>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sp>
          <p:nvSpPr>
            <p:cNvPr id="12317" name="Freeform 1329"/>
            <p:cNvSpPr/>
            <p:nvPr/>
          </p:nvSpPr>
          <p:spPr bwMode="auto">
            <a:xfrm>
              <a:off x="7273386" y="728019"/>
              <a:ext cx="117385" cy="102969"/>
            </a:xfrm>
            <a:custGeom>
              <a:avLst/>
              <a:gdLst>
                <a:gd name="T0" fmla="*/ 2147483646 w 57"/>
                <a:gd name="T1" fmla="*/ 0 h 50"/>
                <a:gd name="T2" fmla="*/ 2147483646 w 57"/>
                <a:gd name="T3" fmla="*/ 2147483646 h 50"/>
                <a:gd name="T4" fmla="*/ 2147483646 w 57"/>
                <a:gd name="T5" fmla="*/ 2147483646 h 50"/>
                <a:gd name="T6" fmla="*/ 2147483646 w 57"/>
                <a:gd name="T7" fmla="*/ 2147483646 h 50"/>
                <a:gd name="T8" fmla="*/ 0 w 57"/>
                <a:gd name="T9" fmla="*/ 2147483646 h 50"/>
                <a:gd name="T10" fmla="*/ 0 w 57"/>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50">
                  <a:moveTo>
                    <a:pt x="57" y="0"/>
                  </a:moveTo>
                  <a:cubicBezTo>
                    <a:pt x="57" y="34"/>
                    <a:pt x="57" y="34"/>
                    <a:pt x="57" y="34"/>
                  </a:cubicBezTo>
                  <a:cubicBezTo>
                    <a:pt x="57" y="41"/>
                    <a:pt x="48" y="50"/>
                    <a:pt x="41" y="50"/>
                  </a:cubicBezTo>
                  <a:cubicBezTo>
                    <a:pt x="16" y="50"/>
                    <a:pt x="16" y="50"/>
                    <a:pt x="16" y="50"/>
                  </a:cubicBezTo>
                  <a:cubicBezTo>
                    <a:pt x="10" y="50"/>
                    <a:pt x="0" y="41"/>
                    <a:pt x="0" y="34"/>
                  </a:cubicBezTo>
                  <a:cubicBezTo>
                    <a:pt x="0" y="0"/>
                    <a:pt x="0" y="0"/>
                    <a:pt x="0" y="0"/>
                  </a:cubicBezTo>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sp>
          <p:nvSpPr>
            <p:cNvPr id="12318" name="Freeform 1330"/>
            <p:cNvSpPr/>
            <p:nvPr/>
          </p:nvSpPr>
          <p:spPr bwMode="auto">
            <a:xfrm>
              <a:off x="7464909" y="707425"/>
              <a:ext cx="38099" cy="37069"/>
            </a:xfrm>
            <a:custGeom>
              <a:avLst/>
              <a:gdLst>
                <a:gd name="T0" fmla="*/ 2147483646 w 18"/>
                <a:gd name="T1" fmla="*/ 2147483646 h 18"/>
                <a:gd name="T2" fmla="*/ 2147483646 w 18"/>
                <a:gd name="T3" fmla="*/ 2147483646 h 18"/>
                <a:gd name="T4" fmla="*/ 2147483646 w 18"/>
                <a:gd name="T5" fmla="*/ 2147483646 h 18"/>
                <a:gd name="T6" fmla="*/ 0 w 18"/>
                <a:gd name="T7" fmla="*/ 2147483646 h 18"/>
                <a:gd name="T8" fmla="*/ 0 w 18"/>
                <a:gd name="T9" fmla="*/ 2147483646 h 18"/>
                <a:gd name="T10" fmla="*/ 2147483646 w 18"/>
                <a:gd name="T11" fmla="*/ 0 h 18"/>
                <a:gd name="T12" fmla="*/ 2147483646 w 18"/>
                <a:gd name="T13" fmla="*/ 0 h 18"/>
                <a:gd name="T14" fmla="*/ 2147483646 w 18"/>
                <a:gd name="T15" fmla="*/ 2147483646 h 18"/>
                <a:gd name="T16" fmla="*/ 2147483646 w 18"/>
                <a:gd name="T17" fmla="*/ 2147483646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 h="18">
                  <a:moveTo>
                    <a:pt x="18" y="13"/>
                  </a:moveTo>
                  <a:cubicBezTo>
                    <a:pt x="18" y="16"/>
                    <a:pt x="16" y="18"/>
                    <a:pt x="13" y="18"/>
                  </a:cubicBezTo>
                  <a:cubicBezTo>
                    <a:pt x="5" y="18"/>
                    <a:pt x="5" y="18"/>
                    <a:pt x="5" y="18"/>
                  </a:cubicBezTo>
                  <a:cubicBezTo>
                    <a:pt x="3" y="18"/>
                    <a:pt x="0" y="16"/>
                    <a:pt x="0" y="13"/>
                  </a:cubicBezTo>
                  <a:cubicBezTo>
                    <a:pt x="0" y="6"/>
                    <a:pt x="0" y="6"/>
                    <a:pt x="0" y="6"/>
                  </a:cubicBezTo>
                  <a:cubicBezTo>
                    <a:pt x="0" y="3"/>
                    <a:pt x="3" y="0"/>
                    <a:pt x="5" y="0"/>
                  </a:cubicBezTo>
                  <a:cubicBezTo>
                    <a:pt x="13" y="0"/>
                    <a:pt x="13" y="0"/>
                    <a:pt x="13" y="0"/>
                  </a:cubicBezTo>
                  <a:cubicBezTo>
                    <a:pt x="16" y="0"/>
                    <a:pt x="18" y="3"/>
                    <a:pt x="18" y="6"/>
                  </a:cubicBezTo>
                  <a:lnTo>
                    <a:pt x="18" y="13"/>
                  </a:lnTo>
                  <a:close/>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sp>
          <p:nvSpPr>
            <p:cNvPr id="12319" name="Freeform 1331"/>
            <p:cNvSpPr/>
            <p:nvPr/>
          </p:nvSpPr>
          <p:spPr bwMode="auto">
            <a:xfrm>
              <a:off x="7425780" y="728019"/>
              <a:ext cx="118415" cy="102969"/>
            </a:xfrm>
            <a:custGeom>
              <a:avLst/>
              <a:gdLst>
                <a:gd name="T0" fmla="*/ 2147483646 w 57"/>
                <a:gd name="T1" fmla="*/ 0 h 50"/>
                <a:gd name="T2" fmla="*/ 2147483646 w 57"/>
                <a:gd name="T3" fmla="*/ 2147483646 h 50"/>
                <a:gd name="T4" fmla="*/ 2147483646 w 57"/>
                <a:gd name="T5" fmla="*/ 2147483646 h 50"/>
                <a:gd name="T6" fmla="*/ 2147483646 w 57"/>
                <a:gd name="T7" fmla="*/ 2147483646 h 50"/>
                <a:gd name="T8" fmla="*/ 0 w 57"/>
                <a:gd name="T9" fmla="*/ 2147483646 h 50"/>
                <a:gd name="T10" fmla="*/ 0 w 57"/>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50">
                  <a:moveTo>
                    <a:pt x="57" y="0"/>
                  </a:moveTo>
                  <a:cubicBezTo>
                    <a:pt x="57" y="34"/>
                    <a:pt x="57" y="34"/>
                    <a:pt x="57" y="34"/>
                  </a:cubicBezTo>
                  <a:cubicBezTo>
                    <a:pt x="57" y="41"/>
                    <a:pt x="51" y="50"/>
                    <a:pt x="45" y="50"/>
                  </a:cubicBezTo>
                  <a:cubicBezTo>
                    <a:pt x="12" y="50"/>
                    <a:pt x="12" y="50"/>
                    <a:pt x="12" y="50"/>
                  </a:cubicBezTo>
                  <a:cubicBezTo>
                    <a:pt x="5" y="50"/>
                    <a:pt x="0" y="41"/>
                    <a:pt x="0" y="34"/>
                  </a:cubicBezTo>
                  <a:cubicBezTo>
                    <a:pt x="0" y="0"/>
                    <a:pt x="0" y="0"/>
                    <a:pt x="0" y="0"/>
                  </a:cubicBezTo>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grpSp>
      <p:grpSp>
        <p:nvGrpSpPr>
          <p:cNvPr id="12295" name="Группа 27"/>
          <p:cNvGrpSpPr/>
          <p:nvPr/>
        </p:nvGrpSpPr>
        <p:grpSpPr bwMode="auto">
          <a:xfrm>
            <a:off x="9394826" y="2530476"/>
            <a:ext cx="485775" cy="447675"/>
            <a:chOff x="10999245" y="1615112"/>
            <a:chExt cx="802921" cy="762365"/>
          </a:xfrm>
        </p:grpSpPr>
        <p:sp>
          <p:nvSpPr>
            <p:cNvPr id="12305" name="Freeform 1246"/>
            <p:cNvSpPr/>
            <p:nvPr/>
          </p:nvSpPr>
          <p:spPr bwMode="auto">
            <a:xfrm>
              <a:off x="10999245" y="1863826"/>
              <a:ext cx="802921" cy="513651"/>
            </a:xfrm>
            <a:custGeom>
              <a:avLst/>
              <a:gdLst>
                <a:gd name="T0" fmla="*/ 2147483646 w 148"/>
                <a:gd name="T1" fmla="*/ 2147483646 h 95"/>
                <a:gd name="T2" fmla="*/ 2147483646 w 148"/>
                <a:gd name="T3" fmla="*/ 0 h 95"/>
                <a:gd name="T4" fmla="*/ 2147483646 w 148"/>
                <a:gd name="T5" fmla="*/ 0 h 95"/>
                <a:gd name="T6" fmla="*/ 2147483646 w 148"/>
                <a:gd name="T7" fmla="*/ 0 h 95"/>
                <a:gd name="T8" fmla="*/ 2147483646 w 148"/>
                <a:gd name="T9" fmla="*/ 0 h 95"/>
                <a:gd name="T10" fmla="*/ 2147483646 w 148"/>
                <a:gd name="T11" fmla="*/ 2147483646 h 95"/>
                <a:gd name="T12" fmla="*/ 2147483646 w 148"/>
                <a:gd name="T13" fmla="*/ 2147483646 h 95"/>
                <a:gd name="T14" fmla="*/ 2147483646 w 148"/>
                <a:gd name="T15" fmla="*/ 2147483646 h 95"/>
                <a:gd name="T16" fmla="*/ 2147483646 w 148"/>
                <a:gd name="T17" fmla="*/ 2147483646 h 95"/>
                <a:gd name="T18" fmla="*/ 2147483646 w 148"/>
                <a:gd name="T19" fmla="*/ 2147483646 h 95"/>
                <a:gd name="T20" fmla="*/ 2147483646 w 148"/>
                <a:gd name="T21" fmla="*/ 2147483646 h 95"/>
                <a:gd name="T22" fmla="*/ 2147483646 w 148"/>
                <a:gd name="T23" fmla="*/ 2147483646 h 95"/>
                <a:gd name="T24" fmla="*/ 2147483646 w 148"/>
                <a:gd name="T25" fmla="*/ 2147483646 h 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8" h="95">
                  <a:moveTo>
                    <a:pt x="131" y="28"/>
                  </a:moveTo>
                  <a:cubicBezTo>
                    <a:pt x="117" y="1"/>
                    <a:pt x="97" y="0"/>
                    <a:pt x="97" y="0"/>
                  </a:cubicBezTo>
                  <a:cubicBezTo>
                    <a:pt x="80" y="0"/>
                    <a:pt x="80" y="0"/>
                    <a:pt x="80" y="0"/>
                  </a:cubicBezTo>
                  <a:cubicBezTo>
                    <a:pt x="75" y="0"/>
                    <a:pt x="75" y="0"/>
                    <a:pt x="75" y="0"/>
                  </a:cubicBezTo>
                  <a:cubicBezTo>
                    <a:pt x="50" y="0"/>
                    <a:pt x="50" y="0"/>
                    <a:pt x="50" y="0"/>
                  </a:cubicBezTo>
                  <a:cubicBezTo>
                    <a:pt x="50" y="0"/>
                    <a:pt x="31" y="1"/>
                    <a:pt x="17" y="28"/>
                  </a:cubicBezTo>
                  <a:cubicBezTo>
                    <a:pt x="2" y="55"/>
                    <a:pt x="0" y="95"/>
                    <a:pt x="48" y="95"/>
                  </a:cubicBezTo>
                  <a:cubicBezTo>
                    <a:pt x="48" y="95"/>
                    <a:pt x="48" y="95"/>
                    <a:pt x="48" y="95"/>
                  </a:cubicBezTo>
                  <a:cubicBezTo>
                    <a:pt x="49" y="95"/>
                    <a:pt x="49" y="95"/>
                    <a:pt x="49" y="95"/>
                  </a:cubicBezTo>
                  <a:cubicBezTo>
                    <a:pt x="50" y="95"/>
                    <a:pt x="65" y="95"/>
                    <a:pt x="99" y="95"/>
                  </a:cubicBezTo>
                  <a:cubicBezTo>
                    <a:pt x="99" y="95"/>
                    <a:pt x="99" y="95"/>
                    <a:pt x="99" y="95"/>
                  </a:cubicBezTo>
                  <a:cubicBezTo>
                    <a:pt x="99" y="95"/>
                    <a:pt x="99" y="95"/>
                    <a:pt x="99" y="95"/>
                  </a:cubicBezTo>
                  <a:cubicBezTo>
                    <a:pt x="148" y="95"/>
                    <a:pt x="146" y="55"/>
                    <a:pt x="131" y="28"/>
                  </a:cubicBezTo>
                  <a:close/>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sp>
          <p:nvSpPr>
            <p:cNvPr id="12306" name="Freeform 1247"/>
            <p:cNvSpPr/>
            <p:nvPr/>
          </p:nvSpPr>
          <p:spPr bwMode="auto">
            <a:xfrm>
              <a:off x="11037094" y="1793537"/>
              <a:ext cx="727223" cy="210868"/>
            </a:xfrm>
            <a:custGeom>
              <a:avLst/>
              <a:gdLst>
                <a:gd name="T0" fmla="*/ 2147483646 w 134"/>
                <a:gd name="T1" fmla="*/ 2147483646 h 39"/>
                <a:gd name="T2" fmla="*/ 2147483646 w 134"/>
                <a:gd name="T3" fmla="*/ 2147483646 h 39"/>
                <a:gd name="T4" fmla="*/ 2147483646 w 134"/>
                <a:gd name="T5" fmla="*/ 0 h 39"/>
                <a:gd name="T6" fmla="*/ 2147483646 w 134"/>
                <a:gd name="T7" fmla="*/ 0 h 39"/>
                <a:gd name="T8" fmla="*/ 0 w 134"/>
                <a:gd name="T9" fmla="*/ 2147483646 h 39"/>
                <a:gd name="T10" fmla="*/ 2147483646 w 134"/>
                <a:gd name="T11" fmla="*/ 2147483646 h 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4" h="39">
                  <a:moveTo>
                    <a:pt x="123" y="39"/>
                  </a:moveTo>
                  <a:cubicBezTo>
                    <a:pt x="134" y="32"/>
                    <a:pt x="134" y="32"/>
                    <a:pt x="134" y="32"/>
                  </a:cubicBezTo>
                  <a:cubicBezTo>
                    <a:pt x="117" y="2"/>
                    <a:pt x="94" y="0"/>
                    <a:pt x="91" y="0"/>
                  </a:cubicBezTo>
                  <a:cubicBezTo>
                    <a:pt x="91" y="0"/>
                    <a:pt x="43" y="0"/>
                    <a:pt x="43" y="0"/>
                  </a:cubicBezTo>
                  <a:cubicBezTo>
                    <a:pt x="40" y="0"/>
                    <a:pt x="17" y="2"/>
                    <a:pt x="0" y="32"/>
                  </a:cubicBezTo>
                  <a:cubicBezTo>
                    <a:pt x="11" y="39"/>
                    <a:pt x="11" y="39"/>
                    <a:pt x="11" y="39"/>
                  </a:cubicBezTo>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sp>
          <p:nvSpPr>
            <p:cNvPr id="12307" name="Oval 1248"/>
            <p:cNvSpPr>
              <a:spLocks noChangeArrowheads="1"/>
            </p:cNvSpPr>
            <p:nvPr/>
          </p:nvSpPr>
          <p:spPr bwMode="auto">
            <a:xfrm>
              <a:off x="11304732" y="1615112"/>
              <a:ext cx="97324" cy="97324"/>
            </a:xfrm>
            <a:prstGeom prst="ellipse">
              <a:avLst/>
            </a:prstGeom>
            <a:noFill/>
            <a:ln w="38100" cap="rnd">
              <a:solidFill>
                <a:schemeClr val="bg1"/>
              </a:solidFill>
              <a:round/>
            </a:ln>
            <a:extLst>
              <a:ext uri="{909E8E84-426E-40DD-AFC4-6F175D3DCCD1}">
                <a14:hiddenFill xmlns:a14="http://schemas.microsoft.com/office/drawing/2010/main">
                  <a:solidFill>
                    <a:srgbClr val="FFFFFF"/>
                  </a:solidFill>
                </a14:hiddenFill>
              </a:ext>
            </a:extLst>
          </p:spPr>
          <p:txBody>
            <a:bodyPr lIns="34286" tIns="17143" rIns="34286" bIns="17143"/>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200">
                <a:latin typeface="Times New Roman" panose="02020603050405020304" pitchFamily="18" charset="0"/>
                <a:ea typeface="SimSun" panose="02010600030101010101" pitchFamily="2" charset="-122"/>
              </a:endParaRPr>
            </a:p>
          </p:txBody>
        </p:sp>
        <p:sp>
          <p:nvSpPr>
            <p:cNvPr id="12308" name="Oval 1249"/>
            <p:cNvSpPr>
              <a:spLocks noChangeArrowheads="1"/>
            </p:cNvSpPr>
            <p:nvPr/>
          </p:nvSpPr>
          <p:spPr bwMode="auto">
            <a:xfrm>
              <a:off x="11402056" y="1615112"/>
              <a:ext cx="97324" cy="97324"/>
            </a:xfrm>
            <a:prstGeom prst="ellipse">
              <a:avLst/>
            </a:prstGeom>
            <a:noFill/>
            <a:ln w="38100" cap="rnd">
              <a:solidFill>
                <a:schemeClr val="bg1"/>
              </a:solidFill>
              <a:round/>
            </a:ln>
            <a:extLst>
              <a:ext uri="{909E8E84-426E-40DD-AFC4-6F175D3DCCD1}">
                <a14:hiddenFill xmlns:a14="http://schemas.microsoft.com/office/drawing/2010/main">
                  <a:solidFill>
                    <a:srgbClr val="FFFFFF"/>
                  </a:solidFill>
                </a14:hiddenFill>
              </a:ext>
            </a:extLst>
          </p:spPr>
          <p:txBody>
            <a:bodyPr lIns="34286" tIns="17143" rIns="34286" bIns="17143"/>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200">
                <a:latin typeface="Times New Roman" panose="02020603050405020304" pitchFamily="18" charset="0"/>
                <a:ea typeface="SimSun" panose="02010600030101010101" pitchFamily="2" charset="-122"/>
              </a:endParaRPr>
            </a:p>
          </p:txBody>
        </p:sp>
        <p:sp>
          <p:nvSpPr>
            <p:cNvPr id="12309" name="Line 1250"/>
            <p:cNvSpPr>
              <a:spLocks noChangeShapeType="1"/>
            </p:cNvSpPr>
            <p:nvPr/>
          </p:nvSpPr>
          <p:spPr bwMode="auto">
            <a:xfrm>
              <a:off x="11450717" y="1712436"/>
              <a:ext cx="37849" cy="64883"/>
            </a:xfrm>
            <a:prstGeom prst="line">
              <a:avLst/>
            </a:prstGeom>
            <a:noFill/>
            <a:ln w="38100" cap="rnd">
              <a:solidFill>
                <a:schemeClr val="bg1"/>
              </a:solidFill>
              <a:round/>
            </a:ln>
            <a:extLst>
              <a:ext uri="{909E8E84-426E-40DD-AFC4-6F175D3DCCD1}">
                <a14:hiddenFill xmlns:a14="http://schemas.microsoft.com/office/drawing/2010/main">
                  <a:noFill/>
                </a14:hiddenFill>
              </a:ext>
            </a:extLst>
          </p:spPr>
          <p:txBody>
            <a:bodyPr lIns="34286" tIns="17143" rIns="34286" bIns="17143"/>
            <a:lstStyle/>
            <a:p>
              <a:endParaRPr lang="en-US"/>
            </a:p>
          </p:txBody>
        </p:sp>
        <p:sp>
          <p:nvSpPr>
            <p:cNvPr id="12310" name="Line 1251"/>
            <p:cNvSpPr>
              <a:spLocks noChangeShapeType="1"/>
            </p:cNvSpPr>
            <p:nvPr/>
          </p:nvSpPr>
          <p:spPr bwMode="auto">
            <a:xfrm flipH="1">
              <a:off x="11315547" y="1712436"/>
              <a:ext cx="37849" cy="64883"/>
            </a:xfrm>
            <a:prstGeom prst="line">
              <a:avLst/>
            </a:prstGeom>
            <a:noFill/>
            <a:ln w="38100" cap="rnd">
              <a:solidFill>
                <a:schemeClr val="bg1"/>
              </a:solidFill>
              <a:round/>
            </a:ln>
            <a:extLst>
              <a:ext uri="{909E8E84-426E-40DD-AFC4-6F175D3DCCD1}">
                <a14:hiddenFill xmlns:a14="http://schemas.microsoft.com/office/drawing/2010/main">
                  <a:noFill/>
                </a14:hiddenFill>
              </a:ext>
            </a:extLst>
          </p:spPr>
          <p:txBody>
            <a:bodyPr lIns="34286" tIns="17143" rIns="34286" bIns="17143"/>
            <a:lstStyle/>
            <a:p>
              <a:endParaRPr lang="en-US"/>
            </a:p>
          </p:txBody>
        </p:sp>
      </p:grpSp>
      <p:grpSp>
        <p:nvGrpSpPr>
          <p:cNvPr id="12296" name="Группа 58"/>
          <p:cNvGrpSpPr/>
          <p:nvPr/>
        </p:nvGrpSpPr>
        <p:grpSpPr bwMode="auto">
          <a:xfrm>
            <a:off x="1662114" y="857251"/>
            <a:ext cx="860425" cy="860425"/>
            <a:chOff x="1230385" y="6391200"/>
            <a:chExt cx="1725167" cy="1725167"/>
          </a:xfrm>
        </p:grpSpPr>
        <p:sp>
          <p:nvSpPr>
            <p:cNvPr id="36" name="Овал 59"/>
            <p:cNvSpPr/>
            <p:nvPr/>
          </p:nvSpPr>
          <p:spPr>
            <a:xfrm>
              <a:off x="1230385" y="6391200"/>
              <a:ext cx="1725167" cy="172516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sz="750"/>
            </a:p>
          </p:txBody>
        </p:sp>
        <p:grpSp>
          <p:nvGrpSpPr>
            <p:cNvPr id="12300" name="Группа 60"/>
            <p:cNvGrpSpPr/>
            <p:nvPr/>
          </p:nvGrpSpPr>
          <p:grpSpPr bwMode="auto">
            <a:xfrm>
              <a:off x="1609729" y="6870167"/>
              <a:ext cx="966478" cy="767232"/>
              <a:chOff x="8036388" y="2641187"/>
              <a:chExt cx="334650" cy="265660"/>
            </a:xfrm>
          </p:grpSpPr>
          <p:sp>
            <p:nvSpPr>
              <p:cNvPr id="38" name="Freeform 1970"/>
              <p:cNvSpPr/>
              <p:nvPr/>
            </p:nvSpPr>
            <p:spPr bwMode="auto">
              <a:xfrm>
                <a:off x="8104522" y="2640660"/>
                <a:ext cx="198382" cy="186260"/>
              </a:xfrm>
              <a:custGeom>
                <a:avLst/>
                <a:gdLst>
                  <a:gd name="T0" fmla="*/ 0 w 96"/>
                  <a:gd name="T1" fmla="*/ 3 h 90"/>
                  <a:gd name="T2" fmla="*/ 48 w 96"/>
                  <a:gd name="T3" fmla="*/ 90 h 90"/>
                  <a:gd name="T4" fmla="*/ 96 w 96"/>
                  <a:gd name="T5" fmla="*/ 3 h 90"/>
                  <a:gd name="T6" fmla="*/ 96 w 96"/>
                  <a:gd name="T7" fmla="*/ 0 h 90"/>
                  <a:gd name="T8" fmla="*/ 0 w 96"/>
                  <a:gd name="T9" fmla="*/ 0 h 90"/>
                  <a:gd name="T10" fmla="*/ 0 w 96"/>
                  <a:gd name="T11" fmla="*/ 3 h 90"/>
                </a:gdLst>
                <a:ahLst/>
                <a:cxnLst>
                  <a:cxn ang="0">
                    <a:pos x="T0" y="T1"/>
                  </a:cxn>
                  <a:cxn ang="0">
                    <a:pos x="T2" y="T3"/>
                  </a:cxn>
                  <a:cxn ang="0">
                    <a:pos x="T4" y="T5"/>
                  </a:cxn>
                  <a:cxn ang="0">
                    <a:pos x="T6" y="T7"/>
                  </a:cxn>
                  <a:cxn ang="0">
                    <a:pos x="T8" y="T9"/>
                  </a:cxn>
                  <a:cxn ang="0">
                    <a:pos x="T10" y="T11"/>
                  </a:cxn>
                </a:cxnLst>
                <a:rect l="0" t="0" r="r" b="b"/>
                <a:pathLst>
                  <a:path w="96" h="90">
                    <a:moveTo>
                      <a:pt x="0" y="3"/>
                    </a:moveTo>
                    <a:cubicBezTo>
                      <a:pt x="0" y="51"/>
                      <a:pt x="21" y="90"/>
                      <a:pt x="48" y="90"/>
                    </a:cubicBezTo>
                    <a:cubicBezTo>
                      <a:pt x="75" y="90"/>
                      <a:pt x="96" y="51"/>
                      <a:pt x="96" y="3"/>
                    </a:cubicBezTo>
                    <a:cubicBezTo>
                      <a:pt x="96" y="2"/>
                      <a:pt x="96" y="1"/>
                      <a:pt x="96" y="0"/>
                    </a:cubicBezTo>
                    <a:cubicBezTo>
                      <a:pt x="0" y="0"/>
                      <a:pt x="0" y="0"/>
                      <a:pt x="0" y="0"/>
                    </a:cubicBezTo>
                    <a:cubicBezTo>
                      <a:pt x="0" y="1"/>
                      <a:pt x="0" y="2"/>
                      <a:pt x="0" y="3"/>
                    </a:cubicBezTo>
                    <a:close/>
                  </a:path>
                </a:pathLst>
              </a:custGeom>
              <a:noFill/>
              <a:ln w="38100" cap="rnd">
                <a:solidFill>
                  <a:schemeClr val="bg2"/>
                </a:solidFill>
                <a:prstDash val="solid"/>
                <a:round/>
              </a:ln>
            </p:spPr>
            <p:txBody>
              <a:bodyPr lIns="34288" tIns="17144" rIns="34288" bIns="17144"/>
              <a:lstStyle/>
              <a:p>
                <a:pPr>
                  <a:defRPr/>
                </a:pPr>
                <a:endParaRPr lang="en-US" sz="750"/>
              </a:p>
            </p:txBody>
          </p:sp>
          <p:sp>
            <p:nvSpPr>
              <p:cNvPr id="39" name="Freeform 1971"/>
              <p:cNvSpPr/>
              <p:nvPr/>
            </p:nvSpPr>
            <p:spPr bwMode="auto">
              <a:xfrm>
                <a:off x="8036190" y="2685848"/>
                <a:ext cx="335046" cy="141072"/>
              </a:xfrm>
              <a:custGeom>
                <a:avLst/>
                <a:gdLst>
                  <a:gd name="T0" fmla="*/ 32 w 162"/>
                  <a:gd name="T1" fmla="*/ 0 h 68"/>
                  <a:gd name="T2" fmla="*/ 0 w 162"/>
                  <a:gd name="T3" fmla="*/ 0 h 68"/>
                  <a:gd name="T4" fmla="*/ 81 w 162"/>
                  <a:gd name="T5" fmla="*/ 68 h 68"/>
                  <a:gd name="T6" fmla="*/ 162 w 162"/>
                  <a:gd name="T7" fmla="*/ 0 h 68"/>
                  <a:gd name="T8" fmla="*/ 131 w 162"/>
                  <a:gd name="T9" fmla="*/ 0 h 68"/>
                </a:gdLst>
                <a:ahLst/>
                <a:cxnLst>
                  <a:cxn ang="0">
                    <a:pos x="T0" y="T1"/>
                  </a:cxn>
                  <a:cxn ang="0">
                    <a:pos x="T2" y="T3"/>
                  </a:cxn>
                  <a:cxn ang="0">
                    <a:pos x="T4" y="T5"/>
                  </a:cxn>
                  <a:cxn ang="0">
                    <a:pos x="T6" y="T7"/>
                  </a:cxn>
                  <a:cxn ang="0">
                    <a:pos x="T8" y="T9"/>
                  </a:cxn>
                </a:cxnLst>
                <a:rect l="0" t="0" r="r" b="b"/>
                <a:pathLst>
                  <a:path w="162" h="68">
                    <a:moveTo>
                      <a:pt x="32" y="0"/>
                    </a:moveTo>
                    <a:cubicBezTo>
                      <a:pt x="0" y="0"/>
                      <a:pt x="0" y="0"/>
                      <a:pt x="0" y="0"/>
                    </a:cubicBezTo>
                    <a:cubicBezTo>
                      <a:pt x="8" y="39"/>
                      <a:pt x="41" y="68"/>
                      <a:pt x="81" y="68"/>
                    </a:cubicBezTo>
                    <a:cubicBezTo>
                      <a:pt x="121" y="68"/>
                      <a:pt x="154" y="39"/>
                      <a:pt x="162" y="0"/>
                    </a:cubicBezTo>
                    <a:cubicBezTo>
                      <a:pt x="131" y="0"/>
                      <a:pt x="131" y="0"/>
                      <a:pt x="131" y="0"/>
                    </a:cubicBezTo>
                  </a:path>
                </a:pathLst>
              </a:custGeom>
              <a:noFill/>
              <a:ln w="38100" cap="rnd">
                <a:solidFill>
                  <a:schemeClr val="bg2"/>
                </a:solidFill>
                <a:prstDash val="solid"/>
                <a:round/>
              </a:ln>
            </p:spPr>
            <p:txBody>
              <a:bodyPr lIns="34288" tIns="17144" rIns="34288" bIns="17144"/>
              <a:lstStyle/>
              <a:p>
                <a:pPr>
                  <a:defRPr/>
                </a:pPr>
                <a:endParaRPr lang="en-US" sz="750"/>
              </a:p>
            </p:txBody>
          </p:sp>
          <p:sp>
            <p:nvSpPr>
              <p:cNvPr id="40" name="Freeform 1972"/>
              <p:cNvSpPr/>
              <p:nvPr/>
            </p:nvSpPr>
            <p:spPr bwMode="auto">
              <a:xfrm>
                <a:off x="8148607" y="2826920"/>
                <a:ext cx="113519" cy="80455"/>
              </a:xfrm>
              <a:custGeom>
                <a:avLst/>
                <a:gdLst>
                  <a:gd name="T0" fmla="*/ 55 w 55"/>
                  <a:gd name="T1" fmla="*/ 39 h 39"/>
                  <a:gd name="T2" fmla="*/ 38 w 55"/>
                  <a:gd name="T3" fmla="*/ 0 h 39"/>
                  <a:gd name="T4" fmla="*/ 27 w 55"/>
                  <a:gd name="T5" fmla="*/ 0 h 39"/>
                  <a:gd name="T6" fmla="*/ 16 w 55"/>
                  <a:gd name="T7" fmla="*/ 0 h 39"/>
                  <a:gd name="T8" fmla="*/ 0 w 55"/>
                  <a:gd name="T9" fmla="*/ 39 h 39"/>
                </a:gdLst>
                <a:ahLst/>
                <a:cxnLst>
                  <a:cxn ang="0">
                    <a:pos x="T0" y="T1"/>
                  </a:cxn>
                  <a:cxn ang="0">
                    <a:pos x="T2" y="T3"/>
                  </a:cxn>
                  <a:cxn ang="0">
                    <a:pos x="T4" y="T5"/>
                  </a:cxn>
                  <a:cxn ang="0">
                    <a:pos x="T6" y="T7"/>
                  </a:cxn>
                  <a:cxn ang="0">
                    <a:pos x="T8" y="T9"/>
                  </a:cxn>
                </a:cxnLst>
                <a:rect l="0" t="0" r="r" b="b"/>
                <a:pathLst>
                  <a:path w="55" h="39">
                    <a:moveTo>
                      <a:pt x="55" y="39"/>
                    </a:moveTo>
                    <a:cubicBezTo>
                      <a:pt x="55" y="39"/>
                      <a:pt x="38" y="25"/>
                      <a:pt x="38" y="0"/>
                    </a:cubicBezTo>
                    <a:cubicBezTo>
                      <a:pt x="28" y="0"/>
                      <a:pt x="27" y="0"/>
                      <a:pt x="27" y="0"/>
                    </a:cubicBezTo>
                    <a:cubicBezTo>
                      <a:pt x="27" y="0"/>
                      <a:pt x="27" y="0"/>
                      <a:pt x="16" y="0"/>
                    </a:cubicBezTo>
                    <a:cubicBezTo>
                      <a:pt x="16" y="25"/>
                      <a:pt x="0" y="39"/>
                      <a:pt x="0" y="39"/>
                    </a:cubicBezTo>
                  </a:path>
                </a:pathLst>
              </a:custGeom>
              <a:noFill/>
              <a:ln w="38100" cap="rnd">
                <a:solidFill>
                  <a:schemeClr val="bg2"/>
                </a:solidFill>
                <a:prstDash val="solid"/>
                <a:round/>
              </a:ln>
            </p:spPr>
            <p:txBody>
              <a:bodyPr lIns="34288" tIns="17144" rIns="34288" bIns="17144"/>
              <a:lstStyle/>
              <a:p>
                <a:pPr>
                  <a:defRPr/>
                </a:pPr>
                <a:endParaRPr lang="en-US" sz="750"/>
              </a:p>
            </p:txBody>
          </p:sp>
          <p:sp>
            <p:nvSpPr>
              <p:cNvPr id="41" name="Line 1973"/>
              <p:cNvSpPr>
                <a:spLocks noChangeShapeType="1"/>
              </p:cNvSpPr>
              <p:nvPr/>
            </p:nvSpPr>
            <p:spPr bwMode="auto">
              <a:xfrm>
                <a:off x="8129871" y="2907375"/>
                <a:ext cx="148786" cy="0"/>
              </a:xfrm>
              <a:prstGeom prst="line">
                <a:avLst/>
              </a:prstGeom>
              <a:noFill/>
              <a:ln w="38100" cap="rnd">
                <a:solidFill>
                  <a:schemeClr val="bg2"/>
                </a:solidFill>
                <a:prstDash val="solid"/>
                <a:round/>
              </a:ln>
            </p:spPr>
            <p:txBody>
              <a:bodyPr lIns="34288" tIns="17144" rIns="34288" bIns="17144"/>
              <a:lstStyle/>
              <a:p>
                <a:pPr>
                  <a:defRPr/>
                </a:pPr>
                <a:endParaRPr lang="en-US" sz="750"/>
              </a:p>
            </p:txBody>
          </p:sp>
        </p:grpSp>
      </p:grpSp>
      <p:sp>
        <p:nvSpPr>
          <p:cNvPr id="33" name="Text Box 141"/>
          <p:cNvSpPr txBox="1">
            <a:spLocks noChangeArrowheads="1"/>
          </p:cNvSpPr>
          <p:nvPr/>
        </p:nvSpPr>
        <p:spPr bwMode="auto">
          <a:xfrm>
            <a:off x="4498975" y="2143126"/>
            <a:ext cx="5538788" cy="1963420"/>
          </a:xfrm>
          <a:prstGeom prst="rect">
            <a:avLst/>
          </a:prstGeom>
          <a:noFill/>
          <a:ln>
            <a:noFill/>
          </a:ln>
        </p:spPr>
        <p:txBody>
          <a:bodyPr>
            <a:spAutoFit/>
          </a:bodyPr>
          <a:lstStyle>
            <a:lvl1pPr eaLnBrk="0" hangingPunct="0">
              <a:defRPr b="1">
                <a:solidFill>
                  <a:schemeClr val="tx1"/>
                </a:solidFill>
                <a:latin typeface="Times New Roman" panose="02020603050405020304" pitchFamily="18" charset="0"/>
                <a:cs typeface="Arial" panose="020B0604020202020204" pitchFamily="34" charset="0"/>
              </a:defRPr>
            </a:lvl1pPr>
            <a:lvl2pPr marL="742950" indent="-285750" eaLnBrk="0" hangingPunct="0">
              <a:defRPr b="1">
                <a:solidFill>
                  <a:schemeClr val="tx1"/>
                </a:solidFill>
                <a:latin typeface="Times New Roman" panose="02020603050405020304" pitchFamily="18" charset="0"/>
                <a:cs typeface="Arial" panose="020B0604020202020204" pitchFamily="34" charset="0"/>
              </a:defRPr>
            </a:lvl2pPr>
            <a:lvl3pPr marL="1143000" indent="-228600" eaLnBrk="0" hangingPunct="0">
              <a:defRPr b="1">
                <a:solidFill>
                  <a:schemeClr val="tx1"/>
                </a:solidFill>
                <a:latin typeface="Times New Roman" panose="02020603050405020304" pitchFamily="18" charset="0"/>
                <a:cs typeface="Arial" panose="020B0604020202020204" pitchFamily="34" charset="0"/>
              </a:defRPr>
            </a:lvl3pPr>
            <a:lvl4pPr marL="1600200" indent="-228600" eaLnBrk="0" hangingPunct="0">
              <a:defRPr b="1">
                <a:solidFill>
                  <a:schemeClr val="tx1"/>
                </a:solidFill>
                <a:latin typeface="Times New Roman" panose="02020603050405020304" pitchFamily="18" charset="0"/>
                <a:cs typeface="Arial" panose="020B0604020202020204" pitchFamily="34" charset="0"/>
              </a:defRPr>
            </a:lvl4pPr>
            <a:lvl5pPr marL="2057400" indent="-228600" eaLnBrk="0" hangingPunct="0">
              <a:defRPr b="1">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cs typeface="Arial" panose="020B0604020202020204" pitchFamily="34" charset="0"/>
              </a:defRPr>
            </a:lvl9pPr>
          </a:lstStyle>
          <a:p>
            <a:pPr marL="342900" indent="-342900" defTabSz="342900" eaLnBrk="1" hangingPunct="1">
              <a:lnSpc>
                <a:spcPct val="150000"/>
              </a:lnSpc>
              <a:buFont typeface="+mj-lt"/>
              <a:buAutoNum type="arabicPeriod"/>
              <a:defRPr/>
            </a:pPr>
            <a:r>
              <a:rPr lang="en-US" sz="2025" kern="0" dirty="0">
                <a:solidFill>
                  <a:srgbClr val="000000"/>
                </a:solidFill>
              </a:rPr>
              <a:t>Final exam:				60%</a:t>
            </a:r>
            <a:endParaRPr lang="en-US" sz="2025" kern="0" dirty="0">
              <a:solidFill>
                <a:srgbClr val="000000"/>
              </a:solidFill>
            </a:endParaRPr>
          </a:p>
          <a:p>
            <a:pPr marL="342900" indent="-342900" defTabSz="342900" eaLnBrk="1" hangingPunct="1">
              <a:lnSpc>
                <a:spcPct val="150000"/>
              </a:lnSpc>
              <a:buFont typeface="+mj-lt"/>
              <a:buAutoNum type="arabicPeriod"/>
              <a:defRPr/>
            </a:pPr>
            <a:r>
              <a:rPr lang="en-US" sz="2025" dirty="0"/>
              <a:t>Assignments:			20%</a:t>
            </a:r>
            <a:endParaRPr lang="en-US" sz="2025" dirty="0"/>
          </a:p>
          <a:p>
            <a:pPr marL="342900" indent="-342900" defTabSz="342900" eaLnBrk="1" hangingPunct="1">
              <a:lnSpc>
                <a:spcPct val="150000"/>
              </a:lnSpc>
              <a:buFont typeface="+mj-lt"/>
              <a:buAutoNum type="arabicPeriod"/>
              <a:defRPr/>
            </a:pPr>
            <a:r>
              <a:rPr lang="en-US" sz="2025" dirty="0"/>
              <a:t>Midterm 				10%</a:t>
            </a:r>
            <a:endParaRPr lang="en-US" sz="2025" dirty="0"/>
          </a:p>
          <a:p>
            <a:pPr marL="342900" indent="-342900" defTabSz="342900" eaLnBrk="1" hangingPunct="1">
              <a:lnSpc>
                <a:spcPct val="150000"/>
              </a:lnSpc>
              <a:buFont typeface="+mj-lt"/>
              <a:buAutoNum type="arabicPeriod"/>
              <a:defRPr/>
            </a:pPr>
            <a:r>
              <a:rPr lang="en-US" sz="2025" dirty="0"/>
              <a:t>Presentations:			10%</a:t>
            </a:r>
            <a:endParaRPr lang="en-US" sz="2025" dirty="0"/>
          </a:p>
        </p:txBody>
      </p:sp>
    </p:spTree>
    <p:custDataLst>
      <p:tags r:id="rId2"/>
    </p:custDataLst>
  </p:cSld>
  <p:clrMapOvr>
    <a:masterClrMapping/>
  </p:clrMapOvr>
  <p:transition spd="slow" advTm="5399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strips(downRight)">
                                      <p:cBhvr>
                                        <p:cTn id="7"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Полилиния 64"/>
          <p:cNvSpPr/>
          <p:nvPr/>
        </p:nvSpPr>
        <p:spPr>
          <a:xfrm>
            <a:off x="1524001" y="2511426"/>
            <a:ext cx="3617913" cy="3489325"/>
          </a:xfrm>
          <a:custGeom>
            <a:avLst/>
            <a:gdLst>
              <a:gd name="connsiteX0" fmla="*/ 1846679 w 10123246"/>
              <a:gd name="connsiteY0" fmla="*/ 0 h 9763772"/>
              <a:gd name="connsiteX1" fmla="*/ 4251882 w 10123246"/>
              <a:gd name="connsiteY1" fmla="*/ 996266 h 9763772"/>
              <a:gd name="connsiteX2" fmla="*/ 9126983 w 10123246"/>
              <a:gd name="connsiteY2" fmla="*/ 5871370 h 9763772"/>
              <a:gd name="connsiteX3" fmla="*/ 9874180 w 10123246"/>
              <a:gd name="connsiteY3" fmla="*/ 9556549 h 9763772"/>
              <a:gd name="connsiteX4" fmla="*/ 9778004 w 10123246"/>
              <a:gd name="connsiteY4" fmla="*/ 9763772 h 9763772"/>
              <a:gd name="connsiteX5" fmla="*/ 0 w 10123246"/>
              <a:gd name="connsiteY5" fmla="*/ 9763772 h 9763772"/>
              <a:gd name="connsiteX6" fmla="*/ 0 w 10123246"/>
              <a:gd name="connsiteY6" fmla="*/ 544822 h 9763772"/>
              <a:gd name="connsiteX7" fmla="*/ 118296 w 10123246"/>
              <a:gd name="connsiteY7" fmla="*/ 470892 h 9763772"/>
              <a:gd name="connsiteX8" fmla="*/ 1846679 w 10123246"/>
              <a:gd name="connsiteY8" fmla="*/ 0 h 9763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123246" h="9763772">
                <a:moveTo>
                  <a:pt x="1846679" y="0"/>
                </a:moveTo>
                <a:cubicBezTo>
                  <a:pt x="2717195" y="0"/>
                  <a:pt x="3587703" y="332090"/>
                  <a:pt x="4251882" y="996266"/>
                </a:cubicBezTo>
                <a:lnTo>
                  <a:pt x="9126983" y="5871370"/>
                </a:lnTo>
                <a:cubicBezTo>
                  <a:pt x="10123246" y="6867637"/>
                  <a:pt x="10372312" y="8328156"/>
                  <a:pt x="9874180" y="9556549"/>
                </a:cubicBezTo>
                <a:lnTo>
                  <a:pt x="9778004" y="9763772"/>
                </a:lnTo>
                <a:lnTo>
                  <a:pt x="0" y="9763772"/>
                </a:lnTo>
                <a:lnTo>
                  <a:pt x="0" y="544822"/>
                </a:lnTo>
                <a:lnTo>
                  <a:pt x="118296" y="470892"/>
                </a:lnTo>
                <a:cubicBezTo>
                  <a:pt x="649726" y="156965"/>
                  <a:pt x="1248205" y="0"/>
                  <a:pt x="1846679"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sz="750"/>
          </a:p>
        </p:txBody>
      </p:sp>
      <p:sp>
        <p:nvSpPr>
          <p:cNvPr id="21507" name="Заголовок 1"/>
          <p:cNvSpPr>
            <a:spLocks noGrp="1"/>
          </p:cNvSpPr>
          <p:nvPr>
            <p:ph type="title"/>
          </p:nvPr>
        </p:nvSpPr>
        <p:spPr>
          <a:xfrm>
            <a:off x="2212975" y="515939"/>
            <a:ext cx="7945438" cy="477837"/>
          </a:xfrm>
        </p:spPr>
        <p:txBody>
          <a:bodyPr/>
          <a:lstStyle/>
          <a:p>
            <a:pPr algn="l" defTabSz="914400" fontAlgn="base">
              <a:spcAft>
                <a:spcPct val="0"/>
              </a:spcAft>
              <a:tabLst>
                <a:tab pos="1365250" algn="l"/>
                <a:tab pos="2115820" algn="l"/>
              </a:tabLst>
              <a:defRPr/>
            </a:pPr>
            <a:r>
              <a:rPr lang="en-US" altLang="en-US" b="1" dirty="0">
                <a:solidFill>
                  <a:schemeClr val="tx1"/>
                </a:solidFill>
                <a:latin typeface="Times New Roman" panose="02020603050405020304" pitchFamily="18" charset="0"/>
                <a:ea typeface="SimSun" panose="02010600030101010101" pitchFamily="2" charset="-122"/>
                <a:cs typeface="Tahoma" panose="020B0604030504040204" charset="0"/>
              </a:rPr>
              <a:t>     References</a:t>
            </a:r>
            <a:endParaRPr lang="en-US" altLang="en-US" b="1" dirty="0">
              <a:solidFill>
                <a:schemeClr val="tx1"/>
              </a:solidFill>
              <a:latin typeface="Times New Roman" panose="02020603050405020304" pitchFamily="18" charset="0"/>
              <a:ea typeface="SimSun" panose="02010600030101010101" pitchFamily="2" charset="-122"/>
              <a:cs typeface="Tahoma" panose="020B0604030504040204" charset="0"/>
            </a:endParaRPr>
          </a:p>
        </p:txBody>
      </p:sp>
      <p:pic>
        <p:nvPicPr>
          <p:cNvPr id="15" name="Picture Placeholder 14"/>
          <p:cNvPicPr>
            <a:picLocks noGrp="1" noChangeAspect="1"/>
          </p:cNvPicPr>
          <p:nvPr>
            <p:ph type="pic" sz="quarter" idx="35"/>
          </p:nvPr>
        </p:nvPicPr>
        <p:blipFill>
          <a:blip r:embed="rId1"/>
          <a:srcRect l="559" r="559"/>
          <a:stretch>
            <a:fillRect/>
          </a:stretch>
        </p:blipFill>
        <p:spPr>
          <a:xfrm rot="10800000" flipV="1">
            <a:off x="1661979" y="2545294"/>
            <a:ext cx="3220784" cy="3220784"/>
          </a:xfrm>
        </p:spPr>
      </p:pic>
      <p:grpSp>
        <p:nvGrpSpPr>
          <p:cNvPr id="14342" name="Группа 14"/>
          <p:cNvGrpSpPr/>
          <p:nvPr/>
        </p:nvGrpSpPr>
        <p:grpSpPr bwMode="auto">
          <a:xfrm>
            <a:off x="5803900" y="2447926"/>
            <a:ext cx="541338" cy="434975"/>
            <a:chOff x="7238376" y="585921"/>
            <a:chExt cx="340828" cy="282136"/>
          </a:xfrm>
        </p:grpSpPr>
        <p:sp>
          <p:nvSpPr>
            <p:cNvPr id="14360" name="Freeform 1323"/>
            <p:cNvSpPr/>
            <p:nvPr/>
          </p:nvSpPr>
          <p:spPr bwMode="auto">
            <a:xfrm>
              <a:off x="7238376" y="633287"/>
              <a:ext cx="340828" cy="234770"/>
            </a:xfrm>
            <a:custGeom>
              <a:avLst/>
              <a:gdLst>
                <a:gd name="T0" fmla="*/ 2147483646 w 165"/>
                <a:gd name="T1" fmla="*/ 2147483646 h 114"/>
                <a:gd name="T2" fmla="*/ 2147483646 w 165"/>
                <a:gd name="T3" fmla="*/ 2147483646 h 114"/>
                <a:gd name="T4" fmla="*/ 2147483646 w 165"/>
                <a:gd name="T5" fmla="*/ 2147483646 h 114"/>
                <a:gd name="T6" fmla="*/ 0 w 165"/>
                <a:gd name="T7" fmla="*/ 2147483646 h 114"/>
                <a:gd name="T8" fmla="*/ 0 w 165"/>
                <a:gd name="T9" fmla="*/ 2147483646 h 114"/>
                <a:gd name="T10" fmla="*/ 2147483646 w 165"/>
                <a:gd name="T11" fmla="*/ 0 h 114"/>
                <a:gd name="T12" fmla="*/ 2147483646 w 165"/>
                <a:gd name="T13" fmla="*/ 0 h 114"/>
                <a:gd name="T14" fmla="*/ 2147483646 w 165"/>
                <a:gd name="T15" fmla="*/ 2147483646 h 114"/>
                <a:gd name="T16" fmla="*/ 2147483646 w 165"/>
                <a:gd name="T17" fmla="*/ 2147483646 h 1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5" h="114">
                  <a:moveTo>
                    <a:pt x="165" y="93"/>
                  </a:moveTo>
                  <a:cubicBezTo>
                    <a:pt x="165" y="104"/>
                    <a:pt x="156" y="114"/>
                    <a:pt x="144" y="114"/>
                  </a:cubicBezTo>
                  <a:cubicBezTo>
                    <a:pt x="21" y="114"/>
                    <a:pt x="21" y="114"/>
                    <a:pt x="21" y="114"/>
                  </a:cubicBezTo>
                  <a:cubicBezTo>
                    <a:pt x="9" y="114"/>
                    <a:pt x="0" y="104"/>
                    <a:pt x="0" y="93"/>
                  </a:cubicBezTo>
                  <a:cubicBezTo>
                    <a:pt x="0" y="21"/>
                    <a:pt x="0" y="21"/>
                    <a:pt x="0" y="21"/>
                  </a:cubicBezTo>
                  <a:cubicBezTo>
                    <a:pt x="0" y="10"/>
                    <a:pt x="9" y="0"/>
                    <a:pt x="21" y="0"/>
                  </a:cubicBezTo>
                  <a:cubicBezTo>
                    <a:pt x="144" y="0"/>
                    <a:pt x="144" y="0"/>
                    <a:pt x="144" y="0"/>
                  </a:cubicBezTo>
                  <a:cubicBezTo>
                    <a:pt x="156" y="0"/>
                    <a:pt x="165" y="10"/>
                    <a:pt x="165" y="21"/>
                  </a:cubicBezTo>
                  <a:lnTo>
                    <a:pt x="165" y="93"/>
                  </a:lnTo>
                  <a:close/>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sp>
          <p:nvSpPr>
            <p:cNvPr id="14361" name="Freeform 1324"/>
            <p:cNvSpPr/>
            <p:nvPr/>
          </p:nvSpPr>
          <p:spPr bwMode="auto">
            <a:xfrm>
              <a:off x="7353702" y="585921"/>
              <a:ext cx="109147" cy="47366"/>
            </a:xfrm>
            <a:custGeom>
              <a:avLst/>
              <a:gdLst>
                <a:gd name="T0" fmla="*/ 0 w 53"/>
                <a:gd name="T1" fmla="*/ 2147483646 h 23"/>
                <a:gd name="T2" fmla="*/ 0 w 53"/>
                <a:gd name="T3" fmla="*/ 2147483646 h 23"/>
                <a:gd name="T4" fmla="*/ 2147483646 w 53"/>
                <a:gd name="T5" fmla="*/ 0 h 23"/>
                <a:gd name="T6" fmla="*/ 2147483646 w 53"/>
                <a:gd name="T7" fmla="*/ 0 h 23"/>
                <a:gd name="T8" fmla="*/ 2147483646 w 53"/>
                <a:gd name="T9" fmla="*/ 2147483646 h 23"/>
                <a:gd name="T10" fmla="*/ 2147483646 w 53"/>
                <a:gd name="T11" fmla="*/ 2147483646 h 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3" h="23">
                  <a:moveTo>
                    <a:pt x="0" y="23"/>
                  </a:moveTo>
                  <a:cubicBezTo>
                    <a:pt x="0" y="11"/>
                    <a:pt x="0" y="11"/>
                    <a:pt x="0" y="11"/>
                  </a:cubicBezTo>
                  <a:cubicBezTo>
                    <a:pt x="0" y="5"/>
                    <a:pt x="5" y="0"/>
                    <a:pt x="11" y="0"/>
                  </a:cubicBezTo>
                  <a:cubicBezTo>
                    <a:pt x="42" y="0"/>
                    <a:pt x="42" y="0"/>
                    <a:pt x="42" y="0"/>
                  </a:cubicBezTo>
                  <a:cubicBezTo>
                    <a:pt x="48" y="0"/>
                    <a:pt x="53" y="5"/>
                    <a:pt x="53" y="11"/>
                  </a:cubicBezTo>
                  <a:cubicBezTo>
                    <a:pt x="53" y="23"/>
                    <a:pt x="53" y="23"/>
                    <a:pt x="53" y="23"/>
                  </a:cubicBezTo>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sp>
          <p:nvSpPr>
            <p:cNvPr id="14362" name="Line 1325"/>
            <p:cNvSpPr>
              <a:spLocks noChangeShapeType="1"/>
            </p:cNvSpPr>
            <p:nvPr/>
          </p:nvSpPr>
          <p:spPr bwMode="auto">
            <a:xfrm>
              <a:off x="7511245" y="725959"/>
              <a:ext cx="61782" cy="0"/>
            </a:xfrm>
            <a:prstGeom prst="line">
              <a:avLst/>
            </a:prstGeom>
            <a:noFill/>
            <a:ln w="38100" cap="rnd">
              <a:solidFill>
                <a:schemeClr val="bg1"/>
              </a:solidFill>
              <a:round/>
            </a:ln>
            <a:extLst>
              <a:ext uri="{909E8E84-426E-40DD-AFC4-6F175D3DCCD1}">
                <a14:hiddenFill xmlns:a14="http://schemas.microsoft.com/office/drawing/2010/main">
                  <a:noFill/>
                </a14:hiddenFill>
              </a:ext>
            </a:extLst>
          </p:spPr>
          <p:txBody>
            <a:bodyPr lIns="34286" tIns="17143" rIns="34286" bIns="17143"/>
            <a:lstStyle/>
            <a:p>
              <a:endParaRPr lang="en-US"/>
            </a:p>
          </p:txBody>
        </p:sp>
        <p:sp>
          <p:nvSpPr>
            <p:cNvPr id="14363" name="Line 1326"/>
            <p:cNvSpPr>
              <a:spLocks noChangeShapeType="1"/>
            </p:cNvSpPr>
            <p:nvPr/>
          </p:nvSpPr>
          <p:spPr bwMode="auto">
            <a:xfrm>
              <a:off x="7357821" y="725959"/>
              <a:ext cx="100910" cy="0"/>
            </a:xfrm>
            <a:prstGeom prst="line">
              <a:avLst/>
            </a:prstGeom>
            <a:noFill/>
            <a:ln w="38100" cap="rnd">
              <a:solidFill>
                <a:schemeClr val="bg1"/>
              </a:solidFill>
              <a:round/>
            </a:ln>
            <a:extLst>
              <a:ext uri="{909E8E84-426E-40DD-AFC4-6F175D3DCCD1}">
                <a14:hiddenFill xmlns:a14="http://schemas.microsoft.com/office/drawing/2010/main">
                  <a:noFill/>
                </a14:hiddenFill>
              </a:ext>
            </a:extLst>
          </p:spPr>
          <p:txBody>
            <a:bodyPr lIns="34286" tIns="17143" rIns="34286" bIns="17143"/>
            <a:lstStyle/>
            <a:p>
              <a:endParaRPr lang="en-US"/>
            </a:p>
          </p:txBody>
        </p:sp>
        <p:sp>
          <p:nvSpPr>
            <p:cNvPr id="14364" name="Line 1327"/>
            <p:cNvSpPr>
              <a:spLocks noChangeShapeType="1"/>
            </p:cNvSpPr>
            <p:nvPr/>
          </p:nvSpPr>
          <p:spPr bwMode="auto">
            <a:xfrm>
              <a:off x="7240436" y="725959"/>
              <a:ext cx="67960" cy="0"/>
            </a:xfrm>
            <a:prstGeom prst="line">
              <a:avLst/>
            </a:prstGeom>
            <a:noFill/>
            <a:ln w="38100" cap="rnd">
              <a:solidFill>
                <a:schemeClr val="bg1"/>
              </a:solidFill>
              <a:round/>
            </a:ln>
            <a:extLst>
              <a:ext uri="{909E8E84-426E-40DD-AFC4-6F175D3DCCD1}">
                <a14:hiddenFill xmlns:a14="http://schemas.microsoft.com/office/drawing/2010/main">
                  <a:noFill/>
                </a14:hiddenFill>
              </a:ext>
            </a:extLst>
          </p:spPr>
          <p:txBody>
            <a:bodyPr lIns="34286" tIns="17143" rIns="34286" bIns="17143"/>
            <a:lstStyle/>
            <a:p>
              <a:endParaRPr lang="en-US"/>
            </a:p>
          </p:txBody>
        </p:sp>
        <p:sp>
          <p:nvSpPr>
            <p:cNvPr id="14365" name="Freeform 1328"/>
            <p:cNvSpPr/>
            <p:nvPr/>
          </p:nvSpPr>
          <p:spPr bwMode="auto">
            <a:xfrm>
              <a:off x="7314574" y="707425"/>
              <a:ext cx="37069" cy="37069"/>
            </a:xfrm>
            <a:custGeom>
              <a:avLst/>
              <a:gdLst>
                <a:gd name="T0" fmla="*/ 2147483646 w 18"/>
                <a:gd name="T1" fmla="*/ 2147483646 h 18"/>
                <a:gd name="T2" fmla="*/ 2147483646 w 18"/>
                <a:gd name="T3" fmla="*/ 2147483646 h 18"/>
                <a:gd name="T4" fmla="*/ 2147483646 w 18"/>
                <a:gd name="T5" fmla="*/ 2147483646 h 18"/>
                <a:gd name="T6" fmla="*/ 0 w 18"/>
                <a:gd name="T7" fmla="*/ 2147483646 h 18"/>
                <a:gd name="T8" fmla="*/ 0 w 18"/>
                <a:gd name="T9" fmla="*/ 2147483646 h 18"/>
                <a:gd name="T10" fmla="*/ 2147483646 w 18"/>
                <a:gd name="T11" fmla="*/ 0 h 18"/>
                <a:gd name="T12" fmla="*/ 2147483646 w 18"/>
                <a:gd name="T13" fmla="*/ 0 h 18"/>
                <a:gd name="T14" fmla="*/ 2147483646 w 18"/>
                <a:gd name="T15" fmla="*/ 2147483646 h 18"/>
                <a:gd name="T16" fmla="*/ 2147483646 w 18"/>
                <a:gd name="T17" fmla="*/ 2147483646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 h="18">
                  <a:moveTo>
                    <a:pt x="18" y="13"/>
                  </a:moveTo>
                  <a:cubicBezTo>
                    <a:pt x="18" y="16"/>
                    <a:pt x="15" y="18"/>
                    <a:pt x="12" y="18"/>
                  </a:cubicBezTo>
                  <a:cubicBezTo>
                    <a:pt x="5" y="18"/>
                    <a:pt x="5" y="18"/>
                    <a:pt x="5" y="18"/>
                  </a:cubicBezTo>
                  <a:cubicBezTo>
                    <a:pt x="2" y="18"/>
                    <a:pt x="0" y="16"/>
                    <a:pt x="0" y="13"/>
                  </a:cubicBezTo>
                  <a:cubicBezTo>
                    <a:pt x="0" y="6"/>
                    <a:pt x="0" y="6"/>
                    <a:pt x="0" y="6"/>
                  </a:cubicBezTo>
                  <a:cubicBezTo>
                    <a:pt x="0" y="3"/>
                    <a:pt x="2" y="0"/>
                    <a:pt x="5" y="0"/>
                  </a:cubicBezTo>
                  <a:cubicBezTo>
                    <a:pt x="12" y="0"/>
                    <a:pt x="12" y="0"/>
                    <a:pt x="12" y="0"/>
                  </a:cubicBezTo>
                  <a:cubicBezTo>
                    <a:pt x="15" y="0"/>
                    <a:pt x="18" y="3"/>
                    <a:pt x="18" y="6"/>
                  </a:cubicBezTo>
                  <a:lnTo>
                    <a:pt x="18" y="13"/>
                  </a:lnTo>
                  <a:close/>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sp>
          <p:nvSpPr>
            <p:cNvPr id="14366" name="Freeform 1329"/>
            <p:cNvSpPr/>
            <p:nvPr/>
          </p:nvSpPr>
          <p:spPr bwMode="auto">
            <a:xfrm>
              <a:off x="7273386" y="728019"/>
              <a:ext cx="117385" cy="102969"/>
            </a:xfrm>
            <a:custGeom>
              <a:avLst/>
              <a:gdLst>
                <a:gd name="T0" fmla="*/ 2147483646 w 57"/>
                <a:gd name="T1" fmla="*/ 0 h 50"/>
                <a:gd name="T2" fmla="*/ 2147483646 w 57"/>
                <a:gd name="T3" fmla="*/ 2147483646 h 50"/>
                <a:gd name="T4" fmla="*/ 2147483646 w 57"/>
                <a:gd name="T5" fmla="*/ 2147483646 h 50"/>
                <a:gd name="T6" fmla="*/ 2147483646 w 57"/>
                <a:gd name="T7" fmla="*/ 2147483646 h 50"/>
                <a:gd name="T8" fmla="*/ 0 w 57"/>
                <a:gd name="T9" fmla="*/ 2147483646 h 50"/>
                <a:gd name="T10" fmla="*/ 0 w 57"/>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50">
                  <a:moveTo>
                    <a:pt x="57" y="0"/>
                  </a:moveTo>
                  <a:cubicBezTo>
                    <a:pt x="57" y="34"/>
                    <a:pt x="57" y="34"/>
                    <a:pt x="57" y="34"/>
                  </a:cubicBezTo>
                  <a:cubicBezTo>
                    <a:pt x="57" y="41"/>
                    <a:pt x="48" y="50"/>
                    <a:pt x="41" y="50"/>
                  </a:cubicBezTo>
                  <a:cubicBezTo>
                    <a:pt x="16" y="50"/>
                    <a:pt x="16" y="50"/>
                    <a:pt x="16" y="50"/>
                  </a:cubicBezTo>
                  <a:cubicBezTo>
                    <a:pt x="10" y="50"/>
                    <a:pt x="0" y="41"/>
                    <a:pt x="0" y="34"/>
                  </a:cubicBezTo>
                  <a:cubicBezTo>
                    <a:pt x="0" y="0"/>
                    <a:pt x="0" y="0"/>
                    <a:pt x="0" y="0"/>
                  </a:cubicBezTo>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sp>
          <p:nvSpPr>
            <p:cNvPr id="14367" name="Freeform 1330"/>
            <p:cNvSpPr/>
            <p:nvPr/>
          </p:nvSpPr>
          <p:spPr bwMode="auto">
            <a:xfrm>
              <a:off x="7464909" y="707425"/>
              <a:ext cx="38099" cy="37069"/>
            </a:xfrm>
            <a:custGeom>
              <a:avLst/>
              <a:gdLst>
                <a:gd name="T0" fmla="*/ 2147483646 w 18"/>
                <a:gd name="T1" fmla="*/ 2147483646 h 18"/>
                <a:gd name="T2" fmla="*/ 2147483646 w 18"/>
                <a:gd name="T3" fmla="*/ 2147483646 h 18"/>
                <a:gd name="T4" fmla="*/ 2147483646 w 18"/>
                <a:gd name="T5" fmla="*/ 2147483646 h 18"/>
                <a:gd name="T6" fmla="*/ 0 w 18"/>
                <a:gd name="T7" fmla="*/ 2147483646 h 18"/>
                <a:gd name="T8" fmla="*/ 0 w 18"/>
                <a:gd name="T9" fmla="*/ 2147483646 h 18"/>
                <a:gd name="T10" fmla="*/ 2147483646 w 18"/>
                <a:gd name="T11" fmla="*/ 0 h 18"/>
                <a:gd name="T12" fmla="*/ 2147483646 w 18"/>
                <a:gd name="T13" fmla="*/ 0 h 18"/>
                <a:gd name="T14" fmla="*/ 2147483646 w 18"/>
                <a:gd name="T15" fmla="*/ 2147483646 h 18"/>
                <a:gd name="T16" fmla="*/ 2147483646 w 18"/>
                <a:gd name="T17" fmla="*/ 2147483646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 h="18">
                  <a:moveTo>
                    <a:pt x="18" y="13"/>
                  </a:moveTo>
                  <a:cubicBezTo>
                    <a:pt x="18" y="16"/>
                    <a:pt x="16" y="18"/>
                    <a:pt x="13" y="18"/>
                  </a:cubicBezTo>
                  <a:cubicBezTo>
                    <a:pt x="5" y="18"/>
                    <a:pt x="5" y="18"/>
                    <a:pt x="5" y="18"/>
                  </a:cubicBezTo>
                  <a:cubicBezTo>
                    <a:pt x="3" y="18"/>
                    <a:pt x="0" y="16"/>
                    <a:pt x="0" y="13"/>
                  </a:cubicBezTo>
                  <a:cubicBezTo>
                    <a:pt x="0" y="6"/>
                    <a:pt x="0" y="6"/>
                    <a:pt x="0" y="6"/>
                  </a:cubicBezTo>
                  <a:cubicBezTo>
                    <a:pt x="0" y="3"/>
                    <a:pt x="3" y="0"/>
                    <a:pt x="5" y="0"/>
                  </a:cubicBezTo>
                  <a:cubicBezTo>
                    <a:pt x="13" y="0"/>
                    <a:pt x="13" y="0"/>
                    <a:pt x="13" y="0"/>
                  </a:cubicBezTo>
                  <a:cubicBezTo>
                    <a:pt x="16" y="0"/>
                    <a:pt x="18" y="3"/>
                    <a:pt x="18" y="6"/>
                  </a:cubicBezTo>
                  <a:lnTo>
                    <a:pt x="18" y="13"/>
                  </a:lnTo>
                  <a:close/>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sp>
          <p:nvSpPr>
            <p:cNvPr id="14368" name="Freeform 1331"/>
            <p:cNvSpPr/>
            <p:nvPr/>
          </p:nvSpPr>
          <p:spPr bwMode="auto">
            <a:xfrm>
              <a:off x="7425780" y="728019"/>
              <a:ext cx="118415" cy="102969"/>
            </a:xfrm>
            <a:custGeom>
              <a:avLst/>
              <a:gdLst>
                <a:gd name="T0" fmla="*/ 2147483646 w 57"/>
                <a:gd name="T1" fmla="*/ 0 h 50"/>
                <a:gd name="T2" fmla="*/ 2147483646 w 57"/>
                <a:gd name="T3" fmla="*/ 2147483646 h 50"/>
                <a:gd name="T4" fmla="*/ 2147483646 w 57"/>
                <a:gd name="T5" fmla="*/ 2147483646 h 50"/>
                <a:gd name="T6" fmla="*/ 2147483646 w 57"/>
                <a:gd name="T7" fmla="*/ 2147483646 h 50"/>
                <a:gd name="T8" fmla="*/ 0 w 57"/>
                <a:gd name="T9" fmla="*/ 2147483646 h 50"/>
                <a:gd name="T10" fmla="*/ 0 w 57"/>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50">
                  <a:moveTo>
                    <a:pt x="57" y="0"/>
                  </a:moveTo>
                  <a:cubicBezTo>
                    <a:pt x="57" y="34"/>
                    <a:pt x="57" y="34"/>
                    <a:pt x="57" y="34"/>
                  </a:cubicBezTo>
                  <a:cubicBezTo>
                    <a:pt x="57" y="41"/>
                    <a:pt x="51" y="50"/>
                    <a:pt x="45" y="50"/>
                  </a:cubicBezTo>
                  <a:cubicBezTo>
                    <a:pt x="12" y="50"/>
                    <a:pt x="12" y="50"/>
                    <a:pt x="12" y="50"/>
                  </a:cubicBezTo>
                  <a:cubicBezTo>
                    <a:pt x="5" y="50"/>
                    <a:pt x="0" y="41"/>
                    <a:pt x="0" y="34"/>
                  </a:cubicBezTo>
                  <a:cubicBezTo>
                    <a:pt x="0" y="0"/>
                    <a:pt x="0" y="0"/>
                    <a:pt x="0" y="0"/>
                  </a:cubicBezTo>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grpSp>
      <p:grpSp>
        <p:nvGrpSpPr>
          <p:cNvPr id="14343" name="Группа 27"/>
          <p:cNvGrpSpPr/>
          <p:nvPr/>
        </p:nvGrpSpPr>
        <p:grpSpPr bwMode="auto">
          <a:xfrm>
            <a:off x="9394826" y="2530476"/>
            <a:ext cx="485775" cy="447675"/>
            <a:chOff x="10999245" y="1615112"/>
            <a:chExt cx="802921" cy="762365"/>
          </a:xfrm>
        </p:grpSpPr>
        <p:sp>
          <p:nvSpPr>
            <p:cNvPr id="14354" name="Freeform 1246"/>
            <p:cNvSpPr/>
            <p:nvPr/>
          </p:nvSpPr>
          <p:spPr bwMode="auto">
            <a:xfrm>
              <a:off x="10999245" y="1863826"/>
              <a:ext cx="802921" cy="513651"/>
            </a:xfrm>
            <a:custGeom>
              <a:avLst/>
              <a:gdLst>
                <a:gd name="T0" fmla="*/ 2147483646 w 148"/>
                <a:gd name="T1" fmla="*/ 2147483646 h 95"/>
                <a:gd name="T2" fmla="*/ 2147483646 w 148"/>
                <a:gd name="T3" fmla="*/ 0 h 95"/>
                <a:gd name="T4" fmla="*/ 2147483646 w 148"/>
                <a:gd name="T5" fmla="*/ 0 h 95"/>
                <a:gd name="T6" fmla="*/ 2147483646 w 148"/>
                <a:gd name="T7" fmla="*/ 0 h 95"/>
                <a:gd name="T8" fmla="*/ 2147483646 w 148"/>
                <a:gd name="T9" fmla="*/ 0 h 95"/>
                <a:gd name="T10" fmla="*/ 2147483646 w 148"/>
                <a:gd name="T11" fmla="*/ 2147483646 h 95"/>
                <a:gd name="T12" fmla="*/ 2147483646 w 148"/>
                <a:gd name="T13" fmla="*/ 2147483646 h 95"/>
                <a:gd name="T14" fmla="*/ 2147483646 w 148"/>
                <a:gd name="T15" fmla="*/ 2147483646 h 95"/>
                <a:gd name="T16" fmla="*/ 2147483646 w 148"/>
                <a:gd name="T17" fmla="*/ 2147483646 h 95"/>
                <a:gd name="T18" fmla="*/ 2147483646 w 148"/>
                <a:gd name="T19" fmla="*/ 2147483646 h 95"/>
                <a:gd name="T20" fmla="*/ 2147483646 w 148"/>
                <a:gd name="T21" fmla="*/ 2147483646 h 95"/>
                <a:gd name="T22" fmla="*/ 2147483646 w 148"/>
                <a:gd name="T23" fmla="*/ 2147483646 h 95"/>
                <a:gd name="T24" fmla="*/ 2147483646 w 148"/>
                <a:gd name="T25" fmla="*/ 2147483646 h 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8" h="95">
                  <a:moveTo>
                    <a:pt x="131" y="28"/>
                  </a:moveTo>
                  <a:cubicBezTo>
                    <a:pt x="117" y="1"/>
                    <a:pt x="97" y="0"/>
                    <a:pt x="97" y="0"/>
                  </a:cubicBezTo>
                  <a:cubicBezTo>
                    <a:pt x="80" y="0"/>
                    <a:pt x="80" y="0"/>
                    <a:pt x="80" y="0"/>
                  </a:cubicBezTo>
                  <a:cubicBezTo>
                    <a:pt x="75" y="0"/>
                    <a:pt x="75" y="0"/>
                    <a:pt x="75" y="0"/>
                  </a:cubicBezTo>
                  <a:cubicBezTo>
                    <a:pt x="50" y="0"/>
                    <a:pt x="50" y="0"/>
                    <a:pt x="50" y="0"/>
                  </a:cubicBezTo>
                  <a:cubicBezTo>
                    <a:pt x="50" y="0"/>
                    <a:pt x="31" y="1"/>
                    <a:pt x="17" y="28"/>
                  </a:cubicBezTo>
                  <a:cubicBezTo>
                    <a:pt x="2" y="55"/>
                    <a:pt x="0" y="95"/>
                    <a:pt x="48" y="95"/>
                  </a:cubicBezTo>
                  <a:cubicBezTo>
                    <a:pt x="48" y="95"/>
                    <a:pt x="48" y="95"/>
                    <a:pt x="48" y="95"/>
                  </a:cubicBezTo>
                  <a:cubicBezTo>
                    <a:pt x="49" y="95"/>
                    <a:pt x="49" y="95"/>
                    <a:pt x="49" y="95"/>
                  </a:cubicBezTo>
                  <a:cubicBezTo>
                    <a:pt x="50" y="95"/>
                    <a:pt x="65" y="95"/>
                    <a:pt x="99" y="95"/>
                  </a:cubicBezTo>
                  <a:cubicBezTo>
                    <a:pt x="99" y="95"/>
                    <a:pt x="99" y="95"/>
                    <a:pt x="99" y="95"/>
                  </a:cubicBezTo>
                  <a:cubicBezTo>
                    <a:pt x="99" y="95"/>
                    <a:pt x="99" y="95"/>
                    <a:pt x="99" y="95"/>
                  </a:cubicBezTo>
                  <a:cubicBezTo>
                    <a:pt x="148" y="95"/>
                    <a:pt x="146" y="55"/>
                    <a:pt x="131" y="28"/>
                  </a:cubicBezTo>
                  <a:close/>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sp>
          <p:nvSpPr>
            <p:cNvPr id="14355" name="Freeform 1247"/>
            <p:cNvSpPr/>
            <p:nvPr/>
          </p:nvSpPr>
          <p:spPr bwMode="auto">
            <a:xfrm>
              <a:off x="11037094" y="1793537"/>
              <a:ext cx="727223" cy="210868"/>
            </a:xfrm>
            <a:custGeom>
              <a:avLst/>
              <a:gdLst>
                <a:gd name="T0" fmla="*/ 2147483646 w 134"/>
                <a:gd name="T1" fmla="*/ 2147483646 h 39"/>
                <a:gd name="T2" fmla="*/ 2147483646 w 134"/>
                <a:gd name="T3" fmla="*/ 2147483646 h 39"/>
                <a:gd name="T4" fmla="*/ 2147483646 w 134"/>
                <a:gd name="T5" fmla="*/ 0 h 39"/>
                <a:gd name="T6" fmla="*/ 2147483646 w 134"/>
                <a:gd name="T7" fmla="*/ 0 h 39"/>
                <a:gd name="T8" fmla="*/ 0 w 134"/>
                <a:gd name="T9" fmla="*/ 2147483646 h 39"/>
                <a:gd name="T10" fmla="*/ 2147483646 w 134"/>
                <a:gd name="T11" fmla="*/ 2147483646 h 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4" h="39">
                  <a:moveTo>
                    <a:pt x="123" y="39"/>
                  </a:moveTo>
                  <a:cubicBezTo>
                    <a:pt x="134" y="32"/>
                    <a:pt x="134" y="32"/>
                    <a:pt x="134" y="32"/>
                  </a:cubicBezTo>
                  <a:cubicBezTo>
                    <a:pt x="117" y="2"/>
                    <a:pt x="94" y="0"/>
                    <a:pt x="91" y="0"/>
                  </a:cubicBezTo>
                  <a:cubicBezTo>
                    <a:pt x="91" y="0"/>
                    <a:pt x="43" y="0"/>
                    <a:pt x="43" y="0"/>
                  </a:cubicBezTo>
                  <a:cubicBezTo>
                    <a:pt x="40" y="0"/>
                    <a:pt x="17" y="2"/>
                    <a:pt x="0" y="32"/>
                  </a:cubicBezTo>
                  <a:cubicBezTo>
                    <a:pt x="11" y="39"/>
                    <a:pt x="11" y="39"/>
                    <a:pt x="11" y="39"/>
                  </a:cubicBezTo>
                </a:path>
              </a:pathLst>
            </a:custGeom>
            <a:noFill/>
            <a:ln w="3810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lIns="34286" tIns="17143" rIns="34286" bIns="17143"/>
            <a:lstStyle/>
            <a:p>
              <a:endParaRPr lang="en-US"/>
            </a:p>
          </p:txBody>
        </p:sp>
        <p:sp>
          <p:nvSpPr>
            <p:cNvPr id="14356" name="Oval 1248"/>
            <p:cNvSpPr>
              <a:spLocks noChangeArrowheads="1"/>
            </p:cNvSpPr>
            <p:nvPr/>
          </p:nvSpPr>
          <p:spPr bwMode="auto">
            <a:xfrm>
              <a:off x="11304732" y="1615112"/>
              <a:ext cx="97324" cy="97324"/>
            </a:xfrm>
            <a:prstGeom prst="ellipse">
              <a:avLst/>
            </a:prstGeom>
            <a:noFill/>
            <a:ln w="38100" cap="rnd">
              <a:solidFill>
                <a:schemeClr val="bg1"/>
              </a:solidFill>
              <a:round/>
            </a:ln>
            <a:extLst>
              <a:ext uri="{909E8E84-426E-40DD-AFC4-6F175D3DCCD1}">
                <a14:hiddenFill xmlns:a14="http://schemas.microsoft.com/office/drawing/2010/main">
                  <a:solidFill>
                    <a:srgbClr val="FFFFFF"/>
                  </a:solidFill>
                </a14:hiddenFill>
              </a:ext>
            </a:extLst>
          </p:spPr>
          <p:txBody>
            <a:bodyPr lIns="34286" tIns="17143" rIns="34286" bIns="17143"/>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200">
                <a:latin typeface="Times New Roman" panose="02020603050405020304" pitchFamily="18" charset="0"/>
                <a:ea typeface="SimSun" panose="02010600030101010101" pitchFamily="2" charset="-122"/>
              </a:endParaRPr>
            </a:p>
          </p:txBody>
        </p:sp>
        <p:sp>
          <p:nvSpPr>
            <p:cNvPr id="14357" name="Oval 1249"/>
            <p:cNvSpPr>
              <a:spLocks noChangeArrowheads="1"/>
            </p:cNvSpPr>
            <p:nvPr/>
          </p:nvSpPr>
          <p:spPr bwMode="auto">
            <a:xfrm>
              <a:off x="11402056" y="1615112"/>
              <a:ext cx="97324" cy="97324"/>
            </a:xfrm>
            <a:prstGeom prst="ellipse">
              <a:avLst/>
            </a:prstGeom>
            <a:noFill/>
            <a:ln w="38100" cap="rnd">
              <a:solidFill>
                <a:schemeClr val="bg1"/>
              </a:solidFill>
              <a:round/>
            </a:ln>
            <a:extLst>
              <a:ext uri="{909E8E84-426E-40DD-AFC4-6F175D3DCCD1}">
                <a14:hiddenFill xmlns:a14="http://schemas.microsoft.com/office/drawing/2010/main">
                  <a:solidFill>
                    <a:srgbClr val="FFFFFF"/>
                  </a:solidFill>
                </a14:hiddenFill>
              </a:ext>
            </a:extLst>
          </p:spPr>
          <p:txBody>
            <a:bodyPr lIns="34286" tIns="17143" rIns="34286" bIns="17143"/>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endParaRPr lang="en-US" altLang="en-US" sz="1200">
                <a:latin typeface="Times New Roman" panose="02020603050405020304" pitchFamily="18" charset="0"/>
                <a:ea typeface="SimSun" panose="02010600030101010101" pitchFamily="2" charset="-122"/>
              </a:endParaRPr>
            </a:p>
          </p:txBody>
        </p:sp>
        <p:sp>
          <p:nvSpPr>
            <p:cNvPr id="14358" name="Line 1250"/>
            <p:cNvSpPr>
              <a:spLocks noChangeShapeType="1"/>
            </p:cNvSpPr>
            <p:nvPr/>
          </p:nvSpPr>
          <p:spPr bwMode="auto">
            <a:xfrm>
              <a:off x="11450717" y="1712436"/>
              <a:ext cx="37849" cy="64883"/>
            </a:xfrm>
            <a:prstGeom prst="line">
              <a:avLst/>
            </a:prstGeom>
            <a:noFill/>
            <a:ln w="38100" cap="rnd">
              <a:solidFill>
                <a:schemeClr val="bg1"/>
              </a:solidFill>
              <a:round/>
            </a:ln>
            <a:extLst>
              <a:ext uri="{909E8E84-426E-40DD-AFC4-6F175D3DCCD1}">
                <a14:hiddenFill xmlns:a14="http://schemas.microsoft.com/office/drawing/2010/main">
                  <a:noFill/>
                </a14:hiddenFill>
              </a:ext>
            </a:extLst>
          </p:spPr>
          <p:txBody>
            <a:bodyPr lIns="34286" tIns="17143" rIns="34286" bIns="17143"/>
            <a:lstStyle/>
            <a:p>
              <a:endParaRPr lang="en-US"/>
            </a:p>
          </p:txBody>
        </p:sp>
        <p:sp>
          <p:nvSpPr>
            <p:cNvPr id="14359" name="Line 1251"/>
            <p:cNvSpPr>
              <a:spLocks noChangeShapeType="1"/>
            </p:cNvSpPr>
            <p:nvPr/>
          </p:nvSpPr>
          <p:spPr bwMode="auto">
            <a:xfrm flipH="1">
              <a:off x="11315547" y="1712436"/>
              <a:ext cx="37849" cy="64883"/>
            </a:xfrm>
            <a:prstGeom prst="line">
              <a:avLst/>
            </a:prstGeom>
            <a:noFill/>
            <a:ln w="38100" cap="rnd">
              <a:solidFill>
                <a:schemeClr val="bg1"/>
              </a:solidFill>
              <a:round/>
            </a:ln>
            <a:extLst>
              <a:ext uri="{909E8E84-426E-40DD-AFC4-6F175D3DCCD1}">
                <a14:hiddenFill xmlns:a14="http://schemas.microsoft.com/office/drawing/2010/main">
                  <a:noFill/>
                </a14:hiddenFill>
              </a:ext>
            </a:extLst>
          </p:spPr>
          <p:txBody>
            <a:bodyPr lIns="34286" tIns="17143" rIns="34286" bIns="17143"/>
            <a:lstStyle/>
            <a:p>
              <a:endParaRPr lang="en-US"/>
            </a:p>
          </p:txBody>
        </p:sp>
      </p:grpSp>
      <p:grpSp>
        <p:nvGrpSpPr>
          <p:cNvPr id="14344" name="Группа 58"/>
          <p:cNvGrpSpPr/>
          <p:nvPr/>
        </p:nvGrpSpPr>
        <p:grpSpPr bwMode="auto">
          <a:xfrm>
            <a:off x="1662114" y="857251"/>
            <a:ext cx="860425" cy="860425"/>
            <a:chOff x="1230385" y="6391200"/>
            <a:chExt cx="1725167" cy="1725167"/>
          </a:xfrm>
        </p:grpSpPr>
        <p:sp>
          <p:nvSpPr>
            <p:cNvPr id="36" name="Овал 59"/>
            <p:cNvSpPr/>
            <p:nvPr/>
          </p:nvSpPr>
          <p:spPr>
            <a:xfrm>
              <a:off x="1230385" y="6391200"/>
              <a:ext cx="1725167" cy="172516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sz="750"/>
            </a:p>
          </p:txBody>
        </p:sp>
        <p:grpSp>
          <p:nvGrpSpPr>
            <p:cNvPr id="14349" name="Группа 60"/>
            <p:cNvGrpSpPr/>
            <p:nvPr/>
          </p:nvGrpSpPr>
          <p:grpSpPr bwMode="auto">
            <a:xfrm>
              <a:off x="1609729" y="6870167"/>
              <a:ext cx="966478" cy="767232"/>
              <a:chOff x="8036388" y="2641187"/>
              <a:chExt cx="334650" cy="265660"/>
            </a:xfrm>
          </p:grpSpPr>
          <p:sp>
            <p:nvSpPr>
              <p:cNvPr id="38" name="Freeform 1970"/>
              <p:cNvSpPr/>
              <p:nvPr/>
            </p:nvSpPr>
            <p:spPr bwMode="auto">
              <a:xfrm>
                <a:off x="8104522" y="2640660"/>
                <a:ext cx="198382" cy="186260"/>
              </a:xfrm>
              <a:custGeom>
                <a:avLst/>
                <a:gdLst>
                  <a:gd name="T0" fmla="*/ 0 w 96"/>
                  <a:gd name="T1" fmla="*/ 3 h 90"/>
                  <a:gd name="T2" fmla="*/ 48 w 96"/>
                  <a:gd name="T3" fmla="*/ 90 h 90"/>
                  <a:gd name="T4" fmla="*/ 96 w 96"/>
                  <a:gd name="T5" fmla="*/ 3 h 90"/>
                  <a:gd name="T6" fmla="*/ 96 w 96"/>
                  <a:gd name="T7" fmla="*/ 0 h 90"/>
                  <a:gd name="T8" fmla="*/ 0 w 96"/>
                  <a:gd name="T9" fmla="*/ 0 h 90"/>
                  <a:gd name="T10" fmla="*/ 0 w 96"/>
                  <a:gd name="T11" fmla="*/ 3 h 90"/>
                </a:gdLst>
                <a:ahLst/>
                <a:cxnLst>
                  <a:cxn ang="0">
                    <a:pos x="T0" y="T1"/>
                  </a:cxn>
                  <a:cxn ang="0">
                    <a:pos x="T2" y="T3"/>
                  </a:cxn>
                  <a:cxn ang="0">
                    <a:pos x="T4" y="T5"/>
                  </a:cxn>
                  <a:cxn ang="0">
                    <a:pos x="T6" y="T7"/>
                  </a:cxn>
                  <a:cxn ang="0">
                    <a:pos x="T8" y="T9"/>
                  </a:cxn>
                  <a:cxn ang="0">
                    <a:pos x="T10" y="T11"/>
                  </a:cxn>
                </a:cxnLst>
                <a:rect l="0" t="0" r="r" b="b"/>
                <a:pathLst>
                  <a:path w="96" h="90">
                    <a:moveTo>
                      <a:pt x="0" y="3"/>
                    </a:moveTo>
                    <a:cubicBezTo>
                      <a:pt x="0" y="51"/>
                      <a:pt x="21" y="90"/>
                      <a:pt x="48" y="90"/>
                    </a:cubicBezTo>
                    <a:cubicBezTo>
                      <a:pt x="75" y="90"/>
                      <a:pt x="96" y="51"/>
                      <a:pt x="96" y="3"/>
                    </a:cubicBezTo>
                    <a:cubicBezTo>
                      <a:pt x="96" y="2"/>
                      <a:pt x="96" y="1"/>
                      <a:pt x="96" y="0"/>
                    </a:cubicBezTo>
                    <a:cubicBezTo>
                      <a:pt x="0" y="0"/>
                      <a:pt x="0" y="0"/>
                      <a:pt x="0" y="0"/>
                    </a:cubicBezTo>
                    <a:cubicBezTo>
                      <a:pt x="0" y="1"/>
                      <a:pt x="0" y="2"/>
                      <a:pt x="0" y="3"/>
                    </a:cubicBezTo>
                    <a:close/>
                  </a:path>
                </a:pathLst>
              </a:custGeom>
              <a:noFill/>
              <a:ln w="38100" cap="rnd">
                <a:solidFill>
                  <a:schemeClr val="bg2"/>
                </a:solidFill>
                <a:prstDash val="solid"/>
                <a:round/>
              </a:ln>
            </p:spPr>
            <p:txBody>
              <a:bodyPr lIns="34288" tIns="17144" rIns="34288" bIns="17144"/>
              <a:lstStyle/>
              <a:p>
                <a:pPr>
                  <a:defRPr/>
                </a:pPr>
                <a:endParaRPr lang="en-US" sz="750"/>
              </a:p>
            </p:txBody>
          </p:sp>
          <p:sp>
            <p:nvSpPr>
              <p:cNvPr id="39" name="Freeform 1971"/>
              <p:cNvSpPr/>
              <p:nvPr/>
            </p:nvSpPr>
            <p:spPr bwMode="auto">
              <a:xfrm>
                <a:off x="8036190" y="2685848"/>
                <a:ext cx="335046" cy="141072"/>
              </a:xfrm>
              <a:custGeom>
                <a:avLst/>
                <a:gdLst>
                  <a:gd name="T0" fmla="*/ 32 w 162"/>
                  <a:gd name="T1" fmla="*/ 0 h 68"/>
                  <a:gd name="T2" fmla="*/ 0 w 162"/>
                  <a:gd name="T3" fmla="*/ 0 h 68"/>
                  <a:gd name="T4" fmla="*/ 81 w 162"/>
                  <a:gd name="T5" fmla="*/ 68 h 68"/>
                  <a:gd name="T6" fmla="*/ 162 w 162"/>
                  <a:gd name="T7" fmla="*/ 0 h 68"/>
                  <a:gd name="T8" fmla="*/ 131 w 162"/>
                  <a:gd name="T9" fmla="*/ 0 h 68"/>
                </a:gdLst>
                <a:ahLst/>
                <a:cxnLst>
                  <a:cxn ang="0">
                    <a:pos x="T0" y="T1"/>
                  </a:cxn>
                  <a:cxn ang="0">
                    <a:pos x="T2" y="T3"/>
                  </a:cxn>
                  <a:cxn ang="0">
                    <a:pos x="T4" y="T5"/>
                  </a:cxn>
                  <a:cxn ang="0">
                    <a:pos x="T6" y="T7"/>
                  </a:cxn>
                  <a:cxn ang="0">
                    <a:pos x="T8" y="T9"/>
                  </a:cxn>
                </a:cxnLst>
                <a:rect l="0" t="0" r="r" b="b"/>
                <a:pathLst>
                  <a:path w="162" h="68">
                    <a:moveTo>
                      <a:pt x="32" y="0"/>
                    </a:moveTo>
                    <a:cubicBezTo>
                      <a:pt x="0" y="0"/>
                      <a:pt x="0" y="0"/>
                      <a:pt x="0" y="0"/>
                    </a:cubicBezTo>
                    <a:cubicBezTo>
                      <a:pt x="8" y="39"/>
                      <a:pt x="41" y="68"/>
                      <a:pt x="81" y="68"/>
                    </a:cubicBezTo>
                    <a:cubicBezTo>
                      <a:pt x="121" y="68"/>
                      <a:pt x="154" y="39"/>
                      <a:pt x="162" y="0"/>
                    </a:cubicBezTo>
                    <a:cubicBezTo>
                      <a:pt x="131" y="0"/>
                      <a:pt x="131" y="0"/>
                      <a:pt x="131" y="0"/>
                    </a:cubicBezTo>
                  </a:path>
                </a:pathLst>
              </a:custGeom>
              <a:noFill/>
              <a:ln w="38100" cap="rnd">
                <a:solidFill>
                  <a:schemeClr val="bg2"/>
                </a:solidFill>
                <a:prstDash val="solid"/>
                <a:round/>
              </a:ln>
            </p:spPr>
            <p:txBody>
              <a:bodyPr lIns="34288" tIns="17144" rIns="34288" bIns="17144"/>
              <a:lstStyle/>
              <a:p>
                <a:pPr>
                  <a:defRPr/>
                </a:pPr>
                <a:endParaRPr lang="en-US" sz="750"/>
              </a:p>
            </p:txBody>
          </p:sp>
          <p:sp>
            <p:nvSpPr>
              <p:cNvPr id="40" name="Freeform 1972"/>
              <p:cNvSpPr/>
              <p:nvPr/>
            </p:nvSpPr>
            <p:spPr bwMode="auto">
              <a:xfrm>
                <a:off x="8148607" y="2826920"/>
                <a:ext cx="113519" cy="80455"/>
              </a:xfrm>
              <a:custGeom>
                <a:avLst/>
                <a:gdLst>
                  <a:gd name="T0" fmla="*/ 55 w 55"/>
                  <a:gd name="T1" fmla="*/ 39 h 39"/>
                  <a:gd name="T2" fmla="*/ 38 w 55"/>
                  <a:gd name="T3" fmla="*/ 0 h 39"/>
                  <a:gd name="T4" fmla="*/ 27 w 55"/>
                  <a:gd name="T5" fmla="*/ 0 h 39"/>
                  <a:gd name="T6" fmla="*/ 16 w 55"/>
                  <a:gd name="T7" fmla="*/ 0 h 39"/>
                  <a:gd name="T8" fmla="*/ 0 w 55"/>
                  <a:gd name="T9" fmla="*/ 39 h 39"/>
                </a:gdLst>
                <a:ahLst/>
                <a:cxnLst>
                  <a:cxn ang="0">
                    <a:pos x="T0" y="T1"/>
                  </a:cxn>
                  <a:cxn ang="0">
                    <a:pos x="T2" y="T3"/>
                  </a:cxn>
                  <a:cxn ang="0">
                    <a:pos x="T4" y="T5"/>
                  </a:cxn>
                  <a:cxn ang="0">
                    <a:pos x="T6" y="T7"/>
                  </a:cxn>
                  <a:cxn ang="0">
                    <a:pos x="T8" y="T9"/>
                  </a:cxn>
                </a:cxnLst>
                <a:rect l="0" t="0" r="r" b="b"/>
                <a:pathLst>
                  <a:path w="55" h="39">
                    <a:moveTo>
                      <a:pt x="55" y="39"/>
                    </a:moveTo>
                    <a:cubicBezTo>
                      <a:pt x="55" y="39"/>
                      <a:pt x="38" y="25"/>
                      <a:pt x="38" y="0"/>
                    </a:cubicBezTo>
                    <a:cubicBezTo>
                      <a:pt x="28" y="0"/>
                      <a:pt x="27" y="0"/>
                      <a:pt x="27" y="0"/>
                    </a:cubicBezTo>
                    <a:cubicBezTo>
                      <a:pt x="27" y="0"/>
                      <a:pt x="27" y="0"/>
                      <a:pt x="16" y="0"/>
                    </a:cubicBezTo>
                    <a:cubicBezTo>
                      <a:pt x="16" y="25"/>
                      <a:pt x="0" y="39"/>
                      <a:pt x="0" y="39"/>
                    </a:cubicBezTo>
                  </a:path>
                </a:pathLst>
              </a:custGeom>
              <a:noFill/>
              <a:ln w="38100" cap="rnd">
                <a:solidFill>
                  <a:schemeClr val="bg2"/>
                </a:solidFill>
                <a:prstDash val="solid"/>
                <a:round/>
              </a:ln>
            </p:spPr>
            <p:txBody>
              <a:bodyPr lIns="34288" tIns="17144" rIns="34288" bIns="17144"/>
              <a:lstStyle/>
              <a:p>
                <a:pPr>
                  <a:defRPr/>
                </a:pPr>
                <a:endParaRPr lang="en-US" sz="750"/>
              </a:p>
            </p:txBody>
          </p:sp>
          <p:sp>
            <p:nvSpPr>
              <p:cNvPr id="41" name="Line 1973"/>
              <p:cNvSpPr>
                <a:spLocks noChangeShapeType="1"/>
              </p:cNvSpPr>
              <p:nvPr/>
            </p:nvSpPr>
            <p:spPr bwMode="auto">
              <a:xfrm>
                <a:off x="8129871" y="2907375"/>
                <a:ext cx="148786" cy="0"/>
              </a:xfrm>
              <a:prstGeom prst="line">
                <a:avLst/>
              </a:prstGeom>
              <a:noFill/>
              <a:ln w="38100" cap="rnd">
                <a:solidFill>
                  <a:schemeClr val="bg2"/>
                </a:solidFill>
                <a:prstDash val="solid"/>
                <a:round/>
              </a:ln>
            </p:spPr>
            <p:txBody>
              <a:bodyPr lIns="34288" tIns="17144" rIns="34288" bIns="17144"/>
              <a:lstStyle/>
              <a:p>
                <a:pPr>
                  <a:defRPr/>
                </a:pPr>
                <a:endParaRPr lang="en-US" sz="750"/>
              </a:p>
            </p:txBody>
          </p:sp>
        </p:grpSp>
      </p:grpSp>
      <p:sp>
        <p:nvSpPr>
          <p:cNvPr id="33" name="Text Box 141"/>
          <p:cNvSpPr txBox="1">
            <a:spLocks noChangeArrowheads="1"/>
          </p:cNvSpPr>
          <p:nvPr/>
        </p:nvSpPr>
        <p:spPr bwMode="auto">
          <a:xfrm>
            <a:off x="4151312" y="1538288"/>
            <a:ext cx="7557211" cy="3836035"/>
          </a:xfrm>
          <a:prstGeom prst="rect">
            <a:avLst/>
          </a:prstGeom>
          <a:noFill/>
          <a:ln>
            <a:noFill/>
          </a:ln>
        </p:spPr>
        <p:txBody>
          <a:bodyPr wrap="square">
            <a:spAutoFit/>
          </a:bodyPr>
          <a:lstStyle>
            <a:lvl1pPr eaLnBrk="0" hangingPunct="0">
              <a:defRPr b="1">
                <a:solidFill>
                  <a:schemeClr val="tx1"/>
                </a:solidFill>
                <a:latin typeface="Times New Roman" panose="02020603050405020304" pitchFamily="18" charset="0"/>
                <a:cs typeface="Arial" panose="020B0604020202020204" pitchFamily="34" charset="0"/>
              </a:defRPr>
            </a:lvl1pPr>
            <a:lvl2pPr marL="742950" indent="-285750" eaLnBrk="0" hangingPunct="0">
              <a:defRPr b="1">
                <a:solidFill>
                  <a:schemeClr val="tx1"/>
                </a:solidFill>
                <a:latin typeface="Times New Roman" panose="02020603050405020304" pitchFamily="18" charset="0"/>
                <a:cs typeface="Arial" panose="020B0604020202020204" pitchFamily="34" charset="0"/>
              </a:defRPr>
            </a:lvl2pPr>
            <a:lvl3pPr marL="1143000" indent="-228600" eaLnBrk="0" hangingPunct="0">
              <a:defRPr b="1">
                <a:solidFill>
                  <a:schemeClr val="tx1"/>
                </a:solidFill>
                <a:latin typeface="Times New Roman" panose="02020603050405020304" pitchFamily="18" charset="0"/>
                <a:cs typeface="Arial" panose="020B0604020202020204" pitchFamily="34" charset="0"/>
              </a:defRPr>
            </a:lvl3pPr>
            <a:lvl4pPr marL="1600200" indent="-228600" eaLnBrk="0" hangingPunct="0">
              <a:defRPr b="1">
                <a:solidFill>
                  <a:schemeClr val="tx1"/>
                </a:solidFill>
                <a:latin typeface="Times New Roman" panose="02020603050405020304" pitchFamily="18" charset="0"/>
                <a:cs typeface="Arial" panose="020B0604020202020204" pitchFamily="34" charset="0"/>
              </a:defRPr>
            </a:lvl4pPr>
            <a:lvl5pPr marL="2057400" indent="-228600" eaLnBrk="0" hangingPunct="0">
              <a:defRPr b="1">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cs typeface="Arial" panose="020B0604020202020204" pitchFamily="34" charset="0"/>
              </a:defRPr>
            </a:lvl9pPr>
          </a:lstStyle>
          <a:p>
            <a:pPr marL="342900" indent="-342900" defTabSz="342900" eaLnBrk="1" hangingPunct="1">
              <a:lnSpc>
                <a:spcPct val="150000"/>
              </a:lnSpc>
              <a:buFont typeface="+mj-lt"/>
              <a:buAutoNum type="arabicPeriod"/>
              <a:defRPr/>
            </a:pPr>
            <a:r>
              <a:rPr lang="en-US" sz="2025" kern="0" dirty="0">
                <a:solidFill>
                  <a:srgbClr val="000000"/>
                </a:solidFill>
              </a:rPr>
              <a:t>Software Security Engineering: A Guide for Project Managers by Julia H Allen; Sean Barnum; Robert J. Ellison; Gary McGraw; Nancy R. Mead</a:t>
            </a:r>
            <a:endParaRPr lang="en-US" sz="2025" kern="0" dirty="0">
              <a:solidFill>
                <a:srgbClr val="000000"/>
              </a:solidFill>
            </a:endParaRPr>
          </a:p>
          <a:p>
            <a:pPr marL="342900" indent="-342900" defTabSz="342900" eaLnBrk="1" hangingPunct="1">
              <a:lnSpc>
                <a:spcPct val="150000"/>
              </a:lnSpc>
              <a:buFont typeface="+mj-lt"/>
              <a:buAutoNum type="arabicPeriod"/>
              <a:defRPr/>
            </a:pPr>
            <a:r>
              <a:rPr lang="en-US" sz="2025" kern="0" dirty="0" err="1">
                <a:solidFill>
                  <a:srgbClr val="000000"/>
                </a:solidFill>
              </a:rPr>
              <a:t>Sin sof SoftwareSecurity:ProgrammingFlaw</a:t>
            </a:r>
            <a:r>
              <a:rPr lang="en-US" sz="2025" kern="0" dirty="0">
                <a:solidFill>
                  <a:srgbClr val="000000"/>
                </a:solidFill>
              </a:rPr>
              <a:t> s </a:t>
            </a:r>
            <a:r>
              <a:rPr lang="en-US" sz="2025" kern="0" dirty="0" err="1">
                <a:solidFill>
                  <a:srgbClr val="000000"/>
                </a:solidFill>
              </a:rPr>
              <a:t>andHow</a:t>
            </a:r>
            <a:r>
              <a:rPr lang="en-US" sz="2025" kern="0" dirty="0">
                <a:solidFill>
                  <a:srgbClr val="000000"/>
                </a:solidFill>
              </a:rPr>
              <a:t> to Fix Them by Michael Howard, David LeBlanc and John </a:t>
            </a:r>
            <a:r>
              <a:rPr lang="en-US" sz="2025" kern="0" dirty="0" err="1">
                <a:solidFill>
                  <a:srgbClr val="000000"/>
                </a:solidFill>
              </a:rPr>
              <a:t>Viega</a:t>
            </a:r>
            <a:r>
              <a:rPr lang="en-US" sz="2025" kern="0" dirty="0">
                <a:solidFill>
                  <a:srgbClr val="000000"/>
                </a:solidFill>
              </a:rPr>
              <a:t> T </a:t>
            </a:r>
            <a:endParaRPr lang="en-US" sz="2025" kern="0" dirty="0">
              <a:solidFill>
                <a:srgbClr val="000000"/>
              </a:solidFill>
            </a:endParaRPr>
          </a:p>
          <a:p>
            <a:pPr marL="342900" indent="-342900" defTabSz="342900" eaLnBrk="1" hangingPunct="1">
              <a:lnSpc>
                <a:spcPct val="150000"/>
              </a:lnSpc>
              <a:buFont typeface="+mj-lt"/>
              <a:buAutoNum type="arabicPeriod"/>
              <a:defRPr/>
            </a:pPr>
            <a:r>
              <a:rPr lang="en-US" sz="2025" kern="0" dirty="0">
                <a:solidFill>
                  <a:srgbClr val="000000"/>
                </a:solidFill>
              </a:rPr>
              <a:t>The Art of Software Security Assessment: Identifying and Preventing Software </a:t>
            </a:r>
            <a:r>
              <a:rPr lang="en-US" sz="2025" kern="0" dirty="0" err="1">
                <a:solidFill>
                  <a:srgbClr val="000000"/>
                </a:solidFill>
              </a:rPr>
              <a:t>VulnerabilitiesMark</a:t>
            </a:r>
            <a:r>
              <a:rPr lang="en-US" sz="2025" kern="0" dirty="0">
                <a:solidFill>
                  <a:srgbClr val="000000"/>
                </a:solidFill>
              </a:rPr>
              <a:t> Dowd, John McDonald and </a:t>
            </a:r>
            <a:r>
              <a:rPr lang="en-US" sz="2025" kern="0" dirty="0" err="1">
                <a:solidFill>
                  <a:srgbClr val="000000"/>
                </a:solidFill>
              </a:rPr>
              <a:t>JustinSchuhAddison</a:t>
            </a:r>
            <a:r>
              <a:rPr lang="en-US" sz="2025" kern="0" dirty="0">
                <a:solidFill>
                  <a:srgbClr val="000000"/>
                </a:solidFill>
              </a:rPr>
              <a:t>-Wesley</a:t>
            </a:r>
            <a:endParaRPr lang="en-US" sz="2025" kern="0" dirty="0">
              <a:solidFill>
                <a:srgbClr val="000000"/>
              </a:solidFill>
            </a:endParaRPr>
          </a:p>
        </p:txBody>
      </p:sp>
    </p:spTree>
    <p:custDataLst>
      <p:tags r:id="rId2"/>
    </p:custDataLst>
  </p:cSld>
  <p:clrMapOvr>
    <a:masterClrMapping/>
  </p:clrMapOvr>
  <p:transition spd="slow" advTm="1703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strips(downRight)">
                                      <p:cBhvr>
                                        <p:cTn id="7"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97972" y="1131664"/>
            <a:ext cx="8637073" cy="2541431"/>
          </a:xfrm>
        </p:spPr>
        <p:txBody>
          <a:bodyPr>
            <a:normAutofit/>
          </a:bodyPr>
          <a:lstStyle/>
          <a:p>
            <a:pPr algn="ctr"/>
            <a:r>
              <a:rPr lang="en-US" b="1" dirty="0"/>
              <a:t>Introduction to </a:t>
            </a:r>
            <a:br>
              <a:rPr lang="en-US" b="1" dirty="0"/>
            </a:br>
            <a:r>
              <a:rPr lang="en-US" b="1" dirty="0"/>
              <a:t>Software Security</a:t>
            </a:r>
            <a:endParaRPr lang="en-US" b="1" dirty="0"/>
          </a:p>
        </p:txBody>
      </p:sp>
      <p:sp>
        <p:nvSpPr>
          <p:cNvPr id="5" name="Subtitle 4"/>
          <p:cNvSpPr>
            <a:spLocks noGrp="1"/>
          </p:cNvSpPr>
          <p:nvPr>
            <p:ph type="subTitle" idx="1"/>
          </p:nvPr>
        </p:nvSpPr>
        <p:spPr/>
        <p:txBody>
          <a:bodyPr/>
          <a:lstStyle/>
          <a:p>
            <a:endParaRPr lang="en-US"/>
          </a:p>
        </p:txBody>
      </p:sp>
    </p:spTree>
  </p:cSld>
  <p:clrMapOvr>
    <a:masterClrMapping/>
  </p:clrMapOvr>
  <mc:AlternateContent xmlns:mc="http://schemas.openxmlformats.org/markup-compatibility/2006">
    <mc:Choice xmlns:p14="http://schemas.microsoft.com/office/powerpoint/2010/main" Requires="p14">
      <p:transition spd="slow" p14:dur="3400" advTm="13523">
        <p14:reveal/>
      </p:transition>
    </mc:Choice>
    <mc:Fallback>
      <p:transition spd="slow" advTm="13523">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9320" y="437676"/>
            <a:ext cx="8610600" cy="1293028"/>
          </a:xfrm>
        </p:spPr>
        <p:txBody>
          <a:bodyPr>
            <a:normAutofit/>
          </a:bodyPr>
          <a:lstStyle/>
          <a:p>
            <a:pPr marL="571500" indent="-571500">
              <a:buFont typeface="Wingdings" panose="05000000000000000000" pitchFamily="2" charset="2"/>
              <a:buChar char="v"/>
            </a:pPr>
            <a:r>
              <a:rPr lang="en-GB" sz="4000" b="1" dirty="0">
                <a:cs typeface="Arial" panose="020B0604020202020204" pitchFamily="34" charset="0"/>
              </a:rPr>
              <a:t>What is software Security?</a:t>
            </a:r>
            <a:endParaRPr lang="en-US" sz="4000" b="1" dirty="0"/>
          </a:p>
        </p:txBody>
      </p:sp>
      <p:sp>
        <p:nvSpPr>
          <p:cNvPr id="3" name="Content Placeholder 2"/>
          <p:cNvSpPr>
            <a:spLocks noGrp="1"/>
          </p:cNvSpPr>
          <p:nvPr>
            <p:ph idx="1"/>
          </p:nvPr>
        </p:nvSpPr>
        <p:spPr>
          <a:xfrm>
            <a:off x="1097280" y="2076960"/>
            <a:ext cx="10058400" cy="4023360"/>
          </a:xfrm>
        </p:spPr>
        <p:txBody>
          <a:bodyPr>
            <a:normAutofit/>
          </a:bodyPr>
          <a:lstStyle/>
          <a:p>
            <a:pPr marL="0" indent="0" algn="just">
              <a:buNone/>
            </a:pPr>
            <a:r>
              <a:rPr lang="en-US" dirty="0"/>
              <a:t>	</a:t>
            </a:r>
            <a:r>
              <a:rPr lang="en-US" sz="3600" dirty="0"/>
              <a:t>Software security refers to a set of practices that help protect software applications and digital solutions from attackers. Developers incorporate these techniques into the software development life cycle and testing processes.</a:t>
            </a:r>
            <a:r>
              <a:rPr lang="en-GB" sz="3600" dirty="0">
                <a:ea typeface="Lucida Sans Unicode" panose="020B0602030504020204" pitchFamily="34" charset="0"/>
                <a:cs typeface="Lucida Sans Unicode" panose="020B0602030504020204" pitchFamily="34" charset="0"/>
              </a:rPr>
              <a:t>.</a:t>
            </a:r>
            <a:endParaRPr lang="en-GB" sz="3600" dirty="0">
              <a:ea typeface="Lucida Sans Unicode" panose="020B0602030504020204" pitchFamily="34" charset="0"/>
              <a:cs typeface="Lucida Sans Unicode" panose="020B0602030504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3400" advTm="83996">
        <p14:reveal/>
      </p:transition>
    </mc:Choice>
    <mc:Fallback>
      <p:transition spd="slow" advTm="83996">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4362" y="816237"/>
            <a:ext cx="9603275" cy="1049235"/>
          </a:xfrm>
        </p:spPr>
        <p:txBody>
          <a:bodyPr>
            <a:noAutofit/>
          </a:bodyPr>
          <a:lstStyle/>
          <a:p>
            <a:pPr algn="ctr"/>
            <a:r>
              <a:rPr lang="en-US" sz="3600" b="1" dirty="0"/>
              <a:t>Why Is Software Security Important?</a:t>
            </a:r>
            <a:br>
              <a:rPr lang="en-US" sz="3600" b="1" dirty="0"/>
            </a:br>
            <a:endParaRPr lang="en-US" sz="3600" dirty="0"/>
          </a:p>
        </p:txBody>
      </p:sp>
      <p:sp>
        <p:nvSpPr>
          <p:cNvPr id="3" name="Content Placeholder 2"/>
          <p:cNvSpPr>
            <a:spLocks noGrp="1"/>
          </p:cNvSpPr>
          <p:nvPr>
            <p:ph idx="1"/>
          </p:nvPr>
        </p:nvSpPr>
        <p:spPr>
          <a:xfrm>
            <a:off x="1097279" y="1845734"/>
            <a:ext cx="10264403" cy="4023360"/>
          </a:xfrm>
        </p:spPr>
        <p:txBody>
          <a:bodyPr/>
          <a:lstStyle/>
          <a:p>
            <a:pPr algn="just">
              <a:buFont typeface="Wingdings" panose="05000000000000000000" pitchFamily="2" charset="2"/>
              <a:buChar char="§"/>
            </a:pPr>
            <a:r>
              <a:rPr lang="en-US" sz="3200" dirty="0"/>
              <a:t>Businesses can work to protect critical data (goverment, finantial, militery, and etc.)  by implementing software security techniques into their development life cycles. </a:t>
            </a:r>
            <a:endParaRPr lang="en-US" sz="3200" dirty="0"/>
          </a:p>
          <a:p>
            <a:pPr algn="just">
              <a:buFont typeface="Wingdings" panose="05000000000000000000" pitchFamily="2" charset="2"/>
              <a:buChar char="§"/>
            </a:pPr>
            <a:r>
              <a:rPr lang="en-US" sz="3200" dirty="0"/>
              <a:t>Applying security techniques enables organizations to proactively identify system vulnerabilities and better protect their software.</a:t>
            </a:r>
            <a:endParaRPr lang="en-US" sz="3200" dirty="0"/>
          </a:p>
        </p:txBody>
      </p:sp>
    </p:spTree>
  </p:cSld>
  <p:clrMapOvr>
    <a:masterClrMapping/>
  </p:clrMapOvr>
  <mc:AlternateContent xmlns:mc="http://schemas.openxmlformats.org/markup-compatibility/2006">
    <mc:Choice xmlns:p14="http://schemas.microsoft.com/office/powerpoint/2010/main" Requires="p14">
      <p:transition spd="slow" p14:dur="3400" advTm="82696">
        <p14:reveal/>
      </p:transition>
    </mc:Choice>
    <mc:Fallback>
      <p:transition spd="slow" advTm="82696">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t>Why Security Is a Software Issue?</a:t>
            </a:r>
            <a:br>
              <a:rPr lang="en-US" b="1" dirty="0"/>
            </a:b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
            </a:pPr>
            <a:r>
              <a:rPr lang="en-US" sz="3200" dirty="0">
                <a:solidFill>
                  <a:srgbClr val="FF0000"/>
                </a:solidFill>
              </a:rPr>
              <a:t>System vulnerabilities</a:t>
            </a:r>
            <a:r>
              <a:rPr lang="en-US" sz="3200" dirty="0"/>
              <a:t> are security flaws or weaknesses that appear in a </a:t>
            </a:r>
            <a:r>
              <a:rPr lang="en-US" sz="3200" dirty="0">
                <a:solidFill>
                  <a:srgbClr val="FF0000"/>
                </a:solidFill>
              </a:rPr>
              <a:t>software’s code</a:t>
            </a:r>
            <a:r>
              <a:rPr lang="en-US" sz="3200" dirty="0"/>
              <a:t>. </a:t>
            </a:r>
            <a:endParaRPr lang="en-US" sz="3200" dirty="0"/>
          </a:p>
          <a:p>
            <a:pPr>
              <a:buFont typeface="Wingdings" panose="05000000000000000000" pitchFamily="2" charset="2"/>
              <a:buChar char="§"/>
            </a:pPr>
            <a:r>
              <a:rPr lang="en-US" sz="3200" dirty="0"/>
              <a:t>Hackers can exploit these vulnerabilities to access software programs, </a:t>
            </a:r>
            <a:r>
              <a:rPr lang="en-US" sz="3200" dirty="0">
                <a:solidFill>
                  <a:srgbClr val="FF0000"/>
                </a:solidFill>
              </a:rPr>
              <a:t>steal valuable data and destroy important systems</a:t>
            </a:r>
            <a:r>
              <a:rPr lang="en-US" sz="3200" dirty="0"/>
              <a:t>.</a:t>
            </a:r>
            <a:endParaRPr lang="en-US" sz="3200" dirty="0"/>
          </a:p>
        </p:txBody>
      </p:sp>
    </p:spTree>
  </p:cSld>
  <p:clrMapOvr>
    <a:masterClrMapping/>
  </p:clrMapOvr>
  <mc:AlternateContent xmlns:mc="http://schemas.openxmlformats.org/markup-compatibility/2006">
    <mc:Choice xmlns:p14="http://schemas.microsoft.com/office/powerpoint/2010/main" Requires="p14">
      <p:transition spd="slow" p14:dur="3400" advTm="133594">
        <p14:reveal/>
      </p:transition>
    </mc:Choice>
    <mc:Fallback>
      <p:transition spd="slow" advTm="133594">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Vulnerability in Software Security</a:t>
            </a:r>
            <a:endParaRPr lang="en-US" b="1" dirty="0"/>
          </a:p>
        </p:txBody>
      </p:sp>
      <p:sp>
        <p:nvSpPr>
          <p:cNvPr id="3" name="Content Placeholder 2"/>
          <p:cNvSpPr>
            <a:spLocks noGrp="1"/>
          </p:cNvSpPr>
          <p:nvPr>
            <p:ph idx="1"/>
          </p:nvPr>
        </p:nvSpPr>
        <p:spPr/>
        <p:txBody>
          <a:bodyPr>
            <a:normAutofit/>
          </a:bodyPr>
          <a:lstStyle/>
          <a:p>
            <a:pPr marL="0" indent="0" algn="just">
              <a:buNone/>
            </a:pPr>
            <a:r>
              <a:rPr lang="en-US" sz="3200" dirty="0"/>
              <a:t>	 A vulnerability in </a:t>
            </a:r>
            <a:r>
              <a:rPr lang="en-US" sz="3200" b="1" dirty="0">
                <a:solidFill>
                  <a:srgbClr val="002060"/>
                </a:solidFill>
              </a:rPr>
              <a:t>security refers to a weakness or opportunity in an information system that cybercriminals can exploit and gain unauthorized access to a computer system</a:t>
            </a:r>
            <a:r>
              <a:rPr lang="en-US" sz="3200" dirty="0"/>
              <a:t>. Vulnerabilities weaken systems and open the door to malicious attacks.</a:t>
            </a:r>
            <a:endParaRPr lang="en-US" sz="3200" dirty="0"/>
          </a:p>
        </p:txBody>
      </p:sp>
    </p:spTree>
  </p:cSld>
  <p:clrMapOvr>
    <a:masterClrMapping/>
  </p:clrMapOvr>
  <mc:AlternateContent xmlns:mc="http://schemas.openxmlformats.org/markup-compatibility/2006">
    <mc:Choice xmlns:p14="http://schemas.microsoft.com/office/powerpoint/2010/main" Requires="p14">
      <p:transition spd="slow" p14:dur="3400" advTm="160831">
        <p14:reveal/>
      </p:transition>
    </mc:Choice>
    <mc:Fallback>
      <p:transition spd="slow" advTm="160831">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List of Software Security Vulnerabilities and Weaknesses</a:t>
            </a:r>
            <a:endParaRPr lang="en-US" b="1" dirty="0"/>
          </a:p>
        </p:txBody>
      </p:sp>
      <p:sp>
        <p:nvSpPr>
          <p:cNvPr id="3" name="Content Placeholder 2"/>
          <p:cNvSpPr>
            <a:spLocks noGrp="1"/>
          </p:cNvSpPr>
          <p:nvPr>
            <p:ph idx="1"/>
          </p:nvPr>
        </p:nvSpPr>
        <p:spPr>
          <a:xfrm>
            <a:off x="1451579" y="2015732"/>
            <a:ext cx="9603275" cy="4131068"/>
          </a:xfrm>
        </p:spPr>
        <p:txBody>
          <a:bodyPr>
            <a:normAutofit/>
          </a:bodyPr>
          <a:lstStyle/>
          <a:p>
            <a:pPr marL="0" indent="0">
              <a:buNone/>
            </a:pPr>
            <a:r>
              <a:rPr lang="en-US" sz="2400" dirty="0"/>
              <a:t>	If you want to protect your customers and your brand, it's important to identify and prevent software security vulnerabilities before shipping software.</a:t>
            </a:r>
            <a:endParaRPr lang="en-US" sz="2400" dirty="0"/>
          </a:p>
          <a:p>
            <a:pPr marL="0" indent="0">
              <a:buNone/>
            </a:pPr>
            <a:r>
              <a:rPr lang="en-US" sz="2400" dirty="0"/>
              <a:t>	In order to do so, you first need to be aware of the different types of security weaknesses and ways to avoid them. Some common types of software security weaknesses and it also includes tips on preventing these vulnerabilities.</a:t>
            </a:r>
            <a:endParaRPr lang="en-US" sz="2400" dirty="0"/>
          </a:p>
        </p:txBody>
      </p:sp>
    </p:spTree>
  </p:cSld>
  <p:clrMapOvr>
    <a:masterClrMapping/>
  </p:clrMapOvr>
  <mc:AlternateContent xmlns:mc="http://schemas.openxmlformats.org/markup-compatibility/2006">
    <mc:Choice xmlns:p14="http://schemas.microsoft.com/office/powerpoint/2010/main" Requires="p14">
      <p:transition spd="slow" p14:dur="3400" advTm="105753">
        <p14:reveal/>
      </p:transition>
    </mc:Choice>
    <mc:Fallback>
      <p:transition spd="slow" advTm="105753">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dirty="0"/>
              <a:t>Some common types of software security weaknesses:</a:t>
            </a:r>
            <a:endParaRPr lang="en-US" dirty="0"/>
          </a:p>
        </p:txBody>
      </p:sp>
      <p:sp>
        <p:nvSpPr>
          <p:cNvPr id="3" name="Content Placeholder 2"/>
          <p:cNvSpPr>
            <a:spLocks noGrp="1"/>
          </p:cNvSpPr>
          <p:nvPr>
            <p:ph idx="1"/>
          </p:nvPr>
        </p:nvSpPr>
        <p:spPr/>
        <p:txBody>
          <a:bodyPr>
            <a:normAutofit/>
          </a:bodyPr>
          <a:lstStyle/>
          <a:p>
            <a:pPr marL="457200" marR="0" lvl="0" indent="-457200" algn="l" defTabSz="914400" rtl="0" eaLnBrk="1" fontAlgn="auto" latinLnBrk="0" hangingPunct="1">
              <a:lnSpc>
                <a:spcPct val="90000"/>
              </a:lnSpc>
              <a:spcBef>
                <a:spcPts val="1200"/>
              </a:spcBef>
              <a:spcAft>
                <a:spcPts val="200"/>
              </a:spcAft>
              <a:buClr>
                <a:srgbClr val="E48312"/>
              </a:buClr>
              <a:buSzPct val="100000"/>
              <a:buFont typeface="+mj-lt"/>
              <a:buAutoNum type="arabicPeriod"/>
              <a:defRPr/>
            </a:pPr>
            <a:r>
              <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rPr>
              <a:t>Bugs</a:t>
            </a:r>
            <a:endPar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endParaRPr>
          </a:p>
          <a:p>
            <a:pPr marL="457200" marR="0" lvl="0" indent="-457200" algn="l" defTabSz="914400" rtl="0" eaLnBrk="1" fontAlgn="auto" latinLnBrk="0" hangingPunct="1">
              <a:lnSpc>
                <a:spcPct val="90000"/>
              </a:lnSpc>
              <a:spcBef>
                <a:spcPts val="1200"/>
              </a:spcBef>
              <a:spcAft>
                <a:spcPts val="200"/>
              </a:spcAft>
              <a:buClr>
                <a:srgbClr val="E48312"/>
              </a:buClr>
              <a:buSzPct val="100000"/>
              <a:buFont typeface="+mj-lt"/>
              <a:buAutoNum type="arabicPeriod"/>
              <a:defRPr/>
            </a:pPr>
            <a:r>
              <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rPr>
              <a:t>Exposure of sensitive data</a:t>
            </a:r>
            <a:endPar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endParaRPr>
          </a:p>
          <a:p>
            <a:pPr marL="457200" marR="0" lvl="0" indent="-457200" algn="l" defTabSz="914400" rtl="0" eaLnBrk="1" fontAlgn="auto" latinLnBrk="0" hangingPunct="1">
              <a:lnSpc>
                <a:spcPct val="90000"/>
              </a:lnSpc>
              <a:spcBef>
                <a:spcPts val="1200"/>
              </a:spcBef>
              <a:spcAft>
                <a:spcPts val="200"/>
              </a:spcAft>
              <a:buClr>
                <a:srgbClr val="E48312"/>
              </a:buClr>
              <a:buSzPct val="100000"/>
              <a:buFont typeface="+mj-lt"/>
              <a:buAutoNum type="arabicPeriod"/>
              <a:defRPr/>
            </a:pPr>
            <a:r>
              <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rPr>
              <a:t>Flaws in Injection</a:t>
            </a:r>
            <a:endPar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endParaRPr>
          </a:p>
          <a:p>
            <a:pPr marL="457200" marR="0" lvl="0" indent="-457200" algn="l" defTabSz="914400" rtl="0" eaLnBrk="1" fontAlgn="auto" latinLnBrk="0" hangingPunct="1">
              <a:lnSpc>
                <a:spcPct val="90000"/>
              </a:lnSpc>
              <a:spcBef>
                <a:spcPts val="1200"/>
              </a:spcBef>
              <a:spcAft>
                <a:spcPts val="200"/>
              </a:spcAft>
              <a:buClr>
                <a:srgbClr val="E48312"/>
              </a:buClr>
              <a:buSzPct val="100000"/>
              <a:buFont typeface="+mj-lt"/>
              <a:buAutoNum type="arabicPeriod"/>
              <a:defRPr/>
            </a:pPr>
            <a:r>
              <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rPr>
              <a:t>Buffer overflow</a:t>
            </a:r>
            <a:endPar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endParaRPr>
          </a:p>
          <a:p>
            <a:pPr marL="457200" marR="0" lvl="0" indent="-457200" algn="l" defTabSz="914400" rtl="0" eaLnBrk="1" fontAlgn="auto" latinLnBrk="0" hangingPunct="1">
              <a:lnSpc>
                <a:spcPct val="90000"/>
              </a:lnSpc>
              <a:spcBef>
                <a:spcPts val="1200"/>
              </a:spcBef>
              <a:spcAft>
                <a:spcPts val="200"/>
              </a:spcAft>
              <a:buClr>
                <a:srgbClr val="E48312"/>
              </a:buClr>
              <a:buSzPct val="100000"/>
              <a:buFont typeface="+mj-lt"/>
              <a:buAutoNum type="arabicPeriod"/>
              <a:defRPr/>
            </a:pPr>
            <a:r>
              <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rPr>
              <a:t>Security misconfiguration</a:t>
            </a:r>
            <a:endPar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endParaRPr>
          </a:p>
          <a:p>
            <a:pPr marL="457200" marR="0" lvl="0" indent="-457200" algn="l" defTabSz="914400" rtl="0" eaLnBrk="1" fontAlgn="auto" latinLnBrk="0" hangingPunct="1">
              <a:lnSpc>
                <a:spcPct val="90000"/>
              </a:lnSpc>
              <a:spcBef>
                <a:spcPts val="1200"/>
              </a:spcBef>
              <a:spcAft>
                <a:spcPts val="200"/>
              </a:spcAft>
              <a:buClr>
                <a:srgbClr val="E48312"/>
              </a:buClr>
              <a:buSzPct val="100000"/>
              <a:buFont typeface="+mj-lt"/>
              <a:buAutoNum type="arabicPeriod"/>
              <a:defRPr/>
            </a:pPr>
            <a:r>
              <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rPr>
              <a:t>Broken access control</a:t>
            </a:r>
            <a:endPar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endParaRPr>
          </a:p>
          <a:p>
            <a:pPr marL="457200" marR="0" lvl="0" indent="-457200" algn="l" defTabSz="914400" rtl="0" eaLnBrk="1" fontAlgn="auto" latinLnBrk="0" hangingPunct="1">
              <a:lnSpc>
                <a:spcPct val="90000"/>
              </a:lnSpc>
              <a:spcBef>
                <a:spcPts val="1200"/>
              </a:spcBef>
              <a:spcAft>
                <a:spcPts val="200"/>
              </a:spcAft>
              <a:buClr>
                <a:srgbClr val="E48312"/>
              </a:buClr>
              <a:buSzPct val="100000"/>
              <a:buFont typeface="+mj-lt"/>
              <a:buAutoNum type="arabicPeriod"/>
              <a:defRPr/>
            </a:pPr>
            <a:r>
              <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rPr>
              <a:t>Insecure deserialization</a:t>
            </a:r>
            <a:endPar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endParaRPr>
          </a:p>
          <a:p>
            <a:pPr marL="457200" marR="0" lvl="0" indent="-457200" algn="l" defTabSz="914400" rtl="0" eaLnBrk="1" fontAlgn="auto" latinLnBrk="0" hangingPunct="1">
              <a:lnSpc>
                <a:spcPct val="90000"/>
              </a:lnSpc>
              <a:spcBef>
                <a:spcPts val="1200"/>
              </a:spcBef>
              <a:spcAft>
                <a:spcPts val="200"/>
              </a:spcAft>
              <a:buClr>
                <a:srgbClr val="E48312"/>
              </a:buClr>
              <a:buSzPct val="100000"/>
              <a:buFont typeface="+mj-lt"/>
              <a:buAutoNum type="arabicPeriod"/>
              <a:defRPr/>
            </a:pPr>
            <a:r>
              <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rPr>
              <a:t>Broken/Missing Authentication</a:t>
            </a:r>
            <a:endPar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endParaRPr>
          </a:p>
          <a:p>
            <a:endParaRPr lang="en-US" sz="2400" dirty="0"/>
          </a:p>
        </p:txBody>
      </p:sp>
    </p:spTree>
  </p:cSld>
  <p:clrMapOvr>
    <a:masterClrMapping/>
  </p:clrMapOvr>
  <mc:AlternateContent xmlns:mc="http://schemas.openxmlformats.org/markup-compatibility/2006">
    <mc:Choice xmlns:p14="http://schemas.microsoft.com/office/powerpoint/2010/main" Requires="p14">
      <p:transition spd="slow" p14:dur="2000" advTm="47610"/>
    </mc:Choice>
    <mc:Fallback>
      <p:transition spd="slow" advTm="47610"/>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t>Major Concerns with Software Security</a:t>
            </a:r>
            <a:br>
              <a:rPr lang="en-US" b="1" dirty="0"/>
            </a:br>
            <a:endParaRPr lang="en-US" dirty="0"/>
          </a:p>
        </p:txBody>
      </p:sp>
      <p:sp>
        <p:nvSpPr>
          <p:cNvPr id="3" name="Content Placeholder 2"/>
          <p:cNvSpPr>
            <a:spLocks noGrp="1"/>
          </p:cNvSpPr>
          <p:nvPr>
            <p:ph idx="1"/>
          </p:nvPr>
        </p:nvSpPr>
        <p:spPr>
          <a:xfrm>
            <a:off x="1097280" y="1856244"/>
            <a:ext cx="10058400" cy="4023360"/>
          </a:xfrm>
        </p:spPr>
        <p:txBody>
          <a:bodyPr>
            <a:normAutofit/>
          </a:bodyPr>
          <a:lstStyle/>
          <a:p>
            <a:pPr marL="0" indent="0" algn="just">
              <a:buNone/>
            </a:pPr>
            <a:r>
              <a:rPr lang="en-US" sz="3600" dirty="0"/>
              <a:t>	A security vulnerability can have major implications for healthcare organizations, financial institutions, </a:t>
            </a:r>
            <a:r>
              <a:rPr lang="en-US" sz="3600" dirty="0">
                <a:hlinkClick r:id="rId1"/>
              </a:rPr>
              <a:t>homeland security</a:t>
            </a:r>
            <a:r>
              <a:rPr lang="en-US" sz="3600" dirty="0"/>
              <a:t> (HS) agencies and more. It is important to identify these concerns quickly and proactively to avoid malicious attacks.</a:t>
            </a:r>
            <a:endParaRPr lang="en-US" sz="3600" dirty="0"/>
          </a:p>
        </p:txBody>
      </p:sp>
    </p:spTree>
  </p:cSld>
  <p:clrMapOvr>
    <a:masterClrMapping/>
  </p:clrMapOvr>
  <mc:AlternateContent xmlns:mc="http://schemas.openxmlformats.org/markup-compatibility/2006">
    <mc:Choice xmlns:p14="http://schemas.microsoft.com/office/powerpoint/2010/main" Requires="p14">
      <p:transition spd="slow" p14:dur="3400" advTm="141535">
        <p14:reveal/>
      </p:transition>
    </mc:Choice>
    <mc:Fallback>
      <p:transition spd="slow" advTm="141535">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a:t>Major Concerns with Software Security</a:t>
            </a:r>
            <a:endParaRPr lang="en-US" sz="3600" b="1" dirty="0"/>
          </a:p>
        </p:txBody>
      </p:sp>
      <p:sp>
        <p:nvSpPr>
          <p:cNvPr id="3" name="Content Placeholder 2"/>
          <p:cNvSpPr>
            <a:spLocks noGrp="1"/>
          </p:cNvSpPr>
          <p:nvPr>
            <p:ph idx="1"/>
          </p:nvPr>
        </p:nvSpPr>
        <p:spPr>
          <a:xfrm>
            <a:off x="1451579" y="2015732"/>
            <a:ext cx="9603275" cy="4037749"/>
          </a:xfrm>
        </p:spPr>
        <p:txBody>
          <a:bodyPr>
            <a:noAutofit/>
          </a:bodyPr>
          <a:lstStyle/>
          <a:p>
            <a:pPr marL="0" indent="0">
              <a:buNone/>
            </a:pPr>
            <a:r>
              <a:rPr lang="en-US" sz="2800" b="1" dirty="0"/>
              <a:t>Phishing: </a:t>
            </a:r>
            <a:endParaRPr lang="en-US" sz="2800" b="1" dirty="0"/>
          </a:p>
          <a:p>
            <a:pPr marL="0" indent="0">
              <a:buNone/>
            </a:pPr>
            <a:r>
              <a:rPr lang="en-US" sz="2800" dirty="0"/>
              <a:t>	Phishing happens when an attacker poses as someone else in an attempt to gain personal information, such as software credentials.</a:t>
            </a:r>
            <a:endParaRPr lang="en-US" sz="2800" b="1" dirty="0"/>
          </a:p>
          <a:p>
            <a:pPr marL="0" indent="0">
              <a:buNone/>
            </a:pPr>
            <a:r>
              <a:rPr lang="en-US" sz="2800" b="1" dirty="0"/>
              <a:t>Distributed denial of service (DDoS) Attacks: </a:t>
            </a:r>
            <a:endParaRPr lang="en-US" sz="2800" b="1" dirty="0"/>
          </a:p>
          <a:p>
            <a:pPr marL="0" indent="0">
              <a:buNone/>
            </a:pPr>
            <a:r>
              <a:rPr lang="en-US" sz="2800" b="1" dirty="0"/>
              <a:t>	</a:t>
            </a:r>
            <a:r>
              <a:rPr lang="en-US" sz="2800" dirty="0"/>
              <a:t>A DDoS attack happens when an attacker overloads servers with packets, causing the software to crash.</a:t>
            </a:r>
            <a:endParaRPr lang="en-US" sz="2800" dirty="0"/>
          </a:p>
          <a:p>
            <a:pPr marL="0" indent="0">
              <a:buNone/>
            </a:pPr>
            <a:endParaRPr lang="en-US" sz="2800" dirty="0"/>
          </a:p>
        </p:txBody>
      </p:sp>
    </p:spTree>
  </p:cSld>
  <p:clrMapOvr>
    <a:masterClrMapping/>
  </p:clrMapOvr>
  <mc:AlternateContent xmlns:mc="http://schemas.openxmlformats.org/markup-compatibility/2006">
    <mc:Choice xmlns:p14="http://schemas.microsoft.com/office/powerpoint/2010/main" Requires="p14">
      <p:transition spd="slow" p14:dur="3400" advTm="262116">
        <p14:reveal/>
      </p:transition>
    </mc:Choice>
    <mc:Fallback>
      <p:transition spd="slow" advTm="262116">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a:t>Major Concerns with Software Security</a:t>
            </a:r>
            <a:endParaRPr lang="en-US" sz="3600" dirty="0"/>
          </a:p>
        </p:txBody>
      </p:sp>
      <p:sp>
        <p:nvSpPr>
          <p:cNvPr id="3" name="Content Placeholder 2"/>
          <p:cNvSpPr>
            <a:spLocks noGrp="1"/>
          </p:cNvSpPr>
          <p:nvPr>
            <p:ph idx="1"/>
          </p:nvPr>
        </p:nvSpPr>
        <p:spPr>
          <a:xfrm>
            <a:off x="1451579" y="2015732"/>
            <a:ext cx="9603275" cy="4110748"/>
          </a:xfrm>
        </p:spPr>
        <p:txBody>
          <a:bodyPr>
            <a:normAutofit/>
          </a:bodyPr>
          <a:lstStyle/>
          <a:p>
            <a:pPr marL="0" indent="0">
              <a:buNone/>
            </a:pPr>
            <a:r>
              <a:rPr lang="en-US" sz="2400" b="1" dirty="0"/>
              <a:t>Cloud service attacks</a:t>
            </a:r>
            <a:r>
              <a:rPr lang="en-US" sz="2400" dirty="0"/>
              <a:t>:</a:t>
            </a:r>
            <a:endParaRPr lang="en-US" sz="2400" dirty="0"/>
          </a:p>
          <a:p>
            <a:pPr marL="0" indent="0">
              <a:buNone/>
            </a:pPr>
            <a:r>
              <a:rPr lang="en-US" sz="2400" dirty="0"/>
              <a:t>	Companies are increasingly relying on cloud-based services to support remote workers. Some cloud infrastructure has vulnerabilities hackers can exploit.</a:t>
            </a:r>
            <a:endParaRPr lang="en-US" sz="2400" dirty="0"/>
          </a:p>
          <a:p>
            <a:pPr marL="0" indent="0">
              <a:buNone/>
            </a:pPr>
            <a:r>
              <a:rPr lang="en-US" sz="2400" b="1" dirty="0"/>
              <a:t>Software supply chain attacks</a:t>
            </a:r>
            <a:r>
              <a:rPr lang="en-US" sz="2400" dirty="0"/>
              <a:t>: </a:t>
            </a:r>
            <a:endParaRPr lang="en-US" sz="2400" dirty="0"/>
          </a:p>
          <a:p>
            <a:pPr marL="0" indent="0">
              <a:buNone/>
            </a:pPr>
            <a:r>
              <a:rPr lang="en-US" dirty="0"/>
              <a:t>	</a:t>
            </a:r>
            <a:r>
              <a:rPr lang="en-US" sz="2400" dirty="0"/>
              <a:t>Some pieces of software are critical in the business supply chain, especially for e-commerce. A software supply chain attack happens when hackers exploit a third-party service to access data about a business.</a:t>
            </a:r>
            <a:endParaRPr lang="en-US" sz="2400" dirty="0"/>
          </a:p>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400" advTm="274422">
        <p14:reveal/>
      </p:transition>
    </mc:Choice>
    <mc:Fallback>
      <p:transition spd="slow" advTm="274422">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a:t>Software Security Tools and Responsibilities</a:t>
            </a:r>
            <a:br>
              <a:rPr lang="en-US" sz="3600" b="1" dirty="0"/>
            </a:br>
            <a:endParaRPr lang="en-US" sz="3600"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3200" dirty="0"/>
              <a:t>All stakeholders in software development, from developers to executives, need to </a:t>
            </a:r>
            <a:r>
              <a:rPr lang="en-US" sz="3200" dirty="0">
                <a:solidFill>
                  <a:srgbClr val="FF0000"/>
                </a:solidFill>
              </a:rPr>
              <a:t>understand how software security practices benefit them</a:t>
            </a:r>
            <a:r>
              <a:rPr lang="en-US" sz="3200" dirty="0"/>
              <a:t>. </a:t>
            </a:r>
            <a:endParaRPr lang="en-US" sz="3200" dirty="0"/>
          </a:p>
          <a:p>
            <a:pPr>
              <a:buFont typeface="Wingdings" panose="05000000000000000000" pitchFamily="2" charset="2"/>
              <a:buChar char="§"/>
            </a:pPr>
            <a:r>
              <a:rPr lang="en-US" sz="3200" dirty="0"/>
              <a:t>They must also </a:t>
            </a:r>
            <a:r>
              <a:rPr lang="en-US" sz="3200" dirty="0">
                <a:solidFill>
                  <a:srgbClr val="FF0000"/>
                </a:solidFill>
              </a:rPr>
              <a:t>understand the risks of not implementing them </a:t>
            </a:r>
            <a:r>
              <a:rPr lang="en-US" sz="3200" dirty="0"/>
              <a:t>and allocate proper resources to security tasks.</a:t>
            </a:r>
            <a:endParaRPr lang="en-US" sz="3200" dirty="0"/>
          </a:p>
          <a:p>
            <a:pPr>
              <a:buFont typeface="Wingdings" panose="05000000000000000000" pitchFamily="2" charset="2"/>
              <a:buChar char="§"/>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400" advTm="76867">
        <p14:reveal/>
      </p:transition>
    </mc:Choice>
    <mc:Fallback>
      <p:transition spd="slow" advTm="76867">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a:t>Software Security Tools and Responsibilities</a:t>
            </a:r>
            <a:endParaRPr lang="en-US" sz="3600" dirty="0"/>
          </a:p>
        </p:txBody>
      </p:sp>
      <p:sp>
        <p:nvSpPr>
          <p:cNvPr id="3" name="Content Placeholder 2"/>
          <p:cNvSpPr>
            <a:spLocks noGrp="1"/>
          </p:cNvSpPr>
          <p:nvPr>
            <p:ph idx="1"/>
          </p:nvPr>
        </p:nvSpPr>
        <p:spPr/>
        <p:txBody>
          <a:bodyPr>
            <a:normAutofit/>
          </a:bodyPr>
          <a:lstStyle/>
          <a:p>
            <a:pPr marL="0" indent="0">
              <a:buNone/>
            </a:pPr>
            <a:r>
              <a:rPr lang="en-US" sz="2800" b="1" dirty="0"/>
              <a:t>Static application security testing</a:t>
            </a:r>
            <a:r>
              <a:rPr lang="en-US" sz="2800" dirty="0"/>
              <a:t>: </a:t>
            </a:r>
            <a:endParaRPr lang="en-US" sz="2800" dirty="0"/>
          </a:p>
          <a:p>
            <a:pPr marL="0" indent="0">
              <a:buNone/>
            </a:pPr>
            <a:r>
              <a:rPr lang="en-US" sz="2800" dirty="0"/>
              <a:t>	This tool examines source code at rest and flags vulnerabilities for developers to fix.</a:t>
            </a:r>
            <a:endParaRPr lang="en-US" sz="2800" dirty="0"/>
          </a:p>
          <a:p>
            <a:pPr marL="0" indent="0">
              <a:buNone/>
            </a:pPr>
            <a:r>
              <a:rPr lang="en-US" sz="2800" b="1" dirty="0"/>
              <a:t>Dynamic application security testing</a:t>
            </a:r>
            <a:r>
              <a:rPr lang="en-US" sz="2800" dirty="0"/>
              <a:t>: </a:t>
            </a:r>
            <a:endParaRPr lang="en-US" sz="2800" dirty="0"/>
          </a:p>
          <a:p>
            <a:pPr marL="0" indent="0">
              <a:buNone/>
            </a:pPr>
            <a:r>
              <a:rPr lang="en-US" sz="2800" dirty="0"/>
              <a:t>	This tool examines an application’s code while it is running and detects weaknesses in the software</a:t>
            </a:r>
            <a:endParaRPr lang="en-US" sz="2800" dirty="0"/>
          </a:p>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400" advTm="82626">
        <p14:reveal/>
      </p:transition>
    </mc:Choice>
    <mc:Fallback>
      <p:transition spd="slow" advTm="82626">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a:t>Software Security Tools and Responsibilities</a:t>
            </a:r>
            <a:br>
              <a:rPr lang="en-US" sz="3600" b="1" dirty="0"/>
            </a:br>
            <a:endParaRPr lang="en-US" sz="3600" dirty="0"/>
          </a:p>
        </p:txBody>
      </p:sp>
      <p:sp>
        <p:nvSpPr>
          <p:cNvPr id="3" name="Content Placeholder 2"/>
          <p:cNvSpPr>
            <a:spLocks noGrp="1"/>
          </p:cNvSpPr>
          <p:nvPr>
            <p:ph idx="1"/>
          </p:nvPr>
        </p:nvSpPr>
        <p:spPr>
          <a:xfrm>
            <a:off x="1451579" y="2015732"/>
            <a:ext cx="9603275" cy="4037749"/>
          </a:xfrm>
        </p:spPr>
        <p:txBody>
          <a:bodyPr>
            <a:normAutofit lnSpcReduction="10000"/>
          </a:bodyPr>
          <a:lstStyle/>
          <a:p>
            <a:pPr marL="0" indent="0">
              <a:buNone/>
            </a:pPr>
            <a:r>
              <a:rPr lang="en-US" sz="2400" b="1" dirty="0"/>
              <a:t>Software composition analysis</a:t>
            </a:r>
            <a:r>
              <a:rPr lang="en-US" sz="2400" dirty="0"/>
              <a:t>: </a:t>
            </a:r>
            <a:endParaRPr lang="en-US" sz="2400" dirty="0"/>
          </a:p>
          <a:p>
            <a:pPr marL="0" indent="0">
              <a:buNone/>
            </a:pPr>
            <a:r>
              <a:rPr lang="en-US" sz="2400" dirty="0"/>
              <a:t>	This tool checks for vulnerabilities against a software’s governance guidelines. Software composition analysis is especially valuable for open-source software.(OWASP dependency check, Snyk, Black Duck)</a:t>
            </a:r>
            <a:endParaRPr lang="en-US" sz="2400" dirty="0"/>
          </a:p>
          <a:p>
            <a:pPr marL="0" indent="0">
              <a:buNone/>
            </a:pPr>
            <a:r>
              <a:rPr lang="en-US" sz="2400" b="1" dirty="0"/>
              <a:t>Mobile application security testing</a:t>
            </a:r>
            <a:r>
              <a:rPr lang="en-US" sz="2400" dirty="0"/>
              <a:t>: </a:t>
            </a:r>
            <a:endParaRPr lang="en-US" sz="2400" dirty="0"/>
          </a:p>
          <a:p>
            <a:pPr marL="0" indent="0">
              <a:buNone/>
            </a:pPr>
            <a:r>
              <a:rPr lang="en-US" sz="2400" dirty="0"/>
              <a:t>	This tool analyzes mobile code to identify specific vulnerabilities that could lead to unique security risks, such as improper platform usage and insecure data storage.</a:t>
            </a:r>
            <a:endParaRPr lang="en-US" sz="2400" dirty="0"/>
          </a:p>
          <a:p>
            <a:pPr marL="0" indent="0">
              <a:buNone/>
            </a:pPr>
            <a:r>
              <a:rPr lang="en-US" sz="2400" b="1" dirty="0"/>
              <a:t>Penteration Testing:</a:t>
            </a:r>
            <a:endParaRPr lang="en-US" sz="2400" b="1" dirty="0"/>
          </a:p>
          <a:p>
            <a:pPr marL="0" indent="0">
              <a:buNone/>
            </a:pPr>
            <a:r>
              <a:rPr lang="en-US" sz="2400" b="1" dirty="0"/>
              <a:t> </a:t>
            </a:r>
            <a:r>
              <a:rPr lang="en-US" sz="2400" dirty="0"/>
              <a:t>Simulation for real attack with consultatnt security group (White hachers)</a:t>
            </a:r>
            <a:endParaRPr lang="en-US" sz="2400" dirty="0"/>
          </a:p>
          <a:p>
            <a:pPr marL="0" indent="0">
              <a:buNone/>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400" advTm="127255">
        <p14:reveal/>
      </p:transition>
    </mc:Choice>
    <mc:Fallback>
      <p:transition spd="slow" advTm="127255">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a:t>Software Security Best Practices</a:t>
            </a:r>
            <a:br>
              <a:rPr lang="en-US" sz="3600" b="1" dirty="0"/>
            </a:br>
            <a:endParaRPr lang="en-US" sz="3600" dirty="0"/>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
            </a:pPr>
            <a:r>
              <a:rPr lang="en-US" sz="2800" dirty="0"/>
              <a:t>Malicious users often target vulnerable areas of software in order to access, use or destroy different programs. </a:t>
            </a:r>
            <a:endParaRPr lang="en-US" sz="2800" dirty="0"/>
          </a:p>
          <a:p>
            <a:pPr algn="just">
              <a:buFont typeface="Wingdings" panose="05000000000000000000" pitchFamily="2" charset="2"/>
              <a:buChar char="§"/>
            </a:pPr>
            <a:r>
              <a:rPr lang="en-US" sz="2800" dirty="0"/>
              <a:t>However, secure software development can help prevent these events from occurring. </a:t>
            </a:r>
            <a:endParaRPr lang="en-US" sz="2800" dirty="0"/>
          </a:p>
          <a:p>
            <a:pPr algn="just">
              <a:buFont typeface="Wingdings" panose="05000000000000000000" pitchFamily="2" charset="2"/>
              <a:buChar char="§"/>
            </a:pPr>
            <a:r>
              <a:rPr lang="en-US" sz="2800" dirty="0"/>
              <a:t>Here are a few key best practices for implementing, ensuring and improving software security.</a:t>
            </a:r>
            <a:endParaRPr lang="en-US" sz="2800" dirty="0"/>
          </a:p>
        </p:txBody>
      </p:sp>
    </p:spTree>
  </p:cSld>
  <p:clrMapOvr>
    <a:masterClrMapping/>
  </p:clrMapOvr>
  <mc:AlternateContent xmlns:mc="http://schemas.openxmlformats.org/markup-compatibility/2006">
    <mc:Choice xmlns:p14="http://schemas.microsoft.com/office/powerpoint/2010/main" Requires="p14">
      <p:transition spd="slow" p14:dur="3400" advTm="49700">
        <p14:reveal/>
      </p:transition>
    </mc:Choice>
    <mc:Fallback>
      <p:transition spd="slow" advTm="49700">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a:t>Software Security Best Practices</a:t>
            </a:r>
            <a:endParaRPr lang="en-US" sz="3600" b="1" dirty="0"/>
          </a:p>
        </p:txBody>
      </p:sp>
      <p:sp>
        <p:nvSpPr>
          <p:cNvPr id="6" name="Content Placeholder 5"/>
          <p:cNvSpPr>
            <a:spLocks noGrp="1"/>
          </p:cNvSpPr>
          <p:nvPr>
            <p:ph idx="1"/>
          </p:nvPr>
        </p:nvSpPr>
        <p:spPr/>
        <p:txBody>
          <a:bodyPr>
            <a:normAutofit/>
          </a:bodyPr>
          <a:lstStyle/>
          <a:p>
            <a:pPr marL="0" indent="0">
              <a:buNone/>
            </a:pPr>
            <a:r>
              <a:rPr lang="en-US" sz="2400" b="1" dirty="0"/>
              <a:t>Implementing Software Security:</a:t>
            </a:r>
            <a:endParaRPr lang="en-US" sz="2400" b="1" dirty="0"/>
          </a:p>
          <a:p>
            <a:pPr marL="0" indent="0">
              <a:buNone/>
            </a:pPr>
            <a:r>
              <a:rPr lang="en-US" sz="2400" dirty="0"/>
              <a:t>	From the beginning of development, it is important to implement foundational security best practices. Here are a few examples:</a:t>
            </a:r>
            <a:endParaRPr lang="en-US" sz="2400" dirty="0"/>
          </a:p>
          <a:p>
            <a:pPr marL="0" indent="0">
              <a:buNone/>
            </a:pPr>
            <a:r>
              <a:rPr lang="en-US" sz="2400" b="1" dirty="0"/>
              <a:t>Implement least privilege:</a:t>
            </a:r>
            <a:endParaRPr lang="en-US" sz="2400" b="1" dirty="0"/>
          </a:p>
          <a:p>
            <a:pPr marL="0" indent="0">
              <a:buNone/>
            </a:pPr>
            <a:r>
              <a:rPr lang="en-US" sz="2400" b="1" dirty="0"/>
              <a:t>	</a:t>
            </a:r>
            <a:r>
              <a:rPr lang="en-US" sz="2400" dirty="0"/>
              <a:t>Least privilege refers to the practice of giving software users limited access to a program. A hacker will not be able to access features, rights and controls that a user does not have, helping minimize the impact of an attack.</a:t>
            </a:r>
            <a:endParaRPr lang="en-US" sz="2400" dirty="0"/>
          </a:p>
          <a:p>
            <a:pPr marL="0" indent="0">
              <a:buNone/>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400" advTm="140234">
        <p14:reveal/>
      </p:transition>
    </mc:Choice>
    <mc:Fallback>
      <p:transition spd="slow" advTm="140234">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a:t>Software Security Best Practices</a:t>
            </a:r>
            <a:endParaRPr lang="en-US" sz="3600" b="1" dirty="0"/>
          </a:p>
        </p:txBody>
      </p:sp>
      <p:sp>
        <p:nvSpPr>
          <p:cNvPr id="3" name="Content Placeholder 2"/>
          <p:cNvSpPr>
            <a:spLocks noGrp="1"/>
          </p:cNvSpPr>
          <p:nvPr>
            <p:ph idx="1"/>
          </p:nvPr>
        </p:nvSpPr>
        <p:spPr>
          <a:xfrm>
            <a:off x="685800" y="2194560"/>
            <a:ext cx="10369054" cy="4024125"/>
          </a:xfrm>
        </p:spPr>
        <p:txBody>
          <a:bodyPr>
            <a:normAutofit/>
          </a:bodyPr>
          <a:lstStyle/>
          <a:p>
            <a:pPr marL="0" indent="0">
              <a:buNone/>
            </a:pPr>
            <a:r>
              <a:rPr lang="en-US" sz="2400" b="1" dirty="0"/>
              <a:t>Encrypt software data: </a:t>
            </a:r>
            <a:endParaRPr lang="en-US" sz="2400" b="1" dirty="0"/>
          </a:p>
          <a:p>
            <a:pPr marL="0" indent="0">
              <a:buNone/>
            </a:pPr>
            <a:r>
              <a:rPr lang="en-US" b="1" dirty="0"/>
              <a:t>	</a:t>
            </a:r>
            <a:r>
              <a:rPr lang="en-US" dirty="0"/>
              <a:t>Data encryption transforms readable data into an unreadable, protected format. If a hacker is able to access this information, they would not be able to use it unless they have the encryption key. Make sure to encrypt all software data at rest and in transit.</a:t>
            </a:r>
            <a:endParaRPr lang="en-US" dirty="0"/>
          </a:p>
          <a:p>
            <a:pPr marL="0" indent="0">
              <a:buNone/>
            </a:pPr>
            <a:r>
              <a:rPr lang="en-US" sz="2400" b="1" dirty="0"/>
              <a:t>Automate software security tasks:</a:t>
            </a:r>
            <a:endParaRPr lang="en-US" sz="2400" b="1" dirty="0"/>
          </a:p>
          <a:p>
            <a:pPr marL="0" indent="0">
              <a:buNone/>
            </a:pPr>
            <a:r>
              <a:rPr lang="en-US" b="1" dirty="0"/>
              <a:t>	</a:t>
            </a:r>
            <a:r>
              <a:rPr lang="en-US" dirty="0"/>
              <a:t> It can be difficult to monitor your entire infrastructure for vulnerabilities. Consider investing in security software that performs these tasks for you. With automation, you can reduce human error and increase the scope of your security protocol.</a:t>
            </a:r>
            <a:endParaRPr lang="en-US" dirty="0"/>
          </a:p>
          <a:p>
            <a:pPr>
              <a:spcBef>
                <a:spcPts val="700"/>
              </a:spcBef>
              <a:buFont typeface="Wingdings" panose="05000000000000000000" pitchFamily="2" charset="2"/>
              <a:buChar char="v"/>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400" advTm="209848">
        <p14:reveal/>
      </p:transition>
    </mc:Choice>
    <mc:Fallback>
      <p:transition spd="slow" advTm="209848">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a:t>Software Security Best Practices</a:t>
            </a:r>
            <a:endParaRPr lang="en-US" sz="3600" b="1" dirty="0"/>
          </a:p>
        </p:txBody>
      </p:sp>
      <p:sp>
        <p:nvSpPr>
          <p:cNvPr id="3" name="Content Placeholder 2"/>
          <p:cNvSpPr>
            <a:spLocks noGrp="1"/>
          </p:cNvSpPr>
          <p:nvPr>
            <p:ph idx="1"/>
          </p:nvPr>
        </p:nvSpPr>
        <p:spPr/>
        <p:txBody>
          <a:bodyPr>
            <a:normAutofit/>
          </a:bodyPr>
          <a:lstStyle/>
          <a:p>
            <a:pPr marL="0" indent="0">
              <a:buNone/>
            </a:pPr>
            <a:r>
              <a:rPr lang="en-US" sz="2400" b="1" dirty="0"/>
              <a:t>Implement two-factor authentication</a:t>
            </a:r>
            <a:r>
              <a:rPr lang="en-US" sz="2400" dirty="0"/>
              <a:t>: </a:t>
            </a:r>
            <a:endParaRPr lang="en-US" sz="2400" dirty="0"/>
          </a:p>
          <a:p>
            <a:pPr marL="0" indent="0">
              <a:buNone/>
            </a:pPr>
            <a:r>
              <a:rPr lang="en-US" sz="2400" dirty="0"/>
              <a:t>	</a:t>
            </a:r>
            <a:r>
              <a:rPr lang="en-US" dirty="0"/>
              <a:t>This security protocol requires a user to provide two pieces of information in order to log into their account, such as sending a text to their phone. A hacker won’t be able to access the system even if they have one set of credentials.</a:t>
            </a:r>
            <a:endParaRPr lang="en-US" dirty="0"/>
          </a:p>
          <a:p>
            <a:pPr marL="0" indent="0">
              <a:buNone/>
            </a:pPr>
            <a:r>
              <a:rPr lang="en-US" sz="2400" b="1" dirty="0"/>
              <a:t>Perform employee training:</a:t>
            </a:r>
            <a:r>
              <a:rPr lang="en-US" dirty="0"/>
              <a:t> </a:t>
            </a:r>
            <a:endParaRPr lang="en-US" dirty="0"/>
          </a:p>
          <a:p>
            <a:pPr marL="0" indent="0">
              <a:buNone/>
            </a:pPr>
            <a:r>
              <a:rPr lang="en-US" dirty="0"/>
              <a:t>	All employees need to be aware of the importance of software security and know how to protect themselves and their data. Software security teams can host regular training sessions to keep everyone up to date.</a:t>
            </a:r>
            <a:endParaRPr lang="en-US" dirty="0"/>
          </a:p>
          <a:p>
            <a:pPr marL="0" indent="0">
              <a:buNone/>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400" advTm="320282">
        <p14:reveal/>
      </p:transition>
    </mc:Choice>
    <mc:Fallback>
      <p:transition spd="slow" advTm="320282">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t>Ensuring and Improving Software Security</a:t>
            </a:r>
            <a:br>
              <a:rPr lang="en-US" b="1" dirty="0"/>
            </a:br>
            <a:endParaRPr lang="en-US" b="1" dirty="0"/>
          </a:p>
        </p:txBody>
      </p:sp>
      <p:sp>
        <p:nvSpPr>
          <p:cNvPr id="3" name="Content Placeholder 2"/>
          <p:cNvSpPr>
            <a:spLocks noGrp="1"/>
          </p:cNvSpPr>
          <p:nvPr>
            <p:ph idx="1"/>
          </p:nvPr>
        </p:nvSpPr>
        <p:spPr/>
        <p:txBody>
          <a:bodyPr>
            <a:normAutofit/>
          </a:bodyPr>
          <a:lstStyle/>
          <a:p>
            <a:pPr marL="0" indent="0">
              <a:buNone/>
            </a:pPr>
            <a:r>
              <a:rPr lang="en-US" dirty="0"/>
              <a:t>	</a:t>
            </a:r>
            <a:r>
              <a:rPr lang="en-US" sz="2200" dirty="0"/>
              <a:t>Secure software development is an ongoing process. All new features, tools and software should adhere to security protocol and be free of vulnerabilities. To ensure and improve software security, it is important to:</a:t>
            </a:r>
            <a:endParaRPr lang="en-US" sz="2200" dirty="0"/>
          </a:p>
          <a:p>
            <a:pPr marL="457200" indent="-457200">
              <a:buFont typeface="+mj-lt"/>
              <a:buAutoNum type="arabicPeriod"/>
            </a:pPr>
            <a:r>
              <a:rPr lang="en-US" sz="2200" dirty="0"/>
              <a:t>Embed security improvements in the development life cycle.</a:t>
            </a:r>
            <a:endParaRPr lang="en-US" sz="2200" dirty="0"/>
          </a:p>
          <a:p>
            <a:pPr marL="457200" indent="-457200">
              <a:buFont typeface="+mj-lt"/>
              <a:buAutoNum type="arabicPeriod"/>
            </a:pPr>
            <a:r>
              <a:rPr lang="en-US" sz="2200" dirty="0"/>
              <a:t>Implement security best practices into the design and development of new features.</a:t>
            </a:r>
            <a:endParaRPr lang="en-US" sz="2200" dirty="0"/>
          </a:p>
          <a:p>
            <a:pPr marL="457200" indent="-457200">
              <a:buFont typeface="+mj-lt"/>
              <a:buAutoNum type="arabicPeriod"/>
            </a:pPr>
            <a:r>
              <a:rPr lang="en-US" sz="2200" dirty="0"/>
              <a:t>Perform regular application testing to identify potential weaknesses.</a:t>
            </a:r>
            <a:endParaRPr lang="en-US" sz="2200" dirty="0"/>
          </a:p>
          <a:p>
            <a:pPr marL="457200" indent="-457200">
              <a:buFont typeface="+mj-lt"/>
              <a:buAutoNum type="arabicPeriod"/>
            </a:pPr>
            <a:r>
              <a:rPr lang="en-US" sz="2200" dirty="0"/>
              <a:t>Patch or fix a vulnerability as soon as someone detects it.</a:t>
            </a:r>
            <a:endParaRPr lang="en-US" sz="2200" dirty="0"/>
          </a:p>
          <a:p>
            <a:pPr marL="457200" indent="-457200">
              <a:buFont typeface="+mj-lt"/>
              <a:buAutoNum type="arabicPeriod"/>
            </a:pPr>
            <a:r>
              <a:rPr lang="en-US" sz="2200" dirty="0"/>
              <a:t>Regularly update security protocol to stay ahead of evolving software security threats.</a:t>
            </a:r>
            <a:endParaRPr lang="en-US" sz="2200" dirty="0"/>
          </a:p>
          <a:p>
            <a:pPr marL="0" indent="0">
              <a:buNone/>
            </a:pPr>
            <a:endParaRPr lang="en-US" sz="2200" dirty="0"/>
          </a:p>
        </p:txBody>
      </p:sp>
    </p:spTree>
  </p:cSld>
  <p:clrMapOvr>
    <a:masterClrMapping/>
  </p:clrMapOvr>
  <mc:AlternateContent xmlns:mc="http://schemas.openxmlformats.org/markup-compatibility/2006">
    <mc:Choice xmlns:p14="http://schemas.microsoft.com/office/powerpoint/2010/main" Requires="p14">
      <p:transition spd="slow" p14:dur="3400" advTm="90939">
        <p14:reveal/>
      </p:transition>
    </mc:Choice>
    <mc:Fallback>
      <p:transition spd="slow" advTm="90939">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Assignment:</a:t>
            </a:r>
            <a:endParaRPr lang="en-US" b="1" dirty="0"/>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
            </a:pPr>
            <a:r>
              <a:rPr lang="en-US" sz="3200" b="1" dirty="0"/>
              <a:t>Understanding Software Security:</a:t>
            </a:r>
            <a:endParaRPr lang="en-US" sz="3200" b="1" dirty="0"/>
          </a:p>
          <a:p>
            <a:pPr lvl="1" algn="just">
              <a:buFont typeface="Wingdings" panose="05000000000000000000" pitchFamily="2" charset="2"/>
              <a:buChar char="§"/>
            </a:pPr>
            <a:r>
              <a:rPr lang="en-US" sz="2800" dirty="0"/>
              <a:t>Explain what software security is and why it is important in modern computing. Provide at least two real-world examples of software security breaches and discuss their impact.</a:t>
            </a:r>
            <a:endParaRPr lang="en-US" sz="2800" dirty="0"/>
          </a:p>
          <a:p>
            <a:pPr algn="just">
              <a:buFont typeface="Wingdings" panose="05000000000000000000" pitchFamily="2" charset="2"/>
              <a:buChar char="§"/>
            </a:pPr>
            <a:r>
              <a:rPr lang="en-US" sz="3200" b="1" dirty="0"/>
              <a:t>Common Security Vulnerabilities:</a:t>
            </a:r>
            <a:endParaRPr lang="en-US" sz="3200" b="1" dirty="0"/>
          </a:p>
          <a:p>
            <a:pPr lvl="1" algn="just">
              <a:buFont typeface="Wingdings" panose="05000000000000000000" pitchFamily="2" charset="2"/>
              <a:buChar char="§"/>
            </a:pPr>
            <a:r>
              <a:rPr lang="en-US" sz="2800" dirty="0"/>
              <a:t>Identify and describe three common software security vulnerabilities. For each vulnerability, explain how it can be exploited and suggest a method to prevent it.</a:t>
            </a:r>
            <a:endParaRPr lang="en-US" sz="2800" dirty="0"/>
          </a:p>
        </p:txBody>
      </p:sp>
    </p:spTree>
  </p:cSld>
  <p:clrMapOvr>
    <a:masterClrMapping/>
  </p:clrMapOvr>
  <mc:AlternateContent xmlns:mc="http://schemas.openxmlformats.org/markup-compatibility/2006">
    <mc:Choice xmlns:p14="http://schemas.microsoft.com/office/powerpoint/2010/main" Requires="p14">
      <p:transition spd="slow" p14:dur="2000" advTm="58361"/>
    </mc:Choice>
    <mc:Fallback>
      <p:transition spd="slow" advTm="58361"/>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7823" y="707813"/>
            <a:ext cx="8610600" cy="1293028"/>
          </a:xfrm>
        </p:spPr>
        <p:txBody>
          <a:bodyPr/>
          <a:lstStyle/>
          <a:p>
            <a:pPr algn="ctr"/>
            <a:endParaRPr lang="en-US" b="1" dirty="0"/>
          </a:p>
        </p:txBody>
      </p:sp>
      <p:sp>
        <p:nvSpPr>
          <p:cNvPr id="3" name="Content Placeholder 2"/>
          <p:cNvSpPr>
            <a:spLocks noGrp="1"/>
          </p:cNvSpPr>
          <p:nvPr>
            <p:ph idx="1"/>
          </p:nvPr>
        </p:nvSpPr>
        <p:spPr>
          <a:xfrm>
            <a:off x="877506" y="2699574"/>
            <a:ext cx="9603275" cy="3450613"/>
          </a:xfrm>
        </p:spPr>
        <p:txBody>
          <a:bodyPr>
            <a:normAutofit/>
          </a:bodyPr>
          <a:lstStyle/>
          <a:p>
            <a:pPr marL="0" indent="0" algn="ctr">
              <a:buNone/>
            </a:pPr>
            <a:r>
              <a:rPr lang="en-US" sz="6600" b="1" dirty="0"/>
              <a:t>Thank you</a:t>
            </a:r>
            <a:endParaRPr lang="en-US" sz="6600" b="1" dirty="0"/>
          </a:p>
          <a:p>
            <a:pPr marL="0" indent="0" algn="ctr">
              <a:buNone/>
            </a:pPr>
            <a:endParaRPr lang="en-US" sz="6600" b="1" dirty="0"/>
          </a:p>
        </p:txBody>
      </p:sp>
    </p:spTree>
  </p:cSld>
  <p:clrMapOvr>
    <a:masterClrMapping/>
  </p:clrMapOvr>
  <mc:AlternateContent xmlns:mc="http://schemas.openxmlformats.org/markup-compatibility/2006">
    <mc:Choice xmlns:p14="http://schemas.microsoft.com/office/powerpoint/2010/main" Requires="p14">
      <p:transition spd="slow" p14:dur="3400" advTm="2076">
        <p14:reveal/>
      </p:transition>
    </mc:Choice>
    <mc:Fallback>
      <p:transition spd="slow" advTm="2076">
        <p:fade/>
      </p:transition>
    </mc:Fallback>
  </mc:AlternateContent>
  <p:timing>
    <p:tnLst>
      <p:par>
        <p:cTn id="1" dur="indefinite" restart="never" nodeType="tmRoot"/>
      </p:par>
    </p:tnLst>
  </p:timing>
</p:sld>
</file>

<file path=ppt/tags/tag1.xml><?xml version="1.0" encoding="utf-8"?>
<p:tagLst xmlns:p="http://schemas.openxmlformats.org/presentationml/2006/main">
  <p:tag name="TIMING" val="|2|7.9"/>
</p:tagLst>
</file>

<file path=ppt/tags/tag2.xml><?xml version="1.0" encoding="utf-8"?>
<p:tagLst xmlns:p="http://schemas.openxmlformats.org/presentationml/2006/main">
  <p:tag name="TIMING" val="|2|7.9"/>
</p:tagLst>
</file>

<file path=ppt/tags/tag3.xml><?xml version="1.0" encoding="utf-8"?>
<p:tagLst xmlns:p="http://schemas.openxmlformats.org/presentationml/2006/main">
  <p:tag name="TIMING" val="|2|7.9"/>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0</TotalTime>
  <Words>7966</Words>
  <Application>WPS Presentation</Application>
  <PresentationFormat>Widescreen</PresentationFormat>
  <Paragraphs>169</Paragraphs>
  <Slides>24</Slides>
  <Notes>4</Notes>
  <HiddenSlides>0</HiddenSlides>
  <MMClips>24</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24</vt:i4>
      </vt:variant>
    </vt:vector>
  </HeadingPairs>
  <TitlesOfParts>
    <vt:vector size="39" baseType="lpstr">
      <vt:lpstr>Arial</vt:lpstr>
      <vt:lpstr>SimSun</vt:lpstr>
      <vt:lpstr>Wingdings</vt:lpstr>
      <vt:lpstr>Calibri</vt:lpstr>
      <vt:lpstr>Tahoma</vt:lpstr>
      <vt:lpstr>Roboto Black</vt:lpstr>
      <vt:lpstr>Roboto</vt:lpstr>
      <vt:lpstr>Roboto Light</vt:lpstr>
      <vt:lpstr>Times New Roman</vt:lpstr>
      <vt:lpstr>Lucida Sans Unicode</vt:lpstr>
      <vt:lpstr>Microsoft YaHei</vt:lpstr>
      <vt:lpstr>Arial Unicode MS</vt:lpstr>
      <vt:lpstr>Calibri Light</vt:lpstr>
      <vt:lpstr>Calibri</vt:lpstr>
      <vt:lpstr>Retrospect</vt:lpstr>
      <vt:lpstr>PowerPoint 演示文稿</vt:lpstr>
      <vt:lpstr>     Course Outline</vt:lpstr>
      <vt:lpstr>     Evaluation</vt:lpstr>
      <vt:lpstr>     References</vt:lpstr>
      <vt:lpstr>Introduction to  Software Security</vt:lpstr>
      <vt:lpstr>What is software Security?</vt:lpstr>
      <vt:lpstr>Why Is Software Security Important? </vt:lpstr>
      <vt:lpstr>Why Security Is a Software Issue? </vt:lpstr>
      <vt:lpstr>Vulnerability in Software Security</vt:lpstr>
      <vt:lpstr>List of Software Security Vulnerabilities and Weaknesses</vt:lpstr>
      <vt:lpstr>Some common types of software security weaknesses:</vt:lpstr>
      <vt:lpstr>Major Concerns with Software Security </vt:lpstr>
      <vt:lpstr>Major Concerns with Software Security</vt:lpstr>
      <vt:lpstr>Major Concerns with Software Security</vt:lpstr>
      <vt:lpstr>Software Security Tools and Responsibilities </vt:lpstr>
      <vt:lpstr>Software Security Tools and Responsibilities</vt:lpstr>
      <vt:lpstr>Software Security Tools and Responsibilities </vt:lpstr>
      <vt:lpstr>Software Security Best Practices </vt:lpstr>
      <vt:lpstr>Software Security Best Practices</vt:lpstr>
      <vt:lpstr>Software Security Best Practices</vt:lpstr>
      <vt:lpstr>Software Security Best Practices</vt:lpstr>
      <vt:lpstr>Ensuring and Improving Software Security </vt:lpstr>
      <vt:lpstr>Assignment: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Software Security</dc:title>
  <dc:creator>zain</dc:creator>
  <cp:lastModifiedBy>suhaib</cp:lastModifiedBy>
  <cp:revision>46</cp:revision>
  <dcterms:created xsi:type="dcterms:W3CDTF">2023-12-02T16:03:00Z</dcterms:created>
  <dcterms:modified xsi:type="dcterms:W3CDTF">2025-10-19T21:44:52Z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69C2071A9E9641359B10968FF5A1FB3B_12</vt:lpwstr>
  </property>
  <property fmtid="{D5CDD505-2E9C-101B-9397-08002B2CF9AE}" pid="3" name="KSOProductBuildVer">
    <vt:lpwstr>1033-12.2.0.21931</vt:lpwstr>
  </property>
</Properties>
</file>