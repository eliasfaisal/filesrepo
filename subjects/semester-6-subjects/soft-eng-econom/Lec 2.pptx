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8" r:id="rId2"/>
    <p:sldId id="299" r:id="rId3"/>
    <p:sldId id="300" r:id="rId4"/>
    <p:sldId id="301" r:id="rId5"/>
    <p:sldId id="319"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52" d="100"/>
          <a:sy n="52" d="100"/>
        </p:scale>
        <p:origin x="6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284458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1148791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237492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3C046E-5571-47FD-A6FE-C82F14AFB5A2}"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1942127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3C046E-5571-47FD-A6FE-C82F14AFB5A2}" type="datetimeFigureOut">
              <a:rPr lang="en-US" smtClean="0"/>
              <a:t>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1360491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3C046E-5571-47FD-A6FE-C82F14AFB5A2}" type="datetimeFigureOut">
              <a:rPr lang="en-US" smtClean="0"/>
              <a:t>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98083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C046E-5571-47FD-A6FE-C82F14AFB5A2}" type="datetimeFigureOut">
              <a:rPr lang="en-US" smtClean="0"/>
              <a:t>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294511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3C046E-5571-47FD-A6FE-C82F14AFB5A2}"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762039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3C046E-5571-47FD-A6FE-C82F14AFB5A2}" type="datetimeFigureOut">
              <a:rPr lang="en-US" smtClean="0"/>
              <a:t>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323600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191411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14632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141163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81518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3852606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39418971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3C046E-5571-47FD-A6FE-C82F14AFB5A2}" type="datetimeFigureOut">
              <a:rPr lang="en-US" smtClean="0"/>
              <a:t>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4DCBB9-D006-420C-9C76-9AF3568E0BBF}" type="slidenum">
              <a:rPr lang="en-US" smtClean="0"/>
              <a:t>‹#›</a:t>
            </a:fld>
            <a:endParaRPr lang="en-US"/>
          </a:p>
        </p:txBody>
      </p:sp>
    </p:spTree>
    <p:extLst>
      <p:ext uri="{BB962C8B-B14F-4D97-AF65-F5344CB8AC3E}">
        <p14:creationId xmlns:p14="http://schemas.microsoft.com/office/powerpoint/2010/main" val="3160692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3C046E-5571-47FD-A6FE-C82F14AFB5A2}" type="datetimeFigureOut">
              <a:rPr lang="en-US" smtClean="0"/>
              <a:t>2/23/2025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FD4DCBB9-D006-420C-9C76-9AF3568E0BBF}" type="slidenum">
              <a:rPr lang="en-US" smtClean="0"/>
              <a:t>‹#›</a:t>
            </a:fld>
            <a:endParaRPr lang="en-US"/>
          </a:p>
        </p:txBody>
      </p:sp>
    </p:spTree>
    <p:extLst>
      <p:ext uri="{BB962C8B-B14F-4D97-AF65-F5344CB8AC3E}">
        <p14:creationId xmlns:p14="http://schemas.microsoft.com/office/powerpoint/2010/main" val="2913204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5BA1C-6260-CE72-ABCE-08CCF6BF1320}"/>
              </a:ext>
            </a:extLst>
          </p:cNvPr>
          <p:cNvSpPr>
            <a:spLocks noGrp="1"/>
          </p:cNvSpPr>
          <p:nvPr>
            <p:ph type="title"/>
          </p:nvPr>
        </p:nvSpPr>
        <p:spPr/>
        <p:txBody>
          <a:bodyPr>
            <a:normAutofit/>
          </a:bodyPr>
          <a:lstStyle/>
          <a:p>
            <a:pPr algn="ctr"/>
            <a:r>
              <a:rPr lang="en-US" sz="5400" b="1" dirty="0"/>
              <a:t>LUC 2</a:t>
            </a:r>
          </a:p>
        </p:txBody>
      </p:sp>
      <p:sp>
        <p:nvSpPr>
          <p:cNvPr id="3" name="Content Placeholder 2">
            <a:extLst>
              <a:ext uri="{FF2B5EF4-FFF2-40B4-BE49-F238E27FC236}">
                <a16:creationId xmlns:a16="http://schemas.microsoft.com/office/drawing/2014/main" id="{50DCB427-DF53-3CB8-5842-BDA37598E827}"/>
              </a:ext>
            </a:extLst>
          </p:cNvPr>
          <p:cNvSpPr>
            <a:spLocks noGrp="1"/>
          </p:cNvSpPr>
          <p:nvPr>
            <p:ph idx="1"/>
          </p:nvPr>
        </p:nvSpPr>
        <p:spPr>
          <a:xfrm>
            <a:off x="763830" y="3191566"/>
            <a:ext cx="9195715" cy="1736035"/>
          </a:xfrm>
        </p:spPr>
        <p:txBody>
          <a:bodyPr>
            <a:normAutofit/>
          </a:bodyPr>
          <a:lstStyle/>
          <a:p>
            <a:pPr marL="0" indent="0" algn="ctr">
              <a:buNone/>
            </a:pPr>
            <a:r>
              <a:rPr lang="en-US" sz="5400" b="1" dirty="0">
                <a:solidFill>
                  <a:srgbClr val="00B050"/>
                </a:solidFill>
              </a:rPr>
              <a:t>Time Value of Money (TVM)</a:t>
            </a:r>
          </a:p>
        </p:txBody>
      </p:sp>
    </p:spTree>
    <p:extLst>
      <p:ext uri="{BB962C8B-B14F-4D97-AF65-F5344CB8AC3E}">
        <p14:creationId xmlns:p14="http://schemas.microsoft.com/office/powerpoint/2010/main" val="1478719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84BCB-E93F-EB44-CDA9-507456D1F1B2}"/>
              </a:ext>
            </a:extLst>
          </p:cNvPr>
          <p:cNvSpPr>
            <a:spLocks noGrp="1"/>
          </p:cNvSpPr>
          <p:nvPr>
            <p:ph type="title"/>
          </p:nvPr>
        </p:nvSpPr>
        <p:spPr>
          <a:xfrm>
            <a:off x="677333" y="609600"/>
            <a:ext cx="8849725" cy="1320800"/>
          </a:xfrm>
        </p:spPr>
        <p:txBody>
          <a:bodyPr>
            <a:normAutofit/>
          </a:bodyPr>
          <a:lstStyle/>
          <a:p>
            <a:r>
              <a:rPr lang="en-US" b="1" dirty="0"/>
              <a:t>Software and the Time Value of Money (TVM)</a:t>
            </a:r>
            <a:endParaRPr lang="en-US" dirty="0"/>
          </a:p>
        </p:txBody>
      </p:sp>
      <p:sp>
        <p:nvSpPr>
          <p:cNvPr id="3" name="Content Placeholder 2">
            <a:extLst>
              <a:ext uri="{FF2B5EF4-FFF2-40B4-BE49-F238E27FC236}">
                <a16:creationId xmlns:a16="http://schemas.microsoft.com/office/drawing/2014/main" id="{385F1A99-6751-15D2-B613-A031757DB356}"/>
              </a:ext>
            </a:extLst>
          </p:cNvPr>
          <p:cNvSpPr>
            <a:spLocks noGrp="1"/>
          </p:cNvSpPr>
          <p:nvPr>
            <p:ph idx="1"/>
          </p:nvPr>
        </p:nvSpPr>
        <p:spPr>
          <a:xfrm>
            <a:off x="432485" y="2273643"/>
            <a:ext cx="9514703" cy="4374292"/>
          </a:xfrm>
        </p:spPr>
        <p:txBody>
          <a:bodyPr>
            <a:normAutofit lnSpcReduction="10000"/>
          </a:bodyPr>
          <a:lstStyle/>
          <a:p>
            <a:r>
              <a:rPr lang="en-US" sz="3600" dirty="0"/>
              <a:t>The </a:t>
            </a:r>
            <a:r>
              <a:rPr lang="en-US" sz="3600" b="1" dirty="0">
                <a:solidFill>
                  <a:srgbClr val="00B050"/>
                </a:solidFill>
              </a:rPr>
              <a:t>Time Value of Money (TVM)</a:t>
            </a:r>
            <a:r>
              <a:rPr lang="en-US" sz="3600" dirty="0">
                <a:solidFill>
                  <a:srgbClr val="00B050"/>
                </a:solidFill>
              </a:rPr>
              <a:t> </a:t>
            </a:r>
            <a:r>
              <a:rPr lang="en-US" sz="3600" dirty="0"/>
              <a:t>is a </a:t>
            </a:r>
            <a:r>
              <a:rPr lang="en-US" sz="3600" dirty="0">
                <a:solidFill>
                  <a:srgbClr val="FF0000"/>
                </a:solidFill>
              </a:rPr>
              <a:t>financial</a:t>
            </a:r>
            <a:r>
              <a:rPr lang="en-US" sz="3600" dirty="0"/>
              <a:t> principle stating that money today is worth more than the same amount in the future due to its earning potential. In </a:t>
            </a:r>
            <a:r>
              <a:rPr lang="en-US" sz="3600" b="1" dirty="0"/>
              <a:t>software economics</a:t>
            </a:r>
            <a:r>
              <a:rPr lang="en-US" sz="3600" dirty="0"/>
              <a:t>, this principle is critical in decision-making for software investments, pricing, and financial planning.</a:t>
            </a:r>
          </a:p>
          <a:p>
            <a:endParaRPr lang="en-US" dirty="0"/>
          </a:p>
        </p:txBody>
      </p:sp>
    </p:spTree>
    <p:extLst>
      <p:ext uri="{BB962C8B-B14F-4D97-AF65-F5344CB8AC3E}">
        <p14:creationId xmlns:p14="http://schemas.microsoft.com/office/powerpoint/2010/main" val="2385041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6465-2FE8-34C2-8092-CF28CE5B0838}"/>
              </a:ext>
            </a:extLst>
          </p:cNvPr>
          <p:cNvSpPr>
            <a:spLocks noGrp="1"/>
          </p:cNvSpPr>
          <p:nvPr>
            <p:ph type="title"/>
          </p:nvPr>
        </p:nvSpPr>
        <p:spPr>
          <a:xfrm>
            <a:off x="457200" y="609599"/>
            <a:ext cx="9144000" cy="922639"/>
          </a:xfrm>
        </p:spPr>
        <p:txBody>
          <a:bodyPr>
            <a:normAutofit fontScale="90000"/>
          </a:bodyPr>
          <a:lstStyle/>
          <a:p>
            <a:r>
              <a:rPr lang="en-US" b="1" dirty="0"/>
              <a:t>Why TVM Matters in Software Development</a:t>
            </a:r>
            <a:br>
              <a:rPr lang="en-US" b="1" dirty="0"/>
            </a:br>
            <a:endParaRPr lang="en-US" dirty="0"/>
          </a:p>
        </p:txBody>
      </p:sp>
      <p:sp>
        <p:nvSpPr>
          <p:cNvPr id="3" name="Content Placeholder 2">
            <a:extLst>
              <a:ext uri="{FF2B5EF4-FFF2-40B4-BE49-F238E27FC236}">
                <a16:creationId xmlns:a16="http://schemas.microsoft.com/office/drawing/2014/main" id="{132D9630-18FF-1806-24A5-FBB0852C7176}"/>
              </a:ext>
            </a:extLst>
          </p:cNvPr>
          <p:cNvSpPr>
            <a:spLocks noGrp="1"/>
          </p:cNvSpPr>
          <p:nvPr>
            <p:ph idx="1"/>
          </p:nvPr>
        </p:nvSpPr>
        <p:spPr>
          <a:xfrm>
            <a:off x="271849" y="1828801"/>
            <a:ext cx="10392032" cy="4843848"/>
          </a:xfrm>
        </p:spPr>
        <p:txBody>
          <a:bodyPr>
            <a:normAutofit fontScale="92500"/>
          </a:bodyPr>
          <a:lstStyle/>
          <a:p>
            <a:pPr>
              <a:buFont typeface="Arial" panose="020B0604020202020204" pitchFamily="34" charset="0"/>
              <a:buChar char="•"/>
            </a:pPr>
            <a:r>
              <a:rPr lang="en-US" sz="3600" dirty="0"/>
              <a:t>Helps in evaluating </a:t>
            </a:r>
            <a:r>
              <a:rPr lang="en-US" sz="3600" b="1" dirty="0"/>
              <a:t>long-term software investments</a:t>
            </a:r>
            <a:r>
              <a:rPr lang="en-US" sz="3600" dirty="0"/>
              <a:t>.</a:t>
            </a:r>
          </a:p>
          <a:p>
            <a:pPr>
              <a:buFont typeface="Arial" panose="020B0604020202020204" pitchFamily="34" charset="0"/>
              <a:buChar char="•"/>
            </a:pPr>
            <a:r>
              <a:rPr lang="en-US" sz="3600" dirty="0"/>
              <a:t>Assesses whether </a:t>
            </a:r>
            <a:r>
              <a:rPr lang="en-US" sz="3600" b="1" dirty="0"/>
              <a:t>delaying a project</a:t>
            </a:r>
            <a:r>
              <a:rPr lang="en-US" sz="3600" dirty="0"/>
              <a:t> or </a:t>
            </a:r>
            <a:r>
              <a:rPr lang="en-US" sz="3600" b="1" dirty="0"/>
              <a:t>investing early</a:t>
            </a:r>
            <a:r>
              <a:rPr lang="en-US" sz="3600" dirty="0"/>
              <a:t> is financially beneficial.</a:t>
            </a:r>
          </a:p>
          <a:p>
            <a:pPr>
              <a:buFont typeface="Arial" panose="020B0604020202020204" pitchFamily="34" charset="0"/>
              <a:buChar char="•"/>
            </a:pPr>
            <a:r>
              <a:rPr lang="en-US" sz="3600" dirty="0"/>
              <a:t>Supports </a:t>
            </a:r>
            <a:r>
              <a:rPr lang="en-US" sz="3600" b="1" dirty="0">
                <a:solidFill>
                  <a:srgbClr val="00B0F0"/>
                </a:solidFill>
              </a:rPr>
              <a:t>ROI </a:t>
            </a:r>
            <a:r>
              <a:rPr lang="en-US" sz="3600" b="1" dirty="0"/>
              <a:t>(</a:t>
            </a:r>
            <a:r>
              <a:rPr lang="en-US" sz="3600" b="1" dirty="0">
                <a:solidFill>
                  <a:schemeClr val="accent2"/>
                </a:solidFill>
              </a:rPr>
              <a:t>Return on Investment</a:t>
            </a:r>
            <a:r>
              <a:rPr lang="en-US" sz="3600" b="1" dirty="0"/>
              <a:t>) and </a:t>
            </a:r>
            <a:r>
              <a:rPr lang="en-US" sz="3600" b="1" dirty="0">
                <a:solidFill>
                  <a:srgbClr val="00B0F0"/>
                </a:solidFill>
              </a:rPr>
              <a:t>NPV</a:t>
            </a:r>
            <a:r>
              <a:rPr lang="en-US" sz="3600" b="1" dirty="0"/>
              <a:t> (Net Present Value) calculations</a:t>
            </a:r>
            <a:r>
              <a:rPr lang="en-US" sz="3600" dirty="0"/>
              <a:t> for software projects.</a:t>
            </a:r>
          </a:p>
          <a:p>
            <a:pPr>
              <a:buFont typeface="Arial" panose="020B0604020202020204" pitchFamily="34" charset="0"/>
              <a:buChar char="•"/>
            </a:pPr>
            <a:r>
              <a:rPr lang="en-US" sz="3600" dirty="0"/>
              <a:t>Used in </a:t>
            </a:r>
            <a:r>
              <a:rPr lang="en-US" sz="3600" b="1" dirty="0"/>
              <a:t>SaaS pricing strategies</a:t>
            </a:r>
            <a:r>
              <a:rPr lang="en-US" sz="3600" dirty="0"/>
              <a:t> to determine long-term profitability.</a:t>
            </a:r>
          </a:p>
          <a:p>
            <a:endParaRPr lang="en-US" dirty="0"/>
          </a:p>
        </p:txBody>
      </p:sp>
    </p:spTree>
    <p:extLst>
      <p:ext uri="{BB962C8B-B14F-4D97-AF65-F5344CB8AC3E}">
        <p14:creationId xmlns:p14="http://schemas.microsoft.com/office/powerpoint/2010/main" val="3669792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02A0-4769-F3E0-28FD-D6670771A21C}"/>
              </a:ext>
            </a:extLst>
          </p:cNvPr>
          <p:cNvSpPr>
            <a:spLocks noGrp="1"/>
          </p:cNvSpPr>
          <p:nvPr>
            <p:ph type="title"/>
          </p:nvPr>
        </p:nvSpPr>
        <p:spPr/>
        <p:txBody>
          <a:bodyPr/>
          <a:lstStyle/>
          <a:p>
            <a:r>
              <a:rPr lang="en-US" b="1" dirty="0"/>
              <a:t>Key TVM Concepts in Software</a:t>
            </a:r>
            <a:br>
              <a:rPr lang="en-US" b="1" dirty="0"/>
            </a:br>
            <a:endParaRPr lang="en-US" dirty="0"/>
          </a:p>
        </p:txBody>
      </p:sp>
      <p:sp>
        <p:nvSpPr>
          <p:cNvPr id="3" name="Content Placeholder 2">
            <a:extLst>
              <a:ext uri="{FF2B5EF4-FFF2-40B4-BE49-F238E27FC236}">
                <a16:creationId xmlns:a16="http://schemas.microsoft.com/office/drawing/2014/main" id="{04E68F04-9E58-5FFF-8DAF-B295825D79F7}"/>
              </a:ext>
            </a:extLst>
          </p:cNvPr>
          <p:cNvSpPr>
            <a:spLocks noGrp="1"/>
          </p:cNvSpPr>
          <p:nvPr>
            <p:ph idx="1"/>
          </p:nvPr>
        </p:nvSpPr>
        <p:spPr>
          <a:xfrm>
            <a:off x="543339" y="1683027"/>
            <a:ext cx="9780103" cy="4784034"/>
          </a:xfrm>
        </p:spPr>
        <p:txBody>
          <a:bodyPr>
            <a:normAutofit fontScale="92500" lnSpcReduction="20000"/>
          </a:bodyPr>
          <a:lstStyle/>
          <a:p>
            <a:r>
              <a:rPr lang="en-US" sz="2800" b="1" dirty="0">
                <a:solidFill>
                  <a:schemeClr val="accent2"/>
                </a:solidFill>
              </a:rPr>
              <a:t>A. Present Value (PV) and Future Value (FV)</a:t>
            </a:r>
          </a:p>
          <a:p>
            <a:pPr>
              <a:buFont typeface="Arial" panose="020B0604020202020204" pitchFamily="34" charset="0"/>
              <a:buChar char="•"/>
            </a:pPr>
            <a:r>
              <a:rPr lang="en-US" sz="2300" b="1" dirty="0">
                <a:solidFill>
                  <a:schemeClr val="accent3">
                    <a:lumMod val="50000"/>
                  </a:schemeClr>
                </a:solidFill>
              </a:rPr>
              <a:t>Present Value (PV):</a:t>
            </a:r>
            <a:r>
              <a:rPr lang="en-US" sz="2300" dirty="0">
                <a:solidFill>
                  <a:schemeClr val="accent3">
                    <a:lumMod val="50000"/>
                  </a:schemeClr>
                </a:solidFill>
              </a:rPr>
              <a:t> </a:t>
            </a:r>
            <a:r>
              <a:rPr lang="en-US" sz="2300" dirty="0"/>
              <a:t>The current worth/value of future software revenue or costs.</a:t>
            </a:r>
          </a:p>
          <a:p>
            <a:pPr>
              <a:buFont typeface="Arial" panose="020B0604020202020204" pitchFamily="34" charset="0"/>
              <a:buChar char="•"/>
            </a:pPr>
            <a:r>
              <a:rPr lang="en-US" sz="2300" b="1" dirty="0">
                <a:solidFill>
                  <a:schemeClr val="accent3">
                    <a:lumMod val="50000"/>
                  </a:schemeClr>
                </a:solidFill>
              </a:rPr>
              <a:t>Future Value (FV):</a:t>
            </a:r>
            <a:r>
              <a:rPr lang="en-US" sz="2300" dirty="0">
                <a:solidFill>
                  <a:schemeClr val="accent3">
                    <a:lumMod val="50000"/>
                  </a:schemeClr>
                </a:solidFill>
              </a:rPr>
              <a:t> </a:t>
            </a:r>
            <a:r>
              <a:rPr lang="en-US" sz="2300" dirty="0"/>
              <a:t>The expected value of a software investment after a given time.</a:t>
            </a:r>
          </a:p>
          <a:p>
            <a:pPr>
              <a:buFont typeface="Arial" panose="020B0604020202020204" pitchFamily="34" charset="0"/>
              <a:buChar char="•"/>
            </a:pPr>
            <a:endParaRPr lang="en-US" sz="2300" dirty="0"/>
          </a:p>
          <a:p>
            <a:r>
              <a:rPr lang="en-US" sz="2300" b="1" dirty="0">
                <a:solidFill>
                  <a:schemeClr val="accent6"/>
                </a:solidFill>
              </a:rPr>
              <a:t>Formula:</a:t>
            </a:r>
            <a:endParaRPr lang="en-US" sz="2300" dirty="0">
              <a:solidFill>
                <a:schemeClr val="accent6"/>
              </a:solidFill>
            </a:endParaRPr>
          </a:p>
          <a:p>
            <a:r>
              <a:rPr lang="en-US" sz="2300" dirty="0"/>
              <a:t>FV=PV×(1+r)t      FV = PV \times (1 + r)^t</a:t>
            </a:r>
          </a:p>
          <a:p>
            <a:pPr>
              <a:buFont typeface="Arial" panose="020B0604020202020204" pitchFamily="34" charset="0"/>
              <a:buChar char="•"/>
            </a:pPr>
            <a:r>
              <a:rPr lang="en-US" sz="2300" dirty="0"/>
              <a:t>FV=PV×(1+r)t      PV=FV(1+r)t  </a:t>
            </a:r>
          </a:p>
          <a:p>
            <a:pPr>
              <a:buFont typeface="Arial" panose="020B0604020202020204" pitchFamily="34" charset="0"/>
              <a:buChar char="•"/>
            </a:pPr>
            <a:r>
              <a:rPr lang="en-US" sz="2300" dirty="0">
                <a:solidFill>
                  <a:srgbClr val="00B0F0"/>
                </a:solidFill>
              </a:rPr>
              <a:t> </a:t>
            </a:r>
            <a:r>
              <a:rPr lang="en-US" sz="2000" b="1" dirty="0">
                <a:solidFill>
                  <a:srgbClr val="00B0F0"/>
                </a:solidFill>
              </a:rPr>
              <a:t>r</a:t>
            </a:r>
            <a:r>
              <a:rPr lang="en-US" sz="2000" dirty="0">
                <a:solidFill>
                  <a:srgbClr val="00B0F0"/>
                </a:solidFill>
              </a:rPr>
              <a:t> = Discount rate (inflation, risk)</a:t>
            </a:r>
          </a:p>
          <a:p>
            <a:pPr>
              <a:buFont typeface="Arial" panose="020B0604020202020204" pitchFamily="34" charset="0"/>
              <a:buChar char="•"/>
            </a:pPr>
            <a:r>
              <a:rPr lang="en-US" sz="2000" b="1" dirty="0">
                <a:solidFill>
                  <a:srgbClr val="00B0F0"/>
                </a:solidFill>
              </a:rPr>
              <a:t>t</a:t>
            </a:r>
            <a:r>
              <a:rPr lang="en-US" sz="2000" dirty="0">
                <a:solidFill>
                  <a:srgbClr val="00B0F0"/>
                </a:solidFill>
              </a:rPr>
              <a:t> = Number of years</a:t>
            </a:r>
          </a:p>
          <a:p>
            <a:endParaRPr lang="en-US" sz="2300" dirty="0"/>
          </a:p>
          <a:p>
            <a:pPr marL="0" indent="0">
              <a:buNone/>
            </a:pPr>
            <a:r>
              <a:rPr lang="en-US" sz="2300" dirty="0"/>
              <a:t> </a:t>
            </a:r>
            <a:endParaRPr lang="en-US" dirty="0"/>
          </a:p>
        </p:txBody>
      </p:sp>
    </p:spTree>
    <p:extLst>
      <p:ext uri="{BB962C8B-B14F-4D97-AF65-F5344CB8AC3E}">
        <p14:creationId xmlns:p14="http://schemas.microsoft.com/office/powerpoint/2010/main" val="1847761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2887-0C2C-A89B-1D5A-22BADC69A624}"/>
              </a:ext>
            </a:extLst>
          </p:cNvPr>
          <p:cNvSpPr>
            <a:spLocks noGrp="1"/>
          </p:cNvSpPr>
          <p:nvPr>
            <p:ph type="title"/>
          </p:nvPr>
        </p:nvSpPr>
        <p:spPr>
          <a:xfrm>
            <a:off x="677334" y="609600"/>
            <a:ext cx="8596668" cy="724930"/>
          </a:xfrm>
        </p:spPr>
        <p:txBody>
          <a:bodyPr/>
          <a:lstStyle/>
          <a:p>
            <a:endParaRPr lang="en-US" dirty="0"/>
          </a:p>
        </p:txBody>
      </p:sp>
      <p:sp>
        <p:nvSpPr>
          <p:cNvPr id="3" name="Content Placeholder 2">
            <a:extLst>
              <a:ext uri="{FF2B5EF4-FFF2-40B4-BE49-F238E27FC236}">
                <a16:creationId xmlns:a16="http://schemas.microsoft.com/office/drawing/2014/main" id="{BC8A53D7-1B9C-9545-B817-F49D4E78F6C5}"/>
              </a:ext>
            </a:extLst>
          </p:cNvPr>
          <p:cNvSpPr>
            <a:spLocks noGrp="1"/>
          </p:cNvSpPr>
          <p:nvPr>
            <p:ph idx="1"/>
          </p:nvPr>
        </p:nvSpPr>
        <p:spPr>
          <a:xfrm>
            <a:off x="444843" y="1655806"/>
            <a:ext cx="10181968" cy="4806778"/>
          </a:xfrm>
        </p:spPr>
        <p:txBody>
          <a:bodyPr>
            <a:normAutofit/>
          </a:bodyPr>
          <a:lstStyle/>
          <a:p>
            <a:r>
              <a:rPr lang="en-US" sz="2400" dirty="0"/>
              <a:t>PV = \frac{FV}{(1 + r)^t}</a:t>
            </a:r>
          </a:p>
          <a:p>
            <a:r>
              <a:rPr lang="en-US" sz="2400" dirty="0"/>
              <a:t>PV=(1+r)t FV  ​</a:t>
            </a:r>
            <a:r>
              <a:rPr lang="en-US" sz="2400" b="1" dirty="0">
                <a:solidFill>
                  <a:schemeClr val="accent6"/>
                </a:solidFill>
              </a:rPr>
              <a:t>Where:</a:t>
            </a:r>
          </a:p>
          <a:p>
            <a:pPr>
              <a:buFont typeface="Arial" panose="020B0604020202020204" pitchFamily="34" charset="0"/>
              <a:buChar char="•"/>
            </a:pPr>
            <a:r>
              <a:rPr lang="en-US" sz="2400" b="1" dirty="0"/>
              <a:t>r</a:t>
            </a:r>
            <a:r>
              <a:rPr lang="en-US" sz="2400" dirty="0"/>
              <a:t> = Discount rate (inflation, risk)</a:t>
            </a:r>
          </a:p>
          <a:p>
            <a:pPr>
              <a:buFont typeface="Arial" panose="020B0604020202020204" pitchFamily="34" charset="0"/>
              <a:buChar char="•"/>
            </a:pPr>
            <a:r>
              <a:rPr lang="en-US" sz="2400" b="1" dirty="0"/>
              <a:t>t</a:t>
            </a:r>
            <a:r>
              <a:rPr lang="en-US" sz="2400" dirty="0"/>
              <a:t> = Number of years</a:t>
            </a:r>
          </a:p>
          <a:p>
            <a:r>
              <a:rPr lang="en-US" sz="2400" dirty="0"/>
              <a:t>🔹 </a:t>
            </a:r>
            <a:r>
              <a:rPr lang="en-US" sz="2400" b="1" u="sng" dirty="0">
                <a:solidFill>
                  <a:srgbClr val="00B0F0"/>
                </a:solidFill>
              </a:rPr>
              <a:t>Example:</a:t>
            </a:r>
            <a:r>
              <a:rPr lang="en-US" sz="2400" dirty="0"/>
              <a:t> A software project is expected to generate </a:t>
            </a:r>
            <a:r>
              <a:rPr lang="en-US" sz="2400" b="1" dirty="0"/>
              <a:t>$100,000 in 3 years</a:t>
            </a:r>
            <a:r>
              <a:rPr lang="en-US" sz="2400" dirty="0"/>
              <a:t> with a discount rate of </a:t>
            </a:r>
            <a:r>
              <a:rPr lang="en-US" sz="2400" b="1" dirty="0"/>
              <a:t>5%</a:t>
            </a:r>
            <a:r>
              <a:rPr lang="en-US" sz="2400" dirty="0"/>
              <a:t>.</a:t>
            </a:r>
          </a:p>
          <a:p>
            <a:r>
              <a:rPr lang="en-US" sz="2400" dirty="0"/>
              <a:t>PV=100,000(1.05)3=86,384  </a:t>
            </a:r>
          </a:p>
          <a:p>
            <a:r>
              <a:rPr lang="en-US" sz="2400" dirty="0"/>
              <a:t>Or  PV = \frac{100,000}{(1.05)^3} = 86,384  </a:t>
            </a:r>
          </a:p>
          <a:p>
            <a:r>
              <a:rPr lang="en-US" sz="2400" dirty="0">
                <a:solidFill>
                  <a:srgbClr val="00B0F0"/>
                </a:solidFill>
              </a:rPr>
              <a:t>Next one   </a:t>
            </a:r>
            <a:r>
              <a:rPr lang="en-US" sz="2400" dirty="0"/>
              <a:t>PV=(1.05)3 *100,000​=86,384</a:t>
            </a:r>
          </a:p>
          <a:p>
            <a:r>
              <a:rPr lang="en-US" sz="2400" dirty="0"/>
              <a:t>👉 </a:t>
            </a:r>
            <a:r>
              <a:rPr lang="en-US" sz="2400" b="1" dirty="0"/>
              <a:t>Today’s equivalent value of future revenue is $86,384.</a:t>
            </a:r>
            <a:endParaRPr lang="en-US" sz="2400" dirty="0"/>
          </a:p>
        </p:txBody>
      </p:sp>
    </p:spTree>
    <p:extLst>
      <p:ext uri="{BB962C8B-B14F-4D97-AF65-F5344CB8AC3E}">
        <p14:creationId xmlns:p14="http://schemas.microsoft.com/office/powerpoint/2010/main" val="2032597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92014-5D9C-F55B-9B4F-35D5D684BAE0}"/>
              </a:ext>
            </a:extLst>
          </p:cNvPr>
          <p:cNvSpPr>
            <a:spLocks noGrp="1"/>
          </p:cNvSpPr>
          <p:nvPr>
            <p:ph type="title"/>
          </p:nvPr>
        </p:nvSpPr>
        <p:spPr/>
        <p:txBody>
          <a:bodyPr>
            <a:normAutofit fontScale="90000"/>
          </a:bodyPr>
          <a:lstStyle/>
          <a:p>
            <a:r>
              <a:rPr lang="en-US" b="1" dirty="0"/>
              <a:t>B. Net Present Value (NPV) in Software Projects</a:t>
            </a:r>
            <a:br>
              <a:rPr lang="en-US" b="1" dirty="0"/>
            </a:br>
            <a:endParaRPr lang="en-US" dirty="0"/>
          </a:p>
        </p:txBody>
      </p:sp>
      <p:sp>
        <p:nvSpPr>
          <p:cNvPr id="3" name="Content Placeholder 2">
            <a:extLst>
              <a:ext uri="{FF2B5EF4-FFF2-40B4-BE49-F238E27FC236}">
                <a16:creationId xmlns:a16="http://schemas.microsoft.com/office/drawing/2014/main" id="{68CD21F2-CD2B-9802-00A5-6724CAAB5A13}"/>
              </a:ext>
            </a:extLst>
          </p:cNvPr>
          <p:cNvSpPr>
            <a:spLocks noGrp="1"/>
          </p:cNvSpPr>
          <p:nvPr>
            <p:ph idx="1"/>
          </p:nvPr>
        </p:nvSpPr>
        <p:spPr>
          <a:xfrm>
            <a:off x="677334" y="1930400"/>
            <a:ext cx="10136440" cy="4927599"/>
          </a:xfrm>
        </p:spPr>
        <p:txBody>
          <a:bodyPr>
            <a:normAutofit/>
          </a:bodyPr>
          <a:lstStyle/>
          <a:p>
            <a:pPr>
              <a:buFont typeface="Arial" panose="020B0604020202020204" pitchFamily="34" charset="0"/>
              <a:buChar char="•"/>
            </a:pPr>
            <a:r>
              <a:rPr lang="en-US" sz="2800" dirty="0"/>
              <a:t>Measures if a software investment is </a:t>
            </a:r>
            <a:r>
              <a:rPr lang="en-US" sz="2800" b="1" dirty="0"/>
              <a:t>profitable</a:t>
            </a:r>
            <a:r>
              <a:rPr lang="en-US" sz="2800" dirty="0"/>
              <a:t>.</a:t>
            </a:r>
          </a:p>
          <a:p>
            <a:pPr>
              <a:buFont typeface="Arial" panose="020B0604020202020204" pitchFamily="34" charset="0"/>
              <a:buChar char="•"/>
            </a:pPr>
            <a:r>
              <a:rPr lang="en-US" sz="2800" dirty="0"/>
              <a:t>A </a:t>
            </a:r>
            <a:r>
              <a:rPr lang="en-US" sz="2800" b="1" dirty="0"/>
              <a:t>positive NPV</a:t>
            </a:r>
            <a:r>
              <a:rPr lang="en-US" sz="2800" dirty="0"/>
              <a:t> means the project </a:t>
            </a:r>
            <a:r>
              <a:rPr lang="en-US" sz="2800" b="1" dirty="0">
                <a:solidFill>
                  <a:schemeClr val="accent6"/>
                </a:solidFill>
              </a:rPr>
              <a:t>adds value</a:t>
            </a:r>
            <a:r>
              <a:rPr lang="en-US" sz="2800" dirty="0"/>
              <a:t>, while a </a:t>
            </a:r>
            <a:r>
              <a:rPr lang="en-US" sz="2800" b="1" dirty="0"/>
              <a:t>negative NPV</a:t>
            </a:r>
            <a:r>
              <a:rPr lang="en-US" sz="2800" dirty="0"/>
              <a:t> suggests a loss.</a:t>
            </a:r>
          </a:p>
          <a:p>
            <a:pPr marL="0" indent="0">
              <a:buNone/>
            </a:pPr>
            <a:r>
              <a:rPr lang="en-US" sz="2800" dirty="0"/>
              <a:t> </a:t>
            </a:r>
            <a:r>
              <a:rPr lang="en-US" sz="2800" b="1" dirty="0">
                <a:solidFill>
                  <a:schemeClr val="accent2"/>
                </a:solidFill>
              </a:rPr>
              <a:t>Formula:</a:t>
            </a:r>
            <a:endParaRPr lang="en-US" sz="2800" dirty="0">
              <a:solidFill>
                <a:schemeClr val="accent2"/>
              </a:solidFill>
            </a:endParaRPr>
          </a:p>
          <a:p>
            <a:r>
              <a:rPr lang="en-US" sz="2800" dirty="0"/>
              <a:t>NPV=∑Ct(1+r)t−C0NPV    = \sum \frac{</a:t>
            </a:r>
            <a:r>
              <a:rPr lang="en-US" sz="2800" dirty="0" err="1"/>
              <a:t>C_t</a:t>
            </a:r>
            <a:r>
              <a:rPr lang="en-US" sz="2800" dirty="0"/>
              <a:t>}{(1 + r)^t} - C_0NPV=∑(1+r)</a:t>
            </a:r>
            <a:r>
              <a:rPr lang="en-US" sz="2800" dirty="0" err="1"/>
              <a:t>tCt</a:t>
            </a:r>
            <a:r>
              <a:rPr lang="en-US" sz="2800" dirty="0"/>
              <a:t>​​−C0   ​</a:t>
            </a:r>
            <a:r>
              <a:rPr lang="en-US" sz="2800" dirty="0">
                <a:solidFill>
                  <a:schemeClr val="accent6"/>
                </a:solidFill>
              </a:rPr>
              <a:t>Where:</a:t>
            </a:r>
          </a:p>
          <a:p>
            <a:pPr>
              <a:buFont typeface="Arial" panose="020B0604020202020204" pitchFamily="34" charset="0"/>
              <a:buChar char="•"/>
            </a:pPr>
            <a:r>
              <a:rPr lang="en-US" sz="2400" b="1" dirty="0">
                <a:solidFill>
                  <a:srgbClr val="00B0F0"/>
                </a:solidFill>
                <a:latin typeface="Andalus" panose="02020603050405020304" pitchFamily="18" charset="-78"/>
                <a:cs typeface="Andalus" panose="02020603050405020304" pitchFamily="18" charset="-78"/>
              </a:rPr>
              <a:t>C₀</a:t>
            </a:r>
            <a:r>
              <a:rPr lang="en-US" sz="2400" dirty="0">
                <a:solidFill>
                  <a:srgbClr val="00B0F0"/>
                </a:solidFill>
                <a:latin typeface="Andalus" panose="02020603050405020304" pitchFamily="18" charset="-78"/>
                <a:cs typeface="Andalus" panose="02020603050405020304" pitchFamily="18" charset="-78"/>
              </a:rPr>
              <a:t> = Initial cost of software development.</a:t>
            </a:r>
          </a:p>
          <a:p>
            <a:pPr>
              <a:buFont typeface="Arial" panose="020B0604020202020204" pitchFamily="34" charset="0"/>
              <a:buChar char="•"/>
            </a:pPr>
            <a:r>
              <a:rPr lang="en-US" sz="2400" b="1" dirty="0">
                <a:solidFill>
                  <a:srgbClr val="00B0F0"/>
                </a:solidFill>
                <a:latin typeface="Andalus" panose="02020603050405020304" pitchFamily="18" charset="-78"/>
                <a:cs typeface="Andalus" panose="02020603050405020304" pitchFamily="18" charset="-78"/>
              </a:rPr>
              <a:t>Cₜ</a:t>
            </a:r>
            <a:r>
              <a:rPr lang="en-US" sz="2400" dirty="0">
                <a:solidFill>
                  <a:srgbClr val="00B0F0"/>
                </a:solidFill>
                <a:latin typeface="Andalus" panose="02020603050405020304" pitchFamily="18" charset="-78"/>
                <a:cs typeface="Andalus" panose="02020603050405020304" pitchFamily="18" charset="-78"/>
              </a:rPr>
              <a:t> = Cash inflows in year </a:t>
            </a:r>
            <a:r>
              <a:rPr lang="en-US" sz="2400" b="1" dirty="0">
                <a:solidFill>
                  <a:srgbClr val="00B0F0"/>
                </a:solidFill>
                <a:latin typeface="Andalus" panose="02020603050405020304" pitchFamily="18" charset="-78"/>
                <a:cs typeface="Andalus" panose="02020603050405020304" pitchFamily="18" charset="-78"/>
              </a:rPr>
              <a:t>t</a:t>
            </a:r>
            <a:r>
              <a:rPr lang="en-US" sz="2400" dirty="0">
                <a:solidFill>
                  <a:srgbClr val="00B0F0"/>
                </a:solidFill>
                <a:latin typeface="Andalus" panose="02020603050405020304" pitchFamily="18" charset="-78"/>
                <a:cs typeface="Andalus" panose="02020603050405020304" pitchFamily="18" charset="-78"/>
              </a:rPr>
              <a:t>.</a:t>
            </a:r>
          </a:p>
          <a:p>
            <a:pPr>
              <a:buFont typeface="Arial" panose="020B0604020202020204" pitchFamily="34" charset="0"/>
              <a:buChar char="•"/>
            </a:pPr>
            <a:r>
              <a:rPr lang="en-US" sz="2400" b="1" dirty="0">
                <a:solidFill>
                  <a:srgbClr val="00B0F0"/>
                </a:solidFill>
                <a:latin typeface="Andalus" panose="02020603050405020304" pitchFamily="18" charset="-78"/>
                <a:cs typeface="Andalus" panose="02020603050405020304" pitchFamily="18" charset="-78"/>
              </a:rPr>
              <a:t>r</a:t>
            </a:r>
            <a:r>
              <a:rPr lang="en-US" sz="2400" dirty="0">
                <a:solidFill>
                  <a:srgbClr val="00B0F0"/>
                </a:solidFill>
                <a:latin typeface="Andalus" panose="02020603050405020304" pitchFamily="18" charset="-78"/>
                <a:cs typeface="Andalus" panose="02020603050405020304" pitchFamily="18" charset="-78"/>
              </a:rPr>
              <a:t> = Discount rate.</a:t>
            </a:r>
          </a:p>
          <a:p>
            <a:endParaRPr lang="en-US" dirty="0"/>
          </a:p>
        </p:txBody>
      </p:sp>
    </p:spTree>
    <p:extLst>
      <p:ext uri="{BB962C8B-B14F-4D97-AF65-F5344CB8AC3E}">
        <p14:creationId xmlns:p14="http://schemas.microsoft.com/office/powerpoint/2010/main" val="202573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8B495-E777-B7FB-A788-778CA02D90E8}"/>
              </a:ext>
            </a:extLst>
          </p:cNvPr>
          <p:cNvSpPr>
            <a:spLocks noGrp="1"/>
          </p:cNvSpPr>
          <p:nvPr>
            <p:ph type="title"/>
          </p:nvPr>
        </p:nvSpPr>
        <p:spPr/>
        <p:txBody>
          <a:bodyPr/>
          <a:lstStyle/>
          <a:p>
            <a:r>
              <a:rPr lang="en-US" b="1" dirty="0"/>
              <a:t>Example:</a:t>
            </a:r>
            <a:endParaRPr lang="en-US" dirty="0"/>
          </a:p>
        </p:txBody>
      </p:sp>
      <p:sp>
        <p:nvSpPr>
          <p:cNvPr id="3" name="Content Placeholder 2">
            <a:extLst>
              <a:ext uri="{FF2B5EF4-FFF2-40B4-BE49-F238E27FC236}">
                <a16:creationId xmlns:a16="http://schemas.microsoft.com/office/drawing/2014/main" id="{4C110E4D-E330-E9FF-F096-776BB7E13B43}"/>
              </a:ext>
            </a:extLst>
          </p:cNvPr>
          <p:cNvSpPr>
            <a:spLocks noGrp="1"/>
          </p:cNvSpPr>
          <p:nvPr>
            <p:ph idx="1"/>
          </p:nvPr>
        </p:nvSpPr>
        <p:spPr>
          <a:xfrm>
            <a:off x="677334" y="1594022"/>
            <a:ext cx="9566596" cy="5263978"/>
          </a:xfrm>
        </p:spPr>
        <p:txBody>
          <a:bodyPr>
            <a:normAutofit/>
          </a:bodyPr>
          <a:lstStyle/>
          <a:p>
            <a:r>
              <a:rPr lang="en-US" sz="2400" dirty="0"/>
              <a:t>🔹 A software startup invests </a:t>
            </a:r>
            <a:r>
              <a:rPr lang="en-US" sz="2400" b="1" dirty="0">
                <a:solidFill>
                  <a:schemeClr val="accent2"/>
                </a:solidFill>
              </a:rPr>
              <a:t>$500,000</a:t>
            </a:r>
            <a:r>
              <a:rPr lang="en-US" sz="2400" dirty="0">
                <a:solidFill>
                  <a:schemeClr val="accent2"/>
                </a:solidFill>
              </a:rPr>
              <a:t> </a:t>
            </a:r>
            <a:r>
              <a:rPr lang="en-US" sz="2400" dirty="0"/>
              <a:t>in development. Expected revenue:</a:t>
            </a:r>
          </a:p>
          <a:p>
            <a:pPr>
              <a:buFont typeface="Arial" panose="020B0604020202020204" pitchFamily="34" charset="0"/>
              <a:buChar char="•"/>
            </a:pPr>
            <a:r>
              <a:rPr lang="en-US" sz="2400" dirty="0"/>
              <a:t>Year 1: $200,000</a:t>
            </a:r>
          </a:p>
          <a:p>
            <a:pPr>
              <a:buFont typeface="Arial" panose="020B0604020202020204" pitchFamily="34" charset="0"/>
              <a:buChar char="•"/>
            </a:pPr>
            <a:r>
              <a:rPr lang="en-US" sz="2400" dirty="0"/>
              <a:t>Year 2: $250,000</a:t>
            </a:r>
          </a:p>
          <a:p>
            <a:pPr>
              <a:buFont typeface="Arial" panose="020B0604020202020204" pitchFamily="34" charset="0"/>
              <a:buChar char="•"/>
            </a:pPr>
            <a:r>
              <a:rPr lang="en-US" sz="2400" dirty="0"/>
              <a:t>Year 3: $300,000</a:t>
            </a:r>
          </a:p>
          <a:p>
            <a:pPr>
              <a:buFont typeface="Arial" panose="020B0604020202020204" pitchFamily="34" charset="0"/>
              <a:buChar char="•"/>
            </a:pPr>
            <a:r>
              <a:rPr lang="en-US" sz="2400" dirty="0"/>
              <a:t>Discount rate: </a:t>
            </a:r>
            <a:r>
              <a:rPr lang="en-US" sz="2400" b="1" dirty="0"/>
              <a:t>10%</a:t>
            </a:r>
            <a:endParaRPr lang="en-US" sz="2400" dirty="0"/>
          </a:p>
          <a:p>
            <a:r>
              <a:rPr lang="en-US" sz="2400" dirty="0"/>
              <a:t>NPV=200,000(1.1)1+250,000(1.1)2+300,000(1.1)3−500,000</a:t>
            </a:r>
          </a:p>
          <a:p>
            <a:r>
              <a:rPr lang="en-US" sz="2400" dirty="0"/>
              <a:t>NPV = \frac{200,000}{(1.1)^1} + \frac{250,000}{(1.1)^2} + \frac{300,000}{(1.1)^3} - 500,000  NPV=(1.1)1200,000​+(1.1)2250,000​+(1.1)3300,000​−500,000👉 </a:t>
            </a:r>
            <a:r>
              <a:rPr lang="en-US" sz="2400" b="1" dirty="0"/>
              <a:t>If NPV is positive, the project is worth investing in.</a:t>
            </a:r>
            <a:endParaRPr lang="en-US" sz="2400" dirty="0"/>
          </a:p>
          <a:p>
            <a:endParaRPr lang="en-US" dirty="0"/>
          </a:p>
        </p:txBody>
      </p:sp>
    </p:spTree>
    <p:extLst>
      <p:ext uri="{BB962C8B-B14F-4D97-AF65-F5344CB8AC3E}">
        <p14:creationId xmlns:p14="http://schemas.microsoft.com/office/powerpoint/2010/main" val="3294828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1D9EF-45C7-DDD6-97C2-4BD95F6DB309}"/>
              </a:ext>
            </a:extLst>
          </p:cNvPr>
          <p:cNvSpPr>
            <a:spLocks noGrp="1"/>
          </p:cNvSpPr>
          <p:nvPr>
            <p:ph type="title"/>
          </p:nvPr>
        </p:nvSpPr>
        <p:spPr>
          <a:xfrm>
            <a:off x="677334" y="609600"/>
            <a:ext cx="8596668" cy="663146"/>
          </a:xfrm>
        </p:spPr>
        <p:txBody>
          <a:bodyPr>
            <a:normAutofit fontScale="90000"/>
          </a:bodyPr>
          <a:lstStyle/>
          <a:p>
            <a:r>
              <a:rPr lang="en-US" b="1" dirty="0"/>
              <a:t>C. Internal Rate of Return (IRR)</a:t>
            </a:r>
            <a:br>
              <a:rPr lang="en-US" b="1" dirty="0"/>
            </a:br>
            <a:endParaRPr lang="en-US" dirty="0"/>
          </a:p>
        </p:txBody>
      </p:sp>
      <p:sp>
        <p:nvSpPr>
          <p:cNvPr id="3" name="Content Placeholder 2">
            <a:extLst>
              <a:ext uri="{FF2B5EF4-FFF2-40B4-BE49-F238E27FC236}">
                <a16:creationId xmlns:a16="http://schemas.microsoft.com/office/drawing/2014/main" id="{84B90FCD-97F0-1E2D-EA8F-1AF15D3F09FB}"/>
              </a:ext>
            </a:extLst>
          </p:cNvPr>
          <p:cNvSpPr>
            <a:spLocks noGrp="1"/>
          </p:cNvSpPr>
          <p:nvPr>
            <p:ph idx="1"/>
          </p:nvPr>
        </p:nvSpPr>
        <p:spPr>
          <a:xfrm>
            <a:off x="345989" y="2137719"/>
            <a:ext cx="9700054" cy="3903643"/>
          </a:xfrm>
        </p:spPr>
        <p:txBody>
          <a:bodyPr/>
          <a:lstStyle/>
          <a:p>
            <a:pPr>
              <a:buFont typeface="Arial" panose="020B0604020202020204" pitchFamily="34" charset="0"/>
              <a:buChar char="•"/>
            </a:pPr>
            <a:r>
              <a:rPr lang="en-US" sz="3200" dirty="0"/>
              <a:t>IRR is the </a:t>
            </a:r>
            <a:r>
              <a:rPr lang="en-US" sz="3200" b="1" dirty="0"/>
              <a:t>discount rate </a:t>
            </a:r>
            <a:r>
              <a:rPr lang="en-US" sz="3200" b="1" dirty="0">
                <a:solidFill>
                  <a:schemeClr val="accent2"/>
                </a:solidFill>
              </a:rPr>
              <a:t>where</a:t>
            </a:r>
            <a:r>
              <a:rPr lang="en-US" sz="3200" b="1" dirty="0"/>
              <a:t> NPV = 0</a:t>
            </a:r>
            <a:r>
              <a:rPr lang="en-US" sz="3200" dirty="0"/>
              <a:t>.</a:t>
            </a:r>
          </a:p>
          <a:p>
            <a:pPr>
              <a:buFont typeface="Arial" panose="020B0604020202020204" pitchFamily="34" charset="0"/>
              <a:buChar char="•"/>
            </a:pPr>
            <a:r>
              <a:rPr lang="en-US" sz="3200" dirty="0"/>
              <a:t>Used to compare </a:t>
            </a:r>
            <a:r>
              <a:rPr lang="en-US" sz="3200" b="1" dirty="0"/>
              <a:t>multiple software investments</a:t>
            </a:r>
            <a:r>
              <a:rPr lang="en-US" sz="3200" dirty="0"/>
              <a:t>.</a:t>
            </a:r>
          </a:p>
          <a:p>
            <a:pPr>
              <a:buFont typeface="Arial" panose="020B0604020202020204" pitchFamily="34" charset="0"/>
              <a:buChar char="•"/>
            </a:pPr>
            <a:r>
              <a:rPr lang="en-US" sz="3200" dirty="0"/>
              <a:t>A higher IRR means a better return on investment.</a:t>
            </a:r>
          </a:p>
          <a:p>
            <a:endParaRPr lang="en-US" dirty="0"/>
          </a:p>
        </p:txBody>
      </p:sp>
    </p:spTree>
    <p:extLst>
      <p:ext uri="{BB962C8B-B14F-4D97-AF65-F5344CB8AC3E}">
        <p14:creationId xmlns:p14="http://schemas.microsoft.com/office/powerpoint/2010/main" val="1481338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89F4-8ACA-3720-CE6A-E649A424D72A}"/>
              </a:ext>
            </a:extLst>
          </p:cNvPr>
          <p:cNvSpPr>
            <a:spLocks noGrp="1"/>
          </p:cNvSpPr>
          <p:nvPr>
            <p:ph type="title"/>
          </p:nvPr>
        </p:nvSpPr>
        <p:spPr/>
        <p:txBody>
          <a:bodyPr>
            <a:normAutofit fontScale="90000"/>
          </a:bodyPr>
          <a:lstStyle/>
          <a:p>
            <a:r>
              <a:rPr lang="en-US" b="1" dirty="0"/>
              <a:t>Payback Period in Software Development</a:t>
            </a:r>
            <a:br>
              <a:rPr lang="en-US" b="1" dirty="0"/>
            </a:br>
            <a:endParaRPr lang="en-US" dirty="0"/>
          </a:p>
        </p:txBody>
      </p:sp>
      <p:sp>
        <p:nvSpPr>
          <p:cNvPr id="3" name="Content Placeholder 2">
            <a:extLst>
              <a:ext uri="{FF2B5EF4-FFF2-40B4-BE49-F238E27FC236}">
                <a16:creationId xmlns:a16="http://schemas.microsoft.com/office/drawing/2014/main" id="{2277DBC4-76E8-7DFD-A4C2-445F95007CC2}"/>
              </a:ext>
            </a:extLst>
          </p:cNvPr>
          <p:cNvSpPr>
            <a:spLocks noGrp="1"/>
          </p:cNvSpPr>
          <p:nvPr>
            <p:ph idx="1"/>
          </p:nvPr>
        </p:nvSpPr>
        <p:spPr>
          <a:xfrm>
            <a:off x="677333" y="1930401"/>
            <a:ext cx="9035077" cy="4680464"/>
          </a:xfrm>
        </p:spPr>
        <p:txBody>
          <a:bodyPr>
            <a:normAutofit/>
          </a:bodyPr>
          <a:lstStyle/>
          <a:p>
            <a:pPr>
              <a:buFont typeface="Arial" panose="020B0604020202020204" pitchFamily="34" charset="0"/>
              <a:buChar char="•"/>
            </a:pPr>
            <a:r>
              <a:rPr lang="en-US" sz="4000" dirty="0"/>
              <a:t>The time required to recover initial investment costs.</a:t>
            </a:r>
          </a:p>
          <a:p>
            <a:pPr>
              <a:buFont typeface="Arial" panose="020B0604020202020204" pitchFamily="34" charset="0"/>
              <a:buChar char="•"/>
            </a:pPr>
            <a:r>
              <a:rPr lang="en-US" sz="4000" dirty="0"/>
              <a:t>Shorter payback = lower risk.</a:t>
            </a:r>
          </a:p>
          <a:p>
            <a:pPr>
              <a:buFont typeface="Arial" panose="020B0604020202020204" pitchFamily="34" charset="0"/>
              <a:buChar char="•"/>
            </a:pPr>
            <a:r>
              <a:rPr lang="en-US" sz="4000" dirty="0"/>
              <a:t>Used in </a:t>
            </a:r>
            <a:r>
              <a:rPr lang="en-US" sz="4000" b="1" dirty="0"/>
              <a:t>SaaS business models</a:t>
            </a:r>
            <a:r>
              <a:rPr lang="en-US" sz="4000" dirty="0"/>
              <a:t> to determine when subscription revenue covers development costs.</a:t>
            </a:r>
          </a:p>
          <a:p>
            <a:endParaRPr lang="en-US" dirty="0"/>
          </a:p>
        </p:txBody>
      </p:sp>
    </p:spTree>
    <p:extLst>
      <p:ext uri="{BB962C8B-B14F-4D97-AF65-F5344CB8AC3E}">
        <p14:creationId xmlns:p14="http://schemas.microsoft.com/office/powerpoint/2010/main" val="399020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B446B-2CC9-A448-5BC3-404214ECADEC}"/>
              </a:ext>
            </a:extLst>
          </p:cNvPr>
          <p:cNvSpPr>
            <a:spLocks noGrp="1"/>
          </p:cNvSpPr>
          <p:nvPr>
            <p:ph type="title"/>
          </p:nvPr>
        </p:nvSpPr>
        <p:spPr>
          <a:xfrm>
            <a:off x="677334" y="609600"/>
            <a:ext cx="8596668" cy="947351"/>
          </a:xfrm>
        </p:spPr>
        <p:txBody>
          <a:bodyPr>
            <a:normAutofit fontScale="90000"/>
          </a:bodyPr>
          <a:lstStyle/>
          <a:p>
            <a:r>
              <a:rPr lang="en-US" sz="4400" b="1" dirty="0"/>
              <a:t>TVM in Software Business Models</a:t>
            </a:r>
            <a:endParaRPr lang="en-US" sz="4400" dirty="0"/>
          </a:p>
        </p:txBody>
      </p:sp>
      <p:sp>
        <p:nvSpPr>
          <p:cNvPr id="3" name="Content Placeholder 2">
            <a:extLst>
              <a:ext uri="{FF2B5EF4-FFF2-40B4-BE49-F238E27FC236}">
                <a16:creationId xmlns:a16="http://schemas.microsoft.com/office/drawing/2014/main" id="{7E328BAD-6242-0C56-B855-683C89643BBF}"/>
              </a:ext>
            </a:extLst>
          </p:cNvPr>
          <p:cNvSpPr>
            <a:spLocks noGrp="1"/>
          </p:cNvSpPr>
          <p:nvPr>
            <p:ph idx="1"/>
          </p:nvPr>
        </p:nvSpPr>
        <p:spPr>
          <a:xfrm>
            <a:off x="395416" y="1828800"/>
            <a:ext cx="9984259" cy="5029200"/>
          </a:xfrm>
        </p:spPr>
        <p:txBody>
          <a:bodyPr>
            <a:normAutofit/>
          </a:bodyPr>
          <a:lstStyle/>
          <a:p>
            <a:r>
              <a:rPr lang="en-US" sz="2000" b="1" dirty="0">
                <a:solidFill>
                  <a:srgbClr val="C00000"/>
                </a:solidFill>
              </a:rPr>
              <a:t>A. SaaS and Recurring Revenue</a:t>
            </a:r>
          </a:p>
          <a:p>
            <a:pPr>
              <a:buFont typeface="Arial" panose="020B0604020202020204" pitchFamily="34" charset="0"/>
              <a:buChar char="•"/>
            </a:pPr>
            <a:r>
              <a:rPr lang="en-US" sz="2000" b="1" dirty="0"/>
              <a:t>Subscription-based models use TVM to optimize pricing.</a:t>
            </a:r>
            <a:endParaRPr lang="en-US" sz="2000" dirty="0"/>
          </a:p>
          <a:p>
            <a:pPr>
              <a:buFont typeface="Arial" panose="020B0604020202020204" pitchFamily="34" charset="0"/>
              <a:buChar char="•"/>
            </a:pPr>
            <a:r>
              <a:rPr lang="en-US" sz="2000" b="1" dirty="0">
                <a:solidFill>
                  <a:schemeClr val="accent2"/>
                </a:solidFill>
              </a:rPr>
              <a:t>Example:</a:t>
            </a:r>
            <a:r>
              <a:rPr lang="en-US" sz="2000" dirty="0"/>
              <a:t> A SaaS company values long-term customer contracts </a:t>
            </a:r>
            <a:r>
              <a:rPr lang="en-US" sz="2000" b="1" dirty="0"/>
              <a:t>more than one-time sales</a:t>
            </a:r>
            <a:r>
              <a:rPr lang="en-US" sz="2000" dirty="0"/>
              <a:t> due to compounding revenue.</a:t>
            </a:r>
          </a:p>
          <a:p>
            <a:r>
              <a:rPr lang="en-US" sz="2000" b="1" dirty="0">
                <a:solidFill>
                  <a:srgbClr val="C00000"/>
                </a:solidFill>
              </a:rPr>
              <a:t>B. Cloud Computing vs. On-Premise Software</a:t>
            </a:r>
          </a:p>
          <a:p>
            <a:pPr>
              <a:buFont typeface="Arial" panose="020B0604020202020204" pitchFamily="34" charset="0"/>
              <a:buChar char="•"/>
            </a:pPr>
            <a:r>
              <a:rPr lang="en-US" sz="2000" dirty="0"/>
              <a:t>Cloud services require </a:t>
            </a:r>
            <a:r>
              <a:rPr lang="en-US" sz="2000" b="1" dirty="0"/>
              <a:t>ongoing payments (</a:t>
            </a:r>
            <a:r>
              <a:rPr lang="en-US" sz="2000" b="1" dirty="0" err="1"/>
              <a:t>OpEx</a:t>
            </a:r>
            <a:r>
              <a:rPr lang="en-US" sz="2000" b="1" dirty="0"/>
              <a:t>)</a:t>
            </a:r>
            <a:r>
              <a:rPr lang="en-US" sz="2000" dirty="0"/>
              <a:t> but offer </a:t>
            </a:r>
            <a:r>
              <a:rPr lang="en-US" sz="2000" b="1" dirty="0"/>
              <a:t>lower upfront costs</a:t>
            </a:r>
            <a:r>
              <a:rPr lang="en-US" sz="2000" dirty="0"/>
              <a:t>.</a:t>
            </a:r>
          </a:p>
          <a:p>
            <a:pPr>
              <a:buFont typeface="Arial" panose="020B0604020202020204" pitchFamily="34" charset="0"/>
              <a:buChar char="•"/>
            </a:pPr>
            <a:r>
              <a:rPr lang="en-US" sz="2000" dirty="0"/>
              <a:t>On-premise software requires </a:t>
            </a:r>
            <a:r>
              <a:rPr lang="en-US" sz="2000" b="1" dirty="0"/>
              <a:t>high upfront costs (</a:t>
            </a:r>
            <a:r>
              <a:rPr lang="en-US" sz="2000" b="1" dirty="0" err="1"/>
              <a:t>CapEx</a:t>
            </a:r>
            <a:r>
              <a:rPr lang="en-US" sz="2000" b="1" dirty="0"/>
              <a:t>)</a:t>
            </a:r>
            <a:r>
              <a:rPr lang="en-US" sz="2000" dirty="0"/>
              <a:t> but no recurring fees.</a:t>
            </a:r>
          </a:p>
          <a:p>
            <a:pPr>
              <a:buFont typeface="Arial" panose="020B0604020202020204" pitchFamily="34" charset="0"/>
              <a:buChar char="•"/>
            </a:pPr>
            <a:r>
              <a:rPr lang="en-US" sz="2000" b="1" dirty="0"/>
              <a:t>TVM helps companies decide</a:t>
            </a:r>
            <a:r>
              <a:rPr lang="en-US" sz="2000" dirty="0"/>
              <a:t> which model is financially beneficial in the long run.</a:t>
            </a:r>
          </a:p>
          <a:p>
            <a:r>
              <a:rPr lang="en-US" sz="2000" b="1" dirty="0">
                <a:solidFill>
                  <a:srgbClr val="C00000"/>
                </a:solidFill>
              </a:rPr>
              <a:t>C. Software Licensing vs. Custom Development</a:t>
            </a:r>
          </a:p>
          <a:p>
            <a:pPr>
              <a:buFont typeface="Arial" panose="020B0604020202020204" pitchFamily="34" charset="0"/>
              <a:buChar char="•"/>
            </a:pPr>
            <a:r>
              <a:rPr lang="en-US" sz="2000" dirty="0"/>
              <a:t>Companies evaluate whether </a:t>
            </a:r>
            <a:r>
              <a:rPr lang="en-US" sz="2000" b="1" dirty="0"/>
              <a:t>buying (license fee) or building (custom software development)</a:t>
            </a:r>
            <a:r>
              <a:rPr lang="en-US" sz="2000" dirty="0"/>
              <a:t> offers better long-term value.</a:t>
            </a:r>
          </a:p>
          <a:p>
            <a:endParaRPr lang="en-US" dirty="0"/>
          </a:p>
        </p:txBody>
      </p:sp>
    </p:spTree>
    <p:extLst>
      <p:ext uri="{BB962C8B-B14F-4D97-AF65-F5344CB8AC3E}">
        <p14:creationId xmlns:p14="http://schemas.microsoft.com/office/powerpoint/2010/main" val="203553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3FA8-CA18-2D31-9E67-40DAB690D407}"/>
              </a:ext>
            </a:extLst>
          </p:cNvPr>
          <p:cNvSpPr>
            <a:spLocks noGrp="1"/>
          </p:cNvSpPr>
          <p:nvPr>
            <p:ph type="title"/>
          </p:nvPr>
        </p:nvSpPr>
        <p:spPr/>
        <p:txBody>
          <a:bodyPr/>
          <a:lstStyle/>
          <a:p>
            <a:r>
              <a:rPr lang="en-US" b="1" dirty="0"/>
              <a:t>4. Best Practices for Applying TVM in Software Decisions</a:t>
            </a:r>
            <a:endParaRPr lang="en-US" dirty="0"/>
          </a:p>
        </p:txBody>
      </p:sp>
      <p:sp>
        <p:nvSpPr>
          <p:cNvPr id="3" name="Content Placeholder 2">
            <a:extLst>
              <a:ext uri="{FF2B5EF4-FFF2-40B4-BE49-F238E27FC236}">
                <a16:creationId xmlns:a16="http://schemas.microsoft.com/office/drawing/2014/main" id="{895001BA-7287-F5CF-0AE3-2ACC6847678D}"/>
              </a:ext>
            </a:extLst>
          </p:cNvPr>
          <p:cNvSpPr>
            <a:spLocks noGrp="1"/>
          </p:cNvSpPr>
          <p:nvPr>
            <p:ph idx="1"/>
          </p:nvPr>
        </p:nvSpPr>
        <p:spPr>
          <a:xfrm>
            <a:off x="370703" y="2160589"/>
            <a:ext cx="9465275" cy="4697411"/>
          </a:xfrm>
        </p:spPr>
        <p:txBody>
          <a:bodyPr>
            <a:normAutofit/>
          </a:bodyPr>
          <a:lstStyle/>
          <a:p>
            <a:r>
              <a:rPr lang="en-US" sz="2400" dirty="0"/>
              <a:t>✅ </a:t>
            </a:r>
            <a:r>
              <a:rPr lang="en-US" sz="2400" b="1" dirty="0"/>
              <a:t>Consider inflation and risk</a:t>
            </a:r>
            <a:r>
              <a:rPr lang="en-US" sz="2400" dirty="0"/>
              <a:t> when projecting software revenue.</a:t>
            </a:r>
            <a:br>
              <a:rPr lang="en-US" sz="2400" dirty="0"/>
            </a:br>
            <a:r>
              <a:rPr lang="en-US" sz="2400" dirty="0"/>
              <a:t>✅ </a:t>
            </a:r>
            <a:r>
              <a:rPr lang="en-US" sz="2400" b="1" dirty="0"/>
              <a:t>Use NPV for software investment analysis</a:t>
            </a:r>
            <a:r>
              <a:rPr lang="en-US" sz="2400" dirty="0"/>
              <a:t> rather than relying solely on ROI.</a:t>
            </a:r>
            <a:br>
              <a:rPr lang="en-US" sz="2400" dirty="0"/>
            </a:br>
            <a:r>
              <a:rPr lang="en-US" sz="2400" dirty="0"/>
              <a:t>✅ </a:t>
            </a:r>
            <a:r>
              <a:rPr lang="en-US" sz="2400" b="1" dirty="0"/>
              <a:t>Optimize SaaS pricing models</a:t>
            </a:r>
            <a:r>
              <a:rPr lang="en-US" sz="2400" dirty="0"/>
              <a:t> based on customer lifetime value (LTV).</a:t>
            </a:r>
            <a:br>
              <a:rPr lang="en-US" sz="2400" dirty="0"/>
            </a:br>
            <a:r>
              <a:rPr lang="en-US" sz="2400" dirty="0"/>
              <a:t>✅ </a:t>
            </a:r>
            <a:r>
              <a:rPr lang="en-US" sz="2400" b="1" dirty="0"/>
              <a:t>Balance short-term and long-term gains</a:t>
            </a:r>
            <a:r>
              <a:rPr lang="en-US" sz="2400" dirty="0"/>
              <a:t> when deciding on software purchases.</a:t>
            </a:r>
            <a:br>
              <a:rPr lang="en-US" sz="2400" dirty="0"/>
            </a:br>
            <a:r>
              <a:rPr lang="en-US" sz="2400" dirty="0"/>
              <a:t>✅ </a:t>
            </a:r>
            <a:r>
              <a:rPr lang="en-US" sz="2400" b="1" dirty="0"/>
              <a:t>Automate cost-benefit analysis</a:t>
            </a:r>
            <a:r>
              <a:rPr lang="en-US" sz="2400" dirty="0"/>
              <a:t> using financial modeling tools.</a:t>
            </a:r>
          </a:p>
          <a:p>
            <a:endParaRPr lang="en-US" dirty="0"/>
          </a:p>
        </p:txBody>
      </p:sp>
    </p:spTree>
    <p:extLst>
      <p:ext uri="{BB962C8B-B14F-4D97-AF65-F5344CB8AC3E}">
        <p14:creationId xmlns:p14="http://schemas.microsoft.com/office/powerpoint/2010/main" val="842208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F9D6-B0D5-9701-2A15-0F27B7A1048B}"/>
              </a:ext>
            </a:extLst>
          </p:cNvPr>
          <p:cNvSpPr>
            <a:spLocks noGrp="1"/>
          </p:cNvSpPr>
          <p:nvPr>
            <p:ph type="title"/>
          </p:nvPr>
        </p:nvSpPr>
        <p:spPr>
          <a:xfrm>
            <a:off x="677334" y="609600"/>
            <a:ext cx="8596668" cy="56429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93D46C2-50D0-6CA0-C7FF-E61A3DDFF5BD}"/>
              </a:ext>
            </a:extLst>
          </p:cNvPr>
          <p:cNvSpPr>
            <a:spLocks noGrp="1"/>
          </p:cNvSpPr>
          <p:nvPr>
            <p:ph idx="1"/>
          </p:nvPr>
        </p:nvSpPr>
        <p:spPr>
          <a:xfrm>
            <a:off x="677333" y="1445742"/>
            <a:ext cx="9171001" cy="5251620"/>
          </a:xfrm>
        </p:spPr>
        <p:txBody>
          <a:bodyPr>
            <a:normAutofit lnSpcReduction="10000"/>
          </a:bodyPr>
          <a:lstStyle/>
          <a:p>
            <a:r>
              <a:rPr lang="en-US" sz="2800" b="0" i="0" dirty="0">
                <a:solidFill>
                  <a:srgbClr val="404040"/>
                </a:solidFill>
                <a:effectLst/>
                <a:latin typeface="Inter"/>
              </a:rPr>
              <a:t>The </a:t>
            </a:r>
            <a:r>
              <a:rPr lang="en-US" sz="2800" b="1" i="0" dirty="0">
                <a:solidFill>
                  <a:srgbClr val="404040"/>
                </a:solidFill>
                <a:effectLst/>
                <a:latin typeface="Inter"/>
              </a:rPr>
              <a:t>Time Value of Money (TVM)</a:t>
            </a:r>
            <a:r>
              <a:rPr lang="en-US" sz="2800" b="0" i="0" dirty="0">
                <a:solidFill>
                  <a:srgbClr val="404040"/>
                </a:solidFill>
                <a:effectLst/>
                <a:latin typeface="Inter"/>
              </a:rPr>
              <a:t> is a financial concept that states that money available today is worth more than the same amount in the future due to its potential earning capacity. This principle is widely used in finance for investment analysis, loan calculations, retirement planning, and more</a:t>
            </a:r>
          </a:p>
          <a:p>
            <a:r>
              <a:rPr lang="en-US" sz="2800" b="1" i="0" dirty="0">
                <a:solidFill>
                  <a:srgbClr val="404040"/>
                </a:solidFill>
                <a:effectLst/>
                <a:latin typeface="Inter"/>
              </a:rPr>
              <a:t>Software for Time Value of Money (TVM) Calculations:</a:t>
            </a:r>
            <a:br>
              <a:rPr lang="en-US" sz="2800" dirty="0"/>
            </a:br>
            <a:r>
              <a:rPr lang="en-US" sz="2800" b="0" i="0" dirty="0">
                <a:solidFill>
                  <a:srgbClr val="404040"/>
                </a:solidFill>
                <a:effectLst/>
                <a:latin typeface="Inter"/>
              </a:rPr>
              <a:t>There are many software tools and applications that can help you perform TVM calculations. These tools can compute present value (PV), future value (FV), interest rates, payment amounts, and more. Below are some popular options:</a:t>
            </a:r>
            <a:endParaRPr lang="en-US" sz="2800" dirty="0"/>
          </a:p>
        </p:txBody>
      </p:sp>
    </p:spTree>
    <p:extLst>
      <p:ext uri="{BB962C8B-B14F-4D97-AF65-F5344CB8AC3E}">
        <p14:creationId xmlns:p14="http://schemas.microsoft.com/office/powerpoint/2010/main" val="1098410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0C06-558F-4FF9-0935-FF92FFA0BED4}"/>
              </a:ext>
            </a:extLst>
          </p:cNvPr>
          <p:cNvSpPr>
            <a:spLocks noGrp="1"/>
          </p:cNvSpPr>
          <p:nvPr>
            <p:ph type="title"/>
          </p:nvPr>
        </p:nvSpPr>
        <p:spPr>
          <a:xfrm>
            <a:off x="677334" y="609600"/>
            <a:ext cx="8596668" cy="1033849"/>
          </a:xfrm>
        </p:spPr>
        <p:txBody>
          <a:bodyPr>
            <a:noAutofit/>
          </a:bodyPr>
          <a:lstStyle/>
          <a:p>
            <a:r>
              <a:rPr lang="en-US" altLang="en-US" sz="4000" b="1" dirty="0">
                <a:solidFill>
                  <a:schemeClr val="accent2"/>
                </a:solidFill>
                <a:latin typeface="Inter"/>
              </a:rPr>
              <a:t>Microsoft Excel</a:t>
            </a:r>
            <a:r>
              <a:rPr lang="en-US" altLang="en-US" sz="4000" dirty="0">
                <a:solidFill>
                  <a:schemeClr val="accent2"/>
                </a:solidFill>
                <a:latin typeface="Inter"/>
              </a:rPr>
              <a:t> or </a:t>
            </a:r>
            <a:r>
              <a:rPr lang="en-US" altLang="en-US" sz="4000" b="1" dirty="0">
                <a:solidFill>
                  <a:schemeClr val="accent2"/>
                </a:solidFill>
                <a:latin typeface="Inter"/>
              </a:rPr>
              <a:t>Google Sheets</a:t>
            </a:r>
            <a:r>
              <a:rPr lang="en-US" altLang="en-US" sz="4000" dirty="0">
                <a:solidFill>
                  <a:schemeClr val="accent2"/>
                </a:solidFill>
                <a:latin typeface="Inter"/>
              </a:rPr>
              <a:t>:</a:t>
            </a:r>
            <a:br>
              <a:rPr lang="en-US" altLang="en-US" sz="2400" dirty="0">
                <a:solidFill>
                  <a:schemeClr val="accent2"/>
                </a:solidFill>
              </a:rPr>
            </a:br>
            <a:endParaRPr lang="en-US" sz="4000" dirty="0">
              <a:solidFill>
                <a:schemeClr val="accent2"/>
              </a:solidFill>
            </a:endParaRPr>
          </a:p>
        </p:txBody>
      </p:sp>
      <p:sp>
        <p:nvSpPr>
          <p:cNvPr id="4" name="Rectangle 1">
            <a:extLst>
              <a:ext uri="{FF2B5EF4-FFF2-40B4-BE49-F238E27FC236}">
                <a16:creationId xmlns:a16="http://schemas.microsoft.com/office/drawing/2014/main" id="{C22FED6B-DE24-045F-92F2-CEFC085BE886}"/>
              </a:ext>
            </a:extLst>
          </p:cNvPr>
          <p:cNvSpPr>
            <a:spLocks noGrp="1" noChangeArrowheads="1"/>
          </p:cNvSpPr>
          <p:nvPr>
            <p:ph idx="1"/>
          </p:nvPr>
        </p:nvSpPr>
        <p:spPr bwMode="auto">
          <a:xfrm>
            <a:off x="553767" y="2093746"/>
            <a:ext cx="8973292" cy="3939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153"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04040"/>
                </a:solidFill>
                <a:effectLst/>
                <a:latin typeface="Inter"/>
              </a:rPr>
              <a:t>Built-in financial functions for TVM calculations: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var(--ds-font-family-code)"/>
              </a:rPr>
              <a:t>PV()</a:t>
            </a:r>
            <a:r>
              <a:rPr kumimoji="0" lang="en-US" altLang="en-US" sz="2800" b="0" i="0" u="none" strike="noStrike" cap="none" normalizeH="0" baseline="0" dirty="0">
                <a:ln>
                  <a:noFill/>
                </a:ln>
                <a:solidFill>
                  <a:srgbClr val="404040"/>
                </a:solidFill>
                <a:effectLst/>
                <a:latin typeface="Inter"/>
              </a:rPr>
              <a:t>:  Present Value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var(--ds-font-family-code)"/>
              </a:rPr>
              <a:t>FV()</a:t>
            </a:r>
            <a:r>
              <a:rPr kumimoji="0" lang="en-US" altLang="en-US" sz="2800" b="0" i="0" u="none" strike="noStrike" cap="none" normalizeH="0" baseline="0" dirty="0">
                <a:ln>
                  <a:noFill/>
                </a:ln>
                <a:solidFill>
                  <a:srgbClr val="404040"/>
                </a:solidFill>
                <a:effectLst/>
                <a:latin typeface="Inter"/>
              </a:rPr>
              <a:t>: Future Value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var(--ds-font-family-code)"/>
              </a:rPr>
              <a:t>PMT()</a:t>
            </a:r>
            <a:r>
              <a:rPr kumimoji="0" lang="en-US" altLang="en-US" sz="2800" b="0" i="0" u="none" strike="noStrike" cap="none" normalizeH="0" baseline="0" dirty="0">
                <a:ln>
                  <a:noFill/>
                </a:ln>
                <a:solidFill>
                  <a:srgbClr val="404040"/>
                </a:solidFill>
                <a:effectLst/>
                <a:latin typeface="Inter"/>
              </a:rPr>
              <a:t>: Payment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var(--ds-font-family-code)"/>
              </a:rPr>
              <a:t>RATE()</a:t>
            </a:r>
            <a:r>
              <a:rPr kumimoji="0" lang="en-US" altLang="en-US" sz="2800" b="0" i="0" u="none" strike="noStrike" cap="none" normalizeH="0" baseline="0" dirty="0">
                <a:ln>
                  <a:noFill/>
                </a:ln>
                <a:solidFill>
                  <a:srgbClr val="404040"/>
                </a:solidFill>
                <a:effectLst/>
                <a:latin typeface="Inter"/>
              </a:rPr>
              <a:t>: Interest Rate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var(--ds-font-family-code)"/>
              </a:rPr>
              <a:t>NPER()</a:t>
            </a:r>
            <a:r>
              <a:rPr kumimoji="0" lang="en-US" altLang="en-US" sz="2800" b="0" i="0" u="none" strike="noStrike" cap="none" normalizeH="0" baseline="0" dirty="0">
                <a:ln>
                  <a:noFill/>
                </a:ln>
                <a:solidFill>
                  <a:srgbClr val="404040"/>
                </a:solidFill>
                <a:effectLst/>
                <a:latin typeface="Inter"/>
              </a:rPr>
              <a:t>: Number of Periods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2"/>
                </a:solidFill>
                <a:effectLst/>
                <a:latin typeface="Inter"/>
              </a:rPr>
              <a:t>Example</a:t>
            </a:r>
            <a:r>
              <a:rPr kumimoji="0" lang="en-US" altLang="en-US" sz="2800" b="0" i="0" u="none" strike="noStrike" cap="none" normalizeH="0" baseline="0" dirty="0">
                <a:ln>
                  <a:noFill/>
                </a:ln>
                <a:solidFill>
                  <a:srgbClr val="404040"/>
                </a:solidFill>
                <a:effectLst/>
                <a:latin typeface="Inter"/>
              </a:rPr>
              <a:t>: Calculate the future value of an investment: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rgbClr val="404040"/>
              </a:solidFill>
              <a:effectLst/>
              <a:latin typeface="Inter"/>
            </a:endParaRPr>
          </a:p>
        </p:txBody>
      </p:sp>
      <p:sp>
        <p:nvSpPr>
          <p:cNvPr id="6" name="TextBox 5">
            <a:extLst>
              <a:ext uri="{FF2B5EF4-FFF2-40B4-BE49-F238E27FC236}">
                <a16:creationId xmlns:a16="http://schemas.microsoft.com/office/drawing/2014/main" id="{DAD61A75-5713-2D92-30A7-069B4EF90534}"/>
              </a:ext>
            </a:extLst>
          </p:cNvPr>
          <p:cNvSpPr txBox="1"/>
          <p:nvPr/>
        </p:nvSpPr>
        <p:spPr>
          <a:xfrm>
            <a:off x="1043698" y="6032956"/>
            <a:ext cx="6384234"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=FV(rate,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nper</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US" sz="1800" b="0" i="0" u="none" strike="noStrike" kern="1200" cap="none" spc="0" normalizeH="0" baseline="0" noProof="0" dirty="0" err="1">
                <a:ln>
                  <a:noFill/>
                </a:ln>
                <a:solidFill>
                  <a:srgbClr val="C00000"/>
                </a:solidFill>
                <a:effectLst/>
                <a:uLnTx/>
                <a:uFillTx/>
                <a:latin typeface="Trebuchet MS" panose="020B0603020202020204"/>
                <a:ea typeface="+mn-ea"/>
                <a:cs typeface="+mn-cs"/>
              </a:rPr>
              <a:t>pmt</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Trebuchet MS" panose="020B0603020202020204"/>
                <a:ea typeface="+mn-ea"/>
                <a:cs typeface="+mn-cs"/>
              </a:rPr>
              <a:t>pv</a:t>
            </a:r>
            <a:r>
              <a:rPr kumimoji="0" lang="en-US" sz="1800" b="0" i="0" u="none" strike="noStrike" kern="1200" cap="none" spc="0" normalizeH="0" baseline="0" noProof="0" dirty="0">
                <a:ln>
                  <a:noFill/>
                </a:ln>
                <a:solidFill>
                  <a:prstClr val="black"/>
                </a:solidFill>
                <a:effectLst/>
                <a:uLnTx/>
                <a:uFillTx/>
                <a:latin typeface="Trebuchet MS" panose="020B0603020202020204"/>
                <a:ea typeface="+mn-ea"/>
                <a:cs typeface="+mn-cs"/>
              </a:rPr>
              <a:t>], [type])</a:t>
            </a:r>
          </a:p>
        </p:txBody>
      </p:sp>
    </p:spTree>
    <p:extLst>
      <p:ext uri="{BB962C8B-B14F-4D97-AF65-F5344CB8AC3E}">
        <p14:creationId xmlns:p14="http://schemas.microsoft.com/office/powerpoint/2010/main" val="1994153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53D4E-AD1B-DD97-3DCE-7CD9C2580D31}"/>
              </a:ext>
            </a:extLst>
          </p:cNvPr>
          <p:cNvSpPr>
            <a:spLocks noGrp="1"/>
          </p:cNvSpPr>
          <p:nvPr>
            <p:ph type="title"/>
          </p:nvPr>
        </p:nvSpPr>
        <p:spPr>
          <a:xfrm>
            <a:off x="677334" y="609600"/>
            <a:ext cx="8596668" cy="51486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6E413F1C-B0E3-9E79-FECB-A08FA8733A69}"/>
              </a:ext>
            </a:extLst>
          </p:cNvPr>
          <p:cNvSpPr>
            <a:spLocks noGrp="1"/>
          </p:cNvSpPr>
          <p:nvPr>
            <p:ph idx="1"/>
          </p:nvPr>
        </p:nvSpPr>
        <p:spPr>
          <a:xfrm>
            <a:off x="420131" y="1631092"/>
            <a:ext cx="9876808" cy="4979773"/>
          </a:xfrm>
        </p:spPr>
        <p:txBody>
          <a:bodyPr>
            <a:normAutofit fontScale="92500" lnSpcReduction="10000"/>
          </a:bodyPr>
          <a:lstStyle/>
          <a:p>
            <a:pPr algn="l"/>
            <a:r>
              <a:rPr lang="en-US" sz="2600" b="1" i="0" dirty="0">
                <a:solidFill>
                  <a:srgbClr val="404040"/>
                </a:solidFill>
                <a:effectLst/>
                <a:latin typeface="Inter"/>
              </a:rPr>
              <a:t>Financial Calculators</a:t>
            </a:r>
          </a:p>
          <a:p>
            <a:pPr algn="l">
              <a:spcAft>
                <a:spcPts val="300"/>
              </a:spcAft>
              <a:buFont typeface="Arial" panose="020B0604020202020204" pitchFamily="34" charset="0"/>
              <a:buChar char="•"/>
            </a:pPr>
            <a:r>
              <a:rPr lang="en-US" sz="2600" b="1" i="0" dirty="0">
                <a:solidFill>
                  <a:srgbClr val="404040"/>
                </a:solidFill>
                <a:effectLst/>
                <a:latin typeface="Inter"/>
              </a:rPr>
              <a:t>HP 12C</a:t>
            </a:r>
            <a:r>
              <a:rPr lang="en-US" sz="2600" b="0" i="0" dirty="0">
                <a:solidFill>
                  <a:srgbClr val="404040"/>
                </a:solidFill>
                <a:effectLst/>
                <a:latin typeface="Inter"/>
              </a:rPr>
              <a:t> (or its software version):</a:t>
            </a:r>
          </a:p>
          <a:p>
            <a:pPr marL="742950" lvl="1" indent="-285750" algn="l">
              <a:spcBef>
                <a:spcPts val="300"/>
              </a:spcBef>
              <a:buFont typeface="Arial" panose="020B0604020202020204" pitchFamily="34" charset="0"/>
              <a:buChar char="•"/>
            </a:pPr>
            <a:r>
              <a:rPr lang="en-US" sz="2200" b="0" i="0" dirty="0">
                <a:solidFill>
                  <a:srgbClr val="404040"/>
                </a:solidFill>
                <a:effectLst/>
                <a:latin typeface="Inter"/>
              </a:rPr>
              <a:t>A classic financial calculator designed for TVM calculations.</a:t>
            </a:r>
          </a:p>
          <a:p>
            <a:pPr algn="l">
              <a:spcBef>
                <a:spcPts val="300"/>
              </a:spcBef>
              <a:spcAft>
                <a:spcPts val="300"/>
              </a:spcAft>
              <a:buFont typeface="Arial" panose="020B0604020202020204" pitchFamily="34" charset="0"/>
              <a:buChar char="•"/>
            </a:pPr>
            <a:r>
              <a:rPr lang="en-US" sz="2600" b="1" i="0" dirty="0">
                <a:solidFill>
                  <a:srgbClr val="404040"/>
                </a:solidFill>
                <a:effectLst/>
                <a:latin typeface="Inter"/>
              </a:rPr>
              <a:t>Texas Instruments BA II Plus</a:t>
            </a:r>
            <a:r>
              <a:rPr lang="en-US" sz="26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200" b="0" i="0" dirty="0">
                <a:solidFill>
                  <a:srgbClr val="404040"/>
                </a:solidFill>
                <a:effectLst/>
                <a:latin typeface="Inter"/>
              </a:rPr>
              <a:t>Another popular financial calculator with TVM functions.</a:t>
            </a:r>
          </a:p>
          <a:p>
            <a:pPr algn="l"/>
            <a:r>
              <a:rPr lang="en-US" sz="2600" b="1" i="0" dirty="0">
                <a:solidFill>
                  <a:srgbClr val="404040"/>
                </a:solidFill>
                <a:effectLst/>
                <a:latin typeface="Inter"/>
              </a:rPr>
              <a:t>Online TVM Calculators</a:t>
            </a:r>
          </a:p>
          <a:p>
            <a:pPr algn="l">
              <a:spcAft>
                <a:spcPts val="300"/>
              </a:spcAft>
              <a:buFont typeface="Arial" panose="020B0604020202020204" pitchFamily="34" charset="0"/>
              <a:buChar char="•"/>
            </a:pPr>
            <a:r>
              <a:rPr lang="en-US" sz="2600" b="1" i="0" dirty="0">
                <a:solidFill>
                  <a:srgbClr val="404040"/>
                </a:solidFill>
                <a:effectLst/>
                <a:latin typeface="Inter"/>
              </a:rPr>
              <a:t>Calculator.net</a:t>
            </a:r>
            <a:r>
              <a:rPr lang="en-US" sz="26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200" b="0" i="0" dirty="0">
                <a:solidFill>
                  <a:srgbClr val="404040"/>
                </a:solidFill>
                <a:effectLst/>
                <a:latin typeface="Inter"/>
              </a:rPr>
              <a:t>Offers free online TVM calculators for various scenarios.</a:t>
            </a:r>
          </a:p>
          <a:p>
            <a:pPr algn="l">
              <a:spcBef>
                <a:spcPts val="300"/>
              </a:spcBef>
              <a:spcAft>
                <a:spcPts val="300"/>
              </a:spcAft>
              <a:buFont typeface="Arial" panose="020B0604020202020204" pitchFamily="34" charset="0"/>
              <a:buChar char="•"/>
            </a:pPr>
            <a:r>
              <a:rPr lang="en-US" sz="2600" b="1" i="0" dirty="0">
                <a:solidFill>
                  <a:srgbClr val="404040"/>
                </a:solidFill>
                <a:effectLst/>
                <a:latin typeface="Inter"/>
              </a:rPr>
              <a:t>Time Value of Money Calculator by Financial Calculators</a:t>
            </a:r>
            <a:r>
              <a:rPr lang="en-US" sz="26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200" b="0" i="0" dirty="0">
                <a:solidFill>
                  <a:srgbClr val="404040"/>
                </a:solidFill>
                <a:effectLst/>
                <a:latin typeface="Inter"/>
              </a:rPr>
              <a:t>Simple and easy-to-use online tool.</a:t>
            </a:r>
          </a:p>
          <a:p>
            <a:pPr algn="l">
              <a:spcBef>
                <a:spcPts val="300"/>
              </a:spcBef>
              <a:spcAft>
                <a:spcPts val="300"/>
              </a:spcAft>
              <a:buFont typeface="Arial" panose="020B0604020202020204" pitchFamily="34" charset="0"/>
              <a:buChar char="•"/>
            </a:pPr>
            <a:r>
              <a:rPr lang="en-US" sz="2600" b="1" i="0" dirty="0">
                <a:solidFill>
                  <a:srgbClr val="404040"/>
                </a:solidFill>
                <a:effectLst/>
                <a:latin typeface="Inter"/>
              </a:rPr>
              <a:t>Investopedia TVM Calculator</a:t>
            </a:r>
            <a:r>
              <a:rPr lang="en-US" sz="26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100" b="0" i="0" dirty="0">
                <a:solidFill>
                  <a:srgbClr val="404040"/>
                </a:solidFill>
                <a:effectLst/>
                <a:latin typeface="Inter"/>
              </a:rPr>
              <a:t>A user-friendly online calculator for basic TVM calculations.</a:t>
            </a:r>
          </a:p>
        </p:txBody>
      </p:sp>
    </p:spTree>
    <p:extLst>
      <p:ext uri="{BB962C8B-B14F-4D97-AF65-F5344CB8AC3E}">
        <p14:creationId xmlns:p14="http://schemas.microsoft.com/office/powerpoint/2010/main" val="331694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D7EB-9AFE-B305-B5AE-90F762A120CC}"/>
              </a:ext>
            </a:extLst>
          </p:cNvPr>
          <p:cNvSpPr>
            <a:spLocks noGrp="1"/>
          </p:cNvSpPr>
          <p:nvPr>
            <p:ph type="title"/>
          </p:nvPr>
        </p:nvSpPr>
        <p:spPr/>
        <p:txBody>
          <a:bodyPr/>
          <a:lstStyle/>
          <a:p>
            <a:r>
              <a:rPr lang="en-US" b="1" dirty="0">
                <a:solidFill>
                  <a:srgbClr val="404040"/>
                </a:solidFill>
                <a:latin typeface="Inter"/>
              </a:rPr>
              <a:t>Dedicated Financial Software</a:t>
            </a:r>
            <a:br>
              <a:rPr lang="en-US" b="1" dirty="0">
                <a:solidFill>
                  <a:srgbClr val="404040"/>
                </a:solidFill>
                <a:latin typeface="Inter"/>
              </a:rPr>
            </a:br>
            <a:endParaRPr lang="en-US" dirty="0"/>
          </a:p>
        </p:txBody>
      </p:sp>
      <p:sp>
        <p:nvSpPr>
          <p:cNvPr id="3" name="Content Placeholder 2">
            <a:extLst>
              <a:ext uri="{FF2B5EF4-FFF2-40B4-BE49-F238E27FC236}">
                <a16:creationId xmlns:a16="http://schemas.microsoft.com/office/drawing/2014/main" id="{921015C7-DC66-A6B6-5BB6-2B83F371315A}"/>
              </a:ext>
            </a:extLst>
          </p:cNvPr>
          <p:cNvSpPr>
            <a:spLocks noGrp="1"/>
          </p:cNvSpPr>
          <p:nvPr>
            <p:ph idx="1"/>
          </p:nvPr>
        </p:nvSpPr>
        <p:spPr>
          <a:xfrm>
            <a:off x="481915" y="1841157"/>
            <a:ext cx="9366420" cy="4407243"/>
          </a:xfrm>
        </p:spPr>
        <p:txBody>
          <a:bodyPr>
            <a:normAutofit lnSpcReduction="10000"/>
          </a:bodyPr>
          <a:lstStyle/>
          <a:p>
            <a:pPr algn="l">
              <a:spcAft>
                <a:spcPts val="300"/>
              </a:spcAft>
              <a:buFont typeface="Arial" panose="020B0604020202020204" pitchFamily="34" charset="0"/>
              <a:buChar char="•"/>
            </a:pPr>
            <a:r>
              <a:rPr lang="en-US" sz="3200" b="1" i="0" dirty="0">
                <a:solidFill>
                  <a:srgbClr val="404040"/>
                </a:solidFill>
                <a:effectLst/>
                <a:latin typeface="Inter"/>
              </a:rPr>
              <a:t>Quicken</a:t>
            </a:r>
            <a:r>
              <a:rPr lang="en-US" sz="32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800" b="0" i="0" dirty="0">
                <a:solidFill>
                  <a:srgbClr val="404040"/>
                </a:solidFill>
                <a:effectLst/>
                <a:latin typeface="Inter"/>
              </a:rPr>
              <a:t>Personal finance software that includes TVM calculations for budgeting and investment planning.</a:t>
            </a:r>
          </a:p>
          <a:p>
            <a:pPr algn="l">
              <a:spcBef>
                <a:spcPts val="300"/>
              </a:spcBef>
              <a:spcAft>
                <a:spcPts val="300"/>
              </a:spcAft>
              <a:buFont typeface="Arial" panose="020B0604020202020204" pitchFamily="34" charset="0"/>
              <a:buChar char="•"/>
            </a:pPr>
            <a:r>
              <a:rPr lang="en-US" sz="3200" b="1" i="0" dirty="0">
                <a:solidFill>
                  <a:srgbClr val="404040"/>
                </a:solidFill>
                <a:effectLst/>
                <a:latin typeface="Inter"/>
              </a:rPr>
              <a:t>Moneydance</a:t>
            </a:r>
            <a:r>
              <a:rPr lang="en-US" sz="32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800" b="0" i="0" dirty="0">
                <a:solidFill>
                  <a:srgbClr val="404040"/>
                </a:solidFill>
                <a:effectLst/>
                <a:latin typeface="Inter"/>
              </a:rPr>
              <a:t>A personal finance tool with built-in financial calculators.</a:t>
            </a:r>
          </a:p>
          <a:p>
            <a:pPr algn="l">
              <a:spcBef>
                <a:spcPts val="300"/>
              </a:spcBef>
              <a:spcAft>
                <a:spcPts val="300"/>
              </a:spcAft>
              <a:buFont typeface="Arial" panose="020B0604020202020204" pitchFamily="34" charset="0"/>
              <a:buChar char="•"/>
            </a:pPr>
            <a:r>
              <a:rPr lang="en-US" sz="3200" b="1" i="0" dirty="0">
                <a:solidFill>
                  <a:srgbClr val="404040"/>
                </a:solidFill>
                <a:effectLst/>
                <a:latin typeface="Inter"/>
              </a:rPr>
              <a:t>YNAB (You Need A Budget)</a:t>
            </a:r>
            <a:r>
              <a:rPr lang="en-US" sz="3200" b="0" i="0" dirty="0">
                <a:solidFill>
                  <a:srgbClr val="404040"/>
                </a:solidFill>
                <a:effectLst/>
                <a:latin typeface="Inter"/>
              </a:rPr>
              <a:t>:</a:t>
            </a:r>
          </a:p>
          <a:p>
            <a:pPr marL="742950" lvl="1" indent="-285750" algn="l">
              <a:spcBef>
                <a:spcPts val="300"/>
              </a:spcBef>
              <a:buFont typeface="Arial" panose="020B0604020202020204" pitchFamily="34" charset="0"/>
              <a:buChar char="•"/>
            </a:pPr>
            <a:r>
              <a:rPr lang="en-US" sz="2800" b="0" i="0" dirty="0">
                <a:solidFill>
                  <a:srgbClr val="404040"/>
                </a:solidFill>
                <a:effectLst/>
                <a:latin typeface="Inter"/>
              </a:rPr>
              <a:t>While primarily a budgeting tool, it can help you understand the time value of money in your financial planning.</a:t>
            </a:r>
          </a:p>
          <a:p>
            <a:endParaRPr lang="en-US" dirty="0"/>
          </a:p>
        </p:txBody>
      </p:sp>
    </p:spTree>
    <p:extLst>
      <p:ext uri="{BB962C8B-B14F-4D97-AF65-F5344CB8AC3E}">
        <p14:creationId xmlns:p14="http://schemas.microsoft.com/office/powerpoint/2010/main" val="1967640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D4F1-8478-16E8-FBD8-528B1E2B5FE0}"/>
              </a:ext>
            </a:extLst>
          </p:cNvPr>
          <p:cNvSpPr>
            <a:spLocks noGrp="1"/>
          </p:cNvSpPr>
          <p:nvPr>
            <p:ph type="title"/>
          </p:nvPr>
        </p:nvSpPr>
        <p:spPr>
          <a:xfrm>
            <a:off x="677334" y="609601"/>
            <a:ext cx="8596668" cy="609600"/>
          </a:xfrm>
        </p:spPr>
        <p:txBody>
          <a:bodyPr>
            <a:normAutofit fontScale="90000"/>
          </a:bodyPr>
          <a:lstStyle/>
          <a:p>
            <a:r>
              <a:rPr lang="en-US" altLang="en-US" b="1" dirty="0">
                <a:solidFill>
                  <a:srgbClr val="404040"/>
                </a:solidFill>
                <a:latin typeface="Inter"/>
              </a:rPr>
              <a:t>Programming Libraries</a:t>
            </a:r>
            <a:endParaRPr lang="en-US" dirty="0"/>
          </a:p>
        </p:txBody>
      </p:sp>
      <p:sp>
        <p:nvSpPr>
          <p:cNvPr id="4" name="Rectangle 1">
            <a:extLst>
              <a:ext uri="{FF2B5EF4-FFF2-40B4-BE49-F238E27FC236}">
                <a16:creationId xmlns:a16="http://schemas.microsoft.com/office/drawing/2014/main" id="{00288951-7F02-2447-D175-51A01C37A4F6}"/>
              </a:ext>
            </a:extLst>
          </p:cNvPr>
          <p:cNvSpPr>
            <a:spLocks noGrp="1" noChangeArrowheads="1"/>
          </p:cNvSpPr>
          <p:nvPr>
            <p:ph idx="1"/>
          </p:nvPr>
        </p:nvSpPr>
        <p:spPr bwMode="auto">
          <a:xfrm>
            <a:off x="383059" y="1754410"/>
            <a:ext cx="9712411" cy="4862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153"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404040"/>
                </a:solidFill>
                <a:effectLst/>
                <a:latin typeface="Inter"/>
              </a:rPr>
              <a:t>If you're a programmer, you can use libraries to perform TVM calculations: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1" i="0" u="none" strike="noStrike" cap="none" normalizeH="0" baseline="0" dirty="0">
                <a:ln>
                  <a:noFill/>
                </a:ln>
                <a:solidFill>
                  <a:srgbClr val="404040"/>
                </a:solidFill>
                <a:effectLst/>
                <a:latin typeface="Inter"/>
              </a:rPr>
              <a:t>Python</a:t>
            </a:r>
            <a:r>
              <a:rPr kumimoji="0" lang="en-US" altLang="en-US" sz="3600" b="0" i="0" u="none" strike="noStrike" cap="none" normalizeH="0" baseline="0" dirty="0">
                <a:ln>
                  <a:noFill/>
                </a:ln>
                <a:solidFill>
                  <a:srgbClr val="404040"/>
                </a:solidFill>
                <a:effectLst/>
                <a:latin typeface="Inter"/>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Inter"/>
              </a:rPr>
              <a:t>Use libraries like </a:t>
            </a:r>
            <a:r>
              <a:rPr kumimoji="0" lang="en-US" altLang="en-US" sz="4400" b="0" i="0" u="none" strike="noStrike" cap="none" normalizeH="0" baseline="0" dirty="0" err="1">
                <a:ln>
                  <a:noFill/>
                </a:ln>
                <a:solidFill>
                  <a:srgbClr val="404040"/>
                </a:solidFill>
                <a:effectLst/>
                <a:latin typeface="var(--ds-font-family-code)"/>
              </a:rPr>
              <a:t>numpy</a:t>
            </a:r>
            <a:r>
              <a:rPr kumimoji="0" lang="en-US" altLang="en-US" sz="3600" b="0" i="0" u="none" strike="noStrike" cap="none" normalizeH="0" baseline="0" dirty="0">
                <a:ln>
                  <a:noFill/>
                </a:ln>
                <a:solidFill>
                  <a:srgbClr val="404040"/>
                </a:solidFill>
                <a:effectLst/>
                <a:latin typeface="Inter"/>
              </a:rPr>
              <a:t> or </a:t>
            </a:r>
            <a:r>
              <a:rPr kumimoji="0" lang="en-US" altLang="en-US" sz="4400" b="0" i="0" u="none" strike="noStrike" cap="none" normalizeH="0" baseline="0" dirty="0" err="1">
                <a:ln>
                  <a:noFill/>
                </a:ln>
                <a:solidFill>
                  <a:srgbClr val="404040"/>
                </a:solidFill>
                <a:effectLst/>
                <a:latin typeface="var(--ds-font-family-code)"/>
              </a:rPr>
              <a:t>numpy_financial</a:t>
            </a:r>
            <a:r>
              <a:rPr kumimoji="0" lang="en-US" altLang="en-US" sz="3600" b="0" i="0" u="none" strike="noStrike" cap="none" normalizeH="0" baseline="0" dirty="0">
                <a:ln>
                  <a:noFill/>
                </a:ln>
                <a:solidFill>
                  <a:srgbClr val="404040"/>
                </a:solidFill>
                <a:effectLst/>
                <a:latin typeface="Inter"/>
              </a:rPr>
              <a:t>:</a:t>
            </a:r>
            <a:endParaRPr lang="en-US" altLang="en-US" sz="3600" dirty="0">
              <a:solidFill>
                <a:srgbClr val="404040"/>
              </a:solidFill>
              <a:latin typeface="Inter"/>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0070C0"/>
                </a:solidFill>
                <a:effectLst/>
                <a:latin typeface="Inter"/>
              </a:rPr>
              <a:t>import</a:t>
            </a:r>
            <a:r>
              <a:rPr kumimoji="0" lang="en-US" altLang="en-US" sz="3600" b="0" i="0" u="none" strike="noStrike" cap="none" normalizeH="0" baseline="0" dirty="0">
                <a:ln>
                  <a:noFill/>
                </a:ln>
                <a:solidFill>
                  <a:srgbClr val="404040"/>
                </a:solidFill>
                <a:effectLst/>
                <a:latin typeface="Inter"/>
              </a:rPr>
              <a:t> numpy_financial as </a:t>
            </a:r>
            <a:r>
              <a:rPr kumimoji="0" lang="en-US" altLang="en-US" sz="3600" b="0" i="0" u="none" strike="noStrike" cap="none" normalizeH="0" baseline="0" dirty="0" err="1">
                <a:ln>
                  <a:noFill/>
                </a:ln>
                <a:solidFill>
                  <a:srgbClr val="404040"/>
                </a:solidFill>
                <a:effectLst/>
                <a:latin typeface="Inter"/>
              </a:rPr>
              <a:t>npf</a:t>
            </a:r>
            <a:endParaRPr kumimoji="0" lang="en-US" altLang="en-US" sz="3600" b="0" i="0" u="none" strike="noStrike" cap="none" normalizeH="0" baseline="0" dirty="0">
              <a:ln>
                <a:noFill/>
              </a:ln>
              <a:solidFill>
                <a:srgbClr val="404040"/>
              </a:solidFill>
              <a:effectLst/>
              <a:latin typeface="Inter"/>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404040"/>
                </a:solidFill>
                <a:effectLst/>
                <a:latin typeface="Inter"/>
              </a:rPr>
              <a:t> present_ value =  </a:t>
            </a:r>
            <a:r>
              <a:rPr kumimoji="0" lang="en-US" altLang="en-US" sz="3600" b="0" i="0" u="none" strike="noStrike" cap="none" normalizeH="0" baseline="0" dirty="0" err="1">
                <a:ln>
                  <a:noFill/>
                </a:ln>
                <a:solidFill>
                  <a:srgbClr val="404040"/>
                </a:solidFill>
                <a:effectLst/>
                <a:latin typeface="Inter"/>
              </a:rPr>
              <a:t>npf</a:t>
            </a:r>
            <a:r>
              <a:rPr kumimoji="0" lang="en-US" altLang="en-US" sz="3600" b="0" i="0" u="none" strike="noStrike" cap="none" normalizeH="0" baseline="0" dirty="0">
                <a:ln>
                  <a:noFill/>
                </a:ln>
                <a:solidFill>
                  <a:srgbClr val="404040"/>
                </a:solidFill>
                <a:effectLst/>
                <a:latin typeface="Inter"/>
              </a:rPr>
              <a:t> . </a:t>
            </a:r>
            <a:r>
              <a:rPr kumimoji="0" lang="en-US" altLang="en-US" sz="3600" b="0" i="0" u="none" strike="noStrike" cap="none" normalizeH="0" baseline="0" dirty="0" err="1">
                <a:ln>
                  <a:noFill/>
                </a:ln>
                <a:solidFill>
                  <a:srgbClr val="404040"/>
                </a:solidFill>
                <a:effectLst/>
                <a:latin typeface="Inter"/>
              </a:rPr>
              <a:t>pv</a:t>
            </a:r>
            <a:r>
              <a:rPr kumimoji="0" lang="en-US" altLang="en-US" sz="3600" b="0" i="0" u="none" strike="noStrike" cap="none" normalizeH="0" baseline="0" dirty="0">
                <a:ln>
                  <a:noFill/>
                </a:ln>
                <a:solidFill>
                  <a:srgbClr val="404040"/>
                </a:solidFill>
                <a:effectLst/>
                <a:latin typeface="Inter"/>
              </a:rPr>
              <a:t>(rate=0.05, </a:t>
            </a:r>
            <a:r>
              <a:rPr kumimoji="0" lang="en-US" altLang="en-US" sz="3600" b="0" i="0" u="none" strike="noStrike" cap="none" normalizeH="0" baseline="0" dirty="0" err="1">
                <a:ln>
                  <a:noFill/>
                </a:ln>
                <a:solidFill>
                  <a:srgbClr val="404040"/>
                </a:solidFill>
                <a:effectLst/>
                <a:latin typeface="Inter"/>
              </a:rPr>
              <a:t>nper</a:t>
            </a:r>
            <a:r>
              <a:rPr kumimoji="0" lang="en-US" altLang="en-US" sz="3600" b="0" i="0" u="none" strike="noStrike" cap="none" normalizeH="0" baseline="0" dirty="0">
                <a:ln>
                  <a:noFill/>
                </a:ln>
                <a:solidFill>
                  <a:srgbClr val="404040"/>
                </a:solidFill>
                <a:effectLst/>
                <a:latin typeface="Inter"/>
              </a:rPr>
              <a:t>=10, </a:t>
            </a:r>
            <a:r>
              <a:rPr kumimoji="0" lang="en-US" altLang="en-US" sz="3600" b="0" i="0" u="none" strike="noStrike" cap="none" normalizeH="0" baseline="0" dirty="0" err="1">
                <a:ln>
                  <a:noFill/>
                </a:ln>
                <a:solidFill>
                  <a:srgbClr val="404040"/>
                </a:solidFill>
                <a:effectLst/>
                <a:latin typeface="Inter"/>
              </a:rPr>
              <a:t>pmt</a:t>
            </a:r>
            <a:r>
              <a:rPr kumimoji="0" lang="en-US" altLang="en-US" sz="3600" b="0" i="0" u="none" strike="noStrike" cap="none" normalizeH="0" baseline="0" dirty="0">
                <a:ln>
                  <a:noFill/>
                </a:ln>
                <a:solidFill>
                  <a:srgbClr val="404040"/>
                </a:solidFill>
                <a:effectLst/>
                <a:latin typeface="Inter"/>
              </a:rPr>
              <a:t>=0, </a:t>
            </a:r>
            <a:r>
              <a:rPr kumimoji="0" lang="en-US" altLang="en-US" sz="3600" b="0" i="0" u="none" strike="noStrike" cap="none" normalizeH="0" baseline="0" dirty="0" err="1">
                <a:ln>
                  <a:noFill/>
                </a:ln>
                <a:solidFill>
                  <a:srgbClr val="404040"/>
                </a:solidFill>
                <a:effectLst/>
                <a:latin typeface="Inter"/>
              </a:rPr>
              <a:t>fv</a:t>
            </a:r>
            <a:r>
              <a:rPr kumimoji="0" lang="en-US" altLang="en-US" sz="3600" b="0" i="0" u="none" strike="noStrike" cap="none" normalizeH="0" baseline="0" dirty="0">
                <a:ln>
                  <a:noFill/>
                </a:ln>
                <a:solidFill>
                  <a:srgbClr val="404040"/>
                </a:solidFill>
                <a:effectLst/>
                <a:latin typeface="Inter"/>
              </a:rPr>
              <a:t>=1000)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738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BCAEF-CACE-31FA-716B-9E2B71C1FF51}"/>
              </a:ext>
            </a:extLst>
          </p:cNvPr>
          <p:cNvSpPr>
            <a:spLocks noGrp="1"/>
          </p:cNvSpPr>
          <p:nvPr>
            <p:ph type="title"/>
          </p:nvPr>
        </p:nvSpPr>
        <p:spPr/>
        <p:txBody>
          <a:bodyPr/>
          <a:lstStyle/>
          <a:p>
            <a:r>
              <a:rPr lang="en-US" b="1" dirty="0">
                <a:solidFill>
                  <a:srgbClr val="404040"/>
                </a:solidFill>
                <a:latin typeface="Inter"/>
              </a:rPr>
              <a:t>When to Use TVM Software</a:t>
            </a:r>
            <a:br>
              <a:rPr lang="en-US" b="1" dirty="0">
                <a:solidFill>
                  <a:srgbClr val="404040"/>
                </a:solidFill>
                <a:latin typeface="Inter"/>
              </a:rPr>
            </a:br>
            <a:endParaRPr lang="en-US" dirty="0"/>
          </a:p>
        </p:txBody>
      </p:sp>
      <p:sp>
        <p:nvSpPr>
          <p:cNvPr id="3" name="Content Placeholder 2">
            <a:extLst>
              <a:ext uri="{FF2B5EF4-FFF2-40B4-BE49-F238E27FC236}">
                <a16:creationId xmlns:a16="http://schemas.microsoft.com/office/drawing/2014/main" id="{6842A564-E8B2-F844-A610-8DF65A22869B}"/>
              </a:ext>
            </a:extLst>
          </p:cNvPr>
          <p:cNvSpPr>
            <a:spLocks noGrp="1"/>
          </p:cNvSpPr>
          <p:nvPr>
            <p:ph idx="1"/>
          </p:nvPr>
        </p:nvSpPr>
        <p:spPr>
          <a:xfrm>
            <a:off x="395417" y="1804086"/>
            <a:ext cx="9928026" cy="4609967"/>
          </a:xfrm>
        </p:spPr>
        <p:txBody>
          <a:bodyPr>
            <a:normAutofit/>
          </a:bodyPr>
          <a:lstStyle/>
          <a:p>
            <a:pPr algn="l">
              <a:buFont typeface="Arial" panose="020B0604020202020204" pitchFamily="34" charset="0"/>
              <a:buChar char="•"/>
            </a:pPr>
            <a:r>
              <a:rPr lang="en-US" sz="4000" b="0" i="0" dirty="0">
                <a:solidFill>
                  <a:srgbClr val="404040"/>
                </a:solidFill>
                <a:effectLst/>
                <a:latin typeface="Inter"/>
              </a:rPr>
              <a:t>Calculating loan payments or mortgage schedules.</a:t>
            </a:r>
          </a:p>
          <a:p>
            <a:pPr algn="l">
              <a:spcBef>
                <a:spcPts val="300"/>
              </a:spcBef>
              <a:buFont typeface="Arial" panose="020B0604020202020204" pitchFamily="34" charset="0"/>
              <a:buChar char="•"/>
            </a:pPr>
            <a:r>
              <a:rPr lang="en-US" sz="4000" b="0" i="0" dirty="0">
                <a:solidFill>
                  <a:srgbClr val="404040"/>
                </a:solidFill>
                <a:effectLst/>
                <a:latin typeface="Inter"/>
              </a:rPr>
              <a:t>Determining the future value of investments.</a:t>
            </a:r>
          </a:p>
          <a:p>
            <a:pPr algn="l">
              <a:spcBef>
                <a:spcPts val="300"/>
              </a:spcBef>
              <a:buFont typeface="Arial" panose="020B0604020202020204" pitchFamily="34" charset="0"/>
              <a:buChar char="•"/>
            </a:pPr>
            <a:r>
              <a:rPr lang="en-US" sz="4000" b="0" i="0" dirty="0">
                <a:solidFill>
                  <a:srgbClr val="404040"/>
                </a:solidFill>
                <a:effectLst/>
                <a:latin typeface="Inter"/>
              </a:rPr>
              <a:t>Comparing investment opportunities.</a:t>
            </a:r>
          </a:p>
          <a:p>
            <a:pPr algn="l">
              <a:spcBef>
                <a:spcPts val="300"/>
              </a:spcBef>
              <a:buFont typeface="Arial" panose="020B0604020202020204" pitchFamily="34" charset="0"/>
              <a:buChar char="•"/>
            </a:pPr>
            <a:r>
              <a:rPr lang="en-US" sz="4000" b="0" i="0" dirty="0">
                <a:solidFill>
                  <a:srgbClr val="404040"/>
                </a:solidFill>
                <a:effectLst/>
                <a:latin typeface="Inter"/>
              </a:rPr>
              <a:t>Planning for retirement or savings goals.</a:t>
            </a:r>
          </a:p>
          <a:p>
            <a:pPr algn="l">
              <a:spcBef>
                <a:spcPts val="300"/>
              </a:spcBef>
              <a:buFont typeface="Arial" panose="020B0604020202020204" pitchFamily="34" charset="0"/>
              <a:buChar char="•"/>
            </a:pPr>
            <a:r>
              <a:rPr lang="en-US" sz="4000" b="0" i="0" dirty="0">
                <a:solidFill>
                  <a:srgbClr val="404040"/>
                </a:solidFill>
                <a:effectLst/>
                <a:latin typeface="Inter"/>
              </a:rPr>
              <a:t>Analyzing the impact of inflation on money over time</a:t>
            </a:r>
            <a:r>
              <a:rPr lang="en-US" sz="3200" b="0" i="0" dirty="0">
                <a:solidFill>
                  <a:srgbClr val="404040"/>
                </a:solidFill>
                <a:effectLst/>
                <a:latin typeface="Inter"/>
              </a:rPr>
              <a:t>.</a:t>
            </a:r>
          </a:p>
          <a:p>
            <a:endParaRPr lang="en-US" dirty="0"/>
          </a:p>
        </p:txBody>
      </p:sp>
    </p:spTree>
    <p:extLst>
      <p:ext uri="{BB962C8B-B14F-4D97-AF65-F5344CB8AC3E}">
        <p14:creationId xmlns:p14="http://schemas.microsoft.com/office/powerpoint/2010/main" val="3883652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E21E-4683-EE48-BC1D-570B5A95468B}"/>
              </a:ext>
            </a:extLst>
          </p:cNvPr>
          <p:cNvSpPr>
            <a:spLocks noGrp="1"/>
          </p:cNvSpPr>
          <p:nvPr>
            <p:ph type="title"/>
          </p:nvPr>
        </p:nvSpPr>
        <p:spPr>
          <a:xfrm>
            <a:off x="677334" y="609600"/>
            <a:ext cx="8596668" cy="687859"/>
          </a:xfrm>
        </p:spPr>
        <p:txBody>
          <a:bodyPr/>
          <a:lstStyle/>
          <a:p>
            <a:r>
              <a:rPr lang="en-US" b="1" dirty="0">
                <a:solidFill>
                  <a:schemeClr val="accent1"/>
                </a:solidFill>
                <a:latin typeface="Inter"/>
              </a:rPr>
              <a:t>Interest rates </a:t>
            </a:r>
            <a:endParaRPr lang="en-US" b="1" dirty="0">
              <a:solidFill>
                <a:schemeClr val="accent1"/>
              </a:solidFill>
            </a:endParaRPr>
          </a:p>
        </p:txBody>
      </p:sp>
      <p:sp>
        <p:nvSpPr>
          <p:cNvPr id="3" name="Content Placeholder 2">
            <a:extLst>
              <a:ext uri="{FF2B5EF4-FFF2-40B4-BE49-F238E27FC236}">
                <a16:creationId xmlns:a16="http://schemas.microsoft.com/office/drawing/2014/main" id="{6E6731E4-9967-E420-230A-A247703ABADA}"/>
              </a:ext>
            </a:extLst>
          </p:cNvPr>
          <p:cNvSpPr>
            <a:spLocks noGrp="1"/>
          </p:cNvSpPr>
          <p:nvPr>
            <p:ph idx="1"/>
          </p:nvPr>
        </p:nvSpPr>
        <p:spPr>
          <a:xfrm>
            <a:off x="407773" y="1482811"/>
            <a:ext cx="9564129" cy="5276335"/>
          </a:xfrm>
        </p:spPr>
        <p:txBody>
          <a:bodyPr>
            <a:normAutofit/>
          </a:bodyPr>
          <a:lstStyle/>
          <a:p>
            <a:r>
              <a:rPr lang="en-US" sz="2400" b="0" i="0" dirty="0">
                <a:solidFill>
                  <a:srgbClr val="404040"/>
                </a:solidFill>
                <a:effectLst/>
                <a:latin typeface="Inter"/>
              </a:rPr>
              <a:t>in the real world are a fundamental aspect of financial systems and economies. They influence borrowing, lending, saving, investing, and overall economic activity. Here's an overview of how interest rates function in the real world:</a:t>
            </a:r>
          </a:p>
          <a:p>
            <a:pPr algn="l"/>
            <a:r>
              <a:rPr lang="en-US" sz="2400" b="1" i="0" dirty="0">
                <a:solidFill>
                  <a:srgbClr val="404040"/>
                </a:solidFill>
                <a:effectLst/>
                <a:latin typeface="Inter"/>
              </a:rPr>
              <a:t>1. What Are Interest Rates?</a:t>
            </a:r>
          </a:p>
          <a:p>
            <a:pPr algn="l"/>
            <a:r>
              <a:rPr lang="en-US" sz="2400" b="0" i="0" dirty="0">
                <a:solidFill>
                  <a:srgbClr val="404040"/>
                </a:solidFill>
                <a:effectLst/>
                <a:latin typeface="Inter"/>
              </a:rPr>
              <a:t>Interest rates represent the cost of borrowing money or the return on savings/investments. They are typically expressed as a percentage of the principal amount over a specific period (e.g., annually).</a:t>
            </a:r>
          </a:p>
          <a:p>
            <a:pPr algn="l">
              <a:buFont typeface="Arial" panose="020B0604020202020204" pitchFamily="34" charset="0"/>
              <a:buChar char="•"/>
            </a:pPr>
            <a:r>
              <a:rPr lang="en-US" sz="2400" b="1" i="0" dirty="0">
                <a:solidFill>
                  <a:srgbClr val="404040"/>
                </a:solidFill>
                <a:effectLst/>
                <a:latin typeface="Inter"/>
              </a:rPr>
              <a:t>Borrowing</a:t>
            </a:r>
            <a:r>
              <a:rPr lang="en-US" sz="2400" b="0" i="0" dirty="0">
                <a:solidFill>
                  <a:srgbClr val="404040"/>
                </a:solidFill>
                <a:effectLst/>
                <a:latin typeface="Inter"/>
              </a:rPr>
              <a:t>: When you take a loan, you pay interest to the lender.</a:t>
            </a:r>
          </a:p>
          <a:p>
            <a:pPr algn="l">
              <a:spcBef>
                <a:spcPts val="300"/>
              </a:spcBef>
              <a:buFont typeface="Arial" panose="020B0604020202020204" pitchFamily="34" charset="0"/>
              <a:buChar char="•"/>
            </a:pPr>
            <a:r>
              <a:rPr lang="en-US" sz="2400" b="1" i="0" dirty="0">
                <a:solidFill>
                  <a:srgbClr val="404040"/>
                </a:solidFill>
                <a:effectLst/>
                <a:latin typeface="Inter"/>
              </a:rPr>
              <a:t>Saving/Investing</a:t>
            </a:r>
            <a:r>
              <a:rPr lang="en-US" sz="2400" b="0" i="0" dirty="0">
                <a:solidFill>
                  <a:srgbClr val="404040"/>
                </a:solidFill>
                <a:effectLst/>
                <a:latin typeface="Inter"/>
              </a:rPr>
              <a:t>: When you deposit money in a bank or invest in bonds, you earn interest.</a:t>
            </a:r>
          </a:p>
        </p:txBody>
      </p:sp>
    </p:spTree>
    <p:extLst>
      <p:ext uri="{BB962C8B-B14F-4D97-AF65-F5344CB8AC3E}">
        <p14:creationId xmlns:p14="http://schemas.microsoft.com/office/powerpoint/2010/main" val="1294429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C3F9-A187-0B64-0E28-9AE5C030F46B}"/>
              </a:ext>
            </a:extLst>
          </p:cNvPr>
          <p:cNvSpPr>
            <a:spLocks noGrp="1"/>
          </p:cNvSpPr>
          <p:nvPr>
            <p:ph type="title"/>
          </p:nvPr>
        </p:nvSpPr>
        <p:spPr/>
        <p:txBody>
          <a:bodyPr/>
          <a:lstStyle/>
          <a:p>
            <a:r>
              <a:rPr lang="en-US" b="1" dirty="0">
                <a:solidFill>
                  <a:srgbClr val="404040"/>
                </a:solidFill>
                <a:latin typeface="Inter"/>
              </a:rPr>
              <a:t>2. Types of Interest Rates</a:t>
            </a:r>
            <a:br>
              <a:rPr lang="en-US" b="1" dirty="0">
                <a:solidFill>
                  <a:srgbClr val="404040"/>
                </a:solidFill>
                <a:latin typeface="Inter"/>
              </a:rPr>
            </a:br>
            <a:endParaRPr lang="en-US" dirty="0"/>
          </a:p>
        </p:txBody>
      </p:sp>
      <p:sp>
        <p:nvSpPr>
          <p:cNvPr id="3" name="Content Placeholder 2">
            <a:extLst>
              <a:ext uri="{FF2B5EF4-FFF2-40B4-BE49-F238E27FC236}">
                <a16:creationId xmlns:a16="http://schemas.microsoft.com/office/drawing/2014/main" id="{973F866C-D893-4639-40CB-A97AF8A47E30}"/>
              </a:ext>
            </a:extLst>
          </p:cNvPr>
          <p:cNvSpPr>
            <a:spLocks noGrp="1"/>
          </p:cNvSpPr>
          <p:nvPr>
            <p:ph idx="1"/>
          </p:nvPr>
        </p:nvSpPr>
        <p:spPr>
          <a:xfrm>
            <a:off x="677334" y="1519881"/>
            <a:ext cx="9677628" cy="5239265"/>
          </a:xfrm>
        </p:spPr>
        <p:txBody>
          <a:bodyPr>
            <a:normAutofit fontScale="92500" lnSpcReduction="20000"/>
          </a:bodyPr>
          <a:lstStyle/>
          <a:p>
            <a:pPr algn="l"/>
            <a:r>
              <a:rPr lang="en-US" sz="2600" b="0" i="0" dirty="0">
                <a:solidFill>
                  <a:srgbClr val="404040"/>
                </a:solidFill>
                <a:effectLst/>
                <a:latin typeface="Inter"/>
              </a:rPr>
              <a:t>Interest rates can vary depending on the context:</a:t>
            </a:r>
          </a:p>
          <a:p>
            <a:pPr algn="l"/>
            <a:r>
              <a:rPr lang="en-US" sz="2600" b="1" i="0" dirty="0">
                <a:solidFill>
                  <a:schemeClr val="accent1"/>
                </a:solidFill>
                <a:effectLst/>
                <a:latin typeface="Inter"/>
              </a:rPr>
              <a:t>a. Nominal Interest Rate</a:t>
            </a:r>
          </a:p>
          <a:p>
            <a:pPr algn="l">
              <a:buFont typeface="Arial" panose="020B0604020202020204" pitchFamily="34" charset="0"/>
              <a:buChar char="•"/>
            </a:pPr>
            <a:r>
              <a:rPr lang="en-US" sz="2600" b="0" i="0" dirty="0">
                <a:solidFill>
                  <a:srgbClr val="404040"/>
                </a:solidFill>
                <a:effectLst/>
                <a:latin typeface="Inter"/>
              </a:rPr>
              <a:t>The stated interest rate without adjusting for inflation.</a:t>
            </a:r>
          </a:p>
          <a:p>
            <a:pPr algn="l">
              <a:spcBef>
                <a:spcPts val="300"/>
              </a:spcBef>
              <a:buFont typeface="Arial" panose="020B0604020202020204" pitchFamily="34" charset="0"/>
              <a:buChar char="•"/>
            </a:pPr>
            <a:r>
              <a:rPr lang="en-US" sz="2600" b="0" i="0" dirty="0">
                <a:solidFill>
                  <a:srgbClr val="404040"/>
                </a:solidFill>
                <a:effectLst/>
                <a:latin typeface="Inter"/>
              </a:rPr>
              <a:t>Example: A bank offers a 5% annual interest rate on a savings account.</a:t>
            </a:r>
          </a:p>
          <a:p>
            <a:pPr algn="l"/>
            <a:r>
              <a:rPr lang="en-US" sz="2600" b="1" i="0" dirty="0">
                <a:solidFill>
                  <a:schemeClr val="accent2"/>
                </a:solidFill>
                <a:effectLst/>
                <a:latin typeface="Inter"/>
              </a:rPr>
              <a:t>b. Real Interest Rate</a:t>
            </a:r>
          </a:p>
          <a:p>
            <a:pPr algn="l">
              <a:buFont typeface="Arial" panose="020B0604020202020204" pitchFamily="34" charset="0"/>
              <a:buChar char="•"/>
            </a:pPr>
            <a:r>
              <a:rPr lang="en-US" sz="2600" b="0" i="0" dirty="0">
                <a:solidFill>
                  <a:srgbClr val="404040"/>
                </a:solidFill>
                <a:effectLst/>
                <a:latin typeface="Inter"/>
              </a:rPr>
              <a:t>The nominal interest rate adjusted for inflation.</a:t>
            </a:r>
          </a:p>
          <a:p>
            <a:pPr algn="l">
              <a:spcBef>
                <a:spcPts val="300"/>
              </a:spcBef>
              <a:buFont typeface="Arial" panose="020B0604020202020204" pitchFamily="34" charset="0"/>
              <a:buChar char="•"/>
            </a:pPr>
            <a:r>
              <a:rPr lang="en-US" sz="2600" b="0" i="0" dirty="0">
                <a:solidFill>
                  <a:srgbClr val="404040"/>
                </a:solidFill>
                <a:effectLst/>
                <a:latin typeface="Inter"/>
              </a:rPr>
              <a:t>Formula: </a:t>
            </a:r>
            <a:r>
              <a:rPr lang="en-US" sz="2600" b="1" i="0" dirty="0">
                <a:solidFill>
                  <a:srgbClr val="404040"/>
                </a:solidFill>
                <a:effectLst/>
                <a:latin typeface="Inter"/>
              </a:rPr>
              <a:t>Real Interest Rate = Nominal Interest Rate - Inflation Rate</a:t>
            </a:r>
            <a:endParaRPr lang="en-US" sz="2600" b="0" i="0" dirty="0">
              <a:solidFill>
                <a:srgbClr val="404040"/>
              </a:solidFill>
              <a:effectLst/>
              <a:latin typeface="Inter"/>
            </a:endParaRPr>
          </a:p>
          <a:p>
            <a:pPr algn="l">
              <a:spcBef>
                <a:spcPts val="300"/>
              </a:spcBef>
              <a:buFont typeface="Arial" panose="020B0604020202020204" pitchFamily="34" charset="0"/>
              <a:buChar char="•"/>
            </a:pPr>
            <a:r>
              <a:rPr lang="en-US" sz="2600" b="0" i="0" dirty="0">
                <a:solidFill>
                  <a:srgbClr val="404040"/>
                </a:solidFill>
                <a:effectLst/>
                <a:latin typeface="Inter"/>
              </a:rPr>
              <a:t>Example: If the nominal rate is 5% and inflation is 2%, the real interest rate is 3%.</a:t>
            </a:r>
          </a:p>
          <a:p>
            <a:pPr algn="l"/>
            <a:r>
              <a:rPr lang="en-US" sz="2600" b="1" i="0" dirty="0">
                <a:solidFill>
                  <a:schemeClr val="accent2"/>
                </a:solidFill>
                <a:effectLst/>
                <a:latin typeface="Inter"/>
              </a:rPr>
              <a:t>c. Fixed vs. Variable Interest Rates</a:t>
            </a:r>
          </a:p>
          <a:p>
            <a:pPr algn="l">
              <a:buFont typeface="Arial" panose="020B0604020202020204" pitchFamily="34" charset="0"/>
              <a:buChar char="•"/>
            </a:pPr>
            <a:r>
              <a:rPr lang="en-US" sz="2600" b="1" i="0" dirty="0">
                <a:solidFill>
                  <a:srgbClr val="404040"/>
                </a:solidFill>
                <a:effectLst/>
                <a:latin typeface="Inter"/>
              </a:rPr>
              <a:t>Fixed</a:t>
            </a:r>
            <a:r>
              <a:rPr lang="en-US" sz="2600" b="0" i="0" dirty="0">
                <a:solidFill>
                  <a:srgbClr val="404040"/>
                </a:solidFill>
                <a:effectLst/>
                <a:latin typeface="Inter"/>
              </a:rPr>
              <a:t>: Remains constant over the loan or investment period.</a:t>
            </a:r>
          </a:p>
          <a:p>
            <a:pPr algn="l">
              <a:spcBef>
                <a:spcPts val="300"/>
              </a:spcBef>
              <a:buFont typeface="Arial" panose="020B0604020202020204" pitchFamily="34" charset="0"/>
              <a:buChar char="•"/>
            </a:pPr>
            <a:r>
              <a:rPr lang="en-US" sz="2600" b="1" i="0" dirty="0">
                <a:solidFill>
                  <a:srgbClr val="404040"/>
                </a:solidFill>
                <a:effectLst/>
                <a:latin typeface="Inter"/>
              </a:rPr>
              <a:t>Variable</a:t>
            </a:r>
            <a:r>
              <a:rPr lang="en-US" sz="2600" b="0" i="0" dirty="0">
                <a:solidFill>
                  <a:srgbClr val="404040"/>
                </a:solidFill>
                <a:effectLst/>
                <a:latin typeface="Inter"/>
              </a:rPr>
              <a:t>: Fluctuates based on market conditions or a benchmark rate (e.g., LIBOR, Prime Rate).</a:t>
            </a:r>
          </a:p>
          <a:p>
            <a:endParaRPr lang="en-US" dirty="0"/>
          </a:p>
        </p:txBody>
      </p:sp>
    </p:spTree>
    <p:extLst>
      <p:ext uri="{BB962C8B-B14F-4D97-AF65-F5344CB8AC3E}">
        <p14:creationId xmlns:p14="http://schemas.microsoft.com/office/powerpoint/2010/main" val="1896218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CD36-FF38-5822-A3BD-9F02E9DC6D82}"/>
              </a:ext>
            </a:extLst>
          </p:cNvPr>
          <p:cNvSpPr>
            <a:spLocks noGrp="1"/>
          </p:cNvSpPr>
          <p:nvPr>
            <p:ph type="title"/>
          </p:nvPr>
        </p:nvSpPr>
        <p:spPr>
          <a:xfrm>
            <a:off x="677334" y="609600"/>
            <a:ext cx="8596668" cy="650789"/>
          </a:xfrm>
        </p:spPr>
        <p:txBody>
          <a:bodyPr/>
          <a:lstStyle/>
          <a:p>
            <a:endParaRPr lang="en-US" dirty="0"/>
          </a:p>
        </p:txBody>
      </p:sp>
      <p:sp>
        <p:nvSpPr>
          <p:cNvPr id="3" name="Content Placeholder 2">
            <a:extLst>
              <a:ext uri="{FF2B5EF4-FFF2-40B4-BE49-F238E27FC236}">
                <a16:creationId xmlns:a16="http://schemas.microsoft.com/office/drawing/2014/main" id="{E248E963-460B-05CC-2817-DD6A6B409C3E}"/>
              </a:ext>
            </a:extLst>
          </p:cNvPr>
          <p:cNvSpPr>
            <a:spLocks noGrp="1"/>
          </p:cNvSpPr>
          <p:nvPr>
            <p:ph idx="1"/>
          </p:nvPr>
        </p:nvSpPr>
        <p:spPr>
          <a:xfrm>
            <a:off x="677333" y="1519881"/>
            <a:ext cx="9096861" cy="4521482"/>
          </a:xfrm>
        </p:spPr>
        <p:txBody>
          <a:bodyPr>
            <a:normAutofit/>
          </a:bodyPr>
          <a:lstStyle/>
          <a:p>
            <a:pPr algn="l"/>
            <a:r>
              <a:rPr lang="en-US" sz="2800" b="1" i="0" dirty="0">
                <a:solidFill>
                  <a:schemeClr val="accent2"/>
                </a:solidFill>
                <a:effectLst/>
                <a:latin typeface="Inter"/>
              </a:rPr>
              <a:t>d. Central Bank Rates</a:t>
            </a:r>
          </a:p>
          <a:p>
            <a:pPr algn="l">
              <a:buFont typeface="Arial" panose="020B0604020202020204" pitchFamily="34" charset="0"/>
              <a:buChar char="•"/>
            </a:pPr>
            <a:r>
              <a:rPr lang="en-US" sz="2800" b="0" i="0" dirty="0">
                <a:solidFill>
                  <a:srgbClr val="404040"/>
                </a:solidFill>
                <a:effectLst/>
                <a:latin typeface="Inter"/>
              </a:rPr>
              <a:t>Set by central banks (e.g., Federal Reserve, European Central Bank) to influence the economy.</a:t>
            </a:r>
          </a:p>
          <a:p>
            <a:pPr algn="l">
              <a:spcBef>
                <a:spcPts val="300"/>
              </a:spcBef>
              <a:buFont typeface="Arial" panose="020B0604020202020204" pitchFamily="34" charset="0"/>
              <a:buChar char="•"/>
            </a:pPr>
            <a:r>
              <a:rPr lang="en-US" sz="2800" b="0" i="0" dirty="0">
                <a:solidFill>
                  <a:srgbClr val="404040"/>
                </a:solidFill>
                <a:effectLst/>
                <a:latin typeface="Inter"/>
              </a:rPr>
              <a:t>Examples: Federal Funds Rate (U.S.), ECB Refinancing Rate (Eurozone).</a:t>
            </a:r>
          </a:p>
          <a:p>
            <a:pPr algn="l"/>
            <a:r>
              <a:rPr lang="en-US" sz="2800" b="1" i="0" dirty="0">
                <a:solidFill>
                  <a:schemeClr val="accent2"/>
                </a:solidFill>
                <a:effectLst/>
                <a:latin typeface="Inter"/>
              </a:rPr>
              <a:t>e. Market-Determined Rates</a:t>
            </a:r>
          </a:p>
          <a:p>
            <a:pPr algn="l">
              <a:buFont typeface="Arial" panose="020B0604020202020204" pitchFamily="34" charset="0"/>
              <a:buChar char="•"/>
            </a:pPr>
            <a:r>
              <a:rPr lang="en-US" sz="2800" b="0" i="0" dirty="0">
                <a:solidFill>
                  <a:srgbClr val="404040"/>
                </a:solidFill>
                <a:effectLst/>
                <a:latin typeface="Inter"/>
              </a:rPr>
              <a:t>Rates determined by supply and demand in financial markets.</a:t>
            </a:r>
          </a:p>
          <a:p>
            <a:pPr algn="l">
              <a:spcBef>
                <a:spcPts val="300"/>
              </a:spcBef>
              <a:buFont typeface="Arial" panose="020B0604020202020204" pitchFamily="34" charset="0"/>
              <a:buChar char="•"/>
            </a:pPr>
            <a:r>
              <a:rPr lang="en-US" sz="2800" b="0" i="0" dirty="0">
                <a:solidFill>
                  <a:srgbClr val="404040"/>
                </a:solidFill>
                <a:effectLst/>
                <a:latin typeface="Inter"/>
              </a:rPr>
              <a:t>Examples: Bond yields, interbank lending rates.</a:t>
            </a:r>
          </a:p>
          <a:p>
            <a:endParaRPr lang="en-US" dirty="0"/>
          </a:p>
        </p:txBody>
      </p:sp>
    </p:spTree>
    <p:extLst>
      <p:ext uri="{BB962C8B-B14F-4D97-AF65-F5344CB8AC3E}">
        <p14:creationId xmlns:p14="http://schemas.microsoft.com/office/powerpoint/2010/main" val="1782010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433C5-4FDA-B648-65D4-7C04B4D857D2}"/>
              </a:ext>
            </a:extLst>
          </p:cNvPr>
          <p:cNvSpPr>
            <a:spLocks noGrp="1"/>
          </p:cNvSpPr>
          <p:nvPr>
            <p:ph type="title"/>
          </p:nvPr>
        </p:nvSpPr>
        <p:spPr>
          <a:xfrm>
            <a:off x="677334" y="609600"/>
            <a:ext cx="8596668" cy="984422"/>
          </a:xfrm>
        </p:spPr>
        <p:txBody>
          <a:bodyPr/>
          <a:lstStyle/>
          <a:p>
            <a:r>
              <a:rPr lang="en-US" b="1" dirty="0">
                <a:solidFill>
                  <a:schemeClr val="accent2"/>
                </a:solidFill>
                <a:latin typeface="Inter"/>
              </a:rPr>
              <a:t>Factors Influencing Interest Rates</a:t>
            </a:r>
            <a:endParaRPr lang="en-US" dirty="0">
              <a:solidFill>
                <a:schemeClr val="accent2"/>
              </a:solidFill>
            </a:endParaRPr>
          </a:p>
        </p:txBody>
      </p:sp>
      <p:sp>
        <p:nvSpPr>
          <p:cNvPr id="3" name="Content Placeholder 2">
            <a:extLst>
              <a:ext uri="{FF2B5EF4-FFF2-40B4-BE49-F238E27FC236}">
                <a16:creationId xmlns:a16="http://schemas.microsoft.com/office/drawing/2014/main" id="{9E3F521A-30BC-73A2-36E3-DD021C593B8F}"/>
              </a:ext>
            </a:extLst>
          </p:cNvPr>
          <p:cNvSpPr>
            <a:spLocks noGrp="1"/>
          </p:cNvSpPr>
          <p:nvPr>
            <p:ph idx="1"/>
          </p:nvPr>
        </p:nvSpPr>
        <p:spPr>
          <a:xfrm>
            <a:off x="284204" y="1594022"/>
            <a:ext cx="9749481" cy="4992129"/>
          </a:xfrm>
        </p:spPr>
        <p:txBody>
          <a:bodyPr>
            <a:normAutofit fontScale="92500" lnSpcReduction="20000"/>
          </a:bodyPr>
          <a:lstStyle/>
          <a:p>
            <a:pPr algn="l"/>
            <a:r>
              <a:rPr lang="en-US" sz="2400" b="0" i="0" dirty="0">
                <a:solidFill>
                  <a:schemeClr val="accent2"/>
                </a:solidFill>
                <a:effectLst/>
                <a:latin typeface="Inter"/>
              </a:rPr>
              <a:t>Interest rates are influenced by a variety of economic and financial factors:</a:t>
            </a:r>
          </a:p>
          <a:p>
            <a:pPr algn="l"/>
            <a:r>
              <a:rPr lang="en-US" sz="2400" b="1" i="0" dirty="0">
                <a:solidFill>
                  <a:srgbClr val="00B050"/>
                </a:solidFill>
                <a:effectLst/>
                <a:latin typeface="Inter"/>
              </a:rPr>
              <a:t>a. Central Bank Policies</a:t>
            </a:r>
          </a:p>
          <a:p>
            <a:pPr algn="l">
              <a:buFont typeface="Arial" panose="020B0604020202020204" pitchFamily="34" charset="0"/>
              <a:buChar char="•"/>
            </a:pPr>
            <a:r>
              <a:rPr lang="en-US" sz="2400" b="0" i="0" dirty="0">
                <a:solidFill>
                  <a:srgbClr val="404040"/>
                </a:solidFill>
                <a:effectLst/>
                <a:latin typeface="Inter"/>
              </a:rPr>
              <a:t>Central banks adjust interest rates to control inflation, stimulate growth, or stabilize the economy.</a:t>
            </a:r>
          </a:p>
          <a:p>
            <a:pPr algn="l">
              <a:spcBef>
                <a:spcPts val="300"/>
              </a:spcBef>
              <a:buFont typeface="Arial" panose="020B0604020202020204" pitchFamily="34" charset="0"/>
              <a:buChar char="•"/>
            </a:pPr>
            <a:r>
              <a:rPr lang="en-US" sz="2400" b="0" i="0" dirty="0">
                <a:solidFill>
                  <a:srgbClr val="404040"/>
                </a:solidFill>
                <a:effectLst/>
                <a:latin typeface="Inter"/>
              </a:rPr>
              <a:t>Example: Lowering rates to encourage borrowing and spending during a recession.</a:t>
            </a:r>
          </a:p>
          <a:p>
            <a:pPr algn="l"/>
            <a:r>
              <a:rPr lang="en-US" sz="2400" b="1" i="0" dirty="0">
                <a:solidFill>
                  <a:srgbClr val="00B050"/>
                </a:solidFill>
                <a:effectLst/>
                <a:latin typeface="Inter"/>
              </a:rPr>
              <a:t>b. Inflation</a:t>
            </a:r>
          </a:p>
          <a:p>
            <a:pPr algn="l">
              <a:buFont typeface="Arial" panose="020B0604020202020204" pitchFamily="34" charset="0"/>
              <a:buChar char="•"/>
            </a:pPr>
            <a:r>
              <a:rPr lang="en-US" sz="2400" b="0" i="0" dirty="0">
                <a:solidFill>
                  <a:srgbClr val="404040"/>
                </a:solidFill>
                <a:effectLst/>
                <a:latin typeface="Inter"/>
              </a:rPr>
              <a:t>Higher inflation typically leads to higher interest rates to maintain the real value of money.</a:t>
            </a:r>
          </a:p>
          <a:p>
            <a:pPr algn="l">
              <a:spcBef>
                <a:spcPts val="300"/>
              </a:spcBef>
              <a:buFont typeface="Arial" panose="020B0604020202020204" pitchFamily="34" charset="0"/>
              <a:buChar char="•"/>
            </a:pPr>
            <a:r>
              <a:rPr lang="en-US" sz="2400" b="0" i="0" dirty="0">
                <a:solidFill>
                  <a:srgbClr val="404040"/>
                </a:solidFill>
                <a:effectLst/>
                <a:latin typeface="Inter"/>
              </a:rPr>
              <a:t>Example: If inflation is 5%, lenders may demand a 7% interest rate to ensure a real return.</a:t>
            </a:r>
          </a:p>
          <a:p>
            <a:pPr algn="l"/>
            <a:r>
              <a:rPr lang="en-US" sz="2400" b="1" i="0" dirty="0">
                <a:solidFill>
                  <a:srgbClr val="00B050"/>
                </a:solidFill>
                <a:effectLst/>
                <a:latin typeface="Inter"/>
              </a:rPr>
              <a:t>c. Economic Growth</a:t>
            </a:r>
          </a:p>
          <a:p>
            <a:pPr algn="l">
              <a:buFont typeface="Arial" panose="020B0604020202020204" pitchFamily="34" charset="0"/>
              <a:buChar char="•"/>
            </a:pPr>
            <a:r>
              <a:rPr lang="en-US" sz="2400" b="0" i="0" dirty="0">
                <a:solidFill>
                  <a:srgbClr val="404040"/>
                </a:solidFill>
                <a:effectLst/>
                <a:latin typeface="Inter"/>
              </a:rPr>
              <a:t>Strong economic growth may lead to higher interest rates as demand for credit increases.</a:t>
            </a:r>
            <a:endParaRPr lang="en-US" sz="2400" b="1" i="0" dirty="0">
              <a:solidFill>
                <a:srgbClr val="404040"/>
              </a:solidFill>
              <a:effectLst/>
              <a:latin typeface="Inter"/>
            </a:endParaRPr>
          </a:p>
          <a:p>
            <a:endParaRPr lang="en-US" dirty="0"/>
          </a:p>
        </p:txBody>
      </p:sp>
    </p:spTree>
    <p:extLst>
      <p:ext uri="{BB962C8B-B14F-4D97-AF65-F5344CB8AC3E}">
        <p14:creationId xmlns:p14="http://schemas.microsoft.com/office/powerpoint/2010/main" val="2438299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D204-9AA2-4A59-3838-00082BAE6B42}"/>
              </a:ext>
            </a:extLst>
          </p:cNvPr>
          <p:cNvSpPr>
            <a:spLocks noGrp="1"/>
          </p:cNvSpPr>
          <p:nvPr>
            <p:ph type="title"/>
          </p:nvPr>
        </p:nvSpPr>
        <p:spPr/>
        <p:txBody>
          <a:bodyPr>
            <a:normAutofit fontScale="90000"/>
          </a:bodyPr>
          <a:lstStyle/>
          <a:p>
            <a:r>
              <a:rPr lang="en-US" b="1" dirty="0">
                <a:solidFill>
                  <a:schemeClr val="accent2"/>
                </a:solidFill>
                <a:latin typeface="Inter"/>
              </a:rPr>
              <a:t>Example: During a boom, businesses borrow more to expand, pushing rates up.</a:t>
            </a:r>
            <a:br>
              <a:rPr lang="en-US" b="1" dirty="0">
                <a:solidFill>
                  <a:schemeClr val="accent2"/>
                </a:solidFill>
                <a:latin typeface="Inter"/>
              </a:rPr>
            </a:br>
            <a:endParaRPr lang="en-US" b="1" dirty="0">
              <a:solidFill>
                <a:schemeClr val="accent2"/>
              </a:solidFill>
            </a:endParaRPr>
          </a:p>
        </p:txBody>
      </p:sp>
      <p:sp>
        <p:nvSpPr>
          <p:cNvPr id="3" name="Content Placeholder 2">
            <a:extLst>
              <a:ext uri="{FF2B5EF4-FFF2-40B4-BE49-F238E27FC236}">
                <a16:creationId xmlns:a16="http://schemas.microsoft.com/office/drawing/2014/main" id="{D6C628B3-6BCA-BFC1-6C81-39DC6E69B41A}"/>
              </a:ext>
            </a:extLst>
          </p:cNvPr>
          <p:cNvSpPr>
            <a:spLocks noGrp="1"/>
          </p:cNvSpPr>
          <p:nvPr>
            <p:ph idx="1"/>
          </p:nvPr>
        </p:nvSpPr>
        <p:spPr>
          <a:xfrm>
            <a:off x="333631" y="2051222"/>
            <a:ext cx="9798909" cy="4806777"/>
          </a:xfrm>
        </p:spPr>
        <p:txBody>
          <a:bodyPr>
            <a:normAutofit/>
          </a:bodyPr>
          <a:lstStyle/>
          <a:p>
            <a:pPr algn="l"/>
            <a:r>
              <a:rPr lang="en-US" sz="2400" b="1" i="0" dirty="0">
                <a:solidFill>
                  <a:srgbClr val="800080"/>
                </a:solidFill>
                <a:effectLst/>
                <a:latin typeface="Inter"/>
              </a:rPr>
              <a:t>d. Supply and Demand for Credit</a:t>
            </a:r>
          </a:p>
          <a:p>
            <a:pPr algn="l">
              <a:buFont typeface="Arial" panose="020B0604020202020204" pitchFamily="34" charset="0"/>
              <a:buChar char="•"/>
            </a:pPr>
            <a:r>
              <a:rPr lang="en-US" sz="2400" b="0" i="0" dirty="0">
                <a:solidFill>
                  <a:schemeClr val="tx1"/>
                </a:solidFill>
                <a:effectLst/>
                <a:latin typeface="Inter"/>
              </a:rPr>
              <a:t>High demand for loans (e.g., for mortgages or business investments) can drive interest rates up.</a:t>
            </a:r>
          </a:p>
          <a:p>
            <a:pPr algn="l">
              <a:spcBef>
                <a:spcPts val="300"/>
              </a:spcBef>
              <a:buFont typeface="Arial" panose="020B0604020202020204" pitchFamily="34" charset="0"/>
              <a:buChar char="•"/>
            </a:pPr>
            <a:r>
              <a:rPr lang="en-US" sz="2400" b="0" i="0" dirty="0">
                <a:solidFill>
                  <a:schemeClr val="tx1"/>
                </a:solidFill>
                <a:effectLst/>
                <a:latin typeface="Inter"/>
              </a:rPr>
              <a:t>Excess savings or low demand for loans can push rates down.</a:t>
            </a:r>
          </a:p>
          <a:p>
            <a:pPr algn="l"/>
            <a:r>
              <a:rPr lang="en-US" sz="2400" b="1" i="0" dirty="0">
                <a:solidFill>
                  <a:srgbClr val="800080"/>
                </a:solidFill>
                <a:effectLst/>
                <a:latin typeface="Inter"/>
              </a:rPr>
              <a:t>e. Government Debt</a:t>
            </a:r>
          </a:p>
          <a:p>
            <a:pPr algn="l">
              <a:buFont typeface="Arial" panose="020B0604020202020204" pitchFamily="34" charset="0"/>
              <a:buChar char="•"/>
            </a:pPr>
            <a:r>
              <a:rPr lang="en-US" sz="2400" b="0" i="0" dirty="0">
                <a:solidFill>
                  <a:schemeClr val="tx1"/>
                </a:solidFill>
                <a:effectLst/>
                <a:latin typeface="Inter"/>
              </a:rPr>
              <a:t>High levels of government borrowing can increase interest rates as governments compete for funds in the financial markets.</a:t>
            </a:r>
          </a:p>
          <a:p>
            <a:pPr algn="l"/>
            <a:r>
              <a:rPr lang="en-US" sz="2400" b="1" i="0" dirty="0">
                <a:solidFill>
                  <a:srgbClr val="800080"/>
                </a:solidFill>
                <a:effectLst/>
                <a:latin typeface="Inter"/>
              </a:rPr>
              <a:t>f. Global Factors</a:t>
            </a:r>
          </a:p>
          <a:p>
            <a:pPr algn="l">
              <a:buFont typeface="Arial" panose="020B0604020202020204" pitchFamily="34" charset="0"/>
              <a:buChar char="•"/>
            </a:pPr>
            <a:r>
              <a:rPr lang="en-US" sz="2400" b="0" i="0" dirty="0">
                <a:solidFill>
                  <a:schemeClr val="tx1"/>
                </a:solidFill>
                <a:effectLst/>
                <a:latin typeface="Inter"/>
              </a:rPr>
              <a:t>International capital flows, exchange rates, and global economic conditions can influence domestic interest rates.</a:t>
            </a:r>
            <a:br>
              <a:rPr lang="en-US" sz="2400" b="0" i="0" dirty="0">
                <a:solidFill>
                  <a:schemeClr val="tx1"/>
                </a:solidFill>
                <a:effectLst/>
                <a:latin typeface="Inter"/>
              </a:rPr>
            </a:br>
            <a:endParaRPr lang="en-US" sz="2400" dirty="0">
              <a:solidFill>
                <a:schemeClr val="tx1"/>
              </a:solidFill>
            </a:endParaRPr>
          </a:p>
        </p:txBody>
      </p:sp>
    </p:spTree>
    <p:extLst>
      <p:ext uri="{BB962C8B-B14F-4D97-AF65-F5344CB8AC3E}">
        <p14:creationId xmlns:p14="http://schemas.microsoft.com/office/powerpoint/2010/main" val="57076217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otalTime>111</TotalTime>
  <Words>1733</Words>
  <Application>Microsoft Office PowerPoint</Application>
  <PresentationFormat>Widescreen</PresentationFormat>
  <Paragraphs>150</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Andalus</vt:lpstr>
      <vt:lpstr>Arial</vt:lpstr>
      <vt:lpstr>Inter</vt:lpstr>
      <vt:lpstr>Trebuchet MS</vt:lpstr>
      <vt:lpstr>var(--ds-font-family-code)</vt:lpstr>
      <vt:lpstr>Wingdings 3</vt:lpstr>
      <vt:lpstr>Facet</vt:lpstr>
      <vt:lpstr>LUC 2</vt:lpstr>
      <vt:lpstr>Software and the Time Value of Money (TVM)</vt:lpstr>
      <vt:lpstr>Why TVM Matters in Software Development </vt:lpstr>
      <vt:lpstr>Key TVM Concepts in Software </vt:lpstr>
      <vt:lpstr>PowerPoint Presentation</vt:lpstr>
      <vt:lpstr>B. Net Present Value (NPV) in Software Projects </vt:lpstr>
      <vt:lpstr>Example:</vt:lpstr>
      <vt:lpstr>C. Internal Rate of Return (IRR) </vt:lpstr>
      <vt:lpstr>Payback Period in Software Development </vt:lpstr>
      <vt:lpstr>TVM in Software Business Models</vt:lpstr>
      <vt:lpstr>4. Best Practices for Applying TVM in Software Decisions</vt:lpstr>
      <vt:lpstr>PowerPoint Presentation</vt:lpstr>
      <vt:lpstr>Microsoft Excel or Google Sheets: </vt:lpstr>
      <vt:lpstr>PowerPoint Presentation</vt:lpstr>
      <vt:lpstr>Dedicated Financial Software </vt:lpstr>
      <vt:lpstr>Programming Libraries</vt:lpstr>
      <vt:lpstr>When to Use TVM Software </vt:lpstr>
      <vt:lpstr>Interest rates </vt:lpstr>
      <vt:lpstr>2. Types of Interest Rates </vt:lpstr>
      <vt:lpstr>PowerPoint Presentation</vt:lpstr>
      <vt:lpstr>Factors Influencing Interest Rates</vt:lpstr>
      <vt:lpstr>Example: During a boom, businesses borrow more to expand, pushing rates up.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14</cp:revision>
  <dcterms:created xsi:type="dcterms:W3CDTF">2025-02-17T09:56:47Z</dcterms:created>
  <dcterms:modified xsi:type="dcterms:W3CDTF">2025-02-23T09:13:05Z</dcterms:modified>
</cp:coreProperties>
</file>