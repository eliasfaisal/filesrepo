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7" r:id="rId2"/>
    <p:sldId id="26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268" r:id="rId19"/>
    <p:sldId id="269" r:id="rId20"/>
    <p:sldId id="270" r:id="rId21"/>
    <p:sldId id="271" r:id="rId22"/>
    <p:sldId id="272" r:id="rId23"/>
    <p:sldId id="273" r:id="rId24"/>
    <p:sldId id="313" r:id="rId25"/>
    <p:sldId id="274" r:id="rId26"/>
    <p:sldId id="284" r:id="rId27"/>
    <p:sldId id="285" r:id="rId28"/>
    <p:sldId id="275" r:id="rId29"/>
    <p:sldId id="276" r:id="rId30"/>
    <p:sldId id="277" r:id="rId31"/>
    <p:sldId id="278" r:id="rId32"/>
    <p:sldId id="279" r:id="rId33"/>
    <p:sldId id="280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>
      <p:cViewPr varScale="1">
        <p:scale>
          <a:sx n="52" d="100"/>
          <a:sy n="52" d="100"/>
        </p:scale>
        <p:origin x="6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26</a:t>
            </a:fld>
            <a:endParaRPr lang="en-US" sz="1200" dirty="0"/>
          </a:p>
        </p:txBody>
      </p:sp>
      <p:sp>
        <p:nvSpPr>
          <p:cNvPr id="182274" name="Slide Image Placeholder 182273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2275" name="Text Placeholder 18227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21776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27</a:t>
            </a:fld>
            <a:endParaRPr lang="en-US" sz="1200" dirty="0"/>
          </a:p>
        </p:txBody>
      </p:sp>
      <p:sp>
        <p:nvSpPr>
          <p:cNvPr id="183298" name="Slide Image Placeholder 183297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3299" name="Text Placeholder 18329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4430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28</a:t>
            </a:fld>
            <a:endParaRPr lang="en-US" sz="1200" dirty="0"/>
          </a:p>
        </p:txBody>
      </p:sp>
      <p:sp>
        <p:nvSpPr>
          <p:cNvPr id="185346" name="Slide Image Placeholder 185345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5347" name="Text Placeholder 18534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1108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30</a:t>
            </a:fld>
            <a:endParaRPr lang="en-US" sz="1200" dirty="0"/>
          </a:p>
        </p:txBody>
      </p:sp>
      <p:sp>
        <p:nvSpPr>
          <p:cNvPr id="186370" name="Slide Image Placeholder 186369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6371" name="Text Placeholder 18637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12635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31</a:t>
            </a:fld>
            <a:endParaRPr lang="en-US" sz="1200" dirty="0"/>
          </a:p>
        </p:txBody>
      </p:sp>
      <p:sp>
        <p:nvSpPr>
          <p:cNvPr id="187394" name="Slide Image Placeholder 187393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7395" name="Text Placeholder 18739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16597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32</a:t>
            </a:fld>
            <a:endParaRPr lang="en-US" sz="1200" dirty="0"/>
          </a:p>
        </p:txBody>
      </p:sp>
      <p:sp>
        <p:nvSpPr>
          <p:cNvPr id="188418" name="Slide Image Placeholder 188417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8419" name="Text Placeholder 18841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753232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33</a:t>
            </a:fld>
            <a:endParaRPr lang="en-US" sz="1200" dirty="0"/>
          </a:p>
        </p:txBody>
      </p:sp>
      <p:sp>
        <p:nvSpPr>
          <p:cNvPr id="189442" name="Slide Image Placeholder 18944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9443" name="Text Placeholder 18944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29948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C046E-5571-47FD-A6FE-C82F14AFB5A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398" y="1005017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LUC </a:t>
            </a:r>
            <a:r>
              <a:rPr lang="ar-QA" altLang="en-US" sz="5400" b="1" dirty="0"/>
              <a:t>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3830" y="3191566"/>
            <a:ext cx="9195715" cy="173603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sz="6000" b="1" dirty="0">
                <a:solidFill>
                  <a:schemeClr val="accent6"/>
                </a:solidFill>
                <a:sym typeface="+mn-ea"/>
              </a:rPr>
              <a:t>Economic Analysis</a:t>
            </a:r>
            <a:endParaRPr sz="6000" b="1" dirty="0">
              <a:solidFill>
                <a:schemeClr val="accent6"/>
              </a:solidFill>
            </a:endParaRPr>
          </a:p>
          <a:p>
            <a:pPr marL="0" indent="0" algn="ctr">
              <a:buNone/>
            </a:pPr>
            <a:endParaRPr lang="en-US" sz="6000" b="1" dirty="0">
              <a:solidFill>
                <a:schemeClr val="accent6"/>
              </a:solidFill>
              <a:sym typeface="+mn-ea"/>
            </a:endParaRPr>
          </a:p>
        </p:txBody>
      </p:sp>
      <p:graphicFrame>
        <p:nvGraphicFramePr>
          <p:cNvPr id="1026" name="Object 4">
            <a:hlinkClick r:id="" action="ppaction://ole?verb=0"/>
          </p:cNvPr>
          <p:cNvGraphicFramePr/>
          <p:nvPr/>
        </p:nvGraphicFramePr>
        <p:xfrm>
          <a:off x="8749665" y="1228090"/>
          <a:ext cx="2433320" cy="2200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189855" imgH="2233930" progId="MS_ClipArt_Gallery">
                  <p:embed/>
                </p:oleObj>
              </mc:Choice>
              <mc:Fallback>
                <p:oleObj r:id="rId2" imgW="5189855" imgH="2233930" progId="MS_ClipArt_Gallery">
                  <p:embed/>
                  <p:pic>
                    <p:nvPicPr>
                      <p:cNvPr id="0" name="Picture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749665" y="1228090"/>
                        <a:ext cx="2433320" cy="22009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0488" tIns="44450" rIns="90488" bIns="44450" anchor="ctr" anchorCtr="0"/>
          <a:lstStyle/>
          <a:p>
            <a:r>
              <a:rPr dirty="0"/>
              <a:t>Economic Analysis</a:t>
            </a:r>
          </a:p>
        </p:txBody>
      </p:sp>
      <p:sp>
        <p:nvSpPr>
          <p:cNvPr id="1028" name="Rectangle 3"/>
          <p:cNvSpPr>
            <a:spLocks noGrp="1"/>
          </p:cNvSpPr>
          <p:nvPr>
            <p:ph idx="1" hasCustomPrompt="1"/>
          </p:nvPr>
        </p:nvSpPr>
        <p:spPr/>
        <p:txBody>
          <a:bodyPr vert="horz" wrap="square" lIns="90488" tIns="44450" rIns="90488" bIns="44450" anchor="t" anchorCtr="0"/>
          <a:lstStyle/>
          <a:p>
            <a:r>
              <a:rPr sz="3200" b="1" dirty="0">
                <a:solidFill>
                  <a:schemeClr val="accent6"/>
                </a:solidFill>
              </a:rPr>
              <a:t>Cost estimates</a:t>
            </a:r>
          </a:p>
          <a:p>
            <a:pPr lvl="1"/>
            <a:r>
              <a:rPr sz="2800" dirty="0"/>
              <a:t>acquisition or development costs</a:t>
            </a:r>
          </a:p>
          <a:p>
            <a:pPr lvl="1"/>
            <a:r>
              <a:rPr sz="2800" dirty="0"/>
              <a:t>operation and maintenance costs</a:t>
            </a:r>
          </a:p>
          <a:p>
            <a:pPr algn="l"/>
            <a:r>
              <a:rPr sz="3200" b="1" dirty="0">
                <a:solidFill>
                  <a:schemeClr val="accent6"/>
                </a:solidFill>
              </a:rPr>
              <a:t>Benefit estimates</a:t>
            </a:r>
          </a:p>
          <a:p>
            <a:pPr lvl="1"/>
            <a:r>
              <a:rPr sz="2800" dirty="0"/>
              <a:t>tangible benefits</a:t>
            </a:r>
          </a:p>
          <a:p>
            <a:pPr lvl="1"/>
            <a:r>
              <a:rPr sz="2800" dirty="0"/>
              <a:t>intangible benefits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Title 233473"/>
          <p:cNvSpPr>
            <a:spLocks noGrp="1"/>
          </p:cNvSpPr>
          <p:nvPr>
            <p:ph type="title"/>
          </p:nvPr>
        </p:nvSpPr>
        <p:spPr>
          <a:xfrm>
            <a:off x="5049441" y="400050"/>
            <a:ext cx="2134235" cy="610870"/>
          </a:xfrm>
        </p:spPr>
        <p:txBody>
          <a:bodyPr wrap="none" lIns="71437" tIns="28575" rIns="71437" bIns="28575">
            <a:spAutoFit/>
          </a:bodyPr>
          <a:lstStyle/>
          <a:p>
            <a:r>
              <a:rPr lang="en-US" altLang="x-none" dirty="0"/>
              <a:t>The Steps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930275" y="920750"/>
            <a:ext cx="8213725" cy="53333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x-none" sz="3600" b="1" dirty="0" err="1">
                <a:sym typeface="+mn-ea"/>
              </a:rPr>
              <a:t>Scoping</a:t>
            </a:r>
            <a:r>
              <a:rPr lang="en-US" altLang="x-none" sz="3200" dirty="0">
                <a:sym typeface="+mn-ea"/>
              </a:rPr>
              <a:t>—understand the problem and the work that must be done</a:t>
            </a:r>
            <a:endParaRPr lang="en-US" altLang="x-none" sz="3200" dirty="0"/>
          </a:p>
          <a:p>
            <a:r>
              <a:rPr lang="en-US" altLang="x-none" sz="3600" b="1" dirty="0" err="1">
                <a:sym typeface="+mn-ea"/>
              </a:rPr>
              <a:t>Estimation</a:t>
            </a:r>
            <a:r>
              <a:rPr lang="en-US" altLang="x-none" sz="3200" dirty="0">
                <a:sym typeface="+mn-ea"/>
              </a:rPr>
              <a:t>—how much effort? how much time?</a:t>
            </a:r>
            <a:endParaRPr lang="en-US" altLang="x-none" sz="3200" dirty="0"/>
          </a:p>
          <a:p>
            <a:r>
              <a:rPr lang="en-US" altLang="x-none" sz="3600" b="1" dirty="0" err="1">
                <a:sym typeface="+mn-ea"/>
              </a:rPr>
              <a:t>Risk</a:t>
            </a:r>
            <a:r>
              <a:rPr lang="en-US" altLang="x-none" sz="3200" dirty="0" err="1">
                <a:sym typeface="+mn-ea"/>
              </a:rPr>
              <a:t>—what can go wrong? how can we avoid it? what can we do about it</a:t>
            </a:r>
            <a:r>
              <a:rPr lang="en-US" altLang="x-none" sz="3600" b="1" dirty="0" err="1">
                <a:sym typeface="+mn-ea"/>
              </a:rPr>
              <a:t>?</a:t>
            </a:r>
            <a:endParaRPr lang="en-US" altLang="x-none" sz="3600" b="1" dirty="0" err="1"/>
          </a:p>
          <a:p>
            <a:r>
              <a:rPr lang="en-US" altLang="x-none" sz="3600" b="1" dirty="0">
                <a:solidFill>
                  <a:schemeClr val="tx2"/>
                </a:solidFill>
                <a:sym typeface="+mn-ea"/>
              </a:rPr>
              <a:t>Schedule</a:t>
            </a:r>
            <a:r>
              <a:rPr lang="en-US" altLang="x-none" sz="3200" dirty="0">
                <a:solidFill>
                  <a:schemeClr val="tx2"/>
                </a:solidFill>
                <a:sym typeface="+mn-ea"/>
              </a:rPr>
              <a:t>—how do we allocate resources along the timeline? what are the milestones?</a:t>
            </a:r>
            <a:endParaRPr lang="en-US" altLang="x-none" sz="3200" dirty="0">
              <a:solidFill>
                <a:schemeClr val="tx2"/>
              </a:solidFill>
            </a:endParaRPr>
          </a:p>
          <a:p>
            <a:r>
              <a:rPr lang="en-US" altLang="x-none" sz="3600" b="1" dirty="0">
                <a:sym typeface="+mn-ea"/>
              </a:rPr>
              <a:t>Control strategy</a:t>
            </a:r>
            <a:r>
              <a:rPr lang="en-US" altLang="x-none" sz="3200" dirty="0">
                <a:sym typeface="+mn-ea"/>
              </a:rPr>
              <a:t>—how do we control quality? how do we control change?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Title 234497"/>
          <p:cNvSpPr>
            <a:spLocks noGrp="1"/>
          </p:cNvSpPr>
          <p:nvPr>
            <p:ph type="title"/>
          </p:nvPr>
        </p:nvSpPr>
        <p:spPr>
          <a:xfrm>
            <a:off x="4470797" y="400050"/>
            <a:ext cx="3116580" cy="610870"/>
          </a:xfrm>
        </p:spPr>
        <p:txBody>
          <a:bodyPr wrap="none" lIns="71437" tIns="28575" rIns="71437" bIns="28575">
            <a:spAutoFit/>
          </a:bodyPr>
          <a:lstStyle/>
          <a:p>
            <a:r>
              <a:rPr lang="en-US" altLang="x-none" dirty="0"/>
              <a:t>Write it Down!</a:t>
            </a:r>
          </a:p>
        </p:txBody>
      </p:sp>
      <p:sp>
        <p:nvSpPr>
          <p:cNvPr id="234499" name="Rectangles 234498"/>
          <p:cNvSpPr/>
          <p:nvPr/>
        </p:nvSpPr>
        <p:spPr>
          <a:xfrm>
            <a:off x="7314565" y="2346325"/>
            <a:ext cx="2284095" cy="3028950"/>
          </a:xfrm>
          <a:prstGeom prst="rect">
            <a:avLst/>
          </a:prstGeom>
          <a:solidFill>
            <a:schemeClr val="folHlink"/>
          </a:solidFill>
          <a:ln w="25400">
            <a:noFill/>
          </a:ln>
          <a:effectLst>
            <a:outerShdw dist="53882" dir="2699999" algn="ctr" rotWithShape="0">
              <a:schemeClr val="bg2"/>
            </a:outerShdw>
          </a:effectLst>
        </p:spPr>
        <p:txBody>
          <a:bodyPr/>
          <a:lstStyle/>
          <a:p>
            <a:endParaRPr lang="en-US" sz="2025"/>
          </a:p>
        </p:txBody>
      </p:sp>
      <p:sp>
        <p:nvSpPr>
          <p:cNvPr id="234500" name="Rectangles 234499"/>
          <p:cNvSpPr/>
          <p:nvPr/>
        </p:nvSpPr>
        <p:spPr>
          <a:xfrm>
            <a:off x="7428230" y="2757805"/>
            <a:ext cx="1996440" cy="2016760"/>
          </a:xfrm>
          <a:prstGeom prst="rect">
            <a:avLst/>
          </a:prstGeom>
          <a:noFill/>
          <a:ln w="25400">
            <a:noFill/>
          </a:ln>
        </p:spPr>
        <p:txBody>
          <a:bodyPr wrap="none" lIns="101797" tIns="50006" rIns="101797" bIns="50006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x-none" sz="3600" dirty="0">
                <a:effectLst>
                  <a:outerShdw blurRad="38100" dist="38100" dir="2700000">
                    <a:srgbClr val="FFFFFF"/>
                  </a:outerShdw>
                </a:effectLst>
                <a:latin typeface="Helvetica" pitchFamily="-99" charset="0"/>
              </a:rPr>
              <a:t>Software</a:t>
            </a:r>
          </a:p>
          <a:p>
            <a:pPr algn="ctr">
              <a:lnSpc>
                <a:spcPct val="100000"/>
              </a:lnSpc>
            </a:pPr>
            <a:r>
              <a:rPr lang="en-US" altLang="x-none" sz="3600" dirty="0">
                <a:effectLst>
                  <a:outerShdw blurRad="38100" dist="38100" dir="2700000">
                    <a:srgbClr val="FFFFFF"/>
                  </a:outerShdw>
                </a:effectLst>
                <a:latin typeface="Helvetica" pitchFamily="-99" charset="0"/>
              </a:rPr>
              <a:t>Project</a:t>
            </a:r>
          </a:p>
          <a:p>
            <a:pPr algn="ctr">
              <a:lnSpc>
                <a:spcPct val="100000"/>
              </a:lnSpc>
            </a:pPr>
            <a:r>
              <a:rPr lang="en-US" altLang="x-none" sz="3600" dirty="0">
                <a:effectLst>
                  <a:outerShdw blurRad="38100" dist="38100" dir="2700000">
                    <a:srgbClr val="FFFFFF"/>
                  </a:outerShdw>
                </a:effectLst>
                <a:latin typeface="Helvetica" pitchFamily="-99" charset="0"/>
              </a:rPr>
              <a:t>Plan</a:t>
            </a:r>
          </a:p>
        </p:txBody>
      </p:sp>
      <p:sp>
        <p:nvSpPr>
          <p:cNvPr id="234501" name="Rectangles 234500"/>
          <p:cNvSpPr/>
          <p:nvPr/>
        </p:nvSpPr>
        <p:spPr>
          <a:xfrm>
            <a:off x="1070610" y="2517775"/>
            <a:ext cx="4109085" cy="2857500"/>
          </a:xfrm>
          <a:prstGeom prst="rect">
            <a:avLst/>
          </a:prstGeom>
          <a:solidFill>
            <a:srgbClr val="92D050"/>
          </a:solidFill>
          <a:ln w="25400">
            <a:noFill/>
          </a:ln>
          <a:effectLst>
            <a:outerShdw dist="53882" dir="2699999" algn="ctr" rotWithShape="0">
              <a:schemeClr val="bg2"/>
            </a:outerShdw>
          </a:effectLst>
        </p:spPr>
        <p:txBody>
          <a:bodyPr/>
          <a:lstStyle/>
          <a:p>
            <a:endParaRPr lang="en-US" sz="2025"/>
          </a:p>
        </p:txBody>
      </p:sp>
      <p:sp>
        <p:nvSpPr>
          <p:cNvPr id="234502" name="Rectangles 234501"/>
          <p:cNvSpPr/>
          <p:nvPr/>
        </p:nvSpPr>
        <p:spPr>
          <a:xfrm>
            <a:off x="1158875" y="2517775"/>
            <a:ext cx="3733800" cy="2764790"/>
          </a:xfrm>
          <a:prstGeom prst="rect">
            <a:avLst/>
          </a:prstGeom>
          <a:noFill/>
          <a:ln w="25400">
            <a:noFill/>
          </a:ln>
        </p:spPr>
        <p:txBody>
          <a:bodyPr wrap="none" lIns="101797" tIns="50006" rIns="101797" bIns="50006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x-none" sz="2700" dirty="0">
                <a:effectLst>
                  <a:outerShdw blurRad="38100" dist="38100" dir="2700000">
                    <a:srgbClr val="FFFFFF"/>
                  </a:outerShdw>
                </a:effectLst>
                <a:latin typeface="Helvetica" pitchFamily="-99" charset="0"/>
              </a:rPr>
              <a:t>Project Scope</a:t>
            </a:r>
          </a:p>
          <a:p>
            <a:pPr>
              <a:lnSpc>
                <a:spcPct val="100000"/>
              </a:lnSpc>
            </a:pPr>
            <a:r>
              <a:rPr lang="en-US" altLang="x-none" sz="2700" dirty="0">
                <a:effectLst>
                  <a:outerShdw blurRad="38100" dist="38100" dir="2700000">
                    <a:srgbClr val="FFFFFF"/>
                  </a:outerShdw>
                </a:effectLst>
                <a:latin typeface="Helvetica" pitchFamily="-99" charset="0"/>
              </a:rPr>
              <a:t>Estimates</a:t>
            </a:r>
          </a:p>
          <a:p>
            <a:pPr>
              <a:lnSpc>
                <a:spcPct val="100000"/>
              </a:lnSpc>
            </a:pPr>
            <a:r>
              <a:rPr lang="en-US" altLang="x-none" sz="2700" dirty="0">
                <a:effectLst>
                  <a:outerShdw blurRad="38100" dist="38100" dir="2700000">
                    <a:srgbClr val="FFFFFF"/>
                  </a:outerShdw>
                </a:effectLst>
                <a:latin typeface="Helvetica" pitchFamily="-99" charset="0"/>
              </a:rPr>
              <a:t>Risks</a:t>
            </a:r>
          </a:p>
          <a:p>
            <a:pPr>
              <a:lnSpc>
                <a:spcPct val="100000"/>
              </a:lnSpc>
            </a:pPr>
            <a:r>
              <a:rPr lang="en-US" altLang="x-none" sz="2700" dirty="0">
                <a:effectLst>
                  <a:outerShdw blurRad="38100" dist="38100" dir="2700000">
                    <a:srgbClr val="FFFFFF"/>
                  </a:outerShdw>
                </a:effectLst>
                <a:latin typeface="Helvetica" pitchFamily="-99" charset="0"/>
              </a:rPr>
              <a:t>Schedule</a:t>
            </a:r>
          </a:p>
          <a:p>
            <a:pPr>
              <a:lnSpc>
                <a:spcPct val="100000"/>
              </a:lnSpc>
            </a:pPr>
            <a:r>
              <a:rPr lang="en-US" altLang="x-none" sz="2700" dirty="0">
                <a:effectLst>
                  <a:outerShdw blurRad="38100" dist="38100" dir="2700000">
                    <a:srgbClr val="FFFFFF"/>
                  </a:outerShdw>
                </a:effectLst>
                <a:latin typeface="Helvetica" pitchFamily="-99" charset="0"/>
              </a:rPr>
              <a:t>Control strategy</a:t>
            </a:r>
          </a:p>
        </p:txBody>
      </p:sp>
      <p:sp>
        <p:nvSpPr>
          <p:cNvPr id="234503" name="Right Arrow 234502"/>
          <p:cNvSpPr/>
          <p:nvPr/>
        </p:nvSpPr>
        <p:spPr>
          <a:xfrm>
            <a:off x="5251450" y="2924810"/>
            <a:ext cx="1973580" cy="2043430"/>
          </a:xfrm>
          <a:prstGeom prst="rightArrow">
            <a:avLst>
              <a:gd name="adj1" fmla="val 50000"/>
              <a:gd name="adj2" fmla="val 52102"/>
            </a:avLst>
          </a:prstGeom>
          <a:solidFill>
            <a:schemeClr val="tx2"/>
          </a:solidFill>
          <a:ln w="25400">
            <a:noFill/>
          </a:ln>
          <a:effectLst>
            <a:outerShdw dist="53882" dir="2699999" algn="ctr" rotWithShape="0">
              <a:schemeClr val="bg2"/>
            </a:outerShdw>
          </a:effectLst>
        </p:spPr>
        <p:txBody>
          <a:bodyPr/>
          <a:lstStyle/>
          <a:p>
            <a:endParaRPr lang="en-US" sz="2025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Title 235521"/>
          <p:cNvSpPr>
            <a:spLocks noGrp="1"/>
          </p:cNvSpPr>
          <p:nvPr>
            <p:ph type="title"/>
          </p:nvPr>
        </p:nvSpPr>
        <p:spPr>
          <a:xfrm>
            <a:off x="3506391" y="400050"/>
            <a:ext cx="5045075" cy="610870"/>
          </a:xfrm>
        </p:spPr>
        <p:txBody>
          <a:bodyPr wrap="none" lIns="71437" tIns="28575" rIns="71437" bIns="28575">
            <a:spAutoFit/>
          </a:bodyPr>
          <a:lstStyle/>
          <a:p>
            <a:r>
              <a:rPr lang="en-US" altLang="x-none" dirty="0"/>
              <a:t>To Understand Scope ...</a:t>
            </a:r>
          </a:p>
        </p:txBody>
      </p:sp>
      <p:sp>
        <p:nvSpPr>
          <p:cNvPr id="235523" name="Text Placeholder 235522"/>
          <p:cNvSpPr>
            <a:spLocks noGrp="1"/>
          </p:cNvSpPr>
          <p:nvPr>
            <p:ph type="body" idx="1"/>
          </p:nvPr>
        </p:nvSpPr>
        <p:spPr>
          <a:xfrm>
            <a:off x="719455" y="1653540"/>
            <a:ext cx="8917940" cy="3943350"/>
          </a:xfrm>
        </p:spPr>
        <p:txBody>
          <a:bodyPr vert="horz" wrap="square" lIns="101797" tIns="50006" rIns="101797" bIns="50006" anchor="t" anchorCtr="0"/>
          <a:lstStyle/>
          <a:p>
            <a:r>
              <a:rPr lang="en-US" altLang="x-none" sz="2800" dirty="0"/>
              <a:t>Understand the </a:t>
            </a:r>
            <a:r>
              <a:rPr lang="en-US" altLang="x-none" sz="2800" b="1" dirty="0"/>
              <a:t>customers needs</a:t>
            </a:r>
          </a:p>
          <a:p>
            <a:pPr algn="l"/>
            <a:r>
              <a:rPr lang="en-US" altLang="x-none" sz="2800" dirty="0"/>
              <a:t>understand the </a:t>
            </a:r>
            <a:r>
              <a:rPr lang="en-US" altLang="x-none" sz="2800" b="1" dirty="0"/>
              <a:t>business context</a:t>
            </a:r>
          </a:p>
          <a:p>
            <a:r>
              <a:rPr lang="en-US" altLang="x-none" sz="2800" dirty="0"/>
              <a:t>understand the </a:t>
            </a:r>
            <a:r>
              <a:rPr lang="en-US" altLang="x-none" sz="2800" b="1" dirty="0"/>
              <a:t>project boundaries</a:t>
            </a:r>
            <a:endParaRPr lang="en-US" altLang="x-none" sz="2800" dirty="0"/>
          </a:p>
          <a:p>
            <a:r>
              <a:rPr lang="en-US" altLang="x-none" sz="2800" dirty="0"/>
              <a:t>understand the </a:t>
            </a:r>
            <a:r>
              <a:rPr lang="en-US" altLang="x-none" sz="2800" b="1" dirty="0"/>
              <a:t>customer’s motivation</a:t>
            </a:r>
            <a:endParaRPr lang="en-US" altLang="x-none" sz="2800" dirty="0"/>
          </a:p>
          <a:p>
            <a:r>
              <a:rPr lang="en-US" altLang="x-none" sz="2800" dirty="0"/>
              <a:t>understand the </a:t>
            </a:r>
            <a:r>
              <a:rPr lang="en-US" altLang="x-none" sz="2800" b="1" dirty="0"/>
              <a:t>likely paths</a:t>
            </a:r>
            <a:r>
              <a:rPr lang="en-US" altLang="x-none" sz="2800" dirty="0"/>
              <a:t> for change</a:t>
            </a:r>
          </a:p>
          <a:p>
            <a:r>
              <a:rPr lang="en-US" altLang="x-none" sz="2800" dirty="0"/>
              <a:t>understand that ...</a:t>
            </a:r>
          </a:p>
        </p:txBody>
      </p:sp>
      <p:sp>
        <p:nvSpPr>
          <p:cNvPr id="235524" name="Rectangles 235523"/>
          <p:cNvSpPr/>
          <p:nvPr/>
        </p:nvSpPr>
        <p:spPr>
          <a:xfrm>
            <a:off x="4465955" y="5715635"/>
            <a:ext cx="4552315" cy="929640"/>
          </a:xfrm>
          <a:prstGeom prst="rect">
            <a:avLst/>
          </a:prstGeom>
          <a:noFill/>
          <a:ln w="25400">
            <a:noFill/>
          </a:ln>
        </p:spPr>
        <p:txBody>
          <a:bodyPr wrap="squar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x-none" sz="2700" i="1" dirty="0">
                <a:solidFill>
                  <a:schemeClr val="folHlink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Helvetica" pitchFamily="-99" charset="0"/>
              </a:rPr>
              <a:t>Even when you understand,</a:t>
            </a:r>
          </a:p>
          <a:p>
            <a:pPr>
              <a:lnSpc>
                <a:spcPct val="100000"/>
              </a:lnSpc>
            </a:pPr>
            <a:r>
              <a:rPr lang="en-US" altLang="x-none" sz="2700" i="1" dirty="0">
                <a:solidFill>
                  <a:schemeClr val="folHlink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Helvetica" pitchFamily="-99" charset="0"/>
              </a:rPr>
              <a:t>nothing is guaranteed!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Title 236545"/>
          <p:cNvSpPr>
            <a:spLocks noGrp="1"/>
          </p:cNvSpPr>
          <p:nvPr>
            <p:ph type="title"/>
          </p:nvPr>
        </p:nvSpPr>
        <p:spPr>
          <a:xfrm>
            <a:off x="4260056" y="242888"/>
            <a:ext cx="3331210" cy="610870"/>
          </a:xfrm>
        </p:spPr>
        <p:txBody>
          <a:bodyPr vert="horz" wrap="none" lIns="71437" tIns="28575" rIns="71437" bIns="28575" anchor="t" anchorCtr="0">
            <a:spAutoFit/>
          </a:bodyPr>
          <a:lstStyle/>
          <a:p>
            <a:r>
              <a:rPr lang="en-US" altLang="x-none" dirty="0"/>
              <a:t>Cost Estimation</a:t>
            </a:r>
          </a:p>
        </p:txBody>
      </p:sp>
      <p:pic>
        <p:nvPicPr>
          <p:cNvPr id="236547" name="Picture 236546"/>
          <p:cNvPicPr/>
          <p:nvPr/>
        </p:nvPicPr>
        <p:blipFill>
          <a:blip r:embed="rId2"/>
          <a:stretch>
            <a:fillRect/>
          </a:stretch>
        </p:blipFill>
        <p:spPr>
          <a:xfrm>
            <a:off x="161290" y="1584325"/>
            <a:ext cx="3042920" cy="272796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36548" name="Rectangles 236547"/>
          <p:cNvSpPr/>
          <p:nvPr/>
        </p:nvSpPr>
        <p:spPr>
          <a:xfrm>
            <a:off x="3620770" y="1351915"/>
            <a:ext cx="6581140" cy="514350"/>
          </a:xfrm>
          <a:prstGeom prst="rect">
            <a:avLst/>
          </a:prstGeom>
          <a:noFill/>
          <a:ln w="12700">
            <a:noFill/>
          </a:ln>
        </p:spPr>
        <p:txBody>
          <a:bodyPr wrap="squar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x-none" sz="2700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highlight>
                  <a:srgbClr val="000080"/>
                </a:highlight>
                <a:latin typeface="Helvetica" pitchFamily="-99" charset="0"/>
              </a:rPr>
              <a:t>project scope must be explicitly </a:t>
            </a:r>
          </a:p>
        </p:txBody>
      </p:sp>
      <p:sp>
        <p:nvSpPr>
          <p:cNvPr id="236549" name="Rectangles 236548"/>
          <p:cNvSpPr/>
          <p:nvPr/>
        </p:nvSpPr>
        <p:spPr>
          <a:xfrm>
            <a:off x="3785870" y="1682115"/>
            <a:ext cx="2724785" cy="487045"/>
          </a:xfrm>
          <a:prstGeom prst="rect">
            <a:avLst/>
          </a:prstGeom>
          <a:noFill/>
          <a:ln w="12700">
            <a:noFill/>
          </a:ln>
        </p:spPr>
        <p:txBody>
          <a:bodyPr wrap="none" lIns="101797" tIns="50006" rIns="101797" bIns="50006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x-none" sz="2700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highlight>
                  <a:srgbClr val="000080"/>
                </a:highlight>
                <a:latin typeface="Helvetica" pitchFamily="-99" charset="0"/>
              </a:rPr>
              <a:t>defined</a:t>
            </a:r>
            <a:endParaRPr lang="en-US" altLang="x-none" sz="2700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Helvetica" pitchFamily="-99" charset="0"/>
            </a:endParaRPr>
          </a:p>
          <a:p>
            <a:pPr>
              <a:lnSpc>
                <a:spcPct val="100000"/>
              </a:lnSpc>
            </a:pPr>
            <a:endParaRPr lang="en-US" altLang="x-none" sz="2700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Helvetica" pitchFamily="-99" charset="0"/>
            </a:endParaRPr>
          </a:p>
        </p:txBody>
      </p:sp>
      <p:sp>
        <p:nvSpPr>
          <p:cNvPr id="236550" name="Rectangles 236549"/>
          <p:cNvSpPr/>
          <p:nvPr/>
        </p:nvSpPr>
        <p:spPr>
          <a:xfrm>
            <a:off x="4288631" y="1809155"/>
            <a:ext cx="330200" cy="929640"/>
          </a:xfrm>
          <a:prstGeom prst="rect">
            <a:avLst/>
          </a:prstGeom>
          <a:noFill/>
          <a:ln w="12700">
            <a:noFill/>
          </a:ln>
        </p:spPr>
        <p:txBody>
          <a:bodyPr wrap="non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endParaRPr lang="en-US" altLang="x-none" sz="2700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Helvetica" pitchFamily="-99" charset="0"/>
            </a:endParaRPr>
          </a:p>
          <a:p>
            <a:pPr>
              <a:lnSpc>
                <a:spcPct val="100000"/>
              </a:lnSpc>
            </a:pPr>
            <a:endParaRPr lang="en-US" altLang="x-none" sz="2700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Helvetica" pitchFamily="-99" charset="0"/>
            </a:endParaRPr>
          </a:p>
        </p:txBody>
      </p:sp>
      <p:sp>
        <p:nvSpPr>
          <p:cNvPr id="236551" name="Rectangles 236550"/>
          <p:cNvSpPr/>
          <p:nvPr/>
        </p:nvSpPr>
        <p:spPr>
          <a:xfrm>
            <a:off x="3620770" y="2224405"/>
            <a:ext cx="4442460" cy="514350"/>
          </a:xfrm>
          <a:prstGeom prst="rect">
            <a:avLst/>
          </a:prstGeom>
          <a:solidFill>
            <a:srgbClr val="92D050"/>
          </a:solidFill>
          <a:ln w="12700">
            <a:noFill/>
          </a:ln>
        </p:spPr>
        <p:txBody>
          <a:bodyPr wrap="squar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x-none" sz="2700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Helvetica" pitchFamily="-99" charset="0"/>
              </a:rPr>
              <a:t>task and/or functional  </a:t>
            </a:r>
          </a:p>
        </p:txBody>
      </p:sp>
      <p:sp>
        <p:nvSpPr>
          <p:cNvPr id="236552" name="Rectangles 236551"/>
          <p:cNvSpPr/>
          <p:nvPr/>
        </p:nvSpPr>
        <p:spPr>
          <a:xfrm>
            <a:off x="3620770" y="2816860"/>
            <a:ext cx="5095240" cy="5143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</p:spPr>
        <p:txBody>
          <a:bodyPr wrap="squar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x-none" sz="2700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highlight>
                  <a:srgbClr val="00FF00"/>
                </a:highlight>
                <a:latin typeface="Helvetica" pitchFamily="-99" charset="0"/>
              </a:rPr>
              <a:t>decomposition is necessary</a:t>
            </a:r>
          </a:p>
        </p:txBody>
      </p:sp>
      <p:sp>
        <p:nvSpPr>
          <p:cNvPr id="236553" name="Rectangles 236552"/>
          <p:cNvSpPr/>
          <p:nvPr/>
        </p:nvSpPr>
        <p:spPr>
          <a:xfrm>
            <a:off x="4288631" y="2494955"/>
            <a:ext cx="330200" cy="929640"/>
          </a:xfrm>
          <a:prstGeom prst="rect">
            <a:avLst/>
          </a:prstGeom>
          <a:noFill/>
          <a:ln w="12700">
            <a:noFill/>
          </a:ln>
        </p:spPr>
        <p:txBody>
          <a:bodyPr wrap="non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endParaRPr lang="en-US" altLang="x-none" sz="2700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Helvetica" pitchFamily="-99" charset="0"/>
            </a:endParaRPr>
          </a:p>
          <a:p>
            <a:pPr>
              <a:lnSpc>
                <a:spcPct val="100000"/>
              </a:lnSpc>
            </a:pPr>
            <a:endParaRPr lang="en-US" altLang="x-none" sz="2700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Helvetica" pitchFamily="-99" charset="0"/>
            </a:endParaRPr>
          </a:p>
        </p:txBody>
      </p:sp>
      <p:sp>
        <p:nvSpPr>
          <p:cNvPr id="236554" name="Rectangles 236553"/>
          <p:cNvSpPr/>
          <p:nvPr/>
        </p:nvSpPr>
        <p:spPr>
          <a:xfrm>
            <a:off x="3203575" y="5121275"/>
            <a:ext cx="5928995" cy="514350"/>
          </a:xfrm>
          <a:prstGeom prst="rect">
            <a:avLst/>
          </a:prstGeom>
          <a:noFill/>
          <a:ln w="12700">
            <a:noFill/>
          </a:ln>
        </p:spPr>
        <p:txBody>
          <a:bodyPr wrap="squar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x-none" sz="2700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highlight>
                  <a:srgbClr val="FF00FF"/>
                </a:highlight>
                <a:latin typeface="Helvetica" pitchFamily="-99" charset="0"/>
              </a:rPr>
              <a:t>historical measures (metrics) are </a:t>
            </a:r>
          </a:p>
        </p:txBody>
      </p:sp>
      <p:sp>
        <p:nvSpPr>
          <p:cNvPr id="236555" name="Rectangles 236554"/>
          <p:cNvSpPr/>
          <p:nvPr/>
        </p:nvSpPr>
        <p:spPr>
          <a:xfrm>
            <a:off x="3785870" y="5620385"/>
            <a:ext cx="2581910" cy="501650"/>
          </a:xfrm>
          <a:prstGeom prst="rect">
            <a:avLst/>
          </a:prstGeom>
          <a:noFill/>
          <a:ln w="12700">
            <a:noFill/>
          </a:ln>
        </p:spPr>
        <p:txBody>
          <a:bodyPr wrap="none" lIns="101797" tIns="50006" rIns="101797" bIns="50006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x-none" sz="2700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highlight>
                  <a:srgbClr val="FF00FF"/>
                </a:highlight>
                <a:latin typeface="Helvetica" pitchFamily="-99" charset="0"/>
              </a:rPr>
              <a:t>very helpful</a:t>
            </a:r>
          </a:p>
          <a:p>
            <a:pPr>
              <a:lnSpc>
                <a:spcPct val="100000"/>
              </a:lnSpc>
            </a:pPr>
            <a:endParaRPr lang="en-US" altLang="x-none" sz="2700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highlight>
                <a:srgbClr val="FF00FF"/>
              </a:highlight>
              <a:latin typeface="Helvetica" pitchFamily="-99" charset="0"/>
            </a:endParaRPr>
          </a:p>
        </p:txBody>
      </p:sp>
      <p:sp>
        <p:nvSpPr>
          <p:cNvPr id="236556" name="Rectangles 236555"/>
          <p:cNvSpPr/>
          <p:nvPr/>
        </p:nvSpPr>
        <p:spPr>
          <a:xfrm>
            <a:off x="4288631" y="3180755"/>
            <a:ext cx="330200" cy="929640"/>
          </a:xfrm>
          <a:prstGeom prst="rect">
            <a:avLst/>
          </a:prstGeom>
          <a:noFill/>
          <a:ln w="12700">
            <a:noFill/>
          </a:ln>
        </p:spPr>
        <p:txBody>
          <a:bodyPr wrap="non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endParaRPr lang="en-US" altLang="x-none" sz="2700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Helvetica" pitchFamily="-99" charset="0"/>
            </a:endParaRPr>
          </a:p>
          <a:p>
            <a:pPr>
              <a:lnSpc>
                <a:spcPct val="100000"/>
              </a:lnSpc>
            </a:pPr>
            <a:endParaRPr lang="en-US" altLang="x-none" sz="2700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Helvetica" pitchFamily="-99" charset="0"/>
            </a:endParaRPr>
          </a:p>
        </p:txBody>
      </p:sp>
      <p:sp>
        <p:nvSpPr>
          <p:cNvPr id="236557" name="Rectangles 236556"/>
          <p:cNvSpPr/>
          <p:nvPr/>
        </p:nvSpPr>
        <p:spPr>
          <a:xfrm>
            <a:off x="3621405" y="3409315"/>
            <a:ext cx="6951345" cy="514350"/>
          </a:xfrm>
          <a:prstGeom prst="rect">
            <a:avLst/>
          </a:prstGeom>
          <a:noFill/>
          <a:ln w="12700">
            <a:noFill/>
          </a:ln>
        </p:spPr>
        <p:txBody>
          <a:bodyPr wrap="squar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x-none" sz="2700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highlight>
                  <a:srgbClr val="0000FF"/>
                </a:highlight>
                <a:latin typeface="Helvetica" pitchFamily="-99" charset="0"/>
              </a:rPr>
              <a:t>at least two different techniques </a:t>
            </a:r>
          </a:p>
        </p:txBody>
      </p:sp>
      <p:sp>
        <p:nvSpPr>
          <p:cNvPr id="236558" name="Rectangles 236557"/>
          <p:cNvSpPr/>
          <p:nvPr/>
        </p:nvSpPr>
        <p:spPr>
          <a:xfrm>
            <a:off x="4288631" y="3714750"/>
            <a:ext cx="2527300" cy="929640"/>
          </a:xfrm>
          <a:prstGeom prst="rect">
            <a:avLst/>
          </a:prstGeom>
          <a:noFill/>
          <a:ln w="12700">
            <a:noFill/>
          </a:ln>
        </p:spPr>
        <p:txBody>
          <a:bodyPr wrap="non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x-none" sz="2700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highlight>
                  <a:srgbClr val="0000FF"/>
                </a:highlight>
                <a:latin typeface="Helvetica" pitchFamily="-99" charset="0"/>
              </a:rPr>
              <a:t>should be used</a:t>
            </a:r>
          </a:p>
          <a:p>
            <a:pPr>
              <a:lnSpc>
                <a:spcPct val="100000"/>
              </a:lnSpc>
            </a:pPr>
            <a:endParaRPr lang="en-US" altLang="x-none" sz="2700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highlight>
                <a:srgbClr val="0000FF"/>
              </a:highlight>
              <a:latin typeface="Helvetica" pitchFamily="-99" charset="0"/>
            </a:endParaRPr>
          </a:p>
        </p:txBody>
      </p:sp>
      <p:sp>
        <p:nvSpPr>
          <p:cNvPr id="236559" name="Rectangles 236558"/>
          <p:cNvSpPr/>
          <p:nvPr/>
        </p:nvSpPr>
        <p:spPr>
          <a:xfrm>
            <a:off x="4288631" y="3866555"/>
            <a:ext cx="330200" cy="929640"/>
          </a:xfrm>
          <a:prstGeom prst="rect">
            <a:avLst/>
          </a:prstGeom>
          <a:noFill/>
          <a:ln w="12700">
            <a:noFill/>
          </a:ln>
        </p:spPr>
        <p:txBody>
          <a:bodyPr wrap="non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endParaRPr lang="en-US" altLang="x-none" sz="2700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Helvetica" pitchFamily="-99" charset="0"/>
            </a:endParaRPr>
          </a:p>
          <a:p>
            <a:pPr>
              <a:lnSpc>
                <a:spcPct val="100000"/>
              </a:lnSpc>
            </a:pPr>
            <a:endParaRPr lang="en-US" altLang="x-none" sz="2700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Helvetica" pitchFamily="-99" charset="0"/>
            </a:endParaRPr>
          </a:p>
        </p:txBody>
      </p:sp>
      <p:sp>
        <p:nvSpPr>
          <p:cNvPr id="236560" name="Rectangles 236559"/>
          <p:cNvSpPr/>
          <p:nvPr/>
        </p:nvSpPr>
        <p:spPr>
          <a:xfrm>
            <a:off x="3621405" y="4218305"/>
            <a:ext cx="6102985" cy="514350"/>
          </a:xfrm>
          <a:prstGeom prst="rect">
            <a:avLst/>
          </a:prstGeom>
          <a:noFill/>
          <a:ln w="12700">
            <a:noFill/>
          </a:ln>
        </p:spPr>
        <p:txBody>
          <a:bodyPr wrap="squar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x-none" sz="2700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highlight>
                  <a:srgbClr val="00FF00"/>
                </a:highlight>
                <a:latin typeface="Helvetica" pitchFamily="-99" charset="0"/>
              </a:rPr>
              <a:t>remember that uncertainty is </a:t>
            </a:r>
          </a:p>
        </p:txBody>
      </p:sp>
      <p:sp>
        <p:nvSpPr>
          <p:cNvPr id="236561" name="Rectangles 236560"/>
          <p:cNvSpPr/>
          <p:nvPr/>
        </p:nvSpPr>
        <p:spPr>
          <a:xfrm>
            <a:off x="3786505" y="4594225"/>
            <a:ext cx="2432685" cy="472440"/>
          </a:xfrm>
          <a:prstGeom prst="rect">
            <a:avLst/>
          </a:prstGeom>
          <a:noFill/>
          <a:ln w="12700">
            <a:noFill/>
          </a:ln>
        </p:spPr>
        <p:txBody>
          <a:bodyPr wrap="square" lIns="101797" tIns="50006" rIns="101797" bIns="50006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x-none" sz="2700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highlight>
                  <a:srgbClr val="00FF00"/>
                </a:highlight>
                <a:latin typeface="Helvetica" pitchFamily="-99" charset="0"/>
              </a:rPr>
              <a:t>inherent</a:t>
            </a:r>
          </a:p>
        </p:txBody>
      </p:sp>
      <p:sp>
        <p:nvSpPr>
          <p:cNvPr id="236563" name="Rectangles 236562"/>
          <p:cNvSpPr/>
          <p:nvPr/>
        </p:nvSpPr>
        <p:spPr>
          <a:xfrm>
            <a:off x="3347443" y="1559124"/>
            <a:ext cx="128588" cy="137517"/>
          </a:xfrm>
          <a:prstGeom prst="rect">
            <a:avLst/>
          </a:prstGeom>
          <a:solidFill>
            <a:schemeClr val="tx2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 sz="2025"/>
          </a:p>
        </p:txBody>
      </p:sp>
      <p:sp>
        <p:nvSpPr>
          <p:cNvPr id="236565" name="Rectangles 236564"/>
          <p:cNvSpPr/>
          <p:nvPr/>
        </p:nvSpPr>
        <p:spPr>
          <a:xfrm flipH="1">
            <a:off x="3271520" y="2344420"/>
            <a:ext cx="76200" cy="150495"/>
          </a:xfrm>
          <a:prstGeom prst="rect">
            <a:avLst/>
          </a:prstGeom>
          <a:solidFill>
            <a:schemeClr val="tx2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 sz="2025"/>
          </a:p>
        </p:txBody>
      </p:sp>
      <p:sp>
        <p:nvSpPr>
          <p:cNvPr id="236568" name="Rectangles 236567"/>
          <p:cNvSpPr/>
          <p:nvPr/>
        </p:nvSpPr>
        <p:spPr>
          <a:xfrm>
            <a:off x="3218538" y="3629025"/>
            <a:ext cx="128588" cy="137518"/>
          </a:xfrm>
          <a:prstGeom prst="rect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 sz="2025"/>
          </a:p>
        </p:txBody>
      </p:sp>
      <p:sp>
        <p:nvSpPr>
          <p:cNvPr id="236571" name="Rectangles 236570"/>
          <p:cNvSpPr/>
          <p:nvPr/>
        </p:nvSpPr>
        <p:spPr>
          <a:xfrm>
            <a:off x="3218538" y="4276884"/>
            <a:ext cx="128588" cy="137518"/>
          </a:xfrm>
          <a:prstGeom prst="rect">
            <a:avLst/>
          </a:prstGeom>
          <a:solidFill>
            <a:schemeClr val="tx2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 sz="2025"/>
          </a:p>
        </p:txBody>
      </p:sp>
      <p:sp>
        <p:nvSpPr>
          <p:cNvPr id="2" name="Rectangles 1"/>
          <p:cNvSpPr/>
          <p:nvPr/>
        </p:nvSpPr>
        <p:spPr>
          <a:xfrm>
            <a:off x="2956283" y="5309434"/>
            <a:ext cx="128588" cy="137517"/>
          </a:xfrm>
          <a:prstGeom prst="rect">
            <a:avLst/>
          </a:prstGeom>
          <a:solidFill>
            <a:schemeClr val="tx2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 sz="2025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Title 237569"/>
          <p:cNvSpPr>
            <a:spLocks noGrp="1"/>
          </p:cNvSpPr>
          <p:nvPr>
            <p:ph type="title"/>
          </p:nvPr>
        </p:nvSpPr>
        <p:spPr>
          <a:xfrm>
            <a:off x="1589405" y="384810"/>
            <a:ext cx="7955280" cy="869315"/>
          </a:xfrm>
        </p:spPr>
        <p:txBody>
          <a:bodyPr vert="horz" wrap="square" lIns="101797" tIns="50006" rIns="101797" bIns="50006" anchor="ctr" anchorCtr="0">
            <a:normAutofit/>
          </a:bodyPr>
          <a:lstStyle/>
          <a:p>
            <a:r>
              <a:rPr lang="en-US" altLang="x-none" b="1" dirty="0"/>
              <a:t>Estimation Techniques</a:t>
            </a:r>
          </a:p>
        </p:txBody>
      </p:sp>
      <p:sp>
        <p:nvSpPr>
          <p:cNvPr id="237571" name="Text Placeholder 237570"/>
          <p:cNvSpPr>
            <a:spLocks noGrp="1"/>
          </p:cNvSpPr>
          <p:nvPr>
            <p:ph type="body" idx="1"/>
          </p:nvPr>
        </p:nvSpPr>
        <p:spPr>
          <a:xfrm>
            <a:off x="1589405" y="1840865"/>
            <a:ext cx="8049895" cy="4069080"/>
          </a:xfrm>
        </p:spPr>
        <p:txBody>
          <a:bodyPr vert="horz" wrap="square" lIns="101797" tIns="50006" rIns="101797" bIns="50006" anchor="t" anchorCtr="0">
            <a:noAutofit/>
          </a:bodyPr>
          <a:lstStyle/>
          <a:p>
            <a:r>
              <a:rPr lang="en-US" altLang="x-none" sz="3600" b="1" dirty="0"/>
              <a:t>past (similar) project experience</a:t>
            </a:r>
          </a:p>
          <a:p>
            <a:r>
              <a:rPr lang="en-US" altLang="x-none" sz="3600" b="1" dirty="0"/>
              <a:t>conventional estimation techniques</a:t>
            </a:r>
          </a:p>
          <a:p>
            <a:pPr lvl="1"/>
            <a:r>
              <a:rPr lang="en-US" altLang="x-none" sz="3200" b="1" dirty="0"/>
              <a:t> task breakdown and effort estimates</a:t>
            </a:r>
          </a:p>
          <a:p>
            <a:pPr lvl="1"/>
            <a:r>
              <a:rPr lang="en-US" altLang="x-none" sz="3200" b="1" dirty="0"/>
              <a:t> size (e.g., FP) estimates</a:t>
            </a:r>
          </a:p>
          <a:p>
            <a:r>
              <a:rPr lang="en-US" altLang="x-none" sz="3600" b="1" dirty="0"/>
              <a:t>tools (e.g., Checkpoint)</a:t>
            </a:r>
          </a:p>
        </p:txBody>
      </p:sp>
      <p:pic>
        <p:nvPicPr>
          <p:cNvPr id="237572" name="Picture 237571"/>
          <p:cNvPicPr/>
          <p:nvPr/>
        </p:nvPicPr>
        <p:blipFill>
          <a:blip r:embed="rId2"/>
          <a:stretch>
            <a:fillRect/>
          </a:stretch>
        </p:blipFill>
        <p:spPr>
          <a:xfrm>
            <a:off x="8080098" y="3429199"/>
            <a:ext cx="2882503" cy="3046809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Oval 238593"/>
          <p:cNvSpPr/>
          <p:nvPr/>
        </p:nvSpPr>
        <p:spPr>
          <a:xfrm>
            <a:off x="4196080" y="2205355"/>
            <a:ext cx="3180080" cy="1931035"/>
          </a:xfrm>
          <a:prstGeom prst="ellipse">
            <a:avLst/>
          </a:prstGeom>
          <a:solidFill>
            <a:srgbClr val="00B0F0"/>
          </a:solidFill>
          <a:ln w="12700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/>
          <a:lstStyle/>
          <a:p>
            <a:endParaRPr lang="en-US" sz="2025"/>
          </a:p>
        </p:txBody>
      </p:sp>
      <p:sp>
        <p:nvSpPr>
          <p:cNvPr id="238595" name="Title 238594"/>
          <p:cNvSpPr>
            <a:spLocks noGrp="1"/>
          </p:cNvSpPr>
          <p:nvPr>
            <p:ph type="title"/>
          </p:nvPr>
        </p:nvSpPr>
        <p:spPr>
          <a:xfrm>
            <a:off x="2338388" y="467916"/>
            <a:ext cx="7822406" cy="646509"/>
          </a:xfrm>
        </p:spPr>
        <p:txBody>
          <a:bodyPr vert="horz" wrap="square" lIns="101797" tIns="50006" rIns="101797" bIns="50006" anchor="ctr" anchorCtr="0">
            <a:normAutofit fontScale="90000"/>
          </a:bodyPr>
          <a:lstStyle/>
          <a:p>
            <a:r>
              <a:rPr lang="en-US" altLang="x-none" dirty="0"/>
              <a:t>Functional Decomposition</a:t>
            </a:r>
          </a:p>
        </p:txBody>
      </p:sp>
      <p:sp>
        <p:nvSpPr>
          <p:cNvPr id="238596" name="Rectangles 238595"/>
          <p:cNvSpPr/>
          <p:nvPr/>
        </p:nvSpPr>
        <p:spPr>
          <a:xfrm>
            <a:off x="1794828" y="1966318"/>
            <a:ext cx="1843088" cy="256639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txBody>
          <a:bodyPr/>
          <a:lstStyle/>
          <a:p>
            <a:endParaRPr lang="en-US" sz="2025"/>
          </a:p>
        </p:txBody>
      </p:sp>
      <p:sp>
        <p:nvSpPr>
          <p:cNvPr id="238597" name="Rectangles 238596"/>
          <p:cNvSpPr/>
          <p:nvPr/>
        </p:nvSpPr>
        <p:spPr>
          <a:xfrm>
            <a:off x="1469708" y="1968103"/>
            <a:ext cx="1843088" cy="2562821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 sz="2025"/>
          </a:p>
        </p:txBody>
      </p:sp>
      <p:sp>
        <p:nvSpPr>
          <p:cNvPr id="238598" name="Rectangles 238597"/>
          <p:cNvSpPr/>
          <p:nvPr/>
        </p:nvSpPr>
        <p:spPr>
          <a:xfrm>
            <a:off x="1529715" y="1963937"/>
            <a:ext cx="1843088" cy="2552104"/>
          </a:xfrm>
          <a:prstGeom prst="rect">
            <a:avLst/>
          </a:prstGeom>
          <a:solidFill>
            <a:schemeClr val="accent1"/>
          </a:solidFill>
          <a:ln w="25400">
            <a:noFill/>
          </a:ln>
        </p:spPr>
        <p:txBody>
          <a:bodyPr/>
          <a:lstStyle/>
          <a:p>
            <a:endParaRPr lang="en-US" sz="2025"/>
          </a:p>
        </p:txBody>
      </p:sp>
      <p:sp>
        <p:nvSpPr>
          <p:cNvPr id="238599" name="Rectangles 238598"/>
          <p:cNvSpPr/>
          <p:nvPr/>
        </p:nvSpPr>
        <p:spPr>
          <a:xfrm>
            <a:off x="1529715" y="1982232"/>
            <a:ext cx="1843088" cy="2548533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 sz="2025"/>
          </a:p>
        </p:txBody>
      </p:sp>
      <p:sp>
        <p:nvSpPr>
          <p:cNvPr id="238600" name="Rectangles 238599"/>
          <p:cNvSpPr/>
          <p:nvPr/>
        </p:nvSpPr>
        <p:spPr>
          <a:xfrm>
            <a:off x="1515428" y="1964175"/>
            <a:ext cx="1857375" cy="2566392"/>
          </a:xfrm>
          <a:prstGeom prst="rect">
            <a:avLst/>
          </a:prstGeom>
          <a:solidFill>
            <a:schemeClr val="accent1"/>
          </a:solidFill>
          <a:ln w="25400">
            <a:noFill/>
          </a:ln>
        </p:spPr>
        <p:txBody>
          <a:bodyPr/>
          <a:lstStyle/>
          <a:p>
            <a:endParaRPr lang="en-US" sz="2025"/>
          </a:p>
        </p:txBody>
      </p:sp>
      <p:sp>
        <p:nvSpPr>
          <p:cNvPr id="238601" name="Rectangles 238600"/>
          <p:cNvSpPr/>
          <p:nvPr/>
        </p:nvSpPr>
        <p:spPr>
          <a:xfrm>
            <a:off x="1515428" y="1969770"/>
            <a:ext cx="1857375" cy="2562821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 sz="2025"/>
          </a:p>
        </p:txBody>
      </p:sp>
      <p:sp>
        <p:nvSpPr>
          <p:cNvPr id="238602" name="Rectangles 238601"/>
          <p:cNvSpPr/>
          <p:nvPr/>
        </p:nvSpPr>
        <p:spPr>
          <a:xfrm>
            <a:off x="2624138" y="2446734"/>
            <a:ext cx="1614488" cy="621506"/>
          </a:xfrm>
          <a:prstGeom prst="rect">
            <a:avLst/>
          </a:prstGeom>
          <a:solidFill>
            <a:schemeClr val="accent1"/>
          </a:solidFill>
          <a:ln w="25400">
            <a:noFill/>
          </a:ln>
        </p:spPr>
        <p:txBody>
          <a:bodyPr/>
          <a:lstStyle/>
          <a:p>
            <a:endParaRPr lang="en-US" sz="2025"/>
          </a:p>
        </p:txBody>
      </p:sp>
      <p:sp>
        <p:nvSpPr>
          <p:cNvPr id="238603" name="Rectangles 238602"/>
          <p:cNvSpPr/>
          <p:nvPr/>
        </p:nvSpPr>
        <p:spPr>
          <a:xfrm>
            <a:off x="1470025" y="2468880"/>
            <a:ext cx="1842770" cy="929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101797" tIns="50006" rIns="101797" bIns="50006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2700">
                <a:effectLst>
                  <a:outerShdw blurRad="38100" dist="38100" dir="2700000">
                    <a:srgbClr val="FFFFFF"/>
                  </a:outerShdw>
                </a:effectLst>
                <a:latin typeface="Helvetica" pitchFamily="-99" charset="0"/>
                <a:ea typeface="PMingLiU" charset="-120"/>
              </a:rPr>
              <a:t>Statement</a:t>
            </a:r>
          </a:p>
          <a:p>
            <a:pPr algn="ctr">
              <a:lnSpc>
                <a:spcPct val="100000"/>
              </a:lnSpc>
            </a:pPr>
            <a:endParaRPr lang="zh-TW" altLang="en-US" sz="2700">
              <a:effectLst>
                <a:outerShdw blurRad="38100" dist="38100" dir="2700000">
                  <a:srgbClr val="FFFFFF"/>
                </a:outerShdw>
              </a:effectLst>
              <a:latin typeface="Helvetica" pitchFamily="-99" charset="0"/>
              <a:ea typeface="PMingLiU" charset="-120"/>
            </a:endParaRPr>
          </a:p>
        </p:txBody>
      </p:sp>
      <p:sp>
        <p:nvSpPr>
          <p:cNvPr id="238604" name="Rectangles 238603"/>
          <p:cNvSpPr/>
          <p:nvPr/>
        </p:nvSpPr>
        <p:spPr>
          <a:xfrm>
            <a:off x="1529715" y="2828290"/>
            <a:ext cx="1980565" cy="534670"/>
          </a:xfrm>
          <a:prstGeom prst="rect">
            <a:avLst/>
          </a:prstGeom>
          <a:noFill/>
          <a:ln w="12700">
            <a:noFill/>
          </a:ln>
        </p:spPr>
        <p:txBody>
          <a:bodyPr wrap="square" lIns="101797" tIns="50006" rIns="101797" bIns="50006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TW" sz="2700">
                <a:effectLst>
                  <a:outerShdw blurRad="38100" dist="38100" dir="2700000">
                    <a:srgbClr val="FFFFFF"/>
                  </a:outerShdw>
                </a:effectLst>
                <a:latin typeface="Helvetica" pitchFamily="-99" charset="0"/>
                <a:ea typeface="PMingLiU" charset="-120"/>
              </a:rPr>
              <a:t>of Scope</a:t>
            </a:r>
          </a:p>
        </p:txBody>
      </p:sp>
      <p:sp>
        <p:nvSpPr>
          <p:cNvPr id="238605" name="Rectangles 238604"/>
          <p:cNvSpPr/>
          <p:nvPr/>
        </p:nvSpPr>
        <p:spPr>
          <a:xfrm>
            <a:off x="5294115" y="2434233"/>
            <a:ext cx="1384300" cy="929640"/>
          </a:xfrm>
          <a:prstGeom prst="rect">
            <a:avLst/>
          </a:prstGeom>
          <a:noFill/>
          <a:ln w="12700">
            <a:noFill/>
          </a:ln>
        </p:spPr>
        <p:txBody>
          <a:bodyPr wrap="non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TW" sz="2700">
                <a:effectLst>
                  <a:outerShdw blurRad="38100" dist="38100" dir="2700000">
                    <a:srgbClr val="FFFFFF"/>
                  </a:outerShdw>
                </a:effectLst>
                <a:latin typeface="Helvetica" pitchFamily="-99" charset="0"/>
                <a:ea typeface="PMingLiU" charset="-120"/>
              </a:rPr>
              <a:t>perform</a:t>
            </a:r>
          </a:p>
          <a:p>
            <a:pPr>
              <a:lnSpc>
                <a:spcPct val="100000"/>
              </a:lnSpc>
            </a:pPr>
            <a:endParaRPr lang="zh-TW" altLang="en-US" sz="2700">
              <a:effectLst>
                <a:outerShdw blurRad="38100" dist="38100" dir="2700000">
                  <a:srgbClr val="FFFFFF"/>
                </a:outerShdw>
              </a:effectLst>
              <a:latin typeface="Helvetica" pitchFamily="-99" charset="0"/>
              <a:ea typeface="PMingLiU" charset="-120"/>
            </a:endParaRPr>
          </a:p>
        </p:txBody>
      </p:sp>
      <p:sp>
        <p:nvSpPr>
          <p:cNvPr id="238606" name="Rectangles 238605"/>
          <p:cNvSpPr/>
          <p:nvPr/>
        </p:nvSpPr>
        <p:spPr>
          <a:xfrm>
            <a:off x="5737027" y="2750344"/>
            <a:ext cx="488950" cy="929640"/>
          </a:xfrm>
          <a:prstGeom prst="rect">
            <a:avLst/>
          </a:prstGeom>
          <a:noFill/>
          <a:ln w="12700">
            <a:noFill/>
          </a:ln>
        </p:spPr>
        <p:txBody>
          <a:bodyPr wrap="non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TW" sz="2700">
                <a:effectLst>
                  <a:outerShdw blurRad="38100" dist="38100" dir="2700000">
                    <a:srgbClr val="FFFFFF"/>
                  </a:outerShdw>
                </a:effectLst>
                <a:latin typeface="Helvetica" pitchFamily="-99" charset="0"/>
                <a:ea typeface="PMingLiU" charset="-120"/>
              </a:rPr>
              <a:t>a </a:t>
            </a:r>
          </a:p>
          <a:p>
            <a:pPr>
              <a:lnSpc>
                <a:spcPct val="100000"/>
              </a:lnSpc>
            </a:pPr>
            <a:endParaRPr lang="zh-TW" altLang="en-US" sz="2700">
              <a:effectLst>
                <a:outerShdw blurRad="38100" dist="38100" dir="2700000">
                  <a:srgbClr val="FFFFFF"/>
                </a:outerShdw>
              </a:effectLst>
              <a:latin typeface="Helvetica" pitchFamily="-99" charset="0"/>
              <a:ea typeface="PMingLiU" charset="-120"/>
            </a:endParaRPr>
          </a:p>
        </p:txBody>
      </p:sp>
      <p:sp>
        <p:nvSpPr>
          <p:cNvPr id="238607" name="Rectangles 238606"/>
          <p:cNvSpPr/>
          <p:nvPr/>
        </p:nvSpPr>
        <p:spPr>
          <a:xfrm>
            <a:off x="4936927" y="3068241"/>
            <a:ext cx="2192020" cy="929640"/>
          </a:xfrm>
          <a:prstGeom prst="rect">
            <a:avLst/>
          </a:prstGeom>
          <a:noFill/>
          <a:ln w="12700">
            <a:noFill/>
          </a:ln>
        </p:spPr>
        <p:txBody>
          <a:bodyPr wrap="non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r>
              <a:rPr lang="zh-TW" altLang="en-US" sz="2700">
                <a:effectLst>
                  <a:outerShdw blurRad="38100" dist="38100" dir="2700000">
                    <a:srgbClr val="FFFFFF"/>
                  </a:outerShdw>
                </a:effectLst>
                <a:latin typeface="Helvetica" pitchFamily="-99" charset="0"/>
                <a:ea typeface="PMingLiU" charset="-120"/>
              </a:rPr>
              <a:t>"</a:t>
            </a:r>
            <a:r>
              <a:rPr lang="en-US" altLang="zh-TW" sz="2700">
                <a:effectLst>
                  <a:outerShdw blurRad="38100" dist="38100" dir="2700000">
                    <a:srgbClr val="FFFFFF"/>
                  </a:outerShdw>
                </a:effectLst>
                <a:latin typeface="Helvetica" pitchFamily="-99" charset="0"/>
                <a:ea typeface="PMingLiU" charset="-120"/>
              </a:rPr>
              <a:t>grammatical</a:t>
            </a:r>
          </a:p>
          <a:p>
            <a:pPr>
              <a:lnSpc>
                <a:spcPct val="100000"/>
              </a:lnSpc>
            </a:pPr>
            <a:endParaRPr lang="zh-TW" altLang="en-US" sz="2700">
              <a:effectLst>
                <a:outerShdw blurRad="38100" dist="38100" dir="2700000">
                  <a:srgbClr val="FFFFFF"/>
                </a:outerShdw>
              </a:effectLst>
              <a:latin typeface="Helvetica" pitchFamily="-99" charset="0"/>
              <a:ea typeface="PMingLiU" charset="-120"/>
            </a:endParaRPr>
          </a:p>
        </p:txBody>
      </p:sp>
      <p:sp>
        <p:nvSpPr>
          <p:cNvPr id="238608" name="Rectangles 238607"/>
          <p:cNvSpPr/>
          <p:nvPr/>
        </p:nvSpPr>
        <p:spPr>
          <a:xfrm>
            <a:off x="5522715" y="3398640"/>
            <a:ext cx="1182370" cy="514350"/>
          </a:xfrm>
          <a:prstGeom prst="rect">
            <a:avLst/>
          </a:prstGeom>
          <a:noFill/>
          <a:ln w="12700">
            <a:noFill/>
          </a:ln>
        </p:spPr>
        <p:txBody>
          <a:bodyPr wrap="non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TW" sz="2700">
                <a:effectLst>
                  <a:outerShdw blurRad="38100" dist="38100" dir="2700000">
                    <a:srgbClr val="FFFFFF"/>
                  </a:outerShdw>
                </a:effectLst>
                <a:latin typeface="Helvetica" pitchFamily="-99" charset="0"/>
                <a:ea typeface="PMingLiU" charset="-120"/>
              </a:rPr>
              <a:t>parse"</a:t>
            </a:r>
          </a:p>
        </p:txBody>
      </p:sp>
      <p:sp>
        <p:nvSpPr>
          <p:cNvPr id="238609" name="Rectangles 238608"/>
          <p:cNvSpPr/>
          <p:nvPr/>
        </p:nvSpPr>
        <p:spPr>
          <a:xfrm>
            <a:off x="7774781" y="3128963"/>
            <a:ext cx="785813" cy="100013"/>
          </a:xfrm>
          <a:prstGeom prst="rect">
            <a:avLst/>
          </a:prstGeom>
          <a:solidFill>
            <a:schemeClr val="tx2"/>
          </a:solidFill>
          <a:ln w="127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 sz="2025"/>
          </a:p>
        </p:txBody>
      </p:sp>
      <p:sp>
        <p:nvSpPr>
          <p:cNvPr id="238610" name="Rectangles 238609"/>
          <p:cNvSpPr/>
          <p:nvPr/>
        </p:nvSpPr>
        <p:spPr>
          <a:xfrm>
            <a:off x="6817519" y="3700463"/>
            <a:ext cx="785813" cy="100013"/>
          </a:xfrm>
          <a:prstGeom prst="rect">
            <a:avLst/>
          </a:prstGeom>
          <a:solidFill>
            <a:schemeClr val="tx2"/>
          </a:solidFill>
          <a:ln w="127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 sz="2025"/>
          </a:p>
        </p:txBody>
      </p:sp>
      <p:sp>
        <p:nvSpPr>
          <p:cNvPr id="238611" name="Rectangles 238610"/>
          <p:cNvSpPr/>
          <p:nvPr/>
        </p:nvSpPr>
        <p:spPr>
          <a:xfrm>
            <a:off x="7903369" y="3700463"/>
            <a:ext cx="785813" cy="100013"/>
          </a:xfrm>
          <a:prstGeom prst="rect">
            <a:avLst/>
          </a:prstGeom>
          <a:solidFill>
            <a:schemeClr val="tx2"/>
          </a:solidFill>
          <a:ln w="127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 sz="2025"/>
          </a:p>
        </p:txBody>
      </p:sp>
      <p:sp>
        <p:nvSpPr>
          <p:cNvPr id="238612" name="Rectangles 238611"/>
          <p:cNvSpPr/>
          <p:nvPr/>
        </p:nvSpPr>
        <p:spPr>
          <a:xfrm>
            <a:off x="9003506" y="3700463"/>
            <a:ext cx="785813" cy="100013"/>
          </a:xfrm>
          <a:prstGeom prst="rect">
            <a:avLst/>
          </a:prstGeom>
          <a:solidFill>
            <a:schemeClr val="tx2"/>
          </a:solidFill>
          <a:ln w="127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 sz="2025"/>
          </a:p>
        </p:txBody>
      </p:sp>
      <p:sp>
        <p:nvSpPr>
          <p:cNvPr id="238613" name="Rectangles 238612"/>
          <p:cNvSpPr/>
          <p:nvPr/>
        </p:nvSpPr>
        <p:spPr>
          <a:xfrm>
            <a:off x="6303169" y="4336256"/>
            <a:ext cx="785813" cy="100013"/>
          </a:xfrm>
          <a:prstGeom prst="rect">
            <a:avLst/>
          </a:prstGeom>
          <a:solidFill>
            <a:schemeClr val="tx2"/>
          </a:solidFill>
          <a:ln w="127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 sz="2025"/>
          </a:p>
        </p:txBody>
      </p:sp>
      <p:sp>
        <p:nvSpPr>
          <p:cNvPr id="238614" name="Rectangles 238613"/>
          <p:cNvSpPr/>
          <p:nvPr/>
        </p:nvSpPr>
        <p:spPr>
          <a:xfrm>
            <a:off x="6874669" y="4729163"/>
            <a:ext cx="785813" cy="100013"/>
          </a:xfrm>
          <a:prstGeom prst="rect">
            <a:avLst/>
          </a:prstGeom>
          <a:solidFill>
            <a:schemeClr val="tx2"/>
          </a:solidFill>
          <a:ln w="127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 sz="2025"/>
          </a:p>
        </p:txBody>
      </p:sp>
      <p:sp>
        <p:nvSpPr>
          <p:cNvPr id="238615" name="Rectangles 238614"/>
          <p:cNvSpPr/>
          <p:nvPr/>
        </p:nvSpPr>
        <p:spPr>
          <a:xfrm>
            <a:off x="7460456" y="5136356"/>
            <a:ext cx="785813" cy="100013"/>
          </a:xfrm>
          <a:prstGeom prst="rect">
            <a:avLst/>
          </a:prstGeom>
          <a:solidFill>
            <a:schemeClr val="tx2"/>
          </a:solidFill>
          <a:ln w="127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 sz="2025"/>
          </a:p>
        </p:txBody>
      </p:sp>
      <p:sp>
        <p:nvSpPr>
          <p:cNvPr id="238616" name="Rectangles 238615"/>
          <p:cNvSpPr/>
          <p:nvPr/>
        </p:nvSpPr>
        <p:spPr>
          <a:xfrm>
            <a:off x="7746206" y="4336256"/>
            <a:ext cx="785813" cy="100013"/>
          </a:xfrm>
          <a:prstGeom prst="rect">
            <a:avLst/>
          </a:prstGeom>
          <a:solidFill>
            <a:schemeClr val="tx2"/>
          </a:solidFill>
          <a:ln w="127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 sz="2025"/>
          </a:p>
        </p:txBody>
      </p:sp>
      <p:sp>
        <p:nvSpPr>
          <p:cNvPr id="238617" name="Rectangles 238616"/>
          <p:cNvSpPr/>
          <p:nvPr/>
        </p:nvSpPr>
        <p:spPr>
          <a:xfrm>
            <a:off x="8517731" y="4704159"/>
            <a:ext cx="785813" cy="100013"/>
          </a:xfrm>
          <a:prstGeom prst="rect">
            <a:avLst/>
          </a:prstGeom>
          <a:solidFill>
            <a:schemeClr val="tx2"/>
          </a:solidFill>
          <a:ln w="127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 sz="2025"/>
          </a:p>
        </p:txBody>
      </p:sp>
      <p:sp>
        <p:nvSpPr>
          <p:cNvPr id="238618" name="Rectangles 238617"/>
          <p:cNvSpPr/>
          <p:nvPr/>
        </p:nvSpPr>
        <p:spPr>
          <a:xfrm>
            <a:off x="9089231" y="4336256"/>
            <a:ext cx="800100" cy="100013"/>
          </a:xfrm>
          <a:prstGeom prst="rect">
            <a:avLst/>
          </a:prstGeom>
          <a:solidFill>
            <a:schemeClr val="tx2"/>
          </a:solidFill>
          <a:ln w="127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 sz="2025"/>
          </a:p>
        </p:txBody>
      </p:sp>
      <p:sp>
        <p:nvSpPr>
          <p:cNvPr id="238619" name="Straight Connector 238618"/>
          <p:cNvSpPr/>
          <p:nvPr/>
        </p:nvSpPr>
        <p:spPr>
          <a:xfrm flipH="1">
            <a:off x="7310438" y="3314700"/>
            <a:ext cx="842963" cy="314325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8620" name="Straight Connector 238619"/>
          <p:cNvSpPr/>
          <p:nvPr/>
        </p:nvSpPr>
        <p:spPr>
          <a:xfrm>
            <a:off x="8181975" y="3302199"/>
            <a:ext cx="0" cy="326826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8621" name="Straight Connector 238620"/>
          <p:cNvSpPr/>
          <p:nvPr/>
        </p:nvSpPr>
        <p:spPr>
          <a:xfrm>
            <a:off x="8181975" y="3314700"/>
            <a:ext cx="1057275" cy="314325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8622" name="Straight Connector 238621"/>
          <p:cNvSpPr/>
          <p:nvPr/>
        </p:nvSpPr>
        <p:spPr>
          <a:xfrm flipH="1">
            <a:off x="6724650" y="3898702"/>
            <a:ext cx="485775" cy="339328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8623" name="Straight Connector 238622"/>
          <p:cNvSpPr/>
          <p:nvPr/>
        </p:nvSpPr>
        <p:spPr>
          <a:xfrm>
            <a:off x="7210425" y="3898702"/>
            <a:ext cx="28575" cy="73402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8624" name="Straight Connector 238623"/>
          <p:cNvSpPr/>
          <p:nvPr/>
        </p:nvSpPr>
        <p:spPr>
          <a:xfrm>
            <a:off x="7196138" y="3898702"/>
            <a:ext cx="728663" cy="116621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8625" name="Straight Connector 238624"/>
          <p:cNvSpPr/>
          <p:nvPr/>
        </p:nvSpPr>
        <p:spPr>
          <a:xfrm flipH="1">
            <a:off x="8153400" y="3873699"/>
            <a:ext cx="100013" cy="376832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8626" name="Straight Connector 238625"/>
          <p:cNvSpPr/>
          <p:nvPr/>
        </p:nvSpPr>
        <p:spPr>
          <a:xfrm>
            <a:off x="8253413" y="3873699"/>
            <a:ext cx="614363" cy="771525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8627" name="Straight Connector 238626"/>
          <p:cNvSpPr/>
          <p:nvPr/>
        </p:nvSpPr>
        <p:spPr>
          <a:xfrm>
            <a:off x="9410700" y="3873699"/>
            <a:ext cx="0" cy="376832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8628" name="Rectangles 238627"/>
          <p:cNvSpPr/>
          <p:nvPr/>
        </p:nvSpPr>
        <p:spPr>
          <a:xfrm>
            <a:off x="7460377" y="2006878"/>
            <a:ext cx="2413000" cy="929640"/>
          </a:xfrm>
          <a:prstGeom prst="rect">
            <a:avLst/>
          </a:prstGeom>
          <a:solidFill>
            <a:srgbClr val="92D050"/>
          </a:solidFill>
          <a:ln w="12700">
            <a:noFill/>
          </a:ln>
        </p:spPr>
        <p:txBody>
          <a:bodyPr wrap="none" lIns="101797" tIns="50006" rIns="101797" bIns="50006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2700">
                <a:effectLst>
                  <a:outerShdw blurRad="38100" dist="38100" dir="2700000">
                    <a:srgbClr val="FFFFFF"/>
                  </a:outerShdw>
                </a:effectLst>
                <a:latin typeface="Helvetica" pitchFamily="-99" charset="0"/>
                <a:ea typeface="PMingLiU" charset="-120"/>
              </a:rPr>
              <a:t>functional </a:t>
            </a:r>
          </a:p>
          <a:p>
            <a:pPr algn="ctr">
              <a:lnSpc>
                <a:spcPct val="100000"/>
              </a:lnSpc>
            </a:pPr>
            <a:r>
              <a:rPr lang="en-US" altLang="zh-TW" sz="2700">
                <a:effectLst>
                  <a:outerShdw blurRad="38100" dist="38100" dir="2700000">
                    <a:srgbClr val="FFFFFF"/>
                  </a:outerShdw>
                </a:effectLst>
                <a:latin typeface="Helvetica" pitchFamily="-99" charset="0"/>
                <a:ea typeface="PMingLiU" charset="-120"/>
              </a:rPr>
              <a:t>decomposition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Title 239617"/>
          <p:cNvSpPr>
            <a:spLocks noGrp="1"/>
          </p:cNvSpPr>
          <p:nvPr>
            <p:ph type="title"/>
          </p:nvPr>
        </p:nvSpPr>
        <p:spPr>
          <a:xfrm>
            <a:off x="2266950" y="351830"/>
            <a:ext cx="8058150" cy="1285875"/>
          </a:xfrm>
        </p:spPr>
        <p:txBody>
          <a:bodyPr vert="horz" wrap="square" lIns="101797" tIns="50006" rIns="101797" bIns="50006" anchor="ctr" anchorCtr="0"/>
          <a:lstStyle/>
          <a:p>
            <a:r>
              <a:rPr lang="en-US" altLang="x-none" dirty="0"/>
              <a:t>Creating a Task Matrix</a:t>
            </a:r>
          </a:p>
        </p:txBody>
      </p:sp>
      <p:sp>
        <p:nvSpPr>
          <p:cNvPr id="239619" name="Rectangles 239618"/>
          <p:cNvSpPr/>
          <p:nvPr/>
        </p:nvSpPr>
        <p:spPr>
          <a:xfrm>
            <a:off x="2059305" y="1539240"/>
            <a:ext cx="5793740" cy="514350"/>
          </a:xfrm>
          <a:prstGeom prst="rect">
            <a:avLst/>
          </a:prstGeom>
          <a:noFill/>
          <a:ln w="12700">
            <a:noFill/>
          </a:ln>
        </p:spPr>
        <p:txBody>
          <a:bodyPr wrap="square" lIns="101797" tIns="50006" rIns="101797" bIns="50006">
            <a:spAutoFit/>
          </a:bodyPr>
          <a:lstStyle/>
          <a:p>
            <a:r>
              <a:rPr lang="en-US" altLang="zh-TW" sz="270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highlight>
                  <a:srgbClr val="00FF00"/>
                </a:highlight>
                <a:latin typeface="Arial" panose="020B0604020202020204" pitchFamily="34" charset="0"/>
                <a:ea typeface="PMingLiU" charset="-120"/>
              </a:rPr>
              <a:t>Obtained from “process framework”</a:t>
            </a:r>
          </a:p>
        </p:txBody>
      </p:sp>
      <p:sp>
        <p:nvSpPr>
          <p:cNvPr id="239620" name="Rectangles 239619"/>
          <p:cNvSpPr/>
          <p:nvPr/>
        </p:nvSpPr>
        <p:spPr>
          <a:xfrm>
            <a:off x="3282950" y="2546985"/>
            <a:ext cx="6186805" cy="3997960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txBody>
          <a:bodyPr/>
          <a:lstStyle/>
          <a:p>
            <a:endParaRPr lang="en-US" sz="2025"/>
          </a:p>
        </p:txBody>
      </p:sp>
      <p:sp>
        <p:nvSpPr>
          <p:cNvPr id="239621" name="Rectangles 239620"/>
          <p:cNvSpPr/>
          <p:nvPr/>
        </p:nvSpPr>
        <p:spPr>
          <a:xfrm>
            <a:off x="4087495" y="2527300"/>
            <a:ext cx="5380990" cy="4017010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 sz="2025"/>
          </a:p>
        </p:txBody>
      </p:sp>
      <p:sp>
        <p:nvSpPr>
          <p:cNvPr id="239622" name="Rectangles 239621"/>
          <p:cNvSpPr/>
          <p:nvPr/>
        </p:nvSpPr>
        <p:spPr>
          <a:xfrm>
            <a:off x="3252788" y="2525316"/>
            <a:ext cx="1485900" cy="3277196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/>
          <a:lstStyle/>
          <a:p>
            <a:endParaRPr lang="en-US" sz="2025"/>
          </a:p>
        </p:txBody>
      </p:sp>
      <p:sp>
        <p:nvSpPr>
          <p:cNvPr id="239623" name="Rectangles 239622"/>
          <p:cNvSpPr/>
          <p:nvPr/>
        </p:nvSpPr>
        <p:spPr>
          <a:xfrm>
            <a:off x="2164080" y="2527300"/>
            <a:ext cx="2574925" cy="4017010"/>
          </a:xfrm>
          <a:prstGeom prst="rect">
            <a:avLst/>
          </a:prstGeom>
          <a:solidFill>
            <a:srgbClr val="DADADA"/>
          </a:solidFill>
          <a:ln w="254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 sz="2025"/>
          </a:p>
        </p:txBody>
      </p:sp>
      <p:sp>
        <p:nvSpPr>
          <p:cNvPr id="239624" name="Rectangles 239623"/>
          <p:cNvSpPr/>
          <p:nvPr/>
        </p:nvSpPr>
        <p:spPr>
          <a:xfrm>
            <a:off x="4752975" y="2525316"/>
            <a:ext cx="4714875" cy="558999"/>
          </a:xfrm>
          <a:prstGeom prst="rect">
            <a:avLst/>
          </a:prstGeom>
          <a:solidFill>
            <a:srgbClr val="000000"/>
          </a:solidFill>
          <a:ln w="25400">
            <a:noFill/>
          </a:ln>
        </p:spPr>
        <p:txBody>
          <a:bodyPr/>
          <a:lstStyle/>
          <a:p>
            <a:endParaRPr lang="en-US" sz="2025"/>
          </a:p>
        </p:txBody>
      </p:sp>
      <p:sp>
        <p:nvSpPr>
          <p:cNvPr id="239625" name="Rectangles 239624"/>
          <p:cNvSpPr/>
          <p:nvPr/>
        </p:nvSpPr>
        <p:spPr>
          <a:xfrm>
            <a:off x="4752975" y="2527102"/>
            <a:ext cx="4714875" cy="555426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 sz="2025"/>
          </a:p>
        </p:txBody>
      </p:sp>
      <p:sp>
        <p:nvSpPr>
          <p:cNvPr id="239626" name="Rectangles 239625"/>
          <p:cNvSpPr/>
          <p:nvPr/>
        </p:nvSpPr>
        <p:spPr>
          <a:xfrm>
            <a:off x="5620941" y="3473649"/>
            <a:ext cx="2970015" cy="925116"/>
          </a:xfrm>
          <a:prstGeom prst="rect">
            <a:avLst/>
          </a:prstGeom>
          <a:noFill/>
          <a:ln w="12700">
            <a:noFill/>
          </a:ln>
        </p:spPr>
        <p:txBody>
          <a:bodyPr/>
          <a:lstStyle/>
          <a:p>
            <a:endParaRPr lang="en-US" sz="2025"/>
          </a:p>
        </p:txBody>
      </p:sp>
      <p:sp>
        <p:nvSpPr>
          <p:cNvPr id="239627" name="Rectangles 239626"/>
          <p:cNvSpPr/>
          <p:nvPr/>
        </p:nvSpPr>
        <p:spPr>
          <a:xfrm>
            <a:off x="2164715" y="2525395"/>
            <a:ext cx="2574290" cy="534035"/>
          </a:xfrm>
          <a:prstGeom prst="rect">
            <a:avLst/>
          </a:prstGeom>
          <a:pattFill prst="pct50">
            <a:fgClr>
              <a:srgbClr val="000000"/>
            </a:fgClr>
            <a:bgClr>
              <a:srgbClr val="FFFFFF"/>
            </a:bgClr>
          </a:pattFill>
          <a:ln w="25400">
            <a:noFill/>
          </a:ln>
        </p:spPr>
        <p:txBody>
          <a:bodyPr/>
          <a:lstStyle/>
          <a:p>
            <a:endParaRPr lang="en-US" sz="2025"/>
          </a:p>
        </p:txBody>
      </p:sp>
      <p:sp>
        <p:nvSpPr>
          <p:cNvPr id="239628" name="Rectangles 239627"/>
          <p:cNvSpPr/>
          <p:nvPr/>
        </p:nvSpPr>
        <p:spPr>
          <a:xfrm>
            <a:off x="2266950" y="2527300"/>
            <a:ext cx="2472055" cy="532130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 sz="2025"/>
          </a:p>
        </p:txBody>
      </p:sp>
      <p:sp>
        <p:nvSpPr>
          <p:cNvPr id="239629" name="Rectangles 239628"/>
          <p:cNvSpPr/>
          <p:nvPr/>
        </p:nvSpPr>
        <p:spPr>
          <a:xfrm>
            <a:off x="2567305" y="3611245"/>
            <a:ext cx="1814830" cy="723265"/>
          </a:xfrm>
          <a:prstGeom prst="rect">
            <a:avLst/>
          </a:prstGeom>
          <a:noFill/>
          <a:ln w="12700">
            <a:noFill/>
          </a:ln>
        </p:spPr>
        <p:txBody>
          <a:bodyPr wrap="squar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TW" sz="2025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PMingLiU" charset="-120"/>
              </a:rPr>
              <a:t>application</a:t>
            </a:r>
          </a:p>
          <a:p>
            <a:pPr>
              <a:lnSpc>
                <a:spcPct val="100000"/>
              </a:lnSpc>
            </a:pPr>
            <a:r>
              <a:rPr lang="en-US" altLang="zh-TW" sz="2025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PMingLiU" charset="-120"/>
              </a:rPr>
              <a:t>functions</a:t>
            </a:r>
          </a:p>
        </p:txBody>
      </p:sp>
      <p:sp>
        <p:nvSpPr>
          <p:cNvPr id="239630" name="Rectangles 239629"/>
          <p:cNvSpPr/>
          <p:nvPr/>
        </p:nvSpPr>
        <p:spPr>
          <a:xfrm>
            <a:off x="5351265" y="2591396"/>
            <a:ext cx="3213100" cy="514350"/>
          </a:xfrm>
          <a:prstGeom prst="rect">
            <a:avLst/>
          </a:prstGeom>
          <a:noFill/>
          <a:ln w="12700">
            <a:noFill/>
          </a:ln>
        </p:spPr>
        <p:txBody>
          <a:bodyPr wrap="non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TW" sz="270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Helvetica" pitchFamily="-99" charset="0"/>
                <a:ea typeface="PMingLiU" charset="-120"/>
              </a:rPr>
              <a:t>framework activities</a:t>
            </a:r>
          </a:p>
        </p:txBody>
      </p:sp>
      <p:sp>
        <p:nvSpPr>
          <p:cNvPr id="239631" name="Straight Connector 239630"/>
          <p:cNvSpPr/>
          <p:nvPr/>
        </p:nvSpPr>
        <p:spPr>
          <a:xfrm>
            <a:off x="5567363" y="1944887"/>
            <a:ext cx="414338" cy="537567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39632" name="Rectangles 239631"/>
          <p:cNvSpPr/>
          <p:nvPr/>
        </p:nvSpPr>
        <p:spPr>
          <a:xfrm>
            <a:off x="6394450" y="3718560"/>
            <a:ext cx="2988310" cy="2077085"/>
          </a:xfrm>
          <a:prstGeom prst="rect">
            <a:avLst/>
          </a:prstGeom>
          <a:noFill/>
          <a:ln w="25400">
            <a:noFill/>
          </a:ln>
        </p:spPr>
        <p:txBody>
          <a:bodyPr lIns="101797" tIns="50006" rIns="101797" bIns="50006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TW" sz="2400">
                <a:solidFill>
                  <a:srgbClr val="00206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Helvetica" pitchFamily="-99" charset="0"/>
                <a:ea typeface="PMingLiU" charset="-120"/>
              </a:rPr>
              <a:t>Effort required to accomplish</a:t>
            </a:r>
          </a:p>
          <a:p>
            <a:pPr>
              <a:lnSpc>
                <a:spcPct val="100000"/>
              </a:lnSpc>
            </a:pPr>
            <a:r>
              <a:rPr lang="en-US" altLang="zh-TW" sz="2400">
                <a:solidFill>
                  <a:srgbClr val="00206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Helvetica" pitchFamily="-99" charset="0"/>
                <a:ea typeface="PMingLiU" charset="-120"/>
              </a:rPr>
              <a:t>each framework activity for each application function</a:t>
            </a:r>
          </a:p>
        </p:txBody>
      </p:sp>
      <p:sp>
        <p:nvSpPr>
          <p:cNvPr id="239633" name="Rectangles 239632"/>
          <p:cNvSpPr/>
          <p:nvPr/>
        </p:nvSpPr>
        <p:spPr>
          <a:xfrm>
            <a:off x="5410200" y="3671888"/>
            <a:ext cx="614363" cy="400050"/>
          </a:xfrm>
          <a:prstGeom prst="rect">
            <a:avLst/>
          </a:prstGeom>
          <a:solidFill>
            <a:schemeClr val="tx2"/>
          </a:solidFill>
          <a:ln w="25400">
            <a:noFill/>
          </a:ln>
          <a:effectLst>
            <a:outerShdw dist="53882" dir="2699999" algn="ctr" rotWithShape="0">
              <a:schemeClr val="bg2"/>
            </a:outerShdw>
          </a:effectLst>
        </p:spPr>
        <p:txBody>
          <a:bodyPr/>
          <a:lstStyle/>
          <a:p>
            <a:endParaRPr lang="en-US" sz="2025"/>
          </a:p>
        </p:txBody>
      </p:sp>
      <p:sp>
        <p:nvSpPr>
          <p:cNvPr id="239634" name="Straight Connector 239633"/>
          <p:cNvSpPr/>
          <p:nvPr/>
        </p:nvSpPr>
        <p:spPr>
          <a:xfrm>
            <a:off x="5724525" y="3143250"/>
            <a:ext cx="0" cy="52863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  <a:effectLst>
            <a:outerShdw dist="53882" dir="2699999" algn="ctr" rotWithShape="0">
              <a:schemeClr val="bg2"/>
            </a:outerShdw>
          </a:effectLst>
        </p:spPr>
      </p:sp>
      <p:sp>
        <p:nvSpPr>
          <p:cNvPr id="239635" name="Straight Connector 239634"/>
          <p:cNvSpPr/>
          <p:nvPr/>
        </p:nvSpPr>
        <p:spPr>
          <a:xfrm>
            <a:off x="4767263" y="3914775"/>
            <a:ext cx="614363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  <a:effectLst>
            <a:outerShdw dist="53882" dir="2699999" algn="ctr" rotWithShape="0">
              <a:schemeClr val="bg2"/>
            </a:outerShdw>
          </a:effectLst>
        </p:spPr>
      </p:sp>
      <p:sp>
        <p:nvSpPr>
          <p:cNvPr id="239636" name="Rectangles 239635"/>
          <p:cNvSpPr/>
          <p:nvPr/>
        </p:nvSpPr>
        <p:spPr>
          <a:xfrm>
            <a:off x="5410200" y="4186238"/>
            <a:ext cx="614363" cy="400050"/>
          </a:xfrm>
          <a:prstGeom prst="rect">
            <a:avLst/>
          </a:prstGeom>
          <a:solidFill>
            <a:schemeClr val="tx2"/>
          </a:solidFill>
          <a:ln w="25400">
            <a:noFill/>
          </a:ln>
          <a:effectLst>
            <a:outerShdw dist="53882" dir="2699999" algn="ctr" rotWithShape="0">
              <a:schemeClr val="bg2"/>
            </a:outerShdw>
          </a:effectLst>
        </p:spPr>
        <p:txBody>
          <a:bodyPr/>
          <a:lstStyle/>
          <a:p>
            <a:endParaRPr lang="en-US" sz="2025"/>
          </a:p>
        </p:txBody>
      </p:sp>
      <p:sp>
        <p:nvSpPr>
          <p:cNvPr id="239637" name="Rectangles 239636"/>
          <p:cNvSpPr/>
          <p:nvPr/>
        </p:nvSpPr>
        <p:spPr>
          <a:xfrm>
            <a:off x="5410200" y="4700588"/>
            <a:ext cx="614363" cy="400050"/>
          </a:xfrm>
          <a:prstGeom prst="rect">
            <a:avLst/>
          </a:prstGeom>
          <a:solidFill>
            <a:schemeClr val="tx2"/>
          </a:solidFill>
          <a:ln w="25400">
            <a:noFill/>
          </a:ln>
          <a:effectLst>
            <a:outerShdw dist="53882" dir="2699999" algn="ctr" rotWithShape="0">
              <a:schemeClr val="bg2"/>
            </a:outerShdw>
          </a:effectLst>
        </p:spPr>
        <p:txBody>
          <a:bodyPr/>
          <a:lstStyle/>
          <a:p>
            <a:endParaRPr lang="en-US" sz="2025"/>
          </a:p>
        </p:txBody>
      </p:sp>
      <p:sp>
        <p:nvSpPr>
          <p:cNvPr id="239638" name="Rectangles 239637"/>
          <p:cNvSpPr/>
          <p:nvPr/>
        </p:nvSpPr>
        <p:spPr>
          <a:xfrm>
            <a:off x="5410200" y="5229225"/>
            <a:ext cx="614363" cy="400050"/>
          </a:xfrm>
          <a:prstGeom prst="rect">
            <a:avLst/>
          </a:prstGeom>
          <a:solidFill>
            <a:schemeClr val="tx2"/>
          </a:solidFill>
          <a:ln w="25400">
            <a:noFill/>
          </a:ln>
          <a:effectLst>
            <a:outerShdw dist="53882" dir="2699999" algn="ctr" rotWithShape="0">
              <a:schemeClr val="bg2"/>
            </a:outerShdw>
          </a:effectLst>
        </p:spPr>
        <p:txBody>
          <a:bodyPr/>
          <a:lstStyle/>
          <a:p>
            <a:endParaRPr lang="en-US" sz="2025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s 240641"/>
          <p:cNvSpPr/>
          <p:nvPr/>
        </p:nvSpPr>
        <p:spPr>
          <a:xfrm>
            <a:off x="1488440" y="2195195"/>
            <a:ext cx="7875905" cy="3089275"/>
          </a:xfrm>
          <a:prstGeom prst="rect">
            <a:avLst/>
          </a:prstGeom>
          <a:solidFill>
            <a:schemeClr val="accent2"/>
          </a:solidFill>
          <a:ln w="25400">
            <a:noFill/>
          </a:ln>
          <a:effectLst>
            <a:outerShdw dist="53882" dir="2699999" algn="ctr" rotWithShape="0">
              <a:schemeClr val="bg2"/>
            </a:outerShdw>
          </a:effectLst>
        </p:spPr>
        <p:txBody>
          <a:bodyPr/>
          <a:lstStyle/>
          <a:p>
            <a:endParaRPr lang="en-US" sz="2025">
              <a:solidFill>
                <a:srgbClr val="92D050"/>
              </a:solidFill>
              <a:highlight>
                <a:srgbClr val="FF00FF"/>
              </a:highlight>
            </a:endParaRPr>
          </a:p>
        </p:txBody>
      </p:sp>
      <p:sp>
        <p:nvSpPr>
          <p:cNvPr id="240643" name="Title 240642"/>
          <p:cNvSpPr>
            <a:spLocks noGrp="1"/>
          </p:cNvSpPr>
          <p:nvPr>
            <p:ph type="title"/>
          </p:nvPr>
        </p:nvSpPr>
        <p:spPr>
          <a:xfrm>
            <a:off x="354965" y="264795"/>
            <a:ext cx="9438005" cy="1322070"/>
          </a:xfrm>
        </p:spPr>
        <p:txBody>
          <a:bodyPr vert="horz" wrap="square" lIns="101797" tIns="50006" rIns="101797" bIns="50006" anchor="ctr" anchorCtr="0">
            <a:noAutofit/>
          </a:bodyPr>
          <a:lstStyle/>
          <a:p>
            <a:pPr algn="ctr"/>
            <a:r>
              <a:rPr lang="en-US" altLang="x-none" b="1" dirty="0"/>
              <a:t>Conventional and traditional  Methods:</a:t>
            </a:r>
            <a:br>
              <a:rPr lang="en-US" altLang="x-none" b="1" dirty="0"/>
            </a:br>
            <a:r>
              <a:rPr lang="en-US" altLang="x-none" b="1" dirty="0"/>
              <a:t>LOC/FP Approach</a:t>
            </a:r>
          </a:p>
        </p:txBody>
      </p:sp>
      <p:sp>
        <p:nvSpPr>
          <p:cNvPr id="240644" name="Text Placeholder 240643"/>
          <p:cNvSpPr>
            <a:spLocks noGrp="1"/>
          </p:cNvSpPr>
          <p:nvPr>
            <p:ph type="body" idx="1"/>
          </p:nvPr>
        </p:nvSpPr>
        <p:spPr>
          <a:xfrm>
            <a:off x="1631315" y="2432050"/>
            <a:ext cx="7373620" cy="2614930"/>
          </a:xfrm>
        </p:spPr>
        <p:txBody>
          <a:bodyPr vert="horz" wrap="square" lIns="101797" tIns="50006" rIns="101797" bIns="50006" anchor="t" anchorCtr="0">
            <a:noAutofit/>
          </a:bodyPr>
          <a:lstStyle/>
          <a:p>
            <a:r>
              <a:rPr lang="en-US" altLang="x-none" sz="3200" b="1" dirty="0">
                <a:solidFill>
                  <a:srgbClr val="0070C0"/>
                </a:solidFill>
                <a:highlight>
                  <a:srgbClr val="FFFF00"/>
                </a:highlight>
              </a:rPr>
              <a:t>compute LOC/FP using estimates of information domain values</a:t>
            </a:r>
          </a:p>
          <a:p>
            <a:r>
              <a:rPr lang="en-US" altLang="x-none" sz="3200" b="1" dirty="0">
                <a:solidFill>
                  <a:srgbClr val="0070C0"/>
                </a:solidFill>
                <a:highlight>
                  <a:srgbClr val="FFFF00"/>
                </a:highlight>
              </a:rPr>
              <a:t>use historical effort for the project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Title 241665"/>
          <p:cNvSpPr>
            <a:spLocks noGrp="1"/>
          </p:cNvSpPr>
          <p:nvPr>
            <p:ph type="title"/>
          </p:nvPr>
        </p:nvSpPr>
        <p:spPr>
          <a:xfrm>
            <a:off x="3265290" y="328613"/>
            <a:ext cx="5024120" cy="610870"/>
          </a:xfrm>
        </p:spPr>
        <p:txBody>
          <a:bodyPr vert="horz" wrap="none" lIns="71437" tIns="28575" rIns="71437" bIns="28575" anchor="t" anchorCtr="0">
            <a:spAutoFit/>
          </a:bodyPr>
          <a:lstStyle/>
          <a:p>
            <a:r>
              <a:rPr lang="en-US" altLang="x-none" dirty="0"/>
              <a:t>Example: LOC Approach</a:t>
            </a:r>
          </a:p>
        </p:txBody>
      </p:sp>
      <p:pic>
        <p:nvPicPr>
          <p:cNvPr id="241667" name="Picture 241666"/>
          <p:cNvPicPr/>
          <p:nvPr/>
        </p:nvPicPr>
        <p:blipFill>
          <a:blip r:embed="rId2"/>
          <a:stretch>
            <a:fillRect/>
          </a:stretch>
        </p:blipFill>
        <p:spPr>
          <a:xfrm>
            <a:off x="452755" y="1543050"/>
            <a:ext cx="9923145" cy="4979670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Title 242689"/>
          <p:cNvSpPr>
            <a:spLocks noGrp="1"/>
          </p:cNvSpPr>
          <p:nvPr>
            <p:ph type="title"/>
          </p:nvPr>
        </p:nvSpPr>
        <p:spPr>
          <a:xfrm>
            <a:off x="1040765" y="400050"/>
            <a:ext cx="7179945" cy="610870"/>
          </a:xfrm>
        </p:spPr>
        <p:txBody>
          <a:bodyPr vert="horz" wrap="square" lIns="71437" tIns="28575" rIns="71437" bIns="28575" anchor="t" anchorCtr="0">
            <a:spAutoFit/>
          </a:bodyPr>
          <a:lstStyle/>
          <a:p>
            <a:r>
              <a:rPr lang="en-US" altLang="x-none" dirty="0"/>
              <a:t>Example: FP Approach</a:t>
            </a:r>
          </a:p>
        </p:txBody>
      </p:sp>
      <p:pic>
        <p:nvPicPr>
          <p:cNvPr id="242691" name="Picture 242690"/>
          <p:cNvPicPr/>
          <p:nvPr/>
        </p:nvPicPr>
        <p:blipFill>
          <a:blip r:embed="rId2"/>
          <a:stretch>
            <a:fillRect/>
          </a:stretch>
        </p:blipFill>
        <p:spPr>
          <a:xfrm>
            <a:off x="921385" y="1271905"/>
            <a:ext cx="9904095" cy="4672330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Title 243713"/>
          <p:cNvSpPr>
            <a:spLocks noGrp="1"/>
          </p:cNvSpPr>
          <p:nvPr>
            <p:ph type="title"/>
          </p:nvPr>
        </p:nvSpPr>
        <p:spPr>
          <a:xfrm>
            <a:off x="2120503" y="562571"/>
            <a:ext cx="7793831" cy="632222"/>
          </a:xfrm>
        </p:spPr>
        <p:txBody>
          <a:bodyPr vert="horz" wrap="square" lIns="101797" tIns="50006" rIns="101797" bIns="50006" anchor="ctr" anchorCtr="0">
            <a:normAutofit fontScale="90000"/>
          </a:bodyPr>
          <a:lstStyle/>
          <a:p>
            <a:r>
              <a:rPr lang="en-US" altLang="x-none" dirty="0"/>
              <a:t>Tool-Based Estimation</a:t>
            </a:r>
          </a:p>
        </p:txBody>
      </p:sp>
      <p:pic>
        <p:nvPicPr>
          <p:cNvPr id="243715" name="Picture 243714"/>
          <p:cNvPicPr/>
          <p:nvPr/>
        </p:nvPicPr>
        <p:blipFill>
          <a:blip r:embed="rId2"/>
          <a:stretch>
            <a:fillRect/>
          </a:stretch>
        </p:blipFill>
        <p:spPr>
          <a:xfrm>
            <a:off x="6463665" y="1939925"/>
            <a:ext cx="3789680" cy="343027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43716" name="Rectangles 243715"/>
          <p:cNvSpPr/>
          <p:nvPr/>
        </p:nvSpPr>
        <p:spPr>
          <a:xfrm>
            <a:off x="1488440" y="2270125"/>
            <a:ext cx="3666490" cy="51435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txBody>
          <a:bodyPr wrap="squar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TW" sz="2700">
                <a:solidFill>
                  <a:srgbClr val="0070C0"/>
                </a:solidFill>
                <a:effectLst>
                  <a:outerShdw blurRad="38100" dist="38100" dir="2700000">
                    <a:srgbClr val="000000"/>
                  </a:outerShdw>
                </a:effectLst>
                <a:highlight>
                  <a:srgbClr val="FF00FF"/>
                </a:highlight>
                <a:latin typeface="Helvetica" pitchFamily="-99" charset="0"/>
                <a:ea typeface="PMingLiU" charset="-120"/>
              </a:rPr>
              <a:t>project characteristics</a:t>
            </a:r>
          </a:p>
        </p:txBody>
      </p:sp>
      <p:sp>
        <p:nvSpPr>
          <p:cNvPr id="243717" name="Rectangles 243716"/>
          <p:cNvSpPr/>
          <p:nvPr/>
        </p:nvSpPr>
        <p:spPr>
          <a:xfrm>
            <a:off x="1652270" y="2941320"/>
            <a:ext cx="3502025" cy="514350"/>
          </a:xfrm>
          <a:prstGeom prst="rect">
            <a:avLst/>
          </a:prstGeom>
          <a:solidFill>
            <a:srgbClr val="92D050"/>
          </a:solidFill>
          <a:ln w="25400">
            <a:noFill/>
          </a:ln>
        </p:spPr>
        <p:txBody>
          <a:bodyPr wrap="squar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TW" sz="270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Helvetica" pitchFamily="-99" charset="0"/>
                <a:ea typeface="PMingLiU" charset="-120"/>
              </a:rPr>
              <a:t>calibration factors</a:t>
            </a:r>
          </a:p>
        </p:txBody>
      </p:sp>
      <p:sp>
        <p:nvSpPr>
          <p:cNvPr id="243718" name="Rectangles 243717"/>
          <p:cNvSpPr/>
          <p:nvPr/>
        </p:nvSpPr>
        <p:spPr>
          <a:xfrm>
            <a:off x="1652905" y="3598545"/>
            <a:ext cx="2680970" cy="514350"/>
          </a:xfrm>
          <a:prstGeom prst="rect">
            <a:avLst/>
          </a:prstGeom>
          <a:solidFill>
            <a:srgbClr val="FFC000"/>
          </a:solidFill>
          <a:ln w="25400">
            <a:noFill/>
          </a:ln>
        </p:spPr>
        <p:txBody>
          <a:bodyPr wrap="squar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TW" sz="270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Helvetica" pitchFamily="-99" charset="0"/>
                <a:ea typeface="PMingLiU" charset="-120"/>
              </a:rPr>
              <a:t>LOC/FP data</a:t>
            </a:r>
          </a:p>
        </p:txBody>
      </p:sp>
      <p:sp>
        <p:nvSpPr>
          <p:cNvPr id="243719" name="Right Arrow 243718"/>
          <p:cNvSpPr/>
          <p:nvPr/>
        </p:nvSpPr>
        <p:spPr>
          <a:xfrm>
            <a:off x="6167438" y="2428875"/>
            <a:ext cx="828675" cy="228600"/>
          </a:xfrm>
          <a:prstGeom prst="rightArrow">
            <a:avLst>
              <a:gd name="adj1" fmla="val 50000"/>
              <a:gd name="adj2" fmla="val 181266"/>
            </a:avLst>
          </a:prstGeom>
          <a:solidFill>
            <a:schemeClr val="tx2"/>
          </a:solidFill>
          <a:ln w="25400">
            <a:noFill/>
          </a:ln>
          <a:effectLst>
            <a:outerShdw dist="53882" dir="2699999" algn="ctr" rotWithShape="0">
              <a:schemeClr val="bg2"/>
            </a:outerShdw>
          </a:effectLst>
        </p:spPr>
        <p:txBody>
          <a:bodyPr/>
          <a:lstStyle/>
          <a:p>
            <a:endParaRPr lang="en-US" sz="2025"/>
          </a:p>
        </p:txBody>
      </p:sp>
      <p:sp>
        <p:nvSpPr>
          <p:cNvPr id="243720" name="Right Arrow 243719"/>
          <p:cNvSpPr/>
          <p:nvPr/>
        </p:nvSpPr>
        <p:spPr>
          <a:xfrm>
            <a:off x="5495925" y="3071813"/>
            <a:ext cx="828675" cy="228600"/>
          </a:xfrm>
          <a:prstGeom prst="rightArrow">
            <a:avLst>
              <a:gd name="adj1" fmla="val 50000"/>
              <a:gd name="adj2" fmla="val 181266"/>
            </a:avLst>
          </a:prstGeom>
          <a:solidFill>
            <a:schemeClr val="tx2"/>
          </a:solidFill>
          <a:ln w="25400">
            <a:noFill/>
          </a:ln>
          <a:effectLst>
            <a:outerShdw dist="53882" dir="2699999" algn="ctr" rotWithShape="0">
              <a:schemeClr val="bg2"/>
            </a:outerShdw>
          </a:effectLst>
        </p:spPr>
        <p:txBody>
          <a:bodyPr/>
          <a:lstStyle/>
          <a:p>
            <a:endParaRPr lang="en-US" sz="2025"/>
          </a:p>
        </p:txBody>
      </p:sp>
      <p:sp>
        <p:nvSpPr>
          <p:cNvPr id="243721" name="Right Arrow 243720"/>
          <p:cNvSpPr/>
          <p:nvPr/>
        </p:nvSpPr>
        <p:spPr>
          <a:xfrm>
            <a:off x="4395788" y="3757613"/>
            <a:ext cx="828675" cy="228600"/>
          </a:xfrm>
          <a:prstGeom prst="rightArrow">
            <a:avLst>
              <a:gd name="adj1" fmla="val 50000"/>
              <a:gd name="adj2" fmla="val 181266"/>
            </a:avLst>
          </a:prstGeom>
          <a:solidFill>
            <a:schemeClr val="tx2"/>
          </a:solidFill>
          <a:ln w="25400">
            <a:noFill/>
          </a:ln>
          <a:effectLst>
            <a:outerShdw dist="53882" dir="2699999" algn="ctr" rotWithShape="0">
              <a:schemeClr val="bg2"/>
            </a:outerShdw>
          </a:effectLst>
        </p:spPr>
        <p:txBody>
          <a:bodyPr/>
          <a:lstStyle/>
          <a:p>
            <a:endParaRPr lang="en-US" sz="2025"/>
          </a:p>
        </p:txBody>
      </p:sp>
      <p:sp>
        <p:nvSpPr>
          <p:cNvPr id="243722" name="Rectangles 243721"/>
          <p:cNvSpPr/>
          <p:nvPr/>
        </p:nvSpPr>
        <p:spPr>
          <a:xfrm>
            <a:off x="2549128" y="1310878"/>
            <a:ext cx="5256015" cy="514350"/>
          </a:xfrm>
          <a:prstGeom prst="rect">
            <a:avLst/>
          </a:prstGeom>
          <a:noFill/>
          <a:ln w="25400">
            <a:noFill/>
          </a:ln>
        </p:spPr>
        <p:txBody>
          <a:bodyPr/>
          <a:lstStyle/>
          <a:p>
            <a:endParaRPr lang="en-US" sz="2025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s 244737"/>
          <p:cNvSpPr/>
          <p:nvPr/>
        </p:nvSpPr>
        <p:spPr>
          <a:xfrm>
            <a:off x="2883099" y="1880593"/>
            <a:ext cx="6241851" cy="878681"/>
          </a:xfrm>
          <a:prstGeom prst="rect">
            <a:avLst/>
          </a:prstGeom>
          <a:solidFill>
            <a:srgbClr val="0000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 sz="2025"/>
          </a:p>
        </p:txBody>
      </p:sp>
      <p:sp>
        <p:nvSpPr>
          <p:cNvPr id="244739" name="Rectangles 244738"/>
          <p:cNvSpPr/>
          <p:nvPr/>
        </p:nvSpPr>
        <p:spPr>
          <a:xfrm>
            <a:off x="972185" y="1812925"/>
            <a:ext cx="8341995" cy="878840"/>
          </a:xfrm>
          <a:prstGeom prst="rect">
            <a:avLst/>
          </a:pr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 sz="2025"/>
          </a:p>
        </p:txBody>
      </p:sp>
      <p:sp>
        <p:nvSpPr>
          <p:cNvPr id="244740" name="Title 244739"/>
          <p:cNvSpPr>
            <a:spLocks noGrp="1"/>
          </p:cNvSpPr>
          <p:nvPr>
            <p:ph type="title"/>
          </p:nvPr>
        </p:nvSpPr>
        <p:spPr>
          <a:xfrm>
            <a:off x="1346835" y="243205"/>
            <a:ext cx="7444740" cy="610870"/>
          </a:xfrm>
        </p:spPr>
        <p:txBody>
          <a:bodyPr vert="horz" wrap="square" lIns="71437" tIns="28575" rIns="71437" bIns="28575" anchor="t" anchorCtr="0">
            <a:spAutoFit/>
          </a:bodyPr>
          <a:lstStyle/>
          <a:p>
            <a:r>
              <a:rPr lang="en-US" altLang="x-none" dirty="0"/>
              <a:t>Empirical Estimation Models</a:t>
            </a:r>
          </a:p>
        </p:txBody>
      </p:sp>
      <p:sp>
        <p:nvSpPr>
          <p:cNvPr id="244741" name="Rectangles 244740"/>
          <p:cNvSpPr/>
          <p:nvPr/>
        </p:nvSpPr>
        <p:spPr>
          <a:xfrm>
            <a:off x="3081338" y="1328738"/>
            <a:ext cx="1576705" cy="31178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x-none" sz="2025" b="0" i="1" dirty="0">
                <a:solidFill>
                  <a:schemeClr val="bg1"/>
                </a:solidFill>
                <a:latin typeface="Helvetica" pitchFamily="-99" charset="0"/>
              </a:rPr>
              <a:t>General form:</a:t>
            </a:r>
            <a:endParaRPr lang="en-US" altLang="x-none" sz="2025" dirty="0">
              <a:solidFill>
                <a:schemeClr val="bg1"/>
              </a:solidFill>
              <a:latin typeface="Helvetica" pitchFamily="-99" charset="0"/>
            </a:endParaRPr>
          </a:p>
        </p:txBody>
      </p:sp>
      <p:sp>
        <p:nvSpPr>
          <p:cNvPr id="244742" name="Rectangles 244741"/>
          <p:cNvSpPr/>
          <p:nvPr/>
        </p:nvSpPr>
        <p:spPr>
          <a:xfrm>
            <a:off x="1680845" y="1985010"/>
            <a:ext cx="6008370" cy="65659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noAutofit/>
          </a:bodyPr>
          <a:lstStyle/>
          <a:p>
            <a:r>
              <a:rPr lang="en-US" altLang="x-none" sz="2025" b="0" dirty="0">
                <a:solidFill>
                  <a:schemeClr val="accent2"/>
                </a:solidFill>
                <a:latin typeface="Helvetica" pitchFamily="-99" charset="0"/>
              </a:rPr>
              <a:t>e</a:t>
            </a:r>
            <a:r>
              <a:rPr lang="en-US" altLang="x-none" sz="2800" b="1" dirty="0">
                <a:solidFill>
                  <a:schemeClr val="accent2"/>
                </a:solidFill>
                <a:latin typeface="Helvetica" pitchFamily="-99" charset="0"/>
              </a:rPr>
              <a:t>ffort = tuning coefficient * size</a:t>
            </a:r>
          </a:p>
        </p:txBody>
      </p:sp>
      <p:sp>
        <p:nvSpPr>
          <p:cNvPr id="244743" name="Rectangles 244742"/>
          <p:cNvSpPr/>
          <p:nvPr/>
        </p:nvSpPr>
        <p:spPr>
          <a:xfrm>
            <a:off x="6915785" y="1982470"/>
            <a:ext cx="1875790" cy="35814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noAutofit/>
          </a:bodyPr>
          <a:lstStyle/>
          <a:p>
            <a:r>
              <a:rPr lang="en-US" altLang="x-none" sz="2025" b="0" dirty="0">
                <a:solidFill>
                  <a:schemeClr val="bg1"/>
                </a:solidFill>
                <a:latin typeface="Helvetica" pitchFamily="-99" charset="0"/>
              </a:rPr>
              <a:t>e</a:t>
            </a:r>
            <a:r>
              <a:rPr lang="en-US" altLang="x-none" sz="2400" b="1" dirty="0">
                <a:solidFill>
                  <a:schemeClr val="accent2"/>
                </a:solidFill>
                <a:latin typeface="Helvetica" pitchFamily="-99" charset="0"/>
              </a:rPr>
              <a:t>xponent</a:t>
            </a:r>
          </a:p>
        </p:txBody>
      </p:sp>
      <p:sp>
        <p:nvSpPr>
          <p:cNvPr id="244744" name="Straight Connector 244743"/>
          <p:cNvSpPr/>
          <p:nvPr/>
        </p:nvSpPr>
        <p:spPr>
          <a:xfrm flipH="1">
            <a:off x="3095308" y="2899331"/>
            <a:ext cx="355402" cy="982266"/>
          </a:xfrm>
          <a:prstGeom prst="line">
            <a:avLst/>
          </a:prstGeom>
          <a:ln w="17463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4745" name="Straight Connector 244744"/>
          <p:cNvSpPr/>
          <p:nvPr/>
        </p:nvSpPr>
        <p:spPr>
          <a:xfrm>
            <a:off x="4906566" y="2822496"/>
            <a:ext cx="183952" cy="2207419"/>
          </a:xfrm>
          <a:prstGeom prst="line">
            <a:avLst/>
          </a:prstGeom>
          <a:ln w="17463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4746" name="Straight Connector 244745"/>
          <p:cNvSpPr/>
          <p:nvPr/>
        </p:nvSpPr>
        <p:spPr>
          <a:xfrm>
            <a:off x="6547485" y="2817495"/>
            <a:ext cx="73025" cy="1941830"/>
          </a:xfrm>
          <a:prstGeom prst="line">
            <a:avLst/>
          </a:prstGeom>
          <a:ln w="17463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4747" name="Straight Connector 244746"/>
          <p:cNvSpPr/>
          <p:nvPr/>
        </p:nvSpPr>
        <p:spPr>
          <a:xfrm>
            <a:off x="7900035" y="2833370"/>
            <a:ext cx="380365" cy="913765"/>
          </a:xfrm>
          <a:prstGeom prst="line">
            <a:avLst/>
          </a:prstGeom>
          <a:ln w="17463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4748" name="Rectangles 244747"/>
          <p:cNvSpPr/>
          <p:nvPr/>
        </p:nvSpPr>
        <p:spPr>
          <a:xfrm>
            <a:off x="2184400" y="3543300"/>
            <a:ext cx="1607185" cy="223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accent6"/>
            </a:solidFill>
          </a:ln>
        </p:spPr>
        <p:txBody>
          <a:bodyPr wrap="square" lIns="0" tIns="0" rIns="0" bIns="0">
            <a:noAutofit/>
          </a:bodyPr>
          <a:lstStyle/>
          <a:p>
            <a:r>
              <a:rPr lang="en-US" altLang="x-none" sz="1575" dirty="0">
                <a:solidFill>
                  <a:schemeClr val="bg1"/>
                </a:solidFill>
                <a:latin typeface="Helvetica" pitchFamily="-99" charset="0"/>
              </a:rPr>
              <a:t>u</a:t>
            </a:r>
            <a:r>
              <a:rPr lang="en-US" altLang="x-none" sz="1575" b="1" dirty="0">
                <a:solidFill>
                  <a:schemeClr val="bg1"/>
                </a:solidFill>
                <a:highlight>
                  <a:srgbClr val="0000FF"/>
                </a:highlight>
                <a:latin typeface="Helvetica" pitchFamily="-99" charset="0"/>
              </a:rPr>
              <a:t>sually derived</a:t>
            </a:r>
          </a:p>
        </p:txBody>
      </p:sp>
      <p:sp>
        <p:nvSpPr>
          <p:cNvPr id="244749" name="Rectangles 244748"/>
          <p:cNvSpPr/>
          <p:nvPr/>
        </p:nvSpPr>
        <p:spPr>
          <a:xfrm>
            <a:off x="1898650" y="3816350"/>
            <a:ext cx="2178050" cy="22415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noAutofit/>
          </a:bodyPr>
          <a:lstStyle/>
          <a:p>
            <a:r>
              <a:rPr lang="en-US" altLang="x-none" sz="1575" dirty="0">
                <a:solidFill>
                  <a:schemeClr val="accent2"/>
                </a:solidFill>
                <a:latin typeface="Helvetica" pitchFamily="-99" charset="0"/>
              </a:rPr>
              <a:t>as person-months</a:t>
            </a:r>
          </a:p>
        </p:txBody>
      </p:sp>
      <p:sp>
        <p:nvSpPr>
          <p:cNvPr id="244750" name="Rectangles 244749"/>
          <p:cNvSpPr/>
          <p:nvPr/>
        </p:nvSpPr>
        <p:spPr>
          <a:xfrm>
            <a:off x="1457325" y="4139565"/>
            <a:ext cx="2204085" cy="5575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accent6"/>
            </a:solidFill>
          </a:ln>
        </p:spPr>
        <p:txBody>
          <a:bodyPr wrap="square" lIns="0" tIns="0" rIns="0" bIns="0">
            <a:noAutofit/>
          </a:bodyPr>
          <a:lstStyle/>
          <a:p>
            <a:r>
              <a:rPr lang="en-US" altLang="x-none" sz="1575" b="1" dirty="0">
                <a:solidFill>
                  <a:schemeClr val="bg1"/>
                </a:solidFill>
                <a:highlight>
                  <a:srgbClr val="0000FF"/>
                </a:highlight>
                <a:latin typeface="Helvetica" pitchFamily="-99" charset="0"/>
              </a:rPr>
              <a:t>of effort required</a:t>
            </a:r>
          </a:p>
        </p:txBody>
      </p:sp>
      <p:sp>
        <p:nvSpPr>
          <p:cNvPr id="244751" name="Rectangles 244750"/>
          <p:cNvSpPr/>
          <p:nvPr/>
        </p:nvSpPr>
        <p:spPr>
          <a:xfrm>
            <a:off x="3450590" y="4764405"/>
            <a:ext cx="2112010" cy="3803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accent6"/>
            </a:solidFill>
          </a:ln>
        </p:spPr>
        <p:txBody>
          <a:bodyPr wrap="square" lIns="0" tIns="0" rIns="0" bIns="0">
            <a:noAutofit/>
          </a:bodyPr>
          <a:lstStyle/>
          <a:p>
            <a:pPr algn="l">
              <a:buClrTx/>
              <a:buSzTx/>
              <a:buFontTx/>
            </a:pPr>
            <a:r>
              <a:rPr lang="en-US" altLang="x-none" sz="1575" b="1" dirty="0">
                <a:solidFill>
                  <a:schemeClr val="bg1"/>
                </a:solidFill>
                <a:highlight>
                  <a:srgbClr val="0000FF"/>
                </a:highlight>
                <a:latin typeface="Helvetica" pitchFamily="-99" charset="0"/>
              </a:rPr>
              <a:t>either a constant or</a:t>
            </a:r>
          </a:p>
        </p:txBody>
      </p:sp>
      <p:sp>
        <p:nvSpPr>
          <p:cNvPr id="244752" name="Rectangles 244751"/>
          <p:cNvSpPr/>
          <p:nvPr/>
        </p:nvSpPr>
        <p:spPr>
          <a:xfrm>
            <a:off x="3751065" y="5116712"/>
            <a:ext cx="2221865" cy="24257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x-none" sz="1575" dirty="0">
                <a:solidFill>
                  <a:schemeClr val="bg1"/>
                </a:solidFill>
                <a:latin typeface="Helvetica" pitchFamily="-99" charset="0"/>
              </a:rPr>
              <a:t>a number derived based </a:t>
            </a:r>
            <a:endParaRPr lang="en-US" altLang="x-none" sz="2025" dirty="0">
              <a:solidFill>
                <a:schemeClr val="bg1"/>
              </a:solidFill>
              <a:latin typeface="Helvetica" pitchFamily="-99" charset="0"/>
            </a:endParaRPr>
          </a:p>
        </p:txBody>
      </p:sp>
      <p:sp>
        <p:nvSpPr>
          <p:cNvPr id="244753" name="Rectangles 244752"/>
          <p:cNvSpPr/>
          <p:nvPr/>
        </p:nvSpPr>
        <p:spPr>
          <a:xfrm>
            <a:off x="3337560" y="5329555"/>
            <a:ext cx="2508250" cy="3803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accent6"/>
            </a:solidFill>
          </a:ln>
        </p:spPr>
        <p:txBody>
          <a:bodyPr wrap="square" lIns="0" tIns="0" rIns="0" bIns="0">
            <a:noAutofit/>
          </a:bodyPr>
          <a:lstStyle/>
          <a:p>
            <a:r>
              <a:rPr lang="en-US" altLang="x-none" sz="1575" b="1" dirty="0">
                <a:solidFill>
                  <a:schemeClr val="bg1"/>
                </a:solidFill>
                <a:highlight>
                  <a:srgbClr val="0000FF"/>
                </a:highlight>
                <a:latin typeface="Helvetica" pitchFamily="-99" charset="0"/>
              </a:rPr>
              <a:t>on complexity of project</a:t>
            </a:r>
          </a:p>
        </p:txBody>
      </p:sp>
      <p:sp>
        <p:nvSpPr>
          <p:cNvPr id="244754" name="Rectangles 244753"/>
          <p:cNvSpPr/>
          <p:nvPr/>
        </p:nvSpPr>
        <p:spPr>
          <a:xfrm>
            <a:off x="6260306" y="4375547"/>
            <a:ext cx="1528445" cy="24257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accent6"/>
            </a:solidFill>
          </a:ln>
        </p:spPr>
        <p:txBody>
          <a:bodyPr wrap="none" lIns="0" tIns="0" rIns="0" bIns="0">
            <a:spAutoFit/>
          </a:bodyPr>
          <a:lstStyle/>
          <a:p>
            <a:r>
              <a:rPr lang="en-US" altLang="x-none" sz="1575" dirty="0">
                <a:solidFill>
                  <a:schemeClr val="bg1"/>
                </a:solidFill>
                <a:latin typeface="Helvetica" pitchFamily="-99" charset="0"/>
              </a:rPr>
              <a:t>u</a:t>
            </a:r>
            <a:r>
              <a:rPr lang="en-US" altLang="x-none" sz="1575" b="1" dirty="0">
                <a:solidFill>
                  <a:schemeClr val="bg1"/>
                </a:solidFill>
                <a:highlight>
                  <a:srgbClr val="0000FF"/>
                </a:highlight>
                <a:latin typeface="Helvetica" pitchFamily="-99" charset="0"/>
              </a:rPr>
              <a:t>sually LOC but</a:t>
            </a:r>
          </a:p>
        </p:txBody>
      </p:sp>
      <p:sp>
        <p:nvSpPr>
          <p:cNvPr id="244755" name="Rectangles 244754"/>
          <p:cNvSpPr/>
          <p:nvPr/>
        </p:nvSpPr>
        <p:spPr>
          <a:xfrm>
            <a:off x="6260306" y="4589859"/>
            <a:ext cx="1082675" cy="24257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x-none" sz="1575" dirty="0">
                <a:solidFill>
                  <a:schemeClr val="bg1"/>
                </a:solidFill>
                <a:latin typeface="Helvetica" pitchFamily="-99" charset="0"/>
              </a:rPr>
              <a:t>may also be</a:t>
            </a:r>
            <a:endParaRPr lang="en-US" altLang="x-none" sz="2025" dirty="0">
              <a:solidFill>
                <a:schemeClr val="bg1"/>
              </a:solidFill>
              <a:latin typeface="Helvetica" pitchFamily="-99" charset="0"/>
            </a:endParaRPr>
          </a:p>
        </p:txBody>
      </p:sp>
      <p:sp>
        <p:nvSpPr>
          <p:cNvPr id="244756" name="Rectangles 244755"/>
          <p:cNvSpPr/>
          <p:nvPr/>
        </p:nvSpPr>
        <p:spPr>
          <a:xfrm>
            <a:off x="6260306" y="4802387"/>
            <a:ext cx="1326515" cy="24257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accent6"/>
            </a:solidFill>
          </a:ln>
        </p:spPr>
        <p:txBody>
          <a:bodyPr wrap="none" lIns="0" tIns="0" rIns="0" bIns="0">
            <a:spAutoFit/>
          </a:bodyPr>
          <a:lstStyle/>
          <a:p>
            <a:r>
              <a:rPr lang="en-US" altLang="x-none" sz="1575" b="1" dirty="0">
                <a:solidFill>
                  <a:schemeClr val="bg1"/>
                </a:solidFill>
                <a:highlight>
                  <a:srgbClr val="0000FF"/>
                </a:highlight>
                <a:latin typeface="Helvetica" pitchFamily="-99" charset="0"/>
              </a:rPr>
              <a:t>function poin</a:t>
            </a:r>
            <a:r>
              <a:rPr lang="en-US" altLang="x-none" sz="1575" dirty="0">
                <a:solidFill>
                  <a:schemeClr val="bg1"/>
                </a:solidFill>
                <a:latin typeface="Helvetica" pitchFamily="-99" charset="0"/>
              </a:rPr>
              <a:t>t</a:t>
            </a:r>
            <a:endParaRPr lang="en-US" altLang="x-none" sz="2025" dirty="0">
              <a:solidFill>
                <a:schemeClr val="bg1"/>
              </a:solidFill>
              <a:latin typeface="Helvetica" pitchFamily="-99" charset="0"/>
            </a:endParaRPr>
          </a:p>
        </p:txBody>
      </p:sp>
      <p:sp>
        <p:nvSpPr>
          <p:cNvPr id="244757" name="Rectangles 244756"/>
          <p:cNvSpPr/>
          <p:nvPr/>
        </p:nvSpPr>
        <p:spPr>
          <a:xfrm>
            <a:off x="7799705" y="3785870"/>
            <a:ext cx="1137285" cy="24257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accent6"/>
            </a:solidFill>
          </a:ln>
        </p:spPr>
        <p:txBody>
          <a:bodyPr wrap="square" lIns="0" tIns="0" rIns="0" bIns="0">
            <a:spAutoFit/>
          </a:bodyPr>
          <a:lstStyle/>
          <a:p>
            <a:r>
              <a:rPr lang="en-US" altLang="x-none" sz="1575" b="1" dirty="0">
                <a:solidFill>
                  <a:schemeClr val="bg1"/>
                </a:solidFill>
                <a:highlight>
                  <a:srgbClr val="0000FF"/>
                </a:highlight>
                <a:latin typeface="Helvetica" pitchFamily="-99" charset="0"/>
              </a:rPr>
              <a:t>empirically</a:t>
            </a:r>
          </a:p>
        </p:txBody>
      </p:sp>
      <p:sp>
        <p:nvSpPr>
          <p:cNvPr id="244758" name="Rectangles 244757"/>
          <p:cNvSpPr/>
          <p:nvPr/>
        </p:nvSpPr>
        <p:spPr>
          <a:xfrm>
            <a:off x="8007350" y="4144010"/>
            <a:ext cx="929640" cy="3263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accent6"/>
            </a:solidFill>
          </a:ln>
        </p:spPr>
        <p:txBody>
          <a:bodyPr wrap="none" lIns="0" tIns="0" rIns="0" bIns="0">
            <a:noAutofit/>
          </a:bodyPr>
          <a:lstStyle/>
          <a:p>
            <a:r>
              <a:rPr lang="en-US" altLang="x-none" sz="1575" b="1" dirty="0">
                <a:solidFill>
                  <a:schemeClr val="bg1"/>
                </a:solidFill>
                <a:highlight>
                  <a:srgbClr val="0000FF"/>
                </a:highlight>
                <a:latin typeface="Helvetica" pitchFamily="-99" charset="0"/>
              </a:rPr>
              <a:t>derived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Title 245761"/>
          <p:cNvSpPr>
            <a:spLocks noGrp="1"/>
          </p:cNvSpPr>
          <p:nvPr>
            <p:ph type="title"/>
          </p:nvPr>
        </p:nvSpPr>
        <p:spPr>
          <a:xfrm>
            <a:off x="2309813" y="644724"/>
            <a:ext cx="7341990" cy="301823"/>
          </a:xfrm>
        </p:spPr>
        <p:txBody>
          <a:bodyPr vert="horz" wrap="square" lIns="101797" tIns="50006" rIns="101797" bIns="50006" anchor="ctr" anchorCtr="0">
            <a:normAutofit fontScale="90000"/>
          </a:bodyPr>
          <a:lstStyle/>
          <a:p>
            <a:r>
              <a:rPr lang="en-US" altLang="x-none" dirty="0"/>
              <a:t>Estimation Guidelines</a:t>
            </a:r>
          </a:p>
        </p:txBody>
      </p:sp>
      <p:sp>
        <p:nvSpPr>
          <p:cNvPr id="245763" name="Rectangles 245762"/>
          <p:cNvSpPr/>
          <p:nvPr/>
        </p:nvSpPr>
        <p:spPr>
          <a:xfrm>
            <a:off x="1468120" y="1830705"/>
            <a:ext cx="7728585" cy="630555"/>
          </a:xfrm>
          <a:prstGeom prst="rect">
            <a:avLst/>
          </a:prstGeom>
          <a:solidFill>
            <a:srgbClr val="FFC000"/>
          </a:solidFill>
          <a:ln w="12700">
            <a:noFill/>
          </a:ln>
        </p:spPr>
        <p:txBody>
          <a:bodyPr wrap="none" lIns="101797" tIns="50006" rIns="101797" bIns="50006">
            <a:noAutofit/>
          </a:bodyPr>
          <a:lstStyle/>
          <a:p>
            <a:pPr marL="457200" indent="-457200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US" altLang="zh-TW" sz="270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Helvetica" pitchFamily="-99" charset="0"/>
                <a:ea typeface="PMingLiU" charset="-120"/>
              </a:rPr>
              <a:t>estimate using at least two techniques</a:t>
            </a:r>
          </a:p>
          <a:p>
            <a:pPr>
              <a:lnSpc>
                <a:spcPct val="100000"/>
              </a:lnSpc>
            </a:pPr>
            <a:endParaRPr lang="zh-TW" altLang="en-US" sz="270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Helvetica" pitchFamily="-99" charset="0"/>
              <a:ea typeface="PMingLiU" charset="-120"/>
            </a:endParaRPr>
          </a:p>
        </p:txBody>
      </p:sp>
      <p:sp>
        <p:nvSpPr>
          <p:cNvPr id="245764" name="Rectangles 245763"/>
          <p:cNvSpPr/>
          <p:nvPr/>
        </p:nvSpPr>
        <p:spPr>
          <a:xfrm>
            <a:off x="2665215" y="2148483"/>
            <a:ext cx="330200" cy="929640"/>
          </a:xfrm>
          <a:prstGeom prst="rect">
            <a:avLst/>
          </a:prstGeom>
          <a:noFill/>
          <a:ln w="12700">
            <a:noFill/>
          </a:ln>
        </p:spPr>
        <p:txBody>
          <a:bodyPr wrap="non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endParaRPr lang="zh-TW" altLang="en-US" sz="2700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Helvetica" pitchFamily="-99" charset="0"/>
              <a:ea typeface="PMingLiU" charset="-120"/>
            </a:endParaRPr>
          </a:p>
          <a:p>
            <a:pPr>
              <a:lnSpc>
                <a:spcPct val="100000"/>
              </a:lnSpc>
            </a:pPr>
            <a:endParaRPr lang="zh-TW" altLang="en-US" sz="2700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Helvetica" pitchFamily="-99" charset="0"/>
              <a:ea typeface="PMingLiU" charset="-120"/>
            </a:endParaRPr>
          </a:p>
        </p:txBody>
      </p:sp>
      <p:sp>
        <p:nvSpPr>
          <p:cNvPr id="245765" name="Rectangles 245764"/>
          <p:cNvSpPr/>
          <p:nvPr/>
        </p:nvSpPr>
        <p:spPr>
          <a:xfrm>
            <a:off x="1468120" y="2464435"/>
            <a:ext cx="7727950" cy="574675"/>
          </a:xfrm>
          <a:prstGeom prst="rect">
            <a:avLst/>
          </a:prstGeom>
          <a:noFill/>
          <a:ln w="12700">
            <a:noFill/>
          </a:ln>
        </p:spPr>
        <p:txBody>
          <a:bodyPr wrap="none" lIns="101797" tIns="50006" rIns="101797" bIns="50006">
            <a:noAutofit/>
          </a:bodyPr>
          <a:lstStyle/>
          <a:p>
            <a:pPr marL="457200" indent="-457200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US" altLang="zh-TW" sz="270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highlight>
                  <a:srgbClr val="00FF00"/>
                </a:highlight>
                <a:latin typeface="Helvetica" pitchFamily="-99" charset="0"/>
                <a:ea typeface="PMingLiU" charset="-120"/>
              </a:rPr>
              <a:t>get estimates from independent sources</a:t>
            </a:r>
          </a:p>
          <a:p>
            <a:pPr>
              <a:lnSpc>
                <a:spcPct val="100000"/>
              </a:lnSpc>
            </a:pPr>
            <a:endParaRPr lang="en-US" altLang="zh-TW" sz="270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highlight>
                <a:srgbClr val="00FF00"/>
              </a:highlight>
              <a:latin typeface="Helvetica" pitchFamily="-99" charset="0"/>
              <a:ea typeface="PMingLiU" charset="-120"/>
            </a:endParaRPr>
          </a:p>
        </p:txBody>
      </p:sp>
      <p:sp>
        <p:nvSpPr>
          <p:cNvPr id="245766" name="Rectangles 245765"/>
          <p:cNvSpPr/>
          <p:nvPr/>
        </p:nvSpPr>
        <p:spPr>
          <a:xfrm>
            <a:off x="2665215" y="2782491"/>
            <a:ext cx="330200" cy="929640"/>
          </a:xfrm>
          <a:prstGeom prst="rect">
            <a:avLst/>
          </a:prstGeom>
          <a:noFill/>
          <a:ln w="12700">
            <a:noFill/>
          </a:ln>
        </p:spPr>
        <p:txBody>
          <a:bodyPr wrap="non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endParaRPr lang="zh-TW" altLang="en-US" sz="2700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Helvetica" pitchFamily="-99" charset="0"/>
              <a:ea typeface="PMingLiU" charset="-120"/>
            </a:endParaRPr>
          </a:p>
          <a:p>
            <a:pPr>
              <a:lnSpc>
                <a:spcPct val="100000"/>
              </a:lnSpc>
            </a:pPr>
            <a:endParaRPr lang="zh-TW" altLang="en-US" sz="2700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Helvetica" pitchFamily="-99" charset="0"/>
              <a:ea typeface="PMingLiU" charset="-120"/>
            </a:endParaRPr>
          </a:p>
        </p:txBody>
      </p:sp>
      <p:sp>
        <p:nvSpPr>
          <p:cNvPr id="245767" name="Rectangles 245766"/>
          <p:cNvSpPr/>
          <p:nvPr/>
        </p:nvSpPr>
        <p:spPr>
          <a:xfrm>
            <a:off x="1468120" y="3086100"/>
            <a:ext cx="7850505" cy="576580"/>
          </a:xfrm>
          <a:prstGeom prst="rect">
            <a:avLst/>
          </a:prstGeom>
          <a:noFill/>
          <a:ln w="12700">
            <a:noFill/>
          </a:ln>
        </p:spPr>
        <p:txBody>
          <a:bodyPr wrap="none" lIns="101797" tIns="50006" rIns="101797" bIns="50006">
            <a:noAutofit/>
          </a:bodyPr>
          <a:lstStyle/>
          <a:p>
            <a:pPr marL="457200" indent="-457200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US" altLang="zh-TW" sz="270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highlight>
                  <a:srgbClr val="FFFF00"/>
                </a:highlight>
                <a:latin typeface="Helvetica" pitchFamily="-99" charset="0"/>
                <a:ea typeface="PMingLiU" charset="-120"/>
              </a:rPr>
              <a:t>avoid over-optimism, assume difficulties</a:t>
            </a:r>
          </a:p>
          <a:p>
            <a:pPr>
              <a:lnSpc>
                <a:spcPct val="100000"/>
              </a:lnSpc>
            </a:pPr>
            <a:endParaRPr lang="en-US" altLang="zh-TW" sz="270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highlight>
                <a:srgbClr val="FFFF00"/>
              </a:highlight>
              <a:latin typeface="Helvetica" pitchFamily="-99" charset="0"/>
              <a:ea typeface="PMingLiU" charset="-120"/>
            </a:endParaRPr>
          </a:p>
        </p:txBody>
      </p:sp>
      <p:sp>
        <p:nvSpPr>
          <p:cNvPr id="245768" name="Rectangles 245767"/>
          <p:cNvSpPr/>
          <p:nvPr/>
        </p:nvSpPr>
        <p:spPr>
          <a:xfrm>
            <a:off x="2665215" y="3734396"/>
            <a:ext cx="330200" cy="929640"/>
          </a:xfrm>
          <a:prstGeom prst="rect">
            <a:avLst/>
          </a:prstGeom>
          <a:noFill/>
          <a:ln w="12700">
            <a:noFill/>
          </a:ln>
        </p:spPr>
        <p:txBody>
          <a:bodyPr wrap="non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endParaRPr lang="zh-TW" altLang="en-US" sz="2700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Helvetica" pitchFamily="-99" charset="0"/>
              <a:ea typeface="PMingLiU" charset="-120"/>
            </a:endParaRPr>
          </a:p>
          <a:p>
            <a:pPr>
              <a:lnSpc>
                <a:spcPct val="100000"/>
              </a:lnSpc>
            </a:pPr>
            <a:endParaRPr lang="zh-TW" altLang="en-US" sz="2700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Helvetica" pitchFamily="-99" charset="0"/>
              <a:ea typeface="PMingLiU" charset="-120"/>
            </a:endParaRPr>
          </a:p>
        </p:txBody>
      </p:sp>
      <p:sp>
        <p:nvSpPr>
          <p:cNvPr id="245769" name="Rectangles 245768"/>
          <p:cNvSpPr/>
          <p:nvPr/>
        </p:nvSpPr>
        <p:spPr>
          <a:xfrm>
            <a:off x="1558290" y="3675380"/>
            <a:ext cx="7637780" cy="683895"/>
          </a:xfrm>
          <a:prstGeom prst="rect">
            <a:avLst/>
          </a:prstGeom>
          <a:noFill/>
          <a:ln w="12700">
            <a:noFill/>
          </a:ln>
        </p:spPr>
        <p:txBody>
          <a:bodyPr wrap="none" lIns="101797" tIns="50006" rIns="101797" bIns="50006">
            <a:noAutofit/>
          </a:bodyPr>
          <a:lstStyle/>
          <a:p>
            <a:pPr marL="457200" indent="-457200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US" altLang="zh-TW" sz="270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highlight>
                  <a:srgbClr val="00FF00"/>
                </a:highlight>
                <a:latin typeface="Helvetica" pitchFamily="-99" charset="0"/>
                <a:ea typeface="PMingLiU" charset="-120"/>
              </a:rPr>
              <a:t>you've arrived at an estimate, sleep on it</a:t>
            </a:r>
          </a:p>
          <a:p>
            <a:pPr>
              <a:lnSpc>
                <a:spcPct val="100000"/>
              </a:lnSpc>
            </a:pPr>
            <a:endParaRPr lang="en-US" altLang="zh-TW" sz="270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highlight>
                <a:srgbClr val="00FF00"/>
              </a:highlight>
              <a:latin typeface="Helvetica" pitchFamily="-99" charset="0"/>
              <a:ea typeface="PMingLiU" charset="-120"/>
            </a:endParaRPr>
          </a:p>
        </p:txBody>
      </p:sp>
      <p:sp>
        <p:nvSpPr>
          <p:cNvPr id="245770" name="Rectangles 245769"/>
          <p:cNvSpPr/>
          <p:nvPr/>
        </p:nvSpPr>
        <p:spPr>
          <a:xfrm>
            <a:off x="2665215" y="4370190"/>
            <a:ext cx="330200" cy="929640"/>
          </a:xfrm>
          <a:prstGeom prst="rect">
            <a:avLst/>
          </a:prstGeom>
          <a:noFill/>
          <a:ln w="12700">
            <a:noFill/>
          </a:ln>
        </p:spPr>
        <p:txBody>
          <a:bodyPr wrap="non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endParaRPr lang="zh-TW" altLang="en-US" sz="2700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Helvetica" pitchFamily="-99" charset="0"/>
              <a:ea typeface="PMingLiU" charset="-120"/>
            </a:endParaRPr>
          </a:p>
          <a:p>
            <a:pPr>
              <a:lnSpc>
                <a:spcPct val="100000"/>
              </a:lnSpc>
            </a:pPr>
            <a:endParaRPr lang="zh-TW" altLang="en-US" sz="2700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Helvetica" pitchFamily="-99" charset="0"/>
              <a:ea typeface="PMingLiU" charset="-120"/>
            </a:endParaRPr>
          </a:p>
        </p:txBody>
      </p:sp>
      <p:sp>
        <p:nvSpPr>
          <p:cNvPr id="245771" name="Rectangles 245770"/>
          <p:cNvSpPr/>
          <p:nvPr/>
        </p:nvSpPr>
        <p:spPr>
          <a:xfrm>
            <a:off x="1558290" y="4268470"/>
            <a:ext cx="7433310" cy="514350"/>
          </a:xfrm>
          <a:prstGeom prst="rect">
            <a:avLst/>
          </a:prstGeom>
          <a:noFill/>
          <a:ln w="12700">
            <a:noFill/>
          </a:ln>
        </p:spPr>
        <p:txBody>
          <a:bodyPr wrap="square" lIns="101797" tIns="50006" rIns="101797" bIns="50006">
            <a:spAutoFit/>
          </a:bodyPr>
          <a:lstStyle/>
          <a:p>
            <a:pPr marL="457200" indent="-457200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US" altLang="zh-TW" sz="270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highlight>
                  <a:srgbClr val="FFFF00"/>
                </a:highlight>
                <a:latin typeface="Helvetica" pitchFamily="-99" charset="0"/>
                <a:ea typeface="PMingLiU" charset="-120"/>
              </a:rPr>
              <a:t>adjust for the people who'll be doing the</a:t>
            </a:r>
            <a:r>
              <a:rPr lang="en-US" altLang="zh-TW" sz="270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Helvetica" pitchFamily="-99" charset="0"/>
                <a:ea typeface="PMingLiU" charset="-120"/>
              </a:rPr>
              <a:t> </a:t>
            </a:r>
          </a:p>
        </p:txBody>
      </p:sp>
      <p:sp>
        <p:nvSpPr>
          <p:cNvPr id="245772" name="Rectangles 245771"/>
          <p:cNvSpPr/>
          <p:nvPr/>
        </p:nvSpPr>
        <p:spPr>
          <a:xfrm>
            <a:off x="1558925" y="4995545"/>
            <a:ext cx="6486525" cy="514350"/>
          </a:xfrm>
          <a:prstGeom prst="rect">
            <a:avLst/>
          </a:prstGeom>
          <a:solidFill>
            <a:srgbClr val="00B050"/>
          </a:solidFill>
          <a:ln w="12700">
            <a:noFill/>
          </a:ln>
        </p:spPr>
        <p:txBody>
          <a:bodyPr wrap="square" lIns="101797" tIns="50006" rIns="101797" bIns="50006">
            <a:spAutoFit/>
          </a:bodyPr>
          <a:lstStyle/>
          <a:p>
            <a:pPr marL="457200" indent="-457200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US" altLang="zh-TW" sz="270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Helvetica" pitchFamily="-99" charset="0"/>
                <a:ea typeface="PMingLiU" charset="-120"/>
              </a:rPr>
              <a:t>job—they have the highest impact</a:t>
            </a:r>
          </a:p>
        </p:txBody>
      </p:sp>
      <p:sp>
        <p:nvSpPr>
          <p:cNvPr id="245773" name="Rectangles 245772"/>
          <p:cNvSpPr/>
          <p:nvPr/>
        </p:nvSpPr>
        <p:spPr>
          <a:xfrm>
            <a:off x="1765102" y="4723805"/>
            <a:ext cx="330200" cy="929640"/>
          </a:xfrm>
          <a:prstGeom prst="rect">
            <a:avLst/>
          </a:prstGeom>
          <a:noFill/>
          <a:ln w="12700">
            <a:noFill/>
          </a:ln>
        </p:spPr>
        <p:txBody>
          <a:bodyPr wrap="none" lIns="101797" tIns="50006" rIns="101797" bIns="50006">
            <a:spAutoFit/>
          </a:bodyPr>
          <a:lstStyle/>
          <a:p>
            <a:pPr marL="457200" indent="-457200">
              <a:lnSpc>
                <a:spcPct val="100000"/>
              </a:lnSpc>
              <a:buFont typeface="Wingdings" panose="05000000000000000000" charset="0"/>
              <a:buChar char="v"/>
            </a:pPr>
            <a:endParaRPr lang="zh-TW" altLang="en-US" sz="2700" b="0" dirty="0">
              <a:solidFill>
                <a:srgbClr val="000000"/>
              </a:solidFill>
              <a:latin typeface="Helvetica" pitchFamily="-99" charset="0"/>
              <a:ea typeface="PMingLiU" charset="-120"/>
            </a:endParaRPr>
          </a:p>
          <a:p>
            <a:pPr>
              <a:lnSpc>
                <a:spcPct val="100000"/>
              </a:lnSpc>
            </a:pPr>
            <a:endParaRPr lang="zh-TW" altLang="en-US" sz="2700" b="0" dirty="0">
              <a:solidFill>
                <a:srgbClr val="000000"/>
              </a:solidFill>
              <a:latin typeface="Helvetica" pitchFamily="-99" charset="0"/>
              <a:ea typeface="PMingLiU" charset="-12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s 246785"/>
          <p:cNvSpPr/>
          <p:nvPr/>
        </p:nvSpPr>
        <p:spPr>
          <a:xfrm>
            <a:off x="683260" y="1118235"/>
            <a:ext cx="8760460" cy="5450205"/>
          </a:xfrm>
          <a:prstGeom prst="rect">
            <a:avLst/>
          </a:prstGeom>
          <a:solidFill>
            <a:srgbClr val="96E3FE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 sz="2025"/>
          </a:p>
        </p:txBody>
      </p:sp>
      <p:sp>
        <p:nvSpPr>
          <p:cNvPr id="246787" name="Title 246786"/>
          <p:cNvSpPr>
            <a:spLocks noGrp="1"/>
          </p:cNvSpPr>
          <p:nvPr>
            <p:ph type="title"/>
          </p:nvPr>
        </p:nvSpPr>
        <p:spPr>
          <a:xfrm>
            <a:off x="3481388" y="400050"/>
            <a:ext cx="4824095" cy="610870"/>
          </a:xfrm>
        </p:spPr>
        <p:txBody>
          <a:bodyPr vert="horz" wrap="none" lIns="71437" tIns="28575" rIns="71437" bIns="28575" anchor="t" anchorCtr="0">
            <a:spAutoFit/>
          </a:bodyPr>
          <a:lstStyle/>
          <a:p>
            <a:r>
              <a:rPr lang="en-US" altLang="x-none" dirty="0"/>
              <a:t>The Make-Buy Decision</a:t>
            </a:r>
          </a:p>
        </p:txBody>
      </p:sp>
      <p:pic>
        <p:nvPicPr>
          <p:cNvPr id="246788" name="Picture 246787"/>
          <p:cNvPicPr/>
          <p:nvPr/>
        </p:nvPicPr>
        <p:blipFill>
          <a:blip r:embed="rId2"/>
          <a:stretch>
            <a:fillRect/>
          </a:stretch>
        </p:blipFill>
        <p:spPr>
          <a:xfrm>
            <a:off x="1935480" y="1200150"/>
            <a:ext cx="6861175" cy="4786630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Title 247809"/>
          <p:cNvSpPr>
            <a:spLocks noGrp="1"/>
          </p:cNvSpPr>
          <p:nvPr>
            <p:ph type="title"/>
          </p:nvPr>
        </p:nvSpPr>
        <p:spPr>
          <a:xfrm>
            <a:off x="3245644" y="400050"/>
            <a:ext cx="5384800" cy="610870"/>
          </a:xfrm>
        </p:spPr>
        <p:txBody>
          <a:bodyPr wrap="none" lIns="71437" tIns="28575" rIns="71437" bIns="28575">
            <a:spAutoFit/>
          </a:bodyPr>
          <a:lstStyle/>
          <a:p>
            <a:r>
              <a:rPr lang="en-US" altLang="x-none" dirty="0"/>
              <a:t>Computing Expected Cost</a:t>
            </a:r>
          </a:p>
        </p:txBody>
      </p:sp>
      <p:sp>
        <p:nvSpPr>
          <p:cNvPr id="247811" name="Rectangles 247810"/>
          <p:cNvSpPr/>
          <p:nvPr/>
        </p:nvSpPr>
        <p:spPr>
          <a:xfrm>
            <a:off x="2366963" y="1332309"/>
            <a:ext cx="7715250" cy="1205508"/>
          </a:xfrm>
          <a:prstGeom prst="rect">
            <a:avLst/>
          </a:prstGeom>
          <a:solidFill>
            <a:schemeClr val="bg2"/>
          </a:solidFill>
          <a:ln w="25400">
            <a:noFill/>
          </a:ln>
          <a:effectLst>
            <a:outerShdw dist="107763" dir="2699999" algn="ctr" rotWithShape="0">
              <a:schemeClr val="tx1"/>
            </a:outerShdw>
          </a:effectLst>
        </p:spPr>
        <p:txBody>
          <a:bodyPr/>
          <a:lstStyle/>
          <a:p>
            <a:endParaRPr lang="en-US" sz="2025"/>
          </a:p>
        </p:txBody>
      </p:sp>
      <p:sp>
        <p:nvSpPr>
          <p:cNvPr id="247812" name="Rectangles 247811"/>
          <p:cNvSpPr/>
          <p:nvPr/>
        </p:nvSpPr>
        <p:spPr>
          <a:xfrm>
            <a:off x="2665215" y="1802012"/>
            <a:ext cx="7499350" cy="514350"/>
          </a:xfrm>
          <a:prstGeom prst="rect">
            <a:avLst/>
          </a:prstGeom>
          <a:noFill/>
          <a:ln w="25400">
            <a:noFill/>
          </a:ln>
        </p:spPr>
        <p:txBody>
          <a:bodyPr wrap="non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x-none" sz="2700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Helvetica" pitchFamily="-99" charset="0"/>
              </a:rPr>
              <a:t> </a:t>
            </a:r>
            <a:r>
              <a:rPr lang="en-US" altLang="x-none" sz="2700" b="1" dirty="0">
                <a:solidFill>
                  <a:srgbClr val="0070C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Helvetica" pitchFamily="-99" charset="0"/>
              </a:rPr>
              <a:t>    </a:t>
            </a:r>
            <a:r>
              <a:rPr lang="en-US" altLang="x-none" sz="2700" b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Helvetica" pitchFamily="-99" charset="0"/>
              </a:rPr>
              <a:t>(path probability)  x (estimated path cost) </a:t>
            </a:r>
          </a:p>
        </p:txBody>
      </p:sp>
      <p:sp>
        <p:nvSpPr>
          <p:cNvPr id="247813" name="Rectangles 247812"/>
          <p:cNvSpPr/>
          <p:nvPr/>
        </p:nvSpPr>
        <p:spPr>
          <a:xfrm>
            <a:off x="5880100" y="2194560"/>
            <a:ext cx="279400" cy="311150"/>
          </a:xfrm>
          <a:prstGeom prst="rect">
            <a:avLst/>
          </a:prstGeom>
          <a:solidFill>
            <a:srgbClr val="C00000"/>
          </a:solidFill>
          <a:ln w="25400">
            <a:noFill/>
          </a:ln>
        </p:spPr>
        <p:txBody>
          <a:bodyPr wrap="none" lIns="101797" tIns="50006" rIns="101797" bIns="50006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x-none" sz="2700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Helvetica" pitchFamily="-99" charset="0"/>
              </a:rPr>
              <a:t>i</a:t>
            </a:r>
          </a:p>
        </p:txBody>
      </p:sp>
      <p:sp>
        <p:nvSpPr>
          <p:cNvPr id="247814" name="Rectangles 247813"/>
          <p:cNvSpPr/>
          <p:nvPr/>
        </p:nvSpPr>
        <p:spPr>
          <a:xfrm>
            <a:off x="9820275" y="2264410"/>
            <a:ext cx="254000" cy="255270"/>
          </a:xfrm>
          <a:prstGeom prst="rect">
            <a:avLst/>
          </a:prstGeom>
          <a:solidFill>
            <a:srgbClr val="0070C0"/>
          </a:solidFill>
          <a:ln w="25400">
            <a:noFill/>
          </a:ln>
        </p:spPr>
        <p:txBody>
          <a:bodyPr wrap="none" lIns="101797" tIns="50006" rIns="101797" bIns="50006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x-none" sz="2700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Helvetica" pitchFamily="-99" charset="0"/>
              </a:rPr>
              <a:t>i</a:t>
            </a:r>
          </a:p>
        </p:txBody>
      </p:sp>
      <p:sp>
        <p:nvSpPr>
          <p:cNvPr id="247815" name="Freeform 247814"/>
          <p:cNvSpPr/>
          <p:nvPr/>
        </p:nvSpPr>
        <p:spPr>
          <a:xfrm>
            <a:off x="2665730" y="1880870"/>
            <a:ext cx="304165" cy="384175"/>
          </a:xfrm>
          <a:custGeom>
            <a:avLst/>
            <a:gdLst/>
            <a:ahLst/>
            <a:cxnLst/>
            <a:rect l="0" t="0" r="0" b="0"/>
            <a:pathLst>
              <a:path w="113" h="215">
                <a:moveTo>
                  <a:pt x="112" y="0"/>
                </a:moveTo>
                <a:lnTo>
                  <a:pt x="0" y="0"/>
                </a:lnTo>
                <a:lnTo>
                  <a:pt x="65" y="113"/>
                </a:lnTo>
                <a:lnTo>
                  <a:pt x="9" y="214"/>
                </a:lnTo>
                <a:lnTo>
                  <a:pt x="103" y="214"/>
                </a:lnTo>
              </a:path>
            </a:pathLst>
          </a:custGeom>
          <a:solidFill>
            <a:srgbClr val="C00000"/>
          </a:solidFill>
          <a:ln w="50800" cap="rnd" cmpd="sng">
            <a:solidFill>
              <a:schemeClr val="bg1">
                <a:alpha val="100000"/>
              </a:schemeClr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en-US" sz="2025"/>
          </a:p>
        </p:txBody>
      </p:sp>
      <p:sp>
        <p:nvSpPr>
          <p:cNvPr id="247816" name="Rectangles 247815"/>
          <p:cNvSpPr/>
          <p:nvPr/>
        </p:nvSpPr>
        <p:spPr>
          <a:xfrm>
            <a:off x="2365375" y="2602230"/>
            <a:ext cx="7129145" cy="514350"/>
          </a:xfrm>
          <a:prstGeom prst="rect">
            <a:avLst/>
          </a:prstGeom>
          <a:noFill/>
          <a:ln w="25400">
            <a:noFill/>
          </a:ln>
        </p:spPr>
        <p:txBody>
          <a:bodyPr wrap="squar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x-none" sz="2700" i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Helvetica" pitchFamily="-99" charset="0"/>
              </a:rPr>
              <a:t>For example, the expected cost to build is:</a:t>
            </a:r>
          </a:p>
        </p:txBody>
      </p:sp>
      <p:sp>
        <p:nvSpPr>
          <p:cNvPr id="247817" name="Rectangles 247816"/>
          <p:cNvSpPr/>
          <p:nvPr/>
        </p:nvSpPr>
        <p:spPr>
          <a:xfrm>
            <a:off x="7180065" y="2716412"/>
            <a:ext cx="330200" cy="929640"/>
          </a:xfrm>
          <a:prstGeom prst="rect">
            <a:avLst/>
          </a:prstGeom>
          <a:noFill/>
          <a:ln w="25400">
            <a:noFill/>
          </a:ln>
        </p:spPr>
        <p:txBody>
          <a:bodyPr wrap="non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endParaRPr lang="en-US" altLang="x-none" sz="2700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Helvetica" pitchFamily="-99" charset="0"/>
            </a:endParaRPr>
          </a:p>
          <a:p>
            <a:pPr>
              <a:lnSpc>
                <a:spcPct val="100000"/>
              </a:lnSpc>
            </a:pPr>
            <a:endParaRPr lang="en-US" altLang="x-none" sz="2700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Helvetica" pitchFamily="-99" charset="0"/>
            </a:endParaRPr>
          </a:p>
        </p:txBody>
      </p:sp>
      <p:sp>
        <p:nvSpPr>
          <p:cNvPr id="247818" name="Rectangles 247817"/>
          <p:cNvSpPr/>
          <p:nvPr/>
        </p:nvSpPr>
        <p:spPr>
          <a:xfrm>
            <a:off x="2365177" y="3198615"/>
            <a:ext cx="330200" cy="929640"/>
          </a:xfrm>
          <a:prstGeom prst="rect">
            <a:avLst/>
          </a:prstGeom>
          <a:noFill/>
          <a:ln w="25400">
            <a:noFill/>
          </a:ln>
        </p:spPr>
        <p:txBody>
          <a:bodyPr wrap="non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endParaRPr lang="en-US" altLang="x-none" sz="2700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Helvetica" pitchFamily="-99" charset="0"/>
            </a:endParaRPr>
          </a:p>
          <a:p>
            <a:pPr>
              <a:lnSpc>
                <a:spcPct val="100000"/>
              </a:lnSpc>
            </a:pPr>
            <a:endParaRPr lang="en-US" altLang="x-none" sz="2700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Helvetica" pitchFamily="-99" charset="0"/>
            </a:endParaRPr>
          </a:p>
        </p:txBody>
      </p:sp>
      <p:sp>
        <p:nvSpPr>
          <p:cNvPr id="247819" name="Rectangles 247818"/>
          <p:cNvSpPr/>
          <p:nvPr/>
        </p:nvSpPr>
        <p:spPr>
          <a:xfrm>
            <a:off x="1278255" y="3134360"/>
            <a:ext cx="8929370" cy="929640"/>
          </a:xfrm>
          <a:prstGeom prst="rect">
            <a:avLst/>
          </a:prstGeom>
          <a:noFill/>
          <a:ln w="25400">
            <a:noFill/>
          </a:ln>
        </p:spPr>
        <p:txBody>
          <a:bodyPr wrap="squar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x-none" sz="2700" dirty="0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Helvetica" pitchFamily="-99" charset="0"/>
              </a:rPr>
              <a:t>expected cost        = 0.30($380K)+0.70($450K) </a:t>
            </a:r>
          </a:p>
          <a:p>
            <a:pPr>
              <a:lnSpc>
                <a:spcPct val="100000"/>
              </a:lnSpc>
            </a:pPr>
            <a:endParaRPr lang="en-US" altLang="x-none" sz="2700" dirty="0">
              <a:solidFill>
                <a:srgbClr val="FF0000"/>
              </a:solidFill>
              <a:effectLst>
                <a:outerShdw blurRad="38100" dist="38100" dir="2700000">
                  <a:srgbClr val="000000"/>
                </a:outerShdw>
              </a:effectLst>
              <a:latin typeface="Helvetica" pitchFamily="-99" charset="0"/>
            </a:endParaRPr>
          </a:p>
        </p:txBody>
      </p:sp>
      <p:sp>
        <p:nvSpPr>
          <p:cNvPr id="247820" name="Rectangles 247819"/>
          <p:cNvSpPr/>
          <p:nvPr/>
        </p:nvSpPr>
        <p:spPr>
          <a:xfrm>
            <a:off x="2365177" y="3655815"/>
            <a:ext cx="330200" cy="929640"/>
          </a:xfrm>
          <a:prstGeom prst="rect">
            <a:avLst/>
          </a:prstGeom>
          <a:noFill/>
          <a:ln w="25400">
            <a:noFill/>
          </a:ln>
        </p:spPr>
        <p:txBody>
          <a:bodyPr wrap="non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endParaRPr lang="en-US" altLang="x-none" sz="2700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Helvetica" pitchFamily="-99" charset="0"/>
            </a:endParaRPr>
          </a:p>
          <a:p>
            <a:pPr>
              <a:lnSpc>
                <a:spcPct val="100000"/>
              </a:lnSpc>
            </a:pPr>
            <a:endParaRPr lang="en-US" altLang="x-none" sz="2700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Helvetica" pitchFamily="-99" charset="0"/>
            </a:endParaRPr>
          </a:p>
        </p:txBody>
      </p:sp>
      <p:sp>
        <p:nvSpPr>
          <p:cNvPr id="247821" name="Rectangles 247820"/>
          <p:cNvSpPr/>
          <p:nvPr/>
        </p:nvSpPr>
        <p:spPr>
          <a:xfrm>
            <a:off x="856417" y="4788655"/>
            <a:ext cx="1510665" cy="514350"/>
          </a:xfrm>
          <a:prstGeom prst="rect">
            <a:avLst/>
          </a:prstGeom>
          <a:noFill/>
          <a:ln w="25400">
            <a:noFill/>
          </a:ln>
        </p:spPr>
        <p:txBody>
          <a:bodyPr wrap="non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x-none" sz="2700" i="1" dirty="0">
                <a:solidFill>
                  <a:schemeClr val="accent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Helvetica" pitchFamily="-99" charset="0"/>
              </a:rPr>
              <a:t>similarly,</a:t>
            </a:r>
          </a:p>
        </p:txBody>
      </p:sp>
      <p:sp>
        <p:nvSpPr>
          <p:cNvPr id="247822" name="Rectangles 247821"/>
          <p:cNvSpPr/>
          <p:nvPr/>
        </p:nvSpPr>
        <p:spPr>
          <a:xfrm>
            <a:off x="3351015" y="3884415"/>
            <a:ext cx="330200" cy="929640"/>
          </a:xfrm>
          <a:prstGeom prst="rect">
            <a:avLst/>
          </a:prstGeom>
          <a:noFill/>
          <a:ln w="25400">
            <a:noFill/>
          </a:ln>
        </p:spPr>
        <p:txBody>
          <a:bodyPr wrap="non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endParaRPr lang="en-US" altLang="x-none" sz="2700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Helvetica" pitchFamily="-99" charset="0"/>
            </a:endParaRPr>
          </a:p>
          <a:p>
            <a:pPr>
              <a:lnSpc>
                <a:spcPct val="100000"/>
              </a:lnSpc>
            </a:pPr>
            <a:endParaRPr lang="en-US" altLang="x-none" sz="2700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Helvetica" pitchFamily="-99" charset="0"/>
            </a:endParaRPr>
          </a:p>
        </p:txBody>
      </p:sp>
      <p:sp>
        <p:nvSpPr>
          <p:cNvPr id="247824" name="Rectangles 247823"/>
          <p:cNvSpPr/>
          <p:nvPr/>
        </p:nvSpPr>
        <p:spPr>
          <a:xfrm>
            <a:off x="2365375" y="4341495"/>
            <a:ext cx="5905500" cy="929640"/>
          </a:xfrm>
          <a:prstGeom prst="rect">
            <a:avLst/>
          </a:prstGeom>
          <a:solidFill>
            <a:srgbClr val="00B050"/>
          </a:solidFill>
          <a:ln w="25400">
            <a:noFill/>
          </a:ln>
        </p:spPr>
        <p:txBody>
          <a:bodyPr wrap="squar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x-none" sz="2700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Helvetica" pitchFamily="-99" charset="0"/>
              </a:rPr>
              <a:t>expected cost          = $382K</a:t>
            </a:r>
          </a:p>
          <a:p>
            <a:pPr>
              <a:lnSpc>
                <a:spcPct val="100000"/>
              </a:lnSpc>
            </a:pPr>
            <a:endParaRPr lang="en-US" altLang="x-none" sz="2700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Helvetica" pitchFamily="-99" charset="0"/>
            </a:endParaRPr>
          </a:p>
        </p:txBody>
      </p:sp>
      <p:sp>
        <p:nvSpPr>
          <p:cNvPr id="247825" name="Rectangles 247824"/>
          <p:cNvSpPr/>
          <p:nvPr/>
        </p:nvSpPr>
        <p:spPr>
          <a:xfrm>
            <a:off x="2365177" y="4570215"/>
            <a:ext cx="330200" cy="929640"/>
          </a:xfrm>
          <a:prstGeom prst="rect">
            <a:avLst/>
          </a:prstGeom>
          <a:noFill/>
          <a:ln w="25400">
            <a:noFill/>
          </a:ln>
        </p:spPr>
        <p:txBody>
          <a:bodyPr wrap="non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endParaRPr lang="en-US" altLang="x-none" sz="2700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Helvetica" pitchFamily="-99" charset="0"/>
            </a:endParaRPr>
          </a:p>
          <a:p>
            <a:pPr>
              <a:lnSpc>
                <a:spcPct val="100000"/>
              </a:lnSpc>
            </a:pPr>
            <a:endParaRPr lang="en-US" altLang="x-none" sz="2700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Helvetica" pitchFamily="-99" charset="0"/>
            </a:endParaRPr>
          </a:p>
        </p:txBody>
      </p:sp>
      <p:sp>
        <p:nvSpPr>
          <p:cNvPr id="247826" name="Rectangles 247825"/>
          <p:cNvSpPr/>
          <p:nvPr/>
        </p:nvSpPr>
        <p:spPr>
          <a:xfrm>
            <a:off x="2365177" y="4798815"/>
            <a:ext cx="4556125" cy="929640"/>
          </a:xfrm>
          <a:prstGeom prst="rect">
            <a:avLst/>
          </a:prstGeom>
          <a:solidFill>
            <a:srgbClr val="00B050"/>
          </a:solidFill>
          <a:ln w="25400">
            <a:noFill/>
          </a:ln>
        </p:spPr>
        <p:txBody>
          <a:bodyPr wrap="non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x-none" sz="2700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Helvetica" pitchFamily="-99" charset="0"/>
              </a:rPr>
              <a:t>expected cost          = $267K</a:t>
            </a:r>
          </a:p>
          <a:p>
            <a:pPr>
              <a:lnSpc>
                <a:spcPct val="100000"/>
              </a:lnSpc>
            </a:pPr>
            <a:endParaRPr lang="en-US" altLang="x-none" sz="2700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Helvetica" pitchFamily="-99" charset="0"/>
            </a:endParaRPr>
          </a:p>
        </p:txBody>
      </p:sp>
      <p:sp>
        <p:nvSpPr>
          <p:cNvPr id="247827" name="Rectangles 247826"/>
          <p:cNvSpPr/>
          <p:nvPr/>
        </p:nvSpPr>
        <p:spPr>
          <a:xfrm>
            <a:off x="2365177" y="5027415"/>
            <a:ext cx="330200" cy="929640"/>
          </a:xfrm>
          <a:prstGeom prst="rect">
            <a:avLst/>
          </a:prstGeom>
          <a:noFill/>
          <a:ln w="25400">
            <a:noFill/>
          </a:ln>
        </p:spPr>
        <p:txBody>
          <a:bodyPr wrap="non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endParaRPr lang="en-US" altLang="x-none" sz="2700" dirty="0">
              <a:effectLst>
                <a:outerShdw blurRad="38100" dist="38100" dir="2700000">
                  <a:srgbClr val="FFFFFF"/>
                </a:outerShdw>
              </a:effectLst>
              <a:latin typeface="Helvetica" pitchFamily="-99" charset="0"/>
            </a:endParaRPr>
          </a:p>
          <a:p>
            <a:pPr>
              <a:lnSpc>
                <a:spcPct val="100000"/>
              </a:lnSpc>
            </a:pPr>
            <a:endParaRPr lang="en-US" altLang="x-none" sz="2700" dirty="0">
              <a:effectLst>
                <a:outerShdw blurRad="38100" dist="38100" dir="2700000">
                  <a:srgbClr val="FFFFFF"/>
                </a:outerShdw>
              </a:effectLst>
              <a:latin typeface="Helvetica" pitchFamily="-99" charset="0"/>
            </a:endParaRPr>
          </a:p>
        </p:txBody>
      </p:sp>
      <p:sp>
        <p:nvSpPr>
          <p:cNvPr id="247828" name="Rectangles 247827"/>
          <p:cNvSpPr/>
          <p:nvPr/>
        </p:nvSpPr>
        <p:spPr>
          <a:xfrm>
            <a:off x="2365177" y="5256015"/>
            <a:ext cx="4556125" cy="514350"/>
          </a:xfrm>
          <a:prstGeom prst="rect">
            <a:avLst/>
          </a:prstGeom>
          <a:noFill/>
          <a:ln w="25400">
            <a:noFill/>
          </a:ln>
        </p:spPr>
        <p:txBody>
          <a:bodyPr wrap="non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x-none" sz="2700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Helvetica" pitchFamily="-99" charset="0"/>
              </a:rPr>
              <a:t>expected cost          = $410K</a:t>
            </a:r>
          </a:p>
        </p:txBody>
      </p:sp>
      <p:sp>
        <p:nvSpPr>
          <p:cNvPr id="247829" name="Rectangles 247828"/>
          <p:cNvSpPr/>
          <p:nvPr/>
        </p:nvSpPr>
        <p:spPr>
          <a:xfrm>
            <a:off x="3552310" y="3213140"/>
            <a:ext cx="748030" cy="410845"/>
          </a:xfrm>
          <a:prstGeom prst="rect">
            <a:avLst/>
          </a:prstGeom>
          <a:noFill/>
          <a:ln w="25400">
            <a:noFill/>
          </a:ln>
        </p:spPr>
        <p:txBody>
          <a:bodyPr wrap="non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x-none" sz="2025" dirty="0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Helvetica" pitchFamily="-99" charset="0"/>
              </a:rPr>
              <a:t>build</a:t>
            </a:r>
          </a:p>
        </p:txBody>
      </p:sp>
      <p:sp>
        <p:nvSpPr>
          <p:cNvPr id="247830" name="Rectangles 247829"/>
          <p:cNvSpPr/>
          <p:nvPr/>
        </p:nvSpPr>
        <p:spPr>
          <a:xfrm>
            <a:off x="4736902" y="4520208"/>
            <a:ext cx="848360" cy="410845"/>
          </a:xfrm>
          <a:prstGeom prst="rect">
            <a:avLst/>
          </a:prstGeom>
          <a:noFill/>
          <a:ln w="25400">
            <a:noFill/>
          </a:ln>
        </p:spPr>
        <p:txBody>
          <a:bodyPr wrap="non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x-none" sz="2025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Helvetica" pitchFamily="-99" charset="0"/>
              </a:rPr>
              <a:t>reuse</a:t>
            </a:r>
          </a:p>
        </p:txBody>
      </p:sp>
      <p:sp>
        <p:nvSpPr>
          <p:cNvPr id="247831" name="Rectangles 247830"/>
          <p:cNvSpPr/>
          <p:nvPr/>
        </p:nvSpPr>
        <p:spPr>
          <a:xfrm>
            <a:off x="4794052" y="4977408"/>
            <a:ext cx="619125" cy="410845"/>
          </a:xfrm>
          <a:prstGeom prst="rect">
            <a:avLst/>
          </a:prstGeom>
          <a:noFill/>
          <a:ln w="25400">
            <a:noFill/>
          </a:ln>
        </p:spPr>
        <p:txBody>
          <a:bodyPr wrap="non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x-none" sz="2025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Helvetica" pitchFamily="-99" charset="0"/>
              </a:rPr>
              <a:t>buy</a:t>
            </a:r>
          </a:p>
        </p:txBody>
      </p:sp>
      <p:sp>
        <p:nvSpPr>
          <p:cNvPr id="247832" name="Rectangles 247831"/>
          <p:cNvSpPr/>
          <p:nvPr/>
        </p:nvSpPr>
        <p:spPr>
          <a:xfrm>
            <a:off x="4765477" y="5434608"/>
            <a:ext cx="776605" cy="410845"/>
          </a:xfrm>
          <a:prstGeom prst="rect">
            <a:avLst/>
          </a:prstGeom>
          <a:noFill/>
          <a:ln w="25400">
            <a:noFill/>
          </a:ln>
        </p:spPr>
        <p:txBody>
          <a:bodyPr wrap="non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x-none" sz="2025" dirty="0" err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Helvetica" pitchFamily="-99" charset="0"/>
              </a:rPr>
              <a:t>contr</a:t>
            </a:r>
          </a:p>
        </p:txBody>
      </p:sp>
      <p:sp>
        <p:nvSpPr>
          <p:cNvPr id="247833" name="Rectangles 247832"/>
          <p:cNvSpPr/>
          <p:nvPr/>
        </p:nvSpPr>
        <p:spPr>
          <a:xfrm>
            <a:off x="2365177" y="1316237"/>
            <a:ext cx="2613025" cy="514350"/>
          </a:xfrm>
          <a:prstGeom prst="rect">
            <a:avLst/>
          </a:prstGeom>
          <a:noFill/>
          <a:ln w="25400">
            <a:noFill/>
          </a:ln>
        </p:spPr>
        <p:txBody>
          <a:bodyPr wrap="non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x-none" sz="2700" dirty="0">
                <a:solidFill>
                  <a:srgbClr val="C0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Helvetica" pitchFamily="-99" charset="0"/>
              </a:rPr>
              <a:t>expected cost =</a:t>
            </a:r>
          </a:p>
        </p:txBody>
      </p:sp>
      <p:sp>
        <p:nvSpPr>
          <p:cNvPr id="247834" name="Rectangles 247833"/>
          <p:cNvSpPr/>
          <p:nvPr/>
        </p:nvSpPr>
        <p:spPr>
          <a:xfrm>
            <a:off x="5880100" y="3736975"/>
            <a:ext cx="2504440" cy="514350"/>
          </a:xfrm>
          <a:prstGeom prst="rect">
            <a:avLst/>
          </a:prstGeom>
          <a:noFill/>
          <a:ln w="25400">
            <a:noFill/>
          </a:ln>
        </p:spPr>
        <p:txBody>
          <a:bodyPr wrap="square" lIns="101797" tIns="50006" rIns="101797" bIns="50006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x-none" sz="2700" dirty="0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Helvetica" pitchFamily="-99" charset="0"/>
              </a:rPr>
              <a:t>= $429 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0488" tIns="44450" rIns="90488" bIns="44450" anchor="ctr" anchorCtr="0"/>
          <a:lstStyle/>
          <a:p>
            <a:r>
              <a:rPr dirty="0"/>
              <a:t>Estimating Costs</a:t>
            </a:r>
          </a:p>
        </p:txBody>
      </p:sp>
      <p:sp>
        <p:nvSpPr>
          <p:cNvPr id="14339" name="Rectangle 3"/>
          <p:cNvSpPr>
            <a:spLocks noGrp="1"/>
          </p:cNvSpPr>
          <p:nvPr>
            <p:ph idx="1" hasCustomPrompt="1"/>
          </p:nvPr>
        </p:nvSpPr>
        <p:spPr>
          <a:xfrm>
            <a:off x="677545" y="2160905"/>
            <a:ext cx="8596630" cy="4170045"/>
          </a:xfrm>
        </p:spPr>
        <p:txBody>
          <a:bodyPr vert="horz" wrap="square" lIns="90488" tIns="44450" rIns="90488" bIns="44450" anchor="t" anchorCtr="0">
            <a:noAutofit/>
          </a:bodyPr>
          <a:lstStyle/>
          <a:p>
            <a:r>
              <a:rPr sz="2800" dirty="0"/>
              <a:t>acquisition or development (one time)</a:t>
            </a:r>
          </a:p>
          <a:p>
            <a:r>
              <a:rPr sz="2800" dirty="0"/>
              <a:t>operation and support (ongoing)</a:t>
            </a:r>
          </a:p>
          <a:p>
            <a:r>
              <a:rPr sz="2800" dirty="0"/>
              <a:t>in these expense categories</a:t>
            </a:r>
          </a:p>
          <a:p>
            <a:pPr lvl="1"/>
            <a:r>
              <a:rPr sz="2400" b="1" dirty="0">
                <a:solidFill>
                  <a:schemeClr val="accent6"/>
                </a:solidFill>
              </a:rPr>
              <a:t>personnel hours</a:t>
            </a:r>
          </a:p>
          <a:p>
            <a:pPr lvl="1"/>
            <a:r>
              <a:rPr sz="2400" b="1" dirty="0">
                <a:solidFill>
                  <a:schemeClr val="accent6"/>
                </a:solidFill>
              </a:rPr>
              <a:t>computer usage</a:t>
            </a:r>
          </a:p>
          <a:p>
            <a:pPr lvl="1"/>
            <a:r>
              <a:rPr sz="2400" b="1" dirty="0">
                <a:solidFill>
                  <a:schemeClr val="accent6"/>
                </a:solidFill>
              </a:rPr>
              <a:t>media and supplies</a:t>
            </a:r>
          </a:p>
          <a:p>
            <a:pPr lvl="1"/>
            <a:r>
              <a:rPr sz="2400" b="1" dirty="0">
                <a:solidFill>
                  <a:schemeClr val="accent6"/>
                </a:solidFill>
              </a:rPr>
              <a:t>equipment and software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xfrm>
            <a:off x="677545" y="609600"/>
            <a:ext cx="8596630" cy="662305"/>
          </a:xfrm>
        </p:spPr>
        <p:txBody>
          <a:bodyPr vert="horz" wrap="square" lIns="90488" tIns="44450" rIns="90488" bIns="44450" anchor="ctr" anchorCtr="0"/>
          <a:lstStyle/>
          <a:p>
            <a:r>
              <a:rPr dirty="0"/>
              <a:t>Estimating Development Cost</a:t>
            </a:r>
          </a:p>
        </p:txBody>
      </p:sp>
      <p:sp>
        <p:nvSpPr>
          <p:cNvPr id="15363" name="Rectangle 3"/>
          <p:cNvSpPr>
            <a:spLocks noGrp="1"/>
          </p:cNvSpPr>
          <p:nvPr>
            <p:ph idx="1" hasCustomPrompt="1"/>
          </p:nvPr>
        </p:nvSpPr>
        <p:spPr>
          <a:xfrm>
            <a:off x="875665" y="1752600"/>
            <a:ext cx="9335135" cy="4648200"/>
          </a:xfrm>
        </p:spPr>
        <p:txBody>
          <a:bodyPr vert="horz" wrap="square" lIns="90488" tIns="44450" rIns="90488" bIns="44450" anchor="t" anchorCtr="0"/>
          <a:lstStyle/>
          <a:p>
            <a:r>
              <a:rPr sz="2800" dirty="0"/>
              <a:t>break project up into tasks</a:t>
            </a:r>
          </a:p>
          <a:p>
            <a:pPr lvl="1"/>
            <a:r>
              <a:rPr sz="2400" dirty="0">
                <a:solidFill>
                  <a:srgbClr val="7030A0"/>
                </a:solidFill>
              </a:rPr>
              <a:t>estimate SDLC tasks independently</a:t>
            </a:r>
          </a:p>
          <a:p>
            <a:r>
              <a:rPr sz="2800" dirty="0"/>
              <a:t>use life cycle cost model</a:t>
            </a:r>
          </a:p>
          <a:p>
            <a:pPr lvl="1"/>
            <a:r>
              <a:rPr sz="2400" dirty="0"/>
              <a:t>e.g., 1-3-3-3 model</a:t>
            </a:r>
          </a:p>
          <a:p>
            <a:r>
              <a:rPr sz="2800" dirty="0"/>
              <a:t>take advantage of analogy/experience</a:t>
            </a:r>
          </a:p>
          <a:p>
            <a:pPr lvl="1"/>
            <a:r>
              <a:rPr sz="2400" dirty="0"/>
              <a:t>how much have similar projects cost?</a:t>
            </a:r>
          </a:p>
          <a:p>
            <a:r>
              <a:rPr sz="2800" dirty="0"/>
              <a:t>calculate function point metric</a:t>
            </a:r>
          </a:p>
          <a:p>
            <a:pPr lvl="1"/>
            <a:r>
              <a:rPr sz="2400" dirty="0"/>
              <a:t>estimate “size” of project from inputs, outputs, etc.</a:t>
            </a:r>
          </a:p>
          <a:p>
            <a:pPr lvl="1"/>
            <a:r>
              <a:rPr sz="2400" dirty="0"/>
              <a:t>apply productivity rate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0488" tIns="44450" rIns="90488" bIns="44450" anchor="ctr" anchorCtr="0"/>
          <a:lstStyle/>
          <a:p>
            <a:r>
              <a:rPr dirty="0"/>
              <a:t>Estimating Operation and Support </a:t>
            </a:r>
          </a:p>
        </p:txBody>
      </p:sp>
      <p:sp>
        <p:nvSpPr>
          <p:cNvPr id="16387" name="Rectangle 3"/>
          <p:cNvSpPr>
            <a:spLocks noGrp="1"/>
          </p:cNvSpPr>
          <p:nvPr>
            <p:ph idx="1" hasCustomPrompt="1"/>
          </p:nvPr>
        </p:nvSpPr>
        <p:spPr/>
        <p:txBody>
          <a:bodyPr vert="horz" wrap="square" lIns="90488" tIns="44450" rIns="90488" bIns="44450" anchor="t" anchorCtr="0"/>
          <a:lstStyle/>
          <a:p>
            <a:r>
              <a:rPr sz="3200" dirty="0"/>
              <a:t>client/user personnel</a:t>
            </a:r>
          </a:p>
          <a:p>
            <a:r>
              <a:rPr sz="3200" dirty="0"/>
              <a:t>technical personnel</a:t>
            </a:r>
          </a:p>
          <a:p>
            <a:r>
              <a:rPr sz="3200" dirty="0"/>
              <a:t>media and supplies</a:t>
            </a:r>
          </a:p>
          <a:p>
            <a:r>
              <a:rPr sz="3200" dirty="0"/>
              <a:t>equipment and software support </a:t>
            </a:r>
          </a:p>
          <a:p>
            <a:pPr lvl="1"/>
            <a:r>
              <a:rPr sz="2800" dirty="0"/>
              <a:t>repair</a:t>
            </a:r>
          </a:p>
          <a:p>
            <a:pPr lvl="1"/>
            <a:r>
              <a:rPr sz="2800" dirty="0"/>
              <a:t>enhancement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584835" y="304800"/>
            <a:ext cx="9397365" cy="1143000"/>
          </a:xfrm>
        </p:spPr>
        <p:txBody>
          <a:bodyPr vert="horz" wrap="square" lIns="90488" tIns="44450" rIns="90488" bIns="44450" anchor="ctr" anchorCtr="0"/>
          <a:lstStyle/>
          <a:p>
            <a:r>
              <a:rPr dirty="0"/>
              <a:t>Estimating Tangible</a:t>
            </a:r>
            <a:r>
              <a:rPr lang="en-US" dirty="0"/>
              <a:t> /touchable</a:t>
            </a:r>
            <a:r>
              <a:rPr dirty="0"/>
              <a:t> Benefits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 hasCustomPrompt="1"/>
          </p:nvPr>
        </p:nvSpPr>
        <p:spPr>
          <a:xfrm>
            <a:off x="1243965" y="1447800"/>
            <a:ext cx="8814435" cy="5029200"/>
          </a:xfrm>
        </p:spPr>
        <p:txBody>
          <a:bodyPr vert="horz" wrap="square" lIns="90488" tIns="44450" rIns="90488" bIns="44450" anchor="t" anchorCtr="0"/>
          <a:lstStyle/>
          <a:p>
            <a:r>
              <a:rPr sz="2800" b="1" dirty="0">
                <a:solidFill>
                  <a:schemeClr val="accent6"/>
                </a:solidFill>
              </a:rPr>
              <a:t>reduced costs</a:t>
            </a:r>
          </a:p>
          <a:p>
            <a:pPr lvl="1"/>
            <a:r>
              <a:rPr sz="2400" dirty="0"/>
              <a:t>manual operations</a:t>
            </a:r>
          </a:p>
          <a:p>
            <a:pPr lvl="1"/>
            <a:r>
              <a:rPr sz="2400" dirty="0"/>
              <a:t>computer operations</a:t>
            </a:r>
          </a:p>
          <a:p>
            <a:pPr lvl="1"/>
            <a:r>
              <a:rPr sz="2400" dirty="0"/>
              <a:t>programmed decisions</a:t>
            </a:r>
          </a:p>
          <a:p>
            <a:pPr algn="l"/>
            <a:r>
              <a:rPr sz="2800" b="1" dirty="0">
                <a:solidFill>
                  <a:schemeClr val="accent6"/>
                </a:solidFill>
              </a:rPr>
              <a:t>increased revenue</a:t>
            </a:r>
          </a:p>
          <a:p>
            <a:pPr lvl="1"/>
            <a:r>
              <a:rPr sz="2400" dirty="0"/>
              <a:t>new services</a:t>
            </a:r>
          </a:p>
          <a:p>
            <a:pPr lvl="1"/>
            <a:r>
              <a:rPr sz="2400" dirty="0"/>
              <a:t>differentiated product</a:t>
            </a:r>
          </a:p>
          <a:p>
            <a:pPr lvl="1"/>
            <a:r>
              <a:rPr sz="2400" dirty="0"/>
              <a:t>faster delivery</a:t>
            </a:r>
          </a:p>
          <a:p>
            <a:pPr lvl="1"/>
            <a:r>
              <a:rPr sz="2400" dirty="0"/>
              <a:t>better quality</a:t>
            </a:r>
          </a:p>
          <a:p>
            <a:pPr lvl="1"/>
            <a:r>
              <a:rPr sz="2400" dirty="0"/>
              <a:t>larger market share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2209800" y="152400"/>
            <a:ext cx="7772400" cy="1143000"/>
          </a:xfrm>
        </p:spPr>
        <p:txBody>
          <a:bodyPr vert="horz" wrap="square" lIns="90488" tIns="44450" rIns="90488" bIns="44450" anchor="ctr" anchorCtr="0"/>
          <a:lstStyle/>
          <a:p>
            <a:r>
              <a:rPr dirty="0"/>
              <a:t>Estimating Intangible Benefits</a:t>
            </a:r>
          </a:p>
        </p:txBody>
      </p:sp>
      <p:sp>
        <p:nvSpPr>
          <p:cNvPr id="18435" name="Rectangle 3"/>
          <p:cNvSpPr>
            <a:spLocks noGrp="1"/>
          </p:cNvSpPr>
          <p:nvPr>
            <p:ph idx="1" hasCustomPrompt="1"/>
          </p:nvPr>
        </p:nvSpPr>
        <p:spPr>
          <a:xfrm>
            <a:off x="1687830" y="1219200"/>
            <a:ext cx="8370570" cy="5486400"/>
          </a:xfrm>
        </p:spPr>
        <p:txBody>
          <a:bodyPr vert="horz" wrap="square" lIns="90488" tIns="44450" rIns="90488" bIns="44450" anchor="t" anchorCtr="0"/>
          <a:lstStyle/>
          <a:p>
            <a:r>
              <a:rPr sz="2400" b="1" dirty="0">
                <a:solidFill>
                  <a:schemeClr val="accent6"/>
                </a:solidFill>
              </a:rPr>
              <a:t>information quality</a:t>
            </a:r>
          </a:p>
          <a:p>
            <a:pPr lvl="1"/>
            <a:r>
              <a:rPr sz="2000" dirty="0"/>
              <a:t>precision</a:t>
            </a:r>
          </a:p>
          <a:p>
            <a:pPr lvl="1"/>
            <a:r>
              <a:rPr sz="2000" dirty="0"/>
              <a:t>timeliness</a:t>
            </a:r>
          </a:p>
          <a:p>
            <a:pPr lvl="1"/>
            <a:r>
              <a:rPr sz="2000" dirty="0"/>
              <a:t>integration</a:t>
            </a:r>
          </a:p>
          <a:p>
            <a:pPr lvl="1"/>
            <a:r>
              <a:rPr sz="2000" dirty="0"/>
              <a:t>presentation</a:t>
            </a:r>
          </a:p>
          <a:p>
            <a:pPr algn="l"/>
            <a:r>
              <a:rPr sz="2400" b="1" dirty="0">
                <a:solidFill>
                  <a:schemeClr val="accent6"/>
                </a:solidFill>
              </a:rPr>
              <a:t>job satisfaction</a:t>
            </a:r>
          </a:p>
          <a:p>
            <a:pPr lvl="1"/>
            <a:r>
              <a:rPr sz="2000" dirty="0"/>
              <a:t>participative design</a:t>
            </a:r>
          </a:p>
          <a:p>
            <a:pPr lvl="1"/>
            <a:r>
              <a:rPr sz="2000" dirty="0"/>
              <a:t>job enrichment</a:t>
            </a:r>
          </a:p>
          <a:p>
            <a:pPr lvl="1"/>
            <a:r>
              <a:rPr sz="2000" dirty="0"/>
              <a:t>improved tools</a:t>
            </a:r>
          </a:p>
          <a:p>
            <a:pPr algn="l"/>
            <a:r>
              <a:rPr sz="2400" b="1" dirty="0">
                <a:solidFill>
                  <a:schemeClr val="accent6"/>
                </a:solidFill>
              </a:rPr>
              <a:t>external standing</a:t>
            </a:r>
          </a:p>
          <a:p>
            <a:pPr lvl="1"/>
            <a:r>
              <a:rPr sz="2000" dirty="0"/>
              <a:t>responsiveness</a:t>
            </a:r>
          </a:p>
          <a:p>
            <a:pPr lvl="1"/>
            <a:r>
              <a:rPr sz="2000" dirty="0"/>
              <a:t>corporate image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0488" tIns="44450" rIns="90488" bIns="44450" anchor="ctr" anchorCtr="0"/>
          <a:lstStyle/>
          <a:p>
            <a:r>
              <a:rPr dirty="0"/>
              <a:t>Economic Analysis (continued)</a:t>
            </a:r>
          </a:p>
        </p:txBody>
      </p:sp>
      <p:sp>
        <p:nvSpPr>
          <p:cNvPr id="19459" name="Rectangle 3"/>
          <p:cNvSpPr>
            <a:spLocks noGrp="1"/>
          </p:cNvSpPr>
          <p:nvPr>
            <p:ph idx="1" hasCustomPrompt="1"/>
          </p:nvPr>
        </p:nvSpPr>
        <p:spPr>
          <a:xfrm>
            <a:off x="677545" y="2160905"/>
            <a:ext cx="9945370" cy="3880485"/>
          </a:xfrm>
        </p:spPr>
        <p:txBody>
          <a:bodyPr vert="horz" wrap="square" lIns="90488" tIns="44450" rIns="90488" bIns="44450" anchor="t" anchorCtr="0"/>
          <a:lstStyle/>
          <a:p>
            <a:r>
              <a:rPr sz="3600" dirty="0">
                <a:solidFill>
                  <a:srgbClr val="00B050"/>
                </a:solidFill>
              </a:rPr>
              <a:t>traditional capital planning techniques apply</a:t>
            </a:r>
            <a:endParaRPr sz="3600" dirty="0"/>
          </a:p>
          <a:p>
            <a:pPr lvl="1"/>
            <a:r>
              <a:rPr sz="3200" dirty="0"/>
              <a:t>payback analysis</a:t>
            </a:r>
          </a:p>
          <a:p>
            <a:pPr lvl="1"/>
            <a:r>
              <a:rPr sz="3200" dirty="0"/>
              <a:t>return on investment</a:t>
            </a:r>
          </a:p>
          <a:p>
            <a:pPr lvl="1"/>
            <a:r>
              <a:rPr sz="3200" dirty="0"/>
              <a:t>net present value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LUC 6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/>
            <a:r>
              <a:rPr sz="7200" b="1" dirty="0">
                <a:solidFill>
                  <a:srgbClr val="7030A0"/>
                </a:solidFill>
                <a:sym typeface="+mn-ea"/>
              </a:rPr>
              <a:t>payback analysis</a:t>
            </a:r>
            <a:endParaRPr sz="7200" b="1" dirty="0">
              <a:solidFill>
                <a:srgbClr val="7030A0"/>
              </a:solidFill>
            </a:endParaRPr>
          </a:p>
          <a:p>
            <a:endParaRPr lang="en-US" sz="72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96248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0488" tIns="44450" rIns="90488" bIns="44450" anchor="ctr" anchorCtr="0"/>
          <a:lstStyle/>
          <a:p>
            <a:r>
              <a:rPr dirty="0"/>
              <a:t>Payback Analysis</a:t>
            </a:r>
          </a:p>
        </p:txBody>
      </p:sp>
      <p:sp>
        <p:nvSpPr>
          <p:cNvPr id="20483" name="Rectangle 3"/>
          <p:cNvSpPr>
            <a:spLocks noGrp="1"/>
          </p:cNvSpPr>
          <p:nvPr>
            <p:ph idx="1" hasCustomPrompt="1"/>
          </p:nvPr>
        </p:nvSpPr>
        <p:spPr>
          <a:xfrm>
            <a:off x="677545" y="2559685"/>
            <a:ext cx="9547225" cy="3871595"/>
          </a:xfrm>
        </p:spPr>
        <p:txBody>
          <a:bodyPr vert="horz" wrap="square" lIns="90488" tIns="44450" rIns="90488" bIns="44450" anchor="t" anchorCtr="0"/>
          <a:lstStyle/>
          <a:p>
            <a:r>
              <a:rPr sz="4000" dirty="0"/>
              <a:t>determines how long it will take for accrued benefits to overtake accrued and continuing costs</a:t>
            </a:r>
          </a:p>
          <a:p>
            <a:pPr lvl="1"/>
            <a:r>
              <a:rPr sz="3600" dirty="0"/>
              <a:t>most companies want quick payback</a:t>
            </a:r>
          </a:p>
          <a:p>
            <a:pPr lvl="1"/>
            <a:r>
              <a:rPr sz="3600" dirty="0"/>
              <a:t>3-5 years is typical</a:t>
            </a:r>
          </a:p>
        </p:txBody>
      </p:sp>
      <p:grpSp>
        <p:nvGrpSpPr>
          <p:cNvPr id="20484" name="Group 102"/>
          <p:cNvGrpSpPr/>
          <p:nvPr/>
        </p:nvGrpSpPr>
        <p:grpSpPr>
          <a:xfrm>
            <a:off x="4946015" y="415925"/>
            <a:ext cx="4812030" cy="1850390"/>
            <a:chOff x="390" y="261"/>
            <a:chExt cx="1080" cy="808"/>
          </a:xfrm>
        </p:grpSpPr>
        <p:sp>
          <p:nvSpPr>
            <p:cNvPr id="20485" name="Line 4"/>
            <p:cNvSpPr/>
            <p:nvPr/>
          </p:nvSpPr>
          <p:spPr>
            <a:xfrm flipV="1">
              <a:off x="1468" y="403"/>
              <a:ext cx="0" cy="66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86" name="Freeform 5"/>
            <p:cNvSpPr/>
            <p:nvPr/>
          </p:nvSpPr>
          <p:spPr>
            <a:xfrm>
              <a:off x="390" y="264"/>
              <a:ext cx="1080" cy="805"/>
            </a:xfrm>
            <a:custGeom>
              <a:avLst/>
              <a:gdLst>
                <a:gd name="txL" fmla="*/ 0 w 1080"/>
                <a:gd name="txT" fmla="*/ 0 h 805"/>
                <a:gd name="txR" fmla="*/ 1080 w 1080"/>
                <a:gd name="txB" fmla="*/ 805 h 805"/>
              </a:gdLst>
              <a:ahLst/>
              <a:cxnLst>
                <a:cxn ang="0">
                  <a:pos x="0" y="0"/>
                </a:cxn>
                <a:cxn ang="0">
                  <a:pos x="1079" y="0"/>
                </a:cxn>
                <a:cxn ang="0">
                  <a:pos x="1079" y="804"/>
                </a:cxn>
                <a:cxn ang="0">
                  <a:pos x="0" y="804"/>
                </a:cxn>
                <a:cxn ang="0">
                  <a:pos x="0" y="0"/>
                </a:cxn>
              </a:cxnLst>
              <a:rect l="txL" t="txT" r="txR" b="txB"/>
              <a:pathLst>
                <a:path w="1080" h="805">
                  <a:moveTo>
                    <a:pt x="0" y="0"/>
                  </a:moveTo>
                  <a:lnTo>
                    <a:pt x="1079" y="0"/>
                  </a:lnTo>
                  <a:lnTo>
                    <a:pt x="1079" y="804"/>
                  </a:lnTo>
                  <a:lnTo>
                    <a:pt x="0" y="804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0487" name="Freeform 6"/>
            <p:cNvSpPr/>
            <p:nvPr/>
          </p:nvSpPr>
          <p:spPr>
            <a:xfrm>
              <a:off x="390" y="403"/>
              <a:ext cx="1080" cy="113"/>
            </a:xfrm>
            <a:custGeom>
              <a:avLst/>
              <a:gdLst>
                <a:gd name="txL" fmla="*/ 0 w 1080"/>
                <a:gd name="txT" fmla="*/ 0 h 113"/>
                <a:gd name="txR" fmla="*/ 1080 w 1080"/>
                <a:gd name="txB" fmla="*/ 113 h 113"/>
              </a:gdLst>
              <a:ahLst/>
              <a:cxnLst>
                <a:cxn ang="0">
                  <a:pos x="0" y="0"/>
                </a:cxn>
                <a:cxn ang="0">
                  <a:pos x="1079" y="0"/>
                </a:cxn>
                <a:cxn ang="0">
                  <a:pos x="1079" y="112"/>
                </a:cxn>
                <a:cxn ang="0">
                  <a:pos x="0" y="112"/>
                </a:cxn>
                <a:cxn ang="0">
                  <a:pos x="0" y="0"/>
                </a:cxn>
              </a:cxnLst>
              <a:rect l="txL" t="txT" r="txR" b="txB"/>
              <a:pathLst>
                <a:path w="1080" h="113">
                  <a:moveTo>
                    <a:pt x="0" y="0"/>
                  </a:moveTo>
                  <a:lnTo>
                    <a:pt x="1079" y="0"/>
                  </a:lnTo>
                  <a:lnTo>
                    <a:pt x="1079" y="112"/>
                  </a:lnTo>
                  <a:lnTo>
                    <a:pt x="0" y="112"/>
                  </a:lnTo>
                  <a:lnTo>
                    <a:pt x="0" y="0"/>
                  </a:lnTo>
                </a:path>
              </a:pathLst>
            </a:custGeom>
            <a:solidFill>
              <a:srgbClr val="E0E0FF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0488" name="Line 7"/>
            <p:cNvSpPr/>
            <p:nvPr/>
          </p:nvSpPr>
          <p:spPr>
            <a:xfrm>
              <a:off x="390" y="737"/>
              <a:ext cx="1078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89" name="Line 8"/>
            <p:cNvSpPr/>
            <p:nvPr/>
          </p:nvSpPr>
          <p:spPr>
            <a:xfrm>
              <a:off x="390" y="845"/>
              <a:ext cx="1077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0" name="Line 9"/>
            <p:cNvSpPr/>
            <p:nvPr/>
          </p:nvSpPr>
          <p:spPr>
            <a:xfrm>
              <a:off x="390" y="628"/>
              <a:ext cx="1078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1" name="Line 10"/>
            <p:cNvSpPr/>
            <p:nvPr/>
          </p:nvSpPr>
          <p:spPr>
            <a:xfrm>
              <a:off x="390" y="955"/>
              <a:ext cx="1078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2" name="Line 11"/>
            <p:cNvSpPr/>
            <p:nvPr/>
          </p:nvSpPr>
          <p:spPr>
            <a:xfrm>
              <a:off x="390" y="518"/>
              <a:ext cx="1079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493" name="Group 14"/>
            <p:cNvGrpSpPr/>
            <p:nvPr/>
          </p:nvGrpSpPr>
          <p:grpSpPr>
            <a:xfrm>
              <a:off x="390" y="394"/>
              <a:ext cx="1079" cy="9"/>
              <a:chOff x="390" y="394"/>
              <a:chExt cx="1079" cy="9"/>
            </a:xfrm>
          </p:grpSpPr>
          <p:sp>
            <p:nvSpPr>
              <p:cNvPr id="20581" name="Line 12"/>
              <p:cNvSpPr/>
              <p:nvPr/>
            </p:nvSpPr>
            <p:spPr>
              <a:xfrm>
                <a:off x="390" y="403"/>
                <a:ext cx="1079" cy="0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582" name="Line 13"/>
              <p:cNvSpPr/>
              <p:nvPr/>
            </p:nvSpPr>
            <p:spPr>
              <a:xfrm>
                <a:off x="390" y="394"/>
                <a:ext cx="1079" cy="0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494" name="Line 15"/>
            <p:cNvSpPr/>
            <p:nvPr/>
          </p:nvSpPr>
          <p:spPr>
            <a:xfrm>
              <a:off x="545" y="403"/>
              <a:ext cx="0" cy="665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5" name="Line 16"/>
            <p:cNvSpPr/>
            <p:nvPr/>
          </p:nvSpPr>
          <p:spPr>
            <a:xfrm>
              <a:off x="853" y="403"/>
              <a:ext cx="0" cy="66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6" name="Line 17"/>
            <p:cNvSpPr/>
            <p:nvPr/>
          </p:nvSpPr>
          <p:spPr>
            <a:xfrm>
              <a:off x="698" y="403"/>
              <a:ext cx="0" cy="665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7" name="Line 18"/>
            <p:cNvSpPr/>
            <p:nvPr/>
          </p:nvSpPr>
          <p:spPr>
            <a:xfrm>
              <a:off x="1006" y="403"/>
              <a:ext cx="0" cy="665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8" name="Line 19"/>
            <p:cNvSpPr/>
            <p:nvPr/>
          </p:nvSpPr>
          <p:spPr>
            <a:xfrm>
              <a:off x="1315" y="403"/>
              <a:ext cx="0" cy="665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9" name="Line 20"/>
            <p:cNvSpPr/>
            <p:nvPr/>
          </p:nvSpPr>
          <p:spPr>
            <a:xfrm>
              <a:off x="1160" y="403"/>
              <a:ext cx="0" cy="665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500" name="Group 25"/>
            <p:cNvGrpSpPr/>
            <p:nvPr/>
          </p:nvGrpSpPr>
          <p:grpSpPr>
            <a:xfrm>
              <a:off x="866" y="523"/>
              <a:ext cx="499" cy="51"/>
              <a:chOff x="866" y="523"/>
              <a:chExt cx="499" cy="51"/>
            </a:xfrm>
          </p:grpSpPr>
          <p:sp>
            <p:nvSpPr>
              <p:cNvPr id="20577" name="Freeform 21"/>
              <p:cNvSpPr/>
              <p:nvPr/>
            </p:nvSpPr>
            <p:spPr>
              <a:xfrm>
                <a:off x="866" y="523"/>
                <a:ext cx="20" cy="51"/>
              </a:xfrm>
              <a:custGeom>
                <a:avLst/>
                <a:gdLst>
                  <a:gd name="txL" fmla="*/ 0 w 20"/>
                  <a:gd name="txT" fmla="*/ 0 h 51"/>
                  <a:gd name="txR" fmla="*/ 20 w 20"/>
                  <a:gd name="txB" fmla="*/ 51 h 51"/>
                </a:gdLst>
                <a:ahLst/>
                <a:cxnLst>
                  <a:cxn ang="0">
                    <a:pos x="7" y="50"/>
                  </a:cxn>
                  <a:cxn ang="0">
                    <a:pos x="19" y="50"/>
                  </a:cxn>
                  <a:cxn ang="0">
                    <a:pos x="19" y="0"/>
                  </a:cxn>
                  <a:cxn ang="0">
                    <a:pos x="2" y="0"/>
                  </a:cxn>
                  <a:cxn ang="0">
                    <a:pos x="0" y="11"/>
                  </a:cxn>
                  <a:cxn ang="0">
                    <a:pos x="7" y="11"/>
                  </a:cxn>
                  <a:cxn ang="0">
                    <a:pos x="7" y="50"/>
                  </a:cxn>
                </a:cxnLst>
                <a:rect l="txL" t="txT" r="txR" b="txB"/>
                <a:pathLst>
                  <a:path w="20" h="51">
                    <a:moveTo>
                      <a:pt x="7" y="50"/>
                    </a:moveTo>
                    <a:lnTo>
                      <a:pt x="19" y="50"/>
                    </a:lnTo>
                    <a:lnTo>
                      <a:pt x="19" y="0"/>
                    </a:lnTo>
                    <a:lnTo>
                      <a:pt x="2" y="0"/>
                    </a:lnTo>
                    <a:lnTo>
                      <a:pt x="0" y="11"/>
                    </a:lnTo>
                    <a:lnTo>
                      <a:pt x="7" y="11"/>
                    </a:lnTo>
                    <a:lnTo>
                      <a:pt x="7" y="50"/>
                    </a:lnTo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txBody>
              <a:bodyPr/>
              <a:lstStyle/>
              <a:p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0578" name="Freeform 22"/>
              <p:cNvSpPr/>
              <p:nvPr/>
            </p:nvSpPr>
            <p:spPr>
              <a:xfrm>
                <a:off x="1021" y="523"/>
                <a:ext cx="30" cy="51"/>
              </a:xfrm>
              <a:custGeom>
                <a:avLst/>
                <a:gdLst>
                  <a:gd name="txL" fmla="*/ 0 w 30"/>
                  <a:gd name="txT" fmla="*/ 0 h 51"/>
                  <a:gd name="txR" fmla="*/ 30 w 30"/>
                  <a:gd name="txB" fmla="*/ 51 h 51"/>
                </a:gdLst>
                <a:ahLst/>
                <a:cxnLst>
                  <a:cxn ang="0">
                    <a:pos x="0" y="15"/>
                  </a:cxn>
                  <a:cxn ang="0">
                    <a:pos x="11" y="15"/>
                  </a:cxn>
                  <a:cxn ang="0">
                    <a:pos x="11" y="11"/>
                  </a:cxn>
                  <a:cxn ang="0">
                    <a:pos x="18" y="11"/>
                  </a:cxn>
                  <a:cxn ang="0">
                    <a:pos x="18" y="18"/>
                  </a:cxn>
                  <a:cxn ang="0">
                    <a:pos x="0" y="41"/>
                  </a:cxn>
                  <a:cxn ang="0">
                    <a:pos x="0" y="50"/>
                  </a:cxn>
                  <a:cxn ang="0">
                    <a:pos x="29" y="50"/>
                  </a:cxn>
                  <a:cxn ang="0">
                    <a:pos x="29" y="41"/>
                  </a:cxn>
                  <a:cxn ang="0">
                    <a:pos x="12" y="41"/>
                  </a:cxn>
                  <a:cxn ang="0">
                    <a:pos x="29" y="21"/>
                  </a:cxn>
                  <a:cxn ang="0">
                    <a:pos x="29" y="6"/>
                  </a:cxn>
                  <a:cxn ang="0">
                    <a:pos x="20" y="0"/>
                  </a:cxn>
                  <a:cxn ang="0">
                    <a:pos x="9" y="0"/>
                  </a:cxn>
                  <a:cxn ang="0">
                    <a:pos x="0" y="6"/>
                  </a:cxn>
                  <a:cxn ang="0">
                    <a:pos x="0" y="15"/>
                  </a:cxn>
                </a:cxnLst>
                <a:rect l="txL" t="txT" r="txR" b="txB"/>
                <a:pathLst>
                  <a:path w="30" h="51">
                    <a:moveTo>
                      <a:pt x="0" y="15"/>
                    </a:moveTo>
                    <a:lnTo>
                      <a:pt x="11" y="15"/>
                    </a:lnTo>
                    <a:lnTo>
                      <a:pt x="11" y="11"/>
                    </a:lnTo>
                    <a:lnTo>
                      <a:pt x="18" y="11"/>
                    </a:lnTo>
                    <a:lnTo>
                      <a:pt x="18" y="18"/>
                    </a:lnTo>
                    <a:lnTo>
                      <a:pt x="0" y="41"/>
                    </a:lnTo>
                    <a:lnTo>
                      <a:pt x="0" y="50"/>
                    </a:lnTo>
                    <a:lnTo>
                      <a:pt x="29" y="50"/>
                    </a:lnTo>
                    <a:lnTo>
                      <a:pt x="29" y="41"/>
                    </a:lnTo>
                    <a:lnTo>
                      <a:pt x="12" y="41"/>
                    </a:lnTo>
                    <a:lnTo>
                      <a:pt x="29" y="21"/>
                    </a:lnTo>
                    <a:lnTo>
                      <a:pt x="29" y="6"/>
                    </a:lnTo>
                    <a:lnTo>
                      <a:pt x="20" y="0"/>
                    </a:lnTo>
                    <a:lnTo>
                      <a:pt x="9" y="0"/>
                    </a:lnTo>
                    <a:lnTo>
                      <a:pt x="0" y="6"/>
                    </a:lnTo>
                    <a:lnTo>
                      <a:pt x="0" y="15"/>
                    </a:lnTo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txBody>
              <a:bodyPr/>
              <a:lstStyle/>
              <a:p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0579" name="Freeform 23"/>
              <p:cNvSpPr/>
              <p:nvPr/>
            </p:nvSpPr>
            <p:spPr>
              <a:xfrm>
                <a:off x="1175" y="523"/>
                <a:ext cx="31" cy="51"/>
              </a:xfrm>
              <a:custGeom>
                <a:avLst/>
                <a:gdLst>
                  <a:gd name="txL" fmla="*/ 0 w 31"/>
                  <a:gd name="txT" fmla="*/ 0 h 51"/>
                  <a:gd name="txR" fmla="*/ 31 w 31"/>
                  <a:gd name="txB" fmla="*/ 51 h 51"/>
                </a:gdLst>
                <a:ahLst/>
                <a:cxnLst>
                  <a:cxn ang="0">
                    <a:pos x="9" y="0"/>
                  </a:cxn>
                  <a:cxn ang="0">
                    <a:pos x="21" y="0"/>
                  </a:cxn>
                  <a:cxn ang="0">
                    <a:pos x="30" y="6"/>
                  </a:cxn>
                  <a:cxn ang="0">
                    <a:pos x="30" y="21"/>
                  </a:cxn>
                  <a:cxn ang="0">
                    <a:pos x="25" y="26"/>
                  </a:cxn>
                  <a:cxn ang="0">
                    <a:pos x="30" y="30"/>
                  </a:cxn>
                  <a:cxn ang="0">
                    <a:pos x="30" y="44"/>
                  </a:cxn>
                  <a:cxn ang="0">
                    <a:pos x="21" y="50"/>
                  </a:cxn>
                  <a:cxn ang="0">
                    <a:pos x="9" y="50"/>
                  </a:cxn>
                  <a:cxn ang="0">
                    <a:pos x="0" y="44"/>
                  </a:cxn>
                  <a:cxn ang="0">
                    <a:pos x="0" y="36"/>
                  </a:cxn>
                  <a:cxn ang="0">
                    <a:pos x="11" y="36"/>
                  </a:cxn>
                  <a:cxn ang="0">
                    <a:pos x="11" y="41"/>
                  </a:cxn>
                  <a:cxn ang="0">
                    <a:pos x="19" y="41"/>
                  </a:cxn>
                  <a:cxn ang="0">
                    <a:pos x="19" y="30"/>
                  </a:cxn>
                  <a:cxn ang="0">
                    <a:pos x="11" y="30"/>
                  </a:cxn>
                  <a:cxn ang="0">
                    <a:pos x="11" y="21"/>
                  </a:cxn>
                  <a:cxn ang="0">
                    <a:pos x="19" y="21"/>
                  </a:cxn>
                  <a:cxn ang="0">
                    <a:pos x="19" y="9"/>
                  </a:cxn>
                  <a:cxn ang="0">
                    <a:pos x="11" y="9"/>
                  </a:cxn>
                  <a:cxn ang="0">
                    <a:pos x="11" y="14"/>
                  </a:cxn>
                  <a:cxn ang="0">
                    <a:pos x="0" y="14"/>
                  </a:cxn>
                  <a:cxn ang="0">
                    <a:pos x="0" y="6"/>
                  </a:cxn>
                  <a:cxn ang="0">
                    <a:pos x="9" y="0"/>
                  </a:cxn>
                </a:cxnLst>
                <a:rect l="txL" t="txT" r="txR" b="txB"/>
                <a:pathLst>
                  <a:path w="31" h="51">
                    <a:moveTo>
                      <a:pt x="9" y="0"/>
                    </a:moveTo>
                    <a:lnTo>
                      <a:pt x="21" y="0"/>
                    </a:lnTo>
                    <a:lnTo>
                      <a:pt x="30" y="6"/>
                    </a:lnTo>
                    <a:lnTo>
                      <a:pt x="30" y="21"/>
                    </a:lnTo>
                    <a:lnTo>
                      <a:pt x="25" y="26"/>
                    </a:lnTo>
                    <a:lnTo>
                      <a:pt x="30" y="30"/>
                    </a:lnTo>
                    <a:lnTo>
                      <a:pt x="30" y="44"/>
                    </a:lnTo>
                    <a:lnTo>
                      <a:pt x="21" y="50"/>
                    </a:lnTo>
                    <a:lnTo>
                      <a:pt x="9" y="50"/>
                    </a:lnTo>
                    <a:lnTo>
                      <a:pt x="0" y="44"/>
                    </a:lnTo>
                    <a:lnTo>
                      <a:pt x="0" y="36"/>
                    </a:lnTo>
                    <a:lnTo>
                      <a:pt x="11" y="36"/>
                    </a:lnTo>
                    <a:lnTo>
                      <a:pt x="11" y="41"/>
                    </a:lnTo>
                    <a:lnTo>
                      <a:pt x="19" y="41"/>
                    </a:lnTo>
                    <a:lnTo>
                      <a:pt x="19" y="30"/>
                    </a:lnTo>
                    <a:lnTo>
                      <a:pt x="11" y="30"/>
                    </a:lnTo>
                    <a:lnTo>
                      <a:pt x="11" y="21"/>
                    </a:lnTo>
                    <a:lnTo>
                      <a:pt x="19" y="21"/>
                    </a:lnTo>
                    <a:lnTo>
                      <a:pt x="19" y="9"/>
                    </a:lnTo>
                    <a:lnTo>
                      <a:pt x="11" y="9"/>
                    </a:lnTo>
                    <a:lnTo>
                      <a:pt x="11" y="14"/>
                    </a:lnTo>
                    <a:lnTo>
                      <a:pt x="0" y="14"/>
                    </a:lnTo>
                    <a:lnTo>
                      <a:pt x="0" y="6"/>
                    </a:lnTo>
                    <a:lnTo>
                      <a:pt x="9" y="0"/>
                    </a:lnTo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txBody>
              <a:bodyPr/>
              <a:lstStyle/>
              <a:p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0580" name="Freeform 24"/>
              <p:cNvSpPr/>
              <p:nvPr/>
            </p:nvSpPr>
            <p:spPr>
              <a:xfrm>
                <a:off x="1332" y="523"/>
                <a:ext cx="33" cy="51"/>
              </a:xfrm>
              <a:custGeom>
                <a:avLst/>
                <a:gdLst>
                  <a:gd name="txL" fmla="*/ 0 w 33"/>
                  <a:gd name="txT" fmla="*/ 0 h 51"/>
                  <a:gd name="txR" fmla="*/ 33 w 33"/>
                  <a:gd name="txB" fmla="*/ 51 h 51"/>
                </a:gdLst>
                <a:ahLst/>
                <a:cxnLst>
                  <a:cxn ang="0">
                    <a:pos x="18" y="0"/>
                  </a:cxn>
                  <a:cxn ang="0">
                    <a:pos x="29" y="0"/>
                  </a:cxn>
                  <a:cxn ang="0">
                    <a:pos x="29" y="30"/>
                  </a:cxn>
                  <a:cxn ang="0">
                    <a:pos x="32" y="30"/>
                  </a:cxn>
                  <a:cxn ang="0">
                    <a:pos x="32" y="41"/>
                  </a:cxn>
                  <a:cxn ang="0">
                    <a:pos x="29" y="41"/>
                  </a:cxn>
                  <a:cxn ang="0">
                    <a:pos x="29" y="50"/>
                  </a:cxn>
                  <a:cxn ang="0">
                    <a:pos x="18" y="50"/>
                  </a:cxn>
                  <a:cxn ang="0">
                    <a:pos x="18" y="41"/>
                  </a:cxn>
                  <a:cxn ang="0">
                    <a:pos x="18" y="30"/>
                  </a:cxn>
                  <a:cxn ang="0">
                    <a:pos x="12" y="30"/>
                  </a:cxn>
                  <a:cxn ang="0">
                    <a:pos x="18" y="20"/>
                  </a:cxn>
                  <a:cxn ang="0">
                    <a:pos x="18" y="30"/>
                  </a:cxn>
                  <a:cxn ang="0">
                    <a:pos x="18" y="41"/>
                  </a:cxn>
                  <a:cxn ang="0">
                    <a:pos x="0" y="41"/>
                  </a:cxn>
                  <a:cxn ang="0">
                    <a:pos x="0" y="30"/>
                  </a:cxn>
                  <a:cxn ang="0">
                    <a:pos x="18" y="0"/>
                  </a:cxn>
                </a:cxnLst>
                <a:rect l="txL" t="txT" r="txR" b="txB"/>
                <a:pathLst>
                  <a:path w="33" h="51">
                    <a:moveTo>
                      <a:pt x="18" y="0"/>
                    </a:moveTo>
                    <a:lnTo>
                      <a:pt x="29" y="0"/>
                    </a:lnTo>
                    <a:lnTo>
                      <a:pt x="29" y="30"/>
                    </a:lnTo>
                    <a:lnTo>
                      <a:pt x="32" y="30"/>
                    </a:lnTo>
                    <a:lnTo>
                      <a:pt x="32" y="41"/>
                    </a:lnTo>
                    <a:lnTo>
                      <a:pt x="29" y="41"/>
                    </a:lnTo>
                    <a:lnTo>
                      <a:pt x="29" y="50"/>
                    </a:lnTo>
                    <a:lnTo>
                      <a:pt x="18" y="50"/>
                    </a:lnTo>
                    <a:lnTo>
                      <a:pt x="18" y="41"/>
                    </a:lnTo>
                    <a:lnTo>
                      <a:pt x="18" y="30"/>
                    </a:lnTo>
                    <a:lnTo>
                      <a:pt x="12" y="30"/>
                    </a:lnTo>
                    <a:lnTo>
                      <a:pt x="18" y="20"/>
                    </a:lnTo>
                    <a:lnTo>
                      <a:pt x="18" y="30"/>
                    </a:lnTo>
                    <a:lnTo>
                      <a:pt x="18" y="41"/>
                    </a:lnTo>
                    <a:lnTo>
                      <a:pt x="0" y="41"/>
                    </a:lnTo>
                    <a:lnTo>
                      <a:pt x="0" y="30"/>
                    </a:lnTo>
                    <a:lnTo>
                      <a:pt x="18" y="0"/>
                    </a:lnTo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txBody>
              <a:bodyPr/>
              <a:lstStyle/>
              <a:p>
                <a:endParaRPr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0501" name="Group 37"/>
            <p:cNvGrpSpPr/>
            <p:nvPr/>
          </p:nvGrpSpPr>
          <p:grpSpPr>
            <a:xfrm>
              <a:off x="401" y="638"/>
              <a:ext cx="972" cy="51"/>
              <a:chOff x="401" y="638"/>
              <a:chExt cx="972" cy="51"/>
            </a:xfrm>
          </p:grpSpPr>
          <p:sp>
            <p:nvSpPr>
              <p:cNvPr id="20566" name="Freeform 26"/>
              <p:cNvSpPr/>
              <p:nvPr/>
            </p:nvSpPr>
            <p:spPr>
              <a:xfrm>
                <a:off x="401" y="638"/>
                <a:ext cx="33" cy="51"/>
              </a:xfrm>
              <a:custGeom>
                <a:avLst/>
                <a:gdLst>
                  <a:gd name="txL" fmla="*/ 0 w 33"/>
                  <a:gd name="txT" fmla="*/ 0 h 51"/>
                  <a:gd name="txR" fmla="*/ 33 w 33"/>
                  <a:gd name="txB" fmla="*/ 51 h 51"/>
                </a:gdLst>
                <a:ahLst/>
                <a:cxnLst>
                  <a:cxn ang="0">
                    <a:pos x="0" y="0"/>
                  </a:cxn>
                  <a:cxn ang="0">
                    <a:pos x="31" y="0"/>
                  </a:cxn>
                  <a:cxn ang="0">
                    <a:pos x="31" y="10"/>
                  </a:cxn>
                  <a:cxn ang="0">
                    <a:pos x="12" y="10"/>
                  </a:cxn>
                  <a:cxn ang="0">
                    <a:pos x="12" y="18"/>
                  </a:cxn>
                  <a:cxn ang="0">
                    <a:pos x="23" y="18"/>
                  </a:cxn>
                  <a:cxn ang="0">
                    <a:pos x="32" y="25"/>
                  </a:cxn>
                  <a:cxn ang="0">
                    <a:pos x="32" y="43"/>
                  </a:cxn>
                  <a:cxn ang="0">
                    <a:pos x="23" y="50"/>
                  </a:cxn>
                  <a:cxn ang="0">
                    <a:pos x="9" y="50"/>
                  </a:cxn>
                  <a:cxn ang="0">
                    <a:pos x="0" y="43"/>
                  </a:cxn>
                  <a:cxn ang="0">
                    <a:pos x="0" y="33"/>
                  </a:cxn>
                  <a:cxn ang="0">
                    <a:pos x="12" y="33"/>
                  </a:cxn>
                  <a:cxn ang="0">
                    <a:pos x="12" y="42"/>
                  </a:cxn>
                  <a:cxn ang="0">
                    <a:pos x="20" y="42"/>
                  </a:cxn>
                  <a:cxn ang="0">
                    <a:pos x="20" y="26"/>
                  </a:cxn>
                  <a:cxn ang="0">
                    <a:pos x="9" y="26"/>
                  </a:cxn>
                  <a:cxn ang="0">
                    <a:pos x="0" y="19"/>
                  </a:cxn>
                  <a:cxn ang="0">
                    <a:pos x="0" y="0"/>
                  </a:cxn>
                </a:cxnLst>
                <a:rect l="txL" t="txT" r="txR" b="txB"/>
                <a:pathLst>
                  <a:path w="33" h="51">
                    <a:moveTo>
                      <a:pt x="0" y="0"/>
                    </a:moveTo>
                    <a:lnTo>
                      <a:pt x="31" y="0"/>
                    </a:lnTo>
                    <a:lnTo>
                      <a:pt x="31" y="10"/>
                    </a:lnTo>
                    <a:lnTo>
                      <a:pt x="12" y="10"/>
                    </a:lnTo>
                    <a:lnTo>
                      <a:pt x="12" y="18"/>
                    </a:lnTo>
                    <a:lnTo>
                      <a:pt x="23" y="18"/>
                    </a:lnTo>
                    <a:lnTo>
                      <a:pt x="32" y="25"/>
                    </a:lnTo>
                    <a:lnTo>
                      <a:pt x="32" y="43"/>
                    </a:lnTo>
                    <a:lnTo>
                      <a:pt x="23" y="50"/>
                    </a:lnTo>
                    <a:lnTo>
                      <a:pt x="9" y="50"/>
                    </a:lnTo>
                    <a:lnTo>
                      <a:pt x="0" y="43"/>
                    </a:lnTo>
                    <a:lnTo>
                      <a:pt x="0" y="33"/>
                    </a:lnTo>
                    <a:lnTo>
                      <a:pt x="12" y="33"/>
                    </a:lnTo>
                    <a:lnTo>
                      <a:pt x="12" y="42"/>
                    </a:lnTo>
                    <a:lnTo>
                      <a:pt x="20" y="42"/>
                    </a:lnTo>
                    <a:lnTo>
                      <a:pt x="20" y="26"/>
                    </a:lnTo>
                    <a:lnTo>
                      <a:pt x="9" y="26"/>
                    </a:lnTo>
                    <a:lnTo>
                      <a:pt x="0" y="19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txBody>
              <a:bodyPr/>
              <a:lstStyle/>
              <a:p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0567" name="Freeform 27"/>
              <p:cNvSpPr/>
              <p:nvPr/>
            </p:nvSpPr>
            <p:spPr>
              <a:xfrm>
                <a:off x="559" y="638"/>
                <a:ext cx="30" cy="51"/>
              </a:xfrm>
              <a:custGeom>
                <a:avLst/>
                <a:gdLst>
                  <a:gd name="txL" fmla="*/ 0 w 30"/>
                  <a:gd name="txT" fmla="*/ 0 h 51"/>
                  <a:gd name="txR" fmla="*/ 30 w 30"/>
                  <a:gd name="txB" fmla="*/ 51 h 51"/>
                </a:gdLst>
                <a:ahLst/>
                <a:cxnLst>
                  <a:cxn ang="0">
                    <a:pos x="9" y="0"/>
                  </a:cxn>
                  <a:cxn ang="0">
                    <a:pos x="20" y="0"/>
                  </a:cxn>
                  <a:cxn ang="0">
                    <a:pos x="29" y="6"/>
                  </a:cxn>
                  <a:cxn ang="0">
                    <a:pos x="29" y="15"/>
                  </a:cxn>
                  <a:cxn ang="0">
                    <a:pos x="19" y="15"/>
                  </a:cxn>
                  <a:cxn ang="0">
                    <a:pos x="19" y="10"/>
                  </a:cxn>
                  <a:cxn ang="0">
                    <a:pos x="12" y="10"/>
                  </a:cxn>
                  <a:cxn ang="0">
                    <a:pos x="12" y="19"/>
                  </a:cxn>
                  <a:cxn ang="0">
                    <a:pos x="12" y="29"/>
                  </a:cxn>
                  <a:cxn ang="0">
                    <a:pos x="19" y="29"/>
                  </a:cxn>
                  <a:cxn ang="0">
                    <a:pos x="19" y="42"/>
                  </a:cxn>
                  <a:cxn ang="0">
                    <a:pos x="12" y="42"/>
                  </a:cxn>
                  <a:cxn ang="0">
                    <a:pos x="12" y="29"/>
                  </a:cxn>
                  <a:cxn ang="0">
                    <a:pos x="12" y="19"/>
                  </a:cxn>
                  <a:cxn ang="0">
                    <a:pos x="20" y="19"/>
                  </a:cxn>
                  <a:cxn ang="0">
                    <a:pos x="29" y="25"/>
                  </a:cxn>
                  <a:cxn ang="0">
                    <a:pos x="29" y="44"/>
                  </a:cxn>
                  <a:cxn ang="0">
                    <a:pos x="20" y="50"/>
                  </a:cxn>
                  <a:cxn ang="0">
                    <a:pos x="9" y="50"/>
                  </a:cxn>
                  <a:cxn ang="0">
                    <a:pos x="0" y="44"/>
                  </a:cxn>
                  <a:cxn ang="0">
                    <a:pos x="0" y="6"/>
                  </a:cxn>
                  <a:cxn ang="0">
                    <a:pos x="9" y="0"/>
                  </a:cxn>
                </a:cxnLst>
                <a:rect l="txL" t="txT" r="txR" b="txB"/>
                <a:pathLst>
                  <a:path w="30" h="51">
                    <a:moveTo>
                      <a:pt x="9" y="0"/>
                    </a:moveTo>
                    <a:lnTo>
                      <a:pt x="20" y="0"/>
                    </a:lnTo>
                    <a:lnTo>
                      <a:pt x="29" y="6"/>
                    </a:lnTo>
                    <a:lnTo>
                      <a:pt x="29" y="15"/>
                    </a:lnTo>
                    <a:lnTo>
                      <a:pt x="19" y="15"/>
                    </a:lnTo>
                    <a:lnTo>
                      <a:pt x="19" y="10"/>
                    </a:lnTo>
                    <a:lnTo>
                      <a:pt x="12" y="10"/>
                    </a:lnTo>
                    <a:lnTo>
                      <a:pt x="12" y="19"/>
                    </a:lnTo>
                    <a:lnTo>
                      <a:pt x="12" y="29"/>
                    </a:lnTo>
                    <a:lnTo>
                      <a:pt x="19" y="29"/>
                    </a:lnTo>
                    <a:lnTo>
                      <a:pt x="19" y="42"/>
                    </a:lnTo>
                    <a:lnTo>
                      <a:pt x="12" y="42"/>
                    </a:lnTo>
                    <a:lnTo>
                      <a:pt x="12" y="29"/>
                    </a:lnTo>
                    <a:lnTo>
                      <a:pt x="12" y="19"/>
                    </a:lnTo>
                    <a:lnTo>
                      <a:pt x="20" y="19"/>
                    </a:lnTo>
                    <a:lnTo>
                      <a:pt x="29" y="25"/>
                    </a:lnTo>
                    <a:lnTo>
                      <a:pt x="29" y="44"/>
                    </a:lnTo>
                    <a:lnTo>
                      <a:pt x="20" y="50"/>
                    </a:lnTo>
                    <a:lnTo>
                      <a:pt x="9" y="50"/>
                    </a:lnTo>
                    <a:lnTo>
                      <a:pt x="0" y="44"/>
                    </a:lnTo>
                    <a:lnTo>
                      <a:pt x="0" y="6"/>
                    </a:lnTo>
                    <a:lnTo>
                      <a:pt x="9" y="0"/>
                    </a:lnTo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txBody>
              <a:bodyPr/>
              <a:lstStyle/>
              <a:p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0568" name="Freeform 28"/>
              <p:cNvSpPr/>
              <p:nvPr/>
            </p:nvSpPr>
            <p:spPr>
              <a:xfrm>
                <a:off x="711" y="638"/>
                <a:ext cx="31" cy="51"/>
              </a:xfrm>
              <a:custGeom>
                <a:avLst/>
                <a:gdLst>
                  <a:gd name="txL" fmla="*/ 0 w 31"/>
                  <a:gd name="txT" fmla="*/ 0 h 51"/>
                  <a:gd name="txR" fmla="*/ 31 w 31"/>
                  <a:gd name="txB" fmla="*/ 51 h 51"/>
                </a:gdLst>
                <a:ahLst/>
                <a:cxnLst>
                  <a:cxn ang="0">
                    <a:pos x="0" y="0"/>
                  </a:cxn>
                  <a:cxn ang="0">
                    <a:pos x="30" y="0"/>
                  </a:cxn>
                  <a:cxn ang="0">
                    <a:pos x="30" y="10"/>
                  </a:cxn>
                  <a:cxn ang="0">
                    <a:pos x="12" y="50"/>
                  </a:cxn>
                  <a:cxn ang="0">
                    <a:pos x="0" y="50"/>
                  </a:cxn>
                  <a:cxn ang="0">
                    <a:pos x="18" y="10"/>
                  </a:cxn>
                  <a:cxn ang="0">
                    <a:pos x="0" y="10"/>
                  </a:cxn>
                  <a:cxn ang="0">
                    <a:pos x="0" y="0"/>
                  </a:cxn>
                </a:cxnLst>
                <a:rect l="txL" t="txT" r="txR" b="txB"/>
                <a:pathLst>
                  <a:path w="31" h="51">
                    <a:moveTo>
                      <a:pt x="0" y="0"/>
                    </a:moveTo>
                    <a:lnTo>
                      <a:pt x="30" y="0"/>
                    </a:lnTo>
                    <a:lnTo>
                      <a:pt x="30" y="10"/>
                    </a:lnTo>
                    <a:lnTo>
                      <a:pt x="12" y="50"/>
                    </a:lnTo>
                    <a:lnTo>
                      <a:pt x="0" y="50"/>
                    </a:lnTo>
                    <a:lnTo>
                      <a:pt x="18" y="10"/>
                    </a:lnTo>
                    <a:lnTo>
                      <a:pt x="0" y="1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txBody>
              <a:bodyPr/>
              <a:lstStyle/>
              <a:p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0569" name="Freeform 29"/>
              <p:cNvSpPr/>
              <p:nvPr/>
            </p:nvSpPr>
            <p:spPr>
              <a:xfrm>
                <a:off x="866" y="638"/>
                <a:ext cx="30" cy="51"/>
              </a:xfrm>
              <a:custGeom>
                <a:avLst/>
                <a:gdLst>
                  <a:gd name="txL" fmla="*/ 0 w 30"/>
                  <a:gd name="txT" fmla="*/ 0 h 51"/>
                  <a:gd name="txR" fmla="*/ 30 w 30"/>
                  <a:gd name="txB" fmla="*/ 51 h 51"/>
                </a:gdLst>
                <a:ahLst/>
                <a:cxnLst>
                  <a:cxn ang="0">
                    <a:pos x="6" y="0"/>
                  </a:cxn>
                  <a:cxn ang="0">
                    <a:pos x="23" y="0"/>
                  </a:cxn>
                  <a:cxn ang="0">
                    <a:pos x="29" y="6"/>
                  </a:cxn>
                  <a:cxn ang="0">
                    <a:pos x="29" y="20"/>
                  </a:cxn>
                  <a:cxn ang="0">
                    <a:pos x="25" y="25"/>
                  </a:cxn>
                  <a:cxn ang="0">
                    <a:pos x="29" y="30"/>
                  </a:cxn>
                  <a:cxn ang="0">
                    <a:pos x="29" y="31"/>
                  </a:cxn>
                  <a:cxn ang="0">
                    <a:pos x="18" y="31"/>
                  </a:cxn>
                  <a:cxn ang="0">
                    <a:pos x="18" y="18"/>
                  </a:cxn>
                  <a:cxn ang="0">
                    <a:pos x="18" y="7"/>
                  </a:cxn>
                  <a:cxn ang="0">
                    <a:pos x="11" y="7"/>
                  </a:cxn>
                  <a:cxn ang="0">
                    <a:pos x="11" y="18"/>
                  </a:cxn>
                  <a:cxn ang="0">
                    <a:pos x="18" y="18"/>
                  </a:cxn>
                  <a:cxn ang="0">
                    <a:pos x="18" y="42"/>
                  </a:cxn>
                  <a:cxn ang="0">
                    <a:pos x="11" y="42"/>
                  </a:cxn>
                  <a:cxn ang="0">
                    <a:pos x="11" y="31"/>
                  </a:cxn>
                  <a:cxn ang="0">
                    <a:pos x="18" y="31"/>
                  </a:cxn>
                  <a:cxn ang="0">
                    <a:pos x="29" y="31"/>
                  </a:cxn>
                  <a:cxn ang="0">
                    <a:pos x="29" y="44"/>
                  </a:cxn>
                  <a:cxn ang="0">
                    <a:pos x="23" y="50"/>
                  </a:cxn>
                  <a:cxn ang="0">
                    <a:pos x="6" y="50"/>
                  </a:cxn>
                  <a:cxn ang="0">
                    <a:pos x="0" y="44"/>
                  </a:cxn>
                  <a:cxn ang="0">
                    <a:pos x="0" y="30"/>
                  </a:cxn>
                  <a:cxn ang="0">
                    <a:pos x="4" y="25"/>
                  </a:cxn>
                  <a:cxn ang="0">
                    <a:pos x="0" y="20"/>
                  </a:cxn>
                  <a:cxn ang="0">
                    <a:pos x="0" y="6"/>
                  </a:cxn>
                  <a:cxn ang="0">
                    <a:pos x="6" y="0"/>
                  </a:cxn>
                </a:cxnLst>
                <a:rect l="txL" t="txT" r="txR" b="txB"/>
                <a:pathLst>
                  <a:path w="30" h="51">
                    <a:moveTo>
                      <a:pt x="6" y="0"/>
                    </a:moveTo>
                    <a:lnTo>
                      <a:pt x="23" y="0"/>
                    </a:lnTo>
                    <a:lnTo>
                      <a:pt x="29" y="6"/>
                    </a:lnTo>
                    <a:lnTo>
                      <a:pt x="29" y="20"/>
                    </a:lnTo>
                    <a:lnTo>
                      <a:pt x="25" y="25"/>
                    </a:lnTo>
                    <a:lnTo>
                      <a:pt x="29" y="30"/>
                    </a:lnTo>
                    <a:lnTo>
                      <a:pt x="29" y="31"/>
                    </a:lnTo>
                    <a:lnTo>
                      <a:pt x="18" y="31"/>
                    </a:lnTo>
                    <a:lnTo>
                      <a:pt x="18" y="18"/>
                    </a:lnTo>
                    <a:lnTo>
                      <a:pt x="18" y="7"/>
                    </a:lnTo>
                    <a:lnTo>
                      <a:pt x="11" y="7"/>
                    </a:lnTo>
                    <a:lnTo>
                      <a:pt x="11" y="18"/>
                    </a:lnTo>
                    <a:lnTo>
                      <a:pt x="18" y="18"/>
                    </a:lnTo>
                    <a:lnTo>
                      <a:pt x="18" y="42"/>
                    </a:lnTo>
                    <a:lnTo>
                      <a:pt x="11" y="42"/>
                    </a:lnTo>
                    <a:lnTo>
                      <a:pt x="11" y="31"/>
                    </a:lnTo>
                    <a:lnTo>
                      <a:pt x="18" y="31"/>
                    </a:lnTo>
                    <a:lnTo>
                      <a:pt x="29" y="31"/>
                    </a:lnTo>
                    <a:lnTo>
                      <a:pt x="29" y="44"/>
                    </a:lnTo>
                    <a:lnTo>
                      <a:pt x="23" y="50"/>
                    </a:lnTo>
                    <a:lnTo>
                      <a:pt x="6" y="50"/>
                    </a:lnTo>
                    <a:lnTo>
                      <a:pt x="0" y="44"/>
                    </a:lnTo>
                    <a:lnTo>
                      <a:pt x="0" y="30"/>
                    </a:lnTo>
                    <a:lnTo>
                      <a:pt x="4" y="25"/>
                    </a:lnTo>
                    <a:lnTo>
                      <a:pt x="0" y="20"/>
                    </a:lnTo>
                    <a:lnTo>
                      <a:pt x="0" y="6"/>
                    </a:lnTo>
                    <a:lnTo>
                      <a:pt x="6" y="0"/>
                    </a:lnTo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txBody>
              <a:bodyPr/>
              <a:lstStyle/>
              <a:p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0570" name="Freeform 30"/>
              <p:cNvSpPr/>
              <p:nvPr/>
            </p:nvSpPr>
            <p:spPr>
              <a:xfrm>
                <a:off x="1019" y="638"/>
                <a:ext cx="32" cy="51"/>
              </a:xfrm>
              <a:custGeom>
                <a:avLst/>
                <a:gdLst>
                  <a:gd name="txL" fmla="*/ 0 w 32"/>
                  <a:gd name="txT" fmla="*/ 0 h 51"/>
                  <a:gd name="txR" fmla="*/ 32 w 32"/>
                  <a:gd name="txB" fmla="*/ 51 h 51"/>
                </a:gdLst>
                <a:ahLst/>
                <a:cxnLst>
                  <a:cxn ang="0">
                    <a:pos x="22" y="0"/>
                  </a:cxn>
                  <a:cxn ang="0">
                    <a:pos x="31" y="6"/>
                  </a:cxn>
                  <a:cxn ang="0">
                    <a:pos x="31" y="44"/>
                  </a:cxn>
                  <a:cxn ang="0">
                    <a:pos x="22" y="50"/>
                  </a:cxn>
                  <a:cxn ang="0">
                    <a:pos x="10" y="50"/>
                  </a:cxn>
                  <a:cxn ang="0">
                    <a:pos x="0" y="44"/>
                  </a:cxn>
                  <a:cxn ang="0">
                    <a:pos x="0" y="35"/>
                  </a:cxn>
                  <a:cxn ang="0">
                    <a:pos x="12" y="35"/>
                  </a:cxn>
                  <a:cxn ang="0">
                    <a:pos x="12" y="40"/>
                  </a:cxn>
                  <a:cxn ang="0">
                    <a:pos x="19" y="40"/>
                  </a:cxn>
                  <a:cxn ang="0">
                    <a:pos x="19" y="31"/>
                  </a:cxn>
                  <a:cxn ang="0">
                    <a:pos x="19" y="21"/>
                  </a:cxn>
                  <a:cxn ang="0">
                    <a:pos x="12" y="21"/>
                  </a:cxn>
                  <a:cxn ang="0">
                    <a:pos x="12" y="8"/>
                  </a:cxn>
                  <a:cxn ang="0">
                    <a:pos x="19" y="8"/>
                  </a:cxn>
                  <a:cxn ang="0">
                    <a:pos x="19" y="21"/>
                  </a:cxn>
                  <a:cxn ang="0">
                    <a:pos x="19" y="31"/>
                  </a:cxn>
                  <a:cxn ang="0">
                    <a:pos x="10" y="31"/>
                  </a:cxn>
                  <a:cxn ang="0">
                    <a:pos x="0" y="25"/>
                  </a:cxn>
                  <a:cxn ang="0">
                    <a:pos x="0" y="6"/>
                  </a:cxn>
                  <a:cxn ang="0">
                    <a:pos x="10" y="0"/>
                  </a:cxn>
                  <a:cxn ang="0">
                    <a:pos x="22" y="0"/>
                  </a:cxn>
                </a:cxnLst>
                <a:rect l="txL" t="txT" r="txR" b="txB"/>
                <a:pathLst>
                  <a:path w="32" h="51">
                    <a:moveTo>
                      <a:pt x="22" y="0"/>
                    </a:moveTo>
                    <a:lnTo>
                      <a:pt x="31" y="6"/>
                    </a:lnTo>
                    <a:lnTo>
                      <a:pt x="31" y="44"/>
                    </a:lnTo>
                    <a:lnTo>
                      <a:pt x="22" y="50"/>
                    </a:lnTo>
                    <a:lnTo>
                      <a:pt x="10" y="50"/>
                    </a:lnTo>
                    <a:lnTo>
                      <a:pt x="0" y="44"/>
                    </a:lnTo>
                    <a:lnTo>
                      <a:pt x="0" y="35"/>
                    </a:lnTo>
                    <a:lnTo>
                      <a:pt x="12" y="35"/>
                    </a:lnTo>
                    <a:lnTo>
                      <a:pt x="12" y="40"/>
                    </a:lnTo>
                    <a:lnTo>
                      <a:pt x="19" y="40"/>
                    </a:lnTo>
                    <a:lnTo>
                      <a:pt x="19" y="31"/>
                    </a:lnTo>
                    <a:lnTo>
                      <a:pt x="19" y="21"/>
                    </a:lnTo>
                    <a:lnTo>
                      <a:pt x="12" y="21"/>
                    </a:lnTo>
                    <a:lnTo>
                      <a:pt x="12" y="8"/>
                    </a:lnTo>
                    <a:lnTo>
                      <a:pt x="19" y="8"/>
                    </a:lnTo>
                    <a:lnTo>
                      <a:pt x="19" y="21"/>
                    </a:lnTo>
                    <a:lnTo>
                      <a:pt x="19" y="31"/>
                    </a:lnTo>
                    <a:lnTo>
                      <a:pt x="10" y="31"/>
                    </a:lnTo>
                    <a:lnTo>
                      <a:pt x="0" y="25"/>
                    </a:lnTo>
                    <a:lnTo>
                      <a:pt x="0" y="6"/>
                    </a:lnTo>
                    <a:lnTo>
                      <a:pt x="10" y="0"/>
                    </a:lnTo>
                    <a:lnTo>
                      <a:pt x="22" y="0"/>
                    </a:lnTo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txBody>
              <a:bodyPr/>
              <a:lstStyle/>
              <a:p>
                <a:endParaRPr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0571" name="Group 33"/>
              <p:cNvGrpSpPr/>
              <p:nvPr/>
            </p:nvGrpSpPr>
            <p:grpSpPr>
              <a:xfrm>
                <a:off x="1175" y="638"/>
                <a:ext cx="56" cy="51"/>
                <a:chOff x="1175" y="638"/>
                <a:chExt cx="56" cy="51"/>
              </a:xfrm>
            </p:grpSpPr>
            <p:sp>
              <p:nvSpPr>
                <p:cNvPr id="20575" name="Freeform 31"/>
                <p:cNvSpPr/>
                <p:nvPr/>
              </p:nvSpPr>
              <p:spPr>
                <a:xfrm>
                  <a:off x="1200" y="638"/>
                  <a:ext cx="31" cy="51"/>
                </a:xfrm>
                <a:custGeom>
                  <a:avLst/>
                  <a:gdLst>
                    <a:gd name="txL" fmla="*/ 0 w 31"/>
                    <a:gd name="txT" fmla="*/ 0 h 51"/>
                    <a:gd name="txR" fmla="*/ 31 w 31"/>
                    <a:gd name="txB" fmla="*/ 51 h 51"/>
                  </a:gdLst>
                  <a:ahLst/>
                  <a:cxnLst>
                    <a:cxn ang="0">
                      <a:pos x="9" y="0"/>
                    </a:cxn>
                    <a:cxn ang="0">
                      <a:pos x="21" y="0"/>
                    </a:cxn>
                    <a:cxn ang="0">
                      <a:pos x="30" y="7"/>
                    </a:cxn>
                    <a:cxn ang="0">
                      <a:pos x="30" y="43"/>
                    </a:cxn>
                    <a:cxn ang="0">
                      <a:pos x="21" y="50"/>
                    </a:cxn>
                    <a:cxn ang="0">
                      <a:pos x="9" y="50"/>
                    </a:cxn>
                    <a:cxn ang="0">
                      <a:pos x="0" y="43"/>
                    </a:cxn>
                    <a:cxn ang="0">
                      <a:pos x="0" y="40"/>
                    </a:cxn>
                    <a:cxn ang="0">
                      <a:pos x="12" y="40"/>
                    </a:cxn>
                    <a:cxn ang="0">
                      <a:pos x="12" y="10"/>
                    </a:cxn>
                    <a:cxn ang="0">
                      <a:pos x="18" y="10"/>
                    </a:cxn>
                    <a:cxn ang="0">
                      <a:pos x="18" y="40"/>
                    </a:cxn>
                    <a:cxn ang="0">
                      <a:pos x="12" y="40"/>
                    </a:cxn>
                    <a:cxn ang="0">
                      <a:pos x="0" y="40"/>
                    </a:cxn>
                    <a:cxn ang="0">
                      <a:pos x="0" y="7"/>
                    </a:cxn>
                    <a:cxn ang="0">
                      <a:pos x="9" y="0"/>
                    </a:cxn>
                  </a:cxnLst>
                  <a:rect l="txL" t="txT" r="txR" b="txB"/>
                  <a:pathLst>
                    <a:path w="31" h="51">
                      <a:moveTo>
                        <a:pt x="9" y="0"/>
                      </a:moveTo>
                      <a:lnTo>
                        <a:pt x="21" y="0"/>
                      </a:lnTo>
                      <a:lnTo>
                        <a:pt x="30" y="7"/>
                      </a:lnTo>
                      <a:lnTo>
                        <a:pt x="30" y="43"/>
                      </a:lnTo>
                      <a:lnTo>
                        <a:pt x="21" y="50"/>
                      </a:lnTo>
                      <a:lnTo>
                        <a:pt x="9" y="50"/>
                      </a:lnTo>
                      <a:lnTo>
                        <a:pt x="0" y="43"/>
                      </a:lnTo>
                      <a:lnTo>
                        <a:pt x="0" y="40"/>
                      </a:lnTo>
                      <a:lnTo>
                        <a:pt x="12" y="40"/>
                      </a:lnTo>
                      <a:lnTo>
                        <a:pt x="12" y="10"/>
                      </a:lnTo>
                      <a:lnTo>
                        <a:pt x="18" y="10"/>
                      </a:lnTo>
                      <a:lnTo>
                        <a:pt x="18" y="40"/>
                      </a:lnTo>
                      <a:lnTo>
                        <a:pt x="12" y="40"/>
                      </a:lnTo>
                      <a:lnTo>
                        <a:pt x="0" y="40"/>
                      </a:lnTo>
                      <a:lnTo>
                        <a:pt x="0" y="7"/>
                      </a:lnTo>
                      <a:lnTo>
                        <a:pt x="9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76" name="Freeform 32"/>
                <p:cNvSpPr/>
                <p:nvPr/>
              </p:nvSpPr>
              <p:spPr>
                <a:xfrm>
                  <a:off x="1175" y="638"/>
                  <a:ext cx="19" cy="51"/>
                </a:xfrm>
                <a:custGeom>
                  <a:avLst/>
                  <a:gdLst>
                    <a:gd name="txL" fmla="*/ 0 w 19"/>
                    <a:gd name="txT" fmla="*/ 0 h 51"/>
                    <a:gd name="txR" fmla="*/ 19 w 19"/>
                    <a:gd name="txB" fmla="*/ 51 h 51"/>
                  </a:gdLst>
                  <a:ahLst/>
                  <a:cxnLst>
                    <a:cxn ang="0">
                      <a:pos x="6" y="50"/>
                    </a:cxn>
                    <a:cxn ang="0">
                      <a:pos x="18" y="50"/>
                    </a:cxn>
                    <a:cxn ang="0">
                      <a:pos x="18" y="0"/>
                    </a:cxn>
                    <a:cxn ang="0">
                      <a:pos x="2" y="0"/>
                    </a:cxn>
                    <a:cxn ang="0">
                      <a:pos x="0" y="10"/>
                    </a:cxn>
                    <a:cxn ang="0">
                      <a:pos x="6" y="10"/>
                    </a:cxn>
                    <a:cxn ang="0">
                      <a:pos x="6" y="50"/>
                    </a:cxn>
                  </a:cxnLst>
                  <a:rect l="txL" t="txT" r="txR" b="txB"/>
                  <a:pathLst>
                    <a:path w="19" h="51">
                      <a:moveTo>
                        <a:pt x="6" y="50"/>
                      </a:moveTo>
                      <a:lnTo>
                        <a:pt x="18" y="50"/>
                      </a:lnTo>
                      <a:lnTo>
                        <a:pt x="18" y="0"/>
                      </a:lnTo>
                      <a:lnTo>
                        <a:pt x="2" y="0"/>
                      </a:lnTo>
                      <a:lnTo>
                        <a:pt x="0" y="10"/>
                      </a:lnTo>
                      <a:lnTo>
                        <a:pt x="6" y="10"/>
                      </a:lnTo>
                      <a:lnTo>
                        <a:pt x="6" y="5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572" name="Group 36"/>
              <p:cNvGrpSpPr/>
              <p:nvPr/>
            </p:nvGrpSpPr>
            <p:grpSpPr>
              <a:xfrm>
                <a:off x="1330" y="638"/>
                <a:ext cx="43" cy="51"/>
                <a:chOff x="1330" y="638"/>
                <a:chExt cx="43" cy="51"/>
              </a:xfrm>
            </p:grpSpPr>
            <p:sp>
              <p:nvSpPr>
                <p:cNvPr id="20573" name="Freeform 34"/>
                <p:cNvSpPr/>
                <p:nvPr/>
              </p:nvSpPr>
              <p:spPr>
                <a:xfrm>
                  <a:off x="1330" y="638"/>
                  <a:ext cx="17" cy="51"/>
                </a:xfrm>
                <a:custGeom>
                  <a:avLst/>
                  <a:gdLst>
                    <a:gd name="txL" fmla="*/ 0 w 17"/>
                    <a:gd name="txT" fmla="*/ 0 h 51"/>
                    <a:gd name="txR" fmla="*/ 17 w 17"/>
                    <a:gd name="txB" fmla="*/ 51 h 51"/>
                  </a:gdLst>
                  <a:ahLst/>
                  <a:cxnLst>
                    <a:cxn ang="0">
                      <a:pos x="6" y="50"/>
                    </a:cxn>
                    <a:cxn ang="0">
                      <a:pos x="16" y="50"/>
                    </a:cxn>
                    <a:cxn ang="0">
                      <a:pos x="16" y="0"/>
                    </a:cxn>
                    <a:cxn ang="0">
                      <a:pos x="2" y="0"/>
                    </a:cxn>
                    <a:cxn ang="0">
                      <a:pos x="0" y="10"/>
                    </a:cxn>
                    <a:cxn ang="0">
                      <a:pos x="6" y="10"/>
                    </a:cxn>
                    <a:cxn ang="0">
                      <a:pos x="6" y="50"/>
                    </a:cxn>
                  </a:cxnLst>
                  <a:rect l="txL" t="txT" r="txR" b="txB"/>
                  <a:pathLst>
                    <a:path w="17" h="51">
                      <a:moveTo>
                        <a:pt x="6" y="50"/>
                      </a:moveTo>
                      <a:lnTo>
                        <a:pt x="16" y="50"/>
                      </a:lnTo>
                      <a:lnTo>
                        <a:pt x="16" y="0"/>
                      </a:lnTo>
                      <a:lnTo>
                        <a:pt x="2" y="0"/>
                      </a:lnTo>
                      <a:lnTo>
                        <a:pt x="0" y="10"/>
                      </a:lnTo>
                      <a:lnTo>
                        <a:pt x="6" y="10"/>
                      </a:lnTo>
                      <a:lnTo>
                        <a:pt x="6" y="5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74" name="Freeform 35"/>
                <p:cNvSpPr/>
                <p:nvPr/>
              </p:nvSpPr>
              <p:spPr>
                <a:xfrm>
                  <a:off x="1353" y="638"/>
                  <a:ext cx="20" cy="51"/>
                </a:xfrm>
                <a:custGeom>
                  <a:avLst/>
                  <a:gdLst>
                    <a:gd name="txL" fmla="*/ 0 w 20"/>
                    <a:gd name="txT" fmla="*/ 0 h 51"/>
                    <a:gd name="txR" fmla="*/ 20 w 20"/>
                    <a:gd name="txB" fmla="*/ 51 h 51"/>
                  </a:gdLst>
                  <a:ahLst/>
                  <a:cxnLst>
                    <a:cxn ang="0">
                      <a:pos x="7" y="50"/>
                    </a:cxn>
                    <a:cxn ang="0">
                      <a:pos x="19" y="50"/>
                    </a:cxn>
                    <a:cxn ang="0">
                      <a:pos x="19" y="0"/>
                    </a:cxn>
                    <a:cxn ang="0">
                      <a:pos x="2" y="0"/>
                    </a:cxn>
                    <a:cxn ang="0">
                      <a:pos x="0" y="10"/>
                    </a:cxn>
                    <a:cxn ang="0">
                      <a:pos x="7" y="10"/>
                    </a:cxn>
                    <a:cxn ang="0">
                      <a:pos x="7" y="50"/>
                    </a:cxn>
                  </a:cxnLst>
                  <a:rect l="txL" t="txT" r="txR" b="txB"/>
                  <a:pathLst>
                    <a:path w="20" h="51">
                      <a:moveTo>
                        <a:pt x="7" y="50"/>
                      </a:moveTo>
                      <a:lnTo>
                        <a:pt x="19" y="50"/>
                      </a:lnTo>
                      <a:lnTo>
                        <a:pt x="19" y="0"/>
                      </a:lnTo>
                      <a:lnTo>
                        <a:pt x="2" y="0"/>
                      </a:lnTo>
                      <a:lnTo>
                        <a:pt x="0" y="10"/>
                      </a:lnTo>
                      <a:lnTo>
                        <a:pt x="7" y="10"/>
                      </a:lnTo>
                      <a:lnTo>
                        <a:pt x="7" y="5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0502" name="Group 59"/>
            <p:cNvGrpSpPr/>
            <p:nvPr/>
          </p:nvGrpSpPr>
          <p:grpSpPr>
            <a:xfrm>
              <a:off x="400" y="747"/>
              <a:ext cx="982" cy="51"/>
              <a:chOff x="400" y="747"/>
              <a:chExt cx="982" cy="51"/>
            </a:xfrm>
          </p:grpSpPr>
          <p:grpSp>
            <p:nvGrpSpPr>
              <p:cNvPr id="20545" name="Group 40"/>
              <p:cNvGrpSpPr/>
              <p:nvPr/>
            </p:nvGrpSpPr>
            <p:grpSpPr>
              <a:xfrm>
                <a:off x="400" y="747"/>
                <a:ext cx="55" cy="51"/>
                <a:chOff x="400" y="747"/>
                <a:chExt cx="55" cy="51"/>
              </a:xfrm>
            </p:grpSpPr>
            <p:sp>
              <p:nvSpPr>
                <p:cNvPr id="20564" name="Freeform 38"/>
                <p:cNvSpPr/>
                <p:nvPr/>
              </p:nvSpPr>
              <p:spPr>
                <a:xfrm>
                  <a:off x="400" y="747"/>
                  <a:ext cx="19" cy="51"/>
                </a:xfrm>
                <a:custGeom>
                  <a:avLst/>
                  <a:gdLst>
                    <a:gd name="txL" fmla="*/ 0 w 19"/>
                    <a:gd name="txT" fmla="*/ 0 h 51"/>
                    <a:gd name="txR" fmla="*/ 19 w 19"/>
                    <a:gd name="txB" fmla="*/ 51 h 51"/>
                  </a:gdLst>
                  <a:ahLst/>
                  <a:cxnLst>
                    <a:cxn ang="0">
                      <a:pos x="6" y="50"/>
                    </a:cxn>
                    <a:cxn ang="0">
                      <a:pos x="18" y="50"/>
                    </a:cxn>
                    <a:cxn ang="0">
                      <a:pos x="18" y="0"/>
                    </a:cxn>
                    <a:cxn ang="0">
                      <a:pos x="2" y="0"/>
                    </a:cxn>
                    <a:cxn ang="0">
                      <a:pos x="0" y="10"/>
                    </a:cxn>
                    <a:cxn ang="0">
                      <a:pos x="6" y="10"/>
                    </a:cxn>
                    <a:cxn ang="0">
                      <a:pos x="6" y="50"/>
                    </a:cxn>
                  </a:cxnLst>
                  <a:rect l="txL" t="txT" r="txR" b="txB"/>
                  <a:pathLst>
                    <a:path w="19" h="51">
                      <a:moveTo>
                        <a:pt x="6" y="50"/>
                      </a:moveTo>
                      <a:lnTo>
                        <a:pt x="18" y="50"/>
                      </a:lnTo>
                      <a:lnTo>
                        <a:pt x="18" y="0"/>
                      </a:lnTo>
                      <a:lnTo>
                        <a:pt x="2" y="0"/>
                      </a:lnTo>
                      <a:lnTo>
                        <a:pt x="0" y="10"/>
                      </a:lnTo>
                      <a:lnTo>
                        <a:pt x="6" y="10"/>
                      </a:lnTo>
                      <a:lnTo>
                        <a:pt x="6" y="5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65" name="Freeform 39"/>
                <p:cNvSpPr/>
                <p:nvPr/>
              </p:nvSpPr>
              <p:spPr>
                <a:xfrm>
                  <a:off x="425" y="747"/>
                  <a:ext cx="30" cy="51"/>
                </a:xfrm>
                <a:custGeom>
                  <a:avLst/>
                  <a:gdLst>
                    <a:gd name="txL" fmla="*/ 0 w 30"/>
                    <a:gd name="txT" fmla="*/ 0 h 51"/>
                    <a:gd name="txR" fmla="*/ 30 w 30"/>
                    <a:gd name="txB" fmla="*/ 51 h 51"/>
                  </a:gdLst>
                  <a:ahLst/>
                  <a:cxnLst>
                    <a:cxn ang="0">
                      <a:pos x="0" y="15"/>
                    </a:cxn>
                    <a:cxn ang="0">
                      <a:pos x="11" y="15"/>
                    </a:cxn>
                    <a:cxn ang="0">
                      <a:pos x="11" y="10"/>
                    </a:cxn>
                    <a:cxn ang="0">
                      <a:pos x="18" y="10"/>
                    </a:cxn>
                    <a:cxn ang="0">
                      <a:pos x="18" y="18"/>
                    </a:cxn>
                    <a:cxn ang="0">
                      <a:pos x="0" y="41"/>
                    </a:cxn>
                    <a:cxn ang="0">
                      <a:pos x="0" y="50"/>
                    </a:cxn>
                    <a:cxn ang="0">
                      <a:pos x="29" y="50"/>
                    </a:cxn>
                    <a:cxn ang="0">
                      <a:pos x="29" y="41"/>
                    </a:cxn>
                    <a:cxn ang="0">
                      <a:pos x="12" y="41"/>
                    </a:cxn>
                    <a:cxn ang="0">
                      <a:pos x="29" y="20"/>
                    </a:cxn>
                    <a:cxn ang="0">
                      <a:pos x="29" y="6"/>
                    </a:cxn>
                    <a:cxn ang="0">
                      <a:pos x="20" y="0"/>
                    </a:cxn>
                    <a:cxn ang="0">
                      <a:pos x="8" y="0"/>
                    </a:cxn>
                    <a:cxn ang="0">
                      <a:pos x="0" y="6"/>
                    </a:cxn>
                    <a:cxn ang="0">
                      <a:pos x="0" y="15"/>
                    </a:cxn>
                  </a:cxnLst>
                  <a:rect l="txL" t="txT" r="txR" b="txB"/>
                  <a:pathLst>
                    <a:path w="30" h="51">
                      <a:moveTo>
                        <a:pt x="0" y="15"/>
                      </a:moveTo>
                      <a:lnTo>
                        <a:pt x="11" y="15"/>
                      </a:lnTo>
                      <a:lnTo>
                        <a:pt x="11" y="10"/>
                      </a:lnTo>
                      <a:lnTo>
                        <a:pt x="18" y="10"/>
                      </a:lnTo>
                      <a:lnTo>
                        <a:pt x="18" y="18"/>
                      </a:lnTo>
                      <a:lnTo>
                        <a:pt x="0" y="41"/>
                      </a:lnTo>
                      <a:lnTo>
                        <a:pt x="0" y="50"/>
                      </a:lnTo>
                      <a:lnTo>
                        <a:pt x="29" y="50"/>
                      </a:lnTo>
                      <a:lnTo>
                        <a:pt x="29" y="41"/>
                      </a:lnTo>
                      <a:lnTo>
                        <a:pt x="12" y="41"/>
                      </a:lnTo>
                      <a:lnTo>
                        <a:pt x="29" y="20"/>
                      </a:lnTo>
                      <a:lnTo>
                        <a:pt x="29" y="6"/>
                      </a:lnTo>
                      <a:lnTo>
                        <a:pt x="20" y="0"/>
                      </a:lnTo>
                      <a:lnTo>
                        <a:pt x="8" y="0"/>
                      </a:lnTo>
                      <a:lnTo>
                        <a:pt x="0" y="6"/>
                      </a:lnTo>
                      <a:lnTo>
                        <a:pt x="0" y="15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546" name="Group 43"/>
              <p:cNvGrpSpPr/>
              <p:nvPr/>
            </p:nvGrpSpPr>
            <p:grpSpPr>
              <a:xfrm>
                <a:off x="552" y="747"/>
                <a:ext cx="53" cy="51"/>
                <a:chOff x="552" y="747"/>
                <a:chExt cx="53" cy="51"/>
              </a:xfrm>
            </p:grpSpPr>
            <p:sp>
              <p:nvSpPr>
                <p:cNvPr id="20562" name="Freeform 41"/>
                <p:cNvSpPr/>
                <p:nvPr/>
              </p:nvSpPr>
              <p:spPr>
                <a:xfrm>
                  <a:off x="552" y="747"/>
                  <a:ext cx="19" cy="51"/>
                </a:xfrm>
                <a:custGeom>
                  <a:avLst/>
                  <a:gdLst>
                    <a:gd name="txL" fmla="*/ 0 w 19"/>
                    <a:gd name="txT" fmla="*/ 0 h 51"/>
                    <a:gd name="txR" fmla="*/ 19 w 19"/>
                    <a:gd name="txB" fmla="*/ 51 h 51"/>
                  </a:gdLst>
                  <a:ahLst/>
                  <a:cxnLst>
                    <a:cxn ang="0">
                      <a:pos x="6" y="50"/>
                    </a:cxn>
                    <a:cxn ang="0">
                      <a:pos x="18" y="50"/>
                    </a:cxn>
                    <a:cxn ang="0">
                      <a:pos x="18" y="0"/>
                    </a:cxn>
                    <a:cxn ang="0">
                      <a:pos x="2" y="0"/>
                    </a:cxn>
                    <a:cxn ang="0">
                      <a:pos x="0" y="10"/>
                    </a:cxn>
                    <a:cxn ang="0">
                      <a:pos x="6" y="10"/>
                    </a:cxn>
                    <a:cxn ang="0">
                      <a:pos x="6" y="50"/>
                    </a:cxn>
                  </a:cxnLst>
                  <a:rect l="txL" t="txT" r="txR" b="txB"/>
                  <a:pathLst>
                    <a:path w="19" h="51">
                      <a:moveTo>
                        <a:pt x="6" y="50"/>
                      </a:moveTo>
                      <a:lnTo>
                        <a:pt x="18" y="50"/>
                      </a:lnTo>
                      <a:lnTo>
                        <a:pt x="18" y="0"/>
                      </a:lnTo>
                      <a:lnTo>
                        <a:pt x="2" y="0"/>
                      </a:lnTo>
                      <a:lnTo>
                        <a:pt x="0" y="10"/>
                      </a:lnTo>
                      <a:lnTo>
                        <a:pt x="6" y="10"/>
                      </a:lnTo>
                      <a:lnTo>
                        <a:pt x="6" y="5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63" name="Freeform 42"/>
                <p:cNvSpPr/>
                <p:nvPr/>
              </p:nvSpPr>
              <p:spPr>
                <a:xfrm>
                  <a:off x="575" y="747"/>
                  <a:ext cx="30" cy="51"/>
                </a:xfrm>
                <a:custGeom>
                  <a:avLst/>
                  <a:gdLst>
                    <a:gd name="txL" fmla="*/ 0 w 30"/>
                    <a:gd name="txT" fmla="*/ 0 h 51"/>
                    <a:gd name="txR" fmla="*/ 30 w 30"/>
                    <a:gd name="txB" fmla="*/ 51 h 51"/>
                  </a:gdLst>
                  <a:ahLst/>
                  <a:cxnLst>
                    <a:cxn ang="0">
                      <a:pos x="8" y="0"/>
                    </a:cxn>
                    <a:cxn ang="0">
                      <a:pos x="20" y="0"/>
                    </a:cxn>
                    <a:cxn ang="0">
                      <a:pos x="29" y="6"/>
                    </a:cxn>
                    <a:cxn ang="0">
                      <a:pos x="29" y="20"/>
                    </a:cxn>
                    <a:cxn ang="0">
                      <a:pos x="24" y="25"/>
                    </a:cxn>
                    <a:cxn ang="0">
                      <a:pos x="29" y="30"/>
                    </a:cxn>
                    <a:cxn ang="0">
                      <a:pos x="29" y="44"/>
                    </a:cxn>
                    <a:cxn ang="0">
                      <a:pos x="20" y="50"/>
                    </a:cxn>
                    <a:cxn ang="0">
                      <a:pos x="8" y="50"/>
                    </a:cxn>
                    <a:cxn ang="0">
                      <a:pos x="0" y="44"/>
                    </a:cxn>
                    <a:cxn ang="0">
                      <a:pos x="0" y="36"/>
                    </a:cxn>
                    <a:cxn ang="0">
                      <a:pos x="10" y="36"/>
                    </a:cxn>
                    <a:cxn ang="0">
                      <a:pos x="10" y="41"/>
                    </a:cxn>
                    <a:cxn ang="0">
                      <a:pos x="18" y="41"/>
                    </a:cxn>
                    <a:cxn ang="0">
                      <a:pos x="18" y="30"/>
                    </a:cxn>
                    <a:cxn ang="0">
                      <a:pos x="10" y="30"/>
                    </a:cxn>
                    <a:cxn ang="0">
                      <a:pos x="10" y="20"/>
                    </a:cxn>
                    <a:cxn ang="0">
                      <a:pos x="18" y="20"/>
                    </a:cxn>
                    <a:cxn ang="0">
                      <a:pos x="18" y="9"/>
                    </a:cxn>
                    <a:cxn ang="0">
                      <a:pos x="10" y="9"/>
                    </a:cxn>
                    <a:cxn ang="0">
                      <a:pos x="10" y="14"/>
                    </a:cxn>
                    <a:cxn ang="0">
                      <a:pos x="0" y="14"/>
                    </a:cxn>
                    <a:cxn ang="0">
                      <a:pos x="0" y="6"/>
                    </a:cxn>
                    <a:cxn ang="0">
                      <a:pos x="8" y="0"/>
                    </a:cxn>
                  </a:cxnLst>
                  <a:rect l="txL" t="txT" r="txR" b="txB"/>
                  <a:pathLst>
                    <a:path w="30" h="51">
                      <a:moveTo>
                        <a:pt x="8" y="0"/>
                      </a:moveTo>
                      <a:lnTo>
                        <a:pt x="20" y="0"/>
                      </a:lnTo>
                      <a:lnTo>
                        <a:pt x="29" y="6"/>
                      </a:lnTo>
                      <a:lnTo>
                        <a:pt x="29" y="20"/>
                      </a:lnTo>
                      <a:lnTo>
                        <a:pt x="24" y="25"/>
                      </a:lnTo>
                      <a:lnTo>
                        <a:pt x="29" y="30"/>
                      </a:lnTo>
                      <a:lnTo>
                        <a:pt x="29" y="44"/>
                      </a:lnTo>
                      <a:lnTo>
                        <a:pt x="20" y="50"/>
                      </a:lnTo>
                      <a:lnTo>
                        <a:pt x="8" y="50"/>
                      </a:lnTo>
                      <a:lnTo>
                        <a:pt x="0" y="44"/>
                      </a:lnTo>
                      <a:lnTo>
                        <a:pt x="0" y="36"/>
                      </a:lnTo>
                      <a:lnTo>
                        <a:pt x="10" y="36"/>
                      </a:lnTo>
                      <a:lnTo>
                        <a:pt x="10" y="41"/>
                      </a:lnTo>
                      <a:lnTo>
                        <a:pt x="18" y="41"/>
                      </a:lnTo>
                      <a:lnTo>
                        <a:pt x="18" y="30"/>
                      </a:lnTo>
                      <a:lnTo>
                        <a:pt x="10" y="30"/>
                      </a:lnTo>
                      <a:lnTo>
                        <a:pt x="10" y="20"/>
                      </a:lnTo>
                      <a:lnTo>
                        <a:pt x="18" y="20"/>
                      </a:lnTo>
                      <a:lnTo>
                        <a:pt x="18" y="9"/>
                      </a:lnTo>
                      <a:lnTo>
                        <a:pt x="10" y="9"/>
                      </a:lnTo>
                      <a:lnTo>
                        <a:pt x="10" y="14"/>
                      </a:lnTo>
                      <a:lnTo>
                        <a:pt x="0" y="14"/>
                      </a:lnTo>
                      <a:lnTo>
                        <a:pt x="0" y="6"/>
                      </a:lnTo>
                      <a:lnTo>
                        <a:pt x="8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547" name="Group 46"/>
              <p:cNvGrpSpPr/>
              <p:nvPr/>
            </p:nvGrpSpPr>
            <p:grpSpPr>
              <a:xfrm>
                <a:off x="708" y="747"/>
                <a:ext cx="55" cy="51"/>
                <a:chOff x="708" y="747"/>
                <a:chExt cx="55" cy="51"/>
              </a:xfrm>
            </p:grpSpPr>
            <p:sp>
              <p:nvSpPr>
                <p:cNvPr id="20560" name="Freeform 44"/>
                <p:cNvSpPr/>
                <p:nvPr/>
              </p:nvSpPr>
              <p:spPr>
                <a:xfrm>
                  <a:off x="708" y="747"/>
                  <a:ext cx="19" cy="51"/>
                </a:xfrm>
                <a:custGeom>
                  <a:avLst/>
                  <a:gdLst>
                    <a:gd name="txL" fmla="*/ 0 w 19"/>
                    <a:gd name="txT" fmla="*/ 0 h 51"/>
                    <a:gd name="txR" fmla="*/ 19 w 19"/>
                    <a:gd name="txB" fmla="*/ 51 h 51"/>
                  </a:gdLst>
                  <a:ahLst/>
                  <a:cxnLst>
                    <a:cxn ang="0">
                      <a:pos x="6" y="50"/>
                    </a:cxn>
                    <a:cxn ang="0">
                      <a:pos x="18" y="50"/>
                    </a:cxn>
                    <a:cxn ang="0">
                      <a:pos x="18" y="0"/>
                    </a:cxn>
                    <a:cxn ang="0">
                      <a:pos x="2" y="0"/>
                    </a:cxn>
                    <a:cxn ang="0">
                      <a:pos x="0" y="10"/>
                    </a:cxn>
                    <a:cxn ang="0">
                      <a:pos x="6" y="10"/>
                    </a:cxn>
                    <a:cxn ang="0">
                      <a:pos x="6" y="50"/>
                    </a:cxn>
                  </a:cxnLst>
                  <a:rect l="txL" t="txT" r="txR" b="txB"/>
                  <a:pathLst>
                    <a:path w="19" h="51">
                      <a:moveTo>
                        <a:pt x="6" y="50"/>
                      </a:moveTo>
                      <a:lnTo>
                        <a:pt x="18" y="50"/>
                      </a:lnTo>
                      <a:lnTo>
                        <a:pt x="18" y="0"/>
                      </a:lnTo>
                      <a:lnTo>
                        <a:pt x="2" y="0"/>
                      </a:lnTo>
                      <a:lnTo>
                        <a:pt x="0" y="10"/>
                      </a:lnTo>
                      <a:lnTo>
                        <a:pt x="6" y="10"/>
                      </a:lnTo>
                      <a:lnTo>
                        <a:pt x="6" y="5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61" name="Freeform 45"/>
                <p:cNvSpPr/>
                <p:nvPr/>
              </p:nvSpPr>
              <p:spPr>
                <a:xfrm>
                  <a:off x="727" y="747"/>
                  <a:ext cx="36" cy="51"/>
                </a:xfrm>
                <a:custGeom>
                  <a:avLst/>
                  <a:gdLst>
                    <a:gd name="txL" fmla="*/ 0 w 36"/>
                    <a:gd name="txT" fmla="*/ 0 h 51"/>
                    <a:gd name="txR" fmla="*/ 36 w 36"/>
                    <a:gd name="txB" fmla="*/ 51 h 51"/>
                  </a:gdLst>
                  <a:ahLst/>
                  <a:cxnLst>
                    <a:cxn ang="0">
                      <a:pos x="20" y="0"/>
                    </a:cxn>
                    <a:cxn ang="0">
                      <a:pos x="32" y="0"/>
                    </a:cxn>
                    <a:cxn ang="0">
                      <a:pos x="32" y="30"/>
                    </a:cxn>
                    <a:cxn ang="0">
                      <a:pos x="35" y="30"/>
                    </a:cxn>
                    <a:cxn ang="0">
                      <a:pos x="35" y="41"/>
                    </a:cxn>
                    <a:cxn ang="0">
                      <a:pos x="32" y="41"/>
                    </a:cxn>
                    <a:cxn ang="0">
                      <a:pos x="32" y="50"/>
                    </a:cxn>
                    <a:cxn ang="0">
                      <a:pos x="20" y="50"/>
                    </a:cxn>
                    <a:cxn ang="0">
                      <a:pos x="20" y="41"/>
                    </a:cxn>
                    <a:cxn ang="0">
                      <a:pos x="20" y="30"/>
                    </a:cxn>
                    <a:cxn ang="0">
                      <a:pos x="13" y="30"/>
                    </a:cxn>
                    <a:cxn ang="0">
                      <a:pos x="20" y="19"/>
                    </a:cxn>
                    <a:cxn ang="0">
                      <a:pos x="20" y="30"/>
                    </a:cxn>
                    <a:cxn ang="0">
                      <a:pos x="20" y="41"/>
                    </a:cxn>
                    <a:cxn ang="0">
                      <a:pos x="0" y="41"/>
                    </a:cxn>
                    <a:cxn ang="0">
                      <a:pos x="0" y="30"/>
                    </a:cxn>
                    <a:cxn ang="0">
                      <a:pos x="20" y="0"/>
                    </a:cxn>
                  </a:cxnLst>
                  <a:rect l="txL" t="txT" r="txR" b="txB"/>
                  <a:pathLst>
                    <a:path w="36" h="51">
                      <a:moveTo>
                        <a:pt x="20" y="0"/>
                      </a:moveTo>
                      <a:lnTo>
                        <a:pt x="32" y="0"/>
                      </a:lnTo>
                      <a:lnTo>
                        <a:pt x="32" y="30"/>
                      </a:lnTo>
                      <a:lnTo>
                        <a:pt x="35" y="30"/>
                      </a:lnTo>
                      <a:lnTo>
                        <a:pt x="35" y="41"/>
                      </a:lnTo>
                      <a:lnTo>
                        <a:pt x="32" y="41"/>
                      </a:lnTo>
                      <a:lnTo>
                        <a:pt x="32" y="50"/>
                      </a:lnTo>
                      <a:lnTo>
                        <a:pt x="20" y="50"/>
                      </a:lnTo>
                      <a:lnTo>
                        <a:pt x="20" y="41"/>
                      </a:lnTo>
                      <a:lnTo>
                        <a:pt x="20" y="30"/>
                      </a:lnTo>
                      <a:lnTo>
                        <a:pt x="13" y="30"/>
                      </a:lnTo>
                      <a:lnTo>
                        <a:pt x="20" y="19"/>
                      </a:lnTo>
                      <a:lnTo>
                        <a:pt x="20" y="30"/>
                      </a:lnTo>
                      <a:lnTo>
                        <a:pt x="20" y="41"/>
                      </a:lnTo>
                      <a:lnTo>
                        <a:pt x="0" y="41"/>
                      </a:lnTo>
                      <a:lnTo>
                        <a:pt x="0" y="30"/>
                      </a:lnTo>
                      <a:lnTo>
                        <a:pt x="2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548" name="Group 49"/>
              <p:cNvGrpSpPr/>
              <p:nvPr/>
            </p:nvGrpSpPr>
            <p:grpSpPr>
              <a:xfrm>
                <a:off x="862" y="747"/>
                <a:ext cx="57" cy="51"/>
                <a:chOff x="862" y="747"/>
                <a:chExt cx="57" cy="51"/>
              </a:xfrm>
            </p:grpSpPr>
            <p:sp>
              <p:nvSpPr>
                <p:cNvPr id="20558" name="Freeform 47"/>
                <p:cNvSpPr/>
                <p:nvPr/>
              </p:nvSpPr>
              <p:spPr>
                <a:xfrm>
                  <a:off x="862" y="747"/>
                  <a:ext cx="19" cy="51"/>
                </a:xfrm>
                <a:custGeom>
                  <a:avLst/>
                  <a:gdLst>
                    <a:gd name="txL" fmla="*/ 0 w 19"/>
                    <a:gd name="txT" fmla="*/ 0 h 51"/>
                    <a:gd name="txR" fmla="*/ 19 w 19"/>
                    <a:gd name="txB" fmla="*/ 51 h 51"/>
                  </a:gdLst>
                  <a:ahLst/>
                  <a:cxnLst>
                    <a:cxn ang="0">
                      <a:pos x="6" y="50"/>
                    </a:cxn>
                    <a:cxn ang="0">
                      <a:pos x="18" y="50"/>
                    </a:cxn>
                    <a:cxn ang="0">
                      <a:pos x="18" y="0"/>
                    </a:cxn>
                    <a:cxn ang="0">
                      <a:pos x="2" y="0"/>
                    </a:cxn>
                    <a:cxn ang="0">
                      <a:pos x="0" y="10"/>
                    </a:cxn>
                    <a:cxn ang="0">
                      <a:pos x="6" y="10"/>
                    </a:cxn>
                    <a:cxn ang="0">
                      <a:pos x="6" y="50"/>
                    </a:cxn>
                  </a:cxnLst>
                  <a:rect l="txL" t="txT" r="txR" b="txB"/>
                  <a:pathLst>
                    <a:path w="19" h="51">
                      <a:moveTo>
                        <a:pt x="6" y="50"/>
                      </a:moveTo>
                      <a:lnTo>
                        <a:pt x="18" y="50"/>
                      </a:lnTo>
                      <a:lnTo>
                        <a:pt x="18" y="0"/>
                      </a:lnTo>
                      <a:lnTo>
                        <a:pt x="2" y="0"/>
                      </a:lnTo>
                      <a:lnTo>
                        <a:pt x="0" y="10"/>
                      </a:lnTo>
                      <a:lnTo>
                        <a:pt x="6" y="10"/>
                      </a:lnTo>
                      <a:lnTo>
                        <a:pt x="6" y="5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59" name="Freeform 48"/>
                <p:cNvSpPr/>
                <p:nvPr/>
              </p:nvSpPr>
              <p:spPr>
                <a:xfrm>
                  <a:off x="886" y="747"/>
                  <a:ext cx="33" cy="51"/>
                </a:xfrm>
                <a:custGeom>
                  <a:avLst/>
                  <a:gdLst>
                    <a:gd name="txL" fmla="*/ 0 w 33"/>
                    <a:gd name="txT" fmla="*/ 0 h 51"/>
                    <a:gd name="txR" fmla="*/ 33 w 33"/>
                    <a:gd name="txB" fmla="*/ 51 h 51"/>
                  </a:gdLst>
                  <a:ahLst/>
                  <a:cxnLst>
                    <a:cxn ang="0">
                      <a:pos x="0" y="0"/>
                    </a:cxn>
                    <a:cxn ang="0">
                      <a:pos x="31" y="0"/>
                    </a:cxn>
                    <a:cxn ang="0">
                      <a:pos x="31" y="10"/>
                    </a:cxn>
                    <a:cxn ang="0">
                      <a:pos x="12" y="10"/>
                    </a:cxn>
                    <a:cxn ang="0">
                      <a:pos x="12" y="18"/>
                    </a:cxn>
                    <a:cxn ang="0">
                      <a:pos x="23" y="18"/>
                    </a:cxn>
                    <a:cxn ang="0">
                      <a:pos x="32" y="25"/>
                    </a:cxn>
                    <a:cxn ang="0">
                      <a:pos x="32" y="43"/>
                    </a:cxn>
                    <a:cxn ang="0">
                      <a:pos x="23" y="50"/>
                    </a:cxn>
                    <a:cxn ang="0">
                      <a:pos x="9" y="50"/>
                    </a:cxn>
                    <a:cxn ang="0">
                      <a:pos x="0" y="43"/>
                    </a:cxn>
                    <a:cxn ang="0">
                      <a:pos x="0" y="33"/>
                    </a:cxn>
                    <a:cxn ang="0">
                      <a:pos x="12" y="33"/>
                    </a:cxn>
                    <a:cxn ang="0">
                      <a:pos x="12" y="41"/>
                    </a:cxn>
                    <a:cxn ang="0">
                      <a:pos x="20" y="41"/>
                    </a:cxn>
                    <a:cxn ang="0">
                      <a:pos x="20" y="26"/>
                    </a:cxn>
                    <a:cxn ang="0">
                      <a:pos x="9" y="26"/>
                    </a:cxn>
                    <a:cxn ang="0">
                      <a:pos x="0" y="19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33" h="51">
                      <a:moveTo>
                        <a:pt x="0" y="0"/>
                      </a:moveTo>
                      <a:lnTo>
                        <a:pt x="31" y="0"/>
                      </a:lnTo>
                      <a:lnTo>
                        <a:pt x="31" y="10"/>
                      </a:lnTo>
                      <a:lnTo>
                        <a:pt x="12" y="10"/>
                      </a:lnTo>
                      <a:lnTo>
                        <a:pt x="12" y="18"/>
                      </a:lnTo>
                      <a:lnTo>
                        <a:pt x="23" y="18"/>
                      </a:lnTo>
                      <a:lnTo>
                        <a:pt x="32" y="25"/>
                      </a:lnTo>
                      <a:lnTo>
                        <a:pt x="32" y="43"/>
                      </a:lnTo>
                      <a:lnTo>
                        <a:pt x="23" y="50"/>
                      </a:lnTo>
                      <a:lnTo>
                        <a:pt x="9" y="50"/>
                      </a:lnTo>
                      <a:lnTo>
                        <a:pt x="0" y="43"/>
                      </a:lnTo>
                      <a:lnTo>
                        <a:pt x="0" y="33"/>
                      </a:lnTo>
                      <a:lnTo>
                        <a:pt x="12" y="33"/>
                      </a:lnTo>
                      <a:lnTo>
                        <a:pt x="12" y="41"/>
                      </a:lnTo>
                      <a:lnTo>
                        <a:pt x="20" y="41"/>
                      </a:lnTo>
                      <a:lnTo>
                        <a:pt x="20" y="26"/>
                      </a:lnTo>
                      <a:lnTo>
                        <a:pt x="9" y="26"/>
                      </a:lnTo>
                      <a:lnTo>
                        <a:pt x="0" y="1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549" name="Group 52"/>
              <p:cNvGrpSpPr/>
              <p:nvPr/>
            </p:nvGrpSpPr>
            <p:grpSpPr>
              <a:xfrm>
                <a:off x="1017" y="747"/>
                <a:ext cx="55" cy="51"/>
                <a:chOff x="1017" y="747"/>
                <a:chExt cx="55" cy="51"/>
              </a:xfrm>
            </p:grpSpPr>
            <p:sp>
              <p:nvSpPr>
                <p:cNvPr id="20556" name="Freeform 50"/>
                <p:cNvSpPr/>
                <p:nvPr/>
              </p:nvSpPr>
              <p:spPr>
                <a:xfrm>
                  <a:off x="1017" y="747"/>
                  <a:ext cx="19" cy="51"/>
                </a:xfrm>
                <a:custGeom>
                  <a:avLst/>
                  <a:gdLst>
                    <a:gd name="txL" fmla="*/ 0 w 19"/>
                    <a:gd name="txT" fmla="*/ 0 h 51"/>
                    <a:gd name="txR" fmla="*/ 19 w 19"/>
                    <a:gd name="txB" fmla="*/ 51 h 51"/>
                  </a:gdLst>
                  <a:ahLst/>
                  <a:cxnLst>
                    <a:cxn ang="0">
                      <a:pos x="6" y="50"/>
                    </a:cxn>
                    <a:cxn ang="0">
                      <a:pos x="18" y="50"/>
                    </a:cxn>
                    <a:cxn ang="0">
                      <a:pos x="18" y="0"/>
                    </a:cxn>
                    <a:cxn ang="0">
                      <a:pos x="2" y="0"/>
                    </a:cxn>
                    <a:cxn ang="0">
                      <a:pos x="0" y="10"/>
                    </a:cxn>
                    <a:cxn ang="0">
                      <a:pos x="6" y="10"/>
                    </a:cxn>
                    <a:cxn ang="0">
                      <a:pos x="6" y="50"/>
                    </a:cxn>
                  </a:cxnLst>
                  <a:rect l="txL" t="txT" r="txR" b="txB"/>
                  <a:pathLst>
                    <a:path w="19" h="51">
                      <a:moveTo>
                        <a:pt x="6" y="50"/>
                      </a:moveTo>
                      <a:lnTo>
                        <a:pt x="18" y="50"/>
                      </a:lnTo>
                      <a:lnTo>
                        <a:pt x="18" y="0"/>
                      </a:lnTo>
                      <a:lnTo>
                        <a:pt x="2" y="0"/>
                      </a:lnTo>
                      <a:lnTo>
                        <a:pt x="0" y="10"/>
                      </a:lnTo>
                      <a:lnTo>
                        <a:pt x="6" y="10"/>
                      </a:lnTo>
                      <a:lnTo>
                        <a:pt x="6" y="5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57" name="Freeform 51"/>
                <p:cNvSpPr/>
                <p:nvPr/>
              </p:nvSpPr>
              <p:spPr>
                <a:xfrm>
                  <a:off x="1043" y="747"/>
                  <a:ext cx="29" cy="51"/>
                </a:xfrm>
                <a:custGeom>
                  <a:avLst/>
                  <a:gdLst>
                    <a:gd name="txL" fmla="*/ 0 w 29"/>
                    <a:gd name="txT" fmla="*/ 0 h 51"/>
                    <a:gd name="txR" fmla="*/ 29 w 29"/>
                    <a:gd name="txB" fmla="*/ 51 h 51"/>
                  </a:gdLst>
                  <a:ahLst/>
                  <a:cxnLst>
                    <a:cxn ang="0">
                      <a:pos x="9" y="0"/>
                    </a:cxn>
                    <a:cxn ang="0">
                      <a:pos x="19" y="0"/>
                    </a:cxn>
                    <a:cxn ang="0">
                      <a:pos x="28" y="6"/>
                    </a:cxn>
                    <a:cxn ang="0">
                      <a:pos x="28" y="15"/>
                    </a:cxn>
                    <a:cxn ang="0">
                      <a:pos x="17" y="15"/>
                    </a:cxn>
                    <a:cxn ang="0">
                      <a:pos x="17" y="10"/>
                    </a:cxn>
                    <a:cxn ang="0">
                      <a:pos x="11" y="10"/>
                    </a:cxn>
                    <a:cxn ang="0">
                      <a:pos x="11" y="19"/>
                    </a:cxn>
                    <a:cxn ang="0">
                      <a:pos x="11" y="29"/>
                    </a:cxn>
                    <a:cxn ang="0">
                      <a:pos x="17" y="29"/>
                    </a:cxn>
                    <a:cxn ang="0">
                      <a:pos x="17" y="41"/>
                    </a:cxn>
                    <a:cxn ang="0">
                      <a:pos x="11" y="41"/>
                    </a:cxn>
                    <a:cxn ang="0">
                      <a:pos x="11" y="29"/>
                    </a:cxn>
                    <a:cxn ang="0">
                      <a:pos x="11" y="19"/>
                    </a:cxn>
                    <a:cxn ang="0">
                      <a:pos x="19" y="19"/>
                    </a:cxn>
                    <a:cxn ang="0">
                      <a:pos x="28" y="25"/>
                    </a:cxn>
                    <a:cxn ang="0">
                      <a:pos x="28" y="44"/>
                    </a:cxn>
                    <a:cxn ang="0">
                      <a:pos x="19" y="50"/>
                    </a:cxn>
                    <a:cxn ang="0">
                      <a:pos x="9" y="50"/>
                    </a:cxn>
                    <a:cxn ang="0">
                      <a:pos x="0" y="44"/>
                    </a:cxn>
                    <a:cxn ang="0">
                      <a:pos x="0" y="6"/>
                    </a:cxn>
                    <a:cxn ang="0">
                      <a:pos x="9" y="0"/>
                    </a:cxn>
                  </a:cxnLst>
                  <a:rect l="txL" t="txT" r="txR" b="txB"/>
                  <a:pathLst>
                    <a:path w="29" h="51">
                      <a:moveTo>
                        <a:pt x="9" y="0"/>
                      </a:moveTo>
                      <a:lnTo>
                        <a:pt x="19" y="0"/>
                      </a:lnTo>
                      <a:lnTo>
                        <a:pt x="28" y="6"/>
                      </a:lnTo>
                      <a:lnTo>
                        <a:pt x="28" y="15"/>
                      </a:lnTo>
                      <a:lnTo>
                        <a:pt x="17" y="15"/>
                      </a:lnTo>
                      <a:lnTo>
                        <a:pt x="17" y="10"/>
                      </a:lnTo>
                      <a:lnTo>
                        <a:pt x="11" y="10"/>
                      </a:lnTo>
                      <a:lnTo>
                        <a:pt x="11" y="19"/>
                      </a:lnTo>
                      <a:lnTo>
                        <a:pt x="11" y="29"/>
                      </a:lnTo>
                      <a:lnTo>
                        <a:pt x="17" y="29"/>
                      </a:lnTo>
                      <a:lnTo>
                        <a:pt x="17" y="41"/>
                      </a:lnTo>
                      <a:lnTo>
                        <a:pt x="11" y="41"/>
                      </a:lnTo>
                      <a:lnTo>
                        <a:pt x="11" y="29"/>
                      </a:lnTo>
                      <a:lnTo>
                        <a:pt x="11" y="19"/>
                      </a:lnTo>
                      <a:lnTo>
                        <a:pt x="19" y="19"/>
                      </a:lnTo>
                      <a:lnTo>
                        <a:pt x="28" y="25"/>
                      </a:lnTo>
                      <a:lnTo>
                        <a:pt x="28" y="44"/>
                      </a:lnTo>
                      <a:lnTo>
                        <a:pt x="19" y="50"/>
                      </a:lnTo>
                      <a:lnTo>
                        <a:pt x="9" y="50"/>
                      </a:lnTo>
                      <a:lnTo>
                        <a:pt x="0" y="44"/>
                      </a:lnTo>
                      <a:lnTo>
                        <a:pt x="0" y="6"/>
                      </a:lnTo>
                      <a:lnTo>
                        <a:pt x="9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550" name="Group 55"/>
              <p:cNvGrpSpPr/>
              <p:nvPr/>
            </p:nvGrpSpPr>
            <p:grpSpPr>
              <a:xfrm>
                <a:off x="1174" y="747"/>
                <a:ext cx="55" cy="51"/>
                <a:chOff x="1174" y="747"/>
                <a:chExt cx="55" cy="51"/>
              </a:xfrm>
            </p:grpSpPr>
            <p:sp>
              <p:nvSpPr>
                <p:cNvPr id="20554" name="Freeform 53"/>
                <p:cNvSpPr/>
                <p:nvPr/>
              </p:nvSpPr>
              <p:spPr>
                <a:xfrm>
                  <a:off x="1174" y="747"/>
                  <a:ext cx="19" cy="51"/>
                </a:xfrm>
                <a:custGeom>
                  <a:avLst/>
                  <a:gdLst>
                    <a:gd name="txL" fmla="*/ 0 w 19"/>
                    <a:gd name="txT" fmla="*/ 0 h 51"/>
                    <a:gd name="txR" fmla="*/ 19 w 19"/>
                    <a:gd name="txB" fmla="*/ 51 h 51"/>
                  </a:gdLst>
                  <a:ahLst/>
                  <a:cxnLst>
                    <a:cxn ang="0">
                      <a:pos x="6" y="50"/>
                    </a:cxn>
                    <a:cxn ang="0">
                      <a:pos x="18" y="50"/>
                    </a:cxn>
                    <a:cxn ang="0">
                      <a:pos x="18" y="0"/>
                    </a:cxn>
                    <a:cxn ang="0">
                      <a:pos x="2" y="0"/>
                    </a:cxn>
                    <a:cxn ang="0">
                      <a:pos x="0" y="10"/>
                    </a:cxn>
                    <a:cxn ang="0">
                      <a:pos x="6" y="10"/>
                    </a:cxn>
                    <a:cxn ang="0">
                      <a:pos x="6" y="50"/>
                    </a:cxn>
                  </a:cxnLst>
                  <a:rect l="txL" t="txT" r="txR" b="txB"/>
                  <a:pathLst>
                    <a:path w="19" h="51">
                      <a:moveTo>
                        <a:pt x="6" y="50"/>
                      </a:moveTo>
                      <a:lnTo>
                        <a:pt x="18" y="50"/>
                      </a:lnTo>
                      <a:lnTo>
                        <a:pt x="18" y="0"/>
                      </a:lnTo>
                      <a:lnTo>
                        <a:pt x="2" y="0"/>
                      </a:lnTo>
                      <a:lnTo>
                        <a:pt x="0" y="10"/>
                      </a:lnTo>
                      <a:lnTo>
                        <a:pt x="6" y="10"/>
                      </a:lnTo>
                      <a:lnTo>
                        <a:pt x="6" y="5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55" name="Freeform 54"/>
                <p:cNvSpPr/>
                <p:nvPr/>
              </p:nvSpPr>
              <p:spPr>
                <a:xfrm>
                  <a:off x="1197" y="747"/>
                  <a:ext cx="32" cy="51"/>
                </a:xfrm>
                <a:custGeom>
                  <a:avLst/>
                  <a:gdLst>
                    <a:gd name="txL" fmla="*/ 0 w 32"/>
                    <a:gd name="txT" fmla="*/ 0 h 51"/>
                    <a:gd name="txR" fmla="*/ 32 w 32"/>
                    <a:gd name="txB" fmla="*/ 51 h 51"/>
                  </a:gdLst>
                  <a:ahLst/>
                  <a:cxnLst>
                    <a:cxn ang="0">
                      <a:pos x="0" y="0"/>
                    </a:cxn>
                    <a:cxn ang="0">
                      <a:pos x="31" y="0"/>
                    </a:cxn>
                    <a:cxn ang="0">
                      <a:pos x="31" y="10"/>
                    </a:cxn>
                    <a:cxn ang="0">
                      <a:pos x="13" y="50"/>
                    </a:cxn>
                    <a:cxn ang="0">
                      <a:pos x="0" y="50"/>
                    </a:cxn>
                    <a:cxn ang="0">
                      <a:pos x="18" y="10"/>
                    </a:cxn>
                    <a:cxn ang="0">
                      <a:pos x="0" y="1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32" h="51">
                      <a:moveTo>
                        <a:pt x="0" y="0"/>
                      </a:moveTo>
                      <a:lnTo>
                        <a:pt x="31" y="0"/>
                      </a:lnTo>
                      <a:lnTo>
                        <a:pt x="31" y="10"/>
                      </a:lnTo>
                      <a:lnTo>
                        <a:pt x="13" y="50"/>
                      </a:lnTo>
                      <a:lnTo>
                        <a:pt x="0" y="50"/>
                      </a:lnTo>
                      <a:lnTo>
                        <a:pt x="18" y="10"/>
                      </a:lnTo>
                      <a:lnTo>
                        <a:pt x="0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551" name="Group 58"/>
              <p:cNvGrpSpPr/>
              <p:nvPr/>
            </p:nvGrpSpPr>
            <p:grpSpPr>
              <a:xfrm>
                <a:off x="1328" y="747"/>
                <a:ext cx="54" cy="51"/>
                <a:chOff x="1328" y="747"/>
                <a:chExt cx="54" cy="51"/>
              </a:xfrm>
            </p:grpSpPr>
            <p:sp>
              <p:nvSpPr>
                <p:cNvPr id="20552" name="Freeform 56"/>
                <p:cNvSpPr/>
                <p:nvPr/>
              </p:nvSpPr>
              <p:spPr>
                <a:xfrm>
                  <a:off x="1328" y="747"/>
                  <a:ext cx="19" cy="51"/>
                </a:xfrm>
                <a:custGeom>
                  <a:avLst/>
                  <a:gdLst>
                    <a:gd name="txL" fmla="*/ 0 w 19"/>
                    <a:gd name="txT" fmla="*/ 0 h 51"/>
                    <a:gd name="txR" fmla="*/ 19 w 19"/>
                    <a:gd name="txB" fmla="*/ 51 h 51"/>
                  </a:gdLst>
                  <a:ahLst/>
                  <a:cxnLst>
                    <a:cxn ang="0">
                      <a:pos x="7" y="50"/>
                    </a:cxn>
                    <a:cxn ang="0">
                      <a:pos x="18" y="50"/>
                    </a:cxn>
                    <a:cxn ang="0">
                      <a:pos x="18" y="0"/>
                    </a:cxn>
                    <a:cxn ang="0">
                      <a:pos x="2" y="0"/>
                    </a:cxn>
                    <a:cxn ang="0">
                      <a:pos x="0" y="10"/>
                    </a:cxn>
                    <a:cxn ang="0">
                      <a:pos x="7" y="10"/>
                    </a:cxn>
                    <a:cxn ang="0">
                      <a:pos x="7" y="50"/>
                    </a:cxn>
                  </a:cxnLst>
                  <a:rect l="txL" t="txT" r="txR" b="txB"/>
                  <a:pathLst>
                    <a:path w="19" h="51">
                      <a:moveTo>
                        <a:pt x="7" y="50"/>
                      </a:moveTo>
                      <a:lnTo>
                        <a:pt x="18" y="50"/>
                      </a:lnTo>
                      <a:lnTo>
                        <a:pt x="18" y="0"/>
                      </a:lnTo>
                      <a:lnTo>
                        <a:pt x="2" y="0"/>
                      </a:lnTo>
                      <a:lnTo>
                        <a:pt x="0" y="10"/>
                      </a:lnTo>
                      <a:lnTo>
                        <a:pt x="7" y="10"/>
                      </a:lnTo>
                      <a:lnTo>
                        <a:pt x="7" y="5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53" name="Freeform 57"/>
                <p:cNvSpPr/>
                <p:nvPr/>
              </p:nvSpPr>
              <p:spPr>
                <a:xfrm>
                  <a:off x="1351" y="747"/>
                  <a:ext cx="31" cy="51"/>
                </a:xfrm>
                <a:custGeom>
                  <a:avLst/>
                  <a:gdLst>
                    <a:gd name="txL" fmla="*/ 0 w 31"/>
                    <a:gd name="txT" fmla="*/ 0 h 51"/>
                    <a:gd name="txR" fmla="*/ 31 w 31"/>
                    <a:gd name="txB" fmla="*/ 51 h 51"/>
                  </a:gdLst>
                  <a:ahLst/>
                  <a:cxnLst>
                    <a:cxn ang="0">
                      <a:pos x="7" y="0"/>
                    </a:cxn>
                    <a:cxn ang="0">
                      <a:pos x="23" y="0"/>
                    </a:cxn>
                    <a:cxn ang="0">
                      <a:pos x="30" y="6"/>
                    </a:cxn>
                    <a:cxn ang="0">
                      <a:pos x="30" y="20"/>
                    </a:cxn>
                    <a:cxn ang="0">
                      <a:pos x="26" y="25"/>
                    </a:cxn>
                    <a:cxn ang="0">
                      <a:pos x="30" y="30"/>
                    </a:cxn>
                    <a:cxn ang="0">
                      <a:pos x="30" y="31"/>
                    </a:cxn>
                    <a:cxn ang="0">
                      <a:pos x="18" y="31"/>
                    </a:cxn>
                    <a:cxn ang="0">
                      <a:pos x="18" y="18"/>
                    </a:cxn>
                    <a:cxn ang="0">
                      <a:pos x="18" y="7"/>
                    </a:cxn>
                    <a:cxn ang="0">
                      <a:pos x="12" y="7"/>
                    </a:cxn>
                    <a:cxn ang="0">
                      <a:pos x="12" y="18"/>
                    </a:cxn>
                    <a:cxn ang="0">
                      <a:pos x="18" y="18"/>
                    </a:cxn>
                    <a:cxn ang="0">
                      <a:pos x="18" y="42"/>
                    </a:cxn>
                    <a:cxn ang="0">
                      <a:pos x="12" y="42"/>
                    </a:cxn>
                    <a:cxn ang="0">
                      <a:pos x="12" y="31"/>
                    </a:cxn>
                    <a:cxn ang="0">
                      <a:pos x="18" y="31"/>
                    </a:cxn>
                    <a:cxn ang="0">
                      <a:pos x="30" y="31"/>
                    </a:cxn>
                    <a:cxn ang="0">
                      <a:pos x="30" y="44"/>
                    </a:cxn>
                    <a:cxn ang="0">
                      <a:pos x="23" y="50"/>
                    </a:cxn>
                    <a:cxn ang="0">
                      <a:pos x="7" y="50"/>
                    </a:cxn>
                    <a:cxn ang="0">
                      <a:pos x="0" y="44"/>
                    </a:cxn>
                    <a:cxn ang="0">
                      <a:pos x="0" y="30"/>
                    </a:cxn>
                    <a:cxn ang="0">
                      <a:pos x="4" y="25"/>
                    </a:cxn>
                    <a:cxn ang="0">
                      <a:pos x="0" y="20"/>
                    </a:cxn>
                    <a:cxn ang="0">
                      <a:pos x="0" y="6"/>
                    </a:cxn>
                    <a:cxn ang="0">
                      <a:pos x="7" y="0"/>
                    </a:cxn>
                  </a:cxnLst>
                  <a:rect l="txL" t="txT" r="txR" b="txB"/>
                  <a:pathLst>
                    <a:path w="31" h="51">
                      <a:moveTo>
                        <a:pt x="7" y="0"/>
                      </a:moveTo>
                      <a:lnTo>
                        <a:pt x="23" y="0"/>
                      </a:lnTo>
                      <a:lnTo>
                        <a:pt x="30" y="6"/>
                      </a:lnTo>
                      <a:lnTo>
                        <a:pt x="30" y="20"/>
                      </a:lnTo>
                      <a:lnTo>
                        <a:pt x="26" y="25"/>
                      </a:lnTo>
                      <a:lnTo>
                        <a:pt x="30" y="30"/>
                      </a:lnTo>
                      <a:lnTo>
                        <a:pt x="30" y="31"/>
                      </a:lnTo>
                      <a:lnTo>
                        <a:pt x="18" y="31"/>
                      </a:lnTo>
                      <a:lnTo>
                        <a:pt x="18" y="18"/>
                      </a:lnTo>
                      <a:lnTo>
                        <a:pt x="18" y="7"/>
                      </a:lnTo>
                      <a:lnTo>
                        <a:pt x="12" y="7"/>
                      </a:lnTo>
                      <a:lnTo>
                        <a:pt x="12" y="18"/>
                      </a:lnTo>
                      <a:lnTo>
                        <a:pt x="18" y="18"/>
                      </a:lnTo>
                      <a:lnTo>
                        <a:pt x="18" y="42"/>
                      </a:lnTo>
                      <a:lnTo>
                        <a:pt x="12" y="42"/>
                      </a:lnTo>
                      <a:lnTo>
                        <a:pt x="12" y="31"/>
                      </a:lnTo>
                      <a:lnTo>
                        <a:pt x="18" y="31"/>
                      </a:lnTo>
                      <a:lnTo>
                        <a:pt x="30" y="31"/>
                      </a:lnTo>
                      <a:lnTo>
                        <a:pt x="30" y="44"/>
                      </a:lnTo>
                      <a:lnTo>
                        <a:pt x="23" y="50"/>
                      </a:lnTo>
                      <a:lnTo>
                        <a:pt x="7" y="50"/>
                      </a:lnTo>
                      <a:lnTo>
                        <a:pt x="0" y="44"/>
                      </a:lnTo>
                      <a:lnTo>
                        <a:pt x="0" y="30"/>
                      </a:lnTo>
                      <a:lnTo>
                        <a:pt x="4" y="25"/>
                      </a:lnTo>
                      <a:lnTo>
                        <a:pt x="0" y="20"/>
                      </a:lnTo>
                      <a:lnTo>
                        <a:pt x="0" y="6"/>
                      </a:lnTo>
                      <a:lnTo>
                        <a:pt x="7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0503" name="Group 81"/>
            <p:cNvGrpSpPr/>
            <p:nvPr/>
          </p:nvGrpSpPr>
          <p:grpSpPr>
            <a:xfrm>
              <a:off x="401" y="854"/>
              <a:ext cx="990" cy="53"/>
              <a:chOff x="401" y="854"/>
              <a:chExt cx="990" cy="53"/>
            </a:xfrm>
          </p:grpSpPr>
          <p:grpSp>
            <p:nvGrpSpPr>
              <p:cNvPr id="20524" name="Group 62"/>
              <p:cNvGrpSpPr/>
              <p:nvPr/>
            </p:nvGrpSpPr>
            <p:grpSpPr>
              <a:xfrm>
                <a:off x="401" y="854"/>
                <a:ext cx="57" cy="53"/>
                <a:chOff x="401" y="854"/>
                <a:chExt cx="57" cy="53"/>
              </a:xfrm>
            </p:grpSpPr>
            <p:sp>
              <p:nvSpPr>
                <p:cNvPr id="20543" name="Freeform 60"/>
                <p:cNvSpPr/>
                <p:nvPr/>
              </p:nvSpPr>
              <p:spPr>
                <a:xfrm>
                  <a:off x="401" y="854"/>
                  <a:ext cx="19" cy="53"/>
                </a:xfrm>
                <a:custGeom>
                  <a:avLst/>
                  <a:gdLst>
                    <a:gd name="txL" fmla="*/ 0 w 19"/>
                    <a:gd name="txT" fmla="*/ 0 h 53"/>
                    <a:gd name="txR" fmla="*/ 19 w 19"/>
                    <a:gd name="txB" fmla="*/ 53 h 53"/>
                  </a:gdLst>
                  <a:ahLst/>
                  <a:cxnLst>
                    <a:cxn ang="0">
                      <a:pos x="6" y="52"/>
                    </a:cxn>
                    <a:cxn ang="0">
                      <a:pos x="18" y="52"/>
                    </a:cxn>
                    <a:cxn ang="0">
                      <a:pos x="18" y="0"/>
                    </a:cxn>
                    <a:cxn ang="0">
                      <a:pos x="2" y="0"/>
                    </a:cxn>
                    <a:cxn ang="0">
                      <a:pos x="0" y="11"/>
                    </a:cxn>
                    <a:cxn ang="0">
                      <a:pos x="6" y="11"/>
                    </a:cxn>
                    <a:cxn ang="0">
                      <a:pos x="6" y="52"/>
                    </a:cxn>
                  </a:cxnLst>
                  <a:rect l="txL" t="txT" r="txR" b="txB"/>
                  <a:pathLst>
                    <a:path w="19" h="53">
                      <a:moveTo>
                        <a:pt x="6" y="52"/>
                      </a:moveTo>
                      <a:lnTo>
                        <a:pt x="18" y="52"/>
                      </a:lnTo>
                      <a:lnTo>
                        <a:pt x="18" y="0"/>
                      </a:lnTo>
                      <a:lnTo>
                        <a:pt x="2" y="0"/>
                      </a:lnTo>
                      <a:lnTo>
                        <a:pt x="0" y="11"/>
                      </a:lnTo>
                      <a:lnTo>
                        <a:pt x="6" y="11"/>
                      </a:lnTo>
                      <a:lnTo>
                        <a:pt x="6" y="52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44" name="Freeform 61"/>
                <p:cNvSpPr/>
                <p:nvPr/>
              </p:nvSpPr>
              <p:spPr>
                <a:xfrm>
                  <a:off x="428" y="854"/>
                  <a:ext cx="30" cy="53"/>
                </a:xfrm>
                <a:custGeom>
                  <a:avLst/>
                  <a:gdLst>
                    <a:gd name="txL" fmla="*/ 0 w 30"/>
                    <a:gd name="txT" fmla="*/ 0 h 53"/>
                    <a:gd name="txR" fmla="*/ 30 w 30"/>
                    <a:gd name="txB" fmla="*/ 53 h 53"/>
                  </a:gdLst>
                  <a:ahLst/>
                  <a:cxnLst>
                    <a:cxn ang="0">
                      <a:pos x="20" y="0"/>
                    </a:cxn>
                    <a:cxn ang="0">
                      <a:pos x="29" y="6"/>
                    </a:cxn>
                    <a:cxn ang="0">
                      <a:pos x="29" y="46"/>
                    </a:cxn>
                    <a:cxn ang="0">
                      <a:pos x="20" y="52"/>
                    </a:cxn>
                    <a:cxn ang="0">
                      <a:pos x="9" y="52"/>
                    </a:cxn>
                    <a:cxn ang="0">
                      <a:pos x="0" y="46"/>
                    </a:cxn>
                    <a:cxn ang="0">
                      <a:pos x="0" y="36"/>
                    </a:cxn>
                    <a:cxn ang="0">
                      <a:pos x="12" y="36"/>
                    </a:cxn>
                    <a:cxn ang="0">
                      <a:pos x="12" y="42"/>
                    </a:cxn>
                    <a:cxn ang="0">
                      <a:pos x="17" y="42"/>
                    </a:cxn>
                    <a:cxn ang="0">
                      <a:pos x="17" y="33"/>
                    </a:cxn>
                    <a:cxn ang="0">
                      <a:pos x="17" y="22"/>
                    </a:cxn>
                    <a:cxn ang="0">
                      <a:pos x="12" y="22"/>
                    </a:cxn>
                    <a:cxn ang="0">
                      <a:pos x="12" y="9"/>
                    </a:cxn>
                    <a:cxn ang="0">
                      <a:pos x="17" y="9"/>
                    </a:cxn>
                    <a:cxn ang="0">
                      <a:pos x="17" y="22"/>
                    </a:cxn>
                    <a:cxn ang="0">
                      <a:pos x="17" y="33"/>
                    </a:cxn>
                    <a:cxn ang="0">
                      <a:pos x="9" y="33"/>
                    </a:cxn>
                    <a:cxn ang="0">
                      <a:pos x="0" y="26"/>
                    </a:cxn>
                    <a:cxn ang="0">
                      <a:pos x="0" y="6"/>
                    </a:cxn>
                    <a:cxn ang="0">
                      <a:pos x="9" y="0"/>
                    </a:cxn>
                    <a:cxn ang="0">
                      <a:pos x="20" y="0"/>
                    </a:cxn>
                  </a:cxnLst>
                  <a:rect l="txL" t="txT" r="txR" b="txB"/>
                  <a:pathLst>
                    <a:path w="30" h="53">
                      <a:moveTo>
                        <a:pt x="20" y="0"/>
                      </a:moveTo>
                      <a:lnTo>
                        <a:pt x="29" y="6"/>
                      </a:lnTo>
                      <a:lnTo>
                        <a:pt x="29" y="46"/>
                      </a:lnTo>
                      <a:lnTo>
                        <a:pt x="20" y="52"/>
                      </a:lnTo>
                      <a:lnTo>
                        <a:pt x="9" y="52"/>
                      </a:lnTo>
                      <a:lnTo>
                        <a:pt x="0" y="46"/>
                      </a:lnTo>
                      <a:lnTo>
                        <a:pt x="0" y="36"/>
                      </a:lnTo>
                      <a:lnTo>
                        <a:pt x="12" y="36"/>
                      </a:lnTo>
                      <a:lnTo>
                        <a:pt x="12" y="42"/>
                      </a:lnTo>
                      <a:lnTo>
                        <a:pt x="17" y="42"/>
                      </a:lnTo>
                      <a:lnTo>
                        <a:pt x="17" y="33"/>
                      </a:lnTo>
                      <a:lnTo>
                        <a:pt x="17" y="22"/>
                      </a:lnTo>
                      <a:lnTo>
                        <a:pt x="12" y="22"/>
                      </a:lnTo>
                      <a:lnTo>
                        <a:pt x="12" y="9"/>
                      </a:lnTo>
                      <a:lnTo>
                        <a:pt x="17" y="9"/>
                      </a:lnTo>
                      <a:lnTo>
                        <a:pt x="17" y="22"/>
                      </a:lnTo>
                      <a:lnTo>
                        <a:pt x="17" y="33"/>
                      </a:lnTo>
                      <a:lnTo>
                        <a:pt x="9" y="33"/>
                      </a:lnTo>
                      <a:lnTo>
                        <a:pt x="0" y="26"/>
                      </a:lnTo>
                      <a:lnTo>
                        <a:pt x="0" y="6"/>
                      </a:lnTo>
                      <a:lnTo>
                        <a:pt x="9" y="0"/>
                      </a:lnTo>
                      <a:lnTo>
                        <a:pt x="2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525" name="Group 65"/>
              <p:cNvGrpSpPr/>
              <p:nvPr/>
            </p:nvGrpSpPr>
            <p:grpSpPr>
              <a:xfrm>
                <a:off x="559" y="854"/>
                <a:ext cx="62" cy="53"/>
                <a:chOff x="559" y="854"/>
                <a:chExt cx="62" cy="53"/>
              </a:xfrm>
            </p:grpSpPr>
            <p:sp>
              <p:nvSpPr>
                <p:cNvPr id="20541" name="Freeform 63"/>
                <p:cNvSpPr/>
                <p:nvPr/>
              </p:nvSpPr>
              <p:spPr>
                <a:xfrm>
                  <a:off x="559" y="854"/>
                  <a:ext cx="29" cy="53"/>
                </a:xfrm>
                <a:custGeom>
                  <a:avLst/>
                  <a:gdLst>
                    <a:gd name="txL" fmla="*/ 0 w 29"/>
                    <a:gd name="txT" fmla="*/ 0 h 53"/>
                    <a:gd name="txR" fmla="*/ 29 w 29"/>
                    <a:gd name="txB" fmla="*/ 53 h 53"/>
                  </a:gdLst>
                  <a:ahLst/>
                  <a:cxnLst>
                    <a:cxn ang="0">
                      <a:pos x="0" y="16"/>
                    </a:cxn>
                    <a:cxn ang="0">
                      <a:pos x="11" y="16"/>
                    </a:cxn>
                    <a:cxn ang="0">
                      <a:pos x="11" y="11"/>
                    </a:cxn>
                    <a:cxn ang="0">
                      <a:pos x="18" y="11"/>
                    </a:cxn>
                    <a:cxn ang="0">
                      <a:pos x="18" y="18"/>
                    </a:cxn>
                    <a:cxn ang="0">
                      <a:pos x="0" y="43"/>
                    </a:cxn>
                    <a:cxn ang="0">
                      <a:pos x="0" y="52"/>
                    </a:cxn>
                    <a:cxn ang="0">
                      <a:pos x="28" y="52"/>
                    </a:cxn>
                    <a:cxn ang="0">
                      <a:pos x="28" y="43"/>
                    </a:cxn>
                    <a:cxn ang="0">
                      <a:pos x="13" y="43"/>
                    </a:cxn>
                    <a:cxn ang="0">
                      <a:pos x="28" y="21"/>
                    </a:cxn>
                    <a:cxn ang="0">
                      <a:pos x="28" y="6"/>
                    </a:cxn>
                    <a:cxn ang="0">
                      <a:pos x="20" y="0"/>
                    </a:cxn>
                    <a:cxn ang="0">
                      <a:pos x="9" y="0"/>
                    </a:cxn>
                    <a:cxn ang="0">
                      <a:pos x="0" y="6"/>
                    </a:cxn>
                    <a:cxn ang="0">
                      <a:pos x="0" y="16"/>
                    </a:cxn>
                  </a:cxnLst>
                  <a:rect l="txL" t="txT" r="txR" b="txB"/>
                  <a:pathLst>
                    <a:path w="29" h="53">
                      <a:moveTo>
                        <a:pt x="0" y="16"/>
                      </a:moveTo>
                      <a:lnTo>
                        <a:pt x="11" y="16"/>
                      </a:lnTo>
                      <a:lnTo>
                        <a:pt x="11" y="11"/>
                      </a:lnTo>
                      <a:lnTo>
                        <a:pt x="18" y="11"/>
                      </a:lnTo>
                      <a:lnTo>
                        <a:pt x="18" y="18"/>
                      </a:lnTo>
                      <a:lnTo>
                        <a:pt x="0" y="43"/>
                      </a:lnTo>
                      <a:lnTo>
                        <a:pt x="0" y="52"/>
                      </a:lnTo>
                      <a:lnTo>
                        <a:pt x="28" y="52"/>
                      </a:lnTo>
                      <a:lnTo>
                        <a:pt x="28" y="43"/>
                      </a:lnTo>
                      <a:lnTo>
                        <a:pt x="13" y="43"/>
                      </a:lnTo>
                      <a:lnTo>
                        <a:pt x="28" y="21"/>
                      </a:lnTo>
                      <a:lnTo>
                        <a:pt x="28" y="6"/>
                      </a:lnTo>
                      <a:lnTo>
                        <a:pt x="20" y="0"/>
                      </a:lnTo>
                      <a:lnTo>
                        <a:pt x="9" y="0"/>
                      </a:lnTo>
                      <a:lnTo>
                        <a:pt x="0" y="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42" name="Freeform 64"/>
                <p:cNvSpPr/>
                <p:nvPr/>
              </p:nvSpPr>
              <p:spPr>
                <a:xfrm>
                  <a:off x="592" y="854"/>
                  <a:ext cx="29" cy="53"/>
                </a:xfrm>
                <a:custGeom>
                  <a:avLst/>
                  <a:gdLst>
                    <a:gd name="txL" fmla="*/ 0 w 29"/>
                    <a:gd name="txT" fmla="*/ 0 h 53"/>
                    <a:gd name="txR" fmla="*/ 29 w 29"/>
                    <a:gd name="txB" fmla="*/ 53 h 53"/>
                  </a:gdLst>
                  <a:ahLst/>
                  <a:cxnLst>
                    <a:cxn ang="0">
                      <a:pos x="9" y="0"/>
                    </a:cxn>
                    <a:cxn ang="0">
                      <a:pos x="20" y="0"/>
                    </a:cxn>
                    <a:cxn ang="0">
                      <a:pos x="28" y="8"/>
                    </a:cxn>
                    <a:cxn ang="0">
                      <a:pos x="28" y="44"/>
                    </a:cxn>
                    <a:cxn ang="0">
                      <a:pos x="20" y="52"/>
                    </a:cxn>
                    <a:cxn ang="0">
                      <a:pos x="9" y="52"/>
                    </a:cxn>
                    <a:cxn ang="0">
                      <a:pos x="0" y="44"/>
                    </a:cxn>
                    <a:cxn ang="0">
                      <a:pos x="0" y="42"/>
                    </a:cxn>
                    <a:cxn ang="0">
                      <a:pos x="11" y="42"/>
                    </a:cxn>
                    <a:cxn ang="0">
                      <a:pos x="11" y="11"/>
                    </a:cxn>
                    <a:cxn ang="0">
                      <a:pos x="17" y="11"/>
                    </a:cxn>
                    <a:cxn ang="0">
                      <a:pos x="17" y="42"/>
                    </a:cxn>
                    <a:cxn ang="0">
                      <a:pos x="11" y="42"/>
                    </a:cxn>
                    <a:cxn ang="0">
                      <a:pos x="0" y="42"/>
                    </a:cxn>
                    <a:cxn ang="0">
                      <a:pos x="0" y="8"/>
                    </a:cxn>
                    <a:cxn ang="0">
                      <a:pos x="9" y="0"/>
                    </a:cxn>
                  </a:cxnLst>
                  <a:rect l="txL" t="txT" r="txR" b="txB"/>
                  <a:pathLst>
                    <a:path w="29" h="53">
                      <a:moveTo>
                        <a:pt x="9" y="0"/>
                      </a:moveTo>
                      <a:lnTo>
                        <a:pt x="20" y="0"/>
                      </a:lnTo>
                      <a:lnTo>
                        <a:pt x="28" y="8"/>
                      </a:lnTo>
                      <a:lnTo>
                        <a:pt x="28" y="44"/>
                      </a:lnTo>
                      <a:lnTo>
                        <a:pt x="20" y="52"/>
                      </a:lnTo>
                      <a:lnTo>
                        <a:pt x="9" y="52"/>
                      </a:lnTo>
                      <a:lnTo>
                        <a:pt x="0" y="44"/>
                      </a:lnTo>
                      <a:lnTo>
                        <a:pt x="0" y="42"/>
                      </a:lnTo>
                      <a:lnTo>
                        <a:pt x="11" y="42"/>
                      </a:lnTo>
                      <a:lnTo>
                        <a:pt x="11" y="11"/>
                      </a:lnTo>
                      <a:lnTo>
                        <a:pt x="17" y="11"/>
                      </a:lnTo>
                      <a:lnTo>
                        <a:pt x="17" y="42"/>
                      </a:lnTo>
                      <a:lnTo>
                        <a:pt x="11" y="42"/>
                      </a:lnTo>
                      <a:lnTo>
                        <a:pt x="0" y="42"/>
                      </a:lnTo>
                      <a:lnTo>
                        <a:pt x="0" y="8"/>
                      </a:lnTo>
                      <a:lnTo>
                        <a:pt x="9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526" name="Group 68"/>
              <p:cNvGrpSpPr/>
              <p:nvPr/>
            </p:nvGrpSpPr>
            <p:grpSpPr>
              <a:xfrm>
                <a:off x="710" y="854"/>
                <a:ext cx="53" cy="53"/>
                <a:chOff x="710" y="854"/>
                <a:chExt cx="53" cy="53"/>
              </a:xfrm>
            </p:grpSpPr>
            <p:sp>
              <p:nvSpPr>
                <p:cNvPr id="20539" name="Freeform 66"/>
                <p:cNvSpPr/>
                <p:nvPr/>
              </p:nvSpPr>
              <p:spPr>
                <a:xfrm>
                  <a:off x="710" y="854"/>
                  <a:ext cx="30" cy="53"/>
                </a:xfrm>
                <a:custGeom>
                  <a:avLst/>
                  <a:gdLst>
                    <a:gd name="txL" fmla="*/ 0 w 30"/>
                    <a:gd name="txT" fmla="*/ 0 h 53"/>
                    <a:gd name="txR" fmla="*/ 30 w 30"/>
                    <a:gd name="txB" fmla="*/ 53 h 53"/>
                  </a:gdLst>
                  <a:ahLst/>
                  <a:cxnLst>
                    <a:cxn ang="0">
                      <a:pos x="0" y="16"/>
                    </a:cxn>
                    <a:cxn ang="0">
                      <a:pos x="11" y="16"/>
                    </a:cxn>
                    <a:cxn ang="0">
                      <a:pos x="11" y="11"/>
                    </a:cxn>
                    <a:cxn ang="0">
                      <a:pos x="18" y="11"/>
                    </a:cxn>
                    <a:cxn ang="0">
                      <a:pos x="18" y="18"/>
                    </a:cxn>
                    <a:cxn ang="0">
                      <a:pos x="0" y="43"/>
                    </a:cxn>
                    <a:cxn ang="0">
                      <a:pos x="0" y="52"/>
                    </a:cxn>
                    <a:cxn ang="0">
                      <a:pos x="29" y="52"/>
                    </a:cxn>
                    <a:cxn ang="0">
                      <a:pos x="29" y="43"/>
                    </a:cxn>
                    <a:cxn ang="0">
                      <a:pos x="12" y="43"/>
                    </a:cxn>
                    <a:cxn ang="0">
                      <a:pos x="29" y="21"/>
                    </a:cxn>
                    <a:cxn ang="0">
                      <a:pos x="29" y="6"/>
                    </a:cxn>
                    <a:cxn ang="0">
                      <a:pos x="20" y="0"/>
                    </a:cxn>
                    <a:cxn ang="0">
                      <a:pos x="8" y="0"/>
                    </a:cxn>
                    <a:cxn ang="0">
                      <a:pos x="0" y="6"/>
                    </a:cxn>
                    <a:cxn ang="0">
                      <a:pos x="0" y="16"/>
                    </a:cxn>
                  </a:cxnLst>
                  <a:rect l="txL" t="txT" r="txR" b="txB"/>
                  <a:pathLst>
                    <a:path w="30" h="53">
                      <a:moveTo>
                        <a:pt x="0" y="16"/>
                      </a:moveTo>
                      <a:lnTo>
                        <a:pt x="11" y="16"/>
                      </a:lnTo>
                      <a:lnTo>
                        <a:pt x="11" y="11"/>
                      </a:lnTo>
                      <a:lnTo>
                        <a:pt x="18" y="11"/>
                      </a:lnTo>
                      <a:lnTo>
                        <a:pt x="18" y="18"/>
                      </a:lnTo>
                      <a:lnTo>
                        <a:pt x="0" y="43"/>
                      </a:lnTo>
                      <a:lnTo>
                        <a:pt x="0" y="52"/>
                      </a:lnTo>
                      <a:lnTo>
                        <a:pt x="29" y="52"/>
                      </a:lnTo>
                      <a:lnTo>
                        <a:pt x="29" y="43"/>
                      </a:lnTo>
                      <a:lnTo>
                        <a:pt x="12" y="43"/>
                      </a:lnTo>
                      <a:lnTo>
                        <a:pt x="29" y="21"/>
                      </a:lnTo>
                      <a:lnTo>
                        <a:pt x="29" y="6"/>
                      </a:lnTo>
                      <a:lnTo>
                        <a:pt x="20" y="0"/>
                      </a:lnTo>
                      <a:lnTo>
                        <a:pt x="8" y="0"/>
                      </a:lnTo>
                      <a:lnTo>
                        <a:pt x="0" y="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40" name="Freeform 67"/>
                <p:cNvSpPr/>
                <p:nvPr/>
              </p:nvSpPr>
              <p:spPr>
                <a:xfrm>
                  <a:off x="744" y="854"/>
                  <a:ext cx="19" cy="53"/>
                </a:xfrm>
                <a:custGeom>
                  <a:avLst/>
                  <a:gdLst>
                    <a:gd name="txL" fmla="*/ 0 w 19"/>
                    <a:gd name="txT" fmla="*/ 0 h 53"/>
                    <a:gd name="txR" fmla="*/ 19 w 19"/>
                    <a:gd name="txB" fmla="*/ 53 h 53"/>
                  </a:gdLst>
                  <a:ahLst/>
                  <a:cxnLst>
                    <a:cxn ang="0">
                      <a:pos x="6" y="52"/>
                    </a:cxn>
                    <a:cxn ang="0">
                      <a:pos x="18" y="52"/>
                    </a:cxn>
                    <a:cxn ang="0">
                      <a:pos x="18" y="0"/>
                    </a:cxn>
                    <a:cxn ang="0">
                      <a:pos x="2" y="0"/>
                    </a:cxn>
                    <a:cxn ang="0">
                      <a:pos x="0" y="11"/>
                    </a:cxn>
                    <a:cxn ang="0">
                      <a:pos x="6" y="11"/>
                    </a:cxn>
                    <a:cxn ang="0">
                      <a:pos x="6" y="52"/>
                    </a:cxn>
                  </a:cxnLst>
                  <a:rect l="txL" t="txT" r="txR" b="txB"/>
                  <a:pathLst>
                    <a:path w="19" h="53">
                      <a:moveTo>
                        <a:pt x="6" y="52"/>
                      </a:moveTo>
                      <a:lnTo>
                        <a:pt x="18" y="52"/>
                      </a:lnTo>
                      <a:lnTo>
                        <a:pt x="18" y="0"/>
                      </a:lnTo>
                      <a:lnTo>
                        <a:pt x="2" y="0"/>
                      </a:lnTo>
                      <a:lnTo>
                        <a:pt x="0" y="11"/>
                      </a:lnTo>
                      <a:lnTo>
                        <a:pt x="6" y="11"/>
                      </a:lnTo>
                      <a:lnTo>
                        <a:pt x="6" y="52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527" name="Group 71"/>
              <p:cNvGrpSpPr/>
              <p:nvPr/>
            </p:nvGrpSpPr>
            <p:grpSpPr>
              <a:xfrm>
                <a:off x="866" y="854"/>
                <a:ext cx="65" cy="53"/>
                <a:chOff x="866" y="854"/>
                <a:chExt cx="65" cy="53"/>
              </a:xfrm>
            </p:grpSpPr>
            <p:sp>
              <p:nvSpPr>
                <p:cNvPr id="20537" name="Freeform 69"/>
                <p:cNvSpPr/>
                <p:nvPr/>
              </p:nvSpPr>
              <p:spPr>
                <a:xfrm>
                  <a:off x="866" y="854"/>
                  <a:ext cx="31" cy="53"/>
                </a:xfrm>
                <a:custGeom>
                  <a:avLst/>
                  <a:gdLst>
                    <a:gd name="txL" fmla="*/ 0 w 31"/>
                    <a:gd name="txT" fmla="*/ 0 h 53"/>
                    <a:gd name="txR" fmla="*/ 31 w 31"/>
                    <a:gd name="txB" fmla="*/ 53 h 53"/>
                  </a:gdLst>
                  <a:ahLst/>
                  <a:cxnLst>
                    <a:cxn ang="0">
                      <a:pos x="0" y="16"/>
                    </a:cxn>
                    <a:cxn ang="0">
                      <a:pos x="11" y="16"/>
                    </a:cxn>
                    <a:cxn ang="0">
                      <a:pos x="11" y="11"/>
                    </a:cxn>
                    <a:cxn ang="0">
                      <a:pos x="18" y="11"/>
                    </a:cxn>
                    <a:cxn ang="0">
                      <a:pos x="18" y="18"/>
                    </a:cxn>
                    <a:cxn ang="0">
                      <a:pos x="0" y="43"/>
                    </a:cxn>
                    <a:cxn ang="0">
                      <a:pos x="0" y="52"/>
                    </a:cxn>
                    <a:cxn ang="0">
                      <a:pos x="30" y="52"/>
                    </a:cxn>
                    <a:cxn ang="0">
                      <a:pos x="30" y="43"/>
                    </a:cxn>
                    <a:cxn ang="0">
                      <a:pos x="13" y="43"/>
                    </a:cxn>
                    <a:cxn ang="0">
                      <a:pos x="30" y="21"/>
                    </a:cxn>
                    <a:cxn ang="0">
                      <a:pos x="30" y="6"/>
                    </a:cxn>
                    <a:cxn ang="0">
                      <a:pos x="21" y="0"/>
                    </a:cxn>
                    <a:cxn ang="0">
                      <a:pos x="9" y="0"/>
                    </a:cxn>
                    <a:cxn ang="0">
                      <a:pos x="0" y="6"/>
                    </a:cxn>
                    <a:cxn ang="0">
                      <a:pos x="0" y="16"/>
                    </a:cxn>
                  </a:cxnLst>
                  <a:rect l="txL" t="txT" r="txR" b="txB"/>
                  <a:pathLst>
                    <a:path w="31" h="53">
                      <a:moveTo>
                        <a:pt x="0" y="16"/>
                      </a:moveTo>
                      <a:lnTo>
                        <a:pt x="11" y="16"/>
                      </a:lnTo>
                      <a:lnTo>
                        <a:pt x="11" y="11"/>
                      </a:lnTo>
                      <a:lnTo>
                        <a:pt x="18" y="11"/>
                      </a:lnTo>
                      <a:lnTo>
                        <a:pt x="18" y="18"/>
                      </a:lnTo>
                      <a:lnTo>
                        <a:pt x="0" y="43"/>
                      </a:lnTo>
                      <a:lnTo>
                        <a:pt x="0" y="52"/>
                      </a:lnTo>
                      <a:lnTo>
                        <a:pt x="30" y="52"/>
                      </a:lnTo>
                      <a:lnTo>
                        <a:pt x="30" y="43"/>
                      </a:lnTo>
                      <a:lnTo>
                        <a:pt x="13" y="43"/>
                      </a:lnTo>
                      <a:lnTo>
                        <a:pt x="30" y="21"/>
                      </a:lnTo>
                      <a:lnTo>
                        <a:pt x="30" y="6"/>
                      </a:lnTo>
                      <a:lnTo>
                        <a:pt x="21" y="0"/>
                      </a:lnTo>
                      <a:lnTo>
                        <a:pt x="9" y="0"/>
                      </a:lnTo>
                      <a:lnTo>
                        <a:pt x="0" y="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38" name="Freeform 70"/>
                <p:cNvSpPr/>
                <p:nvPr/>
              </p:nvSpPr>
              <p:spPr>
                <a:xfrm>
                  <a:off x="899" y="854"/>
                  <a:ext cx="32" cy="53"/>
                </a:xfrm>
                <a:custGeom>
                  <a:avLst/>
                  <a:gdLst>
                    <a:gd name="txL" fmla="*/ 0 w 32"/>
                    <a:gd name="txT" fmla="*/ 0 h 53"/>
                    <a:gd name="txR" fmla="*/ 32 w 32"/>
                    <a:gd name="txB" fmla="*/ 53 h 53"/>
                  </a:gdLst>
                  <a:ahLst/>
                  <a:cxnLst>
                    <a:cxn ang="0">
                      <a:pos x="0" y="16"/>
                    </a:cxn>
                    <a:cxn ang="0">
                      <a:pos x="12" y="16"/>
                    </a:cxn>
                    <a:cxn ang="0">
                      <a:pos x="12" y="11"/>
                    </a:cxn>
                    <a:cxn ang="0">
                      <a:pos x="19" y="11"/>
                    </a:cxn>
                    <a:cxn ang="0">
                      <a:pos x="19" y="18"/>
                    </a:cxn>
                    <a:cxn ang="0">
                      <a:pos x="0" y="43"/>
                    </a:cxn>
                    <a:cxn ang="0">
                      <a:pos x="0" y="52"/>
                    </a:cxn>
                    <a:cxn ang="0">
                      <a:pos x="31" y="52"/>
                    </a:cxn>
                    <a:cxn ang="0">
                      <a:pos x="31" y="43"/>
                    </a:cxn>
                    <a:cxn ang="0">
                      <a:pos x="13" y="43"/>
                    </a:cxn>
                    <a:cxn ang="0">
                      <a:pos x="31" y="21"/>
                    </a:cxn>
                    <a:cxn ang="0">
                      <a:pos x="31" y="6"/>
                    </a:cxn>
                    <a:cxn ang="0">
                      <a:pos x="22" y="0"/>
                    </a:cxn>
                    <a:cxn ang="0">
                      <a:pos x="9" y="0"/>
                    </a:cxn>
                    <a:cxn ang="0">
                      <a:pos x="0" y="6"/>
                    </a:cxn>
                    <a:cxn ang="0">
                      <a:pos x="0" y="16"/>
                    </a:cxn>
                  </a:cxnLst>
                  <a:rect l="txL" t="txT" r="txR" b="txB"/>
                  <a:pathLst>
                    <a:path w="32" h="53">
                      <a:moveTo>
                        <a:pt x="0" y="16"/>
                      </a:moveTo>
                      <a:lnTo>
                        <a:pt x="12" y="16"/>
                      </a:lnTo>
                      <a:lnTo>
                        <a:pt x="12" y="11"/>
                      </a:lnTo>
                      <a:lnTo>
                        <a:pt x="19" y="11"/>
                      </a:lnTo>
                      <a:lnTo>
                        <a:pt x="19" y="18"/>
                      </a:lnTo>
                      <a:lnTo>
                        <a:pt x="0" y="43"/>
                      </a:lnTo>
                      <a:lnTo>
                        <a:pt x="0" y="52"/>
                      </a:lnTo>
                      <a:lnTo>
                        <a:pt x="31" y="52"/>
                      </a:lnTo>
                      <a:lnTo>
                        <a:pt x="31" y="43"/>
                      </a:lnTo>
                      <a:lnTo>
                        <a:pt x="13" y="43"/>
                      </a:lnTo>
                      <a:lnTo>
                        <a:pt x="31" y="21"/>
                      </a:lnTo>
                      <a:lnTo>
                        <a:pt x="31" y="6"/>
                      </a:lnTo>
                      <a:lnTo>
                        <a:pt x="22" y="0"/>
                      </a:lnTo>
                      <a:lnTo>
                        <a:pt x="9" y="0"/>
                      </a:lnTo>
                      <a:lnTo>
                        <a:pt x="0" y="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528" name="Group 74"/>
              <p:cNvGrpSpPr/>
              <p:nvPr/>
            </p:nvGrpSpPr>
            <p:grpSpPr>
              <a:xfrm>
                <a:off x="1021" y="854"/>
                <a:ext cx="62" cy="53"/>
                <a:chOff x="1021" y="854"/>
                <a:chExt cx="62" cy="53"/>
              </a:xfrm>
            </p:grpSpPr>
            <p:sp>
              <p:nvSpPr>
                <p:cNvPr id="20535" name="Freeform 72"/>
                <p:cNvSpPr/>
                <p:nvPr/>
              </p:nvSpPr>
              <p:spPr>
                <a:xfrm>
                  <a:off x="1021" y="854"/>
                  <a:ext cx="30" cy="53"/>
                </a:xfrm>
                <a:custGeom>
                  <a:avLst/>
                  <a:gdLst>
                    <a:gd name="txL" fmla="*/ 0 w 30"/>
                    <a:gd name="txT" fmla="*/ 0 h 53"/>
                    <a:gd name="txR" fmla="*/ 30 w 30"/>
                    <a:gd name="txB" fmla="*/ 53 h 53"/>
                  </a:gdLst>
                  <a:ahLst/>
                  <a:cxnLst>
                    <a:cxn ang="0">
                      <a:pos x="0" y="16"/>
                    </a:cxn>
                    <a:cxn ang="0">
                      <a:pos x="11" y="16"/>
                    </a:cxn>
                    <a:cxn ang="0">
                      <a:pos x="11" y="11"/>
                    </a:cxn>
                    <a:cxn ang="0">
                      <a:pos x="18" y="11"/>
                    </a:cxn>
                    <a:cxn ang="0">
                      <a:pos x="18" y="18"/>
                    </a:cxn>
                    <a:cxn ang="0">
                      <a:pos x="0" y="43"/>
                    </a:cxn>
                    <a:cxn ang="0">
                      <a:pos x="0" y="52"/>
                    </a:cxn>
                    <a:cxn ang="0">
                      <a:pos x="29" y="52"/>
                    </a:cxn>
                    <a:cxn ang="0">
                      <a:pos x="29" y="43"/>
                    </a:cxn>
                    <a:cxn ang="0">
                      <a:pos x="12" y="43"/>
                    </a:cxn>
                    <a:cxn ang="0">
                      <a:pos x="29" y="21"/>
                    </a:cxn>
                    <a:cxn ang="0">
                      <a:pos x="29" y="6"/>
                    </a:cxn>
                    <a:cxn ang="0">
                      <a:pos x="20" y="0"/>
                    </a:cxn>
                    <a:cxn ang="0">
                      <a:pos x="9" y="0"/>
                    </a:cxn>
                    <a:cxn ang="0">
                      <a:pos x="0" y="6"/>
                    </a:cxn>
                    <a:cxn ang="0">
                      <a:pos x="0" y="16"/>
                    </a:cxn>
                  </a:cxnLst>
                  <a:rect l="txL" t="txT" r="txR" b="txB"/>
                  <a:pathLst>
                    <a:path w="30" h="53">
                      <a:moveTo>
                        <a:pt x="0" y="16"/>
                      </a:moveTo>
                      <a:lnTo>
                        <a:pt x="11" y="16"/>
                      </a:lnTo>
                      <a:lnTo>
                        <a:pt x="11" y="11"/>
                      </a:lnTo>
                      <a:lnTo>
                        <a:pt x="18" y="11"/>
                      </a:lnTo>
                      <a:lnTo>
                        <a:pt x="18" y="18"/>
                      </a:lnTo>
                      <a:lnTo>
                        <a:pt x="0" y="43"/>
                      </a:lnTo>
                      <a:lnTo>
                        <a:pt x="0" y="52"/>
                      </a:lnTo>
                      <a:lnTo>
                        <a:pt x="29" y="52"/>
                      </a:lnTo>
                      <a:lnTo>
                        <a:pt x="29" y="43"/>
                      </a:lnTo>
                      <a:lnTo>
                        <a:pt x="12" y="43"/>
                      </a:lnTo>
                      <a:lnTo>
                        <a:pt x="29" y="21"/>
                      </a:lnTo>
                      <a:lnTo>
                        <a:pt x="29" y="6"/>
                      </a:lnTo>
                      <a:lnTo>
                        <a:pt x="20" y="0"/>
                      </a:lnTo>
                      <a:lnTo>
                        <a:pt x="9" y="0"/>
                      </a:lnTo>
                      <a:lnTo>
                        <a:pt x="0" y="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36" name="Freeform 73"/>
                <p:cNvSpPr/>
                <p:nvPr/>
              </p:nvSpPr>
              <p:spPr>
                <a:xfrm>
                  <a:off x="1052" y="854"/>
                  <a:ext cx="31" cy="53"/>
                </a:xfrm>
                <a:custGeom>
                  <a:avLst/>
                  <a:gdLst>
                    <a:gd name="txL" fmla="*/ 0 w 31"/>
                    <a:gd name="txT" fmla="*/ 0 h 53"/>
                    <a:gd name="txR" fmla="*/ 31 w 31"/>
                    <a:gd name="txB" fmla="*/ 53 h 53"/>
                  </a:gdLst>
                  <a:ahLst/>
                  <a:cxnLst>
                    <a:cxn ang="0">
                      <a:pos x="9" y="0"/>
                    </a:cxn>
                    <a:cxn ang="0">
                      <a:pos x="21" y="0"/>
                    </a:cxn>
                    <a:cxn ang="0">
                      <a:pos x="30" y="6"/>
                    </a:cxn>
                    <a:cxn ang="0">
                      <a:pos x="30" y="21"/>
                    </a:cxn>
                    <a:cxn ang="0">
                      <a:pos x="25" y="26"/>
                    </a:cxn>
                    <a:cxn ang="0">
                      <a:pos x="30" y="31"/>
                    </a:cxn>
                    <a:cxn ang="0">
                      <a:pos x="30" y="46"/>
                    </a:cxn>
                    <a:cxn ang="0">
                      <a:pos x="21" y="52"/>
                    </a:cxn>
                    <a:cxn ang="0">
                      <a:pos x="9" y="52"/>
                    </a:cxn>
                    <a:cxn ang="0">
                      <a:pos x="0" y="46"/>
                    </a:cxn>
                    <a:cxn ang="0">
                      <a:pos x="0" y="38"/>
                    </a:cxn>
                    <a:cxn ang="0">
                      <a:pos x="11" y="38"/>
                    </a:cxn>
                    <a:cxn ang="0">
                      <a:pos x="11" y="43"/>
                    </a:cxn>
                    <a:cxn ang="0">
                      <a:pos x="19" y="43"/>
                    </a:cxn>
                    <a:cxn ang="0">
                      <a:pos x="19" y="31"/>
                    </a:cxn>
                    <a:cxn ang="0">
                      <a:pos x="11" y="31"/>
                    </a:cxn>
                    <a:cxn ang="0">
                      <a:pos x="11" y="21"/>
                    </a:cxn>
                    <a:cxn ang="0">
                      <a:pos x="19" y="21"/>
                    </a:cxn>
                    <a:cxn ang="0">
                      <a:pos x="19" y="9"/>
                    </a:cxn>
                    <a:cxn ang="0">
                      <a:pos x="11" y="9"/>
                    </a:cxn>
                    <a:cxn ang="0">
                      <a:pos x="11" y="14"/>
                    </a:cxn>
                    <a:cxn ang="0">
                      <a:pos x="0" y="14"/>
                    </a:cxn>
                    <a:cxn ang="0">
                      <a:pos x="0" y="6"/>
                    </a:cxn>
                    <a:cxn ang="0">
                      <a:pos x="9" y="0"/>
                    </a:cxn>
                  </a:cxnLst>
                  <a:rect l="txL" t="txT" r="txR" b="txB"/>
                  <a:pathLst>
                    <a:path w="31" h="53">
                      <a:moveTo>
                        <a:pt x="9" y="0"/>
                      </a:moveTo>
                      <a:lnTo>
                        <a:pt x="21" y="0"/>
                      </a:lnTo>
                      <a:lnTo>
                        <a:pt x="30" y="6"/>
                      </a:lnTo>
                      <a:lnTo>
                        <a:pt x="30" y="21"/>
                      </a:lnTo>
                      <a:lnTo>
                        <a:pt x="25" y="26"/>
                      </a:lnTo>
                      <a:lnTo>
                        <a:pt x="30" y="31"/>
                      </a:lnTo>
                      <a:lnTo>
                        <a:pt x="30" y="46"/>
                      </a:lnTo>
                      <a:lnTo>
                        <a:pt x="21" y="52"/>
                      </a:lnTo>
                      <a:lnTo>
                        <a:pt x="9" y="52"/>
                      </a:lnTo>
                      <a:lnTo>
                        <a:pt x="0" y="46"/>
                      </a:lnTo>
                      <a:lnTo>
                        <a:pt x="0" y="38"/>
                      </a:lnTo>
                      <a:lnTo>
                        <a:pt x="11" y="38"/>
                      </a:lnTo>
                      <a:lnTo>
                        <a:pt x="11" y="43"/>
                      </a:lnTo>
                      <a:lnTo>
                        <a:pt x="19" y="43"/>
                      </a:lnTo>
                      <a:lnTo>
                        <a:pt x="19" y="31"/>
                      </a:lnTo>
                      <a:lnTo>
                        <a:pt x="11" y="31"/>
                      </a:lnTo>
                      <a:lnTo>
                        <a:pt x="11" y="21"/>
                      </a:lnTo>
                      <a:lnTo>
                        <a:pt x="19" y="21"/>
                      </a:lnTo>
                      <a:lnTo>
                        <a:pt x="19" y="9"/>
                      </a:lnTo>
                      <a:lnTo>
                        <a:pt x="11" y="9"/>
                      </a:lnTo>
                      <a:lnTo>
                        <a:pt x="11" y="14"/>
                      </a:lnTo>
                      <a:lnTo>
                        <a:pt x="0" y="14"/>
                      </a:lnTo>
                      <a:lnTo>
                        <a:pt x="0" y="6"/>
                      </a:lnTo>
                      <a:lnTo>
                        <a:pt x="9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529" name="Group 77"/>
              <p:cNvGrpSpPr/>
              <p:nvPr/>
            </p:nvGrpSpPr>
            <p:grpSpPr>
              <a:xfrm>
                <a:off x="1174" y="854"/>
                <a:ext cx="66" cy="53"/>
                <a:chOff x="1174" y="854"/>
                <a:chExt cx="66" cy="53"/>
              </a:xfrm>
            </p:grpSpPr>
            <p:sp>
              <p:nvSpPr>
                <p:cNvPr id="20533" name="Freeform 75"/>
                <p:cNvSpPr/>
                <p:nvPr/>
              </p:nvSpPr>
              <p:spPr>
                <a:xfrm>
                  <a:off x="1174" y="854"/>
                  <a:ext cx="31" cy="53"/>
                </a:xfrm>
                <a:custGeom>
                  <a:avLst/>
                  <a:gdLst>
                    <a:gd name="txL" fmla="*/ 0 w 31"/>
                    <a:gd name="txT" fmla="*/ 0 h 53"/>
                    <a:gd name="txR" fmla="*/ 31 w 31"/>
                    <a:gd name="txB" fmla="*/ 53 h 53"/>
                  </a:gdLst>
                  <a:ahLst/>
                  <a:cxnLst>
                    <a:cxn ang="0">
                      <a:pos x="0" y="16"/>
                    </a:cxn>
                    <a:cxn ang="0">
                      <a:pos x="12" y="16"/>
                    </a:cxn>
                    <a:cxn ang="0">
                      <a:pos x="12" y="11"/>
                    </a:cxn>
                    <a:cxn ang="0">
                      <a:pos x="18" y="11"/>
                    </a:cxn>
                    <a:cxn ang="0">
                      <a:pos x="18" y="18"/>
                    </a:cxn>
                    <a:cxn ang="0">
                      <a:pos x="0" y="43"/>
                    </a:cxn>
                    <a:cxn ang="0">
                      <a:pos x="0" y="52"/>
                    </a:cxn>
                    <a:cxn ang="0">
                      <a:pos x="30" y="52"/>
                    </a:cxn>
                    <a:cxn ang="0">
                      <a:pos x="30" y="43"/>
                    </a:cxn>
                    <a:cxn ang="0">
                      <a:pos x="13" y="43"/>
                    </a:cxn>
                    <a:cxn ang="0">
                      <a:pos x="30" y="21"/>
                    </a:cxn>
                    <a:cxn ang="0">
                      <a:pos x="30" y="6"/>
                    </a:cxn>
                    <a:cxn ang="0">
                      <a:pos x="21" y="0"/>
                    </a:cxn>
                    <a:cxn ang="0">
                      <a:pos x="9" y="0"/>
                    </a:cxn>
                    <a:cxn ang="0">
                      <a:pos x="0" y="6"/>
                    </a:cxn>
                    <a:cxn ang="0">
                      <a:pos x="0" y="16"/>
                    </a:cxn>
                  </a:cxnLst>
                  <a:rect l="txL" t="txT" r="txR" b="txB"/>
                  <a:pathLst>
                    <a:path w="31" h="53">
                      <a:moveTo>
                        <a:pt x="0" y="16"/>
                      </a:moveTo>
                      <a:lnTo>
                        <a:pt x="12" y="16"/>
                      </a:lnTo>
                      <a:lnTo>
                        <a:pt x="12" y="11"/>
                      </a:lnTo>
                      <a:lnTo>
                        <a:pt x="18" y="11"/>
                      </a:lnTo>
                      <a:lnTo>
                        <a:pt x="18" y="18"/>
                      </a:lnTo>
                      <a:lnTo>
                        <a:pt x="0" y="43"/>
                      </a:lnTo>
                      <a:lnTo>
                        <a:pt x="0" y="52"/>
                      </a:lnTo>
                      <a:lnTo>
                        <a:pt x="30" y="52"/>
                      </a:lnTo>
                      <a:lnTo>
                        <a:pt x="30" y="43"/>
                      </a:lnTo>
                      <a:lnTo>
                        <a:pt x="13" y="43"/>
                      </a:lnTo>
                      <a:lnTo>
                        <a:pt x="30" y="21"/>
                      </a:lnTo>
                      <a:lnTo>
                        <a:pt x="30" y="6"/>
                      </a:lnTo>
                      <a:lnTo>
                        <a:pt x="21" y="0"/>
                      </a:lnTo>
                      <a:lnTo>
                        <a:pt x="9" y="0"/>
                      </a:lnTo>
                      <a:lnTo>
                        <a:pt x="0" y="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34" name="Freeform 76"/>
                <p:cNvSpPr/>
                <p:nvPr/>
              </p:nvSpPr>
              <p:spPr>
                <a:xfrm>
                  <a:off x="1205" y="854"/>
                  <a:ext cx="35" cy="53"/>
                </a:xfrm>
                <a:custGeom>
                  <a:avLst/>
                  <a:gdLst>
                    <a:gd name="txL" fmla="*/ 0 w 35"/>
                    <a:gd name="txT" fmla="*/ 0 h 53"/>
                    <a:gd name="txR" fmla="*/ 35 w 35"/>
                    <a:gd name="txB" fmla="*/ 53 h 53"/>
                  </a:gdLst>
                  <a:ahLst/>
                  <a:cxnLst>
                    <a:cxn ang="0">
                      <a:pos x="20" y="0"/>
                    </a:cxn>
                    <a:cxn ang="0">
                      <a:pos x="31" y="0"/>
                    </a:cxn>
                    <a:cxn ang="0">
                      <a:pos x="31" y="31"/>
                    </a:cxn>
                    <a:cxn ang="0">
                      <a:pos x="34" y="31"/>
                    </a:cxn>
                    <a:cxn ang="0">
                      <a:pos x="34" y="43"/>
                    </a:cxn>
                    <a:cxn ang="0">
                      <a:pos x="31" y="43"/>
                    </a:cxn>
                    <a:cxn ang="0">
                      <a:pos x="31" y="52"/>
                    </a:cxn>
                    <a:cxn ang="0">
                      <a:pos x="20" y="52"/>
                    </a:cxn>
                    <a:cxn ang="0">
                      <a:pos x="20" y="43"/>
                    </a:cxn>
                    <a:cxn ang="0">
                      <a:pos x="20" y="31"/>
                    </a:cxn>
                    <a:cxn ang="0">
                      <a:pos x="13" y="31"/>
                    </a:cxn>
                    <a:cxn ang="0">
                      <a:pos x="20" y="20"/>
                    </a:cxn>
                    <a:cxn ang="0">
                      <a:pos x="20" y="31"/>
                    </a:cxn>
                    <a:cxn ang="0">
                      <a:pos x="20" y="43"/>
                    </a:cxn>
                    <a:cxn ang="0">
                      <a:pos x="0" y="43"/>
                    </a:cxn>
                    <a:cxn ang="0">
                      <a:pos x="0" y="31"/>
                    </a:cxn>
                    <a:cxn ang="0">
                      <a:pos x="20" y="0"/>
                    </a:cxn>
                  </a:cxnLst>
                  <a:rect l="txL" t="txT" r="txR" b="txB"/>
                  <a:pathLst>
                    <a:path w="35" h="53">
                      <a:moveTo>
                        <a:pt x="20" y="0"/>
                      </a:moveTo>
                      <a:lnTo>
                        <a:pt x="31" y="0"/>
                      </a:lnTo>
                      <a:lnTo>
                        <a:pt x="31" y="31"/>
                      </a:lnTo>
                      <a:lnTo>
                        <a:pt x="34" y="31"/>
                      </a:lnTo>
                      <a:lnTo>
                        <a:pt x="34" y="43"/>
                      </a:lnTo>
                      <a:lnTo>
                        <a:pt x="31" y="43"/>
                      </a:lnTo>
                      <a:lnTo>
                        <a:pt x="31" y="52"/>
                      </a:lnTo>
                      <a:lnTo>
                        <a:pt x="20" y="52"/>
                      </a:lnTo>
                      <a:lnTo>
                        <a:pt x="20" y="43"/>
                      </a:lnTo>
                      <a:lnTo>
                        <a:pt x="20" y="31"/>
                      </a:lnTo>
                      <a:lnTo>
                        <a:pt x="13" y="31"/>
                      </a:lnTo>
                      <a:lnTo>
                        <a:pt x="20" y="20"/>
                      </a:lnTo>
                      <a:lnTo>
                        <a:pt x="20" y="31"/>
                      </a:lnTo>
                      <a:lnTo>
                        <a:pt x="20" y="43"/>
                      </a:lnTo>
                      <a:lnTo>
                        <a:pt x="0" y="43"/>
                      </a:lnTo>
                      <a:lnTo>
                        <a:pt x="0" y="31"/>
                      </a:lnTo>
                      <a:lnTo>
                        <a:pt x="2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530" name="Group 80"/>
              <p:cNvGrpSpPr/>
              <p:nvPr/>
            </p:nvGrpSpPr>
            <p:grpSpPr>
              <a:xfrm>
                <a:off x="1330" y="854"/>
                <a:ext cx="61" cy="53"/>
                <a:chOff x="1330" y="854"/>
                <a:chExt cx="61" cy="53"/>
              </a:xfrm>
            </p:grpSpPr>
            <p:sp>
              <p:nvSpPr>
                <p:cNvPr id="20531" name="Freeform 78"/>
                <p:cNvSpPr/>
                <p:nvPr/>
              </p:nvSpPr>
              <p:spPr>
                <a:xfrm>
                  <a:off x="1330" y="854"/>
                  <a:ext cx="29" cy="53"/>
                </a:xfrm>
                <a:custGeom>
                  <a:avLst/>
                  <a:gdLst>
                    <a:gd name="txL" fmla="*/ 0 w 29"/>
                    <a:gd name="txT" fmla="*/ 0 h 53"/>
                    <a:gd name="txR" fmla="*/ 29 w 29"/>
                    <a:gd name="txB" fmla="*/ 53 h 53"/>
                  </a:gdLst>
                  <a:ahLst/>
                  <a:cxnLst>
                    <a:cxn ang="0">
                      <a:pos x="0" y="16"/>
                    </a:cxn>
                    <a:cxn ang="0">
                      <a:pos x="11" y="16"/>
                    </a:cxn>
                    <a:cxn ang="0">
                      <a:pos x="11" y="11"/>
                    </a:cxn>
                    <a:cxn ang="0">
                      <a:pos x="17" y="11"/>
                    </a:cxn>
                    <a:cxn ang="0">
                      <a:pos x="17" y="18"/>
                    </a:cxn>
                    <a:cxn ang="0">
                      <a:pos x="0" y="43"/>
                    </a:cxn>
                    <a:cxn ang="0">
                      <a:pos x="0" y="52"/>
                    </a:cxn>
                    <a:cxn ang="0">
                      <a:pos x="28" y="52"/>
                    </a:cxn>
                    <a:cxn ang="0">
                      <a:pos x="28" y="43"/>
                    </a:cxn>
                    <a:cxn ang="0">
                      <a:pos x="13" y="43"/>
                    </a:cxn>
                    <a:cxn ang="0">
                      <a:pos x="28" y="21"/>
                    </a:cxn>
                    <a:cxn ang="0">
                      <a:pos x="28" y="6"/>
                    </a:cxn>
                    <a:cxn ang="0">
                      <a:pos x="19" y="0"/>
                    </a:cxn>
                    <a:cxn ang="0">
                      <a:pos x="9" y="0"/>
                    </a:cxn>
                    <a:cxn ang="0">
                      <a:pos x="0" y="6"/>
                    </a:cxn>
                    <a:cxn ang="0">
                      <a:pos x="0" y="16"/>
                    </a:cxn>
                  </a:cxnLst>
                  <a:rect l="txL" t="txT" r="txR" b="txB"/>
                  <a:pathLst>
                    <a:path w="29" h="53">
                      <a:moveTo>
                        <a:pt x="0" y="16"/>
                      </a:moveTo>
                      <a:lnTo>
                        <a:pt x="11" y="16"/>
                      </a:lnTo>
                      <a:lnTo>
                        <a:pt x="11" y="11"/>
                      </a:lnTo>
                      <a:lnTo>
                        <a:pt x="17" y="11"/>
                      </a:lnTo>
                      <a:lnTo>
                        <a:pt x="17" y="18"/>
                      </a:lnTo>
                      <a:lnTo>
                        <a:pt x="0" y="43"/>
                      </a:lnTo>
                      <a:lnTo>
                        <a:pt x="0" y="52"/>
                      </a:lnTo>
                      <a:lnTo>
                        <a:pt x="28" y="52"/>
                      </a:lnTo>
                      <a:lnTo>
                        <a:pt x="28" y="43"/>
                      </a:lnTo>
                      <a:lnTo>
                        <a:pt x="13" y="43"/>
                      </a:lnTo>
                      <a:lnTo>
                        <a:pt x="28" y="21"/>
                      </a:lnTo>
                      <a:lnTo>
                        <a:pt x="28" y="6"/>
                      </a:lnTo>
                      <a:lnTo>
                        <a:pt x="19" y="0"/>
                      </a:lnTo>
                      <a:lnTo>
                        <a:pt x="9" y="0"/>
                      </a:lnTo>
                      <a:lnTo>
                        <a:pt x="0" y="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32" name="Freeform 79"/>
                <p:cNvSpPr/>
                <p:nvPr/>
              </p:nvSpPr>
              <p:spPr>
                <a:xfrm>
                  <a:off x="1359" y="854"/>
                  <a:ext cx="32" cy="53"/>
                </a:xfrm>
                <a:custGeom>
                  <a:avLst/>
                  <a:gdLst>
                    <a:gd name="txL" fmla="*/ 0 w 32"/>
                    <a:gd name="txT" fmla="*/ 0 h 53"/>
                    <a:gd name="txR" fmla="*/ 32 w 32"/>
                    <a:gd name="txB" fmla="*/ 53 h 53"/>
                  </a:gdLst>
                  <a:ahLst/>
                  <a:cxnLst>
                    <a:cxn ang="0">
                      <a:pos x="0" y="0"/>
                    </a:cxn>
                    <a:cxn ang="0">
                      <a:pos x="30" y="0"/>
                    </a:cxn>
                    <a:cxn ang="0">
                      <a:pos x="30" y="11"/>
                    </a:cxn>
                    <a:cxn ang="0">
                      <a:pos x="12" y="11"/>
                    </a:cxn>
                    <a:cxn ang="0">
                      <a:pos x="12" y="19"/>
                    </a:cxn>
                    <a:cxn ang="0">
                      <a:pos x="22" y="19"/>
                    </a:cxn>
                    <a:cxn ang="0">
                      <a:pos x="31" y="26"/>
                    </a:cxn>
                    <a:cxn ang="0">
                      <a:pos x="31" y="44"/>
                    </a:cxn>
                    <a:cxn ang="0">
                      <a:pos x="22" y="52"/>
                    </a:cxn>
                    <a:cxn ang="0">
                      <a:pos x="9" y="52"/>
                    </a:cxn>
                    <a:cxn ang="0">
                      <a:pos x="0" y="44"/>
                    </a:cxn>
                    <a:cxn ang="0">
                      <a:pos x="0" y="35"/>
                    </a:cxn>
                    <a:cxn ang="0">
                      <a:pos x="12" y="35"/>
                    </a:cxn>
                    <a:cxn ang="0">
                      <a:pos x="12" y="43"/>
                    </a:cxn>
                    <a:cxn ang="0">
                      <a:pos x="19" y="43"/>
                    </a:cxn>
                    <a:cxn ang="0">
                      <a:pos x="19" y="27"/>
                    </a:cxn>
                    <a:cxn ang="0">
                      <a:pos x="9" y="27"/>
                    </a:cxn>
                    <a:cxn ang="0">
                      <a:pos x="0" y="2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32" h="53">
                      <a:moveTo>
                        <a:pt x="0" y="0"/>
                      </a:moveTo>
                      <a:lnTo>
                        <a:pt x="30" y="0"/>
                      </a:lnTo>
                      <a:lnTo>
                        <a:pt x="30" y="11"/>
                      </a:lnTo>
                      <a:lnTo>
                        <a:pt x="12" y="11"/>
                      </a:lnTo>
                      <a:lnTo>
                        <a:pt x="12" y="19"/>
                      </a:lnTo>
                      <a:lnTo>
                        <a:pt x="22" y="19"/>
                      </a:lnTo>
                      <a:lnTo>
                        <a:pt x="31" y="26"/>
                      </a:lnTo>
                      <a:lnTo>
                        <a:pt x="31" y="44"/>
                      </a:lnTo>
                      <a:lnTo>
                        <a:pt x="22" y="52"/>
                      </a:lnTo>
                      <a:lnTo>
                        <a:pt x="9" y="52"/>
                      </a:lnTo>
                      <a:lnTo>
                        <a:pt x="0" y="44"/>
                      </a:lnTo>
                      <a:lnTo>
                        <a:pt x="0" y="35"/>
                      </a:lnTo>
                      <a:lnTo>
                        <a:pt x="12" y="35"/>
                      </a:lnTo>
                      <a:lnTo>
                        <a:pt x="12" y="43"/>
                      </a:lnTo>
                      <a:lnTo>
                        <a:pt x="19" y="43"/>
                      </a:lnTo>
                      <a:lnTo>
                        <a:pt x="19" y="27"/>
                      </a:lnTo>
                      <a:lnTo>
                        <a:pt x="9" y="27"/>
                      </a:lnTo>
                      <a:lnTo>
                        <a:pt x="0" y="2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0504" name="Group 100"/>
            <p:cNvGrpSpPr/>
            <p:nvPr/>
          </p:nvGrpSpPr>
          <p:grpSpPr>
            <a:xfrm>
              <a:off x="401" y="964"/>
              <a:ext cx="826" cy="50"/>
              <a:chOff x="401" y="964"/>
              <a:chExt cx="826" cy="50"/>
            </a:xfrm>
          </p:grpSpPr>
          <p:grpSp>
            <p:nvGrpSpPr>
              <p:cNvPr id="20506" name="Group 84"/>
              <p:cNvGrpSpPr/>
              <p:nvPr/>
            </p:nvGrpSpPr>
            <p:grpSpPr>
              <a:xfrm>
                <a:off x="401" y="964"/>
                <a:ext cx="63" cy="50"/>
                <a:chOff x="401" y="964"/>
                <a:chExt cx="63" cy="50"/>
              </a:xfrm>
            </p:grpSpPr>
            <p:sp>
              <p:nvSpPr>
                <p:cNvPr id="20522" name="Freeform 82"/>
                <p:cNvSpPr/>
                <p:nvPr/>
              </p:nvSpPr>
              <p:spPr>
                <a:xfrm>
                  <a:off x="401" y="964"/>
                  <a:ext cx="31" cy="50"/>
                </a:xfrm>
                <a:custGeom>
                  <a:avLst/>
                  <a:gdLst>
                    <a:gd name="txL" fmla="*/ 0 w 31"/>
                    <a:gd name="txT" fmla="*/ 0 h 50"/>
                    <a:gd name="txR" fmla="*/ 31 w 31"/>
                    <a:gd name="txB" fmla="*/ 50 h 50"/>
                  </a:gdLst>
                  <a:ahLst/>
                  <a:cxnLst>
                    <a:cxn ang="0">
                      <a:pos x="0" y="15"/>
                    </a:cxn>
                    <a:cxn ang="0">
                      <a:pos x="12" y="15"/>
                    </a:cxn>
                    <a:cxn ang="0">
                      <a:pos x="12" y="10"/>
                    </a:cxn>
                    <a:cxn ang="0">
                      <a:pos x="18" y="10"/>
                    </a:cxn>
                    <a:cxn ang="0">
                      <a:pos x="18" y="18"/>
                    </a:cxn>
                    <a:cxn ang="0">
                      <a:pos x="0" y="40"/>
                    </a:cxn>
                    <a:cxn ang="0">
                      <a:pos x="0" y="49"/>
                    </a:cxn>
                    <a:cxn ang="0">
                      <a:pos x="30" y="49"/>
                    </a:cxn>
                    <a:cxn ang="0">
                      <a:pos x="30" y="40"/>
                    </a:cxn>
                    <a:cxn ang="0">
                      <a:pos x="13" y="40"/>
                    </a:cxn>
                    <a:cxn ang="0">
                      <a:pos x="30" y="20"/>
                    </a:cxn>
                    <a:cxn ang="0">
                      <a:pos x="30" y="6"/>
                    </a:cxn>
                    <a:cxn ang="0">
                      <a:pos x="21" y="0"/>
                    </a:cxn>
                    <a:cxn ang="0">
                      <a:pos x="9" y="0"/>
                    </a:cxn>
                    <a:cxn ang="0">
                      <a:pos x="0" y="6"/>
                    </a:cxn>
                    <a:cxn ang="0">
                      <a:pos x="0" y="15"/>
                    </a:cxn>
                  </a:cxnLst>
                  <a:rect l="txL" t="txT" r="txR" b="txB"/>
                  <a:pathLst>
                    <a:path w="31" h="50">
                      <a:moveTo>
                        <a:pt x="0" y="15"/>
                      </a:moveTo>
                      <a:lnTo>
                        <a:pt x="12" y="15"/>
                      </a:lnTo>
                      <a:lnTo>
                        <a:pt x="12" y="10"/>
                      </a:lnTo>
                      <a:lnTo>
                        <a:pt x="18" y="10"/>
                      </a:lnTo>
                      <a:lnTo>
                        <a:pt x="18" y="18"/>
                      </a:lnTo>
                      <a:lnTo>
                        <a:pt x="0" y="40"/>
                      </a:lnTo>
                      <a:lnTo>
                        <a:pt x="0" y="49"/>
                      </a:lnTo>
                      <a:lnTo>
                        <a:pt x="30" y="49"/>
                      </a:lnTo>
                      <a:lnTo>
                        <a:pt x="30" y="40"/>
                      </a:lnTo>
                      <a:lnTo>
                        <a:pt x="13" y="40"/>
                      </a:lnTo>
                      <a:lnTo>
                        <a:pt x="30" y="20"/>
                      </a:lnTo>
                      <a:lnTo>
                        <a:pt x="30" y="6"/>
                      </a:lnTo>
                      <a:lnTo>
                        <a:pt x="21" y="0"/>
                      </a:lnTo>
                      <a:lnTo>
                        <a:pt x="9" y="0"/>
                      </a:lnTo>
                      <a:lnTo>
                        <a:pt x="0" y="6"/>
                      </a:lnTo>
                      <a:lnTo>
                        <a:pt x="0" y="15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23" name="Freeform 83"/>
                <p:cNvSpPr/>
                <p:nvPr/>
              </p:nvSpPr>
              <p:spPr>
                <a:xfrm>
                  <a:off x="433" y="964"/>
                  <a:ext cx="31" cy="50"/>
                </a:xfrm>
                <a:custGeom>
                  <a:avLst/>
                  <a:gdLst>
                    <a:gd name="txL" fmla="*/ 0 w 31"/>
                    <a:gd name="txT" fmla="*/ 0 h 50"/>
                    <a:gd name="txR" fmla="*/ 31 w 31"/>
                    <a:gd name="txB" fmla="*/ 50 h 50"/>
                  </a:gdLst>
                  <a:ahLst/>
                  <a:cxnLst>
                    <a:cxn ang="0">
                      <a:pos x="9" y="0"/>
                    </a:cxn>
                    <a:cxn ang="0">
                      <a:pos x="21" y="0"/>
                    </a:cxn>
                    <a:cxn ang="0">
                      <a:pos x="30" y="6"/>
                    </a:cxn>
                    <a:cxn ang="0">
                      <a:pos x="30" y="15"/>
                    </a:cxn>
                    <a:cxn ang="0">
                      <a:pos x="18" y="15"/>
                    </a:cxn>
                    <a:cxn ang="0">
                      <a:pos x="18" y="10"/>
                    </a:cxn>
                    <a:cxn ang="0">
                      <a:pos x="12" y="10"/>
                    </a:cxn>
                    <a:cxn ang="0">
                      <a:pos x="12" y="19"/>
                    </a:cxn>
                    <a:cxn ang="0">
                      <a:pos x="12" y="28"/>
                    </a:cxn>
                    <a:cxn ang="0">
                      <a:pos x="18" y="28"/>
                    </a:cxn>
                    <a:cxn ang="0">
                      <a:pos x="18" y="40"/>
                    </a:cxn>
                    <a:cxn ang="0">
                      <a:pos x="12" y="40"/>
                    </a:cxn>
                    <a:cxn ang="0">
                      <a:pos x="12" y="28"/>
                    </a:cxn>
                    <a:cxn ang="0">
                      <a:pos x="12" y="19"/>
                    </a:cxn>
                    <a:cxn ang="0">
                      <a:pos x="21" y="19"/>
                    </a:cxn>
                    <a:cxn ang="0">
                      <a:pos x="30" y="25"/>
                    </a:cxn>
                    <a:cxn ang="0">
                      <a:pos x="30" y="43"/>
                    </a:cxn>
                    <a:cxn ang="0">
                      <a:pos x="21" y="49"/>
                    </a:cxn>
                    <a:cxn ang="0">
                      <a:pos x="9" y="49"/>
                    </a:cxn>
                    <a:cxn ang="0">
                      <a:pos x="0" y="43"/>
                    </a:cxn>
                    <a:cxn ang="0">
                      <a:pos x="0" y="6"/>
                    </a:cxn>
                    <a:cxn ang="0">
                      <a:pos x="9" y="0"/>
                    </a:cxn>
                  </a:cxnLst>
                  <a:rect l="txL" t="txT" r="txR" b="txB"/>
                  <a:pathLst>
                    <a:path w="31" h="50">
                      <a:moveTo>
                        <a:pt x="9" y="0"/>
                      </a:moveTo>
                      <a:lnTo>
                        <a:pt x="21" y="0"/>
                      </a:lnTo>
                      <a:lnTo>
                        <a:pt x="30" y="6"/>
                      </a:lnTo>
                      <a:lnTo>
                        <a:pt x="30" y="15"/>
                      </a:lnTo>
                      <a:lnTo>
                        <a:pt x="18" y="15"/>
                      </a:lnTo>
                      <a:lnTo>
                        <a:pt x="18" y="10"/>
                      </a:lnTo>
                      <a:lnTo>
                        <a:pt x="12" y="10"/>
                      </a:lnTo>
                      <a:lnTo>
                        <a:pt x="12" y="19"/>
                      </a:lnTo>
                      <a:lnTo>
                        <a:pt x="12" y="28"/>
                      </a:lnTo>
                      <a:lnTo>
                        <a:pt x="18" y="28"/>
                      </a:lnTo>
                      <a:lnTo>
                        <a:pt x="18" y="40"/>
                      </a:lnTo>
                      <a:lnTo>
                        <a:pt x="12" y="40"/>
                      </a:lnTo>
                      <a:lnTo>
                        <a:pt x="12" y="28"/>
                      </a:lnTo>
                      <a:lnTo>
                        <a:pt x="12" y="19"/>
                      </a:lnTo>
                      <a:lnTo>
                        <a:pt x="21" y="19"/>
                      </a:lnTo>
                      <a:lnTo>
                        <a:pt x="30" y="25"/>
                      </a:lnTo>
                      <a:lnTo>
                        <a:pt x="30" y="43"/>
                      </a:lnTo>
                      <a:lnTo>
                        <a:pt x="21" y="49"/>
                      </a:lnTo>
                      <a:lnTo>
                        <a:pt x="9" y="49"/>
                      </a:lnTo>
                      <a:lnTo>
                        <a:pt x="0" y="43"/>
                      </a:lnTo>
                      <a:lnTo>
                        <a:pt x="0" y="6"/>
                      </a:lnTo>
                      <a:lnTo>
                        <a:pt x="9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507" name="Group 87"/>
              <p:cNvGrpSpPr/>
              <p:nvPr/>
            </p:nvGrpSpPr>
            <p:grpSpPr>
              <a:xfrm>
                <a:off x="559" y="964"/>
                <a:ext cx="64" cy="50"/>
                <a:chOff x="559" y="964"/>
                <a:chExt cx="64" cy="50"/>
              </a:xfrm>
            </p:grpSpPr>
            <p:sp>
              <p:nvSpPr>
                <p:cNvPr id="20520" name="Freeform 85"/>
                <p:cNvSpPr/>
                <p:nvPr/>
              </p:nvSpPr>
              <p:spPr>
                <a:xfrm>
                  <a:off x="559" y="964"/>
                  <a:ext cx="29" cy="50"/>
                </a:xfrm>
                <a:custGeom>
                  <a:avLst/>
                  <a:gdLst>
                    <a:gd name="txL" fmla="*/ 0 w 29"/>
                    <a:gd name="txT" fmla="*/ 0 h 50"/>
                    <a:gd name="txR" fmla="*/ 29 w 29"/>
                    <a:gd name="txB" fmla="*/ 50 h 50"/>
                  </a:gdLst>
                  <a:ahLst/>
                  <a:cxnLst>
                    <a:cxn ang="0">
                      <a:pos x="0" y="15"/>
                    </a:cxn>
                    <a:cxn ang="0">
                      <a:pos x="11" y="15"/>
                    </a:cxn>
                    <a:cxn ang="0">
                      <a:pos x="11" y="10"/>
                    </a:cxn>
                    <a:cxn ang="0">
                      <a:pos x="18" y="10"/>
                    </a:cxn>
                    <a:cxn ang="0">
                      <a:pos x="18" y="18"/>
                    </a:cxn>
                    <a:cxn ang="0">
                      <a:pos x="0" y="41"/>
                    </a:cxn>
                    <a:cxn ang="0">
                      <a:pos x="0" y="49"/>
                    </a:cxn>
                    <a:cxn ang="0">
                      <a:pos x="28" y="49"/>
                    </a:cxn>
                    <a:cxn ang="0">
                      <a:pos x="28" y="41"/>
                    </a:cxn>
                    <a:cxn ang="0">
                      <a:pos x="13" y="41"/>
                    </a:cxn>
                    <a:cxn ang="0">
                      <a:pos x="28" y="20"/>
                    </a:cxn>
                    <a:cxn ang="0">
                      <a:pos x="28" y="6"/>
                    </a:cxn>
                    <a:cxn ang="0">
                      <a:pos x="20" y="0"/>
                    </a:cxn>
                    <a:cxn ang="0">
                      <a:pos x="9" y="0"/>
                    </a:cxn>
                    <a:cxn ang="0">
                      <a:pos x="0" y="6"/>
                    </a:cxn>
                    <a:cxn ang="0">
                      <a:pos x="0" y="15"/>
                    </a:cxn>
                  </a:cxnLst>
                  <a:rect l="txL" t="txT" r="txR" b="txB"/>
                  <a:pathLst>
                    <a:path w="29" h="50">
                      <a:moveTo>
                        <a:pt x="0" y="15"/>
                      </a:moveTo>
                      <a:lnTo>
                        <a:pt x="11" y="15"/>
                      </a:lnTo>
                      <a:lnTo>
                        <a:pt x="11" y="10"/>
                      </a:lnTo>
                      <a:lnTo>
                        <a:pt x="18" y="10"/>
                      </a:lnTo>
                      <a:lnTo>
                        <a:pt x="18" y="18"/>
                      </a:lnTo>
                      <a:lnTo>
                        <a:pt x="0" y="41"/>
                      </a:lnTo>
                      <a:lnTo>
                        <a:pt x="0" y="49"/>
                      </a:lnTo>
                      <a:lnTo>
                        <a:pt x="28" y="49"/>
                      </a:lnTo>
                      <a:lnTo>
                        <a:pt x="28" y="41"/>
                      </a:lnTo>
                      <a:lnTo>
                        <a:pt x="13" y="41"/>
                      </a:lnTo>
                      <a:lnTo>
                        <a:pt x="28" y="20"/>
                      </a:lnTo>
                      <a:lnTo>
                        <a:pt x="28" y="6"/>
                      </a:lnTo>
                      <a:lnTo>
                        <a:pt x="20" y="0"/>
                      </a:lnTo>
                      <a:lnTo>
                        <a:pt x="9" y="0"/>
                      </a:lnTo>
                      <a:lnTo>
                        <a:pt x="0" y="6"/>
                      </a:lnTo>
                      <a:lnTo>
                        <a:pt x="0" y="15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21" name="Freeform 86"/>
                <p:cNvSpPr/>
                <p:nvPr/>
              </p:nvSpPr>
              <p:spPr>
                <a:xfrm>
                  <a:off x="591" y="964"/>
                  <a:ext cx="32" cy="50"/>
                </a:xfrm>
                <a:custGeom>
                  <a:avLst/>
                  <a:gdLst>
                    <a:gd name="txL" fmla="*/ 0 w 32"/>
                    <a:gd name="txT" fmla="*/ 0 h 50"/>
                    <a:gd name="txR" fmla="*/ 32 w 32"/>
                    <a:gd name="txB" fmla="*/ 50 h 50"/>
                  </a:gdLst>
                  <a:ahLst/>
                  <a:cxnLst>
                    <a:cxn ang="0">
                      <a:pos x="0" y="0"/>
                    </a:cxn>
                    <a:cxn ang="0">
                      <a:pos x="31" y="0"/>
                    </a:cxn>
                    <a:cxn ang="0">
                      <a:pos x="31" y="10"/>
                    </a:cxn>
                    <a:cxn ang="0">
                      <a:pos x="13" y="49"/>
                    </a:cxn>
                    <a:cxn ang="0">
                      <a:pos x="0" y="49"/>
                    </a:cxn>
                    <a:cxn ang="0">
                      <a:pos x="18" y="10"/>
                    </a:cxn>
                    <a:cxn ang="0">
                      <a:pos x="0" y="1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32" h="50">
                      <a:moveTo>
                        <a:pt x="0" y="0"/>
                      </a:moveTo>
                      <a:lnTo>
                        <a:pt x="31" y="0"/>
                      </a:lnTo>
                      <a:lnTo>
                        <a:pt x="31" y="10"/>
                      </a:lnTo>
                      <a:lnTo>
                        <a:pt x="13" y="49"/>
                      </a:lnTo>
                      <a:lnTo>
                        <a:pt x="0" y="49"/>
                      </a:lnTo>
                      <a:lnTo>
                        <a:pt x="18" y="10"/>
                      </a:lnTo>
                      <a:lnTo>
                        <a:pt x="0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508" name="Group 90"/>
              <p:cNvGrpSpPr/>
              <p:nvPr/>
            </p:nvGrpSpPr>
            <p:grpSpPr>
              <a:xfrm>
                <a:off x="715" y="964"/>
                <a:ext cx="65" cy="50"/>
                <a:chOff x="715" y="964"/>
                <a:chExt cx="65" cy="50"/>
              </a:xfrm>
            </p:grpSpPr>
            <p:sp>
              <p:nvSpPr>
                <p:cNvPr id="20518" name="Freeform 88"/>
                <p:cNvSpPr/>
                <p:nvPr/>
              </p:nvSpPr>
              <p:spPr>
                <a:xfrm>
                  <a:off x="715" y="964"/>
                  <a:ext cx="31" cy="50"/>
                </a:xfrm>
                <a:custGeom>
                  <a:avLst/>
                  <a:gdLst>
                    <a:gd name="txL" fmla="*/ 0 w 31"/>
                    <a:gd name="txT" fmla="*/ 0 h 50"/>
                    <a:gd name="txR" fmla="*/ 31 w 31"/>
                    <a:gd name="txB" fmla="*/ 50 h 50"/>
                  </a:gdLst>
                  <a:ahLst/>
                  <a:cxnLst>
                    <a:cxn ang="0">
                      <a:pos x="0" y="15"/>
                    </a:cxn>
                    <a:cxn ang="0">
                      <a:pos x="12" y="15"/>
                    </a:cxn>
                    <a:cxn ang="0">
                      <a:pos x="12" y="10"/>
                    </a:cxn>
                    <a:cxn ang="0">
                      <a:pos x="18" y="10"/>
                    </a:cxn>
                    <a:cxn ang="0">
                      <a:pos x="18" y="18"/>
                    </a:cxn>
                    <a:cxn ang="0">
                      <a:pos x="0" y="41"/>
                    </a:cxn>
                    <a:cxn ang="0">
                      <a:pos x="0" y="49"/>
                    </a:cxn>
                    <a:cxn ang="0">
                      <a:pos x="30" y="49"/>
                    </a:cxn>
                    <a:cxn ang="0">
                      <a:pos x="30" y="41"/>
                    </a:cxn>
                    <a:cxn ang="0">
                      <a:pos x="13" y="41"/>
                    </a:cxn>
                    <a:cxn ang="0">
                      <a:pos x="30" y="20"/>
                    </a:cxn>
                    <a:cxn ang="0">
                      <a:pos x="30" y="6"/>
                    </a:cxn>
                    <a:cxn ang="0">
                      <a:pos x="21" y="0"/>
                    </a:cxn>
                    <a:cxn ang="0">
                      <a:pos x="9" y="0"/>
                    </a:cxn>
                    <a:cxn ang="0">
                      <a:pos x="0" y="6"/>
                    </a:cxn>
                    <a:cxn ang="0">
                      <a:pos x="0" y="15"/>
                    </a:cxn>
                  </a:cxnLst>
                  <a:rect l="txL" t="txT" r="txR" b="txB"/>
                  <a:pathLst>
                    <a:path w="31" h="50">
                      <a:moveTo>
                        <a:pt x="0" y="15"/>
                      </a:moveTo>
                      <a:lnTo>
                        <a:pt x="12" y="15"/>
                      </a:lnTo>
                      <a:lnTo>
                        <a:pt x="12" y="10"/>
                      </a:lnTo>
                      <a:lnTo>
                        <a:pt x="18" y="10"/>
                      </a:lnTo>
                      <a:lnTo>
                        <a:pt x="18" y="18"/>
                      </a:lnTo>
                      <a:lnTo>
                        <a:pt x="0" y="41"/>
                      </a:lnTo>
                      <a:lnTo>
                        <a:pt x="0" y="49"/>
                      </a:lnTo>
                      <a:lnTo>
                        <a:pt x="30" y="49"/>
                      </a:lnTo>
                      <a:lnTo>
                        <a:pt x="30" y="41"/>
                      </a:lnTo>
                      <a:lnTo>
                        <a:pt x="13" y="41"/>
                      </a:lnTo>
                      <a:lnTo>
                        <a:pt x="30" y="20"/>
                      </a:lnTo>
                      <a:lnTo>
                        <a:pt x="30" y="6"/>
                      </a:lnTo>
                      <a:lnTo>
                        <a:pt x="21" y="0"/>
                      </a:lnTo>
                      <a:lnTo>
                        <a:pt x="9" y="0"/>
                      </a:lnTo>
                      <a:lnTo>
                        <a:pt x="0" y="6"/>
                      </a:lnTo>
                      <a:lnTo>
                        <a:pt x="0" y="15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19" name="Freeform 89"/>
                <p:cNvSpPr/>
                <p:nvPr/>
              </p:nvSpPr>
              <p:spPr>
                <a:xfrm>
                  <a:off x="751" y="964"/>
                  <a:ext cx="29" cy="50"/>
                </a:xfrm>
                <a:custGeom>
                  <a:avLst/>
                  <a:gdLst>
                    <a:gd name="txL" fmla="*/ 0 w 29"/>
                    <a:gd name="txT" fmla="*/ 0 h 50"/>
                    <a:gd name="txR" fmla="*/ 29 w 29"/>
                    <a:gd name="txB" fmla="*/ 50 h 50"/>
                  </a:gdLst>
                  <a:ahLst/>
                  <a:cxnLst>
                    <a:cxn ang="0">
                      <a:pos x="6" y="0"/>
                    </a:cxn>
                    <a:cxn ang="0">
                      <a:pos x="22" y="0"/>
                    </a:cxn>
                    <a:cxn ang="0">
                      <a:pos x="28" y="6"/>
                    </a:cxn>
                    <a:cxn ang="0">
                      <a:pos x="28" y="20"/>
                    </a:cxn>
                    <a:cxn ang="0">
                      <a:pos x="24" y="25"/>
                    </a:cxn>
                    <a:cxn ang="0">
                      <a:pos x="28" y="29"/>
                    </a:cxn>
                    <a:cxn ang="0">
                      <a:pos x="28" y="30"/>
                    </a:cxn>
                    <a:cxn ang="0">
                      <a:pos x="18" y="30"/>
                    </a:cxn>
                    <a:cxn ang="0">
                      <a:pos x="18" y="18"/>
                    </a:cxn>
                    <a:cxn ang="0">
                      <a:pos x="18" y="7"/>
                    </a:cxn>
                    <a:cxn ang="0">
                      <a:pos x="11" y="7"/>
                    </a:cxn>
                    <a:cxn ang="0">
                      <a:pos x="11" y="18"/>
                    </a:cxn>
                    <a:cxn ang="0">
                      <a:pos x="18" y="18"/>
                    </a:cxn>
                    <a:cxn ang="0">
                      <a:pos x="18" y="41"/>
                    </a:cxn>
                    <a:cxn ang="0">
                      <a:pos x="11" y="41"/>
                    </a:cxn>
                    <a:cxn ang="0">
                      <a:pos x="11" y="30"/>
                    </a:cxn>
                    <a:cxn ang="0">
                      <a:pos x="18" y="30"/>
                    </a:cxn>
                    <a:cxn ang="0">
                      <a:pos x="28" y="30"/>
                    </a:cxn>
                    <a:cxn ang="0">
                      <a:pos x="28" y="43"/>
                    </a:cxn>
                    <a:cxn ang="0">
                      <a:pos x="22" y="49"/>
                    </a:cxn>
                    <a:cxn ang="0">
                      <a:pos x="6" y="49"/>
                    </a:cxn>
                    <a:cxn ang="0">
                      <a:pos x="0" y="43"/>
                    </a:cxn>
                    <a:cxn ang="0">
                      <a:pos x="0" y="29"/>
                    </a:cxn>
                    <a:cxn ang="0">
                      <a:pos x="4" y="25"/>
                    </a:cxn>
                    <a:cxn ang="0">
                      <a:pos x="0" y="20"/>
                    </a:cxn>
                    <a:cxn ang="0">
                      <a:pos x="0" y="6"/>
                    </a:cxn>
                    <a:cxn ang="0">
                      <a:pos x="6" y="0"/>
                    </a:cxn>
                  </a:cxnLst>
                  <a:rect l="txL" t="txT" r="txR" b="txB"/>
                  <a:pathLst>
                    <a:path w="29" h="50">
                      <a:moveTo>
                        <a:pt x="6" y="0"/>
                      </a:moveTo>
                      <a:lnTo>
                        <a:pt x="22" y="0"/>
                      </a:lnTo>
                      <a:lnTo>
                        <a:pt x="28" y="6"/>
                      </a:lnTo>
                      <a:lnTo>
                        <a:pt x="28" y="20"/>
                      </a:lnTo>
                      <a:lnTo>
                        <a:pt x="24" y="25"/>
                      </a:lnTo>
                      <a:lnTo>
                        <a:pt x="28" y="29"/>
                      </a:lnTo>
                      <a:lnTo>
                        <a:pt x="28" y="30"/>
                      </a:lnTo>
                      <a:lnTo>
                        <a:pt x="18" y="30"/>
                      </a:lnTo>
                      <a:lnTo>
                        <a:pt x="18" y="18"/>
                      </a:lnTo>
                      <a:lnTo>
                        <a:pt x="18" y="7"/>
                      </a:lnTo>
                      <a:lnTo>
                        <a:pt x="11" y="7"/>
                      </a:lnTo>
                      <a:lnTo>
                        <a:pt x="11" y="18"/>
                      </a:lnTo>
                      <a:lnTo>
                        <a:pt x="18" y="18"/>
                      </a:lnTo>
                      <a:lnTo>
                        <a:pt x="18" y="41"/>
                      </a:lnTo>
                      <a:lnTo>
                        <a:pt x="11" y="41"/>
                      </a:lnTo>
                      <a:lnTo>
                        <a:pt x="11" y="30"/>
                      </a:lnTo>
                      <a:lnTo>
                        <a:pt x="18" y="30"/>
                      </a:lnTo>
                      <a:lnTo>
                        <a:pt x="28" y="30"/>
                      </a:lnTo>
                      <a:lnTo>
                        <a:pt x="28" y="43"/>
                      </a:lnTo>
                      <a:lnTo>
                        <a:pt x="22" y="49"/>
                      </a:lnTo>
                      <a:lnTo>
                        <a:pt x="6" y="49"/>
                      </a:lnTo>
                      <a:lnTo>
                        <a:pt x="0" y="43"/>
                      </a:lnTo>
                      <a:lnTo>
                        <a:pt x="0" y="29"/>
                      </a:lnTo>
                      <a:lnTo>
                        <a:pt x="4" y="25"/>
                      </a:lnTo>
                      <a:lnTo>
                        <a:pt x="0" y="20"/>
                      </a:lnTo>
                      <a:lnTo>
                        <a:pt x="0" y="6"/>
                      </a:lnTo>
                      <a:lnTo>
                        <a:pt x="6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509" name="Group 93"/>
              <p:cNvGrpSpPr/>
              <p:nvPr/>
            </p:nvGrpSpPr>
            <p:grpSpPr>
              <a:xfrm>
                <a:off x="866" y="964"/>
                <a:ext cx="66" cy="50"/>
                <a:chOff x="866" y="964"/>
                <a:chExt cx="66" cy="50"/>
              </a:xfrm>
            </p:grpSpPr>
            <p:sp>
              <p:nvSpPr>
                <p:cNvPr id="20516" name="Freeform 91"/>
                <p:cNvSpPr/>
                <p:nvPr/>
              </p:nvSpPr>
              <p:spPr>
                <a:xfrm>
                  <a:off x="866" y="964"/>
                  <a:ext cx="31" cy="50"/>
                </a:xfrm>
                <a:custGeom>
                  <a:avLst/>
                  <a:gdLst>
                    <a:gd name="txL" fmla="*/ 0 w 31"/>
                    <a:gd name="txT" fmla="*/ 0 h 50"/>
                    <a:gd name="txR" fmla="*/ 31 w 31"/>
                    <a:gd name="txB" fmla="*/ 50 h 50"/>
                  </a:gdLst>
                  <a:ahLst/>
                  <a:cxnLst>
                    <a:cxn ang="0">
                      <a:pos x="0" y="15"/>
                    </a:cxn>
                    <a:cxn ang="0">
                      <a:pos x="11" y="15"/>
                    </a:cxn>
                    <a:cxn ang="0">
                      <a:pos x="11" y="10"/>
                    </a:cxn>
                    <a:cxn ang="0">
                      <a:pos x="18" y="10"/>
                    </a:cxn>
                    <a:cxn ang="0">
                      <a:pos x="18" y="18"/>
                    </a:cxn>
                    <a:cxn ang="0">
                      <a:pos x="0" y="41"/>
                    </a:cxn>
                    <a:cxn ang="0">
                      <a:pos x="0" y="49"/>
                    </a:cxn>
                    <a:cxn ang="0">
                      <a:pos x="30" y="49"/>
                    </a:cxn>
                    <a:cxn ang="0">
                      <a:pos x="30" y="41"/>
                    </a:cxn>
                    <a:cxn ang="0">
                      <a:pos x="13" y="41"/>
                    </a:cxn>
                    <a:cxn ang="0">
                      <a:pos x="30" y="20"/>
                    </a:cxn>
                    <a:cxn ang="0">
                      <a:pos x="30" y="6"/>
                    </a:cxn>
                    <a:cxn ang="0">
                      <a:pos x="21" y="0"/>
                    </a:cxn>
                    <a:cxn ang="0">
                      <a:pos x="9" y="0"/>
                    </a:cxn>
                    <a:cxn ang="0">
                      <a:pos x="0" y="6"/>
                    </a:cxn>
                    <a:cxn ang="0">
                      <a:pos x="0" y="15"/>
                    </a:cxn>
                  </a:cxnLst>
                  <a:rect l="txL" t="txT" r="txR" b="txB"/>
                  <a:pathLst>
                    <a:path w="31" h="50">
                      <a:moveTo>
                        <a:pt x="0" y="15"/>
                      </a:moveTo>
                      <a:lnTo>
                        <a:pt x="11" y="15"/>
                      </a:lnTo>
                      <a:lnTo>
                        <a:pt x="11" y="10"/>
                      </a:lnTo>
                      <a:lnTo>
                        <a:pt x="18" y="10"/>
                      </a:lnTo>
                      <a:lnTo>
                        <a:pt x="18" y="18"/>
                      </a:lnTo>
                      <a:lnTo>
                        <a:pt x="0" y="41"/>
                      </a:lnTo>
                      <a:lnTo>
                        <a:pt x="0" y="49"/>
                      </a:lnTo>
                      <a:lnTo>
                        <a:pt x="30" y="49"/>
                      </a:lnTo>
                      <a:lnTo>
                        <a:pt x="30" y="41"/>
                      </a:lnTo>
                      <a:lnTo>
                        <a:pt x="13" y="41"/>
                      </a:lnTo>
                      <a:lnTo>
                        <a:pt x="30" y="20"/>
                      </a:lnTo>
                      <a:lnTo>
                        <a:pt x="30" y="6"/>
                      </a:lnTo>
                      <a:lnTo>
                        <a:pt x="21" y="0"/>
                      </a:lnTo>
                      <a:lnTo>
                        <a:pt x="9" y="0"/>
                      </a:lnTo>
                      <a:lnTo>
                        <a:pt x="0" y="6"/>
                      </a:lnTo>
                      <a:lnTo>
                        <a:pt x="0" y="15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17" name="Freeform 92"/>
                <p:cNvSpPr/>
                <p:nvPr/>
              </p:nvSpPr>
              <p:spPr>
                <a:xfrm>
                  <a:off x="901" y="964"/>
                  <a:ext cx="31" cy="50"/>
                </a:xfrm>
                <a:custGeom>
                  <a:avLst/>
                  <a:gdLst>
                    <a:gd name="txL" fmla="*/ 0 w 31"/>
                    <a:gd name="txT" fmla="*/ 0 h 50"/>
                    <a:gd name="txR" fmla="*/ 31 w 31"/>
                    <a:gd name="txB" fmla="*/ 50 h 50"/>
                  </a:gdLst>
                  <a:ahLst/>
                  <a:cxnLst>
                    <a:cxn ang="0">
                      <a:pos x="21" y="0"/>
                    </a:cxn>
                    <a:cxn ang="0">
                      <a:pos x="30" y="6"/>
                    </a:cxn>
                    <a:cxn ang="0">
                      <a:pos x="30" y="43"/>
                    </a:cxn>
                    <a:cxn ang="0">
                      <a:pos x="21" y="49"/>
                    </a:cxn>
                    <a:cxn ang="0">
                      <a:pos x="9" y="49"/>
                    </a:cxn>
                    <a:cxn ang="0">
                      <a:pos x="0" y="43"/>
                    </a:cxn>
                    <a:cxn ang="0">
                      <a:pos x="0" y="34"/>
                    </a:cxn>
                    <a:cxn ang="0">
                      <a:pos x="12" y="34"/>
                    </a:cxn>
                    <a:cxn ang="0">
                      <a:pos x="12" y="39"/>
                    </a:cxn>
                    <a:cxn ang="0">
                      <a:pos x="18" y="39"/>
                    </a:cxn>
                    <a:cxn ang="0">
                      <a:pos x="18" y="30"/>
                    </a:cxn>
                    <a:cxn ang="0">
                      <a:pos x="18" y="21"/>
                    </a:cxn>
                    <a:cxn ang="0">
                      <a:pos x="12" y="21"/>
                    </a:cxn>
                    <a:cxn ang="0">
                      <a:pos x="12" y="9"/>
                    </a:cxn>
                    <a:cxn ang="0">
                      <a:pos x="18" y="9"/>
                    </a:cxn>
                    <a:cxn ang="0">
                      <a:pos x="18" y="21"/>
                    </a:cxn>
                    <a:cxn ang="0">
                      <a:pos x="18" y="30"/>
                    </a:cxn>
                    <a:cxn ang="0">
                      <a:pos x="9" y="30"/>
                    </a:cxn>
                    <a:cxn ang="0">
                      <a:pos x="0" y="25"/>
                    </a:cxn>
                    <a:cxn ang="0">
                      <a:pos x="0" y="6"/>
                    </a:cxn>
                    <a:cxn ang="0">
                      <a:pos x="9" y="0"/>
                    </a:cxn>
                    <a:cxn ang="0">
                      <a:pos x="21" y="0"/>
                    </a:cxn>
                  </a:cxnLst>
                  <a:rect l="txL" t="txT" r="txR" b="txB"/>
                  <a:pathLst>
                    <a:path w="31" h="50">
                      <a:moveTo>
                        <a:pt x="21" y="0"/>
                      </a:moveTo>
                      <a:lnTo>
                        <a:pt x="30" y="6"/>
                      </a:lnTo>
                      <a:lnTo>
                        <a:pt x="30" y="43"/>
                      </a:lnTo>
                      <a:lnTo>
                        <a:pt x="21" y="49"/>
                      </a:lnTo>
                      <a:lnTo>
                        <a:pt x="9" y="49"/>
                      </a:lnTo>
                      <a:lnTo>
                        <a:pt x="0" y="43"/>
                      </a:lnTo>
                      <a:lnTo>
                        <a:pt x="0" y="34"/>
                      </a:lnTo>
                      <a:lnTo>
                        <a:pt x="12" y="34"/>
                      </a:lnTo>
                      <a:lnTo>
                        <a:pt x="12" y="39"/>
                      </a:lnTo>
                      <a:lnTo>
                        <a:pt x="18" y="39"/>
                      </a:lnTo>
                      <a:lnTo>
                        <a:pt x="18" y="30"/>
                      </a:lnTo>
                      <a:lnTo>
                        <a:pt x="18" y="21"/>
                      </a:lnTo>
                      <a:lnTo>
                        <a:pt x="12" y="21"/>
                      </a:lnTo>
                      <a:lnTo>
                        <a:pt x="12" y="9"/>
                      </a:lnTo>
                      <a:lnTo>
                        <a:pt x="18" y="9"/>
                      </a:lnTo>
                      <a:lnTo>
                        <a:pt x="18" y="21"/>
                      </a:lnTo>
                      <a:lnTo>
                        <a:pt x="18" y="30"/>
                      </a:lnTo>
                      <a:lnTo>
                        <a:pt x="9" y="30"/>
                      </a:lnTo>
                      <a:lnTo>
                        <a:pt x="0" y="25"/>
                      </a:lnTo>
                      <a:lnTo>
                        <a:pt x="0" y="6"/>
                      </a:lnTo>
                      <a:lnTo>
                        <a:pt x="9" y="0"/>
                      </a:lnTo>
                      <a:lnTo>
                        <a:pt x="21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510" name="Group 96"/>
              <p:cNvGrpSpPr/>
              <p:nvPr/>
            </p:nvGrpSpPr>
            <p:grpSpPr>
              <a:xfrm>
                <a:off x="1021" y="964"/>
                <a:ext cx="64" cy="50"/>
                <a:chOff x="1021" y="964"/>
                <a:chExt cx="64" cy="50"/>
              </a:xfrm>
            </p:grpSpPr>
            <p:sp>
              <p:nvSpPr>
                <p:cNvPr id="20514" name="Freeform 94"/>
                <p:cNvSpPr/>
                <p:nvPr/>
              </p:nvSpPr>
              <p:spPr>
                <a:xfrm>
                  <a:off x="1021" y="964"/>
                  <a:ext cx="32" cy="50"/>
                </a:xfrm>
                <a:custGeom>
                  <a:avLst/>
                  <a:gdLst>
                    <a:gd name="txL" fmla="*/ 0 w 32"/>
                    <a:gd name="txT" fmla="*/ 0 h 50"/>
                    <a:gd name="txR" fmla="*/ 32 w 32"/>
                    <a:gd name="txB" fmla="*/ 50 h 50"/>
                  </a:gdLst>
                  <a:ahLst/>
                  <a:cxnLst>
                    <a:cxn ang="0">
                      <a:pos x="9" y="0"/>
                    </a:cxn>
                    <a:cxn ang="0">
                      <a:pos x="22" y="0"/>
                    </a:cxn>
                    <a:cxn ang="0">
                      <a:pos x="31" y="6"/>
                    </a:cxn>
                    <a:cxn ang="0">
                      <a:pos x="31" y="20"/>
                    </a:cxn>
                    <a:cxn ang="0">
                      <a:pos x="26" y="25"/>
                    </a:cxn>
                    <a:cxn ang="0">
                      <a:pos x="31" y="29"/>
                    </a:cxn>
                    <a:cxn ang="0">
                      <a:pos x="31" y="43"/>
                    </a:cxn>
                    <a:cxn ang="0">
                      <a:pos x="22" y="49"/>
                    </a:cxn>
                    <a:cxn ang="0">
                      <a:pos x="9" y="49"/>
                    </a:cxn>
                    <a:cxn ang="0">
                      <a:pos x="0" y="43"/>
                    </a:cxn>
                    <a:cxn ang="0">
                      <a:pos x="0" y="35"/>
                    </a:cxn>
                    <a:cxn ang="0">
                      <a:pos x="12" y="35"/>
                    </a:cxn>
                    <a:cxn ang="0">
                      <a:pos x="12" y="41"/>
                    </a:cxn>
                    <a:cxn ang="0">
                      <a:pos x="19" y="41"/>
                    </a:cxn>
                    <a:cxn ang="0">
                      <a:pos x="19" y="29"/>
                    </a:cxn>
                    <a:cxn ang="0">
                      <a:pos x="12" y="29"/>
                    </a:cxn>
                    <a:cxn ang="0">
                      <a:pos x="12" y="20"/>
                    </a:cxn>
                    <a:cxn ang="0">
                      <a:pos x="19" y="20"/>
                    </a:cxn>
                    <a:cxn ang="0">
                      <a:pos x="19" y="8"/>
                    </a:cxn>
                    <a:cxn ang="0">
                      <a:pos x="12" y="8"/>
                    </a:cxn>
                    <a:cxn ang="0">
                      <a:pos x="12" y="14"/>
                    </a:cxn>
                    <a:cxn ang="0">
                      <a:pos x="0" y="14"/>
                    </a:cxn>
                    <a:cxn ang="0">
                      <a:pos x="0" y="6"/>
                    </a:cxn>
                    <a:cxn ang="0">
                      <a:pos x="9" y="0"/>
                    </a:cxn>
                  </a:cxnLst>
                  <a:rect l="txL" t="txT" r="txR" b="txB"/>
                  <a:pathLst>
                    <a:path w="32" h="50">
                      <a:moveTo>
                        <a:pt x="9" y="0"/>
                      </a:moveTo>
                      <a:lnTo>
                        <a:pt x="22" y="0"/>
                      </a:lnTo>
                      <a:lnTo>
                        <a:pt x="31" y="6"/>
                      </a:lnTo>
                      <a:lnTo>
                        <a:pt x="31" y="20"/>
                      </a:lnTo>
                      <a:lnTo>
                        <a:pt x="26" y="25"/>
                      </a:lnTo>
                      <a:lnTo>
                        <a:pt x="31" y="29"/>
                      </a:lnTo>
                      <a:lnTo>
                        <a:pt x="31" y="43"/>
                      </a:lnTo>
                      <a:lnTo>
                        <a:pt x="22" y="49"/>
                      </a:lnTo>
                      <a:lnTo>
                        <a:pt x="9" y="49"/>
                      </a:lnTo>
                      <a:lnTo>
                        <a:pt x="0" y="43"/>
                      </a:lnTo>
                      <a:lnTo>
                        <a:pt x="0" y="35"/>
                      </a:lnTo>
                      <a:lnTo>
                        <a:pt x="12" y="35"/>
                      </a:lnTo>
                      <a:lnTo>
                        <a:pt x="12" y="41"/>
                      </a:lnTo>
                      <a:lnTo>
                        <a:pt x="19" y="41"/>
                      </a:lnTo>
                      <a:lnTo>
                        <a:pt x="19" y="29"/>
                      </a:lnTo>
                      <a:lnTo>
                        <a:pt x="12" y="29"/>
                      </a:lnTo>
                      <a:lnTo>
                        <a:pt x="12" y="20"/>
                      </a:lnTo>
                      <a:lnTo>
                        <a:pt x="19" y="20"/>
                      </a:lnTo>
                      <a:lnTo>
                        <a:pt x="19" y="8"/>
                      </a:lnTo>
                      <a:lnTo>
                        <a:pt x="12" y="8"/>
                      </a:lnTo>
                      <a:lnTo>
                        <a:pt x="12" y="14"/>
                      </a:lnTo>
                      <a:lnTo>
                        <a:pt x="0" y="14"/>
                      </a:lnTo>
                      <a:lnTo>
                        <a:pt x="0" y="6"/>
                      </a:lnTo>
                      <a:lnTo>
                        <a:pt x="9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15" name="Freeform 95"/>
                <p:cNvSpPr/>
                <p:nvPr/>
              </p:nvSpPr>
              <p:spPr>
                <a:xfrm>
                  <a:off x="1055" y="964"/>
                  <a:ext cx="30" cy="50"/>
                </a:xfrm>
                <a:custGeom>
                  <a:avLst/>
                  <a:gdLst>
                    <a:gd name="txL" fmla="*/ 0 w 30"/>
                    <a:gd name="txT" fmla="*/ 0 h 50"/>
                    <a:gd name="txR" fmla="*/ 30 w 30"/>
                    <a:gd name="txB" fmla="*/ 50 h 50"/>
                  </a:gdLst>
                  <a:ahLst/>
                  <a:cxnLst>
                    <a:cxn ang="0">
                      <a:pos x="9" y="0"/>
                    </a:cxn>
                    <a:cxn ang="0">
                      <a:pos x="20" y="0"/>
                    </a:cxn>
                    <a:cxn ang="0">
                      <a:pos x="29" y="7"/>
                    </a:cxn>
                    <a:cxn ang="0">
                      <a:pos x="29" y="42"/>
                    </a:cxn>
                    <a:cxn ang="0">
                      <a:pos x="20" y="49"/>
                    </a:cxn>
                    <a:cxn ang="0">
                      <a:pos x="9" y="49"/>
                    </a:cxn>
                    <a:cxn ang="0">
                      <a:pos x="0" y="42"/>
                    </a:cxn>
                    <a:cxn ang="0">
                      <a:pos x="0" y="39"/>
                    </a:cxn>
                    <a:cxn ang="0">
                      <a:pos x="11" y="39"/>
                    </a:cxn>
                    <a:cxn ang="0">
                      <a:pos x="11" y="10"/>
                    </a:cxn>
                    <a:cxn ang="0">
                      <a:pos x="18" y="10"/>
                    </a:cxn>
                    <a:cxn ang="0">
                      <a:pos x="18" y="39"/>
                    </a:cxn>
                    <a:cxn ang="0">
                      <a:pos x="11" y="39"/>
                    </a:cxn>
                    <a:cxn ang="0">
                      <a:pos x="0" y="39"/>
                    </a:cxn>
                    <a:cxn ang="0">
                      <a:pos x="0" y="7"/>
                    </a:cxn>
                    <a:cxn ang="0">
                      <a:pos x="9" y="0"/>
                    </a:cxn>
                  </a:cxnLst>
                  <a:rect l="txL" t="txT" r="txR" b="txB"/>
                  <a:pathLst>
                    <a:path w="30" h="50">
                      <a:moveTo>
                        <a:pt x="9" y="0"/>
                      </a:moveTo>
                      <a:lnTo>
                        <a:pt x="20" y="0"/>
                      </a:lnTo>
                      <a:lnTo>
                        <a:pt x="29" y="7"/>
                      </a:lnTo>
                      <a:lnTo>
                        <a:pt x="29" y="42"/>
                      </a:lnTo>
                      <a:lnTo>
                        <a:pt x="20" y="49"/>
                      </a:lnTo>
                      <a:lnTo>
                        <a:pt x="9" y="49"/>
                      </a:lnTo>
                      <a:lnTo>
                        <a:pt x="0" y="42"/>
                      </a:lnTo>
                      <a:lnTo>
                        <a:pt x="0" y="39"/>
                      </a:lnTo>
                      <a:lnTo>
                        <a:pt x="11" y="39"/>
                      </a:lnTo>
                      <a:lnTo>
                        <a:pt x="11" y="10"/>
                      </a:lnTo>
                      <a:lnTo>
                        <a:pt x="18" y="10"/>
                      </a:lnTo>
                      <a:lnTo>
                        <a:pt x="18" y="39"/>
                      </a:lnTo>
                      <a:lnTo>
                        <a:pt x="11" y="39"/>
                      </a:lnTo>
                      <a:lnTo>
                        <a:pt x="0" y="39"/>
                      </a:lnTo>
                      <a:lnTo>
                        <a:pt x="0" y="7"/>
                      </a:lnTo>
                      <a:lnTo>
                        <a:pt x="9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511" name="Group 99"/>
              <p:cNvGrpSpPr/>
              <p:nvPr/>
            </p:nvGrpSpPr>
            <p:grpSpPr>
              <a:xfrm>
                <a:off x="1175" y="964"/>
                <a:ext cx="52" cy="50"/>
                <a:chOff x="1175" y="964"/>
                <a:chExt cx="52" cy="50"/>
              </a:xfrm>
            </p:grpSpPr>
            <p:sp>
              <p:nvSpPr>
                <p:cNvPr id="20512" name="Freeform 97"/>
                <p:cNvSpPr/>
                <p:nvPr/>
              </p:nvSpPr>
              <p:spPr>
                <a:xfrm>
                  <a:off x="1175" y="964"/>
                  <a:ext cx="31" cy="50"/>
                </a:xfrm>
                <a:custGeom>
                  <a:avLst/>
                  <a:gdLst>
                    <a:gd name="txL" fmla="*/ 0 w 31"/>
                    <a:gd name="txT" fmla="*/ 0 h 50"/>
                    <a:gd name="txR" fmla="*/ 31 w 31"/>
                    <a:gd name="txB" fmla="*/ 50 h 50"/>
                  </a:gdLst>
                  <a:ahLst/>
                  <a:cxnLst>
                    <a:cxn ang="0">
                      <a:pos x="9" y="0"/>
                    </a:cxn>
                    <a:cxn ang="0">
                      <a:pos x="21" y="0"/>
                    </a:cxn>
                    <a:cxn ang="0">
                      <a:pos x="30" y="6"/>
                    </a:cxn>
                    <a:cxn ang="0">
                      <a:pos x="30" y="20"/>
                    </a:cxn>
                    <a:cxn ang="0">
                      <a:pos x="25" y="25"/>
                    </a:cxn>
                    <a:cxn ang="0">
                      <a:pos x="30" y="29"/>
                    </a:cxn>
                    <a:cxn ang="0">
                      <a:pos x="30" y="43"/>
                    </a:cxn>
                    <a:cxn ang="0">
                      <a:pos x="21" y="49"/>
                    </a:cxn>
                    <a:cxn ang="0">
                      <a:pos x="9" y="49"/>
                    </a:cxn>
                    <a:cxn ang="0">
                      <a:pos x="0" y="43"/>
                    </a:cxn>
                    <a:cxn ang="0">
                      <a:pos x="0" y="35"/>
                    </a:cxn>
                    <a:cxn ang="0">
                      <a:pos x="11" y="35"/>
                    </a:cxn>
                    <a:cxn ang="0">
                      <a:pos x="11" y="41"/>
                    </a:cxn>
                    <a:cxn ang="0">
                      <a:pos x="19" y="41"/>
                    </a:cxn>
                    <a:cxn ang="0">
                      <a:pos x="19" y="29"/>
                    </a:cxn>
                    <a:cxn ang="0">
                      <a:pos x="11" y="29"/>
                    </a:cxn>
                    <a:cxn ang="0">
                      <a:pos x="11" y="20"/>
                    </a:cxn>
                    <a:cxn ang="0">
                      <a:pos x="19" y="20"/>
                    </a:cxn>
                    <a:cxn ang="0">
                      <a:pos x="19" y="8"/>
                    </a:cxn>
                    <a:cxn ang="0">
                      <a:pos x="11" y="8"/>
                    </a:cxn>
                    <a:cxn ang="0">
                      <a:pos x="11" y="14"/>
                    </a:cxn>
                    <a:cxn ang="0">
                      <a:pos x="0" y="14"/>
                    </a:cxn>
                    <a:cxn ang="0">
                      <a:pos x="0" y="6"/>
                    </a:cxn>
                    <a:cxn ang="0">
                      <a:pos x="9" y="0"/>
                    </a:cxn>
                  </a:cxnLst>
                  <a:rect l="txL" t="txT" r="txR" b="txB"/>
                  <a:pathLst>
                    <a:path w="31" h="50">
                      <a:moveTo>
                        <a:pt x="9" y="0"/>
                      </a:moveTo>
                      <a:lnTo>
                        <a:pt x="21" y="0"/>
                      </a:lnTo>
                      <a:lnTo>
                        <a:pt x="30" y="6"/>
                      </a:lnTo>
                      <a:lnTo>
                        <a:pt x="30" y="20"/>
                      </a:lnTo>
                      <a:lnTo>
                        <a:pt x="25" y="25"/>
                      </a:lnTo>
                      <a:lnTo>
                        <a:pt x="30" y="29"/>
                      </a:lnTo>
                      <a:lnTo>
                        <a:pt x="30" y="43"/>
                      </a:lnTo>
                      <a:lnTo>
                        <a:pt x="21" y="49"/>
                      </a:lnTo>
                      <a:lnTo>
                        <a:pt x="9" y="49"/>
                      </a:lnTo>
                      <a:lnTo>
                        <a:pt x="0" y="43"/>
                      </a:lnTo>
                      <a:lnTo>
                        <a:pt x="0" y="35"/>
                      </a:lnTo>
                      <a:lnTo>
                        <a:pt x="11" y="35"/>
                      </a:lnTo>
                      <a:lnTo>
                        <a:pt x="11" y="41"/>
                      </a:lnTo>
                      <a:lnTo>
                        <a:pt x="19" y="41"/>
                      </a:lnTo>
                      <a:lnTo>
                        <a:pt x="19" y="29"/>
                      </a:lnTo>
                      <a:lnTo>
                        <a:pt x="11" y="29"/>
                      </a:lnTo>
                      <a:lnTo>
                        <a:pt x="11" y="20"/>
                      </a:lnTo>
                      <a:lnTo>
                        <a:pt x="19" y="20"/>
                      </a:lnTo>
                      <a:lnTo>
                        <a:pt x="19" y="8"/>
                      </a:lnTo>
                      <a:lnTo>
                        <a:pt x="11" y="8"/>
                      </a:lnTo>
                      <a:lnTo>
                        <a:pt x="11" y="14"/>
                      </a:lnTo>
                      <a:lnTo>
                        <a:pt x="0" y="14"/>
                      </a:lnTo>
                      <a:lnTo>
                        <a:pt x="0" y="6"/>
                      </a:lnTo>
                      <a:lnTo>
                        <a:pt x="9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13" name="Freeform 98"/>
                <p:cNvSpPr/>
                <p:nvPr/>
              </p:nvSpPr>
              <p:spPr>
                <a:xfrm>
                  <a:off x="1208" y="964"/>
                  <a:ext cx="19" cy="50"/>
                </a:xfrm>
                <a:custGeom>
                  <a:avLst/>
                  <a:gdLst>
                    <a:gd name="txL" fmla="*/ 0 w 19"/>
                    <a:gd name="txT" fmla="*/ 0 h 50"/>
                    <a:gd name="txR" fmla="*/ 19 w 19"/>
                    <a:gd name="txB" fmla="*/ 50 h 50"/>
                  </a:gdLst>
                  <a:ahLst/>
                  <a:cxnLst>
                    <a:cxn ang="0">
                      <a:pos x="6" y="49"/>
                    </a:cxn>
                    <a:cxn ang="0">
                      <a:pos x="18" y="49"/>
                    </a:cxn>
                    <a:cxn ang="0">
                      <a:pos x="18" y="0"/>
                    </a:cxn>
                    <a:cxn ang="0">
                      <a:pos x="2" y="0"/>
                    </a:cxn>
                    <a:cxn ang="0">
                      <a:pos x="0" y="10"/>
                    </a:cxn>
                    <a:cxn ang="0">
                      <a:pos x="6" y="10"/>
                    </a:cxn>
                    <a:cxn ang="0">
                      <a:pos x="6" y="49"/>
                    </a:cxn>
                  </a:cxnLst>
                  <a:rect l="txL" t="txT" r="txR" b="txB"/>
                  <a:pathLst>
                    <a:path w="19" h="50">
                      <a:moveTo>
                        <a:pt x="6" y="49"/>
                      </a:moveTo>
                      <a:lnTo>
                        <a:pt x="18" y="49"/>
                      </a:lnTo>
                      <a:lnTo>
                        <a:pt x="18" y="0"/>
                      </a:lnTo>
                      <a:lnTo>
                        <a:pt x="2" y="0"/>
                      </a:lnTo>
                      <a:lnTo>
                        <a:pt x="0" y="10"/>
                      </a:lnTo>
                      <a:lnTo>
                        <a:pt x="6" y="10"/>
                      </a:lnTo>
                      <a:lnTo>
                        <a:pt x="6" y="49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20505" name="Rectangle 101"/>
            <p:cNvSpPr/>
            <p:nvPr/>
          </p:nvSpPr>
          <p:spPr>
            <a:xfrm>
              <a:off x="653" y="261"/>
              <a:ext cx="538" cy="8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36513" tIns="17463" rIns="36513" bIns="17463">
              <a:spAutoFit/>
            </a:bodyPr>
            <a:lstStyle/>
            <a:p>
              <a:pPr marL="135255" indent="-135255" algn="ctr" defTabSz="144780">
                <a:buNone/>
              </a:pPr>
              <a:r>
                <a:rPr sz="1500" b="1" baseline="-20000" dirty="0">
                  <a:solidFill>
                    <a:schemeClr val="bg2"/>
                  </a:solidFill>
                  <a:latin typeface="Arial" panose="020B0604020202020204" pitchFamily="34" charset="0"/>
                </a:rPr>
                <a:t>January 1996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7033290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9266" name="Object 139265"/>
          <p:cNvGraphicFramePr/>
          <p:nvPr/>
        </p:nvGraphicFramePr>
        <p:xfrm>
          <a:off x="524510" y="152400"/>
          <a:ext cx="10512425" cy="6383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172200" imgH="5067300" progId="Paint.Picture">
                  <p:embed/>
                </p:oleObj>
              </mc:Choice>
              <mc:Fallback>
                <p:oleObj r:id="rId3" imgW="6172200" imgH="5067300" progId="Paint.Picture">
                  <p:embed/>
                  <p:pic>
                    <p:nvPicPr>
                      <p:cNvPr id="139266" name="Object 13926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4510" y="152400"/>
                        <a:ext cx="10512425" cy="63836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085019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Title 140289"/>
          <p:cNvSpPr>
            <a:spLocks noGrp="1"/>
          </p:cNvSpPr>
          <p:nvPr>
            <p:ph type="title"/>
          </p:nvPr>
        </p:nvSpPr>
        <p:spPr>
          <a:xfrm>
            <a:off x="677545" y="395605"/>
            <a:ext cx="8596630" cy="938530"/>
          </a:xfrm>
        </p:spPr>
        <p:txBody>
          <a:bodyPr lIns="90488" tIns="44450" rIns="90488" bIns="44450" anchor="ctr" anchorCtr="0"/>
          <a:lstStyle/>
          <a:p>
            <a:r>
              <a:t>Computing the payback period</a:t>
            </a:r>
          </a:p>
        </p:txBody>
      </p:sp>
      <p:sp>
        <p:nvSpPr>
          <p:cNvPr id="140291" name="Text Placeholder 140290"/>
          <p:cNvSpPr>
            <a:spLocks noGrp="1"/>
          </p:cNvSpPr>
          <p:nvPr>
            <p:ph type="body" idx="1"/>
          </p:nvPr>
        </p:nvSpPr>
        <p:spPr>
          <a:xfrm>
            <a:off x="677545" y="1579245"/>
            <a:ext cx="8596630" cy="4462145"/>
          </a:xfrm>
        </p:spPr>
        <p:txBody>
          <a:bodyPr lIns="90488" tIns="44450" rIns="90488" bIns="44450">
            <a:noAutofit/>
          </a:bodyPr>
          <a:lstStyle/>
          <a:p>
            <a:r>
              <a:rPr sz="2800" b="1"/>
              <a:t>Can compute the break-even point:</a:t>
            </a:r>
          </a:p>
          <a:p>
            <a:pPr lvl="1"/>
            <a:r>
              <a:rPr sz="2400"/>
              <a:t>when does lifetime benefits overtake lifetime costs?</a:t>
            </a:r>
          </a:p>
          <a:p>
            <a:pPr lvl="1"/>
            <a:r>
              <a:rPr sz="2400"/>
              <a:t>Determine the fraction of a year when payback actually occurs:</a:t>
            </a:r>
          </a:p>
          <a:p>
            <a:pPr lvl="1" algn="ctr">
              <a:buNone/>
            </a:pPr>
            <a:r>
              <a:rPr sz="2400"/>
              <a:t>	  </a:t>
            </a:r>
            <a:r>
              <a:rPr sz="2400">
                <a:solidFill>
                  <a:srgbClr val="800080"/>
                </a:solidFill>
                <a:latin typeface="Helvetica" pitchFamily="-99" charset="0"/>
              </a:rPr>
              <a:t> </a:t>
            </a:r>
            <a:r>
              <a:rPr sz="4800" b="0" baseline="-10000">
                <a:solidFill>
                  <a:srgbClr val="800080"/>
                </a:solidFill>
                <a:latin typeface="Helvetica" pitchFamily="-99" charset="0"/>
              </a:rPr>
              <a:t>|</a:t>
            </a:r>
            <a:r>
              <a:rPr sz="2400">
                <a:solidFill>
                  <a:srgbClr val="800080"/>
                </a:solidFill>
                <a:latin typeface="Helvetica" pitchFamily="-99" charset="0"/>
              </a:rPr>
              <a:t> </a:t>
            </a:r>
            <a:r>
              <a:rPr sz="2400" err="1">
                <a:solidFill>
                  <a:srgbClr val="800080"/>
                </a:solidFill>
                <a:latin typeface="Helvetica" pitchFamily="-99" charset="0"/>
              </a:rPr>
              <a:t>beginningYear </a:t>
            </a:r>
            <a:r>
              <a:rPr sz="2400">
                <a:solidFill>
                  <a:srgbClr val="800080"/>
                </a:solidFill>
                <a:latin typeface="Helvetica" pitchFamily="-99" charset="0"/>
              </a:rPr>
              <a:t>amount </a:t>
            </a:r>
            <a:r>
              <a:rPr sz="4800" b="0" baseline="-10000">
                <a:solidFill>
                  <a:srgbClr val="800080"/>
                </a:solidFill>
                <a:latin typeface="Helvetica" pitchFamily="-99" charset="0"/>
              </a:rPr>
              <a:t>|</a:t>
            </a:r>
            <a:r>
              <a:rPr sz="2400">
                <a:solidFill>
                  <a:srgbClr val="800080"/>
                </a:solidFill>
                <a:latin typeface="Helvetica" pitchFamily="-99" charset="0"/>
              </a:rPr>
              <a:t> </a:t>
            </a:r>
          </a:p>
          <a:p>
            <a:pPr lvl="1" algn="ctr">
              <a:lnSpc>
                <a:spcPct val="110000"/>
              </a:lnSpc>
              <a:buNone/>
            </a:pPr>
            <a:r>
              <a:rPr sz="2400">
                <a:solidFill>
                  <a:srgbClr val="800080"/>
                </a:solidFill>
                <a:latin typeface="Helvetica" pitchFamily="-99" charset="0"/>
              </a:rPr>
              <a:t>		</a:t>
            </a:r>
            <a:r>
              <a:rPr sz="2400" err="1">
                <a:solidFill>
                  <a:srgbClr val="800080"/>
                </a:solidFill>
                <a:latin typeface="Helvetica" pitchFamily="-99" charset="0"/>
              </a:rPr>
              <a:t>endYear </a:t>
            </a:r>
            <a:r>
              <a:rPr sz="2400">
                <a:solidFill>
                  <a:srgbClr val="800080"/>
                </a:solidFill>
                <a:latin typeface="Helvetica" pitchFamily="-99" charset="0"/>
              </a:rPr>
              <a:t>amount + </a:t>
            </a:r>
            <a:r>
              <a:rPr sz="4800" b="0" baseline="-10000">
                <a:solidFill>
                  <a:srgbClr val="800080"/>
                </a:solidFill>
                <a:latin typeface="Helvetica" pitchFamily="-99" charset="0"/>
              </a:rPr>
              <a:t>|</a:t>
            </a:r>
            <a:r>
              <a:rPr sz="2400">
                <a:solidFill>
                  <a:srgbClr val="800080"/>
                </a:solidFill>
                <a:latin typeface="Helvetica" pitchFamily="-99" charset="0"/>
              </a:rPr>
              <a:t> </a:t>
            </a:r>
            <a:r>
              <a:rPr sz="2400" err="1">
                <a:solidFill>
                  <a:srgbClr val="800080"/>
                </a:solidFill>
                <a:latin typeface="Helvetica" pitchFamily="-99" charset="0"/>
              </a:rPr>
              <a:t>beginningYear </a:t>
            </a:r>
            <a:r>
              <a:rPr sz="2400">
                <a:solidFill>
                  <a:srgbClr val="800080"/>
                </a:solidFill>
                <a:latin typeface="Helvetica" pitchFamily="-99" charset="0"/>
              </a:rPr>
              <a:t>amount </a:t>
            </a:r>
            <a:r>
              <a:rPr sz="4800" b="0" baseline="-10000">
                <a:solidFill>
                  <a:srgbClr val="800080"/>
                </a:solidFill>
                <a:latin typeface="Helvetica" pitchFamily="-99" charset="0"/>
              </a:rPr>
              <a:t>|</a:t>
            </a:r>
            <a:endParaRPr sz="2400">
              <a:solidFill>
                <a:srgbClr val="800080"/>
              </a:solidFill>
              <a:latin typeface="Helvetica" pitchFamily="-99" charset="0"/>
            </a:endParaRPr>
          </a:p>
          <a:p>
            <a:pPr lvl="1"/>
            <a:r>
              <a:rPr sz="2400"/>
              <a:t>For our last example, 51,611 / (70,501 + 51,611) = 0.42 </a:t>
            </a:r>
          </a:p>
          <a:p>
            <a:pPr lvl="1"/>
            <a:r>
              <a:rPr sz="2400"/>
              <a:t>Therefore, the payback period is approx 3.4 years</a:t>
            </a:r>
          </a:p>
        </p:txBody>
      </p:sp>
      <p:sp>
        <p:nvSpPr>
          <p:cNvPr id="140293" name="Straight Connector 140292"/>
          <p:cNvSpPr/>
          <p:nvPr/>
        </p:nvSpPr>
        <p:spPr>
          <a:xfrm>
            <a:off x="3270885" y="4182745"/>
            <a:ext cx="4343400" cy="0"/>
          </a:xfrm>
          <a:prstGeom prst="line">
            <a:avLst/>
          </a:prstGeom>
          <a:ln w="285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4758236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Title 131073"/>
          <p:cNvSpPr>
            <a:spLocks noGrp="1"/>
          </p:cNvSpPr>
          <p:nvPr>
            <p:ph type="title"/>
          </p:nvPr>
        </p:nvSpPr>
        <p:spPr>
          <a:xfrm>
            <a:off x="677545" y="242570"/>
            <a:ext cx="8596630" cy="1366520"/>
          </a:xfrm>
        </p:spPr>
        <p:txBody>
          <a:bodyPr lIns="90488" tIns="44450" rIns="90488" bIns="44450" anchor="ctr" anchorCtr="0"/>
          <a:lstStyle/>
          <a:p>
            <a:r>
              <a:t>Schedule Feasibility</a:t>
            </a:r>
          </a:p>
        </p:txBody>
      </p:sp>
      <p:sp>
        <p:nvSpPr>
          <p:cNvPr id="131075" name="Text Placeholder 131074"/>
          <p:cNvSpPr>
            <a:spLocks noGrp="1"/>
          </p:cNvSpPr>
          <p:nvPr>
            <p:ph type="body" idx="1"/>
          </p:nvPr>
        </p:nvSpPr>
        <p:spPr>
          <a:xfrm>
            <a:off x="677545" y="1487170"/>
            <a:ext cx="10164445" cy="5288915"/>
          </a:xfrm>
        </p:spPr>
        <p:txBody>
          <a:bodyPr lIns="90488" tIns="44450" rIns="90488" bIns="44450">
            <a:noAutofit/>
          </a:bodyPr>
          <a:lstStyle/>
          <a:p>
            <a:r>
              <a:rPr sz="2400" b="1"/>
              <a:t>How long will it take to get the technical expertise?</a:t>
            </a:r>
          </a:p>
          <a:p>
            <a:pPr lvl="1"/>
            <a:r>
              <a:rPr sz="2400"/>
              <a:t>We may have the technology, but that doesn't mean we have the skills required to properly apply that technology.</a:t>
            </a:r>
          </a:p>
          <a:p>
            <a:pPr lvl="2"/>
            <a:r>
              <a:rPr sz="2000"/>
              <a:t>May need to hire</a:t>
            </a:r>
            <a:r>
              <a:rPr lang="en-US" sz="2000"/>
              <a:t>/ renting</a:t>
            </a:r>
            <a:r>
              <a:rPr sz="2000"/>
              <a:t> new people</a:t>
            </a:r>
          </a:p>
          <a:p>
            <a:pPr lvl="2"/>
            <a:r>
              <a:rPr sz="2000"/>
              <a:t>Or re-train existing systems staff</a:t>
            </a:r>
          </a:p>
          <a:p>
            <a:pPr lvl="2"/>
            <a:r>
              <a:rPr sz="2000"/>
              <a:t>Whether hiring or training, it will impact the schedule.</a:t>
            </a:r>
          </a:p>
          <a:p>
            <a:r>
              <a:rPr sz="2400" b="1"/>
              <a:t>Assess the schedule risk:</a:t>
            </a:r>
          </a:p>
          <a:p>
            <a:pPr lvl="1"/>
            <a:r>
              <a:rPr sz="2400"/>
              <a:t>Given our technical expertise, are the project deadlines reasonable?</a:t>
            </a:r>
          </a:p>
          <a:p>
            <a:pPr lvl="1"/>
            <a:r>
              <a:rPr sz="2400"/>
              <a:t>If there are specific deadlines, are they mandatory or desirable?</a:t>
            </a:r>
          </a:p>
          <a:p>
            <a:pPr lvl="2"/>
            <a:r>
              <a:rPr sz="2000">
                <a:solidFill>
                  <a:srgbClr val="7030A0"/>
                </a:solidFill>
              </a:rPr>
              <a:t>If the deadlines are not mandatory, the analyst can propose several alternative schedules.</a:t>
            </a:r>
          </a:p>
          <a:p>
            <a:endParaRPr sz="200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8048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609600"/>
            <a:ext cx="8596630" cy="630555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255" y="1487170"/>
            <a:ext cx="9530080" cy="4554220"/>
          </a:xfrm>
        </p:spPr>
        <p:txBody>
          <a:bodyPr/>
          <a:lstStyle/>
          <a:p>
            <a:r>
              <a:rPr sz="2400" b="1">
                <a:sym typeface="+mn-ea"/>
              </a:rPr>
              <a:t>What are the real constraints on project deadlines?</a:t>
            </a:r>
          </a:p>
          <a:p>
            <a:pPr lvl="1"/>
            <a:r>
              <a:rPr sz="2400">
                <a:sym typeface="+mn-ea"/>
              </a:rPr>
              <a:t>If the project overruns</a:t>
            </a:r>
            <a:r>
              <a:rPr lang="en-US" sz="2400">
                <a:sym typeface="+mn-ea"/>
              </a:rPr>
              <a:t>/exceed</a:t>
            </a:r>
            <a:r>
              <a:rPr sz="2400">
                <a:sym typeface="+mn-ea"/>
              </a:rPr>
              <a:t>, what are the consequences?</a:t>
            </a:r>
          </a:p>
          <a:p>
            <a:pPr lvl="2"/>
            <a:r>
              <a:rPr sz="2400">
                <a:sym typeface="+mn-ea"/>
              </a:rPr>
              <a:t>Deliver a properly functioning information system two months late…</a:t>
            </a:r>
          </a:p>
          <a:p>
            <a:pPr lvl="2"/>
            <a:r>
              <a:rPr sz="2400">
                <a:sym typeface="+mn-ea"/>
              </a:rPr>
              <a:t>…or deliver an error-prone, useless information system on time?</a:t>
            </a:r>
          </a:p>
          <a:p>
            <a:pPr lvl="1"/>
            <a:r>
              <a:rPr sz="2400">
                <a:sym typeface="+mn-ea"/>
              </a:rPr>
              <a:t>Missed schedules are bad, but inadequate</a:t>
            </a:r>
            <a:r>
              <a:rPr lang="en-US" sz="2400">
                <a:sym typeface="+mn-ea"/>
              </a:rPr>
              <a:t> or insufficient</a:t>
            </a:r>
            <a:r>
              <a:rPr sz="2400">
                <a:sym typeface="+mn-ea"/>
              </a:rPr>
              <a:t> systems are worse!</a:t>
            </a:r>
          </a:p>
          <a:p>
            <a:endParaRPr lang="en-US" sz="240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849456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itle 129025"/>
          <p:cNvSpPr>
            <a:spLocks noGrp="1"/>
          </p:cNvSpPr>
          <p:nvPr>
            <p:ph type="title"/>
          </p:nvPr>
        </p:nvSpPr>
        <p:spPr>
          <a:xfrm>
            <a:off x="677545" y="395605"/>
            <a:ext cx="8596630" cy="1167130"/>
          </a:xfrm>
        </p:spPr>
        <p:txBody>
          <a:bodyPr lIns="90488" tIns="44450" rIns="90488" bIns="44450" anchor="ctr" anchorCtr="0"/>
          <a:lstStyle/>
          <a:p>
            <a:r>
              <a:t>Operational Feasibility</a:t>
            </a:r>
          </a:p>
        </p:txBody>
      </p:sp>
      <p:sp>
        <p:nvSpPr>
          <p:cNvPr id="129027" name="Text Placeholder 129026"/>
          <p:cNvSpPr>
            <a:spLocks noGrp="1"/>
          </p:cNvSpPr>
          <p:nvPr>
            <p:ph type="body" idx="1"/>
          </p:nvPr>
        </p:nvSpPr>
        <p:spPr>
          <a:xfrm>
            <a:off x="677545" y="1563370"/>
            <a:ext cx="8596630" cy="4875530"/>
          </a:xfrm>
        </p:spPr>
        <p:txBody>
          <a:bodyPr lIns="90488" tIns="44450" rIns="90488" bIns="44450">
            <a:normAutofit/>
          </a:bodyPr>
          <a:lstStyle/>
          <a:p>
            <a:r>
              <a:rPr sz="2000">
                <a:solidFill>
                  <a:srgbClr val="00B0F0"/>
                </a:solidFill>
              </a:rPr>
              <a:t>How do end-users and managers feel about…</a:t>
            </a:r>
          </a:p>
          <a:p>
            <a:pPr lvl="1"/>
            <a:r>
              <a:rPr sz="1800"/>
              <a:t>…the problem you identified?</a:t>
            </a:r>
          </a:p>
          <a:p>
            <a:pPr lvl="1"/>
            <a:r>
              <a:rPr sz="1800"/>
              <a:t>…the alternative solutions you are exploring?</a:t>
            </a:r>
          </a:p>
          <a:p>
            <a:r>
              <a:rPr sz="2000"/>
              <a:t>You must evaluate:</a:t>
            </a:r>
          </a:p>
          <a:p>
            <a:pPr lvl="1"/>
            <a:r>
              <a:rPr sz="1800"/>
              <a:t>Not just whether a system </a:t>
            </a:r>
            <a:r>
              <a:rPr sz="1800" i="1">
                <a:solidFill>
                  <a:srgbClr val="800000"/>
                </a:solidFill>
              </a:rPr>
              <a:t>can</a:t>
            </a:r>
            <a:r>
              <a:rPr sz="1800"/>
              <a:t> work… but also whether a system </a:t>
            </a:r>
            <a:r>
              <a:rPr sz="1800" i="1">
                <a:solidFill>
                  <a:srgbClr val="800000"/>
                </a:solidFill>
              </a:rPr>
              <a:t>will</a:t>
            </a:r>
            <a:r>
              <a:rPr sz="1800"/>
              <a:t> work.</a:t>
            </a:r>
          </a:p>
          <a:p>
            <a:pPr algn="l"/>
            <a:r>
              <a:rPr sz="2000">
                <a:solidFill>
                  <a:srgbClr val="00B0F0"/>
                </a:solidFill>
              </a:rPr>
              <a:t>Any solution might meet with resistance: </a:t>
            </a:r>
          </a:p>
          <a:p>
            <a:pPr lvl="1"/>
            <a:r>
              <a:rPr sz="1800"/>
              <a:t>Does </a:t>
            </a:r>
            <a:r>
              <a:rPr sz="1800">
                <a:solidFill>
                  <a:srgbClr val="800000"/>
                </a:solidFill>
              </a:rPr>
              <a:t>management</a:t>
            </a:r>
            <a:r>
              <a:rPr sz="1800"/>
              <a:t> support the project?</a:t>
            </a:r>
          </a:p>
          <a:p>
            <a:pPr lvl="1"/>
            <a:r>
              <a:rPr sz="1800"/>
              <a:t>How do the </a:t>
            </a:r>
            <a:r>
              <a:rPr sz="1800">
                <a:solidFill>
                  <a:srgbClr val="800000"/>
                </a:solidFill>
              </a:rPr>
              <a:t>end users</a:t>
            </a:r>
            <a:r>
              <a:rPr sz="1800"/>
              <a:t> feel about their role in the new system?</a:t>
            </a:r>
          </a:p>
          <a:p>
            <a:pPr lvl="1"/>
            <a:r>
              <a:rPr sz="1800"/>
              <a:t>Which users or managers may resist (or not use) the system?</a:t>
            </a:r>
          </a:p>
          <a:p>
            <a:pPr lvl="1"/>
            <a:r>
              <a:rPr sz="1800"/>
              <a:t>How will the working environment of the end users change? </a:t>
            </a:r>
          </a:p>
          <a:p>
            <a:pPr lvl="1"/>
            <a:r>
              <a:rPr sz="1800"/>
              <a:t>Can or will end users and management adapt to the change?</a:t>
            </a:r>
          </a:p>
        </p:txBody>
      </p:sp>
    </p:spTree>
    <p:extLst>
      <p:ext uri="{BB962C8B-B14F-4D97-AF65-F5344CB8AC3E}">
        <p14:creationId xmlns:p14="http://schemas.microsoft.com/office/powerpoint/2010/main" val="42295773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64" name="Title 147463"/>
          <p:cNvSpPr>
            <a:spLocks noGrp="1"/>
          </p:cNvSpPr>
          <p:nvPr>
            <p:ph type="title"/>
          </p:nvPr>
        </p:nvSpPr>
        <p:spPr>
          <a:xfrm>
            <a:off x="677545" y="426720"/>
            <a:ext cx="8596630" cy="869315"/>
          </a:xfrm>
        </p:spPr>
        <p:txBody>
          <a:bodyPr lIns="90488" tIns="44450" rIns="90488" bIns="44450" anchor="ctr" anchorCtr="0"/>
          <a:lstStyle/>
          <a:p>
            <a:r>
              <a:t>Feasibility Study Contents</a:t>
            </a:r>
          </a:p>
        </p:txBody>
      </p:sp>
      <p:sp>
        <p:nvSpPr>
          <p:cNvPr id="147465" name="Text Placeholder 147464"/>
          <p:cNvSpPr>
            <a:spLocks noGrp="1"/>
          </p:cNvSpPr>
          <p:nvPr>
            <p:ph type="body" sz="half" idx="1"/>
          </p:nvPr>
        </p:nvSpPr>
        <p:spPr>
          <a:xfrm>
            <a:off x="676910" y="1295400"/>
            <a:ext cx="4700270" cy="5181600"/>
          </a:xfrm>
        </p:spPr>
        <p:txBody>
          <a:bodyPr lIns="90488" tIns="44450" rIns="90488" bIns="44450"/>
          <a:lstStyle/>
          <a:p>
            <a:pPr marL="381000" indent="-381000">
              <a:buClr>
                <a:schemeClr val="tx2"/>
              </a:buClr>
              <a:buSzPct val="75000"/>
              <a:buFont typeface="Times" pitchFamily="-99" charset="0"/>
              <a:buAutoNum type="arabicPeriod"/>
            </a:pPr>
            <a:r>
              <a:rPr sz="1800" b="1">
                <a:solidFill>
                  <a:schemeClr val="accent6"/>
                </a:solidFill>
              </a:rPr>
              <a:t>Purpose &amp; scope of </a:t>
            </a:r>
            <a:r>
              <a:rPr sz="1800" b="1" i="1">
                <a:solidFill>
                  <a:schemeClr val="accent6"/>
                </a:solidFill>
              </a:rPr>
              <a:t>the study</a:t>
            </a:r>
            <a:endParaRPr sz="1800" b="1">
              <a:solidFill>
                <a:schemeClr val="accent6"/>
              </a:solidFill>
            </a:endParaRPr>
          </a:p>
          <a:p>
            <a:pPr marL="723900" lvl="1" indent="-266700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Objectives (of the study)</a:t>
            </a:r>
          </a:p>
          <a:p>
            <a:pPr marL="723900" lvl="1" indent="-266700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who commissioned it &amp; who did it,</a:t>
            </a:r>
          </a:p>
          <a:p>
            <a:pPr marL="723900" lvl="1" indent="-266700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sources of information,</a:t>
            </a:r>
          </a:p>
          <a:p>
            <a:pPr marL="723900" lvl="1" indent="-266700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process used for the study,</a:t>
            </a:r>
            <a:endParaRPr sz="1800" b="1">
              <a:solidFill>
                <a:schemeClr val="accent6"/>
              </a:solidFill>
            </a:endParaRPr>
          </a:p>
          <a:p>
            <a:pPr marL="723900" lvl="1" indent="-266700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how long did it take,…</a:t>
            </a:r>
          </a:p>
          <a:p>
            <a:pPr marL="381000" indent="-381000">
              <a:buClr>
                <a:schemeClr val="tx2"/>
              </a:buClr>
              <a:buSzPct val="75000"/>
              <a:buFont typeface="Times" pitchFamily="-99" charset="0"/>
              <a:buAutoNum type="arabicPeriod"/>
            </a:pPr>
            <a:r>
              <a:rPr sz="1800" b="1">
                <a:solidFill>
                  <a:schemeClr val="accent6"/>
                </a:solidFill>
              </a:rPr>
              <a:t>Description of present situation </a:t>
            </a:r>
            <a:endParaRPr sz="1800"/>
          </a:p>
          <a:p>
            <a:pPr marL="723900" lvl="1" indent="-266700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organizational setting, current system(s).</a:t>
            </a:r>
          </a:p>
          <a:p>
            <a:pPr marL="723900" lvl="1" indent="-266700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Related factors and constraints.</a:t>
            </a:r>
          </a:p>
          <a:p>
            <a:pPr marL="381000" indent="-381000">
              <a:buClr>
                <a:schemeClr val="tx2"/>
              </a:buClr>
              <a:buSzPct val="75000"/>
              <a:buFont typeface="Times" pitchFamily="-99" charset="0"/>
              <a:buAutoNum type="arabicPeriod"/>
            </a:pPr>
            <a:r>
              <a:rPr sz="1800" b="1">
                <a:solidFill>
                  <a:schemeClr val="accent6"/>
                </a:solidFill>
              </a:rPr>
              <a:t>Problems and requirements</a:t>
            </a:r>
          </a:p>
          <a:p>
            <a:pPr marL="723900" lvl="1" indent="-266700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What’s wrong with the present situation?</a:t>
            </a:r>
          </a:p>
          <a:p>
            <a:pPr marL="723900" lvl="1" indent="-266700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What changes are needed?</a:t>
            </a:r>
          </a:p>
          <a:p>
            <a:pPr marL="381000" indent="-381000">
              <a:buClr>
                <a:schemeClr val="tx2"/>
              </a:buClr>
              <a:buSzPct val="75000"/>
              <a:buFont typeface="Times" pitchFamily="-99" charset="0"/>
              <a:buAutoNum type="arabicPeriod"/>
            </a:pPr>
            <a:r>
              <a:rPr sz="1800" b="1">
                <a:solidFill>
                  <a:schemeClr val="accent6"/>
                </a:solidFill>
              </a:rPr>
              <a:t>Objectives of the new system.</a:t>
            </a:r>
            <a:endParaRPr sz="1800"/>
          </a:p>
          <a:p>
            <a:pPr marL="723900" lvl="1" indent="-266700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Goals and relationships between them</a:t>
            </a:r>
          </a:p>
        </p:txBody>
      </p:sp>
      <p:sp>
        <p:nvSpPr>
          <p:cNvPr id="147466" name="Text Placeholder 147465"/>
          <p:cNvSpPr>
            <a:spLocks noGrp="1"/>
          </p:cNvSpPr>
          <p:nvPr>
            <p:ph type="body" sz="half" idx="2"/>
          </p:nvPr>
        </p:nvSpPr>
        <p:spPr>
          <a:xfrm>
            <a:off x="5605780" y="1295400"/>
            <a:ext cx="5278755" cy="5181600"/>
          </a:xfrm>
        </p:spPr>
        <p:txBody>
          <a:bodyPr lIns="90488" tIns="44450" rIns="90488" bIns="44450">
            <a:normAutofit lnSpcReduction="10000"/>
          </a:bodyPr>
          <a:lstStyle/>
          <a:p>
            <a:pPr marL="381000" indent="-381000">
              <a:buClr>
                <a:schemeClr val="tx2"/>
              </a:buClr>
              <a:buSzPct val="75000"/>
              <a:buFont typeface="Times" pitchFamily="-99" charset="0"/>
              <a:buAutoNum type="arabicPeriod" startAt="5"/>
            </a:pPr>
            <a:r>
              <a:rPr sz="1800" b="1">
                <a:solidFill>
                  <a:schemeClr val="accent6"/>
                </a:solidFill>
              </a:rPr>
              <a:t>Possible alternatives </a:t>
            </a:r>
          </a:p>
          <a:p>
            <a:pPr marL="723900" lvl="1" indent="-266700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…including ‘do nothing’.</a:t>
            </a:r>
          </a:p>
          <a:p>
            <a:pPr marL="381000" indent="-381000" algn="l">
              <a:buClr>
                <a:schemeClr val="tx2"/>
              </a:buClr>
              <a:buSzPct val="75000"/>
              <a:buFont typeface="Times" pitchFamily="-99" charset="0"/>
              <a:buAutoNum type="arabicPeriod" startAt="5"/>
            </a:pPr>
            <a:r>
              <a:rPr sz="1800" b="1">
                <a:solidFill>
                  <a:schemeClr val="accent6"/>
                </a:solidFill>
              </a:rPr>
              <a:t>Criteria for comparison </a:t>
            </a:r>
          </a:p>
          <a:p>
            <a:pPr marL="723900" lvl="1" indent="-266700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definition of the criteria</a:t>
            </a:r>
          </a:p>
          <a:p>
            <a:pPr marL="381000" indent="-381000">
              <a:buClr>
                <a:schemeClr val="tx2"/>
              </a:buClr>
              <a:buSzPct val="75000"/>
              <a:buFont typeface="Times" pitchFamily="-99" charset="0"/>
              <a:buAutoNum type="arabicPeriod" startAt="5"/>
            </a:pPr>
            <a:r>
              <a:rPr sz="1800" b="1">
                <a:solidFill>
                  <a:schemeClr val="accent6"/>
                </a:solidFill>
              </a:rPr>
              <a:t>Analysis of alternatives </a:t>
            </a:r>
            <a:endParaRPr sz="1800"/>
          </a:p>
          <a:p>
            <a:pPr marL="723900" lvl="1" indent="-266700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description of each alternative</a:t>
            </a:r>
          </a:p>
          <a:p>
            <a:pPr marL="723900" lvl="1" indent="-266700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evaluation with respect to criteria</a:t>
            </a:r>
          </a:p>
          <a:p>
            <a:pPr marL="723900" lvl="1" indent="-266700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cost/benefit analysis and special implications.</a:t>
            </a:r>
          </a:p>
          <a:p>
            <a:pPr marL="381000" indent="-381000">
              <a:buClr>
                <a:schemeClr val="tx2"/>
              </a:buClr>
              <a:buSzPct val="75000"/>
              <a:buFont typeface="Times" pitchFamily="-99" charset="0"/>
              <a:buAutoNum type="arabicPeriod" startAt="5"/>
            </a:pPr>
            <a:r>
              <a:rPr sz="1800" b="1">
                <a:solidFill>
                  <a:schemeClr val="accent6"/>
                </a:solidFill>
              </a:rPr>
              <a:t>Recommendations </a:t>
            </a:r>
          </a:p>
          <a:p>
            <a:pPr marL="723900" lvl="1" indent="-266700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what is recommended and implications</a:t>
            </a:r>
          </a:p>
          <a:p>
            <a:pPr marL="723900" lvl="1" indent="-266700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what to do next; </a:t>
            </a:r>
          </a:p>
          <a:p>
            <a:pPr lvl="2">
              <a:buClr>
                <a:srgbClr val="408000"/>
              </a:buClr>
              <a:buSzPct val="100000"/>
              <a:buFont typeface="Wingdings" panose="05000000000000000000" pitchFamily="2" charset="2"/>
            </a:pPr>
            <a:r>
              <a:rPr sz="1200"/>
              <a:t>E.g. may recommend an interim solution and a permanent solution</a:t>
            </a:r>
          </a:p>
          <a:p>
            <a:pPr marL="381000" indent="-381000">
              <a:buClr>
                <a:schemeClr val="tx2"/>
              </a:buClr>
              <a:buSzPct val="75000"/>
              <a:buFont typeface="Times" pitchFamily="-99" charset="0"/>
              <a:buAutoNum type="arabicPeriod" startAt="5"/>
            </a:pPr>
            <a:r>
              <a:rPr sz="1800" b="1">
                <a:solidFill>
                  <a:schemeClr val="accent6"/>
                </a:solidFill>
              </a:rPr>
              <a:t>Appendices</a:t>
            </a:r>
          </a:p>
          <a:p>
            <a:pPr marL="723900" lvl="1" indent="-266700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to include any supporting material.</a:t>
            </a:r>
          </a:p>
        </p:txBody>
      </p:sp>
    </p:spTree>
    <p:extLst>
      <p:ext uri="{BB962C8B-B14F-4D97-AF65-F5344CB8AC3E}">
        <p14:creationId xmlns:p14="http://schemas.microsoft.com/office/powerpoint/2010/main" val="37652769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Title 143361"/>
          <p:cNvSpPr>
            <a:spLocks noGrp="1"/>
          </p:cNvSpPr>
          <p:nvPr>
            <p:ph type="title"/>
          </p:nvPr>
        </p:nvSpPr>
        <p:spPr>
          <a:xfrm>
            <a:off x="677545" y="349250"/>
            <a:ext cx="8596630" cy="723900"/>
          </a:xfrm>
        </p:spPr>
        <p:txBody>
          <a:bodyPr lIns="90488" tIns="44450" rIns="90488" bIns="44450" anchor="ctr" anchorCtr="0">
            <a:normAutofit/>
          </a:bodyPr>
          <a:lstStyle/>
          <a:p>
            <a:r>
              <a:t>Comparing Alternatives</a:t>
            </a:r>
          </a:p>
        </p:txBody>
      </p:sp>
      <p:sp>
        <p:nvSpPr>
          <p:cNvPr id="143363" name="Text Placeholder 143362"/>
          <p:cNvSpPr>
            <a:spLocks noGrp="1"/>
          </p:cNvSpPr>
          <p:nvPr>
            <p:ph type="body" idx="1"/>
          </p:nvPr>
        </p:nvSpPr>
        <p:spPr>
          <a:xfrm>
            <a:off x="802640" y="1219200"/>
            <a:ext cx="9560560" cy="5257800"/>
          </a:xfrm>
        </p:spPr>
        <p:txBody>
          <a:bodyPr lIns="90488" tIns="44450" rIns="90488" bIns="44450">
            <a:normAutofit lnSpcReduction="10000"/>
          </a:bodyPr>
          <a:lstStyle/>
          <a:p>
            <a:r>
              <a:rPr b="1">
                <a:solidFill>
                  <a:schemeClr val="accent6"/>
                </a:solidFill>
              </a:rPr>
              <a:t>How do we compare alternatives?</a:t>
            </a:r>
          </a:p>
          <a:p>
            <a:pPr lvl="1"/>
            <a:r>
              <a:t>When there are multiple selection criteria?</a:t>
            </a:r>
          </a:p>
          <a:p>
            <a:pPr lvl="1"/>
            <a:r>
              <a:t>When none of the alternatives is superior across the board? </a:t>
            </a:r>
          </a:p>
          <a:p>
            <a:pPr algn="l"/>
            <a:r>
              <a:rPr b="1">
                <a:solidFill>
                  <a:schemeClr val="accent6"/>
                </a:solidFill>
              </a:rPr>
              <a:t>Use a Feasibility Analysis Matrix!</a:t>
            </a:r>
          </a:p>
          <a:p>
            <a:pPr lvl="1"/>
            <a:r>
              <a:t>The columns correspond to the candidate solutions;</a:t>
            </a:r>
          </a:p>
          <a:p>
            <a:pPr lvl="1"/>
            <a:r>
              <a:t>The rows correspond to the feasibility criteria;</a:t>
            </a:r>
          </a:p>
          <a:p>
            <a:pPr lvl="1"/>
            <a:r>
              <a:t>The cells contain the feasibility assessment notes for each candidate;</a:t>
            </a:r>
          </a:p>
          <a:p>
            <a:pPr lvl="1"/>
            <a:r>
              <a:t>Each row can be assigned a rank or score for each criterion</a:t>
            </a:r>
          </a:p>
          <a:p>
            <a:pPr lvl="2"/>
            <a:r>
              <a:t>e.g., for operational feasibility, candidates can be ranked 1, 2, 3, etc.</a:t>
            </a:r>
          </a:p>
          <a:p>
            <a:pPr lvl="1"/>
            <a:r>
              <a:t>A final ranking or score is recorded in the last row. </a:t>
            </a:r>
          </a:p>
          <a:p>
            <a:pPr algn="l"/>
            <a:r>
              <a:rPr b="1">
                <a:solidFill>
                  <a:schemeClr val="accent6"/>
                </a:solidFill>
              </a:rPr>
              <a:t>Other evaluation criteria to include in the matrix</a:t>
            </a:r>
          </a:p>
          <a:p>
            <a:pPr lvl="1">
              <a:lnSpc>
                <a:spcPct val="95000"/>
              </a:lnSpc>
              <a:spcBef>
                <a:spcPct val="0"/>
              </a:spcBef>
            </a:pPr>
            <a:r>
              <a:t>quality of output</a:t>
            </a:r>
          </a:p>
          <a:p>
            <a:pPr lvl="1">
              <a:lnSpc>
                <a:spcPct val="95000"/>
              </a:lnSpc>
              <a:spcBef>
                <a:spcPct val="0"/>
              </a:spcBef>
            </a:pPr>
            <a:r>
              <a:t>ease of use</a:t>
            </a:r>
          </a:p>
          <a:p>
            <a:pPr lvl="1">
              <a:lnSpc>
                <a:spcPct val="95000"/>
              </a:lnSpc>
              <a:spcBef>
                <a:spcPct val="0"/>
              </a:spcBef>
            </a:pPr>
            <a:r>
              <a:t>vendor support</a:t>
            </a:r>
          </a:p>
          <a:p>
            <a:pPr lvl="1">
              <a:lnSpc>
                <a:spcPct val="95000"/>
              </a:lnSpc>
              <a:spcBef>
                <a:spcPct val="0"/>
              </a:spcBef>
            </a:pPr>
            <a:r>
              <a:t>cost of maintenance</a:t>
            </a:r>
          </a:p>
          <a:p>
            <a:pPr lvl="1">
              <a:lnSpc>
                <a:spcPct val="95000"/>
              </a:lnSpc>
              <a:spcBef>
                <a:spcPct val="0"/>
              </a:spcBef>
            </a:pPr>
            <a:r>
              <a:t>load on system</a:t>
            </a:r>
          </a:p>
        </p:txBody>
      </p:sp>
    </p:spTree>
    <p:extLst>
      <p:ext uri="{BB962C8B-B14F-4D97-AF65-F5344CB8AC3E}">
        <p14:creationId xmlns:p14="http://schemas.microsoft.com/office/powerpoint/2010/main" val="6981232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Title 144385"/>
          <p:cNvSpPr>
            <a:spLocks noGrp="1"/>
          </p:cNvSpPr>
          <p:nvPr>
            <p:ph type="title"/>
          </p:nvPr>
        </p:nvSpPr>
        <p:spPr/>
        <p:txBody>
          <a:bodyPr lIns="90488" tIns="44450" rIns="90488" bIns="44450" anchor="ctr" anchorCtr="0"/>
          <a:lstStyle/>
          <a:p>
            <a:r>
              <a:t>Example matrix</a:t>
            </a:r>
          </a:p>
        </p:txBody>
      </p:sp>
      <p:graphicFrame>
        <p:nvGraphicFramePr>
          <p:cNvPr id="144387" name="Object 144386"/>
          <p:cNvGraphicFramePr/>
          <p:nvPr/>
        </p:nvGraphicFramePr>
        <p:xfrm>
          <a:off x="676910" y="1792605"/>
          <a:ext cx="9302115" cy="429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789045" imgH="1621155" progId="Excel.Sheet.8">
                  <p:embed/>
                </p:oleObj>
              </mc:Choice>
              <mc:Fallback>
                <p:oleObj r:id="rId3" imgW="3789045" imgH="1621155" progId="Excel.Sheet.8">
                  <p:embed/>
                  <p:pic>
                    <p:nvPicPr>
                      <p:cNvPr id="144387" name="Object 14438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6910" y="1792605"/>
                        <a:ext cx="9302115" cy="4295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9765807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1271</Words>
  <Application>Microsoft Office PowerPoint</Application>
  <PresentationFormat>Widescreen</PresentationFormat>
  <Paragraphs>264</Paragraphs>
  <Slides>33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33</vt:i4>
      </vt:variant>
    </vt:vector>
  </HeadingPairs>
  <TitlesOfParts>
    <vt:vector size="44" baseType="lpstr">
      <vt:lpstr>Arial</vt:lpstr>
      <vt:lpstr>Calibri</vt:lpstr>
      <vt:lpstr>Helvetica</vt:lpstr>
      <vt:lpstr>Times</vt:lpstr>
      <vt:lpstr>Trebuchet MS</vt:lpstr>
      <vt:lpstr>Wingdings</vt:lpstr>
      <vt:lpstr>Wingdings 3</vt:lpstr>
      <vt:lpstr>Facet</vt:lpstr>
      <vt:lpstr>MS_ClipArt_Gallery</vt:lpstr>
      <vt:lpstr>Bitmap Image</vt:lpstr>
      <vt:lpstr>Microsoft Excel 97-2003 Worksheet</vt:lpstr>
      <vt:lpstr>LUC 5</vt:lpstr>
      <vt:lpstr>Economic Analysis</vt:lpstr>
      <vt:lpstr>The Steps</vt:lpstr>
      <vt:lpstr>Write it Down!</vt:lpstr>
      <vt:lpstr>To Understand Scope ...</vt:lpstr>
      <vt:lpstr>Cost Estimation</vt:lpstr>
      <vt:lpstr>Estimation Techniques</vt:lpstr>
      <vt:lpstr>Functional Decomposition</vt:lpstr>
      <vt:lpstr>Creating a Task Matrix</vt:lpstr>
      <vt:lpstr>Conventional and traditional  Methods: LOC/FP Approach</vt:lpstr>
      <vt:lpstr>Example: LOC Approach</vt:lpstr>
      <vt:lpstr>Example: FP Approach</vt:lpstr>
      <vt:lpstr>Tool-Based Estimation</vt:lpstr>
      <vt:lpstr>Empirical Estimation Models</vt:lpstr>
      <vt:lpstr>Estimation Guidelines</vt:lpstr>
      <vt:lpstr>The Make-Buy Decision</vt:lpstr>
      <vt:lpstr>Computing Expected Cost</vt:lpstr>
      <vt:lpstr>Estimating Costs</vt:lpstr>
      <vt:lpstr>Estimating Development Cost</vt:lpstr>
      <vt:lpstr>Estimating Operation and Support </vt:lpstr>
      <vt:lpstr>Estimating Tangible /touchable Benefits</vt:lpstr>
      <vt:lpstr>Estimating Intangible Benefits</vt:lpstr>
      <vt:lpstr>Economic Analysis (continued)</vt:lpstr>
      <vt:lpstr>LUC 6 </vt:lpstr>
      <vt:lpstr>Payback Analysis</vt:lpstr>
      <vt:lpstr>PowerPoint Presentation</vt:lpstr>
      <vt:lpstr>Computing the payback period</vt:lpstr>
      <vt:lpstr>Schedule Feasibility</vt:lpstr>
      <vt:lpstr>PowerPoint Presentation</vt:lpstr>
      <vt:lpstr>Operational Feasibility</vt:lpstr>
      <vt:lpstr>Feasibility Study Contents</vt:lpstr>
      <vt:lpstr>Comparing Alternatives</vt:lpstr>
      <vt:lpstr>Example matrix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LUC 4</dc:title>
  <dc:creator>user</dc:creator>
  <cp:lastModifiedBy>user</cp:lastModifiedBy>
  <cp:revision>17</cp:revision>
  <dcterms:created xsi:type="dcterms:W3CDTF">2025-03-24T09:39:00Z</dcterms:created>
  <dcterms:modified xsi:type="dcterms:W3CDTF">2025-04-07T09:42:37Z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F55FAC8CE64D4038947530B16E8079FD_12</vt:lpwstr>
  </property>
  <property fmtid="{D5CDD505-2E9C-101B-9397-08002B2CF9AE}" pid="3" name="KSOProductBuildVer">
    <vt:lpwstr>1033-12.2.0.20326</vt:lpwstr>
  </property>
</Properties>
</file>