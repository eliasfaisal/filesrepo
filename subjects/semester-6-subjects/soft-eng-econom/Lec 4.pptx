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2"/>
    <p:sldId id="259" r:id="rId3"/>
    <p:sldId id="260" r:id="rId4"/>
    <p:sldId id="282" r:id="rId5"/>
    <p:sldId id="261" r:id="rId6"/>
    <p:sldId id="283" r:id="rId7"/>
    <p:sldId id="262" r:id="rId8"/>
    <p:sldId id="297" r:id="rId9"/>
    <p:sldId id="263" r:id="rId10"/>
    <p:sldId id="264" r:id="rId11"/>
    <p:sldId id="298" r:id="rId12"/>
    <p:sldId id="265" r:id="rId13"/>
    <p:sldId id="266" r:id="rId14"/>
    <p:sldId id="284" r:id="rId15"/>
    <p:sldId id="267" r:id="rId16"/>
    <p:sldId id="268" r:id="rId17"/>
    <p:sldId id="269" r:id="rId18"/>
    <p:sldId id="285" r:id="rId19"/>
    <p:sldId id="270" r:id="rId20"/>
    <p:sldId id="271" r:id="rId21"/>
    <p:sldId id="274" r:id="rId22"/>
    <p:sldId id="2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56" d="100"/>
          <a:sy n="56" d="100"/>
        </p:scale>
        <p:origin x="4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2</a:t>
            </a:fld>
            <a:endParaRPr lang="en-US" sz="1200" dirty="0"/>
          </a:p>
        </p:txBody>
      </p:sp>
      <p:sp>
        <p:nvSpPr>
          <p:cNvPr id="38914" name="Slide Image Placeholder 38913"/>
          <p:cNvSpPr>
            <a:spLocks noGrp="1" noRot="1" noChangeAspect="1"/>
          </p:cNvSpPr>
          <p:nvPr>
            <p:ph type="sldImg"/>
          </p:nvPr>
        </p:nvSpPr>
        <p:spPr>
          <a:xfrm>
            <a:off x="2974975" y="603250"/>
            <a:ext cx="3194050" cy="2395538"/>
          </a:xfr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8915" name="Text Placeholder 38914"/>
          <p:cNvSpPr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noFill/>
          <a:ln w="9525">
            <a:noFill/>
          </a:ln>
        </p:spPr>
        <p:txBody>
          <a:bodyPr vert="horz" wrap="square" lIns="90436" tIns="44426" rIns="90436" bIns="44426" anchor="t" anchorCtr="0"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3</a:t>
            </a:fld>
            <a:endParaRPr lang="en-US" sz="1200" dirty="0"/>
          </a:p>
        </p:txBody>
      </p:sp>
      <p:sp>
        <p:nvSpPr>
          <p:cNvPr id="169986" name="Slide Image Placeholder 16998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9987" name="Text Placeholder 16998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5</a:t>
            </a:fld>
            <a:endParaRPr lang="en-US" sz="1200" dirty="0"/>
          </a:p>
        </p:txBody>
      </p:sp>
      <p:sp>
        <p:nvSpPr>
          <p:cNvPr id="171010" name="Slide Image Placeholder 17100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1011" name="Text Placeholder 1710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7</a:t>
            </a:fld>
            <a:endParaRPr lang="en-US" sz="1200" dirty="0"/>
          </a:p>
        </p:txBody>
      </p:sp>
      <p:sp>
        <p:nvSpPr>
          <p:cNvPr id="172034" name="Slide Image Placeholder 17203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2035" name="Text Placeholder 17203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9</a:t>
            </a:fld>
            <a:endParaRPr lang="en-US" sz="1200" dirty="0"/>
          </a:p>
        </p:txBody>
      </p:sp>
      <p:sp>
        <p:nvSpPr>
          <p:cNvPr id="173058" name="Slide Image Placeholder 17305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3059" name="Text Placeholder 17305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10</a:t>
            </a:fld>
            <a:endParaRPr lang="en-US" sz="1200" dirty="0"/>
          </a:p>
        </p:txBody>
      </p:sp>
      <p:sp>
        <p:nvSpPr>
          <p:cNvPr id="174082" name="Slide Image Placeholder 17408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083" name="Text Placeholder 17408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12</a:t>
            </a:fld>
            <a:endParaRPr lang="en-US" sz="1200" dirty="0"/>
          </a:p>
        </p:txBody>
      </p:sp>
      <p:sp>
        <p:nvSpPr>
          <p:cNvPr id="175106" name="Slide Image Placeholder 17510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5107" name="Text Placeholder 17510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13</a:t>
            </a:fld>
            <a:endParaRPr lang="en-US" sz="1200" dirty="0"/>
          </a:p>
        </p:txBody>
      </p:sp>
      <p:sp>
        <p:nvSpPr>
          <p:cNvPr id="176130" name="Slide Image Placeholder 17612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6131" name="Text Placeholder 17613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15</a:t>
            </a:fld>
            <a:endParaRPr lang="en-US" sz="1200" dirty="0"/>
          </a:p>
        </p:txBody>
      </p:sp>
      <p:sp>
        <p:nvSpPr>
          <p:cNvPr id="177154" name="Slide Image Placeholder 17715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7155" name="Text Placeholder 17715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16</a:t>
            </a:fld>
            <a:endParaRPr lang="en-US" sz="1200" dirty="0"/>
          </a:p>
        </p:txBody>
      </p:sp>
      <p:sp>
        <p:nvSpPr>
          <p:cNvPr id="178178" name="Slide Image Placeholder 17817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8179" name="Text Placeholder 17817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17</a:t>
            </a:fld>
            <a:endParaRPr lang="en-US" sz="1200" dirty="0"/>
          </a:p>
        </p:txBody>
      </p:sp>
      <p:sp>
        <p:nvSpPr>
          <p:cNvPr id="179202" name="Slide Image Placeholder 17920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9203" name="Text Placeholder 1792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19</a:t>
            </a:fld>
            <a:endParaRPr lang="en-US" sz="1200" dirty="0"/>
          </a:p>
        </p:txBody>
      </p:sp>
      <p:sp>
        <p:nvSpPr>
          <p:cNvPr id="180226" name="Slide Image Placeholder 18022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0227" name="Text Placeholder 18022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20</a:t>
            </a:fld>
            <a:endParaRPr lang="en-US" sz="1200" dirty="0"/>
          </a:p>
        </p:txBody>
      </p:sp>
      <p:sp>
        <p:nvSpPr>
          <p:cNvPr id="181250" name="Slide Image Placeholder 18124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1251" name="Text Placeholder 1812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en-US" sz="1200" dirty="0"/>
              <a:t>21</a:t>
            </a:fld>
            <a:endParaRPr lang="en-US" sz="1200" dirty="0"/>
          </a:p>
        </p:txBody>
      </p:sp>
      <p:sp>
        <p:nvSpPr>
          <p:cNvPr id="184322" name="Slide Image Placeholder 18432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23" name="Text Placeholder 18432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C046E-5571-47FD-A6FE-C82F14AFB5A2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FD4DCBB9-D006-420C-9C76-9AF3568E0B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98" y="1005017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/>
              <a:t>LUC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830" y="3191566"/>
            <a:ext cx="9195715" cy="17360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6000" b="1">
                <a:solidFill>
                  <a:srgbClr val="00B050"/>
                </a:solidFill>
                <a:sym typeface="+mn-ea"/>
              </a:rPr>
              <a:t>the Feasibility Study</a:t>
            </a:r>
            <a:endParaRPr sz="6000">
              <a:sym typeface="+mn-ea"/>
            </a:endParaRPr>
          </a:p>
          <a:p>
            <a:pPr marL="0" indent="0" algn="ctr">
              <a:buNone/>
            </a:pPr>
            <a:endParaRPr lang="en-US" sz="60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37889"/>
          <p:cNvSpPr>
            <a:spLocks noGrp="1"/>
          </p:cNvSpPr>
          <p:nvPr>
            <p:ph type="title"/>
          </p:nvPr>
        </p:nvSpPr>
        <p:spPr>
          <a:xfrm>
            <a:off x="2209800" y="130175"/>
            <a:ext cx="7924800" cy="1029970"/>
          </a:xfrm>
        </p:spPr>
        <p:txBody>
          <a:bodyPr vert="horz" wrap="square" lIns="90488" tIns="44450" rIns="90488" bIns="44450" anchor="ctr" anchorCtr="0">
            <a:normAutofit fontScale="90000"/>
          </a:bodyPr>
          <a:lstStyle/>
          <a:p>
            <a:pPr>
              <a:lnSpc>
                <a:spcPct val="89000"/>
              </a:lnSpc>
            </a:pPr>
            <a:br/>
            <a:br/>
            <a:r>
              <a:t>Lecture </a:t>
            </a:r>
            <a:r>
              <a:rPr lang="en-US"/>
              <a:t>4</a:t>
            </a:r>
            <a:r>
              <a:t>:</a:t>
            </a:r>
            <a:r>
              <a:rPr lang="en-US"/>
              <a:t>   </a:t>
            </a:r>
            <a:r>
              <a:rPr>
                <a:sym typeface="+mn-ea"/>
              </a:rPr>
              <a:t>the Feasibility Study</a:t>
            </a:r>
            <a:br>
              <a:rPr>
                <a:sym typeface="+mn-ea"/>
              </a:rPr>
            </a:br>
            <a:br/>
            <a:endParaRPr/>
          </a:p>
        </p:txBody>
      </p:sp>
      <p:sp>
        <p:nvSpPr>
          <p:cNvPr id="37891" name="Text Placeholder 37890"/>
          <p:cNvSpPr>
            <a:spLocks noGrp="1"/>
          </p:cNvSpPr>
          <p:nvPr>
            <p:ph type="body" idx="1"/>
          </p:nvPr>
        </p:nvSpPr>
        <p:spPr>
          <a:xfrm>
            <a:off x="680720" y="1313180"/>
            <a:ext cx="9682480" cy="5163820"/>
          </a:xfrm>
        </p:spPr>
        <p:txBody>
          <a:bodyPr vert="horz" wrap="square" lIns="90488" tIns="44450" rIns="90488" bIns="44450" anchor="t" anchorCtr="0">
            <a:normAutofit lnSpcReduction="10000"/>
          </a:bodyPr>
          <a:lstStyle/>
          <a:p>
            <a:r>
              <a:rPr sz="2400" b="1" dirty="0">
                <a:solidFill>
                  <a:schemeClr val="accent6"/>
                </a:solidFill>
              </a:rPr>
              <a:t>What is a feasibility study?</a:t>
            </a:r>
          </a:p>
          <a:p>
            <a:pPr lvl="1"/>
            <a:r>
              <a:rPr sz="2000" dirty="0"/>
              <a:t>What to study and conclude?</a:t>
            </a:r>
          </a:p>
          <a:p>
            <a:pPr algn="l"/>
            <a:r>
              <a:rPr sz="2400" b="1" dirty="0">
                <a:solidFill>
                  <a:schemeClr val="accent6"/>
                </a:solidFill>
              </a:rPr>
              <a:t>Types of feasibility</a:t>
            </a:r>
          </a:p>
          <a:p>
            <a:pPr lvl="1"/>
            <a:r>
              <a:rPr sz="2000" dirty="0"/>
              <a:t>Technical</a:t>
            </a:r>
          </a:p>
          <a:p>
            <a:pPr lvl="1"/>
            <a:r>
              <a:rPr sz="2000" b="1" dirty="0">
                <a:solidFill>
                  <a:srgbClr val="00B050"/>
                </a:solidFill>
              </a:rPr>
              <a:t>Economic</a:t>
            </a:r>
          </a:p>
          <a:p>
            <a:pPr lvl="1"/>
            <a:r>
              <a:rPr sz="2000" dirty="0"/>
              <a:t>Schedule</a:t>
            </a:r>
          </a:p>
          <a:p>
            <a:pPr lvl="1"/>
            <a:r>
              <a:rPr sz="2000" dirty="0"/>
              <a:t>Operational</a:t>
            </a:r>
          </a:p>
          <a:p>
            <a:pPr algn="l"/>
            <a:r>
              <a:rPr sz="2400" b="1" dirty="0">
                <a:solidFill>
                  <a:schemeClr val="accent6"/>
                </a:solidFill>
              </a:rPr>
              <a:t>Quantifying benefits and costs</a:t>
            </a:r>
          </a:p>
          <a:p>
            <a:pPr lvl="1"/>
            <a:r>
              <a:rPr sz="2000" dirty="0"/>
              <a:t>Payback analysis</a:t>
            </a:r>
          </a:p>
          <a:p>
            <a:pPr lvl="1"/>
            <a:r>
              <a:rPr sz="2000" dirty="0"/>
              <a:t>Net Present Value Analysis</a:t>
            </a:r>
          </a:p>
          <a:p>
            <a:pPr lvl="1"/>
            <a:r>
              <a:rPr sz="2000" dirty="0"/>
              <a:t>Return on Investment Analysis</a:t>
            </a:r>
          </a:p>
          <a:p>
            <a:pPr algn="l"/>
            <a:r>
              <a:rPr sz="2400" dirty="0"/>
              <a:t>C</a:t>
            </a:r>
            <a:r>
              <a:rPr sz="2400" b="1" dirty="0">
                <a:solidFill>
                  <a:schemeClr val="accent6"/>
                </a:solidFill>
              </a:rPr>
              <a:t>omparing alternatives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123905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831215"/>
          </a:xfrm>
        </p:spPr>
        <p:txBody>
          <a:bodyPr lIns="90488" tIns="44450" rIns="90488" bIns="44450" anchor="ctr" anchorCtr="0"/>
          <a:lstStyle/>
          <a:p>
            <a:r>
              <a:t>Why a feasibility study?</a:t>
            </a:r>
          </a:p>
        </p:txBody>
      </p:sp>
      <p:sp>
        <p:nvSpPr>
          <p:cNvPr id="123907" name="Text Placeholder 123906"/>
          <p:cNvSpPr>
            <a:spLocks noGrp="1"/>
          </p:cNvSpPr>
          <p:nvPr>
            <p:ph type="body" idx="1"/>
          </p:nvPr>
        </p:nvSpPr>
        <p:spPr>
          <a:xfrm>
            <a:off x="677545" y="1640840"/>
            <a:ext cx="8596630" cy="4737735"/>
          </a:xfrm>
        </p:spPr>
        <p:txBody>
          <a:bodyPr lIns="90488" tIns="44450" rIns="90488" bIns="44450">
            <a:normAutofit/>
          </a:bodyPr>
          <a:lstStyle/>
          <a:p>
            <a:r>
              <a:rPr sz="2400" b="1">
                <a:solidFill>
                  <a:schemeClr val="accent6"/>
                </a:solidFill>
              </a:rPr>
              <a:t>Objectives:</a:t>
            </a:r>
          </a:p>
          <a:p>
            <a:pPr lvl="1"/>
            <a:r>
              <a:rPr sz="2000"/>
              <a:t>To find out if an system development  project can be done:</a:t>
            </a:r>
          </a:p>
          <a:p>
            <a:pPr lvl="2"/>
            <a:r>
              <a:rPr sz="1800"/>
              <a:t>...is it possible?</a:t>
            </a:r>
          </a:p>
          <a:p>
            <a:pPr lvl="2"/>
            <a:r>
              <a:rPr sz="1800"/>
              <a:t>...is it justified?</a:t>
            </a:r>
          </a:p>
          <a:p>
            <a:pPr lvl="1"/>
            <a:r>
              <a:rPr sz="2000"/>
              <a:t>To suggest possible alternative solutions.</a:t>
            </a:r>
          </a:p>
          <a:p>
            <a:pPr lvl="1"/>
            <a:r>
              <a:rPr sz="2000"/>
              <a:t>To provide management with enough information to know:</a:t>
            </a:r>
          </a:p>
          <a:p>
            <a:pPr lvl="2"/>
            <a:r>
              <a:rPr sz="1800">
                <a:solidFill>
                  <a:srgbClr val="0070C0"/>
                </a:solidFill>
              </a:rPr>
              <a:t>Whether the project can be done</a:t>
            </a:r>
          </a:p>
          <a:p>
            <a:pPr lvl="2"/>
            <a:r>
              <a:rPr sz="1800">
                <a:solidFill>
                  <a:srgbClr val="0070C0"/>
                </a:solidFill>
              </a:rPr>
              <a:t>Whether the final product will benefit its intended users</a:t>
            </a:r>
          </a:p>
          <a:p>
            <a:pPr lvl="2"/>
            <a:r>
              <a:rPr sz="1800">
                <a:solidFill>
                  <a:srgbClr val="0070C0"/>
                </a:solidFill>
              </a:rPr>
              <a:t>What the alternatives are (so that a selection can be made in subsequent phases)</a:t>
            </a:r>
          </a:p>
          <a:p>
            <a:pPr lvl="2"/>
            <a:r>
              <a:rPr sz="1800">
                <a:solidFill>
                  <a:srgbClr val="0070C0"/>
                </a:solidFill>
              </a:rPr>
              <a:t>Whether there is a preferred alternative</a:t>
            </a:r>
          </a:p>
          <a:p>
            <a:pPr algn="l"/>
            <a:endParaRPr sz="18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2160905"/>
            <a:ext cx="8392795" cy="3880485"/>
          </a:xfrm>
        </p:spPr>
        <p:txBody>
          <a:bodyPr/>
          <a:lstStyle/>
          <a:p>
            <a:pPr algn="l"/>
            <a:r>
              <a:rPr sz="2800" b="1">
                <a:solidFill>
                  <a:schemeClr val="accent6"/>
                </a:solidFill>
                <a:sym typeface="+mn-ea"/>
              </a:rPr>
              <a:t>A management-oriented activity:</a:t>
            </a:r>
            <a:endParaRPr sz="2800" b="1">
              <a:solidFill>
                <a:schemeClr val="accent6"/>
              </a:solidFill>
            </a:endParaRPr>
          </a:p>
          <a:p>
            <a:pPr lvl="1"/>
            <a:r>
              <a:rPr sz="2800">
                <a:sym typeface="+mn-ea"/>
              </a:rPr>
              <a:t>After a feasibility study, management makes a “</a:t>
            </a:r>
            <a:r>
              <a:rPr sz="2800" b="1">
                <a:solidFill>
                  <a:srgbClr val="0070C0"/>
                </a:solidFill>
                <a:sym typeface="+mn-ea"/>
              </a:rPr>
              <a:t>go/no-go</a:t>
            </a:r>
            <a:r>
              <a:rPr sz="2800">
                <a:sym typeface="+mn-ea"/>
              </a:rPr>
              <a:t>” decision.</a:t>
            </a:r>
            <a:endParaRPr sz="2800"/>
          </a:p>
          <a:p>
            <a:pPr lvl="1"/>
            <a:r>
              <a:rPr sz="2800">
                <a:sym typeface="+mn-ea"/>
              </a:rPr>
              <a:t>Need to examine the problem in the context of broader business strategy</a:t>
            </a:r>
            <a:endParaRPr sz="2800"/>
          </a:p>
          <a:p>
            <a:endParaRPr 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Title 124931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769620"/>
          </a:xfrm>
        </p:spPr>
        <p:txBody>
          <a:bodyPr lIns="90488" tIns="44450" rIns="90488" bIns="44450" anchor="ctr" anchorCtr="0"/>
          <a:lstStyle/>
          <a:p>
            <a:r>
              <a:t>Content of a feasibility study</a:t>
            </a:r>
          </a:p>
        </p:txBody>
      </p:sp>
      <p:sp>
        <p:nvSpPr>
          <p:cNvPr id="124933" name="Text Placeholder 124932"/>
          <p:cNvSpPr>
            <a:spLocks noGrp="1"/>
          </p:cNvSpPr>
          <p:nvPr>
            <p:ph type="body" idx="1"/>
          </p:nvPr>
        </p:nvSpPr>
        <p:spPr>
          <a:xfrm>
            <a:off x="677545" y="1593850"/>
            <a:ext cx="8596630" cy="5029200"/>
          </a:xfrm>
        </p:spPr>
        <p:txBody>
          <a:bodyPr lIns="90488" tIns="44450" rIns="90488" bIns="44450"/>
          <a:lstStyle/>
          <a:p>
            <a:r>
              <a:rPr sz="2800" b="1" dirty="0">
                <a:solidFill>
                  <a:srgbClr val="FF0000"/>
                </a:solidFill>
              </a:rPr>
              <a:t>Things to be studied in the feasibility study:</a:t>
            </a:r>
            <a:endParaRPr sz="2800" dirty="0"/>
          </a:p>
          <a:p>
            <a:pPr lvl="1"/>
            <a:r>
              <a:rPr sz="2400" dirty="0">
                <a:solidFill>
                  <a:srgbClr val="0070C0"/>
                </a:solidFill>
              </a:rPr>
              <a:t>The present organizational system</a:t>
            </a:r>
          </a:p>
          <a:p>
            <a:pPr lvl="2"/>
            <a:r>
              <a:rPr sz="2000" dirty="0"/>
              <a:t>Stakeholders,</a:t>
            </a:r>
            <a:r>
              <a:rPr lang="en-US" sz="2000" dirty="0"/>
              <a:t> </a:t>
            </a:r>
            <a:r>
              <a:rPr sz="2000" dirty="0"/>
              <a:t> users, </a:t>
            </a:r>
            <a:r>
              <a:rPr lang="en-US" sz="2000" dirty="0"/>
              <a:t> </a:t>
            </a:r>
            <a:r>
              <a:rPr sz="2000" dirty="0"/>
              <a:t>policies, functions, objectives,...</a:t>
            </a:r>
          </a:p>
          <a:p>
            <a:pPr lvl="1" algn="l"/>
            <a:r>
              <a:rPr sz="2400" dirty="0">
                <a:solidFill>
                  <a:srgbClr val="0070C0"/>
                </a:solidFill>
              </a:rPr>
              <a:t>Problems with the present system</a:t>
            </a:r>
          </a:p>
          <a:p>
            <a:pPr lvl="2"/>
            <a:r>
              <a:rPr sz="2000" dirty="0"/>
              <a:t>inconsistencies, inadequacies in functionality, performance,…</a:t>
            </a:r>
          </a:p>
          <a:p>
            <a:pPr lvl="1" algn="l"/>
            <a:r>
              <a:rPr sz="2400" dirty="0">
                <a:solidFill>
                  <a:srgbClr val="0070C0"/>
                </a:solidFill>
              </a:rPr>
              <a:t>Goals and other requirements for the new system</a:t>
            </a:r>
          </a:p>
          <a:p>
            <a:pPr lvl="2"/>
            <a:r>
              <a:rPr sz="2000" dirty="0"/>
              <a:t>Which problem(s) need to be solved?</a:t>
            </a:r>
          </a:p>
          <a:p>
            <a:pPr lvl="2"/>
            <a:r>
              <a:rPr sz="2000" dirty="0"/>
              <a:t>What would the stakeholders like to achieve?</a:t>
            </a:r>
          </a:p>
          <a:p>
            <a:pPr lvl="1" algn="l"/>
            <a:r>
              <a:rPr sz="2400" dirty="0">
                <a:solidFill>
                  <a:srgbClr val="0070C0"/>
                </a:solidFill>
              </a:rPr>
              <a:t>Constraints</a:t>
            </a:r>
          </a:p>
          <a:p>
            <a:pPr lvl="2"/>
            <a:r>
              <a:rPr sz="2000" dirty="0"/>
              <a:t>including nonfunctional requirements on the system (preliminary pass)</a:t>
            </a:r>
          </a:p>
          <a:p>
            <a:pPr lvl="1"/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75438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363980"/>
            <a:ext cx="8596630" cy="5136515"/>
          </a:xfrm>
        </p:spPr>
        <p:txBody>
          <a:bodyPr/>
          <a:lstStyle/>
          <a:p>
            <a:pPr lvl="1"/>
            <a:r>
              <a:rPr sz="2400">
                <a:solidFill>
                  <a:srgbClr val="0070C0"/>
                </a:solidFill>
                <a:sym typeface="+mn-ea"/>
              </a:rPr>
              <a:t>Possible alternatives</a:t>
            </a:r>
          </a:p>
          <a:p>
            <a:pPr lvl="2"/>
            <a:r>
              <a:rPr sz="2400">
                <a:sym typeface="+mn-ea"/>
              </a:rPr>
              <a:t>“Sticking with the current system” is always an alternative</a:t>
            </a:r>
          </a:p>
          <a:p>
            <a:pPr lvl="2"/>
            <a:r>
              <a:rPr sz="2400">
                <a:sym typeface="+mn-ea"/>
              </a:rPr>
              <a:t>Different business processes for solving the problems</a:t>
            </a:r>
          </a:p>
          <a:p>
            <a:pPr lvl="2"/>
            <a:r>
              <a:rPr sz="2400">
                <a:sym typeface="+mn-ea"/>
              </a:rPr>
              <a:t>Different levels/types of computerization for the solutions</a:t>
            </a:r>
          </a:p>
          <a:p>
            <a:pPr lvl="1"/>
            <a:r>
              <a:rPr sz="2400">
                <a:sym typeface="+mn-ea"/>
              </a:rPr>
              <a:t>Advantages and disadvantages of the alternatives</a:t>
            </a:r>
          </a:p>
          <a:p>
            <a:pPr lvl="1" algn="l"/>
            <a:r>
              <a:rPr sz="2400">
                <a:solidFill>
                  <a:srgbClr val="0070C0"/>
                </a:solidFill>
                <a:sym typeface="+mn-ea"/>
              </a:rPr>
              <a:t>Things to conclude:</a:t>
            </a:r>
          </a:p>
          <a:p>
            <a:pPr lvl="1"/>
            <a:r>
              <a:rPr sz="2400">
                <a:sym typeface="+mn-ea"/>
              </a:rPr>
              <a:t>Feasibility of the project</a:t>
            </a:r>
          </a:p>
          <a:p>
            <a:pPr lvl="1"/>
            <a:r>
              <a:rPr sz="2400">
                <a:sym typeface="+mn-ea"/>
              </a:rPr>
              <a:t>The preferred alternative.</a:t>
            </a:r>
          </a:p>
          <a:p>
            <a:endParaRPr lang="en-US" sz="24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Title 128003"/>
          <p:cNvSpPr>
            <a:spLocks noGrp="1"/>
          </p:cNvSpPr>
          <p:nvPr>
            <p:ph type="title"/>
          </p:nvPr>
        </p:nvSpPr>
        <p:spPr>
          <a:xfrm>
            <a:off x="677545" y="440690"/>
            <a:ext cx="8596630" cy="647065"/>
          </a:xfrm>
        </p:spPr>
        <p:txBody>
          <a:bodyPr lIns="90488" tIns="44450" rIns="90488" bIns="44450" anchor="ctr" anchorCtr="0"/>
          <a:lstStyle/>
          <a:p>
            <a:r>
              <a:t>Exploring Feasibility</a:t>
            </a:r>
          </a:p>
        </p:txBody>
      </p:sp>
      <p:sp>
        <p:nvSpPr>
          <p:cNvPr id="128005" name="Text Placeholder 128004"/>
          <p:cNvSpPr>
            <a:spLocks noGrp="1"/>
          </p:cNvSpPr>
          <p:nvPr>
            <p:ph type="body" idx="1"/>
          </p:nvPr>
        </p:nvSpPr>
        <p:spPr>
          <a:xfrm>
            <a:off x="401955" y="1196975"/>
            <a:ext cx="10005695" cy="5533390"/>
          </a:xfrm>
        </p:spPr>
        <p:txBody>
          <a:bodyPr lIns="90488" tIns="44450" rIns="90488" bIns="44450">
            <a:noAutofit/>
          </a:bodyPr>
          <a:lstStyle/>
          <a:p>
            <a:r>
              <a:rPr sz="2400" b="1">
                <a:solidFill>
                  <a:srgbClr val="0070C0"/>
                </a:solidFill>
              </a:rPr>
              <a:t>The “</a:t>
            </a:r>
            <a:r>
              <a:rPr sz="2400" b="1">
                <a:solidFill>
                  <a:schemeClr val="accent1"/>
                </a:solidFill>
              </a:rPr>
              <a:t>PIECES</a:t>
            </a:r>
            <a:r>
              <a:rPr sz="2400" b="1">
                <a:solidFill>
                  <a:srgbClr val="0070C0"/>
                </a:solidFill>
              </a:rPr>
              <a:t>” framework</a:t>
            </a:r>
          </a:p>
          <a:p>
            <a:pPr lvl="1"/>
            <a:r>
              <a:rPr sz="2000"/>
              <a:t>Useful for identifying operational problems to be solved, and their urgency</a:t>
            </a:r>
          </a:p>
          <a:p>
            <a:pPr marL="0" lvl="2"/>
            <a:r>
              <a:rPr sz="1800" b="1">
                <a:solidFill>
                  <a:schemeClr val="accent6"/>
                </a:solidFill>
              </a:rPr>
              <a:t>Performance</a:t>
            </a:r>
            <a:r>
              <a:rPr lang="en-US" sz="1800"/>
              <a:t> “ </a:t>
            </a:r>
            <a:r>
              <a:rPr sz="2000">
                <a:sym typeface="+mn-ea"/>
              </a:rPr>
              <a:t>Is current throughput and response time adequate</a:t>
            </a:r>
            <a:r>
              <a:rPr lang="en-US" sz="2000">
                <a:sym typeface="+mn-ea"/>
              </a:rPr>
              <a:t>/ enough </a:t>
            </a:r>
            <a:r>
              <a:rPr sz="2000">
                <a:sym typeface="+mn-ea"/>
              </a:rPr>
              <a:t>?</a:t>
            </a:r>
            <a:endParaRPr sz="1800"/>
          </a:p>
          <a:p>
            <a:pPr marL="0" lvl="2"/>
            <a:r>
              <a:rPr sz="1800" b="1">
                <a:solidFill>
                  <a:schemeClr val="accent6"/>
                </a:solidFill>
              </a:rPr>
              <a:t>Information</a:t>
            </a:r>
            <a:r>
              <a:rPr lang="en-US" sz="1800"/>
              <a:t>: </a:t>
            </a:r>
            <a:r>
              <a:rPr sz="2000">
                <a:sym typeface="+mn-ea"/>
              </a:rPr>
              <a:t>Do end users and managers get timely, pertinent</a:t>
            </a:r>
            <a:r>
              <a:rPr lang="en-US" sz="2000">
                <a:sym typeface="+mn-ea"/>
              </a:rPr>
              <a:t> lrelational </a:t>
            </a:r>
            <a:r>
              <a:rPr sz="2000">
                <a:sym typeface="+mn-ea"/>
              </a:rPr>
              <a:t>, accurate and usefully formatted information?</a:t>
            </a:r>
            <a:endParaRPr sz="1800"/>
          </a:p>
          <a:p>
            <a:pPr lvl="1"/>
            <a:r>
              <a:rPr sz="1800" b="1">
                <a:solidFill>
                  <a:schemeClr val="accent6"/>
                </a:solidFill>
              </a:rPr>
              <a:t>Economy</a:t>
            </a:r>
          </a:p>
          <a:p>
            <a:pPr lvl="2"/>
            <a:r>
              <a:rPr sz="1800"/>
              <a:t>Are services provided by the current system </a:t>
            </a:r>
            <a:r>
              <a:rPr sz="1800">
                <a:solidFill>
                  <a:srgbClr val="00B050"/>
                </a:solidFill>
              </a:rPr>
              <a:t>cost-effective</a:t>
            </a:r>
            <a:r>
              <a:rPr sz="1800"/>
              <a:t>?</a:t>
            </a:r>
          </a:p>
          <a:p>
            <a:pPr lvl="2"/>
            <a:r>
              <a:rPr sz="1800"/>
              <a:t>Could there be a reduction in costs and/or an </a:t>
            </a:r>
            <a:r>
              <a:rPr sz="1800">
                <a:solidFill>
                  <a:srgbClr val="00B050"/>
                </a:solidFill>
              </a:rPr>
              <a:t>increase in benefits</a:t>
            </a:r>
            <a:r>
              <a:rPr sz="1800"/>
              <a:t>?</a:t>
            </a:r>
          </a:p>
          <a:p>
            <a:pPr marL="0" lvl="2"/>
            <a:r>
              <a:rPr sz="1800" b="1">
                <a:solidFill>
                  <a:schemeClr val="accent6"/>
                </a:solidFill>
              </a:rPr>
              <a:t>Control : </a:t>
            </a:r>
            <a:r>
              <a:rPr sz="2000">
                <a:sym typeface="+mn-ea"/>
              </a:rPr>
              <a:t>Are there effective controls to protect against </a:t>
            </a:r>
            <a:r>
              <a:rPr lang="en-US" sz="2000">
                <a:sym typeface="+mn-ea"/>
              </a:rPr>
              <a:t>cheat</a:t>
            </a:r>
            <a:r>
              <a:rPr sz="2000">
                <a:sym typeface="+mn-ea"/>
              </a:rPr>
              <a:t> and to guarantee information accuracy and security?</a:t>
            </a:r>
            <a:endParaRPr sz="1800"/>
          </a:p>
          <a:p>
            <a:pPr marL="0" lvl="2"/>
            <a:r>
              <a:rPr sz="1800" b="1">
                <a:solidFill>
                  <a:schemeClr val="accent6"/>
                </a:solidFill>
              </a:rPr>
              <a:t>Efficiency :</a:t>
            </a:r>
            <a:r>
              <a:rPr lang="en-US" sz="1800"/>
              <a:t> </a:t>
            </a:r>
            <a:r>
              <a:rPr sz="2000">
                <a:sym typeface="+mn-ea"/>
              </a:rPr>
              <a:t>Does current system make good use of resources: people, time, flow of forms,…?</a:t>
            </a:r>
            <a:r>
              <a:rPr lang="en-US" sz="1800"/>
              <a:t> </a:t>
            </a:r>
            <a:endParaRPr sz="1800"/>
          </a:p>
          <a:p>
            <a:pPr marL="0" lvl="2"/>
            <a:r>
              <a:rPr sz="1800" b="1">
                <a:solidFill>
                  <a:schemeClr val="accent6"/>
                </a:solidFill>
              </a:rPr>
              <a:t>Services :</a:t>
            </a:r>
            <a:r>
              <a:rPr lang="en-US" sz="1800"/>
              <a:t> </a:t>
            </a:r>
            <a:r>
              <a:rPr sz="2000">
                <a:sym typeface="+mn-ea"/>
              </a:rPr>
              <a:t>Are current services reliable? Are they flexible and expandable?</a:t>
            </a:r>
            <a:endParaRPr sz="1800"/>
          </a:p>
          <a:p>
            <a:pPr algn="ctr">
              <a:buNone/>
            </a:pPr>
            <a:endParaRPr sz="2800" i="1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PIECES frame works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B050"/>
                </a:solidFill>
              </a:rPr>
              <a:t>Economics  :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800" dirty="0"/>
              <a:t>unknown costs 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800" dirty="0" err="1"/>
              <a:t>untracables</a:t>
            </a:r>
            <a:r>
              <a:rPr lang="en-US" sz="2800" dirty="0"/>
              <a:t> cost </a:t>
            </a:r>
          </a:p>
          <a:p>
            <a:pPr>
              <a:buFont typeface="Wingdings" panose="05000000000000000000" charset="0"/>
              <a:buChar char="v"/>
            </a:pPr>
            <a:r>
              <a:rPr lang="en-US" sz="2800" dirty="0"/>
              <a:t>too high cost </a:t>
            </a:r>
          </a:p>
          <a:p>
            <a:r>
              <a:rPr lang="en-US" sz="2800" b="1" dirty="0" err="1">
                <a:solidFill>
                  <a:srgbClr val="00B050"/>
                </a:solidFill>
              </a:rPr>
              <a:t>Brofits</a:t>
            </a:r>
            <a:r>
              <a:rPr lang="en-US" sz="2800" b="1" dirty="0">
                <a:solidFill>
                  <a:srgbClr val="00B050"/>
                </a:solidFill>
              </a:rPr>
              <a:t> </a:t>
            </a:r>
          </a:p>
          <a:p>
            <a:pPr>
              <a:buFont typeface="Wingdings" panose="05000000000000000000" charset="0"/>
              <a:buChar char="Ø"/>
            </a:pPr>
            <a:r>
              <a:rPr lang="en-US" sz="2800" dirty="0"/>
              <a:t>exploring new market </a:t>
            </a:r>
          </a:p>
          <a:p>
            <a:pPr>
              <a:buFont typeface="Wingdings" panose="05000000000000000000" charset="0"/>
              <a:buChar char="Ø"/>
            </a:pPr>
            <a:r>
              <a:rPr lang="en-US" sz="2800" dirty="0" err="1"/>
              <a:t>devolpe</a:t>
            </a:r>
            <a:r>
              <a:rPr lang="en-US" sz="2800" dirty="0"/>
              <a:t> currents </a:t>
            </a:r>
            <a:r>
              <a:rPr lang="en-US" sz="2800" dirty="0" err="1"/>
              <a:t>markits</a:t>
            </a:r>
            <a:r>
              <a:rPr lang="en-US" sz="2800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7" name="Picture 163846"/>
          <p:cNvPicPr>
            <a:picLocks noChangeAspect="1"/>
          </p:cNvPicPr>
          <p:nvPr/>
        </p:nvPicPr>
        <p:blipFill>
          <a:blip r:embed="rId3"/>
          <a:srcRect l="2353" t="1819" r="4706" b="2728"/>
          <a:stretch>
            <a:fillRect/>
          </a:stretch>
        </p:blipFill>
        <p:spPr>
          <a:xfrm>
            <a:off x="6172200" y="609600"/>
            <a:ext cx="5087620" cy="56007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rgbClr val="808080"/>
            </a:outerShdw>
          </a:effectLst>
        </p:spPr>
      </p:pic>
      <p:pic>
        <p:nvPicPr>
          <p:cNvPr id="163844" name="Picture 163843"/>
          <p:cNvPicPr>
            <a:picLocks noChangeAspect="1"/>
          </p:cNvPicPr>
          <p:nvPr/>
        </p:nvPicPr>
        <p:blipFill>
          <a:blip r:embed="rId4"/>
          <a:srcRect l="2353" t="1819" r="4706" b="2728"/>
          <a:stretch>
            <a:fillRect/>
          </a:stretch>
        </p:blipFill>
        <p:spPr>
          <a:xfrm>
            <a:off x="481965" y="609600"/>
            <a:ext cx="5558790" cy="56007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rgbClr val="808080"/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968" name="Group 125967"/>
          <p:cNvGrpSpPr/>
          <p:nvPr/>
        </p:nvGrpSpPr>
        <p:grpSpPr>
          <a:xfrm>
            <a:off x="677863" y="1295400"/>
            <a:ext cx="9928225" cy="5181600"/>
            <a:chOff x="-533" y="816"/>
            <a:chExt cx="6254" cy="3264"/>
          </a:xfrm>
        </p:grpSpPr>
        <p:sp>
          <p:nvSpPr>
            <p:cNvPr id="125969" name="Rectangles 125968"/>
            <p:cNvSpPr/>
            <p:nvPr/>
          </p:nvSpPr>
          <p:spPr>
            <a:xfrm>
              <a:off x="-533" y="816"/>
              <a:ext cx="3461" cy="3264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lIns="90488" tIns="44450" rIns="90488" bIns="44450"/>
            <a:lstStyle/>
            <a:p>
              <a:pPr marL="231775" indent="-231775">
                <a:spcBef>
                  <a:spcPct val="30000"/>
                </a:spcBef>
                <a:buClr>
                  <a:schemeClr val="tx2"/>
                </a:buClr>
                <a:buSzPct val="75000"/>
                <a:buFont typeface="Monotype Sorts" pitchFamily="-99" charset="2"/>
                <a:buChar char="Ü"/>
              </a:pPr>
              <a:r>
                <a:rPr sz="2000" b="1">
                  <a:latin typeface="Comic Sans MS" panose="030F0702030302020204" pitchFamily="-99" charset="0"/>
                </a:rPr>
                <a:t>Technical feasibility</a:t>
              </a:r>
            </a:p>
            <a:p>
              <a:pPr marL="574675" lvl="1" indent="-228600">
                <a:spcBef>
                  <a:spcPct val="25000"/>
                </a:spcBef>
                <a:buClr>
                  <a:srgbClr val="003399"/>
                </a:buClr>
                <a:buSzPct val="100000"/>
                <a:buFont typeface="Wingdings" panose="05000000000000000000" pitchFamily="2" charset="2"/>
                <a:buChar char="Ä"/>
              </a:pPr>
              <a:r>
                <a:rPr sz="1400" b="1">
                  <a:solidFill>
                    <a:srgbClr val="003399"/>
                  </a:solidFill>
                  <a:latin typeface="Comic Sans MS" panose="030F0702030302020204" pitchFamily="-99" charset="0"/>
                </a:rPr>
                <a:t>Is the project possible with current technology?</a:t>
              </a:r>
              <a:endParaRPr sz="1400" b="1" dirty="0">
                <a:solidFill>
                  <a:srgbClr val="003399"/>
                </a:solidFill>
                <a:latin typeface="Comic Sans MS" panose="030F0702030302020204" pitchFamily="-99" charset="0"/>
              </a:endParaRPr>
            </a:p>
            <a:p>
              <a:pPr marL="574675" lvl="1" indent="-228600">
                <a:spcBef>
                  <a:spcPct val="25000"/>
                </a:spcBef>
                <a:buClr>
                  <a:srgbClr val="003399"/>
                </a:buClr>
                <a:buSzPct val="100000"/>
                <a:buFont typeface="Wingdings" panose="05000000000000000000" pitchFamily="2" charset="2"/>
                <a:buChar char="Ä"/>
              </a:pPr>
              <a:endParaRPr sz="1400" b="1" dirty="0">
                <a:solidFill>
                  <a:srgbClr val="003399"/>
                </a:solidFill>
                <a:latin typeface="Comic Sans MS" panose="030F0702030302020204" pitchFamily="-99" charset="0"/>
              </a:endParaRPr>
            </a:p>
            <a:p>
              <a:pPr marL="574675" lvl="1" indent="-228600">
                <a:spcBef>
                  <a:spcPct val="25000"/>
                </a:spcBef>
                <a:buClr>
                  <a:srgbClr val="003399"/>
                </a:buClr>
                <a:buSzPct val="100000"/>
                <a:buFont typeface="Wingdings" panose="05000000000000000000" pitchFamily="2" charset="2"/>
                <a:buChar char="Ä"/>
              </a:pPr>
              <a:endParaRPr sz="1400" b="1" dirty="0">
                <a:solidFill>
                  <a:srgbClr val="003399"/>
                </a:solidFill>
                <a:latin typeface="Comic Sans MS" panose="030F0702030302020204" pitchFamily="-99" charset="0"/>
              </a:endParaRPr>
            </a:p>
            <a:p>
              <a:pPr marL="860425" lvl="2" indent="-171450">
                <a:lnSpc>
                  <a:spcPct val="95000"/>
                </a:lnSpc>
                <a:spcBef>
                  <a:spcPct val="25000"/>
                </a:spcBef>
                <a:buClr>
                  <a:srgbClr val="408000"/>
                </a:buClr>
                <a:buSzPct val="100000"/>
                <a:buFont typeface="Wingdings" panose="05000000000000000000" pitchFamily="2" charset="2"/>
                <a:buChar char="Ø"/>
              </a:pPr>
              <a:endParaRPr sz="1400" b="1" dirty="0">
                <a:solidFill>
                  <a:srgbClr val="408000"/>
                </a:solidFill>
                <a:latin typeface="Comic Sans MS" panose="030F0702030302020204" pitchFamily="-99" charset="0"/>
              </a:endParaRPr>
            </a:p>
            <a:p>
              <a:pPr marL="860425" lvl="2" indent="-171450">
                <a:lnSpc>
                  <a:spcPct val="95000"/>
                </a:lnSpc>
                <a:spcBef>
                  <a:spcPct val="25000"/>
                </a:spcBef>
                <a:buClr>
                  <a:srgbClr val="408000"/>
                </a:buClr>
                <a:buSzPct val="100000"/>
                <a:buFont typeface="Wingdings" panose="05000000000000000000" pitchFamily="2" charset="2"/>
                <a:buChar char="Ø"/>
              </a:pPr>
              <a:endParaRPr sz="1400" b="1" dirty="0">
                <a:solidFill>
                  <a:srgbClr val="408000"/>
                </a:solidFill>
                <a:latin typeface="Comic Sans MS" panose="030F0702030302020204" pitchFamily="-99" charset="0"/>
              </a:endParaRPr>
            </a:p>
            <a:p>
              <a:pPr marL="860425" lvl="2" indent="-171450">
                <a:lnSpc>
                  <a:spcPct val="95000"/>
                </a:lnSpc>
                <a:spcBef>
                  <a:spcPct val="25000"/>
                </a:spcBef>
                <a:buClr>
                  <a:srgbClr val="408000"/>
                </a:buClr>
                <a:buSzPct val="100000"/>
                <a:buFont typeface="Wingdings" panose="05000000000000000000" pitchFamily="2" charset="2"/>
                <a:buNone/>
              </a:pPr>
              <a:br>
                <a:rPr sz="1400" b="1" dirty="0">
                  <a:solidFill>
                    <a:srgbClr val="408000"/>
                  </a:solidFill>
                  <a:latin typeface="Comic Sans MS" panose="030F0702030302020204" pitchFamily="-99" charset="0"/>
                </a:rPr>
              </a:br>
              <a:endParaRPr sz="1400" b="1" dirty="0">
                <a:solidFill>
                  <a:srgbClr val="408000"/>
                </a:solidFill>
                <a:latin typeface="Comic Sans MS" panose="030F0702030302020204" pitchFamily="-99" charset="0"/>
              </a:endParaRPr>
            </a:p>
            <a:p>
              <a:pPr marL="231775" indent="-231775">
                <a:spcBef>
                  <a:spcPct val="30000"/>
                </a:spcBef>
                <a:buClr>
                  <a:schemeClr val="tx2"/>
                </a:buClr>
                <a:buSzPct val="75000"/>
                <a:buFont typeface="Monotype Sorts" pitchFamily="-99" charset="2"/>
                <a:buChar char="Ü"/>
              </a:pPr>
              <a:r>
                <a:rPr sz="2000" b="1">
                  <a:latin typeface="Comic Sans MS" panose="030F0702030302020204" pitchFamily="-99" charset="0"/>
                </a:rPr>
                <a:t>Economic feasibility </a:t>
              </a:r>
            </a:p>
            <a:p>
              <a:pPr marL="574675" lvl="1" indent="-228600">
                <a:spcBef>
                  <a:spcPct val="10000"/>
                </a:spcBef>
                <a:buClr>
                  <a:srgbClr val="003399"/>
                </a:buClr>
                <a:buSzPct val="100000"/>
                <a:buFont typeface="Wingdings" panose="05000000000000000000" pitchFamily="2" charset="2"/>
                <a:buChar char="Ä"/>
              </a:pPr>
              <a:r>
                <a:rPr sz="1400" b="1">
                  <a:solidFill>
                    <a:srgbClr val="003399"/>
                  </a:solidFill>
                  <a:latin typeface="Comic Sans MS" panose="030F0702030302020204" pitchFamily="-99" charset="0"/>
                </a:rPr>
                <a:t>Is the project possible, given resource constraints?</a:t>
              </a:r>
            </a:p>
          </p:txBody>
        </p:sp>
        <p:sp>
          <p:nvSpPr>
            <p:cNvPr id="125970" name="Rectangles 125969"/>
            <p:cNvSpPr/>
            <p:nvPr/>
          </p:nvSpPr>
          <p:spPr>
            <a:xfrm>
              <a:off x="2976" y="816"/>
              <a:ext cx="2745" cy="3264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lIns="90488" tIns="44450" rIns="90488" bIns="44450"/>
            <a:lstStyle/>
            <a:p>
              <a:pPr marL="285750" indent="-285750">
                <a:spcBef>
                  <a:spcPct val="30000"/>
                </a:spcBef>
                <a:buClr>
                  <a:schemeClr val="tx2"/>
                </a:buClr>
                <a:buSzPct val="75000"/>
                <a:buFont typeface="Monotype Sorts" pitchFamily="-99" charset="2"/>
                <a:buChar char="Ü"/>
              </a:pPr>
              <a:r>
                <a:rPr sz="2000" b="1">
                  <a:latin typeface="Comic Sans MS" panose="030F0702030302020204" pitchFamily="-99" charset="0"/>
                </a:rPr>
                <a:t>Schedule feasibility</a:t>
              </a:r>
            </a:p>
            <a:p>
              <a:pPr marL="630555" lvl="1" indent="-228600">
                <a:spcBef>
                  <a:spcPct val="25000"/>
                </a:spcBef>
                <a:buClr>
                  <a:srgbClr val="003399"/>
                </a:buClr>
                <a:buSzPct val="100000"/>
                <a:buFont typeface="Wingdings" panose="05000000000000000000" pitchFamily="2" charset="2"/>
                <a:buChar char="Ä"/>
              </a:pPr>
              <a:r>
                <a:rPr sz="1400" b="1">
                  <a:solidFill>
                    <a:srgbClr val="003399"/>
                  </a:solidFill>
                  <a:latin typeface="Comic Sans MS" panose="030F0702030302020204" pitchFamily="-99" charset="0"/>
                </a:rPr>
                <a:t>Is it possible to build a solution in time to be useful?</a:t>
              </a:r>
              <a:endParaRPr sz="1400" b="1" dirty="0">
                <a:solidFill>
                  <a:srgbClr val="003399"/>
                </a:solidFill>
                <a:latin typeface="Comic Sans MS" panose="030F0702030302020204" pitchFamily="-99" charset="0"/>
              </a:endParaRPr>
            </a:p>
            <a:p>
              <a:pPr lvl="2" indent="-169545">
                <a:lnSpc>
                  <a:spcPct val="95000"/>
                </a:lnSpc>
                <a:spcBef>
                  <a:spcPct val="25000"/>
                </a:spcBef>
                <a:buClr>
                  <a:srgbClr val="408000"/>
                </a:buClr>
                <a:buSzPct val="100000"/>
                <a:buFont typeface="Wingdings" panose="05000000000000000000" pitchFamily="2" charset="2"/>
                <a:buNone/>
              </a:pPr>
              <a:br>
                <a:rPr sz="1400" b="1" dirty="0">
                  <a:solidFill>
                    <a:srgbClr val="408000"/>
                  </a:solidFill>
                  <a:latin typeface="Comic Sans MS" panose="030F0702030302020204" pitchFamily="-99" charset="0"/>
                </a:rPr>
              </a:br>
              <a:endParaRPr sz="1400" b="1" dirty="0">
                <a:solidFill>
                  <a:srgbClr val="408000"/>
                </a:solidFill>
                <a:latin typeface="Comic Sans MS" panose="030F0702030302020204" pitchFamily="-99" charset="0"/>
              </a:endParaRPr>
            </a:p>
            <a:p>
              <a:pPr lvl="2" indent="-169545">
                <a:lnSpc>
                  <a:spcPct val="95000"/>
                </a:lnSpc>
                <a:spcBef>
                  <a:spcPct val="25000"/>
                </a:spcBef>
                <a:buClr>
                  <a:srgbClr val="408000"/>
                </a:buClr>
                <a:buSzPct val="100000"/>
                <a:buFont typeface="Wingdings" panose="05000000000000000000" pitchFamily="2" charset="2"/>
                <a:buChar char="Ø"/>
              </a:pPr>
              <a:endParaRPr sz="1400" b="1" dirty="0">
                <a:solidFill>
                  <a:srgbClr val="408000"/>
                </a:solidFill>
                <a:latin typeface="Comic Sans MS" panose="030F0702030302020204" pitchFamily="-99" charset="0"/>
              </a:endParaRPr>
            </a:p>
            <a:p>
              <a:pPr lvl="2" indent="-169545">
                <a:lnSpc>
                  <a:spcPct val="95000"/>
                </a:lnSpc>
                <a:spcBef>
                  <a:spcPct val="25000"/>
                </a:spcBef>
                <a:buClr>
                  <a:srgbClr val="408000"/>
                </a:buClr>
                <a:buSzPct val="100000"/>
                <a:buFont typeface="Wingdings" panose="05000000000000000000" pitchFamily="2" charset="2"/>
                <a:buChar char="Ø"/>
              </a:pPr>
              <a:endParaRPr sz="1400" b="1" dirty="0">
                <a:solidFill>
                  <a:srgbClr val="408000"/>
                </a:solidFill>
                <a:latin typeface="Comic Sans MS" panose="030F0702030302020204" pitchFamily="-99" charset="0"/>
              </a:endParaRPr>
            </a:p>
            <a:p>
              <a:pPr marL="285750" indent="-285750">
                <a:spcBef>
                  <a:spcPct val="25000"/>
                </a:spcBef>
                <a:buClr>
                  <a:schemeClr val="tx2"/>
                </a:buClr>
                <a:buSzPct val="75000"/>
                <a:buFont typeface="Monotype Sorts" pitchFamily="-99" charset="2"/>
                <a:buChar char="Ü"/>
              </a:pPr>
              <a:endParaRPr sz="2000" b="1" dirty="0">
                <a:latin typeface="Comic Sans MS" panose="030F0702030302020204" pitchFamily="-99" charset="0"/>
              </a:endParaRPr>
            </a:p>
            <a:p>
              <a:pPr marL="285750" indent="-285750">
                <a:spcBef>
                  <a:spcPct val="25000"/>
                </a:spcBef>
                <a:buClr>
                  <a:schemeClr val="tx2"/>
                </a:buClr>
                <a:buSzPct val="75000"/>
                <a:buFont typeface="Monotype Sorts" pitchFamily="-99" charset="2"/>
                <a:buChar char="Ü"/>
              </a:pPr>
              <a:r>
                <a:rPr sz="2000" b="1">
                  <a:latin typeface="Comic Sans MS" panose="030F0702030302020204" pitchFamily="-99" charset="0"/>
                </a:rPr>
                <a:t>Operational feasibility</a:t>
              </a:r>
            </a:p>
            <a:p>
              <a:pPr marL="630555" lvl="1" indent="-228600">
                <a:spcBef>
                  <a:spcPct val="25000"/>
                </a:spcBef>
                <a:buClr>
                  <a:srgbClr val="003399"/>
                </a:buClr>
                <a:buSzPct val="100000"/>
                <a:buFont typeface="Wingdings" panose="05000000000000000000" pitchFamily="2" charset="2"/>
                <a:buChar char="Ä"/>
              </a:pPr>
              <a:r>
                <a:rPr sz="1400" b="1">
                  <a:solidFill>
                    <a:srgbClr val="003399"/>
                  </a:solidFill>
                  <a:latin typeface="Comic Sans MS" panose="030F0702030302020204" pitchFamily="-99" charset="0"/>
                </a:rPr>
                <a:t>If the system is developed, will it be used?</a:t>
              </a:r>
            </a:p>
          </p:txBody>
        </p:sp>
      </p:grpSp>
      <p:sp>
        <p:nvSpPr>
          <p:cNvPr id="125954" name="Title 125953"/>
          <p:cNvSpPr>
            <a:spLocks noGrp="1"/>
          </p:cNvSpPr>
          <p:nvPr>
            <p:ph type="title"/>
          </p:nvPr>
        </p:nvSpPr>
        <p:spPr>
          <a:xfrm>
            <a:off x="677545" y="273050"/>
            <a:ext cx="8596630" cy="876935"/>
          </a:xfrm>
        </p:spPr>
        <p:txBody>
          <a:bodyPr lIns="90488" tIns="44450" rIns="90488" bIns="44450" anchor="ctr" anchorCtr="0">
            <a:normAutofit/>
          </a:bodyPr>
          <a:lstStyle/>
          <a:p>
            <a:r>
              <a:t>Four Types of feasibility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252730"/>
            <a:ext cx="8596630" cy="494665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grpSp>
        <p:nvGrpSpPr>
          <p:cNvPr id="125966" name="Group 125965"/>
          <p:cNvGrpSpPr/>
          <p:nvPr/>
        </p:nvGrpSpPr>
        <p:grpSpPr>
          <a:xfrm>
            <a:off x="357505" y="876527"/>
            <a:ext cx="10006330" cy="5859193"/>
            <a:chOff x="-735" y="647"/>
            <a:chExt cx="6303" cy="3596"/>
          </a:xfrm>
        </p:grpSpPr>
        <p:sp>
          <p:nvSpPr>
            <p:cNvPr id="125964" name="Rectangles 125963"/>
            <p:cNvSpPr/>
            <p:nvPr/>
          </p:nvSpPr>
          <p:spPr>
            <a:xfrm>
              <a:off x="-735" y="711"/>
              <a:ext cx="3461" cy="3532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lIns="90488" tIns="44450" rIns="90488" bIns="44450"/>
            <a:lstStyle/>
            <a:p>
              <a:pPr marL="231775" indent="-231775"/>
              <a:r>
                <a:rPr b="1">
                  <a:solidFill>
                    <a:schemeClr val="accent6"/>
                  </a:solidFill>
                </a:rPr>
                <a:t>Technical feasibility</a:t>
              </a:r>
            </a:p>
            <a:p>
              <a:pPr marL="574675" lvl="1" indent="-228600">
                <a:spcBef>
                  <a:spcPct val="25000"/>
                </a:spcBef>
              </a:pPr>
              <a:r>
                <a:rPr sz="2000"/>
                <a:t>Is the project possible with current technology?</a:t>
              </a:r>
            </a:p>
            <a:p>
              <a:pPr marL="574675" lvl="1" indent="-228600">
                <a:spcBef>
                  <a:spcPct val="25000"/>
                </a:spcBef>
              </a:pPr>
              <a:r>
                <a:rPr sz="2000"/>
                <a:t>What technical risk is there?</a:t>
              </a:r>
            </a:p>
            <a:p>
              <a:pPr marL="574675" lvl="1" indent="-228600">
                <a:spcBef>
                  <a:spcPct val="25000"/>
                </a:spcBef>
              </a:pPr>
              <a:r>
                <a:rPr sz="2000"/>
                <a:t>Availability of the technology:</a:t>
              </a:r>
            </a:p>
            <a:p>
              <a:pPr marL="860425" lvl="2" indent="-171450">
                <a:spcBef>
                  <a:spcPct val="25000"/>
                </a:spcBef>
              </a:pPr>
              <a:r>
                <a:rPr sz="1600"/>
                <a:t>Is it available locally?</a:t>
              </a:r>
            </a:p>
            <a:p>
              <a:pPr marL="860425" lvl="2" indent="-171450">
                <a:spcBef>
                  <a:spcPct val="25000"/>
                </a:spcBef>
              </a:pPr>
              <a:r>
                <a:rPr sz="1600"/>
                <a:t>Can it be obtained?</a:t>
              </a:r>
            </a:p>
            <a:p>
              <a:pPr marL="860425" lvl="2" indent="-171450">
                <a:spcBef>
                  <a:spcPct val="25000"/>
                </a:spcBef>
              </a:pPr>
              <a:r>
                <a:rPr sz="1600"/>
                <a:t>Will it be compatible with other systems?</a:t>
              </a:r>
            </a:p>
            <a:p>
              <a:pPr marL="231775" indent="-231775"/>
              <a:r>
                <a:rPr sz="2000" b="1">
                  <a:solidFill>
                    <a:schemeClr val="accent6"/>
                  </a:solidFill>
                </a:rPr>
                <a:t>Economic feasibility</a:t>
              </a:r>
              <a:r>
                <a:rPr sz="2000"/>
                <a:t> </a:t>
              </a:r>
              <a:endParaRPr sz="2000" dirty="0"/>
            </a:p>
            <a:p>
              <a:pPr marL="574675" lvl="1" indent="-228600"/>
              <a:r>
                <a:rPr sz="2000"/>
                <a:t>Is the project possible, given resource constraints?</a:t>
              </a:r>
            </a:p>
            <a:p>
              <a:pPr marL="574675" lvl="1" indent="-228600"/>
              <a:r>
                <a:rPr sz="2000"/>
                <a:t>What are the benefits?</a:t>
              </a:r>
            </a:p>
            <a:p>
              <a:pPr marL="860425" lvl="2" indent="-171450"/>
              <a:r>
                <a:rPr sz="1600"/>
                <a:t>Both tangible and intangible</a:t>
              </a:r>
            </a:p>
            <a:p>
              <a:pPr marL="860425" lvl="2" indent="-171450"/>
              <a:r>
                <a:rPr sz="1600"/>
                <a:t>Quantify them! </a:t>
              </a:r>
            </a:p>
            <a:p>
              <a:pPr marL="574675" lvl="1" indent="-228600"/>
              <a:r>
                <a:rPr sz="2000"/>
                <a:t>What are the development and operational costs?</a:t>
              </a:r>
            </a:p>
            <a:p>
              <a:pPr marL="574675" lvl="1" indent="-228600"/>
              <a:r>
                <a:rPr sz="2000"/>
                <a:t>Are the benefits worth the costs? </a:t>
              </a:r>
              <a:endParaRPr sz="2000" dirty="0"/>
            </a:p>
          </p:txBody>
        </p:sp>
        <p:sp>
          <p:nvSpPr>
            <p:cNvPr id="125965" name="Rectangles 125964"/>
            <p:cNvSpPr/>
            <p:nvPr/>
          </p:nvSpPr>
          <p:spPr>
            <a:xfrm>
              <a:off x="2726" y="647"/>
              <a:ext cx="2842" cy="3433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</p:spPr>
          <p:txBody>
            <a:bodyPr lIns="90488" tIns="44450" rIns="90488" bIns="44450"/>
            <a:lstStyle/>
            <a:p>
              <a:r>
                <a:rPr b="1">
                  <a:solidFill>
                    <a:schemeClr val="accent6"/>
                  </a:solidFill>
                </a:rPr>
                <a:t>Schedule feasibility</a:t>
              </a:r>
            </a:p>
            <a:p>
              <a:pPr marL="630555" lvl="1" indent="-228600">
                <a:spcBef>
                  <a:spcPct val="25000"/>
                </a:spcBef>
              </a:pPr>
              <a:r>
                <a:t>I</a:t>
              </a:r>
              <a:r>
                <a:rPr sz="2000"/>
                <a:t>s it possible to build a solution in time to be useful?</a:t>
              </a:r>
            </a:p>
            <a:p>
              <a:pPr lvl="2" indent="-169545">
                <a:spcBef>
                  <a:spcPct val="25000"/>
                </a:spcBef>
              </a:pPr>
              <a:r>
                <a:rPr sz="1600"/>
                <a:t>What are the consequences of delay?</a:t>
              </a:r>
            </a:p>
            <a:p>
              <a:pPr lvl="2" indent="-169545">
                <a:spcBef>
                  <a:spcPct val="25000"/>
                </a:spcBef>
              </a:pPr>
              <a:r>
                <a:rPr sz="1600"/>
                <a:t>Any constraints on the schedule?</a:t>
              </a:r>
            </a:p>
            <a:p>
              <a:pPr lvl="2" indent="-169545">
                <a:spcBef>
                  <a:spcPct val="25000"/>
                </a:spcBef>
              </a:pPr>
              <a:r>
                <a:rPr sz="1600"/>
                <a:t>Can these constraints be met?</a:t>
              </a:r>
            </a:p>
            <a:p>
              <a:pPr>
                <a:spcBef>
                  <a:spcPct val="25000"/>
                </a:spcBef>
              </a:pPr>
              <a:endParaRPr sz="2000" dirty="0"/>
            </a:p>
            <a:p>
              <a:pPr algn="l">
                <a:spcBef>
                  <a:spcPct val="25000"/>
                </a:spcBef>
                <a:buClrTx/>
                <a:buSzTx/>
                <a:buFontTx/>
              </a:pPr>
              <a:r>
                <a:rPr b="1">
                  <a:solidFill>
                    <a:schemeClr val="accent6"/>
                  </a:solidFill>
                </a:rPr>
                <a:t>Operational feasibility</a:t>
              </a:r>
            </a:p>
            <a:p>
              <a:pPr marL="630555" lvl="1" indent="-228600">
                <a:spcBef>
                  <a:spcPct val="25000"/>
                </a:spcBef>
              </a:pPr>
              <a:r>
                <a:rPr sz="2000"/>
                <a:t>If the system is developed, will it be used?</a:t>
              </a:r>
            </a:p>
            <a:p>
              <a:pPr marL="630555" lvl="1" indent="-228600">
                <a:spcBef>
                  <a:spcPct val="25000"/>
                </a:spcBef>
              </a:pPr>
              <a:r>
                <a:rPr sz="2000"/>
                <a:t>Human and social issues…</a:t>
              </a:r>
            </a:p>
            <a:p>
              <a:pPr lvl="2" indent="-169545">
                <a:spcBef>
                  <a:spcPct val="25000"/>
                </a:spcBef>
              </a:pPr>
              <a:r>
                <a:rPr sz="1600"/>
                <a:t>Potential </a:t>
              </a:r>
              <a:r>
                <a:rPr sz="1600" err="1"/>
                <a:t>labour </a:t>
              </a:r>
              <a:r>
                <a:rPr sz="1600"/>
                <a:t>objections?</a:t>
              </a:r>
            </a:p>
            <a:p>
              <a:pPr lvl="2" indent="-169545">
                <a:spcBef>
                  <a:spcPct val="25000"/>
                </a:spcBef>
              </a:pPr>
              <a:r>
                <a:rPr sz="1600"/>
                <a:t>Manager resistance?</a:t>
              </a:r>
            </a:p>
            <a:p>
              <a:pPr lvl="2" indent="-169545">
                <a:spcBef>
                  <a:spcPct val="25000"/>
                </a:spcBef>
              </a:pPr>
              <a:r>
                <a:rPr sz="1600"/>
                <a:t>Organizational conflicts and policies?</a:t>
              </a:r>
            </a:p>
            <a:p>
              <a:pPr lvl="2" indent="-169545">
                <a:spcBef>
                  <a:spcPct val="25000"/>
                </a:spcBef>
              </a:pPr>
              <a:r>
                <a:rPr sz="1600"/>
                <a:t>Social acceptability?</a:t>
              </a:r>
            </a:p>
            <a:p>
              <a:pPr lvl="2" indent="-169545">
                <a:spcBef>
                  <a:spcPct val="25000"/>
                </a:spcBef>
              </a:pPr>
              <a:r>
                <a:rPr sz="1600"/>
                <a:t>legal aspects and government regulations?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30049"/>
          <p:cNvSpPr>
            <a:spLocks noGrp="1"/>
          </p:cNvSpPr>
          <p:nvPr>
            <p:ph type="title"/>
          </p:nvPr>
        </p:nvSpPr>
        <p:spPr>
          <a:xfrm>
            <a:off x="677545" y="204470"/>
            <a:ext cx="8596630" cy="899160"/>
          </a:xfrm>
        </p:spPr>
        <p:txBody>
          <a:bodyPr lIns="90488" tIns="44450" rIns="90488" bIns="44450" anchor="ctr" anchorCtr="0"/>
          <a:lstStyle/>
          <a:p>
            <a:r>
              <a:t>Technical Feasibility</a:t>
            </a:r>
          </a:p>
        </p:txBody>
      </p:sp>
      <p:sp>
        <p:nvSpPr>
          <p:cNvPr id="130051" name="Text Placeholder 130050"/>
          <p:cNvSpPr>
            <a:spLocks noGrp="1"/>
          </p:cNvSpPr>
          <p:nvPr>
            <p:ph type="body" idx="1"/>
          </p:nvPr>
        </p:nvSpPr>
        <p:spPr>
          <a:xfrm>
            <a:off x="677545" y="1102995"/>
            <a:ext cx="9681845" cy="5504815"/>
          </a:xfrm>
        </p:spPr>
        <p:txBody>
          <a:bodyPr lIns="90488" tIns="44450" rIns="90488" bIns="44450">
            <a:noAutofit/>
          </a:bodyPr>
          <a:lstStyle/>
          <a:p>
            <a:r>
              <a:rPr sz="2400"/>
              <a:t>Is the proposed technology or solution practical?</a:t>
            </a:r>
          </a:p>
          <a:p>
            <a:pPr lvl="1"/>
            <a:r>
              <a:rPr sz="2000"/>
              <a:t>Do we currently possess the necessary technology?</a:t>
            </a:r>
          </a:p>
          <a:p>
            <a:pPr lvl="1"/>
            <a:r>
              <a:rPr sz="2000"/>
              <a:t>Do we possess the necessary technical experti</a:t>
            </a:r>
            <a:r>
              <a:rPr lang="en-US" sz="2000"/>
              <a:t>s </a:t>
            </a:r>
          </a:p>
          <a:p>
            <a:pPr lvl="1"/>
            <a:r>
              <a:rPr sz="2000"/>
              <a:t>Is relevant technology mature enough to be easily applied to our problem? </a:t>
            </a:r>
          </a:p>
          <a:p>
            <a:r>
              <a:rPr sz="2400"/>
              <a:t>What kinds of technology will we need?</a:t>
            </a:r>
          </a:p>
          <a:p>
            <a:pPr lvl="1"/>
            <a:r>
              <a:rPr sz="2000"/>
              <a:t>Some organizations like to use state-of-the-art technology</a:t>
            </a:r>
          </a:p>
          <a:p>
            <a:pPr lvl="1"/>
            <a:r>
              <a:rPr sz="2000"/>
              <a:t>A mature technology has a larger customer base for obtaining advice concerning problems and improvements.</a:t>
            </a:r>
          </a:p>
          <a:p>
            <a:r>
              <a:rPr sz="2400"/>
              <a:t>Is the required technology available “in house”?</a:t>
            </a:r>
          </a:p>
          <a:p>
            <a:pPr lvl="1"/>
            <a:r>
              <a:rPr sz="2000"/>
              <a:t>If the technology is available:</a:t>
            </a:r>
          </a:p>
          <a:p>
            <a:pPr lvl="2"/>
            <a:r>
              <a:rPr sz="1800"/>
              <a:t>…does it have the capacity to handle the solution?</a:t>
            </a:r>
          </a:p>
          <a:p>
            <a:pPr lvl="1"/>
            <a:r>
              <a:rPr sz="2000"/>
              <a:t>If the technology is not available:</a:t>
            </a:r>
          </a:p>
          <a:p>
            <a:pPr lvl="2"/>
            <a:r>
              <a:rPr sz="1800"/>
              <a:t>…can it be acquired?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00" name="Title 132099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662940"/>
          </a:xfrm>
        </p:spPr>
        <p:txBody>
          <a:bodyPr lIns="90488" tIns="44450" rIns="90488" bIns="44450" anchor="ctr" anchorCtr="0"/>
          <a:lstStyle/>
          <a:p>
            <a:r>
              <a:t>Economic Feasibility</a:t>
            </a:r>
          </a:p>
        </p:txBody>
      </p:sp>
      <p:sp>
        <p:nvSpPr>
          <p:cNvPr id="132101" name="Text Placeholder 132100"/>
          <p:cNvSpPr>
            <a:spLocks noGrp="1"/>
          </p:cNvSpPr>
          <p:nvPr>
            <p:ph type="body" idx="1"/>
          </p:nvPr>
        </p:nvSpPr>
        <p:spPr>
          <a:xfrm>
            <a:off x="677545" y="1487170"/>
            <a:ext cx="8596630" cy="5136515"/>
          </a:xfrm>
        </p:spPr>
        <p:txBody>
          <a:bodyPr lIns="90488" tIns="44450" rIns="90488" bIns="44450">
            <a:noAutofit/>
          </a:bodyPr>
          <a:lstStyle/>
          <a:p>
            <a:r>
              <a:rPr sz="2400"/>
              <a:t>Can the bottom line be quantified yet? </a:t>
            </a:r>
          </a:p>
          <a:p>
            <a:pPr lvl="1"/>
            <a:r>
              <a:rPr sz="2000"/>
              <a:t>Very early in the project…</a:t>
            </a:r>
          </a:p>
          <a:p>
            <a:pPr lvl="2"/>
            <a:r>
              <a:rPr sz="1800"/>
              <a:t>a</a:t>
            </a:r>
            <a:r>
              <a:rPr sz="1800" dirty="0" err="1"/>
              <a:t> </a:t>
            </a:r>
            <a:r>
              <a:rPr sz="1800" err="1"/>
              <a:t>judgement </a:t>
            </a:r>
            <a:r>
              <a:rPr sz="1800"/>
              <a:t>of whether solving the problem is worth</a:t>
            </a:r>
            <a:r>
              <a:rPr lang="en-US" sz="1800"/>
              <a:t> </a:t>
            </a:r>
            <a:r>
              <a:rPr sz="1800"/>
              <a:t>while. </a:t>
            </a:r>
          </a:p>
          <a:p>
            <a:pPr lvl="1"/>
            <a:r>
              <a:rPr sz="2000"/>
              <a:t>Once specific requirements and solutions have been identified…</a:t>
            </a:r>
          </a:p>
          <a:p>
            <a:pPr lvl="2"/>
            <a:r>
              <a:rPr sz="1800"/>
              <a:t>…the costs and benefits of each alternative can be calculated</a:t>
            </a:r>
          </a:p>
          <a:p>
            <a:r>
              <a:rPr sz="2400"/>
              <a:t>Cost-benefit analysis</a:t>
            </a:r>
          </a:p>
          <a:p>
            <a:pPr lvl="1"/>
            <a:r>
              <a:rPr sz="2000" b="1">
                <a:solidFill>
                  <a:srgbClr val="00B050"/>
                </a:solidFill>
              </a:rPr>
              <a:t>Purpose - answer questions such as: </a:t>
            </a:r>
            <a:endParaRPr sz="2000"/>
          </a:p>
          <a:p>
            <a:pPr lvl="2"/>
            <a:r>
              <a:rPr sz="1800"/>
              <a:t>Is the project justified (I.e. will benefits outweigh costs)?  </a:t>
            </a:r>
          </a:p>
          <a:p>
            <a:pPr lvl="2"/>
            <a:r>
              <a:rPr sz="1800"/>
              <a:t>What is the minimal cost to attain a certain system?</a:t>
            </a:r>
          </a:p>
          <a:p>
            <a:pPr lvl="2"/>
            <a:r>
              <a:rPr sz="1800"/>
              <a:t>How soon will the benefits accrue?</a:t>
            </a:r>
          </a:p>
          <a:p>
            <a:pPr lvl="2"/>
            <a:r>
              <a:rPr sz="1800"/>
              <a:t>Which alternative offers the best return on investment?</a:t>
            </a:r>
          </a:p>
          <a:p>
            <a:pPr lvl="1"/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73914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839595"/>
            <a:ext cx="8596630" cy="4324350"/>
          </a:xfrm>
        </p:spPr>
        <p:txBody>
          <a:bodyPr/>
          <a:lstStyle/>
          <a:p>
            <a:pPr lvl="1"/>
            <a:r>
              <a:rPr sz="2800" b="1">
                <a:solidFill>
                  <a:srgbClr val="00B050"/>
                </a:solidFill>
                <a:sym typeface="+mn-ea"/>
              </a:rPr>
              <a:t>Examples of things to consider:</a:t>
            </a:r>
            <a:endParaRPr sz="2800">
              <a:sym typeface="+mn-ea"/>
            </a:endParaRPr>
          </a:p>
          <a:p>
            <a:pPr lvl="2"/>
            <a:r>
              <a:rPr sz="2800">
                <a:sym typeface="+mn-ea"/>
              </a:rPr>
              <a:t>Hardware/software selection</a:t>
            </a:r>
          </a:p>
          <a:p>
            <a:pPr lvl="2"/>
            <a:r>
              <a:rPr sz="2800">
                <a:sym typeface="+mn-ea"/>
              </a:rPr>
              <a:t>Selection among alternative financing arrangements (rent/lease/purchase)</a:t>
            </a:r>
          </a:p>
          <a:p>
            <a:pPr lvl="1"/>
            <a:r>
              <a:rPr sz="2800" b="1">
                <a:solidFill>
                  <a:srgbClr val="C00000"/>
                </a:solidFill>
                <a:sym typeface="+mn-ea"/>
              </a:rPr>
              <a:t>Difficulties</a:t>
            </a:r>
          </a:p>
          <a:p>
            <a:pPr lvl="2"/>
            <a:r>
              <a:rPr sz="2800">
                <a:sym typeface="+mn-ea"/>
              </a:rPr>
              <a:t>benefits and costs can both be intangible, hidden and/or hard to estimate</a:t>
            </a:r>
          </a:p>
          <a:p>
            <a:pPr lvl="2"/>
            <a:r>
              <a:rPr sz="2800">
                <a:sym typeface="+mn-ea"/>
              </a:rPr>
              <a:t>ranking multi-criteria alternatives</a:t>
            </a:r>
          </a:p>
          <a:p>
            <a:endParaRPr lang="en-US" sz="280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8" name="Title 133127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708025"/>
          </a:xfrm>
        </p:spPr>
        <p:txBody>
          <a:bodyPr lIns="90488" tIns="44450" rIns="90488" bIns="44450" anchor="ctr" anchorCtr="0"/>
          <a:lstStyle/>
          <a:p>
            <a:pPr algn="l" defTabSz="914400">
              <a:tabLst>
                <a:tab pos="1373505" algn="ctr"/>
                <a:tab pos="5946775" algn="ctr"/>
              </a:tabLst>
            </a:pPr>
            <a:r>
              <a:rPr dirty="0"/>
              <a:t>	</a:t>
            </a:r>
            <a:r>
              <a:t>Benefits </a:t>
            </a:r>
            <a:r>
              <a:rPr dirty="0"/>
              <a:t>	</a:t>
            </a:r>
            <a:r>
              <a:t>Costs</a:t>
            </a:r>
          </a:p>
        </p:txBody>
      </p:sp>
      <p:sp>
        <p:nvSpPr>
          <p:cNvPr id="133129" name="Text Placeholder 133128"/>
          <p:cNvSpPr>
            <a:spLocks noGrp="1"/>
          </p:cNvSpPr>
          <p:nvPr>
            <p:ph type="body" sz="half" idx="1"/>
          </p:nvPr>
        </p:nvSpPr>
        <p:spPr>
          <a:xfrm>
            <a:off x="542290" y="1219200"/>
            <a:ext cx="5477510" cy="5257800"/>
          </a:xfrm>
          <a:ln w="28575">
            <a:solidFill>
              <a:schemeClr val="tx1"/>
            </a:solidFill>
            <a:miter/>
          </a:ln>
        </p:spPr>
        <p:txBody>
          <a:bodyPr lIns="90488" tIns="44450" rIns="90488" bIns="44450">
            <a:normAutofit lnSpcReduction="10000"/>
          </a:bodyPr>
          <a:lstStyle/>
          <a:p>
            <a:pPr marL="227330" indent="-227330">
              <a:buClr>
                <a:schemeClr val="tx2"/>
              </a:buClr>
              <a:buSzPct val="75000"/>
              <a:buFont typeface="Monotype Sorts" pitchFamily="-99" charset="2"/>
            </a:pPr>
            <a:r>
              <a:rPr sz="2000"/>
              <a:t>Tangible Benefits</a:t>
            </a:r>
          </a:p>
          <a:p>
            <a:pPr marL="509905" lvl="1" indent="-16827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Readily quantified as $ values</a:t>
            </a:r>
          </a:p>
          <a:p>
            <a:pPr marL="509905" lvl="1" indent="-16827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Examples: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increased sales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cost/error reductions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increased throughput/efficiency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increased margin on sales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more effective use of staff time</a:t>
            </a:r>
          </a:p>
          <a:p>
            <a:pPr marL="227330" indent="-227330">
              <a:buClr>
                <a:schemeClr val="tx2"/>
              </a:buClr>
              <a:buSzPct val="75000"/>
              <a:buFont typeface="Monotype Sorts" pitchFamily="-99" charset="2"/>
            </a:pPr>
            <a:r>
              <a:rPr sz="2000"/>
              <a:t>Intangible benefits</a:t>
            </a:r>
          </a:p>
          <a:p>
            <a:pPr marL="509905" lvl="1" indent="-16827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Difficult to quantify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But maybe more important!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business analysts help estimate $ values </a:t>
            </a:r>
          </a:p>
          <a:p>
            <a:pPr marL="509905" lvl="1" indent="-16827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Examples: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increased flexibility of operation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higher quality products/services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better customer relations</a:t>
            </a:r>
          </a:p>
          <a:p>
            <a:pPr marL="795655" lvl="2" indent="-171450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improved staff morale</a:t>
            </a:r>
          </a:p>
          <a:p>
            <a:pPr marL="227330" indent="-227330">
              <a:buClr>
                <a:schemeClr val="tx2"/>
              </a:buClr>
              <a:buSzPct val="75000"/>
              <a:buFont typeface="Monotype Sorts" pitchFamily="-99" charset="2"/>
            </a:pPr>
            <a:r>
              <a:rPr sz="2000"/>
              <a:t>How will the benefits accrue?</a:t>
            </a:r>
          </a:p>
          <a:p>
            <a:pPr marL="509905" lvl="1" indent="-16827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When - over what timescale?</a:t>
            </a:r>
          </a:p>
          <a:p>
            <a:pPr marL="509905" lvl="1" indent="-16827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Where in the organization?</a:t>
            </a:r>
          </a:p>
        </p:txBody>
      </p:sp>
      <p:sp>
        <p:nvSpPr>
          <p:cNvPr id="133130" name="Text Placeholder 133129"/>
          <p:cNvSpPr>
            <a:spLocks noGrp="1"/>
          </p:cNvSpPr>
          <p:nvPr>
            <p:ph type="body" sz="half" idx="2"/>
          </p:nvPr>
        </p:nvSpPr>
        <p:spPr>
          <a:xfrm>
            <a:off x="6172200" y="1219200"/>
            <a:ext cx="4695825" cy="5257800"/>
          </a:xfrm>
          <a:ln w="28575">
            <a:solidFill>
              <a:schemeClr val="tx1"/>
            </a:solidFill>
            <a:miter/>
          </a:ln>
        </p:spPr>
        <p:txBody>
          <a:bodyPr lIns="90488" tIns="44450" rIns="90488" bIns="44450"/>
          <a:lstStyle/>
          <a:p>
            <a:pPr marL="227330" indent="-227330">
              <a:spcBef>
                <a:spcPct val="15000"/>
              </a:spcBef>
              <a:buClr>
                <a:schemeClr val="tx2"/>
              </a:buClr>
              <a:buSzPct val="75000"/>
              <a:buFont typeface="Monotype Sorts" pitchFamily="-99" charset="2"/>
            </a:pPr>
            <a:r>
              <a:rPr sz="2000"/>
              <a:t>Development costs (OTO)</a:t>
            </a:r>
          </a:p>
          <a:p>
            <a:pPr marL="511175" lvl="1" indent="-16954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Development and purchasing costs: 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Cost of development team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Consultant fees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software used (buy or build)?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hardware (what to buy, buy/lease)?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facilities (site, communications, power,...)</a:t>
            </a:r>
          </a:p>
          <a:p>
            <a:pPr marL="511175" lvl="1" indent="-16954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Installation and conversion costs: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installing the system,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training personnel,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file conversion,....</a:t>
            </a:r>
          </a:p>
          <a:p>
            <a:pPr marL="227330" indent="-227330">
              <a:buClr>
                <a:schemeClr val="tx2"/>
              </a:buClr>
              <a:buSzPct val="75000"/>
              <a:buFont typeface="Monotype Sorts" pitchFamily="-99" charset="2"/>
            </a:pPr>
            <a:r>
              <a:rPr sz="2000"/>
              <a:t>Operational costs (on-going)</a:t>
            </a:r>
          </a:p>
          <a:p>
            <a:pPr marL="511175" lvl="1" indent="-16954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System Maintenance: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hardware (repairs, lease, supplies,...),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software (licenses and contracts),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facilities</a:t>
            </a:r>
          </a:p>
          <a:p>
            <a:pPr marL="511175" lvl="1" indent="-169545">
              <a:buClr>
                <a:srgbClr val="003399"/>
              </a:buClr>
              <a:buSzPct val="100000"/>
              <a:buFont typeface="Wingdings" panose="05000000000000000000" pitchFamily="2" charset="2"/>
            </a:pPr>
            <a:r>
              <a:rPr sz="1400"/>
              <a:t>Personnel: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For operation (data entry, backups,…)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For support (user support, hardware and software maintenance, supplies,…)</a:t>
            </a:r>
          </a:p>
          <a:p>
            <a:pPr marL="800100" lvl="2" indent="-174625">
              <a:spcBef>
                <a:spcPct val="10000"/>
              </a:spcBef>
              <a:buClr>
                <a:srgbClr val="408000"/>
              </a:buClr>
              <a:buSzPct val="100000"/>
              <a:buFont typeface="Wingdings" panose="05000000000000000000" pitchFamily="2" charset="2"/>
            </a:pPr>
            <a:r>
              <a:rPr sz="1200"/>
              <a:t>On-going training costs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itle 135169"/>
          <p:cNvSpPr>
            <a:spLocks noGrp="1"/>
          </p:cNvSpPr>
          <p:nvPr>
            <p:ph type="title"/>
          </p:nvPr>
        </p:nvSpPr>
        <p:spPr>
          <a:xfrm>
            <a:off x="677545" y="0"/>
            <a:ext cx="8596630" cy="1014730"/>
          </a:xfrm>
        </p:spPr>
        <p:txBody>
          <a:bodyPr lIns="90488" tIns="44450" rIns="90488" bIns="44450" anchor="ctr" anchorCtr="0"/>
          <a:lstStyle/>
          <a:p>
            <a:r>
              <a:t>Example: </a:t>
            </a:r>
            <a:r>
              <a:rPr sz="2400"/>
              <a:t>costs for small Client-Server project</a:t>
            </a:r>
          </a:p>
        </p:txBody>
      </p:sp>
      <p:graphicFrame>
        <p:nvGraphicFramePr>
          <p:cNvPr id="135171" name="Object 135170"/>
          <p:cNvGraphicFramePr/>
          <p:nvPr/>
        </p:nvGraphicFramePr>
        <p:xfrm>
          <a:off x="678180" y="1143000"/>
          <a:ext cx="8464550" cy="5545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82925" imgH="2798445" progId="Word.Document.8">
                  <p:embed/>
                </p:oleObj>
              </mc:Choice>
              <mc:Fallback>
                <p:oleObj r:id="rId3" imgW="3082925" imgH="2798445" progId="Word.Document.8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8180" y="1143000"/>
                        <a:ext cx="8464550" cy="55454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itle 136193"/>
          <p:cNvSpPr>
            <a:spLocks noGrp="1"/>
          </p:cNvSpPr>
          <p:nvPr>
            <p:ph type="title"/>
          </p:nvPr>
        </p:nvSpPr>
        <p:spPr>
          <a:xfrm>
            <a:off x="677545" y="441325"/>
            <a:ext cx="8596630" cy="770255"/>
          </a:xfrm>
        </p:spPr>
        <p:txBody>
          <a:bodyPr lIns="90488" tIns="44450" rIns="90488" bIns="44450" anchor="ctr" anchorCtr="0">
            <a:normAutofit/>
          </a:bodyPr>
          <a:lstStyle/>
          <a:p>
            <a:r>
              <a:t>Analyzing Costs </a:t>
            </a:r>
            <a:r>
              <a:rPr err="1"/>
              <a:t>vs</a:t>
            </a:r>
            <a:r>
              <a:t>. Benefits</a:t>
            </a:r>
          </a:p>
        </p:txBody>
      </p:sp>
      <p:sp>
        <p:nvSpPr>
          <p:cNvPr id="136195" name="Text Placeholder 136194"/>
          <p:cNvSpPr>
            <a:spLocks noGrp="1"/>
          </p:cNvSpPr>
          <p:nvPr>
            <p:ph type="body" idx="1"/>
          </p:nvPr>
        </p:nvSpPr>
        <p:spPr>
          <a:xfrm>
            <a:off x="677545" y="1318260"/>
            <a:ext cx="8596630" cy="4723130"/>
          </a:xfrm>
        </p:spPr>
        <p:txBody>
          <a:bodyPr lIns="90488" tIns="44450" rIns="90488" bIns="44450">
            <a:noAutofit/>
          </a:bodyPr>
          <a:lstStyle/>
          <a:p>
            <a:pPr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800"/>
              <a:t>Identify costs and benefits</a:t>
            </a:r>
          </a:p>
          <a:p>
            <a:pPr lvl="1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/>
              <a:t>Tangible and intangible, one-time and recurring</a:t>
            </a:r>
          </a:p>
          <a:p>
            <a:pPr lvl="1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/>
              <a:t>Assign values to costs and benefits</a:t>
            </a:r>
          </a:p>
          <a:p>
            <a:pPr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800"/>
              <a:t>Determine Cash Flow</a:t>
            </a:r>
          </a:p>
          <a:p>
            <a:pPr lvl="1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/>
              <a:t>Project the costs and benefits over time, e.g. 3-5 years</a:t>
            </a:r>
          </a:p>
          <a:p>
            <a:pPr lvl="1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/>
              <a:t>Calculate </a:t>
            </a:r>
            <a:r>
              <a:rPr sz="2400">
                <a:solidFill>
                  <a:srgbClr val="800000"/>
                </a:solidFill>
              </a:rPr>
              <a:t>Net Present Value</a:t>
            </a:r>
            <a:r>
              <a:rPr sz="2400"/>
              <a:t> for all future costs/benefits</a:t>
            </a:r>
          </a:p>
          <a:p>
            <a:pPr lvl="2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000"/>
              <a:t>determines future costs/benefits of the project in terms of today's dollar values</a:t>
            </a:r>
          </a:p>
          <a:p>
            <a:pPr lvl="2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000"/>
              <a:t>A dollar earned today is worth more than a potential dollar earned next year</a:t>
            </a:r>
            <a:endParaRPr sz="2000">
              <a:solidFill>
                <a:srgbClr val="800080"/>
              </a:solidFill>
              <a:latin typeface="Helvetica" pitchFamily="-9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815975"/>
          </a:xfrm>
        </p:spPr>
        <p:txBody>
          <a:bodyPr>
            <a:normAutofit fontScale="90000"/>
          </a:bodyPr>
          <a:lstStyle/>
          <a:p>
            <a:r>
              <a:rPr>
                <a:sym typeface="+mn-ea"/>
              </a:rPr>
              <a:t>Do cost/benefit analysis</a:t>
            </a:r>
            <a:br>
              <a:rPr>
                <a:sym typeface="+mn-ea"/>
              </a:rPr>
            </a:br>
            <a:endParaRPr 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751965"/>
            <a:ext cx="9569450" cy="4541520"/>
          </a:xfrm>
        </p:spPr>
        <p:txBody>
          <a:bodyPr>
            <a:noAutofit/>
          </a:bodyPr>
          <a:lstStyle/>
          <a:p>
            <a:pPr lvl="1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>
                <a:sym typeface="+mn-ea"/>
              </a:rPr>
              <a:t>Calculate </a:t>
            </a:r>
            <a:r>
              <a:rPr sz="2400">
                <a:solidFill>
                  <a:srgbClr val="800000"/>
                </a:solidFill>
                <a:sym typeface="+mn-ea"/>
              </a:rPr>
              <a:t>Return on Investment</a:t>
            </a:r>
            <a:r>
              <a:rPr sz="2400">
                <a:sym typeface="+mn-ea"/>
              </a:rPr>
              <a:t>:</a:t>
            </a:r>
          </a:p>
          <a:p>
            <a:pPr lvl="2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>
                <a:sym typeface="+mn-ea"/>
              </a:rPr>
              <a:t>Allows comparison of lifetime profitability of alternative solutions.</a:t>
            </a:r>
          </a:p>
          <a:p>
            <a:pPr lvl="2" defTabSz="914400">
              <a:buNone/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 dirty="0">
                <a:solidFill>
                  <a:srgbClr val="800080"/>
                </a:solidFill>
                <a:latin typeface="Helvetica" pitchFamily="-99" charset="0"/>
                <a:sym typeface="+mn-ea"/>
              </a:rPr>
              <a:t>		</a:t>
            </a:r>
            <a:r>
              <a:rPr sz="2400">
                <a:solidFill>
                  <a:srgbClr val="800080"/>
                </a:solidFill>
                <a:latin typeface="Helvetica" pitchFamily="-99" charset="0"/>
                <a:sym typeface="+mn-ea"/>
              </a:rPr>
              <a:t>ROI   =	Total Profit	=	Lifetime benefits - Lifetime costs</a:t>
            </a:r>
            <a:endParaRPr sz="2400">
              <a:solidFill>
                <a:srgbClr val="800080"/>
              </a:solidFill>
              <a:latin typeface="Helvetica" pitchFamily="-99" charset="0"/>
            </a:endParaRPr>
          </a:p>
          <a:p>
            <a:pPr lvl="2" defTabSz="914400">
              <a:buNone/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>
                <a:solidFill>
                  <a:srgbClr val="800080"/>
                </a:solidFill>
                <a:latin typeface="Helvetica" pitchFamily="-99" charset="0"/>
                <a:sym typeface="+mn-ea"/>
              </a:rPr>
              <a:t>			Total Cost	</a:t>
            </a:r>
            <a:r>
              <a:rPr sz="2400" dirty="0">
                <a:solidFill>
                  <a:srgbClr val="800080"/>
                </a:solidFill>
                <a:latin typeface="Helvetica" pitchFamily="-99" charset="0"/>
                <a:sym typeface="+mn-ea"/>
              </a:rPr>
              <a:t>	</a:t>
            </a:r>
            <a:r>
              <a:rPr sz="2400">
                <a:solidFill>
                  <a:srgbClr val="800080"/>
                </a:solidFill>
                <a:latin typeface="Helvetica" pitchFamily="-99" charset="0"/>
                <a:sym typeface="+mn-ea"/>
              </a:rPr>
              <a:t>Lifetime costs</a:t>
            </a:r>
            <a:r>
              <a:rPr sz="2400">
                <a:sym typeface="+mn-ea"/>
              </a:rPr>
              <a:t> </a:t>
            </a:r>
          </a:p>
          <a:p>
            <a:pPr lvl="1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>
                <a:sym typeface="+mn-ea"/>
              </a:rPr>
              <a:t>Calculate </a:t>
            </a:r>
            <a:r>
              <a:rPr sz="2400">
                <a:solidFill>
                  <a:srgbClr val="800000"/>
                </a:solidFill>
                <a:sym typeface="+mn-ea"/>
              </a:rPr>
              <a:t>Break-Even point</a:t>
            </a:r>
            <a:r>
              <a:rPr sz="2400">
                <a:sym typeface="+mn-ea"/>
              </a:rPr>
              <a:t>:</a:t>
            </a:r>
          </a:p>
          <a:p>
            <a:pPr lvl="2" defTabSz="914400"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>
                <a:sym typeface="+mn-ea"/>
              </a:rPr>
              <a:t>how long will it take (in years) to pay back the accrued costs:</a:t>
            </a:r>
          </a:p>
          <a:p>
            <a:pPr lvl="1" algn="ctr" defTabSz="914400">
              <a:buNone/>
              <a:tabLst>
                <a:tab pos="1828800" algn="r"/>
                <a:tab pos="2971800" algn="ctr"/>
                <a:tab pos="4114800" algn="ctr"/>
                <a:tab pos="6062980" algn="ctr"/>
              </a:tabLst>
            </a:pPr>
            <a:r>
              <a:rPr sz="2400">
                <a:solidFill>
                  <a:srgbClr val="800080"/>
                </a:solidFill>
                <a:latin typeface="Helvetica" pitchFamily="-99" charset="0"/>
                <a:sym typeface="+mn-ea"/>
              </a:rPr>
              <a:t>@T (Accrued Benefit &gt; Accrued Cost)</a:t>
            </a:r>
            <a:endParaRPr lang="en-US" sz="2400">
              <a:solidFill>
                <a:srgbClr val="800080"/>
              </a:solidFill>
              <a:latin typeface="Helvetica" pitchFamily="-99" charset="0"/>
              <a:sym typeface="+mn-ea"/>
            </a:endParaRPr>
          </a:p>
        </p:txBody>
      </p:sp>
      <p:sp>
        <p:nvSpPr>
          <p:cNvPr id="137220" name="Straight Connector 137219"/>
          <p:cNvSpPr/>
          <p:nvPr/>
        </p:nvSpPr>
        <p:spPr>
          <a:xfrm>
            <a:off x="3046095" y="3623945"/>
            <a:ext cx="1282700" cy="635"/>
          </a:xfrm>
          <a:prstGeom prst="line">
            <a:avLst/>
          </a:prstGeom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" name="Straight Connector 3"/>
          <p:cNvSpPr/>
          <p:nvPr/>
        </p:nvSpPr>
        <p:spPr>
          <a:xfrm>
            <a:off x="5223510" y="3624580"/>
            <a:ext cx="4050665" cy="635"/>
          </a:xfrm>
          <a:prstGeom prst="line">
            <a:avLst/>
          </a:prstGeom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37217"/>
          <p:cNvSpPr>
            <a:spLocks noGrp="1"/>
          </p:cNvSpPr>
          <p:nvPr>
            <p:ph type="title"/>
          </p:nvPr>
        </p:nvSpPr>
        <p:spPr>
          <a:xfrm>
            <a:off x="677545" y="319405"/>
            <a:ext cx="8596630" cy="1045210"/>
          </a:xfrm>
        </p:spPr>
        <p:txBody>
          <a:bodyPr lIns="90488" tIns="44450" rIns="90488" bIns="44450" anchor="ctr" anchorCtr="0"/>
          <a:lstStyle/>
          <a:p>
            <a:r>
              <a:t>Calculating Present Value</a:t>
            </a:r>
          </a:p>
        </p:txBody>
      </p:sp>
      <p:sp>
        <p:nvSpPr>
          <p:cNvPr id="137219" name="Text Placeholder 137218"/>
          <p:cNvSpPr>
            <a:spLocks noGrp="1"/>
          </p:cNvSpPr>
          <p:nvPr>
            <p:ph type="body" idx="1"/>
          </p:nvPr>
        </p:nvSpPr>
        <p:spPr>
          <a:xfrm>
            <a:off x="677545" y="1365250"/>
            <a:ext cx="8596630" cy="4676140"/>
          </a:xfrm>
        </p:spPr>
        <p:txBody>
          <a:bodyPr lIns="90488" tIns="44450" rIns="90488" bIns="44450">
            <a:normAutofit fontScale="90000" lnSpcReduction="20000"/>
          </a:bodyPr>
          <a:lstStyle/>
          <a:p>
            <a:pPr defTabSz="914400">
              <a:tabLst>
                <a:tab pos="1370330" algn="l"/>
                <a:tab pos="4572000" algn="ctr"/>
              </a:tabLst>
            </a:pPr>
            <a:r>
              <a:rPr sz="2000"/>
              <a:t>A dollar today is worth more than a dollar tomorrow…</a:t>
            </a:r>
          </a:p>
          <a:p>
            <a:pPr lvl="1" defTabSz="914400">
              <a:tabLst>
                <a:tab pos="1370330" algn="l"/>
                <a:tab pos="4572000" algn="ctr"/>
              </a:tabLst>
            </a:pPr>
            <a:r>
              <a:rPr sz="1800"/>
              <a:t>Your analysis should be normalized to “current year” dollar values. </a:t>
            </a:r>
          </a:p>
          <a:p>
            <a:pPr defTabSz="914400">
              <a:tabLst>
                <a:tab pos="1370330" algn="l"/>
                <a:tab pos="4572000" algn="ctr"/>
              </a:tabLst>
            </a:pPr>
            <a:r>
              <a:rPr sz="2000"/>
              <a:t>The discount rate</a:t>
            </a:r>
          </a:p>
          <a:p>
            <a:pPr lvl="1" defTabSz="914400">
              <a:tabLst>
                <a:tab pos="1370330" algn="l"/>
                <a:tab pos="4572000" algn="ctr"/>
              </a:tabLst>
            </a:pPr>
            <a:r>
              <a:rPr sz="1800"/>
              <a:t>measures opportunity cost: </a:t>
            </a:r>
          </a:p>
          <a:p>
            <a:pPr lvl="2" defTabSz="914400">
              <a:spcBef>
                <a:spcPct val="0"/>
              </a:spcBef>
              <a:tabLst>
                <a:tab pos="1370330" algn="l"/>
                <a:tab pos="4572000" algn="ctr"/>
              </a:tabLst>
            </a:pPr>
            <a:r>
              <a:rPr sz="1600"/>
              <a:t>Money invested in this project means money not available for other things</a:t>
            </a:r>
          </a:p>
          <a:p>
            <a:pPr lvl="2" defTabSz="914400">
              <a:spcBef>
                <a:spcPct val="0"/>
              </a:spcBef>
              <a:tabLst>
                <a:tab pos="1370330" algn="l"/>
                <a:tab pos="4572000" algn="ctr"/>
              </a:tabLst>
            </a:pPr>
            <a:r>
              <a:rPr sz="1600"/>
              <a:t>Benefits expected in future years are more prone to risk</a:t>
            </a:r>
          </a:p>
          <a:p>
            <a:pPr lvl="1" defTabSz="914400">
              <a:tabLst>
                <a:tab pos="1370330" algn="l"/>
                <a:tab pos="4572000" algn="ctr"/>
              </a:tabLst>
            </a:pPr>
            <a:r>
              <a:rPr sz="1800"/>
              <a:t>This number is company- and industry-specific.</a:t>
            </a:r>
          </a:p>
          <a:p>
            <a:pPr lvl="2" defTabSz="914400">
              <a:spcBef>
                <a:spcPct val="0"/>
              </a:spcBef>
              <a:tabLst>
                <a:tab pos="1370330" algn="l"/>
                <a:tab pos="4572000" algn="ctr"/>
              </a:tabLst>
            </a:pPr>
            <a:r>
              <a:rPr sz="1600"/>
              <a:t>“what is the average annual return for investments in this industry?”</a:t>
            </a:r>
          </a:p>
          <a:p>
            <a:pPr defTabSz="914400">
              <a:tabLst>
                <a:tab pos="1370330" algn="l"/>
                <a:tab pos="4572000" algn="ctr"/>
              </a:tabLst>
            </a:pPr>
            <a:r>
              <a:rPr sz="2000"/>
              <a:t>Present Value:</a:t>
            </a:r>
          </a:p>
          <a:p>
            <a:pPr lvl="1" defTabSz="914400">
              <a:tabLst>
                <a:tab pos="1370330" algn="l"/>
                <a:tab pos="4572000" algn="ctr"/>
              </a:tabLst>
            </a:pPr>
            <a:r>
              <a:rPr sz="1800"/>
              <a:t>The “current year” dollar value for costs/benefits </a:t>
            </a:r>
            <a:r>
              <a:rPr sz="1800">
                <a:solidFill>
                  <a:srgbClr val="800080"/>
                </a:solidFill>
                <a:latin typeface="Helvetica" pitchFamily="-99" charset="0"/>
              </a:rPr>
              <a:t>n</a:t>
            </a:r>
            <a:r>
              <a:rPr sz="1800"/>
              <a:t> years into the future</a:t>
            </a:r>
          </a:p>
          <a:p>
            <a:pPr lvl="2" defTabSz="914400">
              <a:spcBef>
                <a:spcPct val="0"/>
              </a:spcBef>
              <a:tabLst>
                <a:tab pos="1370330" algn="l"/>
                <a:tab pos="4572000" algn="ctr"/>
              </a:tabLst>
            </a:pPr>
            <a:r>
              <a:rPr sz="1600"/>
              <a:t>… for a given discount rate </a:t>
            </a:r>
            <a:r>
              <a:rPr sz="1600">
                <a:solidFill>
                  <a:srgbClr val="800080"/>
                </a:solidFill>
                <a:latin typeface="Helvetica" pitchFamily="-99" charset="0"/>
              </a:rPr>
              <a:t>i</a:t>
            </a:r>
            <a:r>
              <a:rPr lang="en-US" sz="1600">
                <a:solidFill>
                  <a:srgbClr val="800080"/>
                </a:solidFill>
                <a:latin typeface="Helvetica" pitchFamily="-99" charset="0"/>
              </a:rPr>
              <a:t> </a:t>
            </a:r>
          </a:p>
          <a:p>
            <a:pPr lvl="2" defTabSz="914400">
              <a:spcBef>
                <a:spcPct val="0"/>
              </a:spcBef>
              <a:tabLst>
                <a:tab pos="1370330" algn="l"/>
                <a:tab pos="4572000" algn="ctr"/>
              </a:tabLst>
            </a:pPr>
            <a:endParaRPr sz="1600">
              <a:solidFill>
                <a:srgbClr val="800080"/>
              </a:solidFill>
              <a:latin typeface="Helvetica" pitchFamily="-99" charset="0"/>
            </a:endParaRPr>
          </a:p>
          <a:p>
            <a:pPr lvl="1" defTabSz="914400">
              <a:buNone/>
              <a:tabLst>
                <a:tab pos="1370330" algn="l"/>
                <a:tab pos="4572000" algn="ctr"/>
              </a:tabLst>
            </a:pPr>
            <a:r>
              <a:t>		 </a:t>
            </a:r>
            <a:r>
              <a:rPr dirty="0">
                <a:latin typeface="Helvetica" pitchFamily="-99" charset="0"/>
              </a:rPr>
              <a:t>	</a:t>
            </a:r>
            <a:r>
              <a:rPr>
                <a:solidFill>
                  <a:srgbClr val="800080"/>
                </a:solidFill>
                <a:latin typeface="Helvetica" pitchFamily="-99" charset="0"/>
              </a:rPr>
              <a:t>1</a:t>
            </a:r>
          </a:p>
          <a:p>
            <a:pPr lvl="1" defTabSz="914400">
              <a:buNone/>
              <a:tabLst>
                <a:tab pos="1370330" algn="l"/>
                <a:tab pos="4572000" algn="ctr"/>
              </a:tabLst>
            </a:pPr>
            <a:r>
              <a:rPr dirty="0">
                <a:solidFill>
                  <a:srgbClr val="800080"/>
                </a:solidFill>
                <a:latin typeface="Helvetica" pitchFamily="-99" charset="0"/>
              </a:rPr>
              <a:t>		</a:t>
            </a:r>
            <a:r>
              <a:rPr>
                <a:solidFill>
                  <a:srgbClr val="800080"/>
                </a:solidFill>
                <a:latin typeface="Helvetica" pitchFamily="-99" charset="0"/>
              </a:rPr>
              <a:t>Present_Value(n)  =	</a:t>
            </a:r>
            <a:r>
              <a:rPr sz="2700">
                <a:solidFill>
                  <a:srgbClr val="800080"/>
                </a:solidFill>
                <a:latin typeface="Helvetica" pitchFamily="-99" charset="0"/>
              </a:rPr>
              <a:t>(1 + i)</a:t>
            </a:r>
            <a:r>
              <a:rPr sz="2700" baseline="30000">
                <a:solidFill>
                  <a:srgbClr val="800080"/>
                </a:solidFill>
                <a:latin typeface="Helvetica" pitchFamily="-99" charset="0"/>
              </a:rPr>
              <a:t>n</a:t>
            </a:r>
            <a:endParaRPr sz="2700">
              <a:solidFill>
                <a:srgbClr val="800080"/>
              </a:solidFill>
              <a:latin typeface="Helvetica" pitchFamily="-99" charset="0"/>
            </a:endParaRPr>
          </a:p>
          <a:p>
            <a:pPr lvl="1" defTabSz="914400">
              <a:spcBef>
                <a:spcPct val="50000"/>
              </a:spcBef>
              <a:tabLst>
                <a:tab pos="1370330" algn="l"/>
                <a:tab pos="4572000" algn="ctr"/>
              </a:tabLst>
            </a:pPr>
            <a:r>
              <a:t>E.g. if the discount rate is 12%, then</a:t>
            </a:r>
          </a:p>
          <a:p>
            <a:pPr lvl="2" defTabSz="914400">
              <a:spcBef>
                <a:spcPct val="0"/>
              </a:spcBef>
              <a:tabLst>
                <a:tab pos="1370330" algn="l"/>
                <a:tab pos="4572000" algn="ctr"/>
              </a:tabLst>
            </a:pPr>
            <a:r>
              <a:t>Present_Value(1) = 1/(1 + 0.12)</a:t>
            </a:r>
            <a:r>
              <a:rPr sz="1600" baseline="30000">
                <a:solidFill>
                  <a:srgbClr val="800080"/>
                </a:solidFill>
              </a:rPr>
              <a:t>1</a:t>
            </a:r>
            <a:r>
              <a:t> = 0.893</a:t>
            </a:r>
          </a:p>
          <a:p>
            <a:pPr lvl="2" defTabSz="914400">
              <a:spcBef>
                <a:spcPct val="0"/>
              </a:spcBef>
              <a:tabLst>
                <a:tab pos="1370330" algn="l"/>
                <a:tab pos="4572000" algn="ctr"/>
              </a:tabLst>
            </a:pPr>
            <a:r>
              <a:t>Present_Value(2) = 1/(1 + 0.12)</a:t>
            </a:r>
            <a:r>
              <a:rPr sz="1600" baseline="30000">
                <a:solidFill>
                  <a:srgbClr val="800080"/>
                </a:solidFill>
              </a:rPr>
              <a:t>2</a:t>
            </a:r>
            <a:r>
              <a:t> = 0.797</a:t>
            </a:r>
          </a:p>
        </p:txBody>
      </p:sp>
      <p:sp>
        <p:nvSpPr>
          <p:cNvPr id="137220" name="Straight Connector 137219"/>
          <p:cNvSpPr/>
          <p:nvPr/>
        </p:nvSpPr>
        <p:spPr>
          <a:xfrm>
            <a:off x="5008245" y="4811078"/>
            <a:ext cx="762000" cy="0"/>
          </a:xfrm>
          <a:prstGeom prst="line">
            <a:avLst/>
          </a:prstGeom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4" name="Picture 138243"/>
          <p:cNvPicPr/>
          <p:nvPr/>
        </p:nvPicPr>
        <p:blipFill>
          <a:blip r:embed="rId3"/>
          <a:stretch>
            <a:fillRect/>
          </a:stretch>
        </p:blipFill>
        <p:spPr>
          <a:xfrm>
            <a:off x="1905000" y="2514600"/>
            <a:ext cx="8432800" cy="2717800"/>
          </a:xfrm>
          <a:prstGeom prst="rect">
            <a:avLst/>
          </a:prstGeom>
          <a:noFill/>
          <a:ln w="50800">
            <a:noFill/>
          </a:ln>
        </p:spPr>
      </p:pic>
      <p:sp>
        <p:nvSpPr>
          <p:cNvPr id="138246" name="Title 138245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984250"/>
          </a:xfrm>
        </p:spPr>
        <p:txBody>
          <a:bodyPr lIns="90488" tIns="44450" rIns="90488" bIns="44450" anchor="ctr" anchorCtr="0"/>
          <a:lstStyle/>
          <a:p>
            <a:r>
              <a:t>Net Present Value</a:t>
            </a:r>
          </a:p>
        </p:txBody>
      </p:sp>
      <p:sp>
        <p:nvSpPr>
          <p:cNvPr id="138247" name="Text Placeholder 138246"/>
          <p:cNvSpPr>
            <a:spLocks noGrp="1"/>
          </p:cNvSpPr>
          <p:nvPr>
            <p:ph type="body" idx="1"/>
          </p:nvPr>
        </p:nvSpPr>
        <p:spPr>
          <a:xfrm>
            <a:off x="677545" y="1593850"/>
            <a:ext cx="9438640" cy="5263515"/>
          </a:xfrm>
        </p:spPr>
        <p:txBody>
          <a:bodyPr lIns="90488" tIns="44450" rIns="90488" bIns="44450">
            <a:noAutofit/>
          </a:bodyPr>
          <a:lstStyle/>
          <a:p>
            <a:r>
              <a:rPr sz="3200"/>
              <a:t>Measures the total value of the investment</a:t>
            </a:r>
          </a:p>
          <a:p>
            <a:pPr lvl="1"/>
            <a:r>
              <a:rPr sz="2800"/>
              <a:t>	…with all figures adjusted to present dollar values</a:t>
            </a:r>
          </a:p>
          <a:p>
            <a:pPr lvl="2"/>
            <a:r>
              <a:rPr sz="2400"/>
              <a:t>NPV = Cumulative PV of all benefits - Cumulative PV of all cost</a:t>
            </a:r>
            <a:endParaRPr sz="2400" dirty="0"/>
          </a:p>
          <a:p>
            <a:pPr lvl="1"/>
            <a:r>
              <a:rPr sz="2800"/>
              <a:t>Assuming subsequent years are like year 4…</a:t>
            </a:r>
          </a:p>
          <a:p>
            <a:pPr lvl="2"/>
            <a:r>
              <a:rPr sz="2400"/>
              <a:t>the net present value of this investment in the project will be:</a:t>
            </a:r>
          </a:p>
          <a:p>
            <a:pPr lvl="2"/>
            <a:r>
              <a:rPr sz="2400"/>
              <a:t>after 5 years, $13,652</a:t>
            </a:r>
          </a:p>
          <a:p>
            <a:pPr lvl="2"/>
            <a:r>
              <a:rPr sz="2400"/>
              <a:t>after 6 years, $36,168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itle 142337"/>
          <p:cNvSpPr>
            <a:spLocks noGrp="1"/>
          </p:cNvSpPr>
          <p:nvPr>
            <p:ph type="title"/>
          </p:nvPr>
        </p:nvSpPr>
        <p:spPr/>
        <p:txBody>
          <a:bodyPr lIns="90488" tIns="44450" rIns="90488" bIns="44450" anchor="ctr" anchorCtr="0"/>
          <a:lstStyle/>
          <a:p>
            <a:r>
              <a:t>Return on Investment (ROI) analysis</a:t>
            </a:r>
          </a:p>
        </p:txBody>
      </p:sp>
      <p:sp>
        <p:nvSpPr>
          <p:cNvPr id="142339" name="Text Placeholder 142338"/>
          <p:cNvSpPr>
            <a:spLocks noGrp="1"/>
          </p:cNvSpPr>
          <p:nvPr>
            <p:ph type="body" idx="1"/>
          </p:nvPr>
        </p:nvSpPr>
        <p:spPr>
          <a:xfrm>
            <a:off x="677545" y="2160905"/>
            <a:ext cx="9514840" cy="4155440"/>
          </a:xfrm>
        </p:spPr>
        <p:txBody>
          <a:bodyPr lIns="90488" tIns="44450" rIns="90488" bIns="44450"/>
          <a:lstStyle/>
          <a:p>
            <a:pPr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800"/>
              <a:t>For comparing overall profitability</a:t>
            </a:r>
          </a:p>
          <a:p>
            <a:pPr lvl="1"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400"/>
              <a:t>Which alternative is the best investment? </a:t>
            </a:r>
          </a:p>
          <a:p>
            <a:pPr lvl="1"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400"/>
              <a:t>ROI measures the ratio of the value of an investment to its cost.</a:t>
            </a:r>
          </a:p>
          <a:p>
            <a:pPr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800"/>
              <a:t>ROI is calculated as follows:</a:t>
            </a:r>
          </a:p>
          <a:p>
            <a:pPr lvl="1" defTabSz="914400">
              <a:buNone/>
              <a:tabLst>
                <a:tab pos="1260475" algn="ctr"/>
                <a:tab pos="1768475" algn="r"/>
                <a:tab pos="4572000" algn="ctr"/>
              </a:tabLst>
            </a:pPr>
            <a:r>
              <a:rPr sz="2400" dirty="0">
                <a:solidFill>
                  <a:srgbClr val="800080"/>
                </a:solidFill>
                <a:latin typeface="Helvetica" pitchFamily="-99" charset="0"/>
              </a:rPr>
              <a:t>		</a:t>
            </a:r>
            <a:r>
              <a:rPr sz="2400">
                <a:solidFill>
                  <a:srgbClr val="800080"/>
                </a:solidFill>
                <a:latin typeface="Helvetica" pitchFamily="-99" charset="0"/>
              </a:rPr>
              <a:t>ROI	=	Estimated lifetime benefits - Estimated lifetime costs</a:t>
            </a:r>
            <a:br>
              <a:rPr sz="2400">
                <a:solidFill>
                  <a:srgbClr val="800080"/>
                </a:solidFill>
                <a:latin typeface="Helvetica" pitchFamily="-99" charset="0"/>
              </a:rPr>
            </a:br>
            <a:r>
              <a:rPr sz="2400">
                <a:solidFill>
                  <a:srgbClr val="800080"/>
                </a:solidFill>
                <a:latin typeface="Helvetica" pitchFamily="-99" charset="0"/>
              </a:rPr>
              <a:t>	</a:t>
            </a:r>
            <a:r>
              <a:rPr sz="2400" dirty="0">
                <a:solidFill>
                  <a:srgbClr val="800080"/>
                </a:solidFill>
                <a:latin typeface="Helvetica" pitchFamily="-99" charset="0"/>
              </a:rPr>
              <a:t>		</a:t>
            </a:r>
            <a:r>
              <a:rPr sz="2400">
                <a:solidFill>
                  <a:srgbClr val="800080"/>
                </a:solidFill>
                <a:latin typeface="Helvetica" pitchFamily="-99" charset="0"/>
              </a:rPr>
              <a:t>Estimated lifetime costs</a:t>
            </a:r>
          </a:p>
          <a:p>
            <a:pPr lvl="1" defTabSz="914400">
              <a:buNone/>
              <a:tabLst>
                <a:tab pos="1260475" algn="ctr"/>
                <a:tab pos="1768475" algn="r"/>
                <a:tab pos="4572000" algn="ctr"/>
              </a:tabLst>
            </a:pPr>
            <a:endParaRPr sz="2400">
              <a:solidFill>
                <a:srgbClr val="800080"/>
              </a:solidFill>
              <a:latin typeface="Helvetica" pitchFamily="-99" charset="0"/>
            </a:endParaRPr>
          </a:p>
        </p:txBody>
      </p:sp>
      <p:sp>
        <p:nvSpPr>
          <p:cNvPr id="142340" name="Straight Connector 142339"/>
          <p:cNvSpPr/>
          <p:nvPr/>
        </p:nvSpPr>
        <p:spPr>
          <a:xfrm flipV="1">
            <a:off x="2661920" y="5079365"/>
            <a:ext cx="6741795" cy="14605"/>
          </a:xfrm>
          <a:prstGeom prst="line">
            <a:avLst/>
          </a:prstGeom>
          <a:ln w="28575" cap="flat" cmpd="sng">
            <a:solidFill>
              <a:srgbClr val="800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609600"/>
            <a:ext cx="8596630" cy="7239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1670685"/>
            <a:ext cx="9453880" cy="4370705"/>
          </a:xfrm>
        </p:spPr>
        <p:txBody>
          <a:bodyPr>
            <a:noAutofit/>
          </a:bodyPr>
          <a:lstStyle/>
          <a:p>
            <a:pPr lvl="1" defTabSz="914400">
              <a:buNone/>
              <a:tabLst>
                <a:tab pos="1260475" algn="ctr"/>
                <a:tab pos="1768475" algn="r"/>
                <a:tab pos="4572000" algn="ctr"/>
              </a:tabLst>
            </a:pPr>
            <a:r>
              <a:rPr sz="2400">
                <a:sym typeface="+mn-ea"/>
              </a:rPr>
              <a:t>or:</a:t>
            </a:r>
          </a:p>
          <a:p>
            <a:pPr lvl="1" defTabSz="914400">
              <a:buNone/>
              <a:tabLst>
                <a:tab pos="1260475" algn="ctr"/>
                <a:tab pos="1768475" algn="r"/>
                <a:tab pos="4572000" algn="ctr"/>
              </a:tabLst>
            </a:pPr>
            <a:r>
              <a:rPr sz="2400" dirty="0">
                <a:solidFill>
                  <a:srgbClr val="800080"/>
                </a:solidFill>
                <a:latin typeface="Helvetica" pitchFamily="-99" charset="0"/>
                <a:sym typeface="+mn-ea"/>
              </a:rPr>
              <a:t>		</a:t>
            </a:r>
            <a:r>
              <a:rPr sz="2400">
                <a:solidFill>
                  <a:srgbClr val="800080"/>
                </a:solidFill>
                <a:latin typeface="Helvetica" pitchFamily="-99" charset="0"/>
                <a:sym typeface="+mn-ea"/>
              </a:rPr>
              <a:t>ROI	=	Net Present value / Estimated lifetime costs</a:t>
            </a:r>
            <a:endParaRPr sz="2400">
              <a:solidFill>
                <a:srgbClr val="800080"/>
              </a:solidFill>
              <a:latin typeface="Helvetica" pitchFamily="-99" charset="0"/>
            </a:endParaRPr>
          </a:p>
          <a:p>
            <a:pPr lvl="1"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400">
                <a:sym typeface="+mn-ea"/>
              </a:rPr>
              <a:t>For our example</a:t>
            </a:r>
          </a:p>
          <a:p>
            <a:pPr lvl="2"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400">
                <a:sym typeface="+mn-ea"/>
              </a:rPr>
              <a:t>ROI  = (795,440 - 488,692) / 488,692 </a:t>
            </a:r>
            <a:r>
              <a:rPr sz="2400">
                <a:sym typeface="Symbol" panose="05050102010706020507" pitchFamily="-99" charset="2"/>
              </a:rPr>
              <a:t></a:t>
            </a:r>
            <a:r>
              <a:rPr sz="2400">
                <a:sym typeface="+mn-ea"/>
              </a:rPr>
              <a:t> 63%, </a:t>
            </a:r>
            <a:endParaRPr sz="2400" dirty="0"/>
          </a:p>
          <a:p>
            <a:pPr lvl="2"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400">
                <a:sym typeface="+mn-ea"/>
              </a:rPr>
              <a:t>or   ROI =   306,748 / 488,692 </a:t>
            </a:r>
            <a:r>
              <a:rPr sz="2400">
                <a:sym typeface="Symbol" panose="05050102010706020507" pitchFamily="-99" charset="2"/>
              </a:rPr>
              <a:t></a:t>
            </a:r>
            <a:r>
              <a:rPr sz="2400">
                <a:sym typeface="+mn-ea"/>
              </a:rPr>
              <a:t> 63%</a:t>
            </a:r>
          </a:p>
          <a:p>
            <a:pPr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400">
                <a:sym typeface="+mn-ea"/>
              </a:rPr>
              <a:t>Solution with the highest ROI is the best alternative</a:t>
            </a:r>
          </a:p>
          <a:p>
            <a:pPr lvl="1"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400">
                <a:sym typeface="+mn-ea"/>
              </a:rPr>
              <a:t>But need to know payback period too to get the full picture</a:t>
            </a:r>
          </a:p>
          <a:p>
            <a:pPr lvl="2" defTabSz="914400">
              <a:tabLst>
                <a:tab pos="1260475" algn="ctr"/>
                <a:tab pos="1768475" algn="r"/>
                <a:tab pos="4572000" algn="ctr"/>
              </a:tabLst>
            </a:pPr>
            <a:r>
              <a:rPr sz="2400">
                <a:sym typeface="+mn-ea"/>
              </a:rPr>
              <a:t>E.g. A lower ROI with earlier payback may be preferable in some circumstances</a:t>
            </a:r>
          </a:p>
          <a:p>
            <a:endParaRPr lang="en-US" sz="24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1606</Words>
  <Application>Microsoft Office PowerPoint</Application>
  <PresentationFormat>Widescreen</PresentationFormat>
  <Paragraphs>259</Paragraphs>
  <Slides>22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Calibri</vt:lpstr>
      <vt:lpstr>Comic Sans MS</vt:lpstr>
      <vt:lpstr>Helvetica</vt:lpstr>
      <vt:lpstr>Monotype Sorts</vt:lpstr>
      <vt:lpstr>Symbol</vt:lpstr>
      <vt:lpstr>Trebuchet MS</vt:lpstr>
      <vt:lpstr>Wingdings</vt:lpstr>
      <vt:lpstr>Wingdings 3</vt:lpstr>
      <vt:lpstr>Facet</vt:lpstr>
      <vt:lpstr>Microsoft Word 97 - 2003 Document</vt:lpstr>
      <vt:lpstr>LUC 4</vt:lpstr>
      <vt:lpstr>  Lecture 4:   the Feasibility Study  </vt:lpstr>
      <vt:lpstr>Why a feasibility study?</vt:lpstr>
      <vt:lpstr>PowerPoint Presentation</vt:lpstr>
      <vt:lpstr>Content of a feasibility study</vt:lpstr>
      <vt:lpstr>PowerPoint Presentation</vt:lpstr>
      <vt:lpstr>Exploring Feasibility</vt:lpstr>
      <vt:lpstr>the PIECES frame works </vt:lpstr>
      <vt:lpstr>PowerPoint Presentation</vt:lpstr>
      <vt:lpstr>Four Types of feasibility</vt:lpstr>
      <vt:lpstr>PowerPoint Presentation</vt:lpstr>
      <vt:lpstr>Technical Feasibility</vt:lpstr>
      <vt:lpstr>Economic Feasibility</vt:lpstr>
      <vt:lpstr>PowerPoint Presentation</vt:lpstr>
      <vt:lpstr> Benefits  Costs</vt:lpstr>
      <vt:lpstr>Example: costs for small Client-Server project</vt:lpstr>
      <vt:lpstr>Analyzing Costs vs. Benefits</vt:lpstr>
      <vt:lpstr>Do cost/benefit analysis </vt:lpstr>
      <vt:lpstr>Calculating Present Value</vt:lpstr>
      <vt:lpstr>Net Present Value</vt:lpstr>
      <vt:lpstr>Return on Investment (ROI) analysis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 4</dc:title>
  <dc:creator>user</dc:creator>
  <cp:lastModifiedBy>user</cp:lastModifiedBy>
  <cp:revision>15</cp:revision>
  <dcterms:created xsi:type="dcterms:W3CDTF">2025-03-24T08:17:00Z</dcterms:created>
  <dcterms:modified xsi:type="dcterms:W3CDTF">2025-04-07T09:25:51Z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E58140C0413E4FBAB71CF596AE5BD9AB_12</vt:lpwstr>
  </property>
  <property fmtid="{D5CDD505-2E9C-101B-9397-08002B2CF9AE}" pid="3" name="KSOProductBuildVer">
    <vt:lpwstr>1033-12.2.0.20326</vt:lpwstr>
  </property>
</Properties>
</file>