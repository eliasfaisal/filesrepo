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13" r:id="rId2"/>
    <p:sldId id="274" r:id="rId3"/>
    <p:sldId id="284" r:id="rId4"/>
    <p:sldId id="285" r:id="rId5"/>
    <p:sldId id="275" r:id="rId6"/>
    <p:sldId id="276" r:id="rId7"/>
    <p:sldId id="277" r:id="rId8"/>
    <p:sldId id="278" r:id="rId9"/>
    <p:sldId id="279" r:id="rId10"/>
    <p:sldId id="280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6" d="100"/>
          <a:sy n="56" d="100"/>
        </p:scale>
        <p:origin x="4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69BCC-5DA6-464A-AECF-64211D97C9C7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81030-412D-4460-ADE7-511CBDD31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2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</a:t>
            </a:fld>
            <a:endParaRPr lang="en-US" sz="1200" dirty="0"/>
          </a:p>
        </p:txBody>
      </p:sp>
      <p:sp>
        <p:nvSpPr>
          <p:cNvPr id="182274" name="Slide Image Placeholder 18227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Text Placeholder 1822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4</a:t>
            </a:fld>
            <a:endParaRPr lang="en-US" sz="1200" dirty="0"/>
          </a:p>
        </p:txBody>
      </p:sp>
      <p:sp>
        <p:nvSpPr>
          <p:cNvPr id="183298" name="Slide Image Placeholder 18329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3299" name="Text Placeholder 1832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5</a:t>
            </a:fld>
            <a:endParaRPr lang="en-US" sz="1200" dirty="0"/>
          </a:p>
        </p:txBody>
      </p:sp>
      <p:sp>
        <p:nvSpPr>
          <p:cNvPr id="185346" name="Slide Image Placeholder 18534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5347" name="Text Placeholder 1853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7</a:t>
            </a:fld>
            <a:endParaRPr lang="en-US" sz="1200" dirty="0"/>
          </a:p>
        </p:txBody>
      </p:sp>
      <p:sp>
        <p:nvSpPr>
          <p:cNvPr id="186370" name="Slide Image Placeholder 1863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6371" name="Text Placeholder 1863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8</a:t>
            </a:fld>
            <a:endParaRPr lang="en-US" sz="1200" dirty="0"/>
          </a:p>
        </p:txBody>
      </p:sp>
      <p:sp>
        <p:nvSpPr>
          <p:cNvPr id="187394" name="Slide Image Placeholder 1873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7395" name="Text Placeholder 1873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9</a:t>
            </a:fld>
            <a:endParaRPr lang="en-US" sz="1200" dirty="0"/>
          </a:p>
        </p:txBody>
      </p:sp>
      <p:sp>
        <p:nvSpPr>
          <p:cNvPr id="188418" name="Slide Image Placeholder 1884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8419" name="Text Placeholder 1884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10</a:t>
            </a:fld>
            <a:endParaRPr lang="en-US" sz="1200" dirty="0"/>
          </a:p>
        </p:txBody>
      </p:sp>
      <p:sp>
        <p:nvSpPr>
          <p:cNvPr id="189442" name="Slide Image Placeholder 18944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9443" name="Text Placeholder 18944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C046E-5571-47FD-A6FE-C82F14AFB5A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LUC 6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990" y="2731770"/>
            <a:ext cx="8211012" cy="3309592"/>
          </a:xfrm>
        </p:spPr>
        <p:txBody>
          <a:bodyPr/>
          <a:lstStyle/>
          <a:p>
            <a:pPr marL="0" lvl="1"/>
            <a:r>
              <a:rPr sz="7200" b="1" dirty="0">
                <a:solidFill>
                  <a:srgbClr val="7030A0"/>
                </a:solidFill>
                <a:sym typeface="+mn-ea"/>
              </a:rPr>
              <a:t>payback analysis</a:t>
            </a:r>
            <a:endParaRPr sz="7200" b="1" dirty="0">
              <a:solidFill>
                <a:srgbClr val="7030A0"/>
              </a:solidFill>
            </a:endParaRPr>
          </a:p>
          <a:p>
            <a:endParaRPr lang="en-US" sz="72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0488" tIns="44450" rIns="90488" bIns="44450" anchor="ctr" anchorCtr="0"/>
          <a:lstStyle/>
          <a:p>
            <a:r>
              <a:rPr dirty="0"/>
              <a:t>Payback Analysis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 hasCustomPrompt="1"/>
          </p:nvPr>
        </p:nvSpPr>
        <p:spPr>
          <a:xfrm>
            <a:off x="677545" y="2559685"/>
            <a:ext cx="9547225" cy="3871595"/>
          </a:xfrm>
        </p:spPr>
        <p:txBody>
          <a:bodyPr vert="horz" wrap="square" lIns="90488" tIns="44450" rIns="90488" bIns="44450" anchor="t" anchorCtr="0"/>
          <a:lstStyle/>
          <a:p>
            <a:r>
              <a:rPr sz="4000" dirty="0"/>
              <a:t>determines how long it will take for accrued benefits to overtake accrued and continuing costs</a:t>
            </a:r>
          </a:p>
          <a:p>
            <a:pPr lvl="1"/>
            <a:r>
              <a:rPr sz="3600" dirty="0"/>
              <a:t>most companies want quick payback</a:t>
            </a:r>
          </a:p>
          <a:p>
            <a:pPr lvl="1"/>
            <a:r>
              <a:rPr sz="3600" dirty="0"/>
              <a:t>3-5 years is typical</a:t>
            </a:r>
          </a:p>
        </p:txBody>
      </p:sp>
      <p:grpSp>
        <p:nvGrpSpPr>
          <p:cNvPr id="20484" name="Group 102"/>
          <p:cNvGrpSpPr/>
          <p:nvPr/>
        </p:nvGrpSpPr>
        <p:grpSpPr>
          <a:xfrm>
            <a:off x="4946015" y="415925"/>
            <a:ext cx="4812030" cy="1850390"/>
            <a:chOff x="390" y="261"/>
            <a:chExt cx="1080" cy="808"/>
          </a:xfrm>
        </p:grpSpPr>
        <p:sp>
          <p:nvSpPr>
            <p:cNvPr id="20485" name="Line 4"/>
            <p:cNvSpPr/>
            <p:nvPr/>
          </p:nvSpPr>
          <p:spPr>
            <a:xfrm flipV="1">
              <a:off x="1468" y="403"/>
              <a:ext cx="0" cy="66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6" name="Freeform 5"/>
            <p:cNvSpPr/>
            <p:nvPr/>
          </p:nvSpPr>
          <p:spPr>
            <a:xfrm>
              <a:off x="390" y="264"/>
              <a:ext cx="1080" cy="805"/>
            </a:xfrm>
            <a:custGeom>
              <a:avLst/>
              <a:gdLst>
                <a:gd name="txL" fmla="*/ 0 w 1080"/>
                <a:gd name="txT" fmla="*/ 0 h 805"/>
                <a:gd name="txR" fmla="*/ 1080 w 1080"/>
                <a:gd name="txB" fmla="*/ 805 h 805"/>
              </a:gdLst>
              <a:ahLst/>
              <a:cxnLst>
                <a:cxn ang="0">
                  <a:pos x="0" y="0"/>
                </a:cxn>
                <a:cxn ang="0">
                  <a:pos x="1079" y="0"/>
                </a:cxn>
                <a:cxn ang="0">
                  <a:pos x="1079" y="804"/>
                </a:cxn>
                <a:cxn ang="0">
                  <a:pos x="0" y="804"/>
                </a:cxn>
                <a:cxn ang="0">
                  <a:pos x="0" y="0"/>
                </a:cxn>
              </a:cxnLst>
              <a:rect l="txL" t="txT" r="txR" b="txB"/>
              <a:pathLst>
                <a:path w="1080" h="805">
                  <a:moveTo>
                    <a:pt x="0" y="0"/>
                  </a:moveTo>
                  <a:lnTo>
                    <a:pt x="1079" y="0"/>
                  </a:lnTo>
                  <a:lnTo>
                    <a:pt x="1079" y="804"/>
                  </a:lnTo>
                  <a:lnTo>
                    <a:pt x="0" y="804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487" name="Freeform 6"/>
            <p:cNvSpPr/>
            <p:nvPr/>
          </p:nvSpPr>
          <p:spPr>
            <a:xfrm>
              <a:off x="390" y="403"/>
              <a:ext cx="1080" cy="113"/>
            </a:xfrm>
            <a:custGeom>
              <a:avLst/>
              <a:gdLst>
                <a:gd name="txL" fmla="*/ 0 w 1080"/>
                <a:gd name="txT" fmla="*/ 0 h 113"/>
                <a:gd name="txR" fmla="*/ 1080 w 1080"/>
                <a:gd name="txB" fmla="*/ 113 h 113"/>
              </a:gdLst>
              <a:ahLst/>
              <a:cxnLst>
                <a:cxn ang="0">
                  <a:pos x="0" y="0"/>
                </a:cxn>
                <a:cxn ang="0">
                  <a:pos x="1079" y="0"/>
                </a:cxn>
                <a:cxn ang="0">
                  <a:pos x="1079" y="112"/>
                </a:cxn>
                <a:cxn ang="0">
                  <a:pos x="0" y="112"/>
                </a:cxn>
                <a:cxn ang="0">
                  <a:pos x="0" y="0"/>
                </a:cxn>
              </a:cxnLst>
              <a:rect l="txL" t="txT" r="txR" b="txB"/>
              <a:pathLst>
                <a:path w="1080" h="113">
                  <a:moveTo>
                    <a:pt x="0" y="0"/>
                  </a:moveTo>
                  <a:lnTo>
                    <a:pt x="1079" y="0"/>
                  </a:lnTo>
                  <a:lnTo>
                    <a:pt x="1079" y="112"/>
                  </a:lnTo>
                  <a:lnTo>
                    <a:pt x="0" y="112"/>
                  </a:lnTo>
                  <a:lnTo>
                    <a:pt x="0" y="0"/>
                  </a:lnTo>
                </a:path>
              </a:pathLst>
            </a:custGeom>
            <a:solidFill>
              <a:srgbClr val="E0E0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488" name="Line 7"/>
            <p:cNvSpPr/>
            <p:nvPr/>
          </p:nvSpPr>
          <p:spPr>
            <a:xfrm>
              <a:off x="390" y="737"/>
              <a:ext cx="10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9" name="Line 8"/>
            <p:cNvSpPr/>
            <p:nvPr/>
          </p:nvSpPr>
          <p:spPr>
            <a:xfrm>
              <a:off x="390" y="845"/>
              <a:ext cx="1077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0" name="Line 9"/>
            <p:cNvSpPr/>
            <p:nvPr/>
          </p:nvSpPr>
          <p:spPr>
            <a:xfrm>
              <a:off x="390" y="628"/>
              <a:ext cx="10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1" name="Line 10"/>
            <p:cNvSpPr/>
            <p:nvPr/>
          </p:nvSpPr>
          <p:spPr>
            <a:xfrm>
              <a:off x="390" y="955"/>
              <a:ext cx="10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2" name="Line 11"/>
            <p:cNvSpPr/>
            <p:nvPr/>
          </p:nvSpPr>
          <p:spPr>
            <a:xfrm>
              <a:off x="390" y="518"/>
              <a:ext cx="1079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493" name="Group 14"/>
            <p:cNvGrpSpPr/>
            <p:nvPr/>
          </p:nvGrpSpPr>
          <p:grpSpPr>
            <a:xfrm>
              <a:off x="390" y="394"/>
              <a:ext cx="1079" cy="9"/>
              <a:chOff x="390" y="394"/>
              <a:chExt cx="1079" cy="9"/>
            </a:xfrm>
          </p:grpSpPr>
          <p:sp>
            <p:nvSpPr>
              <p:cNvPr id="20581" name="Line 12"/>
              <p:cNvSpPr/>
              <p:nvPr/>
            </p:nvSpPr>
            <p:spPr>
              <a:xfrm>
                <a:off x="390" y="403"/>
                <a:ext cx="1079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82" name="Line 13"/>
              <p:cNvSpPr/>
              <p:nvPr/>
            </p:nvSpPr>
            <p:spPr>
              <a:xfrm>
                <a:off x="390" y="394"/>
                <a:ext cx="1079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494" name="Line 15"/>
            <p:cNvSpPr/>
            <p:nvPr/>
          </p:nvSpPr>
          <p:spPr>
            <a:xfrm>
              <a:off x="545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5" name="Line 16"/>
            <p:cNvSpPr/>
            <p:nvPr/>
          </p:nvSpPr>
          <p:spPr>
            <a:xfrm>
              <a:off x="853" y="403"/>
              <a:ext cx="0" cy="66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6" name="Line 17"/>
            <p:cNvSpPr/>
            <p:nvPr/>
          </p:nvSpPr>
          <p:spPr>
            <a:xfrm>
              <a:off x="698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7" name="Line 18"/>
            <p:cNvSpPr/>
            <p:nvPr/>
          </p:nvSpPr>
          <p:spPr>
            <a:xfrm>
              <a:off x="1006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8" name="Line 19"/>
            <p:cNvSpPr/>
            <p:nvPr/>
          </p:nvSpPr>
          <p:spPr>
            <a:xfrm>
              <a:off x="1315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9" name="Line 20"/>
            <p:cNvSpPr/>
            <p:nvPr/>
          </p:nvSpPr>
          <p:spPr>
            <a:xfrm>
              <a:off x="1160" y="403"/>
              <a:ext cx="0" cy="6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500" name="Group 25"/>
            <p:cNvGrpSpPr/>
            <p:nvPr/>
          </p:nvGrpSpPr>
          <p:grpSpPr>
            <a:xfrm>
              <a:off x="866" y="523"/>
              <a:ext cx="499" cy="51"/>
              <a:chOff x="866" y="523"/>
              <a:chExt cx="499" cy="51"/>
            </a:xfrm>
          </p:grpSpPr>
          <p:sp>
            <p:nvSpPr>
              <p:cNvPr id="20577" name="Freeform 21"/>
              <p:cNvSpPr/>
              <p:nvPr/>
            </p:nvSpPr>
            <p:spPr>
              <a:xfrm>
                <a:off x="866" y="523"/>
                <a:ext cx="20" cy="51"/>
              </a:xfrm>
              <a:custGeom>
                <a:avLst/>
                <a:gdLst>
                  <a:gd name="txL" fmla="*/ 0 w 20"/>
                  <a:gd name="txT" fmla="*/ 0 h 51"/>
                  <a:gd name="txR" fmla="*/ 20 w 20"/>
                  <a:gd name="txB" fmla="*/ 51 h 51"/>
                </a:gdLst>
                <a:ahLst/>
                <a:cxnLst>
                  <a:cxn ang="0">
                    <a:pos x="7" y="50"/>
                  </a:cxn>
                  <a:cxn ang="0">
                    <a:pos x="19" y="50"/>
                  </a:cxn>
                  <a:cxn ang="0">
                    <a:pos x="19" y="0"/>
                  </a:cxn>
                  <a:cxn ang="0">
                    <a:pos x="2" y="0"/>
                  </a:cxn>
                  <a:cxn ang="0">
                    <a:pos x="0" y="11"/>
                  </a:cxn>
                  <a:cxn ang="0">
                    <a:pos x="7" y="11"/>
                  </a:cxn>
                  <a:cxn ang="0">
                    <a:pos x="7" y="50"/>
                  </a:cxn>
                </a:cxnLst>
                <a:rect l="txL" t="txT" r="txR" b="txB"/>
                <a:pathLst>
                  <a:path w="20" h="51">
                    <a:moveTo>
                      <a:pt x="7" y="50"/>
                    </a:moveTo>
                    <a:lnTo>
                      <a:pt x="19" y="50"/>
                    </a:lnTo>
                    <a:lnTo>
                      <a:pt x="19" y="0"/>
                    </a:lnTo>
                    <a:lnTo>
                      <a:pt x="2" y="0"/>
                    </a:lnTo>
                    <a:lnTo>
                      <a:pt x="0" y="11"/>
                    </a:lnTo>
                    <a:lnTo>
                      <a:pt x="7" y="11"/>
                    </a:lnTo>
                    <a:lnTo>
                      <a:pt x="7" y="5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78" name="Freeform 22"/>
              <p:cNvSpPr/>
              <p:nvPr/>
            </p:nvSpPr>
            <p:spPr>
              <a:xfrm>
                <a:off x="1021" y="523"/>
                <a:ext cx="30" cy="51"/>
              </a:xfrm>
              <a:custGeom>
                <a:avLst/>
                <a:gdLst>
                  <a:gd name="txL" fmla="*/ 0 w 30"/>
                  <a:gd name="txT" fmla="*/ 0 h 51"/>
                  <a:gd name="txR" fmla="*/ 30 w 30"/>
                  <a:gd name="txB" fmla="*/ 51 h 51"/>
                </a:gdLst>
                <a:ahLst/>
                <a:cxnLst>
                  <a:cxn ang="0">
                    <a:pos x="0" y="15"/>
                  </a:cxn>
                  <a:cxn ang="0">
                    <a:pos x="11" y="15"/>
                  </a:cxn>
                  <a:cxn ang="0">
                    <a:pos x="11" y="11"/>
                  </a:cxn>
                  <a:cxn ang="0">
                    <a:pos x="18" y="11"/>
                  </a:cxn>
                  <a:cxn ang="0">
                    <a:pos x="18" y="18"/>
                  </a:cxn>
                  <a:cxn ang="0">
                    <a:pos x="0" y="41"/>
                  </a:cxn>
                  <a:cxn ang="0">
                    <a:pos x="0" y="50"/>
                  </a:cxn>
                  <a:cxn ang="0">
                    <a:pos x="29" y="50"/>
                  </a:cxn>
                  <a:cxn ang="0">
                    <a:pos x="29" y="41"/>
                  </a:cxn>
                  <a:cxn ang="0">
                    <a:pos x="12" y="41"/>
                  </a:cxn>
                  <a:cxn ang="0">
                    <a:pos x="29" y="21"/>
                  </a:cxn>
                  <a:cxn ang="0">
                    <a:pos x="29" y="6"/>
                  </a:cxn>
                  <a:cxn ang="0">
                    <a:pos x="20" y="0"/>
                  </a:cxn>
                  <a:cxn ang="0">
                    <a:pos x="9" y="0"/>
                  </a:cxn>
                  <a:cxn ang="0">
                    <a:pos x="0" y="6"/>
                  </a:cxn>
                  <a:cxn ang="0">
                    <a:pos x="0" y="15"/>
                  </a:cxn>
                </a:cxnLst>
                <a:rect l="txL" t="txT" r="txR" b="txB"/>
                <a:pathLst>
                  <a:path w="30" h="51">
                    <a:moveTo>
                      <a:pt x="0" y="15"/>
                    </a:moveTo>
                    <a:lnTo>
                      <a:pt x="11" y="15"/>
                    </a:lnTo>
                    <a:lnTo>
                      <a:pt x="11" y="11"/>
                    </a:lnTo>
                    <a:lnTo>
                      <a:pt x="18" y="11"/>
                    </a:lnTo>
                    <a:lnTo>
                      <a:pt x="18" y="18"/>
                    </a:lnTo>
                    <a:lnTo>
                      <a:pt x="0" y="41"/>
                    </a:lnTo>
                    <a:lnTo>
                      <a:pt x="0" y="50"/>
                    </a:lnTo>
                    <a:lnTo>
                      <a:pt x="29" y="50"/>
                    </a:lnTo>
                    <a:lnTo>
                      <a:pt x="29" y="41"/>
                    </a:lnTo>
                    <a:lnTo>
                      <a:pt x="12" y="41"/>
                    </a:lnTo>
                    <a:lnTo>
                      <a:pt x="29" y="21"/>
                    </a:lnTo>
                    <a:lnTo>
                      <a:pt x="29" y="6"/>
                    </a:lnTo>
                    <a:lnTo>
                      <a:pt x="20" y="0"/>
                    </a:lnTo>
                    <a:lnTo>
                      <a:pt x="9" y="0"/>
                    </a:lnTo>
                    <a:lnTo>
                      <a:pt x="0" y="6"/>
                    </a:lnTo>
                    <a:lnTo>
                      <a:pt x="0" y="15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79" name="Freeform 23"/>
              <p:cNvSpPr/>
              <p:nvPr/>
            </p:nvSpPr>
            <p:spPr>
              <a:xfrm>
                <a:off x="1175" y="523"/>
                <a:ext cx="31" cy="51"/>
              </a:xfrm>
              <a:custGeom>
                <a:avLst/>
                <a:gdLst>
                  <a:gd name="txL" fmla="*/ 0 w 31"/>
                  <a:gd name="txT" fmla="*/ 0 h 51"/>
                  <a:gd name="txR" fmla="*/ 31 w 31"/>
                  <a:gd name="txB" fmla="*/ 51 h 51"/>
                </a:gdLst>
                <a:ahLst/>
                <a:cxnLst>
                  <a:cxn ang="0">
                    <a:pos x="9" y="0"/>
                  </a:cxn>
                  <a:cxn ang="0">
                    <a:pos x="21" y="0"/>
                  </a:cxn>
                  <a:cxn ang="0">
                    <a:pos x="30" y="6"/>
                  </a:cxn>
                  <a:cxn ang="0">
                    <a:pos x="30" y="21"/>
                  </a:cxn>
                  <a:cxn ang="0">
                    <a:pos x="25" y="26"/>
                  </a:cxn>
                  <a:cxn ang="0">
                    <a:pos x="30" y="30"/>
                  </a:cxn>
                  <a:cxn ang="0">
                    <a:pos x="30" y="44"/>
                  </a:cxn>
                  <a:cxn ang="0">
                    <a:pos x="21" y="50"/>
                  </a:cxn>
                  <a:cxn ang="0">
                    <a:pos x="9" y="50"/>
                  </a:cxn>
                  <a:cxn ang="0">
                    <a:pos x="0" y="44"/>
                  </a:cxn>
                  <a:cxn ang="0">
                    <a:pos x="0" y="36"/>
                  </a:cxn>
                  <a:cxn ang="0">
                    <a:pos x="11" y="36"/>
                  </a:cxn>
                  <a:cxn ang="0">
                    <a:pos x="11" y="41"/>
                  </a:cxn>
                  <a:cxn ang="0">
                    <a:pos x="19" y="41"/>
                  </a:cxn>
                  <a:cxn ang="0">
                    <a:pos x="19" y="30"/>
                  </a:cxn>
                  <a:cxn ang="0">
                    <a:pos x="11" y="30"/>
                  </a:cxn>
                  <a:cxn ang="0">
                    <a:pos x="11" y="21"/>
                  </a:cxn>
                  <a:cxn ang="0">
                    <a:pos x="19" y="21"/>
                  </a:cxn>
                  <a:cxn ang="0">
                    <a:pos x="19" y="9"/>
                  </a:cxn>
                  <a:cxn ang="0">
                    <a:pos x="11" y="9"/>
                  </a:cxn>
                  <a:cxn ang="0">
                    <a:pos x="11" y="14"/>
                  </a:cxn>
                  <a:cxn ang="0">
                    <a:pos x="0" y="14"/>
                  </a:cxn>
                  <a:cxn ang="0">
                    <a:pos x="0" y="6"/>
                  </a:cxn>
                  <a:cxn ang="0">
                    <a:pos x="9" y="0"/>
                  </a:cxn>
                </a:cxnLst>
                <a:rect l="txL" t="txT" r="txR" b="txB"/>
                <a:pathLst>
                  <a:path w="31" h="51">
                    <a:moveTo>
                      <a:pt x="9" y="0"/>
                    </a:moveTo>
                    <a:lnTo>
                      <a:pt x="21" y="0"/>
                    </a:lnTo>
                    <a:lnTo>
                      <a:pt x="30" y="6"/>
                    </a:lnTo>
                    <a:lnTo>
                      <a:pt x="30" y="21"/>
                    </a:lnTo>
                    <a:lnTo>
                      <a:pt x="25" y="26"/>
                    </a:lnTo>
                    <a:lnTo>
                      <a:pt x="30" y="30"/>
                    </a:lnTo>
                    <a:lnTo>
                      <a:pt x="30" y="44"/>
                    </a:lnTo>
                    <a:lnTo>
                      <a:pt x="21" y="50"/>
                    </a:lnTo>
                    <a:lnTo>
                      <a:pt x="9" y="50"/>
                    </a:lnTo>
                    <a:lnTo>
                      <a:pt x="0" y="44"/>
                    </a:lnTo>
                    <a:lnTo>
                      <a:pt x="0" y="36"/>
                    </a:lnTo>
                    <a:lnTo>
                      <a:pt x="11" y="36"/>
                    </a:lnTo>
                    <a:lnTo>
                      <a:pt x="11" y="41"/>
                    </a:lnTo>
                    <a:lnTo>
                      <a:pt x="19" y="41"/>
                    </a:lnTo>
                    <a:lnTo>
                      <a:pt x="19" y="30"/>
                    </a:lnTo>
                    <a:lnTo>
                      <a:pt x="11" y="30"/>
                    </a:lnTo>
                    <a:lnTo>
                      <a:pt x="11" y="21"/>
                    </a:lnTo>
                    <a:lnTo>
                      <a:pt x="19" y="21"/>
                    </a:lnTo>
                    <a:lnTo>
                      <a:pt x="19" y="9"/>
                    </a:lnTo>
                    <a:lnTo>
                      <a:pt x="11" y="9"/>
                    </a:lnTo>
                    <a:lnTo>
                      <a:pt x="11" y="14"/>
                    </a:lnTo>
                    <a:lnTo>
                      <a:pt x="0" y="14"/>
                    </a:lnTo>
                    <a:lnTo>
                      <a:pt x="0" y="6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80" name="Freeform 24"/>
              <p:cNvSpPr/>
              <p:nvPr/>
            </p:nvSpPr>
            <p:spPr>
              <a:xfrm>
                <a:off x="1332" y="523"/>
                <a:ext cx="33" cy="51"/>
              </a:xfrm>
              <a:custGeom>
                <a:avLst/>
                <a:gdLst>
                  <a:gd name="txL" fmla="*/ 0 w 33"/>
                  <a:gd name="txT" fmla="*/ 0 h 51"/>
                  <a:gd name="txR" fmla="*/ 33 w 33"/>
                  <a:gd name="txB" fmla="*/ 51 h 51"/>
                </a:gdLst>
                <a:ahLst/>
                <a:cxnLst>
                  <a:cxn ang="0">
                    <a:pos x="18" y="0"/>
                  </a:cxn>
                  <a:cxn ang="0">
                    <a:pos x="29" y="0"/>
                  </a:cxn>
                  <a:cxn ang="0">
                    <a:pos x="29" y="30"/>
                  </a:cxn>
                  <a:cxn ang="0">
                    <a:pos x="32" y="30"/>
                  </a:cxn>
                  <a:cxn ang="0">
                    <a:pos x="32" y="41"/>
                  </a:cxn>
                  <a:cxn ang="0">
                    <a:pos x="29" y="41"/>
                  </a:cxn>
                  <a:cxn ang="0">
                    <a:pos x="29" y="50"/>
                  </a:cxn>
                  <a:cxn ang="0">
                    <a:pos x="18" y="50"/>
                  </a:cxn>
                  <a:cxn ang="0">
                    <a:pos x="18" y="41"/>
                  </a:cxn>
                  <a:cxn ang="0">
                    <a:pos x="18" y="30"/>
                  </a:cxn>
                  <a:cxn ang="0">
                    <a:pos x="12" y="30"/>
                  </a:cxn>
                  <a:cxn ang="0">
                    <a:pos x="18" y="20"/>
                  </a:cxn>
                  <a:cxn ang="0">
                    <a:pos x="18" y="30"/>
                  </a:cxn>
                  <a:cxn ang="0">
                    <a:pos x="18" y="41"/>
                  </a:cxn>
                  <a:cxn ang="0">
                    <a:pos x="0" y="41"/>
                  </a:cxn>
                  <a:cxn ang="0">
                    <a:pos x="0" y="30"/>
                  </a:cxn>
                  <a:cxn ang="0">
                    <a:pos x="18" y="0"/>
                  </a:cxn>
                </a:cxnLst>
                <a:rect l="txL" t="txT" r="txR" b="txB"/>
                <a:pathLst>
                  <a:path w="33" h="51">
                    <a:moveTo>
                      <a:pt x="18" y="0"/>
                    </a:moveTo>
                    <a:lnTo>
                      <a:pt x="29" y="0"/>
                    </a:lnTo>
                    <a:lnTo>
                      <a:pt x="29" y="30"/>
                    </a:lnTo>
                    <a:lnTo>
                      <a:pt x="32" y="30"/>
                    </a:lnTo>
                    <a:lnTo>
                      <a:pt x="32" y="41"/>
                    </a:lnTo>
                    <a:lnTo>
                      <a:pt x="29" y="41"/>
                    </a:lnTo>
                    <a:lnTo>
                      <a:pt x="29" y="50"/>
                    </a:lnTo>
                    <a:lnTo>
                      <a:pt x="18" y="50"/>
                    </a:lnTo>
                    <a:lnTo>
                      <a:pt x="18" y="41"/>
                    </a:lnTo>
                    <a:lnTo>
                      <a:pt x="18" y="30"/>
                    </a:lnTo>
                    <a:lnTo>
                      <a:pt x="12" y="30"/>
                    </a:lnTo>
                    <a:lnTo>
                      <a:pt x="18" y="20"/>
                    </a:lnTo>
                    <a:lnTo>
                      <a:pt x="18" y="30"/>
                    </a:lnTo>
                    <a:lnTo>
                      <a:pt x="18" y="41"/>
                    </a:lnTo>
                    <a:lnTo>
                      <a:pt x="0" y="41"/>
                    </a:lnTo>
                    <a:lnTo>
                      <a:pt x="0" y="30"/>
                    </a:lnTo>
                    <a:lnTo>
                      <a:pt x="18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0501" name="Group 37"/>
            <p:cNvGrpSpPr/>
            <p:nvPr/>
          </p:nvGrpSpPr>
          <p:grpSpPr>
            <a:xfrm>
              <a:off x="401" y="638"/>
              <a:ext cx="972" cy="51"/>
              <a:chOff x="401" y="638"/>
              <a:chExt cx="972" cy="51"/>
            </a:xfrm>
          </p:grpSpPr>
          <p:sp>
            <p:nvSpPr>
              <p:cNvPr id="20566" name="Freeform 26"/>
              <p:cNvSpPr/>
              <p:nvPr/>
            </p:nvSpPr>
            <p:spPr>
              <a:xfrm>
                <a:off x="401" y="638"/>
                <a:ext cx="33" cy="51"/>
              </a:xfrm>
              <a:custGeom>
                <a:avLst/>
                <a:gdLst>
                  <a:gd name="txL" fmla="*/ 0 w 33"/>
                  <a:gd name="txT" fmla="*/ 0 h 51"/>
                  <a:gd name="txR" fmla="*/ 33 w 33"/>
                  <a:gd name="txB" fmla="*/ 51 h 51"/>
                </a:gdLst>
                <a:ahLst/>
                <a:cxnLst>
                  <a:cxn ang="0">
                    <a:pos x="0" y="0"/>
                  </a:cxn>
                  <a:cxn ang="0">
                    <a:pos x="31" y="0"/>
                  </a:cxn>
                  <a:cxn ang="0">
                    <a:pos x="31" y="10"/>
                  </a:cxn>
                  <a:cxn ang="0">
                    <a:pos x="12" y="10"/>
                  </a:cxn>
                  <a:cxn ang="0">
                    <a:pos x="12" y="18"/>
                  </a:cxn>
                  <a:cxn ang="0">
                    <a:pos x="23" y="18"/>
                  </a:cxn>
                  <a:cxn ang="0">
                    <a:pos x="32" y="25"/>
                  </a:cxn>
                  <a:cxn ang="0">
                    <a:pos x="32" y="43"/>
                  </a:cxn>
                  <a:cxn ang="0">
                    <a:pos x="23" y="50"/>
                  </a:cxn>
                  <a:cxn ang="0">
                    <a:pos x="9" y="50"/>
                  </a:cxn>
                  <a:cxn ang="0">
                    <a:pos x="0" y="43"/>
                  </a:cxn>
                  <a:cxn ang="0">
                    <a:pos x="0" y="33"/>
                  </a:cxn>
                  <a:cxn ang="0">
                    <a:pos x="12" y="33"/>
                  </a:cxn>
                  <a:cxn ang="0">
                    <a:pos x="12" y="42"/>
                  </a:cxn>
                  <a:cxn ang="0">
                    <a:pos x="20" y="42"/>
                  </a:cxn>
                  <a:cxn ang="0">
                    <a:pos x="20" y="26"/>
                  </a:cxn>
                  <a:cxn ang="0">
                    <a:pos x="9" y="26"/>
                  </a:cxn>
                  <a:cxn ang="0">
                    <a:pos x="0" y="19"/>
                  </a:cxn>
                  <a:cxn ang="0">
                    <a:pos x="0" y="0"/>
                  </a:cxn>
                </a:cxnLst>
                <a:rect l="txL" t="txT" r="txR" b="txB"/>
                <a:pathLst>
                  <a:path w="33" h="51">
                    <a:moveTo>
                      <a:pt x="0" y="0"/>
                    </a:moveTo>
                    <a:lnTo>
                      <a:pt x="31" y="0"/>
                    </a:lnTo>
                    <a:lnTo>
                      <a:pt x="31" y="10"/>
                    </a:lnTo>
                    <a:lnTo>
                      <a:pt x="12" y="10"/>
                    </a:lnTo>
                    <a:lnTo>
                      <a:pt x="12" y="18"/>
                    </a:lnTo>
                    <a:lnTo>
                      <a:pt x="23" y="18"/>
                    </a:lnTo>
                    <a:lnTo>
                      <a:pt x="32" y="25"/>
                    </a:lnTo>
                    <a:lnTo>
                      <a:pt x="32" y="43"/>
                    </a:lnTo>
                    <a:lnTo>
                      <a:pt x="23" y="50"/>
                    </a:lnTo>
                    <a:lnTo>
                      <a:pt x="9" y="50"/>
                    </a:lnTo>
                    <a:lnTo>
                      <a:pt x="0" y="43"/>
                    </a:lnTo>
                    <a:lnTo>
                      <a:pt x="0" y="33"/>
                    </a:lnTo>
                    <a:lnTo>
                      <a:pt x="12" y="33"/>
                    </a:lnTo>
                    <a:lnTo>
                      <a:pt x="12" y="42"/>
                    </a:lnTo>
                    <a:lnTo>
                      <a:pt x="20" y="42"/>
                    </a:lnTo>
                    <a:lnTo>
                      <a:pt x="20" y="26"/>
                    </a:lnTo>
                    <a:lnTo>
                      <a:pt x="9" y="26"/>
                    </a:lnTo>
                    <a:lnTo>
                      <a:pt x="0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67" name="Freeform 27"/>
              <p:cNvSpPr/>
              <p:nvPr/>
            </p:nvSpPr>
            <p:spPr>
              <a:xfrm>
                <a:off x="559" y="638"/>
                <a:ext cx="30" cy="51"/>
              </a:xfrm>
              <a:custGeom>
                <a:avLst/>
                <a:gdLst>
                  <a:gd name="txL" fmla="*/ 0 w 30"/>
                  <a:gd name="txT" fmla="*/ 0 h 51"/>
                  <a:gd name="txR" fmla="*/ 30 w 30"/>
                  <a:gd name="txB" fmla="*/ 51 h 51"/>
                </a:gdLst>
                <a:ahLst/>
                <a:cxnLst>
                  <a:cxn ang="0">
                    <a:pos x="9" y="0"/>
                  </a:cxn>
                  <a:cxn ang="0">
                    <a:pos x="20" y="0"/>
                  </a:cxn>
                  <a:cxn ang="0">
                    <a:pos x="29" y="6"/>
                  </a:cxn>
                  <a:cxn ang="0">
                    <a:pos x="29" y="15"/>
                  </a:cxn>
                  <a:cxn ang="0">
                    <a:pos x="19" y="15"/>
                  </a:cxn>
                  <a:cxn ang="0">
                    <a:pos x="19" y="10"/>
                  </a:cxn>
                  <a:cxn ang="0">
                    <a:pos x="12" y="10"/>
                  </a:cxn>
                  <a:cxn ang="0">
                    <a:pos x="12" y="19"/>
                  </a:cxn>
                  <a:cxn ang="0">
                    <a:pos x="12" y="29"/>
                  </a:cxn>
                  <a:cxn ang="0">
                    <a:pos x="19" y="29"/>
                  </a:cxn>
                  <a:cxn ang="0">
                    <a:pos x="19" y="42"/>
                  </a:cxn>
                  <a:cxn ang="0">
                    <a:pos x="12" y="42"/>
                  </a:cxn>
                  <a:cxn ang="0">
                    <a:pos x="12" y="29"/>
                  </a:cxn>
                  <a:cxn ang="0">
                    <a:pos x="12" y="19"/>
                  </a:cxn>
                  <a:cxn ang="0">
                    <a:pos x="20" y="19"/>
                  </a:cxn>
                  <a:cxn ang="0">
                    <a:pos x="29" y="25"/>
                  </a:cxn>
                  <a:cxn ang="0">
                    <a:pos x="29" y="44"/>
                  </a:cxn>
                  <a:cxn ang="0">
                    <a:pos x="20" y="50"/>
                  </a:cxn>
                  <a:cxn ang="0">
                    <a:pos x="9" y="50"/>
                  </a:cxn>
                  <a:cxn ang="0">
                    <a:pos x="0" y="44"/>
                  </a:cxn>
                  <a:cxn ang="0">
                    <a:pos x="0" y="6"/>
                  </a:cxn>
                  <a:cxn ang="0">
                    <a:pos x="9" y="0"/>
                  </a:cxn>
                </a:cxnLst>
                <a:rect l="txL" t="txT" r="txR" b="txB"/>
                <a:pathLst>
                  <a:path w="30" h="51">
                    <a:moveTo>
                      <a:pt x="9" y="0"/>
                    </a:moveTo>
                    <a:lnTo>
                      <a:pt x="20" y="0"/>
                    </a:lnTo>
                    <a:lnTo>
                      <a:pt x="29" y="6"/>
                    </a:lnTo>
                    <a:lnTo>
                      <a:pt x="29" y="15"/>
                    </a:lnTo>
                    <a:lnTo>
                      <a:pt x="19" y="15"/>
                    </a:lnTo>
                    <a:lnTo>
                      <a:pt x="19" y="10"/>
                    </a:lnTo>
                    <a:lnTo>
                      <a:pt x="12" y="10"/>
                    </a:lnTo>
                    <a:lnTo>
                      <a:pt x="12" y="19"/>
                    </a:lnTo>
                    <a:lnTo>
                      <a:pt x="12" y="29"/>
                    </a:lnTo>
                    <a:lnTo>
                      <a:pt x="19" y="29"/>
                    </a:lnTo>
                    <a:lnTo>
                      <a:pt x="19" y="42"/>
                    </a:lnTo>
                    <a:lnTo>
                      <a:pt x="12" y="42"/>
                    </a:lnTo>
                    <a:lnTo>
                      <a:pt x="12" y="29"/>
                    </a:lnTo>
                    <a:lnTo>
                      <a:pt x="12" y="19"/>
                    </a:lnTo>
                    <a:lnTo>
                      <a:pt x="20" y="19"/>
                    </a:lnTo>
                    <a:lnTo>
                      <a:pt x="29" y="25"/>
                    </a:lnTo>
                    <a:lnTo>
                      <a:pt x="29" y="44"/>
                    </a:lnTo>
                    <a:lnTo>
                      <a:pt x="20" y="50"/>
                    </a:lnTo>
                    <a:lnTo>
                      <a:pt x="9" y="50"/>
                    </a:lnTo>
                    <a:lnTo>
                      <a:pt x="0" y="44"/>
                    </a:lnTo>
                    <a:lnTo>
                      <a:pt x="0" y="6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68" name="Freeform 28"/>
              <p:cNvSpPr/>
              <p:nvPr/>
            </p:nvSpPr>
            <p:spPr>
              <a:xfrm>
                <a:off x="711" y="638"/>
                <a:ext cx="31" cy="51"/>
              </a:xfrm>
              <a:custGeom>
                <a:avLst/>
                <a:gdLst>
                  <a:gd name="txL" fmla="*/ 0 w 31"/>
                  <a:gd name="txT" fmla="*/ 0 h 51"/>
                  <a:gd name="txR" fmla="*/ 31 w 31"/>
                  <a:gd name="txB" fmla="*/ 51 h 51"/>
                </a:gdLst>
                <a:ahLst/>
                <a:cxnLst>
                  <a:cxn ang="0">
                    <a:pos x="0" y="0"/>
                  </a:cxn>
                  <a:cxn ang="0">
                    <a:pos x="30" y="0"/>
                  </a:cxn>
                  <a:cxn ang="0">
                    <a:pos x="30" y="10"/>
                  </a:cxn>
                  <a:cxn ang="0">
                    <a:pos x="12" y="50"/>
                  </a:cxn>
                  <a:cxn ang="0">
                    <a:pos x="0" y="50"/>
                  </a:cxn>
                  <a:cxn ang="0">
                    <a:pos x="18" y="10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txL" t="txT" r="txR" b="txB"/>
                <a:pathLst>
                  <a:path w="31" h="51">
                    <a:moveTo>
                      <a:pt x="0" y="0"/>
                    </a:moveTo>
                    <a:lnTo>
                      <a:pt x="30" y="0"/>
                    </a:lnTo>
                    <a:lnTo>
                      <a:pt x="30" y="10"/>
                    </a:lnTo>
                    <a:lnTo>
                      <a:pt x="12" y="50"/>
                    </a:lnTo>
                    <a:lnTo>
                      <a:pt x="0" y="50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69" name="Freeform 29"/>
              <p:cNvSpPr/>
              <p:nvPr/>
            </p:nvSpPr>
            <p:spPr>
              <a:xfrm>
                <a:off x="866" y="638"/>
                <a:ext cx="30" cy="51"/>
              </a:xfrm>
              <a:custGeom>
                <a:avLst/>
                <a:gdLst>
                  <a:gd name="txL" fmla="*/ 0 w 30"/>
                  <a:gd name="txT" fmla="*/ 0 h 51"/>
                  <a:gd name="txR" fmla="*/ 30 w 30"/>
                  <a:gd name="txB" fmla="*/ 51 h 51"/>
                </a:gdLst>
                <a:ahLst/>
                <a:cxnLst>
                  <a:cxn ang="0">
                    <a:pos x="6" y="0"/>
                  </a:cxn>
                  <a:cxn ang="0">
                    <a:pos x="23" y="0"/>
                  </a:cxn>
                  <a:cxn ang="0">
                    <a:pos x="29" y="6"/>
                  </a:cxn>
                  <a:cxn ang="0">
                    <a:pos x="29" y="20"/>
                  </a:cxn>
                  <a:cxn ang="0">
                    <a:pos x="25" y="25"/>
                  </a:cxn>
                  <a:cxn ang="0">
                    <a:pos x="29" y="30"/>
                  </a:cxn>
                  <a:cxn ang="0">
                    <a:pos x="29" y="31"/>
                  </a:cxn>
                  <a:cxn ang="0">
                    <a:pos x="18" y="31"/>
                  </a:cxn>
                  <a:cxn ang="0">
                    <a:pos x="18" y="18"/>
                  </a:cxn>
                  <a:cxn ang="0">
                    <a:pos x="18" y="7"/>
                  </a:cxn>
                  <a:cxn ang="0">
                    <a:pos x="11" y="7"/>
                  </a:cxn>
                  <a:cxn ang="0">
                    <a:pos x="11" y="18"/>
                  </a:cxn>
                  <a:cxn ang="0">
                    <a:pos x="18" y="18"/>
                  </a:cxn>
                  <a:cxn ang="0">
                    <a:pos x="18" y="42"/>
                  </a:cxn>
                  <a:cxn ang="0">
                    <a:pos x="11" y="42"/>
                  </a:cxn>
                  <a:cxn ang="0">
                    <a:pos x="11" y="31"/>
                  </a:cxn>
                  <a:cxn ang="0">
                    <a:pos x="18" y="31"/>
                  </a:cxn>
                  <a:cxn ang="0">
                    <a:pos x="29" y="31"/>
                  </a:cxn>
                  <a:cxn ang="0">
                    <a:pos x="29" y="44"/>
                  </a:cxn>
                  <a:cxn ang="0">
                    <a:pos x="23" y="50"/>
                  </a:cxn>
                  <a:cxn ang="0">
                    <a:pos x="6" y="50"/>
                  </a:cxn>
                  <a:cxn ang="0">
                    <a:pos x="0" y="44"/>
                  </a:cxn>
                  <a:cxn ang="0">
                    <a:pos x="0" y="30"/>
                  </a:cxn>
                  <a:cxn ang="0">
                    <a:pos x="4" y="25"/>
                  </a:cxn>
                  <a:cxn ang="0">
                    <a:pos x="0" y="20"/>
                  </a:cxn>
                  <a:cxn ang="0">
                    <a:pos x="0" y="6"/>
                  </a:cxn>
                  <a:cxn ang="0">
                    <a:pos x="6" y="0"/>
                  </a:cxn>
                </a:cxnLst>
                <a:rect l="txL" t="txT" r="txR" b="txB"/>
                <a:pathLst>
                  <a:path w="30" h="51">
                    <a:moveTo>
                      <a:pt x="6" y="0"/>
                    </a:moveTo>
                    <a:lnTo>
                      <a:pt x="23" y="0"/>
                    </a:lnTo>
                    <a:lnTo>
                      <a:pt x="29" y="6"/>
                    </a:lnTo>
                    <a:lnTo>
                      <a:pt x="29" y="20"/>
                    </a:lnTo>
                    <a:lnTo>
                      <a:pt x="25" y="25"/>
                    </a:lnTo>
                    <a:lnTo>
                      <a:pt x="29" y="30"/>
                    </a:lnTo>
                    <a:lnTo>
                      <a:pt x="29" y="31"/>
                    </a:lnTo>
                    <a:lnTo>
                      <a:pt x="18" y="31"/>
                    </a:lnTo>
                    <a:lnTo>
                      <a:pt x="18" y="18"/>
                    </a:lnTo>
                    <a:lnTo>
                      <a:pt x="18" y="7"/>
                    </a:lnTo>
                    <a:lnTo>
                      <a:pt x="11" y="7"/>
                    </a:lnTo>
                    <a:lnTo>
                      <a:pt x="11" y="18"/>
                    </a:lnTo>
                    <a:lnTo>
                      <a:pt x="18" y="18"/>
                    </a:lnTo>
                    <a:lnTo>
                      <a:pt x="18" y="42"/>
                    </a:lnTo>
                    <a:lnTo>
                      <a:pt x="11" y="42"/>
                    </a:lnTo>
                    <a:lnTo>
                      <a:pt x="11" y="31"/>
                    </a:lnTo>
                    <a:lnTo>
                      <a:pt x="18" y="31"/>
                    </a:lnTo>
                    <a:lnTo>
                      <a:pt x="29" y="31"/>
                    </a:lnTo>
                    <a:lnTo>
                      <a:pt x="29" y="44"/>
                    </a:lnTo>
                    <a:lnTo>
                      <a:pt x="23" y="50"/>
                    </a:lnTo>
                    <a:lnTo>
                      <a:pt x="6" y="50"/>
                    </a:lnTo>
                    <a:lnTo>
                      <a:pt x="0" y="44"/>
                    </a:lnTo>
                    <a:lnTo>
                      <a:pt x="0" y="30"/>
                    </a:lnTo>
                    <a:lnTo>
                      <a:pt x="4" y="25"/>
                    </a:lnTo>
                    <a:lnTo>
                      <a:pt x="0" y="20"/>
                    </a:lnTo>
                    <a:lnTo>
                      <a:pt x="0" y="6"/>
                    </a:lnTo>
                    <a:lnTo>
                      <a:pt x="6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70" name="Freeform 30"/>
              <p:cNvSpPr/>
              <p:nvPr/>
            </p:nvSpPr>
            <p:spPr>
              <a:xfrm>
                <a:off x="1019" y="638"/>
                <a:ext cx="32" cy="51"/>
              </a:xfrm>
              <a:custGeom>
                <a:avLst/>
                <a:gdLst>
                  <a:gd name="txL" fmla="*/ 0 w 32"/>
                  <a:gd name="txT" fmla="*/ 0 h 51"/>
                  <a:gd name="txR" fmla="*/ 32 w 32"/>
                  <a:gd name="txB" fmla="*/ 51 h 51"/>
                </a:gdLst>
                <a:ahLst/>
                <a:cxnLst>
                  <a:cxn ang="0">
                    <a:pos x="22" y="0"/>
                  </a:cxn>
                  <a:cxn ang="0">
                    <a:pos x="31" y="6"/>
                  </a:cxn>
                  <a:cxn ang="0">
                    <a:pos x="31" y="44"/>
                  </a:cxn>
                  <a:cxn ang="0">
                    <a:pos x="22" y="50"/>
                  </a:cxn>
                  <a:cxn ang="0">
                    <a:pos x="10" y="50"/>
                  </a:cxn>
                  <a:cxn ang="0">
                    <a:pos x="0" y="44"/>
                  </a:cxn>
                  <a:cxn ang="0">
                    <a:pos x="0" y="35"/>
                  </a:cxn>
                  <a:cxn ang="0">
                    <a:pos x="12" y="35"/>
                  </a:cxn>
                  <a:cxn ang="0">
                    <a:pos x="12" y="40"/>
                  </a:cxn>
                  <a:cxn ang="0">
                    <a:pos x="19" y="40"/>
                  </a:cxn>
                  <a:cxn ang="0">
                    <a:pos x="19" y="31"/>
                  </a:cxn>
                  <a:cxn ang="0">
                    <a:pos x="19" y="21"/>
                  </a:cxn>
                  <a:cxn ang="0">
                    <a:pos x="12" y="21"/>
                  </a:cxn>
                  <a:cxn ang="0">
                    <a:pos x="12" y="8"/>
                  </a:cxn>
                  <a:cxn ang="0">
                    <a:pos x="19" y="8"/>
                  </a:cxn>
                  <a:cxn ang="0">
                    <a:pos x="19" y="21"/>
                  </a:cxn>
                  <a:cxn ang="0">
                    <a:pos x="19" y="31"/>
                  </a:cxn>
                  <a:cxn ang="0">
                    <a:pos x="10" y="31"/>
                  </a:cxn>
                  <a:cxn ang="0">
                    <a:pos x="0" y="25"/>
                  </a:cxn>
                  <a:cxn ang="0">
                    <a:pos x="0" y="6"/>
                  </a:cxn>
                  <a:cxn ang="0">
                    <a:pos x="10" y="0"/>
                  </a:cxn>
                  <a:cxn ang="0">
                    <a:pos x="22" y="0"/>
                  </a:cxn>
                </a:cxnLst>
                <a:rect l="txL" t="txT" r="txR" b="txB"/>
                <a:pathLst>
                  <a:path w="32" h="51">
                    <a:moveTo>
                      <a:pt x="22" y="0"/>
                    </a:moveTo>
                    <a:lnTo>
                      <a:pt x="31" y="6"/>
                    </a:lnTo>
                    <a:lnTo>
                      <a:pt x="31" y="44"/>
                    </a:lnTo>
                    <a:lnTo>
                      <a:pt x="22" y="50"/>
                    </a:lnTo>
                    <a:lnTo>
                      <a:pt x="10" y="50"/>
                    </a:lnTo>
                    <a:lnTo>
                      <a:pt x="0" y="44"/>
                    </a:lnTo>
                    <a:lnTo>
                      <a:pt x="0" y="35"/>
                    </a:lnTo>
                    <a:lnTo>
                      <a:pt x="12" y="35"/>
                    </a:lnTo>
                    <a:lnTo>
                      <a:pt x="12" y="40"/>
                    </a:lnTo>
                    <a:lnTo>
                      <a:pt x="19" y="40"/>
                    </a:lnTo>
                    <a:lnTo>
                      <a:pt x="19" y="31"/>
                    </a:lnTo>
                    <a:lnTo>
                      <a:pt x="19" y="21"/>
                    </a:lnTo>
                    <a:lnTo>
                      <a:pt x="12" y="21"/>
                    </a:lnTo>
                    <a:lnTo>
                      <a:pt x="12" y="8"/>
                    </a:lnTo>
                    <a:lnTo>
                      <a:pt x="19" y="8"/>
                    </a:lnTo>
                    <a:lnTo>
                      <a:pt x="19" y="21"/>
                    </a:lnTo>
                    <a:lnTo>
                      <a:pt x="19" y="31"/>
                    </a:lnTo>
                    <a:lnTo>
                      <a:pt x="10" y="31"/>
                    </a:lnTo>
                    <a:lnTo>
                      <a:pt x="0" y="25"/>
                    </a:lnTo>
                    <a:lnTo>
                      <a:pt x="0" y="6"/>
                    </a:lnTo>
                    <a:lnTo>
                      <a:pt x="10" y="0"/>
                    </a:lnTo>
                    <a:lnTo>
                      <a:pt x="22" y="0"/>
                    </a:lnTo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txBody>
              <a:bodyPr/>
              <a:lstStyle/>
              <a:p>
                <a:endParaRPr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0571" name="Group 33"/>
              <p:cNvGrpSpPr/>
              <p:nvPr/>
            </p:nvGrpSpPr>
            <p:grpSpPr>
              <a:xfrm>
                <a:off x="1175" y="638"/>
                <a:ext cx="56" cy="51"/>
                <a:chOff x="1175" y="638"/>
                <a:chExt cx="56" cy="51"/>
              </a:xfrm>
            </p:grpSpPr>
            <p:sp>
              <p:nvSpPr>
                <p:cNvPr id="20575" name="Freeform 31"/>
                <p:cNvSpPr/>
                <p:nvPr/>
              </p:nvSpPr>
              <p:spPr>
                <a:xfrm>
                  <a:off x="1200" y="638"/>
                  <a:ext cx="31" cy="51"/>
                </a:xfrm>
                <a:custGeom>
                  <a:avLst/>
                  <a:gdLst>
                    <a:gd name="txL" fmla="*/ 0 w 31"/>
                    <a:gd name="txT" fmla="*/ 0 h 51"/>
                    <a:gd name="txR" fmla="*/ 31 w 31"/>
                    <a:gd name="txB" fmla="*/ 51 h 51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7"/>
                    </a:cxn>
                    <a:cxn ang="0">
                      <a:pos x="30" y="43"/>
                    </a:cxn>
                    <a:cxn ang="0">
                      <a:pos x="21" y="50"/>
                    </a:cxn>
                    <a:cxn ang="0">
                      <a:pos x="9" y="50"/>
                    </a:cxn>
                    <a:cxn ang="0">
                      <a:pos x="0" y="43"/>
                    </a:cxn>
                    <a:cxn ang="0">
                      <a:pos x="0" y="40"/>
                    </a:cxn>
                    <a:cxn ang="0">
                      <a:pos x="12" y="40"/>
                    </a:cxn>
                    <a:cxn ang="0">
                      <a:pos x="12" y="10"/>
                    </a:cxn>
                    <a:cxn ang="0">
                      <a:pos x="18" y="10"/>
                    </a:cxn>
                    <a:cxn ang="0">
                      <a:pos x="18" y="40"/>
                    </a:cxn>
                    <a:cxn ang="0">
                      <a:pos x="12" y="40"/>
                    </a:cxn>
                    <a:cxn ang="0">
                      <a:pos x="0" y="40"/>
                    </a:cxn>
                    <a:cxn ang="0">
                      <a:pos x="0" y="7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1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7"/>
                      </a:lnTo>
                      <a:lnTo>
                        <a:pt x="30" y="43"/>
                      </a:lnTo>
                      <a:lnTo>
                        <a:pt x="21" y="50"/>
                      </a:lnTo>
                      <a:lnTo>
                        <a:pt x="9" y="50"/>
                      </a:lnTo>
                      <a:lnTo>
                        <a:pt x="0" y="43"/>
                      </a:lnTo>
                      <a:lnTo>
                        <a:pt x="0" y="40"/>
                      </a:lnTo>
                      <a:lnTo>
                        <a:pt x="12" y="40"/>
                      </a:lnTo>
                      <a:lnTo>
                        <a:pt x="12" y="10"/>
                      </a:lnTo>
                      <a:lnTo>
                        <a:pt x="18" y="10"/>
                      </a:lnTo>
                      <a:lnTo>
                        <a:pt x="18" y="40"/>
                      </a:lnTo>
                      <a:lnTo>
                        <a:pt x="12" y="40"/>
                      </a:lnTo>
                      <a:lnTo>
                        <a:pt x="0" y="40"/>
                      </a:lnTo>
                      <a:lnTo>
                        <a:pt x="0" y="7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76" name="Freeform 32"/>
                <p:cNvSpPr/>
                <p:nvPr/>
              </p:nvSpPr>
              <p:spPr>
                <a:xfrm>
                  <a:off x="1175" y="638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72" name="Group 36"/>
              <p:cNvGrpSpPr/>
              <p:nvPr/>
            </p:nvGrpSpPr>
            <p:grpSpPr>
              <a:xfrm>
                <a:off x="1330" y="638"/>
                <a:ext cx="43" cy="51"/>
                <a:chOff x="1330" y="638"/>
                <a:chExt cx="43" cy="51"/>
              </a:xfrm>
            </p:grpSpPr>
            <p:sp>
              <p:nvSpPr>
                <p:cNvPr id="20573" name="Freeform 34"/>
                <p:cNvSpPr/>
                <p:nvPr/>
              </p:nvSpPr>
              <p:spPr>
                <a:xfrm>
                  <a:off x="1330" y="638"/>
                  <a:ext cx="17" cy="51"/>
                </a:xfrm>
                <a:custGeom>
                  <a:avLst/>
                  <a:gdLst>
                    <a:gd name="txL" fmla="*/ 0 w 17"/>
                    <a:gd name="txT" fmla="*/ 0 h 51"/>
                    <a:gd name="txR" fmla="*/ 17 w 17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6" y="50"/>
                    </a:cxn>
                    <a:cxn ang="0">
                      <a:pos x="16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7" h="51">
                      <a:moveTo>
                        <a:pt x="6" y="50"/>
                      </a:moveTo>
                      <a:lnTo>
                        <a:pt x="16" y="50"/>
                      </a:lnTo>
                      <a:lnTo>
                        <a:pt x="16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74" name="Freeform 35"/>
                <p:cNvSpPr/>
                <p:nvPr/>
              </p:nvSpPr>
              <p:spPr>
                <a:xfrm>
                  <a:off x="1353" y="638"/>
                  <a:ext cx="20" cy="51"/>
                </a:xfrm>
                <a:custGeom>
                  <a:avLst/>
                  <a:gdLst>
                    <a:gd name="txL" fmla="*/ 0 w 20"/>
                    <a:gd name="txT" fmla="*/ 0 h 51"/>
                    <a:gd name="txR" fmla="*/ 20 w 20"/>
                    <a:gd name="txB" fmla="*/ 51 h 51"/>
                  </a:gdLst>
                  <a:ahLst/>
                  <a:cxnLst>
                    <a:cxn ang="0">
                      <a:pos x="7" y="50"/>
                    </a:cxn>
                    <a:cxn ang="0">
                      <a:pos x="19" y="50"/>
                    </a:cxn>
                    <a:cxn ang="0">
                      <a:pos x="19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7" y="10"/>
                    </a:cxn>
                    <a:cxn ang="0">
                      <a:pos x="7" y="50"/>
                    </a:cxn>
                  </a:cxnLst>
                  <a:rect l="txL" t="txT" r="txR" b="txB"/>
                  <a:pathLst>
                    <a:path w="20" h="51">
                      <a:moveTo>
                        <a:pt x="7" y="50"/>
                      </a:moveTo>
                      <a:lnTo>
                        <a:pt x="19" y="50"/>
                      </a:lnTo>
                      <a:lnTo>
                        <a:pt x="19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502" name="Group 59"/>
            <p:cNvGrpSpPr/>
            <p:nvPr/>
          </p:nvGrpSpPr>
          <p:grpSpPr>
            <a:xfrm>
              <a:off x="400" y="747"/>
              <a:ext cx="982" cy="51"/>
              <a:chOff x="400" y="747"/>
              <a:chExt cx="982" cy="51"/>
            </a:xfrm>
          </p:grpSpPr>
          <p:grpSp>
            <p:nvGrpSpPr>
              <p:cNvPr id="20545" name="Group 40"/>
              <p:cNvGrpSpPr/>
              <p:nvPr/>
            </p:nvGrpSpPr>
            <p:grpSpPr>
              <a:xfrm>
                <a:off x="400" y="747"/>
                <a:ext cx="55" cy="51"/>
                <a:chOff x="400" y="747"/>
                <a:chExt cx="55" cy="51"/>
              </a:xfrm>
            </p:grpSpPr>
            <p:sp>
              <p:nvSpPr>
                <p:cNvPr id="20564" name="Freeform 38"/>
                <p:cNvSpPr/>
                <p:nvPr/>
              </p:nvSpPr>
              <p:spPr>
                <a:xfrm>
                  <a:off x="400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65" name="Freeform 39"/>
                <p:cNvSpPr/>
                <p:nvPr/>
              </p:nvSpPr>
              <p:spPr>
                <a:xfrm>
                  <a:off x="425" y="747"/>
                  <a:ext cx="30" cy="51"/>
                </a:xfrm>
                <a:custGeom>
                  <a:avLst/>
                  <a:gdLst>
                    <a:gd name="txL" fmla="*/ 0 w 30"/>
                    <a:gd name="txT" fmla="*/ 0 h 51"/>
                    <a:gd name="txR" fmla="*/ 30 w 30"/>
                    <a:gd name="txB" fmla="*/ 51 h 51"/>
                  </a:gdLst>
                  <a:ahLst/>
                  <a:cxnLst>
                    <a:cxn ang="0">
                      <a:pos x="0" y="15"/>
                    </a:cxn>
                    <a:cxn ang="0">
                      <a:pos x="11" y="15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50"/>
                    </a:cxn>
                    <a:cxn ang="0">
                      <a:pos x="29" y="50"/>
                    </a:cxn>
                    <a:cxn ang="0">
                      <a:pos x="29" y="41"/>
                    </a:cxn>
                    <a:cxn ang="0">
                      <a:pos x="12" y="41"/>
                    </a:cxn>
                    <a:cxn ang="0">
                      <a:pos x="29" y="20"/>
                    </a:cxn>
                    <a:cxn ang="0">
                      <a:pos x="29" y="6"/>
                    </a:cxn>
                    <a:cxn ang="0">
                      <a:pos x="20" y="0"/>
                    </a:cxn>
                    <a:cxn ang="0">
                      <a:pos x="8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0" h="51">
                      <a:moveTo>
                        <a:pt x="0" y="15"/>
                      </a:moveTo>
                      <a:lnTo>
                        <a:pt x="11" y="15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50"/>
                      </a:lnTo>
                      <a:lnTo>
                        <a:pt x="29" y="50"/>
                      </a:lnTo>
                      <a:lnTo>
                        <a:pt x="29" y="41"/>
                      </a:lnTo>
                      <a:lnTo>
                        <a:pt x="12" y="41"/>
                      </a:lnTo>
                      <a:lnTo>
                        <a:pt x="29" y="20"/>
                      </a:lnTo>
                      <a:lnTo>
                        <a:pt x="29" y="6"/>
                      </a:lnTo>
                      <a:lnTo>
                        <a:pt x="20" y="0"/>
                      </a:lnTo>
                      <a:lnTo>
                        <a:pt x="8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6" name="Group 43"/>
              <p:cNvGrpSpPr/>
              <p:nvPr/>
            </p:nvGrpSpPr>
            <p:grpSpPr>
              <a:xfrm>
                <a:off x="552" y="747"/>
                <a:ext cx="53" cy="51"/>
                <a:chOff x="552" y="747"/>
                <a:chExt cx="53" cy="51"/>
              </a:xfrm>
            </p:grpSpPr>
            <p:sp>
              <p:nvSpPr>
                <p:cNvPr id="20562" name="Freeform 41"/>
                <p:cNvSpPr/>
                <p:nvPr/>
              </p:nvSpPr>
              <p:spPr>
                <a:xfrm>
                  <a:off x="552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63" name="Freeform 42"/>
                <p:cNvSpPr/>
                <p:nvPr/>
              </p:nvSpPr>
              <p:spPr>
                <a:xfrm>
                  <a:off x="575" y="747"/>
                  <a:ext cx="30" cy="51"/>
                </a:xfrm>
                <a:custGeom>
                  <a:avLst/>
                  <a:gdLst>
                    <a:gd name="txL" fmla="*/ 0 w 30"/>
                    <a:gd name="txT" fmla="*/ 0 h 51"/>
                    <a:gd name="txR" fmla="*/ 30 w 30"/>
                    <a:gd name="txB" fmla="*/ 51 h 51"/>
                  </a:gdLst>
                  <a:ahLst/>
                  <a:cxnLst>
                    <a:cxn ang="0">
                      <a:pos x="8" y="0"/>
                    </a:cxn>
                    <a:cxn ang="0">
                      <a:pos x="20" y="0"/>
                    </a:cxn>
                    <a:cxn ang="0">
                      <a:pos x="29" y="6"/>
                    </a:cxn>
                    <a:cxn ang="0">
                      <a:pos x="29" y="20"/>
                    </a:cxn>
                    <a:cxn ang="0">
                      <a:pos x="24" y="25"/>
                    </a:cxn>
                    <a:cxn ang="0">
                      <a:pos x="29" y="30"/>
                    </a:cxn>
                    <a:cxn ang="0">
                      <a:pos x="29" y="44"/>
                    </a:cxn>
                    <a:cxn ang="0">
                      <a:pos x="20" y="50"/>
                    </a:cxn>
                    <a:cxn ang="0">
                      <a:pos x="8" y="50"/>
                    </a:cxn>
                    <a:cxn ang="0">
                      <a:pos x="0" y="44"/>
                    </a:cxn>
                    <a:cxn ang="0">
                      <a:pos x="0" y="36"/>
                    </a:cxn>
                    <a:cxn ang="0">
                      <a:pos x="10" y="36"/>
                    </a:cxn>
                    <a:cxn ang="0">
                      <a:pos x="10" y="41"/>
                    </a:cxn>
                    <a:cxn ang="0">
                      <a:pos x="18" y="41"/>
                    </a:cxn>
                    <a:cxn ang="0">
                      <a:pos x="18" y="30"/>
                    </a:cxn>
                    <a:cxn ang="0">
                      <a:pos x="10" y="30"/>
                    </a:cxn>
                    <a:cxn ang="0">
                      <a:pos x="10" y="20"/>
                    </a:cxn>
                    <a:cxn ang="0">
                      <a:pos x="18" y="20"/>
                    </a:cxn>
                    <a:cxn ang="0">
                      <a:pos x="18" y="9"/>
                    </a:cxn>
                    <a:cxn ang="0">
                      <a:pos x="10" y="9"/>
                    </a:cxn>
                    <a:cxn ang="0">
                      <a:pos x="10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8" y="0"/>
                    </a:cxn>
                  </a:cxnLst>
                  <a:rect l="txL" t="txT" r="txR" b="txB"/>
                  <a:pathLst>
                    <a:path w="30" h="51">
                      <a:moveTo>
                        <a:pt x="8" y="0"/>
                      </a:moveTo>
                      <a:lnTo>
                        <a:pt x="20" y="0"/>
                      </a:lnTo>
                      <a:lnTo>
                        <a:pt x="29" y="6"/>
                      </a:lnTo>
                      <a:lnTo>
                        <a:pt x="29" y="20"/>
                      </a:lnTo>
                      <a:lnTo>
                        <a:pt x="24" y="25"/>
                      </a:lnTo>
                      <a:lnTo>
                        <a:pt x="29" y="30"/>
                      </a:lnTo>
                      <a:lnTo>
                        <a:pt x="29" y="44"/>
                      </a:lnTo>
                      <a:lnTo>
                        <a:pt x="20" y="50"/>
                      </a:lnTo>
                      <a:lnTo>
                        <a:pt x="8" y="50"/>
                      </a:lnTo>
                      <a:lnTo>
                        <a:pt x="0" y="44"/>
                      </a:lnTo>
                      <a:lnTo>
                        <a:pt x="0" y="36"/>
                      </a:lnTo>
                      <a:lnTo>
                        <a:pt x="10" y="36"/>
                      </a:lnTo>
                      <a:lnTo>
                        <a:pt x="10" y="41"/>
                      </a:lnTo>
                      <a:lnTo>
                        <a:pt x="18" y="41"/>
                      </a:lnTo>
                      <a:lnTo>
                        <a:pt x="18" y="30"/>
                      </a:lnTo>
                      <a:lnTo>
                        <a:pt x="10" y="30"/>
                      </a:lnTo>
                      <a:lnTo>
                        <a:pt x="10" y="20"/>
                      </a:lnTo>
                      <a:lnTo>
                        <a:pt x="18" y="20"/>
                      </a:lnTo>
                      <a:lnTo>
                        <a:pt x="18" y="9"/>
                      </a:lnTo>
                      <a:lnTo>
                        <a:pt x="10" y="9"/>
                      </a:lnTo>
                      <a:lnTo>
                        <a:pt x="10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7" name="Group 46"/>
              <p:cNvGrpSpPr/>
              <p:nvPr/>
            </p:nvGrpSpPr>
            <p:grpSpPr>
              <a:xfrm>
                <a:off x="708" y="747"/>
                <a:ext cx="55" cy="51"/>
                <a:chOff x="708" y="747"/>
                <a:chExt cx="55" cy="51"/>
              </a:xfrm>
            </p:grpSpPr>
            <p:sp>
              <p:nvSpPr>
                <p:cNvPr id="20560" name="Freeform 44"/>
                <p:cNvSpPr/>
                <p:nvPr/>
              </p:nvSpPr>
              <p:spPr>
                <a:xfrm>
                  <a:off x="708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61" name="Freeform 45"/>
                <p:cNvSpPr/>
                <p:nvPr/>
              </p:nvSpPr>
              <p:spPr>
                <a:xfrm>
                  <a:off x="727" y="747"/>
                  <a:ext cx="36" cy="51"/>
                </a:xfrm>
                <a:custGeom>
                  <a:avLst/>
                  <a:gdLst>
                    <a:gd name="txL" fmla="*/ 0 w 36"/>
                    <a:gd name="txT" fmla="*/ 0 h 51"/>
                    <a:gd name="txR" fmla="*/ 36 w 36"/>
                    <a:gd name="txB" fmla="*/ 51 h 51"/>
                  </a:gdLst>
                  <a:ahLst/>
                  <a:cxnLst>
                    <a:cxn ang="0">
                      <a:pos x="20" y="0"/>
                    </a:cxn>
                    <a:cxn ang="0">
                      <a:pos x="32" y="0"/>
                    </a:cxn>
                    <a:cxn ang="0">
                      <a:pos x="32" y="30"/>
                    </a:cxn>
                    <a:cxn ang="0">
                      <a:pos x="35" y="30"/>
                    </a:cxn>
                    <a:cxn ang="0">
                      <a:pos x="35" y="41"/>
                    </a:cxn>
                    <a:cxn ang="0">
                      <a:pos x="32" y="41"/>
                    </a:cxn>
                    <a:cxn ang="0">
                      <a:pos x="32" y="50"/>
                    </a:cxn>
                    <a:cxn ang="0">
                      <a:pos x="20" y="50"/>
                    </a:cxn>
                    <a:cxn ang="0">
                      <a:pos x="20" y="41"/>
                    </a:cxn>
                    <a:cxn ang="0">
                      <a:pos x="20" y="30"/>
                    </a:cxn>
                    <a:cxn ang="0">
                      <a:pos x="13" y="30"/>
                    </a:cxn>
                    <a:cxn ang="0">
                      <a:pos x="20" y="19"/>
                    </a:cxn>
                    <a:cxn ang="0">
                      <a:pos x="20" y="30"/>
                    </a:cxn>
                    <a:cxn ang="0">
                      <a:pos x="20" y="41"/>
                    </a:cxn>
                    <a:cxn ang="0">
                      <a:pos x="0" y="41"/>
                    </a:cxn>
                    <a:cxn ang="0">
                      <a:pos x="0" y="30"/>
                    </a:cxn>
                    <a:cxn ang="0">
                      <a:pos x="20" y="0"/>
                    </a:cxn>
                  </a:cxnLst>
                  <a:rect l="txL" t="txT" r="txR" b="txB"/>
                  <a:pathLst>
                    <a:path w="36" h="51">
                      <a:moveTo>
                        <a:pt x="20" y="0"/>
                      </a:moveTo>
                      <a:lnTo>
                        <a:pt x="32" y="0"/>
                      </a:lnTo>
                      <a:lnTo>
                        <a:pt x="32" y="30"/>
                      </a:lnTo>
                      <a:lnTo>
                        <a:pt x="35" y="30"/>
                      </a:lnTo>
                      <a:lnTo>
                        <a:pt x="35" y="41"/>
                      </a:lnTo>
                      <a:lnTo>
                        <a:pt x="32" y="41"/>
                      </a:lnTo>
                      <a:lnTo>
                        <a:pt x="32" y="50"/>
                      </a:lnTo>
                      <a:lnTo>
                        <a:pt x="20" y="50"/>
                      </a:lnTo>
                      <a:lnTo>
                        <a:pt x="20" y="41"/>
                      </a:lnTo>
                      <a:lnTo>
                        <a:pt x="20" y="30"/>
                      </a:lnTo>
                      <a:lnTo>
                        <a:pt x="13" y="30"/>
                      </a:lnTo>
                      <a:lnTo>
                        <a:pt x="20" y="19"/>
                      </a:lnTo>
                      <a:lnTo>
                        <a:pt x="20" y="30"/>
                      </a:lnTo>
                      <a:lnTo>
                        <a:pt x="20" y="41"/>
                      </a:lnTo>
                      <a:lnTo>
                        <a:pt x="0" y="41"/>
                      </a:lnTo>
                      <a:lnTo>
                        <a:pt x="0" y="30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8" name="Group 49"/>
              <p:cNvGrpSpPr/>
              <p:nvPr/>
            </p:nvGrpSpPr>
            <p:grpSpPr>
              <a:xfrm>
                <a:off x="862" y="747"/>
                <a:ext cx="57" cy="51"/>
                <a:chOff x="862" y="747"/>
                <a:chExt cx="57" cy="51"/>
              </a:xfrm>
            </p:grpSpPr>
            <p:sp>
              <p:nvSpPr>
                <p:cNvPr id="20558" name="Freeform 47"/>
                <p:cNvSpPr/>
                <p:nvPr/>
              </p:nvSpPr>
              <p:spPr>
                <a:xfrm>
                  <a:off x="862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9" name="Freeform 48"/>
                <p:cNvSpPr/>
                <p:nvPr/>
              </p:nvSpPr>
              <p:spPr>
                <a:xfrm>
                  <a:off x="886" y="747"/>
                  <a:ext cx="33" cy="51"/>
                </a:xfrm>
                <a:custGeom>
                  <a:avLst/>
                  <a:gdLst>
                    <a:gd name="txL" fmla="*/ 0 w 33"/>
                    <a:gd name="txT" fmla="*/ 0 h 51"/>
                    <a:gd name="txR" fmla="*/ 33 w 33"/>
                    <a:gd name="txB" fmla="*/ 51 h 51"/>
                  </a:gdLst>
                  <a:ahLst/>
                  <a:cxnLst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10"/>
                    </a:cxn>
                    <a:cxn ang="0">
                      <a:pos x="12" y="10"/>
                    </a:cxn>
                    <a:cxn ang="0">
                      <a:pos x="12" y="18"/>
                    </a:cxn>
                    <a:cxn ang="0">
                      <a:pos x="23" y="18"/>
                    </a:cxn>
                    <a:cxn ang="0">
                      <a:pos x="32" y="25"/>
                    </a:cxn>
                    <a:cxn ang="0">
                      <a:pos x="32" y="43"/>
                    </a:cxn>
                    <a:cxn ang="0">
                      <a:pos x="23" y="50"/>
                    </a:cxn>
                    <a:cxn ang="0">
                      <a:pos x="9" y="50"/>
                    </a:cxn>
                    <a:cxn ang="0">
                      <a:pos x="0" y="43"/>
                    </a:cxn>
                    <a:cxn ang="0">
                      <a:pos x="0" y="33"/>
                    </a:cxn>
                    <a:cxn ang="0">
                      <a:pos x="12" y="33"/>
                    </a:cxn>
                    <a:cxn ang="0">
                      <a:pos x="12" y="41"/>
                    </a:cxn>
                    <a:cxn ang="0">
                      <a:pos x="20" y="41"/>
                    </a:cxn>
                    <a:cxn ang="0">
                      <a:pos x="20" y="26"/>
                    </a:cxn>
                    <a:cxn ang="0">
                      <a:pos x="9" y="26"/>
                    </a:cxn>
                    <a:cxn ang="0">
                      <a:pos x="0" y="19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3" h="51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31" y="10"/>
                      </a:lnTo>
                      <a:lnTo>
                        <a:pt x="12" y="10"/>
                      </a:lnTo>
                      <a:lnTo>
                        <a:pt x="12" y="18"/>
                      </a:lnTo>
                      <a:lnTo>
                        <a:pt x="23" y="18"/>
                      </a:lnTo>
                      <a:lnTo>
                        <a:pt x="32" y="25"/>
                      </a:lnTo>
                      <a:lnTo>
                        <a:pt x="32" y="43"/>
                      </a:lnTo>
                      <a:lnTo>
                        <a:pt x="23" y="50"/>
                      </a:lnTo>
                      <a:lnTo>
                        <a:pt x="9" y="50"/>
                      </a:lnTo>
                      <a:lnTo>
                        <a:pt x="0" y="43"/>
                      </a:lnTo>
                      <a:lnTo>
                        <a:pt x="0" y="33"/>
                      </a:lnTo>
                      <a:lnTo>
                        <a:pt x="12" y="33"/>
                      </a:lnTo>
                      <a:lnTo>
                        <a:pt x="12" y="41"/>
                      </a:lnTo>
                      <a:lnTo>
                        <a:pt x="20" y="41"/>
                      </a:lnTo>
                      <a:lnTo>
                        <a:pt x="20" y="26"/>
                      </a:lnTo>
                      <a:lnTo>
                        <a:pt x="9" y="26"/>
                      </a:lnTo>
                      <a:lnTo>
                        <a:pt x="0" y="1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49" name="Group 52"/>
              <p:cNvGrpSpPr/>
              <p:nvPr/>
            </p:nvGrpSpPr>
            <p:grpSpPr>
              <a:xfrm>
                <a:off x="1017" y="747"/>
                <a:ext cx="55" cy="51"/>
                <a:chOff x="1017" y="747"/>
                <a:chExt cx="55" cy="51"/>
              </a:xfrm>
            </p:grpSpPr>
            <p:sp>
              <p:nvSpPr>
                <p:cNvPr id="20556" name="Freeform 50"/>
                <p:cNvSpPr/>
                <p:nvPr/>
              </p:nvSpPr>
              <p:spPr>
                <a:xfrm>
                  <a:off x="1017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7" name="Freeform 51"/>
                <p:cNvSpPr/>
                <p:nvPr/>
              </p:nvSpPr>
              <p:spPr>
                <a:xfrm>
                  <a:off x="1043" y="747"/>
                  <a:ext cx="29" cy="51"/>
                </a:xfrm>
                <a:custGeom>
                  <a:avLst/>
                  <a:gdLst>
                    <a:gd name="txL" fmla="*/ 0 w 29"/>
                    <a:gd name="txT" fmla="*/ 0 h 51"/>
                    <a:gd name="txR" fmla="*/ 29 w 29"/>
                    <a:gd name="txB" fmla="*/ 51 h 51"/>
                  </a:gdLst>
                  <a:ahLst/>
                  <a:cxnLst>
                    <a:cxn ang="0">
                      <a:pos x="9" y="0"/>
                    </a:cxn>
                    <a:cxn ang="0">
                      <a:pos x="19" y="0"/>
                    </a:cxn>
                    <a:cxn ang="0">
                      <a:pos x="28" y="6"/>
                    </a:cxn>
                    <a:cxn ang="0">
                      <a:pos x="28" y="15"/>
                    </a:cxn>
                    <a:cxn ang="0">
                      <a:pos x="17" y="15"/>
                    </a:cxn>
                    <a:cxn ang="0">
                      <a:pos x="17" y="10"/>
                    </a:cxn>
                    <a:cxn ang="0">
                      <a:pos x="11" y="10"/>
                    </a:cxn>
                    <a:cxn ang="0">
                      <a:pos x="11" y="19"/>
                    </a:cxn>
                    <a:cxn ang="0">
                      <a:pos x="11" y="29"/>
                    </a:cxn>
                    <a:cxn ang="0">
                      <a:pos x="17" y="29"/>
                    </a:cxn>
                    <a:cxn ang="0">
                      <a:pos x="17" y="41"/>
                    </a:cxn>
                    <a:cxn ang="0">
                      <a:pos x="11" y="41"/>
                    </a:cxn>
                    <a:cxn ang="0">
                      <a:pos x="11" y="29"/>
                    </a:cxn>
                    <a:cxn ang="0">
                      <a:pos x="11" y="19"/>
                    </a:cxn>
                    <a:cxn ang="0">
                      <a:pos x="19" y="19"/>
                    </a:cxn>
                    <a:cxn ang="0">
                      <a:pos x="28" y="25"/>
                    </a:cxn>
                    <a:cxn ang="0">
                      <a:pos x="28" y="44"/>
                    </a:cxn>
                    <a:cxn ang="0">
                      <a:pos x="19" y="50"/>
                    </a:cxn>
                    <a:cxn ang="0">
                      <a:pos x="9" y="50"/>
                    </a:cxn>
                    <a:cxn ang="0">
                      <a:pos x="0" y="4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29" h="51">
                      <a:moveTo>
                        <a:pt x="9" y="0"/>
                      </a:moveTo>
                      <a:lnTo>
                        <a:pt x="19" y="0"/>
                      </a:lnTo>
                      <a:lnTo>
                        <a:pt x="28" y="6"/>
                      </a:lnTo>
                      <a:lnTo>
                        <a:pt x="28" y="15"/>
                      </a:lnTo>
                      <a:lnTo>
                        <a:pt x="17" y="15"/>
                      </a:lnTo>
                      <a:lnTo>
                        <a:pt x="17" y="10"/>
                      </a:lnTo>
                      <a:lnTo>
                        <a:pt x="11" y="10"/>
                      </a:lnTo>
                      <a:lnTo>
                        <a:pt x="11" y="19"/>
                      </a:lnTo>
                      <a:lnTo>
                        <a:pt x="11" y="29"/>
                      </a:lnTo>
                      <a:lnTo>
                        <a:pt x="17" y="29"/>
                      </a:lnTo>
                      <a:lnTo>
                        <a:pt x="17" y="41"/>
                      </a:lnTo>
                      <a:lnTo>
                        <a:pt x="11" y="41"/>
                      </a:lnTo>
                      <a:lnTo>
                        <a:pt x="11" y="29"/>
                      </a:lnTo>
                      <a:lnTo>
                        <a:pt x="11" y="19"/>
                      </a:lnTo>
                      <a:lnTo>
                        <a:pt x="19" y="19"/>
                      </a:lnTo>
                      <a:lnTo>
                        <a:pt x="28" y="25"/>
                      </a:lnTo>
                      <a:lnTo>
                        <a:pt x="28" y="44"/>
                      </a:lnTo>
                      <a:lnTo>
                        <a:pt x="19" y="50"/>
                      </a:lnTo>
                      <a:lnTo>
                        <a:pt x="9" y="50"/>
                      </a:lnTo>
                      <a:lnTo>
                        <a:pt x="0" y="4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50" name="Group 55"/>
              <p:cNvGrpSpPr/>
              <p:nvPr/>
            </p:nvGrpSpPr>
            <p:grpSpPr>
              <a:xfrm>
                <a:off x="1174" y="747"/>
                <a:ext cx="55" cy="51"/>
                <a:chOff x="1174" y="747"/>
                <a:chExt cx="55" cy="51"/>
              </a:xfrm>
            </p:grpSpPr>
            <p:sp>
              <p:nvSpPr>
                <p:cNvPr id="20554" name="Freeform 53"/>
                <p:cNvSpPr/>
                <p:nvPr/>
              </p:nvSpPr>
              <p:spPr>
                <a:xfrm>
                  <a:off x="1174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6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50"/>
                    </a:cxn>
                  </a:cxnLst>
                  <a:rect l="txL" t="txT" r="txR" b="txB"/>
                  <a:pathLst>
                    <a:path w="19" h="51">
                      <a:moveTo>
                        <a:pt x="6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5" name="Freeform 54"/>
                <p:cNvSpPr/>
                <p:nvPr/>
              </p:nvSpPr>
              <p:spPr>
                <a:xfrm>
                  <a:off x="1197" y="747"/>
                  <a:ext cx="32" cy="51"/>
                </a:xfrm>
                <a:custGeom>
                  <a:avLst/>
                  <a:gdLst>
                    <a:gd name="txL" fmla="*/ 0 w 32"/>
                    <a:gd name="txT" fmla="*/ 0 h 51"/>
                    <a:gd name="txR" fmla="*/ 32 w 32"/>
                    <a:gd name="txB" fmla="*/ 51 h 51"/>
                  </a:gdLst>
                  <a:ahLst/>
                  <a:cxnLst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10"/>
                    </a:cxn>
                    <a:cxn ang="0">
                      <a:pos x="13" y="50"/>
                    </a:cxn>
                    <a:cxn ang="0">
                      <a:pos x="0" y="50"/>
                    </a:cxn>
                    <a:cxn ang="0">
                      <a:pos x="18" y="10"/>
                    </a:cxn>
                    <a:cxn ang="0">
                      <a:pos x="0" y="1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2" h="51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31" y="10"/>
                      </a:lnTo>
                      <a:lnTo>
                        <a:pt x="13" y="50"/>
                      </a:lnTo>
                      <a:lnTo>
                        <a:pt x="0" y="50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51" name="Group 58"/>
              <p:cNvGrpSpPr/>
              <p:nvPr/>
            </p:nvGrpSpPr>
            <p:grpSpPr>
              <a:xfrm>
                <a:off x="1328" y="747"/>
                <a:ext cx="54" cy="51"/>
                <a:chOff x="1328" y="747"/>
                <a:chExt cx="54" cy="51"/>
              </a:xfrm>
            </p:grpSpPr>
            <p:sp>
              <p:nvSpPr>
                <p:cNvPr id="20552" name="Freeform 56"/>
                <p:cNvSpPr/>
                <p:nvPr/>
              </p:nvSpPr>
              <p:spPr>
                <a:xfrm>
                  <a:off x="1328" y="747"/>
                  <a:ext cx="19" cy="51"/>
                </a:xfrm>
                <a:custGeom>
                  <a:avLst/>
                  <a:gdLst>
                    <a:gd name="txL" fmla="*/ 0 w 19"/>
                    <a:gd name="txT" fmla="*/ 0 h 51"/>
                    <a:gd name="txR" fmla="*/ 19 w 19"/>
                    <a:gd name="txB" fmla="*/ 51 h 51"/>
                  </a:gdLst>
                  <a:ahLst/>
                  <a:cxnLst>
                    <a:cxn ang="0">
                      <a:pos x="7" y="50"/>
                    </a:cxn>
                    <a:cxn ang="0">
                      <a:pos x="18" y="50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7" y="10"/>
                    </a:cxn>
                    <a:cxn ang="0">
                      <a:pos x="7" y="50"/>
                    </a:cxn>
                  </a:cxnLst>
                  <a:rect l="txL" t="txT" r="txR" b="txB"/>
                  <a:pathLst>
                    <a:path w="19" h="51">
                      <a:moveTo>
                        <a:pt x="7" y="50"/>
                      </a:moveTo>
                      <a:lnTo>
                        <a:pt x="18" y="50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7" y="10"/>
                      </a:lnTo>
                      <a:lnTo>
                        <a:pt x="7" y="5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53" name="Freeform 57"/>
                <p:cNvSpPr/>
                <p:nvPr/>
              </p:nvSpPr>
              <p:spPr>
                <a:xfrm>
                  <a:off x="1351" y="747"/>
                  <a:ext cx="31" cy="51"/>
                </a:xfrm>
                <a:custGeom>
                  <a:avLst/>
                  <a:gdLst>
                    <a:gd name="txL" fmla="*/ 0 w 31"/>
                    <a:gd name="txT" fmla="*/ 0 h 51"/>
                    <a:gd name="txR" fmla="*/ 31 w 31"/>
                    <a:gd name="txB" fmla="*/ 51 h 51"/>
                  </a:gdLst>
                  <a:ahLst/>
                  <a:cxnLst>
                    <a:cxn ang="0">
                      <a:pos x="7" y="0"/>
                    </a:cxn>
                    <a:cxn ang="0">
                      <a:pos x="23" y="0"/>
                    </a:cxn>
                    <a:cxn ang="0">
                      <a:pos x="30" y="6"/>
                    </a:cxn>
                    <a:cxn ang="0">
                      <a:pos x="30" y="20"/>
                    </a:cxn>
                    <a:cxn ang="0">
                      <a:pos x="26" y="25"/>
                    </a:cxn>
                    <a:cxn ang="0">
                      <a:pos x="30" y="30"/>
                    </a:cxn>
                    <a:cxn ang="0">
                      <a:pos x="30" y="31"/>
                    </a:cxn>
                    <a:cxn ang="0">
                      <a:pos x="18" y="31"/>
                    </a:cxn>
                    <a:cxn ang="0">
                      <a:pos x="18" y="18"/>
                    </a:cxn>
                    <a:cxn ang="0">
                      <a:pos x="18" y="7"/>
                    </a:cxn>
                    <a:cxn ang="0">
                      <a:pos x="12" y="7"/>
                    </a:cxn>
                    <a:cxn ang="0">
                      <a:pos x="12" y="18"/>
                    </a:cxn>
                    <a:cxn ang="0">
                      <a:pos x="18" y="18"/>
                    </a:cxn>
                    <a:cxn ang="0">
                      <a:pos x="18" y="42"/>
                    </a:cxn>
                    <a:cxn ang="0">
                      <a:pos x="12" y="42"/>
                    </a:cxn>
                    <a:cxn ang="0">
                      <a:pos x="12" y="31"/>
                    </a:cxn>
                    <a:cxn ang="0">
                      <a:pos x="18" y="31"/>
                    </a:cxn>
                    <a:cxn ang="0">
                      <a:pos x="30" y="31"/>
                    </a:cxn>
                    <a:cxn ang="0">
                      <a:pos x="30" y="44"/>
                    </a:cxn>
                    <a:cxn ang="0">
                      <a:pos x="23" y="50"/>
                    </a:cxn>
                    <a:cxn ang="0">
                      <a:pos x="7" y="50"/>
                    </a:cxn>
                    <a:cxn ang="0">
                      <a:pos x="0" y="44"/>
                    </a:cxn>
                    <a:cxn ang="0">
                      <a:pos x="0" y="30"/>
                    </a:cxn>
                    <a:cxn ang="0">
                      <a:pos x="4" y="25"/>
                    </a:cxn>
                    <a:cxn ang="0">
                      <a:pos x="0" y="20"/>
                    </a:cxn>
                    <a:cxn ang="0">
                      <a:pos x="0" y="6"/>
                    </a:cxn>
                    <a:cxn ang="0">
                      <a:pos x="7" y="0"/>
                    </a:cxn>
                  </a:cxnLst>
                  <a:rect l="txL" t="txT" r="txR" b="txB"/>
                  <a:pathLst>
                    <a:path w="31" h="51">
                      <a:moveTo>
                        <a:pt x="7" y="0"/>
                      </a:moveTo>
                      <a:lnTo>
                        <a:pt x="23" y="0"/>
                      </a:lnTo>
                      <a:lnTo>
                        <a:pt x="30" y="6"/>
                      </a:lnTo>
                      <a:lnTo>
                        <a:pt x="30" y="20"/>
                      </a:lnTo>
                      <a:lnTo>
                        <a:pt x="26" y="25"/>
                      </a:lnTo>
                      <a:lnTo>
                        <a:pt x="30" y="30"/>
                      </a:lnTo>
                      <a:lnTo>
                        <a:pt x="30" y="31"/>
                      </a:lnTo>
                      <a:lnTo>
                        <a:pt x="18" y="31"/>
                      </a:lnTo>
                      <a:lnTo>
                        <a:pt x="18" y="18"/>
                      </a:lnTo>
                      <a:lnTo>
                        <a:pt x="18" y="7"/>
                      </a:lnTo>
                      <a:lnTo>
                        <a:pt x="12" y="7"/>
                      </a:lnTo>
                      <a:lnTo>
                        <a:pt x="12" y="18"/>
                      </a:lnTo>
                      <a:lnTo>
                        <a:pt x="18" y="18"/>
                      </a:lnTo>
                      <a:lnTo>
                        <a:pt x="18" y="42"/>
                      </a:lnTo>
                      <a:lnTo>
                        <a:pt x="12" y="42"/>
                      </a:lnTo>
                      <a:lnTo>
                        <a:pt x="12" y="31"/>
                      </a:lnTo>
                      <a:lnTo>
                        <a:pt x="18" y="31"/>
                      </a:lnTo>
                      <a:lnTo>
                        <a:pt x="30" y="31"/>
                      </a:lnTo>
                      <a:lnTo>
                        <a:pt x="30" y="44"/>
                      </a:lnTo>
                      <a:lnTo>
                        <a:pt x="23" y="50"/>
                      </a:lnTo>
                      <a:lnTo>
                        <a:pt x="7" y="50"/>
                      </a:lnTo>
                      <a:lnTo>
                        <a:pt x="0" y="44"/>
                      </a:lnTo>
                      <a:lnTo>
                        <a:pt x="0" y="30"/>
                      </a:lnTo>
                      <a:lnTo>
                        <a:pt x="4" y="25"/>
                      </a:lnTo>
                      <a:lnTo>
                        <a:pt x="0" y="20"/>
                      </a:lnTo>
                      <a:lnTo>
                        <a:pt x="0" y="6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503" name="Group 81"/>
            <p:cNvGrpSpPr/>
            <p:nvPr/>
          </p:nvGrpSpPr>
          <p:grpSpPr>
            <a:xfrm>
              <a:off x="401" y="854"/>
              <a:ext cx="990" cy="53"/>
              <a:chOff x="401" y="854"/>
              <a:chExt cx="990" cy="53"/>
            </a:xfrm>
          </p:grpSpPr>
          <p:grpSp>
            <p:nvGrpSpPr>
              <p:cNvPr id="20524" name="Group 62"/>
              <p:cNvGrpSpPr/>
              <p:nvPr/>
            </p:nvGrpSpPr>
            <p:grpSpPr>
              <a:xfrm>
                <a:off x="401" y="854"/>
                <a:ext cx="57" cy="53"/>
                <a:chOff x="401" y="854"/>
                <a:chExt cx="57" cy="53"/>
              </a:xfrm>
            </p:grpSpPr>
            <p:sp>
              <p:nvSpPr>
                <p:cNvPr id="20543" name="Freeform 60"/>
                <p:cNvSpPr/>
                <p:nvPr/>
              </p:nvSpPr>
              <p:spPr>
                <a:xfrm>
                  <a:off x="401" y="854"/>
                  <a:ext cx="19" cy="53"/>
                </a:xfrm>
                <a:custGeom>
                  <a:avLst/>
                  <a:gdLst>
                    <a:gd name="txL" fmla="*/ 0 w 19"/>
                    <a:gd name="txT" fmla="*/ 0 h 53"/>
                    <a:gd name="txR" fmla="*/ 19 w 19"/>
                    <a:gd name="txB" fmla="*/ 53 h 53"/>
                  </a:gdLst>
                  <a:ahLst/>
                  <a:cxnLst>
                    <a:cxn ang="0">
                      <a:pos x="6" y="52"/>
                    </a:cxn>
                    <a:cxn ang="0">
                      <a:pos x="18" y="52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1"/>
                    </a:cxn>
                    <a:cxn ang="0">
                      <a:pos x="6" y="11"/>
                    </a:cxn>
                    <a:cxn ang="0">
                      <a:pos x="6" y="52"/>
                    </a:cxn>
                  </a:cxnLst>
                  <a:rect l="txL" t="txT" r="txR" b="txB"/>
                  <a:pathLst>
                    <a:path w="19" h="53">
                      <a:moveTo>
                        <a:pt x="6" y="52"/>
                      </a:moveTo>
                      <a:lnTo>
                        <a:pt x="18" y="52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1"/>
                      </a:lnTo>
                      <a:lnTo>
                        <a:pt x="6" y="11"/>
                      </a:lnTo>
                      <a:lnTo>
                        <a:pt x="6" y="52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44" name="Freeform 61"/>
                <p:cNvSpPr/>
                <p:nvPr/>
              </p:nvSpPr>
              <p:spPr>
                <a:xfrm>
                  <a:off x="428" y="854"/>
                  <a:ext cx="30" cy="53"/>
                </a:xfrm>
                <a:custGeom>
                  <a:avLst/>
                  <a:gdLst>
                    <a:gd name="txL" fmla="*/ 0 w 30"/>
                    <a:gd name="txT" fmla="*/ 0 h 53"/>
                    <a:gd name="txR" fmla="*/ 30 w 30"/>
                    <a:gd name="txB" fmla="*/ 53 h 53"/>
                  </a:gdLst>
                  <a:ahLst/>
                  <a:cxnLst>
                    <a:cxn ang="0">
                      <a:pos x="20" y="0"/>
                    </a:cxn>
                    <a:cxn ang="0">
                      <a:pos x="29" y="6"/>
                    </a:cxn>
                    <a:cxn ang="0">
                      <a:pos x="29" y="46"/>
                    </a:cxn>
                    <a:cxn ang="0">
                      <a:pos x="20" y="52"/>
                    </a:cxn>
                    <a:cxn ang="0">
                      <a:pos x="9" y="52"/>
                    </a:cxn>
                    <a:cxn ang="0">
                      <a:pos x="0" y="46"/>
                    </a:cxn>
                    <a:cxn ang="0">
                      <a:pos x="0" y="36"/>
                    </a:cxn>
                    <a:cxn ang="0">
                      <a:pos x="12" y="36"/>
                    </a:cxn>
                    <a:cxn ang="0">
                      <a:pos x="12" y="42"/>
                    </a:cxn>
                    <a:cxn ang="0">
                      <a:pos x="17" y="42"/>
                    </a:cxn>
                    <a:cxn ang="0">
                      <a:pos x="17" y="33"/>
                    </a:cxn>
                    <a:cxn ang="0">
                      <a:pos x="17" y="22"/>
                    </a:cxn>
                    <a:cxn ang="0">
                      <a:pos x="12" y="22"/>
                    </a:cxn>
                    <a:cxn ang="0">
                      <a:pos x="12" y="9"/>
                    </a:cxn>
                    <a:cxn ang="0">
                      <a:pos x="17" y="9"/>
                    </a:cxn>
                    <a:cxn ang="0">
                      <a:pos x="17" y="22"/>
                    </a:cxn>
                    <a:cxn ang="0">
                      <a:pos x="17" y="33"/>
                    </a:cxn>
                    <a:cxn ang="0">
                      <a:pos x="9" y="33"/>
                    </a:cxn>
                    <a:cxn ang="0">
                      <a:pos x="0" y="26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20" y="0"/>
                    </a:cxn>
                  </a:cxnLst>
                  <a:rect l="txL" t="txT" r="txR" b="txB"/>
                  <a:pathLst>
                    <a:path w="30" h="53">
                      <a:moveTo>
                        <a:pt x="20" y="0"/>
                      </a:moveTo>
                      <a:lnTo>
                        <a:pt x="29" y="6"/>
                      </a:lnTo>
                      <a:lnTo>
                        <a:pt x="29" y="46"/>
                      </a:lnTo>
                      <a:lnTo>
                        <a:pt x="20" y="52"/>
                      </a:lnTo>
                      <a:lnTo>
                        <a:pt x="9" y="52"/>
                      </a:lnTo>
                      <a:lnTo>
                        <a:pt x="0" y="46"/>
                      </a:lnTo>
                      <a:lnTo>
                        <a:pt x="0" y="36"/>
                      </a:lnTo>
                      <a:lnTo>
                        <a:pt x="12" y="36"/>
                      </a:lnTo>
                      <a:lnTo>
                        <a:pt x="12" y="42"/>
                      </a:lnTo>
                      <a:lnTo>
                        <a:pt x="17" y="42"/>
                      </a:lnTo>
                      <a:lnTo>
                        <a:pt x="17" y="33"/>
                      </a:lnTo>
                      <a:lnTo>
                        <a:pt x="17" y="22"/>
                      </a:lnTo>
                      <a:lnTo>
                        <a:pt x="12" y="22"/>
                      </a:lnTo>
                      <a:lnTo>
                        <a:pt x="12" y="9"/>
                      </a:lnTo>
                      <a:lnTo>
                        <a:pt x="17" y="9"/>
                      </a:lnTo>
                      <a:lnTo>
                        <a:pt x="17" y="22"/>
                      </a:lnTo>
                      <a:lnTo>
                        <a:pt x="17" y="33"/>
                      </a:lnTo>
                      <a:lnTo>
                        <a:pt x="9" y="33"/>
                      </a:lnTo>
                      <a:lnTo>
                        <a:pt x="0" y="26"/>
                      </a:ln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5" name="Group 65"/>
              <p:cNvGrpSpPr/>
              <p:nvPr/>
            </p:nvGrpSpPr>
            <p:grpSpPr>
              <a:xfrm>
                <a:off x="559" y="854"/>
                <a:ext cx="62" cy="53"/>
                <a:chOff x="559" y="854"/>
                <a:chExt cx="62" cy="53"/>
              </a:xfrm>
            </p:grpSpPr>
            <p:sp>
              <p:nvSpPr>
                <p:cNvPr id="20541" name="Freeform 63"/>
                <p:cNvSpPr/>
                <p:nvPr/>
              </p:nvSpPr>
              <p:spPr>
                <a:xfrm>
                  <a:off x="559" y="854"/>
                  <a:ext cx="29" cy="53"/>
                </a:xfrm>
                <a:custGeom>
                  <a:avLst/>
                  <a:gdLst>
                    <a:gd name="txL" fmla="*/ 0 w 29"/>
                    <a:gd name="txT" fmla="*/ 0 h 53"/>
                    <a:gd name="txR" fmla="*/ 29 w 29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8" y="52"/>
                    </a:cxn>
                    <a:cxn ang="0">
                      <a:pos x="28" y="43"/>
                    </a:cxn>
                    <a:cxn ang="0">
                      <a:pos x="13" y="43"/>
                    </a:cxn>
                    <a:cxn ang="0">
                      <a:pos x="28" y="21"/>
                    </a:cxn>
                    <a:cxn ang="0">
                      <a:pos x="28" y="6"/>
                    </a:cxn>
                    <a:cxn ang="0">
                      <a:pos x="20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29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8" y="52"/>
                      </a:lnTo>
                      <a:lnTo>
                        <a:pt x="28" y="43"/>
                      </a:lnTo>
                      <a:lnTo>
                        <a:pt x="13" y="43"/>
                      </a:lnTo>
                      <a:lnTo>
                        <a:pt x="28" y="21"/>
                      </a:lnTo>
                      <a:lnTo>
                        <a:pt x="28" y="6"/>
                      </a:lnTo>
                      <a:lnTo>
                        <a:pt x="20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42" name="Freeform 64"/>
                <p:cNvSpPr/>
                <p:nvPr/>
              </p:nvSpPr>
              <p:spPr>
                <a:xfrm>
                  <a:off x="592" y="854"/>
                  <a:ext cx="29" cy="53"/>
                </a:xfrm>
                <a:custGeom>
                  <a:avLst/>
                  <a:gdLst>
                    <a:gd name="txL" fmla="*/ 0 w 29"/>
                    <a:gd name="txT" fmla="*/ 0 h 53"/>
                    <a:gd name="txR" fmla="*/ 29 w 29"/>
                    <a:gd name="txB" fmla="*/ 53 h 53"/>
                  </a:gdLst>
                  <a:ahLst/>
                  <a:cxnLst>
                    <a:cxn ang="0">
                      <a:pos x="9" y="0"/>
                    </a:cxn>
                    <a:cxn ang="0">
                      <a:pos x="20" y="0"/>
                    </a:cxn>
                    <a:cxn ang="0">
                      <a:pos x="28" y="8"/>
                    </a:cxn>
                    <a:cxn ang="0">
                      <a:pos x="28" y="44"/>
                    </a:cxn>
                    <a:cxn ang="0">
                      <a:pos x="20" y="52"/>
                    </a:cxn>
                    <a:cxn ang="0">
                      <a:pos x="9" y="52"/>
                    </a:cxn>
                    <a:cxn ang="0">
                      <a:pos x="0" y="44"/>
                    </a:cxn>
                    <a:cxn ang="0">
                      <a:pos x="0" y="42"/>
                    </a:cxn>
                    <a:cxn ang="0">
                      <a:pos x="11" y="42"/>
                    </a:cxn>
                    <a:cxn ang="0">
                      <a:pos x="11" y="11"/>
                    </a:cxn>
                    <a:cxn ang="0">
                      <a:pos x="17" y="11"/>
                    </a:cxn>
                    <a:cxn ang="0">
                      <a:pos x="17" y="42"/>
                    </a:cxn>
                    <a:cxn ang="0">
                      <a:pos x="11" y="42"/>
                    </a:cxn>
                    <a:cxn ang="0">
                      <a:pos x="0" y="42"/>
                    </a:cxn>
                    <a:cxn ang="0">
                      <a:pos x="0" y="8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29" h="53">
                      <a:moveTo>
                        <a:pt x="9" y="0"/>
                      </a:moveTo>
                      <a:lnTo>
                        <a:pt x="20" y="0"/>
                      </a:lnTo>
                      <a:lnTo>
                        <a:pt x="28" y="8"/>
                      </a:lnTo>
                      <a:lnTo>
                        <a:pt x="28" y="44"/>
                      </a:lnTo>
                      <a:lnTo>
                        <a:pt x="20" y="52"/>
                      </a:lnTo>
                      <a:lnTo>
                        <a:pt x="9" y="52"/>
                      </a:lnTo>
                      <a:lnTo>
                        <a:pt x="0" y="44"/>
                      </a:lnTo>
                      <a:lnTo>
                        <a:pt x="0" y="42"/>
                      </a:lnTo>
                      <a:lnTo>
                        <a:pt x="11" y="42"/>
                      </a:lnTo>
                      <a:lnTo>
                        <a:pt x="11" y="11"/>
                      </a:lnTo>
                      <a:lnTo>
                        <a:pt x="17" y="11"/>
                      </a:lnTo>
                      <a:lnTo>
                        <a:pt x="17" y="42"/>
                      </a:lnTo>
                      <a:lnTo>
                        <a:pt x="11" y="42"/>
                      </a:lnTo>
                      <a:lnTo>
                        <a:pt x="0" y="42"/>
                      </a:lnTo>
                      <a:lnTo>
                        <a:pt x="0" y="8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6" name="Group 68"/>
              <p:cNvGrpSpPr/>
              <p:nvPr/>
            </p:nvGrpSpPr>
            <p:grpSpPr>
              <a:xfrm>
                <a:off x="710" y="854"/>
                <a:ext cx="53" cy="53"/>
                <a:chOff x="710" y="854"/>
                <a:chExt cx="53" cy="53"/>
              </a:xfrm>
            </p:grpSpPr>
            <p:sp>
              <p:nvSpPr>
                <p:cNvPr id="20539" name="Freeform 66"/>
                <p:cNvSpPr/>
                <p:nvPr/>
              </p:nvSpPr>
              <p:spPr>
                <a:xfrm>
                  <a:off x="710" y="854"/>
                  <a:ext cx="30" cy="53"/>
                </a:xfrm>
                <a:custGeom>
                  <a:avLst/>
                  <a:gdLst>
                    <a:gd name="txL" fmla="*/ 0 w 30"/>
                    <a:gd name="txT" fmla="*/ 0 h 53"/>
                    <a:gd name="txR" fmla="*/ 30 w 30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9" y="52"/>
                    </a:cxn>
                    <a:cxn ang="0">
                      <a:pos x="29" y="43"/>
                    </a:cxn>
                    <a:cxn ang="0">
                      <a:pos x="12" y="43"/>
                    </a:cxn>
                    <a:cxn ang="0">
                      <a:pos x="29" y="21"/>
                    </a:cxn>
                    <a:cxn ang="0">
                      <a:pos x="29" y="6"/>
                    </a:cxn>
                    <a:cxn ang="0">
                      <a:pos x="20" y="0"/>
                    </a:cxn>
                    <a:cxn ang="0">
                      <a:pos x="8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0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9" y="52"/>
                      </a:lnTo>
                      <a:lnTo>
                        <a:pt x="29" y="43"/>
                      </a:lnTo>
                      <a:lnTo>
                        <a:pt x="12" y="43"/>
                      </a:lnTo>
                      <a:lnTo>
                        <a:pt x="29" y="21"/>
                      </a:lnTo>
                      <a:lnTo>
                        <a:pt x="29" y="6"/>
                      </a:lnTo>
                      <a:lnTo>
                        <a:pt x="20" y="0"/>
                      </a:lnTo>
                      <a:lnTo>
                        <a:pt x="8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40" name="Freeform 67"/>
                <p:cNvSpPr/>
                <p:nvPr/>
              </p:nvSpPr>
              <p:spPr>
                <a:xfrm>
                  <a:off x="744" y="854"/>
                  <a:ext cx="19" cy="53"/>
                </a:xfrm>
                <a:custGeom>
                  <a:avLst/>
                  <a:gdLst>
                    <a:gd name="txL" fmla="*/ 0 w 19"/>
                    <a:gd name="txT" fmla="*/ 0 h 53"/>
                    <a:gd name="txR" fmla="*/ 19 w 19"/>
                    <a:gd name="txB" fmla="*/ 53 h 53"/>
                  </a:gdLst>
                  <a:ahLst/>
                  <a:cxnLst>
                    <a:cxn ang="0">
                      <a:pos x="6" y="52"/>
                    </a:cxn>
                    <a:cxn ang="0">
                      <a:pos x="18" y="52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1"/>
                    </a:cxn>
                    <a:cxn ang="0">
                      <a:pos x="6" y="11"/>
                    </a:cxn>
                    <a:cxn ang="0">
                      <a:pos x="6" y="52"/>
                    </a:cxn>
                  </a:cxnLst>
                  <a:rect l="txL" t="txT" r="txR" b="txB"/>
                  <a:pathLst>
                    <a:path w="19" h="53">
                      <a:moveTo>
                        <a:pt x="6" y="52"/>
                      </a:moveTo>
                      <a:lnTo>
                        <a:pt x="18" y="52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1"/>
                      </a:lnTo>
                      <a:lnTo>
                        <a:pt x="6" y="11"/>
                      </a:lnTo>
                      <a:lnTo>
                        <a:pt x="6" y="52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7" name="Group 71"/>
              <p:cNvGrpSpPr/>
              <p:nvPr/>
            </p:nvGrpSpPr>
            <p:grpSpPr>
              <a:xfrm>
                <a:off x="866" y="854"/>
                <a:ext cx="65" cy="53"/>
                <a:chOff x="866" y="854"/>
                <a:chExt cx="65" cy="53"/>
              </a:xfrm>
            </p:grpSpPr>
            <p:sp>
              <p:nvSpPr>
                <p:cNvPr id="20537" name="Freeform 69"/>
                <p:cNvSpPr/>
                <p:nvPr/>
              </p:nvSpPr>
              <p:spPr>
                <a:xfrm>
                  <a:off x="866" y="854"/>
                  <a:ext cx="31" cy="53"/>
                </a:xfrm>
                <a:custGeom>
                  <a:avLst/>
                  <a:gdLst>
                    <a:gd name="txL" fmla="*/ 0 w 31"/>
                    <a:gd name="txT" fmla="*/ 0 h 53"/>
                    <a:gd name="txR" fmla="*/ 31 w 31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30" y="52"/>
                    </a:cxn>
                    <a:cxn ang="0">
                      <a:pos x="30" y="43"/>
                    </a:cxn>
                    <a:cxn ang="0">
                      <a:pos x="13" y="43"/>
                    </a:cxn>
                    <a:cxn ang="0">
                      <a:pos x="30" y="21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1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30" y="52"/>
                      </a:lnTo>
                      <a:lnTo>
                        <a:pt x="30" y="43"/>
                      </a:lnTo>
                      <a:lnTo>
                        <a:pt x="13" y="43"/>
                      </a:lnTo>
                      <a:lnTo>
                        <a:pt x="30" y="21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8" name="Freeform 70"/>
                <p:cNvSpPr/>
                <p:nvPr/>
              </p:nvSpPr>
              <p:spPr>
                <a:xfrm>
                  <a:off x="899" y="854"/>
                  <a:ext cx="32" cy="53"/>
                </a:xfrm>
                <a:custGeom>
                  <a:avLst/>
                  <a:gdLst>
                    <a:gd name="txL" fmla="*/ 0 w 32"/>
                    <a:gd name="txT" fmla="*/ 0 h 53"/>
                    <a:gd name="txR" fmla="*/ 32 w 32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2" y="16"/>
                    </a:cxn>
                    <a:cxn ang="0">
                      <a:pos x="12" y="11"/>
                    </a:cxn>
                    <a:cxn ang="0">
                      <a:pos x="19" y="11"/>
                    </a:cxn>
                    <a:cxn ang="0">
                      <a:pos x="19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31" y="52"/>
                    </a:cxn>
                    <a:cxn ang="0">
                      <a:pos x="31" y="43"/>
                    </a:cxn>
                    <a:cxn ang="0">
                      <a:pos x="13" y="43"/>
                    </a:cxn>
                    <a:cxn ang="0">
                      <a:pos x="31" y="21"/>
                    </a:cxn>
                    <a:cxn ang="0">
                      <a:pos x="31" y="6"/>
                    </a:cxn>
                    <a:cxn ang="0">
                      <a:pos x="22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2" h="53">
                      <a:moveTo>
                        <a:pt x="0" y="16"/>
                      </a:moveTo>
                      <a:lnTo>
                        <a:pt x="12" y="16"/>
                      </a:lnTo>
                      <a:lnTo>
                        <a:pt x="12" y="11"/>
                      </a:lnTo>
                      <a:lnTo>
                        <a:pt x="19" y="11"/>
                      </a:lnTo>
                      <a:lnTo>
                        <a:pt x="19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31" y="52"/>
                      </a:lnTo>
                      <a:lnTo>
                        <a:pt x="31" y="43"/>
                      </a:lnTo>
                      <a:lnTo>
                        <a:pt x="13" y="43"/>
                      </a:lnTo>
                      <a:lnTo>
                        <a:pt x="31" y="21"/>
                      </a:lnTo>
                      <a:lnTo>
                        <a:pt x="31" y="6"/>
                      </a:lnTo>
                      <a:lnTo>
                        <a:pt x="22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8" name="Group 74"/>
              <p:cNvGrpSpPr/>
              <p:nvPr/>
            </p:nvGrpSpPr>
            <p:grpSpPr>
              <a:xfrm>
                <a:off x="1021" y="854"/>
                <a:ext cx="62" cy="53"/>
                <a:chOff x="1021" y="854"/>
                <a:chExt cx="62" cy="53"/>
              </a:xfrm>
            </p:grpSpPr>
            <p:sp>
              <p:nvSpPr>
                <p:cNvPr id="20535" name="Freeform 72"/>
                <p:cNvSpPr/>
                <p:nvPr/>
              </p:nvSpPr>
              <p:spPr>
                <a:xfrm>
                  <a:off x="1021" y="854"/>
                  <a:ext cx="30" cy="53"/>
                </a:xfrm>
                <a:custGeom>
                  <a:avLst/>
                  <a:gdLst>
                    <a:gd name="txL" fmla="*/ 0 w 30"/>
                    <a:gd name="txT" fmla="*/ 0 h 53"/>
                    <a:gd name="txR" fmla="*/ 30 w 30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9" y="52"/>
                    </a:cxn>
                    <a:cxn ang="0">
                      <a:pos x="29" y="43"/>
                    </a:cxn>
                    <a:cxn ang="0">
                      <a:pos x="12" y="43"/>
                    </a:cxn>
                    <a:cxn ang="0">
                      <a:pos x="29" y="21"/>
                    </a:cxn>
                    <a:cxn ang="0">
                      <a:pos x="29" y="6"/>
                    </a:cxn>
                    <a:cxn ang="0">
                      <a:pos x="20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0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9" y="52"/>
                      </a:lnTo>
                      <a:lnTo>
                        <a:pt x="29" y="43"/>
                      </a:lnTo>
                      <a:lnTo>
                        <a:pt x="12" y="43"/>
                      </a:lnTo>
                      <a:lnTo>
                        <a:pt x="29" y="21"/>
                      </a:lnTo>
                      <a:lnTo>
                        <a:pt x="29" y="6"/>
                      </a:lnTo>
                      <a:lnTo>
                        <a:pt x="20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6" name="Freeform 73"/>
                <p:cNvSpPr/>
                <p:nvPr/>
              </p:nvSpPr>
              <p:spPr>
                <a:xfrm>
                  <a:off x="1052" y="854"/>
                  <a:ext cx="31" cy="53"/>
                </a:xfrm>
                <a:custGeom>
                  <a:avLst/>
                  <a:gdLst>
                    <a:gd name="txL" fmla="*/ 0 w 31"/>
                    <a:gd name="txT" fmla="*/ 0 h 53"/>
                    <a:gd name="txR" fmla="*/ 31 w 31"/>
                    <a:gd name="txB" fmla="*/ 53 h 53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21"/>
                    </a:cxn>
                    <a:cxn ang="0">
                      <a:pos x="25" y="26"/>
                    </a:cxn>
                    <a:cxn ang="0">
                      <a:pos x="30" y="31"/>
                    </a:cxn>
                    <a:cxn ang="0">
                      <a:pos x="30" y="46"/>
                    </a:cxn>
                    <a:cxn ang="0">
                      <a:pos x="21" y="52"/>
                    </a:cxn>
                    <a:cxn ang="0">
                      <a:pos x="9" y="52"/>
                    </a:cxn>
                    <a:cxn ang="0">
                      <a:pos x="0" y="46"/>
                    </a:cxn>
                    <a:cxn ang="0">
                      <a:pos x="0" y="38"/>
                    </a:cxn>
                    <a:cxn ang="0">
                      <a:pos x="11" y="38"/>
                    </a:cxn>
                    <a:cxn ang="0">
                      <a:pos x="11" y="43"/>
                    </a:cxn>
                    <a:cxn ang="0">
                      <a:pos x="19" y="43"/>
                    </a:cxn>
                    <a:cxn ang="0">
                      <a:pos x="19" y="31"/>
                    </a:cxn>
                    <a:cxn ang="0">
                      <a:pos x="11" y="31"/>
                    </a:cxn>
                    <a:cxn ang="0">
                      <a:pos x="11" y="21"/>
                    </a:cxn>
                    <a:cxn ang="0">
                      <a:pos x="19" y="21"/>
                    </a:cxn>
                    <a:cxn ang="0">
                      <a:pos x="19" y="9"/>
                    </a:cxn>
                    <a:cxn ang="0">
                      <a:pos x="11" y="9"/>
                    </a:cxn>
                    <a:cxn ang="0">
                      <a:pos x="11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3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6"/>
                      </a:lnTo>
                      <a:lnTo>
                        <a:pt x="30" y="21"/>
                      </a:lnTo>
                      <a:lnTo>
                        <a:pt x="25" y="26"/>
                      </a:lnTo>
                      <a:lnTo>
                        <a:pt x="30" y="31"/>
                      </a:lnTo>
                      <a:lnTo>
                        <a:pt x="30" y="46"/>
                      </a:lnTo>
                      <a:lnTo>
                        <a:pt x="21" y="52"/>
                      </a:lnTo>
                      <a:lnTo>
                        <a:pt x="9" y="52"/>
                      </a:lnTo>
                      <a:lnTo>
                        <a:pt x="0" y="46"/>
                      </a:lnTo>
                      <a:lnTo>
                        <a:pt x="0" y="38"/>
                      </a:lnTo>
                      <a:lnTo>
                        <a:pt x="11" y="38"/>
                      </a:lnTo>
                      <a:lnTo>
                        <a:pt x="11" y="43"/>
                      </a:lnTo>
                      <a:lnTo>
                        <a:pt x="19" y="43"/>
                      </a:lnTo>
                      <a:lnTo>
                        <a:pt x="19" y="31"/>
                      </a:lnTo>
                      <a:lnTo>
                        <a:pt x="11" y="31"/>
                      </a:lnTo>
                      <a:lnTo>
                        <a:pt x="11" y="21"/>
                      </a:lnTo>
                      <a:lnTo>
                        <a:pt x="19" y="21"/>
                      </a:lnTo>
                      <a:lnTo>
                        <a:pt x="19" y="9"/>
                      </a:lnTo>
                      <a:lnTo>
                        <a:pt x="11" y="9"/>
                      </a:lnTo>
                      <a:lnTo>
                        <a:pt x="11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29" name="Group 77"/>
              <p:cNvGrpSpPr/>
              <p:nvPr/>
            </p:nvGrpSpPr>
            <p:grpSpPr>
              <a:xfrm>
                <a:off x="1174" y="854"/>
                <a:ext cx="66" cy="53"/>
                <a:chOff x="1174" y="854"/>
                <a:chExt cx="66" cy="53"/>
              </a:xfrm>
            </p:grpSpPr>
            <p:sp>
              <p:nvSpPr>
                <p:cNvPr id="20533" name="Freeform 75"/>
                <p:cNvSpPr/>
                <p:nvPr/>
              </p:nvSpPr>
              <p:spPr>
                <a:xfrm>
                  <a:off x="1174" y="854"/>
                  <a:ext cx="31" cy="53"/>
                </a:xfrm>
                <a:custGeom>
                  <a:avLst/>
                  <a:gdLst>
                    <a:gd name="txL" fmla="*/ 0 w 31"/>
                    <a:gd name="txT" fmla="*/ 0 h 53"/>
                    <a:gd name="txR" fmla="*/ 31 w 31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2" y="16"/>
                    </a:cxn>
                    <a:cxn ang="0">
                      <a:pos x="12" y="11"/>
                    </a:cxn>
                    <a:cxn ang="0">
                      <a:pos x="18" y="11"/>
                    </a:cxn>
                    <a:cxn ang="0">
                      <a:pos x="18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30" y="52"/>
                    </a:cxn>
                    <a:cxn ang="0">
                      <a:pos x="30" y="43"/>
                    </a:cxn>
                    <a:cxn ang="0">
                      <a:pos x="13" y="43"/>
                    </a:cxn>
                    <a:cxn ang="0">
                      <a:pos x="30" y="21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31" h="53">
                      <a:moveTo>
                        <a:pt x="0" y="16"/>
                      </a:moveTo>
                      <a:lnTo>
                        <a:pt x="12" y="16"/>
                      </a:lnTo>
                      <a:lnTo>
                        <a:pt x="12" y="11"/>
                      </a:lnTo>
                      <a:lnTo>
                        <a:pt x="18" y="11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30" y="52"/>
                      </a:lnTo>
                      <a:lnTo>
                        <a:pt x="30" y="43"/>
                      </a:lnTo>
                      <a:lnTo>
                        <a:pt x="13" y="43"/>
                      </a:lnTo>
                      <a:lnTo>
                        <a:pt x="30" y="21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4" name="Freeform 76"/>
                <p:cNvSpPr/>
                <p:nvPr/>
              </p:nvSpPr>
              <p:spPr>
                <a:xfrm>
                  <a:off x="1205" y="854"/>
                  <a:ext cx="35" cy="53"/>
                </a:xfrm>
                <a:custGeom>
                  <a:avLst/>
                  <a:gdLst>
                    <a:gd name="txL" fmla="*/ 0 w 35"/>
                    <a:gd name="txT" fmla="*/ 0 h 53"/>
                    <a:gd name="txR" fmla="*/ 35 w 35"/>
                    <a:gd name="txB" fmla="*/ 53 h 53"/>
                  </a:gdLst>
                  <a:ahLst/>
                  <a:cxnLst>
                    <a:cxn ang="0">
                      <a:pos x="20" y="0"/>
                    </a:cxn>
                    <a:cxn ang="0">
                      <a:pos x="31" y="0"/>
                    </a:cxn>
                    <a:cxn ang="0">
                      <a:pos x="31" y="31"/>
                    </a:cxn>
                    <a:cxn ang="0">
                      <a:pos x="34" y="31"/>
                    </a:cxn>
                    <a:cxn ang="0">
                      <a:pos x="34" y="43"/>
                    </a:cxn>
                    <a:cxn ang="0">
                      <a:pos x="31" y="43"/>
                    </a:cxn>
                    <a:cxn ang="0">
                      <a:pos x="31" y="52"/>
                    </a:cxn>
                    <a:cxn ang="0">
                      <a:pos x="20" y="52"/>
                    </a:cxn>
                    <a:cxn ang="0">
                      <a:pos x="20" y="43"/>
                    </a:cxn>
                    <a:cxn ang="0">
                      <a:pos x="20" y="31"/>
                    </a:cxn>
                    <a:cxn ang="0">
                      <a:pos x="13" y="31"/>
                    </a:cxn>
                    <a:cxn ang="0">
                      <a:pos x="20" y="20"/>
                    </a:cxn>
                    <a:cxn ang="0">
                      <a:pos x="20" y="31"/>
                    </a:cxn>
                    <a:cxn ang="0">
                      <a:pos x="20" y="43"/>
                    </a:cxn>
                    <a:cxn ang="0">
                      <a:pos x="0" y="43"/>
                    </a:cxn>
                    <a:cxn ang="0">
                      <a:pos x="0" y="31"/>
                    </a:cxn>
                    <a:cxn ang="0">
                      <a:pos x="20" y="0"/>
                    </a:cxn>
                  </a:cxnLst>
                  <a:rect l="txL" t="txT" r="txR" b="txB"/>
                  <a:pathLst>
                    <a:path w="35" h="53">
                      <a:moveTo>
                        <a:pt x="20" y="0"/>
                      </a:moveTo>
                      <a:lnTo>
                        <a:pt x="31" y="0"/>
                      </a:lnTo>
                      <a:lnTo>
                        <a:pt x="31" y="31"/>
                      </a:lnTo>
                      <a:lnTo>
                        <a:pt x="34" y="31"/>
                      </a:lnTo>
                      <a:lnTo>
                        <a:pt x="34" y="43"/>
                      </a:lnTo>
                      <a:lnTo>
                        <a:pt x="31" y="43"/>
                      </a:lnTo>
                      <a:lnTo>
                        <a:pt x="31" y="52"/>
                      </a:lnTo>
                      <a:lnTo>
                        <a:pt x="20" y="52"/>
                      </a:lnTo>
                      <a:lnTo>
                        <a:pt x="20" y="43"/>
                      </a:lnTo>
                      <a:lnTo>
                        <a:pt x="20" y="31"/>
                      </a:lnTo>
                      <a:lnTo>
                        <a:pt x="13" y="31"/>
                      </a:lnTo>
                      <a:lnTo>
                        <a:pt x="20" y="20"/>
                      </a:lnTo>
                      <a:lnTo>
                        <a:pt x="20" y="31"/>
                      </a:lnTo>
                      <a:lnTo>
                        <a:pt x="20" y="43"/>
                      </a:lnTo>
                      <a:lnTo>
                        <a:pt x="0" y="43"/>
                      </a:lnTo>
                      <a:lnTo>
                        <a:pt x="0" y="31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30" name="Group 80"/>
              <p:cNvGrpSpPr/>
              <p:nvPr/>
            </p:nvGrpSpPr>
            <p:grpSpPr>
              <a:xfrm>
                <a:off x="1330" y="854"/>
                <a:ext cx="61" cy="53"/>
                <a:chOff x="1330" y="854"/>
                <a:chExt cx="61" cy="53"/>
              </a:xfrm>
            </p:grpSpPr>
            <p:sp>
              <p:nvSpPr>
                <p:cNvPr id="20531" name="Freeform 78"/>
                <p:cNvSpPr/>
                <p:nvPr/>
              </p:nvSpPr>
              <p:spPr>
                <a:xfrm>
                  <a:off x="1330" y="854"/>
                  <a:ext cx="29" cy="53"/>
                </a:xfrm>
                <a:custGeom>
                  <a:avLst/>
                  <a:gdLst>
                    <a:gd name="txL" fmla="*/ 0 w 29"/>
                    <a:gd name="txT" fmla="*/ 0 h 53"/>
                    <a:gd name="txR" fmla="*/ 29 w 29"/>
                    <a:gd name="txB" fmla="*/ 53 h 53"/>
                  </a:gdLst>
                  <a:ahLst/>
                  <a:cxnLst>
                    <a:cxn ang="0">
                      <a:pos x="0" y="16"/>
                    </a:cxn>
                    <a:cxn ang="0">
                      <a:pos x="11" y="16"/>
                    </a:cxn>
                    <a:cxn ang="0">
                      <a:pos x="11" y="11"/>
                    </a:cxn>
                    <a:cxn ang="0">
                      <a:pos x="17" y="11"/>
                    </a:cxn>
                    <a:cxn ang="0">
                      <a:pos x="17" y="18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8" y="52"/>
                    </a:cxn>
                    <a:cxn ang="0">
                      <a:pos x="28" y="43"/>
                    </a:cxn>
                    <a:cxn ang="0">
                      <a:pos x="13" y="43"/>
                    </a:cxn>
                    <a:cxn ang="0">
                      <a:pos x="28" y="21"/>
                    </a:cxn>
                    <a:cxn ang="0">
                      <a:pos x="28" y="6"/>
                    </a:cxn>
                    <a:cxn ang="0">
                      <a:pos x="19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6"/>
                    </a:cxn>
                  </a:cxnLst>
                  <a:rect l="txL" t="txT" r="txR" b="txB"/>
                  <a:pathLst>
                    <a:path w="29" h="53">
                      <a:moveTo>
                        <a:pt x="0" y="16"/>
                      </a:moveTo>
                      <a:lnTo>
                        <a:pt x="11" y="16"/>
                      </a:lnTo>
                      <a:lnTo>
                        <a:pt x="11" y="11"/>
                      </a:lnTo>
                      <a:lnTo>
                        <a:pt x="17" y="11"/>
                      </a:lnTo>
                      <a:lnTo>
                        <a:pt x="17" y="18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8" y="52"/>
                      </a:lnTo>
                      <a:lnTo>
                        <a:pt x="28" y="43"/>
                      </a:lnTo>
                      <a:lnTo>
                        <a:pt x="13" y="43"/>
                      </a:lnTo>
                      <a:lnTo>
                        <a:pt x="28" y="21"/>
                      </a:lnTo>
                      <a:lnTo>
                        <a:pt x="28" y="6"/>
                      </a:lnTo>
                      <a:lnTo>
                        <a:pt x="19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32" name="Freeform 79"/>
                <p:cNvSpPr/>
                <p:nvPr/>
              </p:nvSpPr>
              <p:spPr>
                <a:xfrm>
                  <a:off x="1359" y="854"/>
                  <a:ext cx="32" cy="53"/>
                </a:xfrm>
                <a:custGeom>
                  <a:avLst/>
                  <a:gdLst>
                    <a:gd name="txL" fmla="*/ 0 w 32"/>
                    <a:gd name="txT" fmla="*/ 0 h 53"/>
                    <a:gd name="txR" fmla="*/ 32 w 32"/>
                    <a:gd name="txB" fmla="*/ 53 h 53"/>
                  </a:gdLst>
                  <a:ahLst/>
                  <a:cxnLst>
                    <a:cxn ang="0">
                      <a:pos x="0" y="0"/>
                    </a:cxn>
                    <a:cxn ang="0">
                      <a:pos x="30" y="0"/>
                    </a:cxn>
                    <a:cxn ang="0">
                      <a:pos x="30" y="11"/>
                    </a:cxn>
                    <a:cxn ang="0">
                      <a:pos x="12" y="11"/>
                    </a:cxn>
                    <a:cxn ang="0">
                      <a:pos x="12" y="19"/>
                    </a:cxn>
                    <a:cxn ang="0">
                      <a:pos x="22" y="19"/>
                    </a:cxn>
                    <a:cxn ang="0">
                      <a:pos x="31" y="26"/>
                    </a:cxn>
                    <a:cxn ang="0">
                      <a:pos x="31" y="44"/>
                    </a:cxn>
                    <a:cxn ang="0">
                      <a:pos x="22" y="52"/>
                    </a:cxn>
                    <a:cxn ang="0">
                      <a:pos x="9" y="52"/>
                    </a:cxn>
                    <a:cxn ang="0">
                      <a:pos x="0" y="44"/>
                    </a:cxn>
                    <a:cxn ang="0">
                      <a:pos x="0" y="35"/>
                    </a:cxn>
                    <a:cxn ang="0">
                      <a:pos x="12" y="35"/>
                    </a:cxn>
                    <a:cxn ang="0">
                      <a:pos x="12" y="43"/>
                    </a:cxn>
                    <a:cxn ang="0">
                      <a:pos x="19" y="43"/>
                    </a:cxn>
                    <a:cxn ang="0">
                      <a:pos x="19" y="27"/>
                    </a:cxn>
                    <a:cxn ang="0">
                      <a:pos x="9" y="27"/>
                    </a:cxn>
                    <a:cxn ang="0">
                      <a:pos x="0" y="2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2" h="53">
                      <a:moveTo>
                        <a:pt x="0" y="0"/>
                      </a:moveTo>
                      <a:lnTo>
                        <a:pt x="30" y="0"/>
                      </a:lnTo>
                      <a:lnTo>
                        <a:pt x="30" y="11"/>
                      </a:lnTo>
                      <a:lnTo>
                        <a:pt x="12" y="11"/>
                      </a:lnTo>
                      <a:lnTo>
                        <a:pt x="12" y="19"/>
                      </a:lnTo>
                      <a:lnTo>
                        <a:pt x="22" y="19"/>
                      </a:lnTo>
                      <a:lnTo>
                        <a:pt x="31" y="26"/>
                      </a:lnTo>
                      <a:lnTo>
                        <a:pt x="31" y="44"/>
                      </a:lnTo>
                      <a:lnTo>
                        <a:pt x="22" y="52"/>
                      </a:lnTo>
                      <a:lnTo>
                        <a:pt x="9" y="52"/>
                      </a:lnTo>
                      <a:lnTo>
                        <a:pt x="0" y="44"/>
                      </a:lnTo>
                      <a:lnTo>
                        <a:pt x="0" y="35"/>
                      </a:lnTo>
                      <a:lnTo>
                        <a:pt x="12" y="35"/>
                      </a:lnTo>
                      <a:lnTo>
                        <a:pt x="12" y="43"/>
                      </a:lnTo>
                      <a:lnTo>
                        <a:pt x="19" y="43"/>
                      </a:lnTo>
                      <a:lnTo>
                        <a:pt x="19" y="27"/>
                      </a:lnTo>
                      <a:lnTo>
                        <a:pt x="9" y="27"/>
                      </a:lnTo>
                      <a:lnTo>
                        <a:pt x="0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0504" name="Group 100"/>
            <p:cNvGrpSpPr/>
            <p:nvPr/>
          </p:nvGrpSpPr>
          <p:grpSpPr>
            <a:xfrm>
              <a:off x="401" y="964"/>
              <a:ext cx="826" cy="50"/>
              <a:chOff x="401" y="964"/>
              <a:chExt cx="826" cy="50"/>
            </a:xfrm>
          </p:grpSpPr>
          <p:grpSp>
            <p:nvGrpSpPr>
              <p:cNvPr id="20506" name="Group 84"/>
              <p:cNvGrpSpPr/>
              <p:nvPr/>
            </p:nvGrpSpPr>
            <p:grpSpPr>
              <a:xfrm>
                <a:off x="401" y="964"/>
                <a:ext cx="63" cy="50"/>
                <a:chOff x="401" y="964"/>
                <a:chExt cx="63" cy="50"/>
              </a:xfrm>
            </p:grpSpPr>
            <p:sp>
              <p:nvSpPr>
                <p:cNvPr id="20522" name="Freeform 82"/>
                <p:cNvSpPr/>
                <p:nvPr/>
              </p:nvSpPr>
              <p:spPr>
                <a:xfrm>
                  <a:off x="401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2" y="15"/>
                    </a:cxn>
                    <a:cxn ang="0">
                      <a:pos x="12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0"/>
                    </a:cxn>
                    <a:cxn ang="0">
                      <a:pos x="0" y="49"/>
                    </a:cxn>
                    <a:cxn ang="0">
                      <a:pos x="30" y="49"/>
                    </a:cxn>
                    <a:cxn ang="0">
                      <a:pos x="30" y="40"/>
                    </a:cxn>
                    <a:cxn ang="0">
                      <a:pos x="13" y="40"/>
                    </a:cxn>
                    <a:cxn ang="0">
                      <a:pos x="30" y="20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1" h="50">
                      <a:moveTo>
                        <a:pt x="0" y="15"/>
                      </a:moveTo>
                      <a:lnTo>
                        <a:pt x="12" y="15"/>
                      </a:lnTo>
                      <a:lnTo>
                        <a:pt x="12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0"/>
                      </a:lnTo>
                      <a:lnTo>
                        <a:pt x="0" y="49"/>
                      </a:lnTo>
                      <a:lnTo>
                        <a:pt x="30" y="49"/>
                      </a:lnTo>
                      <a:lnTo>
                        <a:pt x="30" y="40"/>
                      </a:lnTo>
                      <a:lnTo>
                        <a:pt x="13" y="40"/>
                      </a:lnTo>
                      <a:lnTo>
                        <a:pt x="30" y="20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23" name="Freeform 83"/>
                <p:cNvSpPr/>
                <p:nvPr/>
              </p:nvSpPr>
              <p:spPr>
                <a:xfrm>
                  <a:off x="433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15"/>
                    </a:cxn>
                    <a:cxn ang="0">
                      <a:pos x="18" y="15"/>
                    </a:cxn>
                    <a:cxn ang="0">
                      <a:pos x="18" y="10"/>
                    </a:cxn>
                    <a:cxn ang="0">
                      <a:pos x="12" y="10"/>
                    </a:cxn>
                    <a:cxn ang="0">
                      <a:pos x="12" y="19"/>
                    </a:cxn>
                    <a:cxn ang="0">
                      <a:pos x="12" y="28"/>
                    </a:cxn>
                    <a:cxn ang="0">
                      <a:pos x="18" y="28"/>
                    </a:cxn>
                    <a:cxn ang="0">
                      <a:pos x="18" y="40"/>
                    </a:cxn>
                    <a:cxn ang="0">
                      <a:pos x="12" y="40"/>
                    </a:cxn>
                    <a:cxn ang="0">
                      <a:pos x="12" y="28"/>
                    </a:cxn>
                    <a:cxn ang="0">
                      <a:pos x="12" y="19"/>
                    </a:cxn>
                    <a:cxn ang="0">
                      <a:pos x="21" y="19"/>
                    </a:cxn>
                    <a:cxn ang="0">
                      <a:pos x="30" y="25"/>
                    </a:cxn>
                    <a:cxn ang="0">
                      <a:pos x="30" y="43"/>
                    </a:cxn>
                    <a:cxn ang="0">
                      <a:pos x="21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0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6"/>
                      </a:lnTo>
                      <a:lnTo>
                        <a:pt x="30" y="15"/>
                      </a:lnTo>
                      <a:lnTo>
                        <a:pt x="18" y="15"/>
                      </a:lnTo>
                      <a:lnTo>
                        <a:pt x="18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  <a:lnTo>
                        <a:pt x="12" y="28"/>
                      </a:lnTo>
                      <a:lnTo>
                        <a:pt x="18" y="28"/>
                      </a:lnTo>
                      <a:lnTo>
                        <a:pt x="18" y="40"/>
                      </a:lnTo>
                      <a:lnTo>
                        <a:pt x="12" y="40"/>
                      </a:lnTo>
                      <a:lnTo>
                        <a:pt x="12" y="28"/>
                      </a:lnTo>
                      <a:lnTo>
                        <a:pt x="12" y="19"/>
                      </a:lnTo>
                      <a:lnTo>
                        <a:pt x="21" y="19"/>
                      </a:lnTo>
                      <a:lnTo>
                        <a:pt x="30" y="25"/>
                      </a:lnTo>
                      <a:lnTo>
                        <a:pt x="30" y="43"/>
                      </a:lnTo>
                      <a:lnTo>
                        <a:pt x="21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07" name="Group 87"/>
              <p:cNvGrpSpPr/>
              <p:nvPr/>
            </p:nvGrpSpPr>
            <p:grpSpPr>
              <a:xfrm>
                <a:off x="559" y="964"/>
                <a:ext cx="64" cy="50"/>
                <a:chOff x="559" y="964"/>
                <a:chExt cx="64" cy="50"/>
              </a:xfrm>
            </p:grpSpPr>
            <p:sp>
              <p:nvSpPr>
                <p:cNvPr id="20520" name="Freeform 85"/>
                <p:cNvSpPr/>
                <p:nvPr/>
              </p:nvSpPr>
              <p:spPr>
                <a:xfrm>
                  <a:off x="559" y="964"/>
                  <a:ext cx="29" cy="50"/>
                </a:xfrm>
                <a:custGeom>
                  <a:avLst/>
                  <a:gdLst>
                    <a:gd name="txL" fmla="*/ 0 w 29"/>
                    <a:gd name="txT" fmla="*/ 0 h 50"/>
                    <a:gd name="txR" fmla="*/ 29 w 29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1" y="15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49"/>
                    </a:cxn>
                    <a:cxn ang="0">
                      <a:pos x="28" y="49"/>
                    </a:cxn>
                    <a:cxn ang="0">
                      <a:pos x="28" y="41"/>
                    </a:cxn>
                    <a:cxn ang="0">
                      <a:pos x="13" y="41"/>
                    </a:cxn>
                    <a:cxn ang="0">
                      <a:pos x="28" y="20"/>
                    </a:cxn>
                    <a:cxn ang="0">
                      <a:pos x="28" y="6"/>
                    </a:cxn>
                    <a:cxn ang="0">
                      <a:pos x="20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29" h="50">
                      <a:moveTo>
                        <a:pt x="0" y="15"/>
                      </a:moveTo>
                      <a:lnTo>
                        <a:pt x="11" y="15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49"/>
                      </a:lnTo>
                      <a:lnTo>
                        <a:pt x="28" y="49"/>
                      </a:lnTo>
                      <a:lnTo>
                        <a:pt x="28" y="41"/>
                      </a:lnTo>
                      <a:lnTo>
                        <a:pt x="13" y="41"/>
                      </a:lnTo>
                      <a:lnTo>
                        <a:pt x="28" y="20"/>
                      </a:lnTo>
                      <a:lnTo>
                        <a:pt x="28" y="6"/>
                      </a:lnTo>
                      <a:lnTo>
                        <a:pt x="20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21" name="Freeform 86"/>
                <p:cNvSpPr/>
                <p:nvPr/>
              </p:nvSpPr>
              <p:spPr>
                <a:xfrm>
                  <a:off x="591" y="964"/>
                  <a:ext cx="32" cy="50"/>
                </a:xfrm>
                <a:custGeom>
                  <a:avLst/>
                  <a:gdLst>
                    <a:gd name="txL" fmla="*/ 0 w 32"/>
                    <a:gd name="txT" fmla="*/ 0 h 50"/>
                    <a:gd name="txR" fmla="*/ 32 w 32"/>
                    <a:gd name="txB" fmla="*/ 50 h 50"/>
                  </a:gdLst>
                  <a:ahLst/>
                  <a:cxnLst>
                    <a:cxn ang="0">
                      <a:pos x="0" y="0"/>
                    </a:cxn>
                    <a:cxn ang="0">
                      <a:pos x="31" y="0"/>
                    </a:cxn>
                    <a:cxn ang="0">
                      <a:pos x="31" y="10"/>
                    </a:cxn>
                    <a:cxn ang="0">
                      <a:pos x="13" y="49"/>
                    </a:cxn>
                    <a:cxn ang="0">
                      <a:pos x="0" y="49"/>
                    </a:cxn>
                    <a:cxn ang="0">
                      <a:pos x="18" y="10"/>
                    </a:cxn>
                    <a:cxn ang="0">
                      <a:pos x="0" y="1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2" h="50">
                      <a:moveTo>
                        <a:pt x="0" y="0"/>
                      </a:moveTo>
                      <a:lnTo>
                        <a:pt x="31" y="0"/>
                      </a:lnTo>
                      <a:lnTo>
                        <a:pt x="31" y="10"/>
                      </a:lnTo>
                      <a:lnTo>
                        <a:pt x="13" y="49"/>
                      </a:lnTo>
                      <a:lnTo>
                        <a:pt x="0" y="49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08" name="Group 90"/>
              <p:cNvGrpSpPr/>
              <p:nvPr/>
            </p:nvGrpSpPr>
            <p:grpSpPr>
              <a:xfrm>
                <a:off x="715" y="964"/>
                <a:ext cx="65" cy="50"/>
                <a:chOff x="715" y="964"/>
                <a:chExt cx="65" cy="50"/>
              </a:xfrm>
            </p:grpSpPr>
            <p:sp>
              <p:nvSpPr>
                <p:cNvPr id="20518" name="Freeform 88"/>
                <p:cNvSpPr/>
                <p:nvPr/>
              </p:nvSpPr>
              <p:spPr>
                <a:xfrm>
                  <a:off x="715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2" y="15"/>
                    </a:cxn>
                    <a:cxn ang="0">
                      <a:pos x="12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49"/>
                    </a:cxn>
                    <a:cxn ang="0">
                      <a:pos x="30" y="49"/>
                    </a:cxn>
                    <a:cxn ang="0">
                      <a:pos x="30" y="41"/>
                    </a:cxn>
                    <a:cxn ang="0">
                      <a:pos x="13" y="41"/>
                    </a:cxn>
                    <a:cxn ang="0">
                      <a:pos x="30" y="20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1" h="50">
                      <a:moveTo>
                        <a:pt x="0" y="15"/>
                      </a:moveTo>
                      <a:lnTo>
                        <a:pt x="12" y="15"/>
                      </a:lnTo>
                      <a:lnTo>
                        <a:pt x="12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49"/>
                      </a:lnTo>
                      <a:lnTo>
                        <a:pt x="30" y="49"/>
                      </a:lnTo>
                      <a:lnTo>
                        <a:pt x="30" y="41"/>
                      </a:lnTo>
                      <a:lnTo>
                        <a:pt x="13" y="41"/>
                      </a:lnTo>
                      <a:lnTo>
                        <a:pt x="30" y="20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9" name="Freeform 89"/>
                <p:cNvSpPr/>
                <p:nvPr/>
              </p:nvSpPr>
              <p:spPr>
                <a:xfrm>
                  <a:off x="751" y="964"/>
                  <a:ext cx="29" cy="50"/>
                </a:xfrm>
                <a:custGeom>
                  <a:avLst/>
                  <a:gdLst>
                    <a:gd name="txL" fmla="*/ 0 w 29"/>
                    <a:gd name="txT" fmla="*/ 0 h 50"/>
                    <a:gd name="txR" fmla="*/ 29 w 29"/>
                    <a:gd name="txB" fmla="*/ 50 h 50"/>
                  </a:gdLst>
                  <a:ahLst/>
                  <a:cxnLst>
                    <a:cxn ang="0">
                      <a:pos x="6" y="0"/>
                    </a:cxn>
                    <a:cxn ang="0">
                      <a:pos x="22" y="0"/>
                    </a:cxn>
                    <a:cxn ang="0">
                      <a:pos x="28" y="6"/>
                    </a:cxn>
                    <a:cxn ang="0">
                      <a:pos x="28" y="20"/>
                    </a:cxn>
                    <a:cxn ang="0">
                      <a:pos x="24" y="25"/>
                    </a:cxn>
                    <a:cxn ang="0">
                      <a:pos x="28" y="29"/>
                    </a:cxn>
                    <a:cxn ang="0">
                      <a:pos x="28" y="30"/>
                    </a:cxn>
                    <a:cxn ang="0">
                      <a:pos x="18" y="30"/>
                    </a:cxn>
                    <a:cxn ang="0">
                      <a:pos x="18" y="18"/>
                    </a:cxn>
                    <a:cxn ang="0">
                      <a:pos x="18" y="7"/>
                    </a:cxn>
                    <a:cxn ang="0">
                      <a:pos x="11" y="7"/>
                    </a:cxn>
                    <a:cxn ang="0">
                      <a:pos x="11" y="18"/>
                    </a:cxn>
                    <a:cxn ang="0">
                      <a:pos x="18" y="18"/>
                    </a:cxn>
                    <a:cxn ang="0">
                      <a:pos x="18" y="41"/>
                    </a:cxn>
                    <a:cxn ang="0">
                      <a:pos x="11" y="41"/>
                    </a:cxn>
                    <a:cxn ang="0">
                      <a:pos x="11" y="30"/>
                    </a:cxn>
                    <a:cxn ang="0">
                      <a:pos x="18" y="30"/>
                    </a:cxn>
                    <a:cxn ang="0">
                      <a:pos x="28" y="30"/>
                    </a:cxn>
                    <a:cxn ang="0">
                      <a:pos x="28" y="43"/>
                    </a:cxn>
                    <a:cxn ang="0">
                      <a:pos x="22" y="49"/>
                    </a:cxn>
                    <a:cxn ang="0">
                      <a:pos x="6" y="49"/>
                    </a:cxn>
                    <a:cxn ang="0">
                      <a:pos x="0" y="43"/>
                    </a:cxn>
                    <a:cxn ang="0">
                      <a:pos x="0" y="29"/>
                    </a:cxn>
                    <a:cxn ang="0">
                      <a:pos x="4" y="25"/>
                    </a:cxn>
                    <a:cxn ang="0">
                      <a:pos x="0" y="20"/>
                    </a:cxn>
                    <a:cxn ang="0">
                      <a:pos x="0" y="6"/>
                    </a:cxn>
                    <a:cxn ang="0">
                      <a:pos x="6" y="0"/>
                    </a:cxn>
                  </a:cxnLst>
                  <a:rect l="txL" t="txT" r="txR" b="txB"/>
                  <a:pathLst>
                    <a:path w="29" h="50">
                      <a:moveTo>
                        <a:pt x="6" y="0"/>
                      </a:moveTo>
                      <a:lnTo>
                        <a:pt x="22" y="0"/>
                      </a:lnTo>
                      <a:lnTo>
                        <a:pt x="28" y="6"/>
                      </a:lnTo>
                      <a:lnTo>
                        <a:pt x="28" y="20"/>
                      </a:lnTo>
                      <a:lnTo>
                        <a:pt x="24" y="25"/>
                      </a:lnTo>
                      <a:lnTo>
                        <a:pt x="28" y="29"/>
                      </a:lnTo>
                      <a:lnTo>
                        <a:pt x="28" y="30"/>
                      </a:lnTo>
                      <a:lnTo>
                        <a:pt x="18" y="30"/>
                      </a:lnTo>
                      <a:lnTo>
                        <a:pt x="18" y="18"/>
                      </a:lnTo>
                      <a:lnTo>
                        <a:pt x="18" y="7"/>
                      </a:lnTo>
                      <a:lnTo>
                        <a:pt x="11" y="7"/>
                      </a:lnTo>
                      <a:lnTo>
                        <a:pt x="11" y="18"/>
                      </a:lnTo>
                      <a:lnTo>
                        <a:pt x="18" y="18"/>
                      </a:lnTo>
                      <a:lnTo>
                        <a:pt x="18" y="41"/>
                      </a:lnTo>
                      <a:lnTo>
                        <a:pt x="11" y="41"/>
                      </a:lnTo>
                      <a:lnTo>
                        <a:pt x="11" y="30"/>
                      </a:lnTo>
                      <a:lnTo>
                        <a:pt x="18" y="30"/>
                      </a:lnTo>
                      <a:lnTo>
                        <a:pt x="28" y="30"/>
                      </a:lnTo>
                      <a:lnTo>
                        <a:pt x="28" y="43"/>
                      </a:lnTo>
                      <a:lnTo>
                        <a:pt x="22" y="49"/>
                      </a:lnTo>
                      <a:lnTo>
                        <a:pt x="6" y="49"/>
                      </a:lnTo>
                      <a:lnTo>
                        <a:pt x="0" y="43"/>
                      </a:lnTo>
                      <a:lnTo>
                        <a:pt x="0" y="29"/>
                      </a:lnTo>
                      <a:lnTo>
                        <a:pt x="4" y="25"/>
                      </a:lnTo>
                      <a:lnTo>
                        <a:pt x="0" y="20"/>
                      </a:lnTo>
                      <a:lnTo>
                        <a:pt x="0" y="6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09" name="Group 93"/>
              <p:cNvGrpSpPr/>
              <p:nvPr/>
            </p:nvGrpSpPr>
            <p:grpSpPr>
              <a:xfrm>
                <a:off x="866" y="964"/>
                <a:ext cx="66" cy="50"/>
                <a:chOff x="866" y="964"/>
                <a:chExt cx="66" cy="50"/>
              </a:xfrm>
            </p:grpSpPr>
            <p:sp>
              <p:nvSpPr>
                <p:cNvPr id="20516" name="Freeform 91"/>
                <p:cNvSpPr/>
                <p:nvPr/>
              </p:nvSpPr>
              <p:spPr>
                <a:xfrm>
                  <a:off x="866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0" y="15"/>
                    </a:cxn>
                    <a:cxn ang="0">
                      <a:pos x="11" y="15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18"/>
                    </a:cxn>
                    <a:cxn ang="0">
                      <a:pos x="0" y="41"/>
                    </a:cxn>
                    <a:cxn ang="0">
                      <a:pos x="0" y="49"/>
                    </a:cxn>
                    <a:cxn ang="0">
                      <a:pos x="30" y="49"/>
                    </a:cxn>
                    <a:cxn ang="0">
                      <a:pos x="30" y="41"/>
                    </a:cxn>
                    <a:cxn ang="0">
                      <a:pos x="13" y="41"/>
                    </a:cxn>
                    <a:cxn ang="0">
                      <a:pos x="30" y="20"/>
                    </a:cxn>
                    <a:cxn ang="0">
                      <a:pos x="30" y="6"/>
                    </a:cxn>
                    <a:cxn ang="0">
                      <a:pos x="21" y="0"/>
                    </a:cxn>
                    <a:cxn ang="0">
                      <a:pos x="9" y="0"/>
                    </a:cxn>
                    <a:cxn ang="0">
                      <a:pos x="0" y="6"/>
                    </a:cxn>
                    <a:cxn ang="0">
                      <a:pos x="0" y="15"/>
                    </a:cxn>
                  </a:cxnLst>
                  <a:rect l="txL" t="txT" r="txR" b="txB"/>
                  <a:pathLst>
                    <a:path w="31" h="50">
                      <a:moveTo>
                        <a:pt x="0" y="15"/>
                      </a:moveTo>
                      <a:lnTo>
                        <a:pt x="11" y="15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18"/>
                      </a:lnTo>
                      <a:lnTo>
                        <a:pt x="0" y="41"/>
                      </a:lnTo>
                      <a:lnTo>
                        <a:pt x="0" y="49"/>
                      </a:lnTo>
                      <a:lnTo>
                        <a:pt x="30" y="49"/>
                      </a:lnTo>
                      <a:lnTo>
                        <a:pt x="30" y="41"/>
                      </a:lnTo>
                      <a:lnTo>
                        <a:pt x="13" y="41"/>
                      </a:lnTo>
                      <a:lnTo>
                        <a:pt x="30" y="20"/>
                      </a:lnTo>
                      <a:lnTo>
                        <a:pt x="30" y="6"/>
                      </a:lnTo>
                      <a:lnTo>
                        <a:pt x="21" y="0"/>
                      </a:lnTo>
                      <a:lnTo>
                        <a:pt x="9" y="0"/>
                      </a:lnTo>
                      <a:lnTo>
                        <a:pt x="0" y="6"/>
                      </a:lnTo>
                      <a:lnTo>
                        <a:pt x="0" y="1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7" name="Freeform 92"/>
                <p:cNvSpPr/>
                <p:nvPr/>
              </p:nvSpPr>
              <p:spPr>
                <a:xfrm>
                  <a:off x="901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43"/>
                    </a:cxn>
                    <a:cxn ang="0">
                      <a:pos x="21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34"/>
                    </a:cxn>
                    <a:cxn ang="0">
                      <a:pos x="12" y="34"/>
                    </a:cxn>
                    <a:cxn ang="0">
                      <a:pos x="12" y="39"/>
                    </a:cxn>
                    <a:cxn ang="0">
                      <a:pos x="18" y="39"/>
                    </a:cxn>
                    <a:cxn ang="0">
                      <a:pos x="18" y="30"/>
                    </a:cxn>
                    <a:cxn ang="0">
                      <a:pos x="18" y="21"/>
                    </a:cxn>
                    <a:cxn ang="0">
                      <a:pos x="12" y="21"/>
                    </a:cxn>
                    <a:cxn ang="0">
                      <a:pos x="12" y="9"/>
                    </a:cxn>
                    <a:cxn ang="0">
                      <a:pos x="18" y="9"/>
                    </a:cxn>
                    <a:cxn ang="0">
                      <a:pos x="18" y="21"/>
                    </a:cxn>
                    <a:cxn ang="0">
                      <a:pos x="18" y="30"/>
                    </a:cxn>
                    <a:cxn ang="0">
                      <a:pos x="9" y="30"/>
                    </a:cxn>
                    <a:cxn ang="0">
                      <a:pos x="0" y="25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31" h="50">
                      <a:moveTo>
                        <a:pt x="21" y="0"/>
                      </a:moveTo>
                      <a:lnTo>
                        <a:pt x="30" y="6"/>
                      </a:lnTo>
                      <a:lnTo>
                        <a:pt x="30" y="43"/>
                      </a:lnTo>
                      <a:lnTo>
                        <a:pt x="21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34"/>
                      </a:lnTo>
                      <a:lnTo>
                        <a:pt x="12" y="34"/>
                      </a:lnTo>
                      <a:lnTo>
                        <a:pt x="12" y="39"/>
                      </a:lnTo>
                      <a:lnTo>
                        <a:pt x="18" y="39"/>
                      </a:lnTo>
                      <a:lnTo>
                        <a:pt x="18" y="30"/>
                      </a:lnTo>
                      <a:lnTo>
                        <a:pt x="18" y="21"/>
                      </a:lnTo>
                      <a:lnTo>
                        <a:pt x="12" y="21"/>
                      </a:lnTo>
                      <a:lnTo>
                        <a:pt x="12" y="9"/>
                      </a:lnTo>
                      <a:lnTo>
                        <a:pt x="18" y="9"/>
                      </a:lnTo>
                      <a:lnTo>
                        <a:pt x="18" y="21"/>
                      </a:lnTo>
                      <a:lnTo>
                        <a:pt x="18" y="30"/>
                      </a:lnTo>
                      <a:lnTo>
                        <a:pt x="9" y="30"/>
                      </a:lnTo>
                      <a:lnTo>
                        <a:pt x="0" y="25"/>
                      </a:lnTo>
                      <a:lnTo>
                        <a:pt x="0" y="6"/>
                      </a:lnTo>
                      <a:lnTo>
                        <a:pt x="9" y="0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10" name="Group 96"/>
              <p:cNvGrpSpPr/>
              <p:nvPr/>
            </p:nvGrpSpPr>
            <p:grpSpPr>
              <a:xfrm>
                <a:off x="1021" y="964"/>
                <a:ext cx="64" cy="50"/>
                <a:chOff x="1021" y="964"/>
                <a:chExt cx="64" cy="50"/>
              </a:xfrm>
            </p:grpSpPr>
            <p:sp>
              <p:nvSpPr>
                <p:cNvPr id="20514" name="Freeform 94"/>
                <p:cNvSpPr/>
                <p:nvPr/>
              </p:nvSpPr>
              <p:spPr>
                <a:xfrm>
                  <a:off x="1021" y="964"/>
                  <a:ext cx="32" cy="50"/>
                </a:xfrm>
                <a:custGeom>
                  <a:avLst/>
                  <a:gdLst>
                    <a:gd name="txL" fmla="*/ 0 w 32"/>
                    <a:gd name="txT" fmla="*/ 0 h 50"/>
                    <a:gd name="txR" fmla="*/ 32 w 32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2" y="0"/>
                    </a:cxn>
                    <a:cxn ang="0">
                      <a:pos x="31" y="6"/>
                    </a:cxn>
                    <a:cxn ang="0">
                      <a:pos x="31" y="20"/>
                    </a:cxn>
                    <a:cxn ang="0">
                      <a:pos x="26" y="25"/>
                    </a:cxn>
                    <a:cxn ang="0">
                      <a:pos x="31" y="29"/>
                    </a:cxn>
                    <a:cxn ang="0">
                      <a:pos x="31" y="43"/>
                    </a:cxn>
                    <a:cxn ang="0">
                      <a:pos x="22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35"/>
                    </a:cxn>
                    <a:cxn ang="0">
                      <a:pos x="12" y="35"/>
                    </a:cxn>
                    <a:cxn ang="0">
                      <a:pos x="12" y="41"/>
                    </a:cxn>
                    <a:cxn ang="0">
                      <a:pos x="19" y="41"/>
                    </a:cxn>
                    <a:cxn ang="0">
                      <a:pos x="19" y="29"/>
                    </a:cxn>
                    <a:cxn ang="0">
                      <a:pos x="12" y="29"/>
                    </a:cxn>
                    <a:cxn ang="0">
                      <a:pos x="12" y="20"/>
                    </a:cxn>
                    <a:cxn ang="0">
                      <a:pos x="19" y="20"/>
                    </a:cxn>
                    <a:cxn ang="0">
                      <a:pos x="19" y="8"/>
                    </a:cxn>
                    <a:cxn ang="0">
                      <a:pos x="12" y="8"/>
                    </a:cxn>
                    <a:cxn ang="0">
                      <a:pos x="12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2" h="50">
                      <a:moveTo>
                        <a:pt x="9" y="0"/>
                      </a:moveTo>
                      <a:lnTo>
                        <a:pt x="22" y="0"/>
                      </a:lnTo>
                      <a:lnTo>
                        <a:pt x="31" y="6"/>
                      </a:lnTo>
                      <a:lnTo>
                        <a:pt x="31" y="20"/>
                      </a:lnTo>
                      <a:lnTo>
                        <a:pt x="26" y="25"/>
                      </a:lnTo>
                      <a:lnTo>
                        <a:pt x="31" y="29"/>
                      </a:lnTo>
                      <a:lnTo>
                        <a:pt x="31" y="43"/>
                      </a:lnTo>
                      <a:lnTo>
                        <a:pt x="22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35"/>
                      </a:lnTo>
                      <a:lnTo>
                        <a:pt x="12" y="35"/>
                      </a:lnTo>
                      <a:lnTo>
                        <a:pt x="12" y="41"/>
                      </a:lnTo>
                      <a:lnTo>
                        <a:pt x="19" y="41"/>
                      </a:lnTo>
                      <a:lnTo>
                        <a:pt x="19" y="29"/>
                      </a:lnTo>
                      <a:lnTo>
                        <a:pt x="12" y="29"/>
                      </a:lnTo>
                      <a:lnTo>
                        <a:pt x="12" y="20"/>
                      </a:lnTo>
                      <a:lnTo>
                        <a:pt x="19" y="20"/>
                      </a:lnTo>
                      <a:lnTo>
                        <a:pt x="19" y="8"/>
                      </a:lnTo>
                      <a:lnTo>
                        <a:pt x="12" y="8"/>
                      </a:lnTo>
                      <a:lnTo>
                        <a:pt x="12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5" name="Freeform 95"/>
                <p:cNvSpPr/>
                <p:nvPr/>
              </p:nvSpPr>
              <p:spPr>
                <a:xfrm>
                  <a:off x="1055" y="964"/>
                  <a:ext cx="30" cy="50"/>
                </a:xfrm>
                <a:custGeom>
                  <a:avLst/>
                  <a:gdLst>
                    <a:gd name="txL" fmla="*/ 0 w 30"/>
                    <a:gd name="txT" fmla="*/ 0 h 50"/>
                    <a:gd name="txR" fmla="*/ 30 w 30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0" y="0"/>
                    </a:cxn>
                    <a:cxn ang="0">
                      <a:pos x="29" y="7"/>
                    </a:cxn>
                    <a:cxn ang="0">
                      <a:pos x="29" y="42"/>
                    </a:cxn>
                    <a:cxn ang="0">
                      <a:pos x="20" y="49"/>
                    </a:cxn>
                    <a:cxn ang="0">
                      <a:pos x="9" y="49"/>
                    </a:cxn>
                    <a:cxn ang="0">
                      <a:pos x="0" y="42"/>
                    </a:cxn>
                    <a:cxn ang="0">
                      <a:pos x="0" y="39"/>
                    </a:cxn>
                    <a:cxn ang="0">
                      <a:pos x="11" y="39"/>
                    </a:cxn>
                    <a:cxn ang="0">
                      <a:pos x="11" y="10"/>
                    </a:cxn>
                    <a:cxn ang="0">
                      <a:pos x="18" y="10"/>
                    </a:cxn>
                    <a:cxn ang="0">
                      <a:pos x="18" y="39"/>
                    </a:cxn>
                    <a:cxn ang="0">
                      <a:pos x="11" y="39"/>
                    </a:cxn>
                    <a:cxn ang="0">
                      <a:pos x="0" y="39"/>
                    </a:cxn>
                    <a:cxn ang="0">
                      <a:pos x="0" y="7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0" h="50">
                      <a:moveTo>
                        <a:pt x="9" y="0"/>
                      </a:moveTo>
                      <a:lnTo>
                        <a:pt x="20" y="0"/>
                      </a:lnTo>
                      <a:lnTo>
                        <a:pt x="29" y="7"/>
                      </a:lnTo>
                      <a:lnTo>
                        <a:pt x="29" y="42"/>
                      </a:lnTo>
                      <a:lnTo>
                        <a:pt x="20" y="49"/>
                      </a:lnTo>
                      <a:lnTo>
                        <a:pt x="9" y="49"/>
                      </a:lnTo>
                      <a:lnTo>
                        <a:pt x="0" y="42"/>
                      </a:lnTo>
                      <a:lnTo>
                        <a:pt x="0" y="39"/>
                      </a:lnTo>
                      <a:lnTo>
                        <a:pt x="11" y="39"/>
                      </a:lnTo>
                      <a:lnTo>
                        <a:pt x="11" y="10"/>
                      </a:lnTo>
                      <a:lnTo>
                        <a:pt x="18" y="10"/>
                      </a:lnTo>
                      <a:lnTo>
                        <a:pt x="18" y="39"/>
                      </a:lnTo>
                      <a:lnTo>
                        <a:pt x="11" y="39"/>
                      </a:lnTo>
                      <a:lnTo>
                        <a:pt x="0" y="39"/>
                      </a:lnTo>
                      <a:lnTo>
                        <a:pt x="0" y="7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0511" name="Group 99"/>
              <p:cNvGrpSpPr/>
              <p:nvPr/>
            </p:nvGrpSpPr>
            <p:grpSpPr>
              <a:xfrm>
                <a:off x="1175" y="964"/>
                <a:ext cx="52" cy="50"/>
                <a:chOff x="1175" y="964"/>
                <a:chExt cx="52" cy="50"/>
              </a:xfrm>
            </p:grpSpPr>
            <p:sp>
              <p:nvSpPr>
                <p:cNvPr id="20512" name="Freeform 97"/>
                <p:cNvSpPr/>
                <p:nvPr/>
              </p:nvSpPr>
              <p:spPr>
                <a:xfrm>
                  <a:off x="1175" y="964"/>
                  <a:ext cx="31" cy="50"/>
                </a:xfrm>
                <a:custGeom>
                  <a:avLst/>
                  <a:gdLst>
                    <a:gd name="txL" fmla="*/ 0 w 31"/>
                    <a:gd name="txT" fmla="*/ 0 h 50"/>
                    <a:gd name="txR" fmla="*/ 31 w 31"/>
                    <a:gd name="txB" fmla="*/ 50 h 50"/>
                  </a:gdLst>
                  <a:ahLst/>
                  <a:cxnLst>
                    <a:cxn ang="0">
                      <a:pos x="9" y="0"/>
                    </a:cxn>
                    <a:cxn ang="0">
                      <a:pos x="21" y="0"/>
                    </a:cxn>
                    <a:cxn ang="0">
                      <a:pos x="30" y="6"/>
                    </a:cxn>
                    <a:cxn ang="0">
                      <a:pos x="30" y="20"/>
                    </a:cxn>
                    <a:cxn ang="0">
                      <a:pos x="25" y="25"/>
                    </a:cxn>
                    <a:cxn ang="0">
                      <a:pos x="30" y="29"/>
                    </a:cxn>
                    <a:cxn ang="0">
                      <a:pos x="30" y="43"/>
                    </a:cxn>
                    <a:cxn ang="0">
                      <a:pos x="21" y="49"/>
                    </a:cxn>
                    <a:cxn ang="0">
                      <a:pos x="9" y="49"/>
                    </a:cxn>
                    <a:cxn ang="0">
                      <a:pos x="0" y="43"/>
                    </a:cxn>
                    <a:cxn ang="0">
                      <a:pos x="0" y="35"/>
                    </a:cxn>
                    <a:cxn ang="0">
                      <a:pos x="11" y="35"/>
                    </a:cxn>
                    <a:cxn ang="0">
                      <a:pos x="11" y="41"/>
                    </a:cxn>
                    <a:cxn ang="0">
                      <a:pos x="19" y="41"/>
                    </a:cxn>
                    <a:cxn ang="0">
                      <a:pos x="19" y="29"/>
                    </a:cxn>
                    <a:cxn ang="0">
                      <a:pos x="11" y="29"/>
                    </a:cxn>
                    <a:cxn ang="0">
                      <a:pos x="11" y="20"/>
                    </a:cxn>
                    <a:cxn ang="0">
                      <a:pos x="19" y="20"/>
                    </a:cxn>
                    <a:cxn ang="0">
                      <a:pos x="19" y="8"/>
                    </a:cxn>
                    <a:cxn ang="0">
                      <a:pos x="11" y="8"/>
                    </a:cxn>
                    <a:cxn ang="0">
                      <a:pos x="11" y="14"/>
                    </a:cxn>
                    <a:cxn ang="0">
                      <a:pos x="0" y="14"/>
                    </a:cxn>
                    <a:cxn ang="0">
                      <a:pos x="0" y="6"/>
                    </a:cxn>
                    <a:cxn ang="0">
                      <a:pos x="9" y="0"/>
                    </a:cxn>
                  </a:cxnLst>
                  <a:rect l="txL" t="txT" r="txR" b="txB"/>
                  <a:pathLst>
                    <a:path w="31" h="50">
                      <a:moveTo>
                        <a:pt x="9" y="0"/>
                      </a:moveTo>
                      <a:lnTo>
                        <a:pt x="21" y="0"/>
                      </a:lnTo>
                      <a:lnTo>
                        <a:pt x="30" y="6"/>
                      </a:lnTo>
                      <a:lnTo>
                        <a:pt x="30" y="20"/>
                      </a:lnTo>
                      <a:lnTo>
                        <a:pt x="25" y="25"/>
                      </a:lnTo>
                      <a:lnTo>
                        <a:pt x="30" y="29"/>
                      </a:lnTo>
                      <a:lnTo>
                        <a:pt x="30" y="43"/>
                      </a:lnTo>
                      <a:lnTo>
                        <a:pt x="21" y="49"/>
                      </a:lnTo>
                      <a:lnTo>
                        <a:pt x="9" y="49"/>
                      </a:lnTo>
                      <a:lnTo>
                        <a:pt x="0" y="43"/>
                      </a:lnTo>
                      <a:lnTo>
                        <a:pt x="0" y="35"/>
                      </a:lnTo>
                      <a:lnTo>
                        <a:pt x="11" y="35"/>
                      </a:lnTo>
                      <a:lnTo>
                        <a:pt x="11" y="41"/>
                      </a:lnTo>
                      <a:lnTo>
                        <a:pt x="19" y="41"/>
                      </a:lnTo>
                      <a:lnTo>
                        <a:pt x="19" y="29"/>
                      </a:lnTo>
                      <a:lnTo>
                        <a:pt x="11" y="29"/>
                      </a:lnTo>
                      <a:lnTo>
                        <a:pt x="11" y="20"/>
                      </a:lnTo>
                      <a:lnTo>
                        <a:pt x="19" y="20"/>
                      </a:lnTo>
                      <a:lnTo>
                        <a:pt x="19" y="8"/>
                      </a:lnTo>
                      <a:lnTo>
                        <a:pt x="11" y="8"/>
                      </a:lnTo>
                      <a:lnTo>
                        <a:pt x="11" y="14"/>
                      </a:lnTo>
                      <a:lnTo>
                        <a:pt x="0" y="14"/>
                      </a:lnTo>
                      <a:lnTo>
                        <a:pt x="0" y="6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513" name="Freeform 98"/>
                <p:cNvSpPr/>
                <p:nvPr/>
              </p:nvSpPr>
              <p:spPr>
                <a:xfrm>
                  <a:off x="1208" y="964"/>
                  <a:ext cx="19" cy="50"/>
                </a:xfrm>
                <a:custGeom>
                  <a:avLst/>
                  <a:gdLst>
                    <a:gd name="txL" fmla="*/ 0 w 19"/>
                    <a:gd name="txT" fmla="*/ 0 h 50"/>
                    <a:gd name="txR" fmla="*/ 19 w 19"/>
                    <a:gd name="txB" fmla="*/ 50 h 50"/>
                  </a:gdLst>
                  <a:ahLst/>
                  <a:cxnLst>
                    <a:cxn ang="0">
                      <a:pos x="6" y="49"/>
                    </a:cxn>
                    <a:cxn ang="0">
                      <a:pos x="18" y="49"/>
                    </a:cxn>
                    <a:cxn ang="0">
                      <a:pos x="18" y="0"/>
                    </a:cxn>
                    <a:cxn ang="0">
                      <a:pos x="2" y="0"/>
                    </a:cxn>
                    <a:cxn ang="0">
                      <a:pos x="0" y="10"/>
                    </a:cxn>
                    <a:cxn ang="0">
                      <a:pos x="6" y="10"/>
                    </a:cxn>
                    <a:cxn ang="0">
                      <a:pos x="6" y="49"/>
                    </a:cxn>
                  </a:cxnLst>
                  <a:rect l="txL" t="txT" r="txR" b="txB"/>
                  <a:pathLst>
                    <a:path w="19" h="50">
                      <a:moveTo>
                        <a:pt x="6" y="49"/>
                      </a:moveTo>
                      <a:lnTo>
                        <a:pt x="18" y="49"/>
                      </a:lnTo>
                      <a:lnTo>
                        <a:pt x="18" y="0"/>
                      </a:lnTo>
                      <a:lnTo>
                        <a:pt x="2" y="0"/>
                      </a:lnTo>
                      <a:lnTo>
                        <a:pt x="0" y="10"/>
                      </a:lnTo>
                      <a:lnTo>
                        <a:pt x="6" y="10"/>
                      </a:lnTo>
                      <a:lnTo>
                        <a:pt x="6" y="49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noFill/>
                </a:ln>
              </p:spPr>
              <p:txBody>
                <a:bodyPr/>
                <a:lstStyle/>
                <a:p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0505" name="Rectangle 101"/>
            <p:cNvSpPr/>
            <p:nvPr/>
          </p:nvSpPr>
          <p:spPr>
            <a:xfrm>
              <a:off x="653" y="261"/>
              <a:ext cx="538" cy="8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36513" tIns="17463" rIns="36513" bIns="17463">
              <a:spAutoFit/>
            </a:bodyPr>
            <a:lstStyle/>
            <a:p>
              <a:pPr marL="135255" indent="-135255" algn="ctr" defTabSz="144780">
                <a:buNone/>
              </a:pPr>
              <a:r>
                <a:rPr sz="1500" b="1" baseline="-20000" dirty="0">
                  <a:solidFill>
                    <a:schemeClr val="bg2"/>
                  </a:solidFill>
                  <a:latin typeface="Arial" panose="020B0604020202020204" pitchFamily="34" charset="0"/>
                </a:rPr>
                <a:t>January 1996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139265"/>
          <p:cNvGraphicFramePr/>
          <p:nvPr/>
        </p:nvGraphicFramePr>
        <p:xfrm>
          <a:off x="524510" y="152400"/>
          <a:ext cx="10512425" cy="6383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72200" imgH="5067300" progId="Paint.Picture">
                  <p:embed/>
                </p:oleObj>
              </mc:Choice>
              <mc:Fallback>
                <p:oleObj r:id="rId3" imgW="6172200" imgH="5067300" progId="Paint.Picture">
                  <p:embed/>
                  <p:pic>
                    <p:nvPicPr>
                      <p:cNvPr id="139266" name="Object 1392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4510" y="152400"/>
                        <a:ext cx="10512425" cy="6383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40289"/>
          <p:cNvSpPr>
            <a:spLocks noGrp="1"/>
          </p:cNvSpPr>
          <p:nvPr>
            <p:ph type="title"/>
          </p:nvPr>
        </p:nvSpPr>
        <p:spPr>
          <a:xfrm>
            <a:off x="677545" y="395605"/>
            <a:ext cx="8596630" cy="938530"/>
          </a:xfrm>
        </p:spPr>
        <p:txBody>
          <a:bodyPr lIns="90488" tIns="44450" rIns="90488" bIns="44450" anchor="ctr" anchorCtr="0"/>
          <a:lstStyle/>
          <a:p>
            <a:r>
              <a:t>Computing the payback period</a:t>
            </a:r>
          </a:p>
        </p:txBody>
      </p:sp>
      <p:sp>
        <p:nvSpPr>
          <p:cNvPr id="140291" name="Text Placeholder 140290"/>
          <p:cNvSpPr>
            <a:spLocks noGrp="1"/>
          </p:cNvSpPr>
          <p:nvPr>
            <p:ph type="body" idx="1"/>
          </p:nvPr>
        </p:nvSpPr>
        <p:spPr>
          <a:xfrm>
            <a:off x="677545" y="1579245"/>
            <a:ext cx="8596630" cy="4462145"/>
          </a:xfrm>
        </p:spPr>
        <p:txBody>
          <a:bodyPr lIns="90488" tIns="44450" rIns="90488" bIns="44450">
            <a:noAutofit/>
          </a:bodyPr>
          <a:lstStyle/>
          <a:p>
            <a:r>
              <a:rPr sz="2800" b="1" dirty="0"/>
              <a:t>Can compute the break-even point:</a:t>
            </a:r>
          </a:p>
          <a:p>
            <a:pPr lvl="1"/>
            <a:r>
              <a:rPr sz="2400" dirty="0"/>
              <a:t>when does lifetime benefits overtake lifetime costs?</a:t>
            </a:r>
          </a:p>
          <a:p>
            <a:pPr lvl="1"/>
            <a:r>
              <a:rPr sz="2400" dirty="0"/>
              <a:t>Determine the fraction of a year when payback actually occurs:</a:t>
            </a:r>
          </a:p>
          <a:p>
            <a:pPr lvl="1" algn="ctr">
              <a:buNone/>
            </a:pPr>
            <a:r>
              <a:rPr sz="2400" dirty="0"/>
              <a:t>	  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 </a:t>
            </a:r>
            <a:r>
              <a:rPr sz="4800" b="0" baseline="-10000" dirty="0">
                <a:solidFill>
                  <a:srgbClr val="800080"/>
                </a:solidFill>
                <a:latin typeface="Helvetica" pitchFamily="-99" charset="0"/>
              </a:rPr>
              <a:t>|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 beginning Year amount </a:t>
            </a:r>
            <a:r>
              <a:rPr sz="4800" b="0" baseline="-10000" dirty="0">
                <a:solidFill>
                  <a:srgbClr val="800080"/>
                </a:solidFill>
                <a:latin typeface="Helvetica" pitchFamily="-99" charset="0"/>
              </a:rPr>
              <a:t>|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 </a:t>
            </a:r>
          </a:p>
          <a:p>
            <a:pPr lvl="1" algn="ctr">
              <a:lnSpc>
                <a:spcPct val="110000"/>
              </a:lnSpc>
              <a:buNone/>
            </a:pP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		end</a:t>
            </a:r>
            <a:r>
              <a:rPr lang="en-US" sz="2400" dirty="0">
                <a:solidFill>
                  <a:srgbClr val="800080"/>
                </a:solidFill>
                <a:latin typeface="Helvetica" pitchFamily="-99" charset="0"/>
              </a:rPr>
              <a:t> Y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ear amount + </a:t>
            </a:r>
            <a:r>
              <a:rPr sz="4800" b="0" baseline="-10000" dirty="0">
                <a:solidFill>
                  <a:srgbClr val="800080"/>
                </a:solidFill>
                <a:latin typeface="Helvetica" pitchFamily="-99" charset="0"/>
              </a:rPr>
              <a:t>|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 beginning Year amount </a:t>
            </a:r>
            <a:r>
              <a:rPr sz="4800" b="0" baseline="-10000" dirty="0">
                <a:solidFill>
                  <a:srgbClr val="800080"/>
                </a:solidFill>
                <a:latin typeface="Helvetica" pitchFamily="-99" charset="0"/>
              </a:rPr>
              <a:t>|</a:t>
            </a:r>
            <a:endParaRPr sz="2400" dirty="0">
              <a:solidFill>
                <a:srgbClr val="800080"/>
              </a:solidFill>
              <a:latin typeface="Helvetica" pitchFamily="-99" charset="0"/>
            </a:endParaRPr>
          </a:p>
          <a:p>
            <a:pPr lvl="1"/>
            <a:r>
              <a:rPr sz="2400" dirty="0"/>
              <a:t>For our last example, 51,611 / (70,501 + 51,611) = 0.42 </a:t>
            </a:r>
          </a:p>
          <a:p>
            <a:pPr lvl="1"/>
            <a:r>
              <a:rPr sz="2400" dirty="0"/>
              <a:t>Therefore, the payback period is </a:t>
            </a:r>
            <a:r>
              <a:rPr sz="2400" dirty="0" err="1"/>
              <a:t>approx</a:t>
            </a:r>
            <a:r>
              <a:rPr sz="2400" dirty="0"/>
              <a:t> 3.4 years</a:t>
            </a:r>
          </a:p>
        </p:txBody>
      </p:sp>
      <p:sp>
        <p:nvSpPr>
          <p:cNvPr id="140293" name="Straight Connector 140292"/>
          <p:cNvSpPr/>
          <p:nvPr/>
        </p:nvSpPr>
        <p:spPr>
          <a:xfrm>
            <a:off x="3270885" y="4182745"/>
            <a:ext cx="4343400" cy="0"/>
          </a:xfrm>
          <a:prstGeom prst="line">
            <a:avLst/>
          </a:prstGeom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31073"/>
          <p:cNvSpPr>
            <a:spLocks noGrp="1"/>
          </p:cNvSpPr>
          <p:nvPr>
            <p:ph type="title"/>
          </p:nvPr>
        </p:nvSpPr>
        <p:spPr>
          <a:xfrm>
            <a:off x="677545" y="242570"/>
            <a:ext cx="8596630" cy="1366520"/>
          </a:xfrm>
        </p:spPr>
        <p:txBody>
          <a:bodyPr lIns="90488" tIns="44450" rIns="90488" bIns="44450" anchor="ctr" anchorCtr="0"/>
          <a:lstStyle/>
          <a:p>
            <a:r>
              <a:t>Schedule Feasibility</a:t>
            </a:r>
          </a:p>
        </p:txBody>
      </p:sp>
      <p:sp>
        <p:nvSpPr>
          <p:cNvPr id="131075" name="Text Placeholder 131074"/>
          <p:cNvSpPr>
            <a:spLocks noGrp="1"/>
          </p:cNvSpPr>
          <p:nvPr>
            <p:ph type="body" idx="1"/>
          </p:nvPr>
        </p:nvSpPr>
        <p:spPr>
          <a:xfrm>
            <a:off x="677545" y="1487170"/>
            <a:ext cx="10164445" cy="5288915"/>
          </a:xfrm>
        </p:spPr>
        <p:txBody>
          <a:bodyPr lIns="90488" tIns="44450" rIns="90488" bIns="44450">
            <a:noAutofit/>
          </a:bodyPr>
          <a:lstStyle/>
          <a:p>
            <a:r>
              <a:rPr sz="2400" b="1"/>
              <a:t>How long will it take to get the technical expertise?</a:t>
            </a:r>
          </a:p>
          <a:p>
            <a:pPr lvl="1"/>
            <a:r>
              <a:rPr sz="2400"/>
              <a:t>We may have the technology, but that doesn't mean we have the skills required to properly apply that technology.</a:t>
            </a:r>
          </a:p>
          <a:p>
            <a:pPr lvl="2"/>
            <a:r>
              <a:rPr sz="2000"/>
              <a:t>May need to hire</a:t>
            </a:r>
            <a:r>
              <a:rPr lang="en-US" sz="2000"/>
              <a:t>/ renting</a:t>
            </a:r>
            <a:r>
              <a:rPr sz="2000"/>
              <a:t> new people</a:t>
            </a:r>
          </a:p>
          <a:p>
            <a:pPr lvl="2"/>
            <a:r>
              <a:rPr sz="2000"/>
              <a:t>Or re-train existing systems staff</a:t>
            </a:r>
          </a:p>
          <a:p>
            <a:pPr lvl="2"/>
            <a:r>
              <a:rPr sz="2000"/>
              <a:t>Whether hiring or training, it will impact the schedule.</a:t>
            </a:r>
          </a:p>
          <a:p>
            <a:r>
              <a:rPr sz="2400" b="1"/>
              <a:t>Assess the schedule risk:</a:t>
            </a:r>
          </a:p>
          <a:p>
            <a:pPr lvl="1"/>
            <a:r>
              <a:rPr sz="2400"/>
              <a:t>Given our technical expertise, are the project deadlines reasonable?</a:t>
            </a:r>
          </a:p>
          <a:p>
            <a:pPr lvl="1"/>
            <a:r>
              <a:rPr sz="2400"/>
              <a:t>If there are specific deadlines, are they mandatory or desirable?</a:t>
            </a:r>
          </a:p>
          <a:p>
            <a:pPr lvl="2"/>
            <a:r>
              <a:rPr sz="2000">
                <a:solidFill>
                  <a:srgbClr val="7030A0"/>
                </a:solidFill>
              </a:rPr>
              <a:t>If the deadlines are not mandatory, the analyst can propose several alternative schedules.</a:t>
            </a:r>
          </a:p>
          <a:p>
            <a:endParaRPr sz="20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10934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ym typeface="+mn-ea"/>
              </a:rPr>
              <a:t>What are the real constraints on project deadlines?</a:t>
            </a:r>
            <a:br>
              <a:rPr lang="en-US" b="1" dirty="0">
                <a:sym typeface="+mn-ea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255" y="2114550"/>
            <a:ext cx="9530080" cy="3926840"/>
          </a:xfrm>
        </p:spPr>
        <p:txBody>
          <a:bodyPr/>
          <a:lstStyle/>
          <a:p>
            <a:pPr lvl="1"/>
            <a:r>
              <a:rPr sz="2800" dirty="0">
                <a:sym typeface="+mn-ea"/>
              </a:rPr>
              <a:t>If the project overruns</a:t>
            </a:r>
            <a:r>
              <a:rPr lang="en-US" sz="2800" dirty="0">
                <a:sym typeface="+mn-ea"/>
              </a:rPr>
              <a:t>/exceed</a:t>
            </a:r>
            <a:r>
              <a:rPr sz="2800" dirty="0">
                <a:sym typeface="+mn-ea"/>
              </a:rPr>
              <a:t>, what are the consequences?</a:t>
            </a:r>
          </a:p>
          <a:p>
            <a:pPr lvl="2"/>
            <a:r>
              <a:rPr sz="2800" dirty="0">
                <a:sym typeface="+mn-ea"/>
              </a:rPr>
              <a:t>Deliver a properly functioning information system two months late…</a:t>
            </a:r>
          </a:p>
          <a:p>
            <a:pPr lvl="2"/>
            <a:r>
              <a:rPr sz="2800" dirty="0">
                <a:sym typeface="+mn-ea"/>
              </a:rPr>
              <a:t>…or deliver an error-prone, useless information system on time?</a:t>
            </a:r>
          </a:p>
          <a:p>
            <a:pPr lvl="1"/>
            <a:r>
              <a:rPr sz="2800" dirty="0">
                <a:sym typeface="+mn-ea"/>
              </a:rPr>
              <a:t>Missed schedules are bad, but inadequate</a:t>
            </a:r>
            <a:r>
              <a:rPr lang="en-US" sz="2800" dirty="0">
                <a:sym typeface="+mn-ea"/>
              </a:rPr>
              <a:t> or insufficient</a:t>
            </a:r>
            <a:r>
              <a:rPr sz="2800" dirty="0">
                <a:sym typeface="+mn-ea"/>
              </a:rPr>
              <a:t> systems are worse!</a:t>
            </a:r>
          </a:p>
          <a:p>
            <a:endParaRPr 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29025"/>
          <p:cNvSpPr>
            <a:spLocks noGrp="1"/>
          </p:cNvSpPr>
          <p:nvPr>
            <p:ph type="title"/>
          </p:nvPr>
        </p:nvSpPr>
        <p:spPr>
          <a:xfrm>
            <a:off x="677545" y="395605"/>
            <a:ext cx="8596630" cy="1167130"/>
          </a:xfrm>
        </p:spPr>
        <p:txBody>
          <a:bodyPr lIns="90488" tIns="44450" rIns="90488" bIns="44450" anchor="ctr" anchorCtr="0"/>
          <a:lstStyle/>
          <a:p>
            <a:r>
              <a:t>Operational Feasibility</a:t>
            </a:r>
          </a:p>
        </p:txBody>
      </p:sp>
      <p:sp>
        <p:nvSpPr>
          <p:cNvPr id="129027" name="Text Placeholder 129026"/>
          <p:cNvSpPr>
            <a:spLocks noGrp="1"/>
          </p:cNvSpPr>
          <p:nvPr>
            <p:ph type="body" idx="1"/>
          </p:nvPr>
        </p:nvSpPr>
        <p:spPr>
          <a:xfrm>
            <a:off x="677544" y="1563370"/>
            <a:ext cx="9049385" cy="4875530"/>
          </a:xfrm>
        </p:spPr>
        <p:txBody>
          <a:bodyPr lIns="90488" tIns="44450" rIns="90488" bIns="44450">
            <a:normAutofit/>
          </a:bodyPr>
          <a:lstStyle/>
          <a:p>
            <a:r>
              <a:rPr sz="2000" dirty="0">
                <a:solidFill>
                  <a:srgbClr val="00B0F0"/>
                </a:solidFill>
              </a:rPr>
              <a:t>How do end-users and managers feel about…</a:t>
            </a:r>
          </a:p>
          <a:p>
            <a:pPr lvl="1"/>
            <a:r>
              <a:rPr sz="1800" dirty="0"/>
              <a:t>…the problem you identified?</a:t>
            </a:r>
          </a:p>
          <a:p>
            <a:pPr lvl="1"/>
            <a:r>
              <a:rPr sz="1800" dirty="0"/>
              <a:t>…the alternative solutions you are exploring?</a:t>
            </a:r>
          </a:p>
          <a:p>
            <a:r>
              <a:rPr sz="2000" dirty="0"/>
              <a:t>You must evaluate:</a:t>
            </a:r>
          </a:p>
          <a:p>
            <a:pPr lvl="1"/>
            <a:r>
              <a:rPr sz="1800" dirty="0"/>
              <a:t>Not just whether a system </a:t>
            </a:r>
            <a:r>
              <a:rPr sz="1800" i="1" dirty="0">
                <a:solidFill>
                  <a:srgbClr val="800000"/>
                </a:solidFill>
              </a:rPr>
              <a:t>can</a:t>
            </a:r>
            <a:r>
              <a:rPr sz="1800" dirty="0"/>
              <a:t> work… but also whether a system </a:t>
            </a:r>
            <a:r>
              <a:rPr sz="1800" i="1" dirty="0">
                <a:solidFill>
                  <a:srgbClr val="800000"/>
                </a:solidFill>
              </a:rPr>
              <a:t>will</a:t>
            </a:r>
            <a:r>
              <a:rPr sz="1800" dirty="0"/>
              <a:t> work.</a:t>
            </a:r>
          </a:p>
          <a:p>
            <a:pPr algn="l"/>
            <a:r>
              <a:rPr sz="2000" dirty="0">
                <a:solidFill>
                  <a:srgbClr val="00B0F0"/>
                </a:solidFill>
              </a:rPr>
              <a:t>Any solution might meet with resistance: </a:t>
            </a:r>
          </a:p>
          <a:p>
            <a:pPr lvl="1"/>
            <a:r>
              <a:rPr sz="1800" dirty="0"/>
              <a:t>Does </a:t>
            </a:r>
            <a:r>
              <a:rPr sz="1800" dirty="0">
                <a:solidFill>
                  <a:srgbClr val="800000"/>
                </a:solidFill>
              </a:rPr>
              <a:t>management</a:t>
            </a:r>
            <a:r>
              <a:rPr sz="1800" dirty="0"/>
              <a:t> support the project?</a:t>
            </a:r>
          </a:p>
          <a:p>
            <a:pPr lvl="1"/>
            <a:r>
              <a:rPr sz="1800" dirty="0"/>
              <a:t>How do the </a:t>
            </a:r>
            <a:r>
              <a:rPr sz="1800" dirty="0">
                <a:solidFill>
                  <a:srgbClr val="800000"/>
                </a:solidFill>
              </a:rPr>
              <a:t>end users</a:t>
            </a:r>
            <a:r>
              <a:rPr sz="1800" dirty="0"/>
              <a:t> feel about their role in the new system?</a:t>
            </a:r>
          </a:p>
          <a:p>
            <a:pPr lvl="1"/>
            <a:r>
              <a:rPr sz="1800" dirty="0"/>
              <a:t>Which users or managers may resist (or not use) the system?</a:t>
            </a:r>
          </a:p>
          <a:p>
            <a:pPr lvl="1"/>
            <a:r>
              <a:rPr sz="1800" dirty="0"/>
              <a:t>How will the working environment of the end users change? </a:t>
            </a:r>
          </a:p>
          <a:p>
            <a:pPr lvl="1"/>
            <a:r>
              <a:rPr sz="1800" dirty="0"/>
              <a:t>Can or will end users and management adapt to the change?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Title 147463"/>
          <p:cNvSpPr>
            <a:spLocks noGrp="1"/>
          </p:cNvSpPr>
          <p:nvPr>
            <p:ph type="title"/>
          </p:nvPr>
        </p:nvSpPr>
        <p:spPr>
          <a:xfrm>
            <a:off x="677545" y="426720"/>
            <a:ext cx="8596630" cy="869315"/>
          </a:xfrm>
        </p:spPr>
        <p:txBody>
          <a:bodyPr lIns="90488" tIns="44450" rIns="90488" bIns="44450" anchor="ctr" anchorCtr="0"/>
          <a:lstStyle/>
          <a:p>
            <a:r>
              <a:t>Feasibility Study Contents</a:t>
            </a:r>
          </a:p>
        </p:txBody>
      </p:sp>
      <p:sp>
        <p:nvSpPr>
          <p:cNvPr id="147465" name="Text Placeholder 147464"/>
          <p:cNvSpPr>
            <a:spLocks noGrp="1"/>
          </p:cNvSpPr>
          <p:nvPr>
            <p:ph type="body" sz="half" idx="1"/>
          </p:nvPr>
        </p:nvSpPr>
        <p:spPr>
          <a:xfrm>
            <a:off x="676910" y="1295400"/>
            <a:ext cx="4700270" cy="5181600"/>
          </a:xfrm>
        </p:spPr>
        <p:txBody>
          <a:bodyPr lIns="90488" tIns="44450" rIns="90488" bIns="44450"/>
          <a:lstStyle/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Purpose &amp; scope of </a:t>
            </a:r>
            <a:r>
              <a:rPr sz="1800" b="1" i="1">
                <a:solidFill>
                  <a:schemeClr val="accent6"/>
                </a:solidFill>
              </a:rPr>
              <a:t>the study</a:t>
            </a:r>
            <a:endParaRPr sz="1800" b="1">
              <a:solidFill>
                <a:schemeClr val="accent6"/>
              </a:solidFill>
            </a:endParaRP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Objectives (of the study)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who commissioned it &amp; who did it,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sources of information,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process used for the study,</a:t>
            </a:r>
            <a:endParaRPr sz="1800" b="1">
              <a:solidFill>
                <a:schemeClr val="accent6"/>
              </a:solidFill>
            </a:endParaRP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how long did it take,…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Description of present situation </a:t>
            </a:r>
            <a:endParaRPr sz="1800"/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organizational setting, current system(s).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Related factors and constraints.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Problems and requirements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What’s wrong with the present situation?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 changes are needed?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/>
            </a:pPr>
            <a:r>
              <a:rPr sz="1800" b="1">
                <a:solidFill>
                  <a:schemeClr val="accent6"/>
                </a:solidFill>
              </a:rPr>
              <a:t>Objectives of the new system.</a:t>
            </a:r>
            <a:endParaRPr sz="1800"/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Goals and relationships between them</a:t>
            </a:r>
          </a:p>
        </p:txBody>
      </p:sp>
      <p:sp>
        <p:nvSpPr>
          <p:cNvPr id="147466" name="Text Placeholder 147465"/>
          <p:cNvSpPr>
            <a:spLocks noGrp="1"/>
          </p:cNvSpPr>
          <p:nvPr>
            <p:ph type="body" sz="half" idx="2"/>
          </p:nvPr>
        </p:nvSpPr>
        <p:spPr>
          <a:xfrm>
            <a:off x="5605780" y="1295400"/>
            <a:ext cx="5278755" cy="5181600"/>
          </a:xfrm>
        </p:spPr>
        <p:txBody>
          <a:bodyPr lIns="90488" tIns="44450" rIns="90488" bIns="44450">
            <a:normAutofit lnSpcReduction="10000"/>
          </a:bodyPr>
          <a:lstStyle/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Possible alternatives 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…including ‘do nothing’.</a:t>
            </a:r>
          </a:p>
          <a:p>
            <a:pPr marL="381000" indent="-381000" algn="l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Criteria for comparison 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definition of the criteria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Analysis of alternatives </a:t>
            </a:r>
            <a:endParaRPr sz="1800"/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description of each alternative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evaluation with respect to criteria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cost/benefit analysis and special implications.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Recommendations 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 is recommended and implications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what to do next; </a:t>
            </a:r>
          </a:p>
          <a:p>
            <a:pPr lvl="2"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E.g. may recommend an interim solution and a permanent solution</a:t>
            </a:r>
          </a:p>
          <a:p>
            <a:pPr marL="381000" indent="-381000">
              <a:buClr>
                <a:schemeClr val="tx2"/>
              </a:buClr>
              <a:buSzPct val="75000"/>
              <a:buFont typeface="Times" pitchFamily="-99" charset="0"/>
              <a:buAutoNum type="arabicPeriod" startAt="5"/>
            </a:pPr>
            <a:r>
              <a:rPr sz="1800" b="1">
                <a:solidFill>
                  <a:schemeClr val="accent6"/>
                </a:solidFill>
              </a:rPr>
              <a:t>Appendices</a:t>
            </a:r>
          </a:p>
          <a:p>
            <a:pPr marL="723900" lvl="1" indent="-266700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to include any supporting material.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43361"/>
          <p:cNvSpPr>
            <a:spLocks noGrp="1"/>
          </p:cNvSpPr>
          <p:nvPr>
            <p:ph type="title"/>
          </p:nvPr>
        </p:nvSpPr>
        <p:spPr>
          <a:xfrm>
            <a:off x="677545" y="349250"/>
            <a:ext cx="8596630" cy="723900"/>
          </a:xfrm>
        </p:spPr>
        <p:txBody>
          <a:bodyPr lIns="90488" tIns="44450" rIns="90488" bIns="44450" anchor="ctr" anchorCtr="0">
            <a:normAutofit/>
          </a:bodyPr>
          <a:lstStyle/>
          <a:p>
            <a:r>
              <a:t>Comparing Alternatives</a:t>
            </a:r>
          </a:p>
        </p:txBody>
      </p:sp>
      <p:sp>
        <p:nvSpPr>
          <p:cNvPr id="143363" name="Text Placeholder 143362"/>
          <p:cNvSpPr>
            <a:spLocks noGrp="1"/>
          </p:cNvSpPr>
          <p:nvPr>
            <p:ph type="body" idx="1"/>
          </p:nvPr>
        </p:nvSpPr>
        <p:spPr>
          <a:xfrm>
            <a:off x="802640" y="1219200"/>
            <a:ext cx="9560560" cy="5638800"/>
          </a:xfrm>
        </p:spPr>
        <p:txBody>
          <a:bodyPr lIns="90488" tIns="44450" rIns="90488" bIns="44450">
            <a:normAutofit/>
          </a:bodyPr>
          <a:lstStyle/>
          <a:p>
            <a:r>
              <a:rPr b="1" dirty="0">
                <a:solidFill>
                  <a:schemeClr val="accent6"/>
                </a:solidFill>
              </a:rPr>
              <a:t>How do we compare alternatives?</a:t>
            </a:r>
          </a:p>
          <a:p>
            <a:pPr lvl="1"/>
            <a:r>
              <a:rPr dirty="0"/>
              <a:t>When there are multiple selection criteria?</a:t>
            </a:r>
          </a:p>
          <a:p>
            <a:pPr lvl="1"/>
            <a:r>
              <a:rPr dirty="0"/>
              <a:t>When none of the alternatives is superior across the board? </a:t>
            </a:r>
          </a:p>
          <a:p>
            <a:pPr algn="l"/>
            <a:r>
              <a:rPr b="1" dirty="0">
                <a:solidFill>
                  <a:schemeClr val="accent6"/>
                </a:solidFill>
              </a:rPr>
              <a:t>Use a Feasibility Analysis Matrix!</a:t>
            </a:r>
          </a:p>
          <a:p>
            <a:pPr lvl="1"/>
            <a:r>
              <a:rPr dirty="0"/>
              <a:t>The columns correspond to the candidate solutions;</a:t>
            </a:r>
          </a:p>
          <a:p>
            <a:pPr lvl="1"/>
            <a:r>
              <a:rPr dirty="0"/>
              <a:t>The rows correspond to the feasibility criteria;</a:t>
            </a:r>
          </a:p>
          <a:p>
            <a:pPr lvl="1"/>
            <a:r>
              <a:rPr dirty="0"/>
              <a:t>The cells contain the feasibility assessment notes for each candidate;</a:t>
            </a:r>
          </a:p>
          <a:p>
            <a:pPr lvl="1"/>
            <a:r>
              <a:rPr dirty="0"/>
              <a:t>Each row can be assigned a rank or score for each criterion</a:t>
            </a:r>
          </a:p>
          <a:p>
            <a:pPr lvl="2"/>
            <a:r>
              <a:rPr dirty="0"/>
              <a:t>e.g., for operational feasibility, candidates can be ranked 1, 2, 3, etc.</a:t>
            </a:r>
          </a:p>
          <a:p>
            <a:pPr lvl="1"/>
            <a:r>
              <a:rPr dirty="0"/>
              <a:t>A final ranking or score is recorded in the last row. </a:t>
            </a:r>
          </a:p>
          <a:p>
            <a:pPr algn="l"/>
            <a:r>
              <a:rPr b="1" dirty="0">
                <a:solidFill>
                  <a:schemeClr val="accent6"/>
                </a:solidFill>
              </a:rPr>
              <a:t>Other evaluation criteria to include in the matrix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dirty="0"/>
              <a:t>quality of output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dirty="0"/>
              <a:t>ease of use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dirty="0"/>
              <a:t>vendor support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dirty="0"/>
              <a:t>cost of maintenance</a:t>
            </a:r>
          </a:p>
          <a:p>
            <a:pPr lvl="1">
              <a:lnSpc>
                <a:spcPct val="95000"/>
              </a:lnSpc>
              <a:spcBef>
                <a:spcPct val="0"/>
              </a:spcBef>
            </a:pPr>
            <a:r>
              <a:rPr dirty="0"/>
              <a:t>load 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itle 144385"/>
          <p:cNvSpPr>
            <a:spLocks noGrp="1"/>
          </p:cNvSpPr>
          <p:nvPr>
            <p:ph type="title"/>
          </p:nvPr>
        </p:nvSpPr>
        <p:spPr/>
        <p:txBody>
          <a:bodyPr lIns="90488" tIns="44450" rIns="90488" bIns="44450" anchor="ctr" anchorCtr="0"/>
          <a:lstStyle/>
          <a:p>
            <a:r>
              <a:t>Example matrix</a:t>
            </a:r>
          </a:p>
        </p:txBody>
      </p:sp>
      <p:graphicFrame>
        <p:nvGraphicFramePr>
          <p:cNvPr id="144387" name="Object 144386"/>
          <p:cNvGraphicFramePr/>
          <p:nvPr/>
        </p:nvGraphicFramePr>
        <p:xfrm>
          <a:off x="676910" y="1792605"/>
          <a:ext cx="930211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789045" imgH="1621155" progId="Excel.Sheet.8">
                  <p:embed/>
                </p:oleObj>
              </mc:Choice>
              <mc:Fallback>
                <p:oleObj r:id="rId3" imgW="3789045" imgH="1621155" progId="Excel.Sheet.8">
                  <p:embed/>
                  <p:pic>
                    <p:nvPicPr>
                      <p:cNvPr id="144387" name="Object 1443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910" y="1792605"/>
                        <a:ext cx="9302115" cy="429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Annual Equivalent Worth (AEW)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1">
                <a:solidFill>
                  <a:srgbClr val="00B050"/>
                </a:solidFill>
              </a:rPr>
              <a:t>(Also called Equivalent Annual Cost (EAC) or Annual Worth (AW) Analysis)</a:t>
            </a:r>
          </a:p>
          <a:p>
            <a:pPr marL="0" indent="0">
              <a:buNone/>
            </a:pPr>
            <a:endParaRPr lang="en-US" altLang="en-US" sz="2400"/>
          </a:p>
          <a:p>
            <a:r>
              <a:rPr lang="en-US" altLang="en-US" sz="2400"/>
              <a:t>Annual Equivalent Worth (AEW) converts the net present value (NPV) of a project into an equivalent uniform annual cash flow over its lifespan.</a:t>
            </a:r>
          </a:p>
          <a:p>
            <a:r>
              <a:rPr lang="en-US" altLang="en-US" sz="2400"/>
              <a:t> This allows for easier comparison between projects with different durations or cash flow patterns.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Key Concepts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653279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rgbClr val="00B050"/>
                </a:solidFill>
              </a:rPr>
              <a:t>Purpose</a:t>
            </a:r>
            <a:endParaRPr lang="en-US" altLang="en-US" sz="2400" dirty="0"/>
          </a:p>
          <a:p>
            <a:r>
              <a:rPr lang="en-US" altLang="en-US" sz="2400" dirty="0"/>
              <a:t>Compare projects with different lifespans.</a:t>
            </a:r>
          </a:p>
          <a:p>
            <a:r>
              <a:rPr lang="en-US" altLang="en-US" sz="2400" dirty="0"/>
              <a:t>Determine the uniform annual cost or benefit of an investment.</a:t>
            </a:r>
          </a:p>
          <a:p>
            <a:endParaRPr lang="en-US" altLang="en-US" sz="2400" dirty="0"/>
          </a:p>
          <a:p>
            <a:r>
              <a:rPr lang="en-US" altLang="en-US" sz="2400" dirty="0">
                <a:solidFill>
                  <a:srgbClr val="00B050"/>
                </a:solidFill>
              </a:rPr>
              <a:t>When to Use AEW:</a:t>
            </a:r>
          </a:p>
          <a:p>
            <a:r>
              <a:rPr lang="en-US" altLang="en-US" sz="2400" dirty="0"/>
              <a:t>Evaluating mutually exclusive projects with unequal lives.</a:t>
            </a:r>
          </a:p>
          <a:p>
            <a:r>
              <a:rPr lang="en-US" altLang="en-US" sz="2400" dirty="0"/>
              <a:t>Assessing recurring costs (e.g., maintenance, leases).</a:t>
            </a:r>
          </a:p>
          <a:p>
            <a:r>
              <a:rPr lang="en-US" altLang="en-US" sz="2400" dirty="0"/>
              <a:t>Simplifying complex cash flows into an annualized value</a:t>
            </a:r>
            <a:r>
              <a:rPr lang="en-US" altLang="en-US" sz="20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Formula: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60220"/>
            <a:ext cx="8596668" cy="4789169"/>
          </a:xfrm>
        </p:spPr>
        <p:txBody>
          <a:bodyPr>
            <a:normAutofit lnSpcReduction="10000"/>
          </a:bodyPr>
          <a:lstStyle/>
          <a:p>
            <a:endParaRPr lang="en-US" altLang="en-US" dirty="0"/>
          </a:p>
          <a:p>
            <a:r>
              <a:rPr lang="en-US" altLang="en-US" sz="4000" b="1" dirty="0">
                <a:solidFill>
                  <a:srgbClr val="00B050"/>
                </a:solidFill>
              </a:rPr>
              <a:t>AEW=NPV×( (1+r) n −1 r(1+r) n )  </a:t>
            </a:r>
          </a:p>
          <a:p>
            <a:endParaRPr lang="en-US" altLang="en-US" dirty="0"/>
          </a:p>
          <a:p>
            <a:r>
              <a:rPr lang="en-US" altLang="en-US" sz="2400" dirty="0"/>
              <a:t>NPV = Net Present Value of the project</a:t>
            </a:r>
          </a:p>
          <a:p>
            <a:r>
              <a:rPr lang="en-US" altLang="en-US" sz="2400" dirty="0"/>
              <a:t>r = Discount rate (interest rate)</a:t>
            </a:r>
          </a:p>
          <a:p>
            <a:r>
              <a:rPr lang="en-US" altLang="en-US" sz="2400" dirty="0"/>
              <a:t>n = Project lifespan (years)</a:t>
            </a:r>
          </a:p>
          <a:p>
            <a:r>
              <a:rPr lang="en-US" altLang="en-US" sz="2400" dirty="0"/>
              <a:t>(The term in brackets is the Capital Recovery Factor (CRF).)</a:t>
            </a:r>
          </a:p>
          <a:p>
            <a:r>
              <a:rPr lang="en-US" altLang="en-US" sz="2400" dirty="0"/>
              <a:t>Alternatively, if cash flows are already uniform:</a:t>
            </a:r>
          </a:p>
          <a:p>
            <a:r>
              <a:rPr lang="en-US" altLang="en-US" sz="2400" dirty="0"/>
              <a:t>AEW= Annual Cash </a:t>
            </a:r>
            <a:r>
              <a:rPr lang="en-US" altLang="en-US" sz="2400" dirty="0" err="1"/>
              <a:t>Flow+Annualized</a:t>
            </a:r>
            <a:r>
              <a:rPr lang="en-US" altLang="en-US" sz="2400" dirty="0"/>
              <a:t> Capital Cost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Steps to Calculate AEW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2400" dirty="0"/>
              <a:t>Compute NPV of the project (as previously discussed).</a:t>
            </a:r>
          </a:p>
          <a:p>
            <a:endParaRPr lang="en-US" altLang="en-US" sz="2400" dirty="0"/>
          </a:p>
          <a:p>
            <a:r>
              <a:rPr lang="en-US" altLang="en-US" sz="2400" dirty="0"/>
              <a:t>Apply the Capital Recovery Factor (CRF) to convert NPV into an equivalent annual amount.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Interpret the result:</a:t>
            </a:r>
          </a:p>
          <a:p>
            <a:endParaRPr lang="en-US" altLang="en-US" sz="2400" dirty="0"/>
          </a:p>
          <a:p>
            <a:r>
              <a:rPr lang="en-US" altLang="en-US" sz="2400" dirty="0"/>
              <a:t>AEW &gt; 0: The project is economically viable.</a:t>
            </a:r>
          </a:p>
          <a:p>
            <a:endParaRPr lang="en-US" altLang="en-US" sz="2400" dirty="0"/>
          </a:p>
          <a:p>
            <a:r>
              <a:rPr lang="en-US" altLang="en-US" sz="2400" dirty="0"/>
              <a:t>AEW &lt; 0: The project is not financially justifiable.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Example Calculation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Scenario:</a:t>
            </a:r>
          </a:p>
          <a:p>
            <a:endParaRPr lang="en-US" altLang="en-US" sz="2400" dirty="0"/>
          </a:p>
          <a:p>
            <a:r>
              <a:rPr lang="en-US" altLang="en-US" sz="2400" dirty="0"/>
              <a:t>A machine costs $50,000 upfront.</a:t>
            </a:r>
          </a:p>
          <a:p>
            <a:endParaRPr lang="en-US" altLang="en-US" sz="2400" dirty="0"/>
          </a:p>
          <a:p>
            <a:r>
              <a:rPr lang="en-US" altLang="en-US" sz="2400" dirty="0"/>
              <a:t>It generates $15,000/year for 5 years.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The discount rate (r) is 10%.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en-US" sz="4500" dirty="0"/>
              <a:t>Step 1: Calculate NPV</a:t>
            </a:r>
          </a:p>
          <a:p>
            <a:r>
              <a:rPr lang="en-US" altLang="en-US" sz="4500" dirty="0"/>
              <a:t>NPV=   −50,000+  15,000× 3.7908=  −50,000+ 56,862=$6,862 </a:t>
            </a:r>
          </a:p>
          <a:p>
            <a:r>
              <a:rPr lang="en-US" altLang="en-US" sz="4500" dirty="0"/>
              <a:t>Step 2: Convert NPV to AEW</a:t>
            </a:r>
          </a:p>
          <a:p>
            <a:r>
              <a:rPr lang="en-US" altLang="en-US" sz="4500" dirty="0"/>
              <a:t>Using the Capital Recovery Factor (CRF) for n = 5, r = 10%:</a:t>
            </a:r>
          </a:p>
          <a:p>
            <a:r>
              <a:rPr lang="en-US" altLang="en-US" sz="4500" dirty="0">
                <a:solidFill>
                  <a:schemeClr val="accent2"/>
                </a:solidFill>
              </a:rPr>
              <a:t>CRF=       (1+0.10) 5 </a:t>
            </a:r>
          </a:p>
          <a:p>
            <a:pPr marL="0" indent="0">
              <a:buNone/>
            </a:pPr>
            <a:r>
              <a:rPr lang="en-US" altLang="en-US" sz="4500" dirty="0">
                <a:solidFill>
                  <a:schemeClr val="accent2"/>
                </a:solidFill>
              </a:rPr>
              <a:t>                ______________        </a:t>
            </a:r>
          </a:p>
          <a:p>
            <a:pPr marL="0" indent="0">
              <a:buNone/>
            </a:pPr>
            <a:r>
              <a:rPr lang="en-US" altLang="en-US" sz="4500" dirty="0">
                <a:solidFill>
                  <a:schemeClr val="accent2"/>
                </a:solidFill>
              </a:rPr>
              <a:t>                 1 0.10(1+0.10) 5    </a:t>
            </a:r>
          </a:p>
          <a:p>
            <a:pPr marL="0" indent="0">
              <a:buNone/>
            </a:pPr>
            <a:endParaRPr lang="en-US" altLang="en-US" sz="4500" dirty="0"/>
          </a:p>
          <a:p>
            <a:pPr marL="0" indent="0">
              <a:buNone/>
            </a:pPr>
            <a:r>
              <a:rPr lang="en-US" altLang="en-US" sz="4500" dirty="0"/>
              <a:t>           AEW=6,862×0.2638≈$1,810 per year</a:t>
            </a:r>
            <a:endParaRPr lang="en-US" altLang="en-US" sz="4000" dirty="0"/>
          </a:p>
          <a:p>
            <a:pPr marL="0" indent="0">
              <a:buNone/>
            </a:pPr>
            <a:r>
              <a:rPr lang="en-US" altLang="en-US" sz="2500" dirty="0"/>
              <a:t>​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287905" y="3929380"/>
            <a:ext cx="1922145" cy="34353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endParaRPr lang="en-US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Interpretation: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r>
              <a:rPr lang="en-US" altLang="en-US" dirty="0"/>
              <a:t>The machine provides an equivalent annual profit of $1,810 over 5 years.</a:t>
            </a:r>
          </a:p>
          <a:p>
            <a:endParaRPr lang="en-US" altLang="en-US" dirty="0"/>
          </a:p>
          <a:p>
            <a:r>
              <a:rPr lang="en-US" altLang="en-US" dirty="0"/>
              <a:t>If comparing two machines with different lifespans, the higher AEW is better.</a:t>
            </a:r>
          </a:p>
          <a:p>
            <a:endParaRPr lang="en-US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441960" y="4100975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sz="1600" b="1" i="0" dirty="0">
                <a:solidFill>
                  <a:srgbClr val="404040"/>
                </a:solidFill>
                <a:latin typeface="Inter"/>
                <a:ea typeface="Inter"/>
              </a:rPr>
              <a:t>AEW vs. NPV</a:t>
            </a:r>
          </a:p>
        </p:txBody>
      </p:sp>
      <p:graphicFrame>
        <p:nvGraphicFramePr>
          <p:cNvPr id="5" name="Table 4"/>
          <p:cNvGraphicFramePr/>
          <p:nvPr>
            <p:extLst>
              <p:ext uri="{D42A27DB-BD31-4B8C-83A1-F6EECF244321}">
                <p14:modId xmlns:p14="http://schemas.microsoft.com/office/powerpoint/2010/main" val="499758062"/>
              </p:ext>
            </p:extLst>
          </p:nvPr>
        </p:nvGraphicFramePr>
        <p:xfrm>
          <a:off x="677334" y="4927600"/>
          <a:ext cx="8992446" cy="1450945"/>
        </p:xfrm>
        <a:graphic>
          <a:graphicData uri="http://schemas.openxmlformats.org/drawingml/2006/table">
            <a:tbl>
              <a:tblPr/>
              <a:tblGrid>
                <a:gridCol w="299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189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Factor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NPV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AEW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89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Purpose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Total project value in today's $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Annualized value over lifespan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89">
                <a:tc>
                  <a:txBody>
                    <a:bodyPr/>
                    <a:lstStyle/>
                    <a:p>
                      <a:r>
                        <a:rPr sz="1100" b="1" i="0" dirty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Comparison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Best for single projects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Best for comparing unequal lives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89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Complexity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Direct calculation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Requires NPV first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89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Use Case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One-time investments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1" i="0" dirty="0">
                          <a:solidFill>
                            <a:schemeClr val="accent2"/>
                          </a:solidFill>
                          <a:latin typeface="Inter"/>
                          <a:ea typeface="Inter"/>
                        </a:rPr>
                        <a:t>Recurring costs/benefits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Applications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Equipment Replacement Decisions – Compare old vs. new machinery.</a:t>
            </a:r>
          </a:p>
          <a:p>
            <a:endParaRPr lang="en-US" altLang="en-US" sz="2400" dirty="0"/>
          </a:p>
          <a:p>
            <a:r>
              <a:rPr lang="en-US" altLang="en-US" sz="2400" dirty="0"/>
              <a:t>Lease vs. Buy Analysis – Determine the annual cost of ownership vs. leasing.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Infrastructure Projects – Compare roads, bridges, or energy projects with different lifespans.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+mn-ea"/>
              </a:rPr>
              <a:t>Limitations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Assumes cash flows are repeatable (may not apply to unique projects).</a:t>
            </a:r>
          </a:p>
          <a:p>
            <a:endParaRPr lang="en-US" altLang="en-US" sz="3200" dirty="0"/>
          </a:p>
          <a:p>
            <a:r>
              <a:rPr lang="en-US" altLang="en-US" sz="3200" dirty="0"/>
              <a:t>Sensitive to discount rate and lifespan assumptions.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1147</Words>
  <Application>Microsoft Office PowerPoint</Application>
  <PresentationFormat>Widescreen</PresentationFormat>
  <Paragraphs>181</Paragraphs>
  <Slides>20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SimSun</vt:lpstr>
      <vt:lpstr>Arial</vt:lpstr>
      <vt:lpstr>Calibri</vt:lpstr>
      <vt:lpstr>Helvetica</vt:lpstr>
      <vt:lpstr>Inter</vt:lpstr>
      <vt:lpstr>Times</vt:lpstr>
      <vt:lpstr>Trebuchet MS</vt:lpstr>
      <vt:lpstr>Wingdings</vt:lpstr>
      <vt:lpstr>Wingdings 3</vt:lpstr>
      <vt:lpstr>Facet</vt:lpstr>
      <vt:lpstr>Bitmap Image</vt:lpstr>
      <vt:lpstr>Microsoft Excel 97-2003 Worksheet</vt:lpstr>
      <vt:lpstr>LUC 6 </vt:lpstr>
      <vt:lpstr>Payback Analysis</vt:lpstr>
      <vt:lpstr>PowerPoint Presentation</vt:lpstr>
      <vt:lpstr>Computing the payback period</vt:lpstr>
      <vt:lpstr>Schedule Feasibility</vt:lpstr>
      <vt:lpstr>What are the real constraints on project deadlines? </vt:lpstr>
      <vt:lpstr>Operational Feasibility</vt:lpstr>
      <vt:lpstr>Feasibility Study Contents</vt:lpstr>
      <vt:lpstr>Comparing Alternatives</vt:lpstr>
      <vt:lpstr>Example matrix</vt:lpstr>
      <vt:lpstr>Annual Equivalent Worth (AEW) Analysis</vt:lpstr>
      <vt:lpstr>Key Concepts </vt:lpstr>
      <vt:lpstr>Formula:</vt:lpstr>
      <vt:lpstr>Steps to Calculate AEW </vt:lpstr>
      <vt:lpstr>Example Calculation </vt:lpstr>
      <vt:lpstr>PowerPoint Presentation</vt:lpstr>
      <vt:lpstr>Interpretation: </vt:lpstr>
      <vt:lpstr>Applications </vt:lpstr>
      <vt:lpstr>Limitations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Equivalent Worth (AEW) Analysis</dc:title>
  <dc:creator>user</dc:creator>
  <cp:lastModifiedBy>user</cp:lastModifiedBy>
  <cp:revision>4</cp:revision>
  <dcterms:created xsi:type="dcterms:W3CDTF">2025-04-03T12:49:59Z</dcterms:created>
  <dcterms:modified xsi:type="dcterms:W3CDTF">2025-04-06T08:17:04Z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0488D8794E4543598E7A56D68FB0440F_12</vt:lpwstr>
  </property>
  <property fmtid="{D5CDD505-2E9C-101B-9397-08002B2CF9AE}" pid="3" name="KSOProductBuildVer">
    <vt:lpwstr>1033-12.2.0.20326</vt:lpwstr>
  </property>
</Properties>
</file>