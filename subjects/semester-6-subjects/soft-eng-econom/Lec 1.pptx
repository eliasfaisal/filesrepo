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9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6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10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677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974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60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37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312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35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3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78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43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2519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418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275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835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688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97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C046E-5571-47FD-A6FE-C82F14AFB5A2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815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1BBCE-9084-6136-0BC3-0FAB92ED5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024466"/>
          </a:xfrm>
        </p:spPr>
        <p:txBody>
          <a:bodyPr/>
          <a:lstStyle/>
          <a:p>
            <a:pPr algn="ctr"/>
            <a:r>
              <a:rPr lang="en-US" dirty="0"/>
              <a:t>Soft ware economics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A55ABD-A8EB-C9F8-EB7E-2EF1732C8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1687" y="5950226"/>
            <a:ext cx="3058734" cy="641993"/>
          </a:xfrm>
        </p:spPr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Karrary</a:t>
            </a:r>
            <a:r>
              <a:rPr lang="en-US" dirty="0">
                <a:solidFill>
                  <a:srgbClr val="FF0000"/>
                </a:solidFill>
              </a:rPr>
              <a:t> university 2025</a:t>
            </a:r>
          </a:p>
        </p:txBody>
      </p:sp>
    </p:spTree>
    <p:extLst>
      <p:ext uri="{BB962C8B-B14F-4D97-AF65-F5344CB8AC3E}">
        <p14:creationId xmlns:p14="http://schemas.microsoft.com/office/powerpoint/2010/main" val="507424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096EC-D540-C740-9F5A-698A1249E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50574"/>
            <a:ext cx="8596668" cy="113968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C00000"/>
                </a:solidFill>
              </a:rPr>
              <a:t>Over 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A0C37-6E8F-9FF1-D7AB-081A70849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346228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Course name </a:t>
            </a:r>
            <a:r>
              <a:rPr lang="en-US" sz="2400" dirty="0"/>
              <a:t>:  Software  Economics 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Course hours </a:t>
            </a:r>
            <a:r>
              <a:rPr lang="en-US" sz="2400" dirty="0"/>
              <a:t>: 3 </a:t>
            </a:r>
            <a:r>
              <a:rPr lang="en-US" sz="2400" dirty="0" err="1"/>
              <a:t>Hrs</a:t>
            </a:r>
            <a:r>
              <a:rPr lang="en-US" sz="2400" dirty="0"/>
              <a:t> 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Course durations</a:t>
            </a:r>
            <a:r>
              <a:rPr lang="en-US" sz="2400" dirty="0"/>
              <a:t> : 10 weeks </a:t>
            </a:r>
          </a:p>
          <a:p>
            <a:r>
              <a:rPr lang="en-US" sz="2400" b="1" dirty="0">
                <a:solidFill>
                  <a:schemeClr val="accent2"/>
                </a:solidFill>
              </a:rPr>
              <a:t>Prerequisite Course </a:t>
            </a:r>
            <a:r>
              <a:rPr lang="en-US" sz="2400" dirty="0"/>
              <a:t>: SW models and basics of SWE </a:t>
            </a:r>
          </a:p>
          <a:p>
            <a:r>
              <a:rPr lang="en-US" sz="2400" dirty="0">
                <a:solidFill>
                  <a:srgbClr val="7030A0"/>
                </a:solidFill>
              </a:rPr>
              <a:t>Course Aims :  </a:t>
            </a:r>
            <a:r>
              <a:rPr lang="en-US" sz="2400" dirty="0"/>
              <a:t>To define and implementing SW projects by estimating for cost and the economics / benefits and profits in SW developments </a:t>
            </a:r>
          </a:p>
          <a:p>
            <a:r>
              <a:rPr lang="en-US" sz="2400" b="1" u="sng" dirty="0">
                <a:solidFill>
                  <a:srgbClr val="FF0000"/>
                </a:solidFill>
              </a:rPr>
              <a:t>References 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accent1"/>
                </a:solidFill>
              </a:rPr>
              <a:t>Return on SW, </a:t>
            </a:r>
            <a:r>
              <a:rPr lang="en-US" sz="2400" b="1" dirty="0" err="1">
                <a:solidFill>
                  <a:schemeClr val="accent1"/>
                </a:solidFill>
              </a:rPr>
              <a:t>steve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b="1" dirty="0" err="1">
                <a:solidFill>
                  <a:schemeClr val="accent1"/>
                </a:solidFill>
              </a:rPr>
              <a:t>Tockey</a:t>
            </a:r>
            <a:r>
              <a:rPr lang="en-US" sz="2400" b="1" dirty="0">
                <a:solidFill>
                  <a:schemeClr val="accent1"/>
                </a:solidFill>
              </a:rPr>
              <a:t>  Eric, Addison </a:t>
            </a:r>
            <a:r>
              <a:rPr lang="en-US" sz="2400" b="1" dirty="0" err="1">
                <a:solidFill>
                  <a:schemeClr val="accent1"/>
                </a:solidFill>
              </a:rPr>
              <a:t>wesley</a:t>
            </a:r>
            <a:r>
              <a:rPr lang="en-US" sz="2400" b="1" dirty="0">
                <a:solidFill>
                  <a:schemeClr val="accent1"/>
                </a:solidFill>
              </a:rPr>
              <a:t> &amp; ,</a:t>
            </a:r>
            <a:r>
              <a:rPr lang="en-US" sz="2400" dirty="0">
                <a:solidFill>
                  <a:schemeClr val="accent1"/>
                </a:solidFill>
              </a:rPr>
              <a:t> 2005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accent1"/>
                </a:solidFill>
              </a:rPr>
              <a:t>Engineering economics  : L.T .Blank,  A. J. Tarquin </a:t>
            </a:r>
            <a:r>
              <a:rPr lang="en-US" sz="2400" b="1" dirty="0">
                <a:solidFill>
                  <a:schemeClr val="accent1"/>
                </a:solidFill>
              </a:rPr>
              <a:t>, Mc Graw-Hill , 1998 .  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100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DD8D-5BD3-EF10-F792-55550950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Course contents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67D9C-A9BE-7D20-8509-A91BA5BAB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779373"/>
            <a:ext cx="9887693" cy="4873218"/>
          </a:xfrm>
        </p:spPr>
        <p:txBody>
          <a:bodyPr>
            <a:normAutofit/>
          </a:bodyPr>
          <a:lstStyle/>
          <a:p>
            <a:r>
              <a:rPr lang="en-US" sz="2800" dirty="0"/>
              <a:t>Time value of money  (cash flows , type analysis of loan )</a:t>
            </a:r>
          </a:p>
          <a:p>
            <a:r>
              <a:rPr lang="en-US" sz="2800" dirty="0"/>
              <a:t>Interest rates in the real world .</a:t>
            </a:r>
          </a:p>
          <a:p>
            <a:r>
              <a:rPr lang="en-US" sz="2800" dirty="0"/>
              <a:t>Net Present value ( NPV)  analysis . </a:t>
            </a:r>
          </a:p>
          <a:p>
            <a:r>
              <a:rPr lang="en-US" sz="2800" dirty="0"/>
              <a:t>Annual equivalent worth analysis .</a:t>
            </a:r>
          </a:p>
          <a:p>
            <a:r>
              <a:rPr lang="en-US" sz="2800" dirty="0"/>
              <a:t>Internal rate of return analysis –IRR  . </a:t>
            </a:r>
          </a:p>
          <a:p>
            <a:r>
              <a:rPr lang="en-US" sz="2800" dirty="0"/>
              <a:t>Benefits / cost analysis .</a:t>
            </a:r>
          </a:p>
          <a:p>
            <a:r>
              <a:rPr lang="en-US" sz="2800" dirty="0"/>
              <a:t>Development Cash flows .</a:t>
            </a:r>
          </a:p>
          <a:p>
            <a:r>
              <a:rPr lang="en-US" sz="2800" dirty="0"/>
              <a:t>Financial statement . </a:t>
            </a:r>
          </a:p>
        </p:txBody>
      </p:sp>
    </p:spTree>
    <p:extLst>
      <p:ext uri="{BB962C8B-B14F-4D97-AF65-F5344CB8AC3E}">
        <p14:creationId xmlns:p14="http://schemas.microsoft.com/office/powerpoint/2010/main" val="1456223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8160-71C0-3557-71B3-1290CF2D6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Software Economics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1A50A-2CF2-21E7-D0D8-1C63AE470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930400"/>
            <a:ext cx="9455207" cy="4927599"/>
          </a:xfrm>
        </p:spPr>
        <p:txBody>
          <a:bodyPr>
            <a:normAutofit/>
          </a:bodyPr>
          <a:lstStyle/>
          <a:p>
            <a:r>
              <a:rPr lang="en-US" sz="3600" dirty="0"/>
              <a:t>Software economics refers to the study of </a:t>
            </a:r>
            <a:r>
              <a:rPr lang="en-US" sz="3600" dirty="0">
                <a:solidFill>
                  <a:schemeClr val="accent2"/>
                </a:solidFill>
              </a:rPr>
              <a:t>cost, value, and financial considerations</a:t>
            </a:r>
            <a:r>
              <a:rPr lang="en-US" sz="3600" dirty="0"/>
              <a:t> involved in software development, maintenance and management.</a:t>
            </a:r>
          </a:p>
          <a:p>
            <a:r>
              <a:rPr lang="en-US" sz="3600" dirty="0"/>
              <a:t> It helps organizations optimize resources, minimize costs, and maximize return on investment (ROI) in software projects.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712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2FA1B-8B9B-136D-37CD-61C3FAA5C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943744" cy="98066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Key Aspects of Software Economics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2ADF7-5246-EBFA-6F03-0F814F176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9442850" cy="4927599"/>
          </a:xfrm>
        </p:spPr>
        <p:txBody>
          <a:bodyPr>
            <a:normAutofit/>
          </a:bodyPr>
          <a:lstStyle/>
          <a:p>
            <a:r>
              <a:rPr lang="en-US" sz="2800" b="1" dirty="0"/>
              <a:t>a. Cost Estimation in Software Development</a:t>
            </a:r>
          </a:p>
          <a:p>
            <a:r>
              <a:rPr lang="en-US" sz="2800" dirty="0"/>
              <a:t>Estimating costs accurately is crucial for budgeting and planning Costs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Development Costs</a:t>
            </a:r>
            <a:r>
              <a:rPr lang="en-US" sz="2800" dirty="0"/>
              <a:t>: Salaries, tools, infrastructure.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Operational Costs</a:t>
            </a:r>
            <a:r>
              <a:rPr lang="en-US" sz="2800" dirty="0"/>
              <a:t>: Hosting, cloud services, support, maintenance.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Testing Costs</a:t>
            </a:r>
            <a:r>
              <a:rPr lang="en-US" sz="2800" dirty="0"/>
              <a:t>: QA teams,  automation tools.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Maintenance Costs</a:t>
            </a:r>
            <a:r>
              <a:rPr lang="en-US" sz="2800" dirty="0"/>
              <a:t>: Bug fixes, updates, scalability improvements.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918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8DB1E-C726-5466-DF80-ADF03DCD5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CE890-CB11-E25D-B61B-A05BC1C15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430493" cy="4697411"/>
          </a:xfrm>
        </p:spPr>
        <p:txBody>
          <a:bodyPr>
            <a:normAutofit/>
          </a:bodyPr>
          <a:lstStyle/>
          <a:p>
            <a:r>
              <a:rPr lang="en-US" sz="2800" b="1" dirty="0"/>
              <a:t>b. Software Development Models &amp; Economics</a:t>
            </a:r>
          </a:p>
          <a:p>
            <a:r>
              <a:rPr lang="en-US" sz="2800" dirty="0"/>
              <a:t>Different software development models impact economics: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Waterfall Model</a:t>
            </a:r>
            <a:r>
              <a:rPr lang="en-US" sz="2800" dirty="0"/>
              <a:t>: Predictable but can lead to high costs if changes arise late.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Agile Development</a:t>
            </a:r>
            <a:r>
              <a:rPr lang="en-US" sz="2800" dirty="0"/>
              <a:t>: Reduces risk of wasted investment but requires ongoing investment in sprints.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DevOps</a:t>
            </a:r>
            <a:r>
              <a:rPr lang="en-US" sz="2800" dirty="0"/>
              <a:t>: Increases automation and reduces operational costs over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398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B994-FA9D-C1F1-E6DA-E2D5391ED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0716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c. </a:t>
            </a:r>
            <a:r>
              <a:rPr lang="en-US" b="1" dirty="0">
                <a:solidFill>
                  <a:schemeClr val="accent2"/>
                </a:solidFill>
              </a:rPr>
              <a:t>Cost-Benefit Analysis (CBA)</a:t>
            </a:r>
            <a:br>
              <a:rPr lang="en-US" b="1" dirty="0">
                <a:solidFill>
                  <a:schemeClr val="accent2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C2FDD-1177-9E23-462B-6FC355119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21" y="1948071"/>
            <a:ext cx="9819861" cy="4712222"/>
          </a:xfrm>
        </p:spPr>
        <p:txBody>
          <a:bodyPr>
            <a:normAutofit/>
          </a:bodyPr>
          <a:lstStyle/>
          <a:p>
            <a:r>
              <a:rPr lang="en-US" sz="2800" dirty="0"/>
              <a:t>Evaluating whether the software investment is justified: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Total Cost of Ownership (TCO)</a:t>
            </a:r>
            <a:r>
              <a:rPr lang="en-US" sz="2800" dirty="0">
                <a:solidFill>
                  <a:schemeClr val="accent2"/>
                </a:solidFill>
              </a:rPr>
              <a:t>: </a:t>
            </a:r>
            <a:r>
              <a:rPr lang="en-US" sz="2800" dirty="0"/>
              <a:t>Includes development, deployment, and maintenance costs.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Return on Investment (ROI)</a:t>
            </a:r>
            <a:r>
              <a:rPr lang="en-US" sz="2800" dirty="0">
                <a:solidFill>
                  <a:schemeClr val="accent2"/>
                </a:solidFill>
              </a:rPr>
              <a:t>: </a:t>
            </a:r>
            <a:r>
              <a:rPr lang="en-US" sz="2800" dirty="0"/>
              <a:t>Revenue or efficiency gains vs. software cost.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</a:rPr>
              <a:t>Break-even Analysis</a:t>
            </a:r>
            <a:r>
              <a:rPr lang="en-US" sz="2800" dirty="0"/>
              <a:t>: When the project starts generating positive returns.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925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18EA6-022D-77B6-16F3-7298A5E53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Factors Affecting Software Economics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6B125-C382-0BA4-E423-6603C61AD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630017"/>
            <a:ext cx="10342604" cy="4956135"/>
          </a:xfrm>
        </p:spPr>
        <p:txBody>
          <a:bodyPr>
            <a:normAutofit fontScale="92500"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a. Productivity &amp; Efficiency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Developer productivity impacts costs.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Using </a:t>
            </a:r>
            <a:r>
              <a:rPr lang="en-US" sz="2400" b="1" dirty="0"/>
              <a:t>low-code/no-code platforms</a:t>
            </a:r>
            <a:r>
              <a:rPr lang="en-US" sz="2400" dirty="0"/>
              <a:t> reduces development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Automation</a:t>
            </a:r>
            <a:r>
              <a:rPr lang="en-US" sz="2400" dirty="0"/>
              <a:t> and </a:t>
            </a:r>
            <a:r>
              <a:rPr lang="en-US" sz="2400" b="1" dirty="0"/>
              <a:t>AI-driven tools</a:t>
            </a:r>
            <a:r>
              <a:rPr lang="en-US" sz="2400" dirty="0"/>
              <a:t> lower manual effort.</a:t>
            </a:r>
          </a:p>
          <a:p>
            <a:r>
              <a:rPr lang="en-US" sz="2400" b="1" dirty="0">
                <a:solidFill>
                  <a:schemeClr val="accent6"/>
                </a:solidFill>
              </a:rPr>
              <a:t>B. Software Reusability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Reusing components (APIs, libraries, open-source frameworks) saves costs.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Modular software design reduces development effort</a:t>
            </a:r>
            <a:r>
              <a:rPr lang="en-US" dirty="0"/>
              <a:t>.</a:t>
            </a:r>
          </a:p>
          <a:p>
            <a:r>
              <a:rPr lang="en-US" sz="1900" b="1" dirty="0">
                <a:solidFill>
                  <a:schemeClr val="accent6"/>
                </a:solidFill>
              </a:rPr>
              <a:t>c. Scalability &amp; Maintenance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1" dirty="0"/>
              <a:t>Cloud computing</a:t>
            </a:r>
            <a:r>
              <a:rPr lang="en-US" sz="1900" dirty="0"/>
              <a:t> reduces infrastructure costs.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1" dirty="0"/>
              <a:t>Microservices architecture</a:t>
            </a:r>
            <a:r>
              <a:rPr lang="en-US" sz="1900" dirty="0"/>
              <a:t> improves scalability.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1" dirty="0"/>
              <a:t>Technical debt</a:t>
            </a:r>
            <a:r>
              <a:rPr lang="en-US" sz="1900" dirty="0"/>
              <a:t> (poorly written code) increases long-term maintenance costs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955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28EE-3049-FE85-8D4C-A10D0C765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8556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3. Software Pricing Models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20792-9373-80BA-7750-5CD998FF0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051222"/>
            <a:ext cx="9986547" cy="4559643"/>
          </a:xfrm>
        </p:spPr>
        <p:txBody>
          <a:bodyPr>
            <a:normAutofit/>
          </a:bodyPr>
          <a:lstStyle/>
          <a:p>
            <a:r>
              <a:rPr lang="en-US" sz="2800" dirty="0"/>
              <a:t>Different pricing strategies affect profitability: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/>
                </a:solidFill>
              </a:rPr>
              <a:t>Subscription Model (SaaS)</a:t>
            </a:r>
            <a:r>
              <a:rPr lang="en-US" sz="2800" dirty="0">
                <a:solidFill>
                  <a:schemeClr val="accent6"/>
                </a:solidFill>
              </a:rPr>
              <a:t> </a:t>
            </a:r>
            <a:r>
              <a:rPr lang="en-US" sz="2800" dirty="0"/>
              <a:t>– Monthly/Annual fees (e.g., Netflix, Adobe).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/>
                </a:solidFill>
              </a:rPr>
              <a:t>One-Time Purchase</a:t>
            </a:r>
            <a:r>
              <a:rPr lang="en-US" sz="2800" dirty="0">
                <a:solidFill>
                  <a:schemeClr val="accent6"/>
                </a:solidFill>
              </a:rPr>
              <a:t> </a:t>
            </a:r>
            <a:r>
              <a:rPr lang="en-US" sz="2800" dirty="0"/>
              <a:t>– Traditional software licensing.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/>
                </a:solidFill>
              </a:rPr>
              <a:t>Freemium Model</a:t>
            </a:r>
            <a:r>
              <a:rPr lang="en-US" sz="2800" dirty="0">
                <a:solidFill>
                  <a:schemeClr val="accent6"/>
                </a:solidFill>
              </a:rPr>
              <a:t> </a:t>
            </a:r>
            <a:r>
              <a:rPr lang="en-US" sz="2800" dirty="0"/>
              <a:t>– Free with paid premium features (e.g., Spotify).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/>
                </a:solidFill>
              </a:rPr>
              <a:t>Usage-Based Pricing</a:t>
            </a:r>
            <a:r>
              <a:rPr lang="en-US" sz="2800" dirty="0">
                <a:solidFill>
                  <a:schemeClr val="accent6"/>
                </a:solidFill>
              </a:rPr>
              <a:t> </a:t>
            </a:r>
            <a:r>
              <a:rPr lang="en-US" sz="2800" dirty="0"/>
              <a:t>– Pay for what you use (e.g., AWS, Google Cloud).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742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E43CC-C7AB-C69F-38AF-A5CC50E7D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440162" cy="1320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4. Economic Challenges in Software Development</a:t>
            </a:r>
            <a:br>
              <a:rPr lang="en-US" b="1" dirty="0">
                <a:solidFill>
                  <a:schemeClr val="accent6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AB185-26D7-6AA4-18F0-10E6CA524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801196" cy="456148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3"/>
                </a:solidFill>
              </a:rPr>
              <a:t>Scope Creep</a:t>
            </a:r>
            <a:r>
              <a:rPr lang="en-US" sz="3200" dirty="0">
                <a:solidFill>
                  <a:schemeClr val="accent3"/>
                </a:solidFill>
              </a:rPr>
              <a:t> </a:t>
            </a:r>
            <a:r>
              <a:rPr lang="en-US" sz="3200" dirty="0"/>
              <a:t>– Uncontrolled changes increase costs.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3"/>
                </a:solidFill>
              </a:rPr>
              <a:t>Overestimation/Underestimation</a:t>
            </a:r>
            <a:r>
              <a:rPr lang="en-US" sz="3200" dirty="0">
                <a:solidFill>
                  <a:schemeClr val="accent3"/>
                </a:solidFill>
              </a:rPr>
              <a:t> </a:t>
            </a:r>
            <a:r>
              <a:rPr lang="en-US" sz="3200" dirty="0"/>
              <a:t>– Leads to financial losses.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3"/>
                </a:solidFill>
              </a:rPr>
              <a:t>Security &amp; Compliance Costs</a:t>
            </a:r>
            <a:r>
              <a:rPr lang="en-US" sz="3200" dirty="0">
                <a:solidFill>
                  <a:schemeClr val="accent3"/>
                </a:solidFill>
              </a:rPr>
              <a:t> </a:t>
            </a:r>
            <a:r>
              <a:rPr lang="en-US" sz="3200" dirty="0"/>
              <a:t>– Data protection laws require additional spending.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3"/>
                </a:solidFill>
              </a:rPr>
              <a:t>Changing Technology Trends</a:t>
            </a:r>
            <a:r>
              <a:rPr lang="en-US" sz="3200" dirty="0">
                <a:solidFill>
                  <a:schemeClr val="accent3"/>
                </a:solidFill>
              </a:rPr>
              <a:t> </a:t>
            </a:r>
            <a:r>
              <a:rPr lang="en-US" sz="3200" dirty="0"/>
              <a:t>– Adapting to new tech like AI, Blockchain increases R&amp;D costs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832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185AC-40F3-2B61-96F2-330A7FCD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11" y="609600"/>
            <a:ext cx="10639167" cy="1320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5. Best Practices to Optimize Software Economics</a:t>
            </a:r>
            <a:br>
              <a:rPr lang="en-US" b="1" dirty="0">
                <a:solidFill>
                  <a:schemeClr val="accent6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A3B60-54B9-6D9A-15FE-6E8C4EDE5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516990" cy="43267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✅ </a:t>
            </a:r>
            <a:r>
              <a:rPr lang="en-US" sz="2800" b="1" dirty="0"/>
              <a:t>Use Agile &amp; DevOps</a:t>
            </a:r>
            <a:r>
              <a:rPr lang="en-US" sz="2800" dirty="0"/>
              <a:t> to reduce waste and improve efficiency.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Leverage Open-Source Software</a:t>
            </a:r>
            <a:r>
              <a:rPr lang="en-US" sz="2800" dirty="0"/>
              <a:t> to minimize licensing costs.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Automate Testing &amp; Deployment</a:t>
            </a:r>
            <a:r>
              <a:rPr lang="en-US" sz="2800" dirty="0"/>
              <a:t> to cut manual labor.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Outsource Non-Core Development</a:t>
            </a:r>
            <a:r>
              <a:rPr lang="en-US" sz="2800" dirty="0"/>
              <a:t> to save on in-house expenses.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Monitor &amp; Manage Technical Debt</a:t>
            </a:r>
            <a:r>
              <a:rPr lang="en-US" sz="2800" dirty="0"/>
              <a:t> to prevent long-term costs.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715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CDBE4-4734-EDAB-A215-F35DE1EBC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Cost Estimation Models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0DF27-C861-E4C0-1AE2-E3CE718AC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826" y="1668162"/>
            <a:ext cx="10058400" cy="5189837"/>
          </a:xfrm>
        </p:spPr>
        <p:txBody>
          <a:bodyPr>
            <a:normAutofit fontScale="92500"/>
          </a:bodyPr>
          <a:lstStyle/>
          <a:p>
            <a:r>
              <a:rPr lang="en-US" sz="3200" dirty="0"/>
              <a:t>Software cost estimation is the process of predicting the effort, time, and financial resources required to develop a software project. </a:t>
            </a:r>
          </a:p>
          <a:p>
            <a:r>
              <a:rPr lang="en-US" sz="3200" dirty="0"/>
              <a:t>Various models help in estimating costs based on project size, complexity, and other influencing factors.</a:t>
            </a:r>
          </a:p>
          <a:p>
            <a:r>
              <a:rPr lang="en-US" sz="3200" b="1" dirty="0"/>
              <a:t>Why is Cost Estimation Important?</a:t>
            </a:r>
          </a:p>
          <a:p>
            <a:r>
              <a:rPr lang="en-US" sz="3200" dirty="0"/>
              <a:t>✅ </a:t>
            </a:r>
            <a:r>
              <a:rPr lang="en-US" sz="3200" dirty="0">
                <a:solidFill>
                  <a:srgbClr val="0070C0"/>
                </a:solidFill>
              </a:rPr>
              <a:t>Helps in budgeting and resource allocation</a:t>
            </a:r>
            <a:r>
              <a:rPr lang="en-US" sz="3200" dirty="0"/>
              <a:t>.</a:t>
            </a:r>
            <a:br>
              <a:rPr lang="en-US" sz="3200" dirty="0"/>
            </a:br>
            <a:r>
              <a:rPr lang="en-US" sz="3200" dirty="0"/>
              <a:t>✅ </a:t>
            </a:r>
            <a:r>
              <a:rPr lang="en-US" sz="3200" dirty="0">
                <a:solidFill>
                  <a:srgbClr val="7030A0"/>
                </a:solidFill>
              </a:rPr>
              <a:t>Prevents project overruns and financial losses</a:t>
            </a:r>
            <a:r>
              <a:rPr lang="en-US" sz="3200" dirty="0"/>
              <a:t>.</a:t>
            </a:r>
            <a:br>
              <a:rPr lang="en-US" sz="3200" dirty="0"/>
            </a:br>
            <a:r>
              <a:rPr lang="en-US" sz="3200" dirty="0"/>
              <a:t>✅ </a:t>
            </a:r>
            <a:r>
              <a:rPr lang="en-US" sz="3200" dirty="0">
                <a:solidFill>
                  <a:srgbClr val="0070C0"/>
                </a:solidFill>
              </a:rPr>
              <a:t>Supports decision-making on pricing and feasibility</a:t>
            </a:r>
            <a:r>
              <a:rPr lang="en-US" sz="3200" dirty="0"/>
              <a:t>.</a:t>
            </a:r>
          </a:p>
          <a:p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252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117C0-EA9B-D895-B286-A350057D3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2. Key Software Cost Estimation Models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6DAC0-FA70-EDB5-9D67-AC7626880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94022"/>
            <a:ext cx="9825909" cy="47820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A. Algorithmic (Parametric) Models</a:t>
            </a:r>
          </a:p>
          <a:p>
            <a:r>
              <a:rPr lang="en-US" sz="2400" dirty="0"/>
              <a:t>These models use mathematical formulas based on historical data and project parameters.</a:t>
            </a:r>
          </a:p>
          <a:p>
            <a:r>
              <a:rPr lang="en-US" sz="2400" b="1" dirty="0"/>
              <a:t>1. COCOMO (Constructive Cost Model)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Developed by Barry Boehm, it estimates cost based on project size in </a:t>
            </a:r>
            <a:r>
              <a:rPr lang="en-US" sz="2400" b="1" dirty="0"/>
              <a:t>Lines of Code (LOC)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Comes in three forms: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Basic COCOMO</a:t>
            </a:r>
            <a:r>
              <a:rPr lang="en-US" sz="2000" dirty="0"/>
              <a:t> – For simple, small projects.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Intermediate COCOMO</a:t>
            </a:r>
            <a:r>
              <a:rPr lang="en-US" sz="2000" dirty="0"/>
              <a:t> – Includes factors like experience, complexity.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Detailed COCOMO (COCOMO II)</a:t>
            </a:r>
            <a:r>
              <a:rPr lang="en-US" sz="2000" dirty="0"/>
              <a:t> – More advanced, accounts for risk factors.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520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6E362-5BBB-25CA-9B16-FC1CB7BE8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3610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17A6F-29D4-832F-1572-C5764A58B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24000"/>
            <a:ext cx="9825909" cy="5222789"/>
          </a:xfrm>
        </p:spPr>
        <p:txBody>
          <a:bodyPr>
            <a:normAutofit/>
          </a:bodyPr>
          <a:lstStyle/>
          <a:p>
            <a:r>
              <a:rPr lang="en-US" sz="2400" b="1" dirty="0"/>
              <a:t>Formula:</a:t>
            </a:r>
            <a:endParaRPr lang="en-US" sz="2400" dirty="0"/>
          </a:p>
          <a:p>
            <a:r>
              <a:rPr lang="en-US" sz="2400" dirty="0"/>
              <a:t>Effort (PM)= </a:t>
            </a:r>
            <a:r>
              <a:rPr lang="en-US" sz="2400" b="1" dirty="0">
                <a:solidFill>
                  <a:schemeClr val="accent2"/>
                </a:solidFill>
              </a:rPr>
              <a:t>a</a:t>
            </a:r>
            <a:r>
              <a:rPr lang="en-US" sz="2400" dirty="0"/>
              <a:t>×(Size) </a:t>
            </a:r>
            <a:r>
              <a:rPr lang="en-US" sz="2400" b="1" dirty="0">
                <a:solidFill>
                  <a:schemeClr val="accent2"/>
                </a:solidFill>
              </a:rPr>
              <a:t>b</a:t>
            </a:r>
            <a:r>
              <a:rPr lang="en-US" sz="2400" dirty="0"/>
              <a:t>\text{Effort (PM)} = a \times (\text{Size})^b Effort (PM)=a×(Size)b 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Size</a:t>
            </a:r>
            <a:r>
              <a:rPr lang="en-US" sz="2400" dirty="0"/>
              <a:t> = Kilo Lines of Code (KLOC)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a, b</a:t>
            </a:r>
            <a:r>
              <a:rPr lang="en-US" sz="2400" dirty="0"/>
              <a:t> = Constants based on project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PM</a:t>
            </a:r>
            <a:r>
              <a:rPr lang="en-US" sz="2400" dirty="0"/>
              <a:t> = Person-Months (Effort)</a:t>
            </a:r>
          </a:p>
          <a:p>
            <a:r>
              <a:rPr lang="en-US" sz="2400" dirty="0"/>
              <a:t>✅ </a:t>
            </a:r>
            <a:r>
              <a:rPr lang="en-US" sz="2400" b="1" dirty="0"/>
              <a:t>Pros:</a:t>
            </a:r>
            <a:r>
              <a:rPr lang="en-US" sz="2400" dirty="0"/>
              <a:t> Uses real-world data for better accuracy.</a:t>
            </a:r>
            <a:br>
              <a:rPr lang="en-US" sz="2400" dirty="0"/>
            </a:br>
            <a:r>
              <a:rPr lang="en-US" sz="2400" dirty="0"/>
              <a:t>❌ </a:t>
            </a:r>
            <a:r>
              <a:rPr lang="en-US" sz="2400" b="1" dirty="0"/>
              <a:t>Cons:</a:t>
            </a:r>
            <a:r>
              <a:rPr lang="en-US" sz="2400" dirty="0"/>
              <a:t> Needs accurate LOC estimates, outdated for modern software (Agile, AI).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926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A5CA6-F239-9D09-BD95-3AA9CD0AB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028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2. Function Point Analysis (FPA)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B2033-9306-5A58-D199-6B265C2F4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2303"/>
            <a:ext cx="9442850" cy="480677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Measures software complexity based on </a:t>
            </a:r>
            <a:r>
              <a:rPr lang="en-US" sz="2800" b="1" dirty="0"/>
              <a:t>functions</a:t>
            </a:r>
            <a:r>
              <a:rPr lang="en-US" sz="2800" dirty="0"/>
              <a:t> rather than lines of code.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Counts </a:t>
            </a:r>
            <a:r>
              <a:rPr lang="en-US" sz="2800" b="1" dirty="0"/>
              <a:t>inputs, outputs, user interactions, files, and interfaces</a:t>
            </a:r>
            <a:r>
              <a:rPr lang="en-US" sz="2800" dirty="0"/>
              <a:t> to estimate effort.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F0"/>
                </a:solidFill>
              </a:rPr>
              <a:t>Better suited for modern software </a:t>
            </a:r>
            <a:r>
              <a:rPr lang="en-US" sz="2800" dirty="0"/>
              <a:t>(web, mobile apps).</a:t>
            </a:r>
          </a:p>
          <a:p>
            <a:r>
              <a:rPr lang="en-US" sz="2800" dirty="0"/>
              <a:t>✅ </a:t>
            </a:r>
            <a:r>
              <a:rPr lang="en-US" sz="2800" b="1" dirty="0"/>
              <a:t>Pros:</a:t>
            </a:r>
            <a:r>
              <a:rPr lang="en-US" sz="2800" dirty="0"/>
              <a:t> Works for different languages, better for business applications.</a:t>
            </a:r>
            <a:br>
              <a:rPr lang="en-US" sz="2800" dirty="0"/>
            </a:br>
            <a:r>
              <a:rPr lang="en-US" sz="2800" dirty="0"/>
              <a:t>❌ </a:t>
            </a:r>
            <a:r>
              <a:rPr lang="en-US" sz="2800" b="1" dirty="0"/>
              <a:t>Cons:</a:t>
            </a:r>
            <a:r>
              <a:rPr lang="en-US" sz="2800" dirty="0"/>
              <a:t> Requires expertise to assess function points accurately.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795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07E8F-F06E-F64D-EC2B-20CE49590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78296"/>
            <a:ext cx="8596668" cy="71257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99226-F44D-A9F3-309C-8A6F026BF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1965"/>
            <a:ext cx="9356352" cy="5051766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B. Expert Judgment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Experts estimate cost based on their experience.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Methods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Delphi Method</a:t>
            </a:r>
            <a:r>
              <a:rPr lang="en-US" sz="2400" dirty="0"/>
              <a:t> – Multiple experts provide independent estimates, then refine them through discussion.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Analogy-Based Estimation</a:t>
            </a:r>
            <a:r>
              <a:rPr lang="en-US" sz="2400" dirty="0"/>
              <a:t> – Compares new projects to past similar projects.</a:t>
            </a:r>
          </a:p>
          <a:p>
            <a:r>
              <a:rPr lang="en-US" sz="2800" dirty="0"/>
              <a:t>✅ </a:t>
            </a:r>
            <a:r>
              <a:rPr lang="en-US" sz="2800" b="1" dirty="0"/>
              <a:t>Pros:</a:t>
            </a:r>
            <a:r>
              <a:rPr lang="en-US" sz="2800" dirty="0"/>
              <a:t> Quick, effective for experienced teams.</a:t>
            </a:r>
            <a:br>
              <a:rPr lang="en-US" sz="2800" dirty="0"/>
            </a:br>
            <a:r>
              <a:rPr lang="en-US" sz="2800" dirty="0"/>
              <a:t>❌ </a:t>
            </a:r>
            <a:r>
              <a:rPr lang="en-US" sz="2800" b="1" dirty="0"/>
              <a:t>Cons:</a:t>
            </a:r>
            <a:r>
              <a:rPr lang="en-US" sz="2800" dirty="0"/>
              <a:t> Subjective, may lack consistency.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791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06D08-A6EB-CA32-20B9-E42C32392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35780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FEE8F-BA1C-4982-60E3-7307C8C5A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742302"/>
            <a:ext cx="10023617" cy="479442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C. Empirical &amp; Machine Learning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Use AI/ML to analyze historical data and predict costs dynamically.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u="sng" dirty="0"/>
              <a:t>Examples: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Regression Models</a:t>
            </a:r>
            <a:r>
              <a:rPr lang="en-US" sz="2400" dirty="0"/>
              <a:t>: Predict cost based on past trends.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Neural Networks</a:t>
            </a:r>
            <a:r>
              <a:rPr lang="en-US" sz="2400" dirty="0"/>
              <a:t>: Use deep learning to refine estimates.</a:t>
            </a:r>
          </a:p>
          <a:p>
            <a:r>
              <a:rPr lang="en-US" sz="2800" dirty="0"/>
              <a:t>✅ </a:t>
            </a:r>
            <a:r>
              <a:rPr lang="en-US" sz="2800" b="1" dirty="0"/>
              <a:t>Pros:</a:t>
            </a:r>
            <a:r>
              <a:rPr lang="en-US" sz="2800" dirty="0"/>
              <a:t> Adapts to real-world variations.</a:t>
            </a:r>
            <a:br>
              <a:rPr lang="en-US" sz="2800" dirty="0"/>
            </a:br>
            <a:r>
              <a:rPr lang="en-US" sz="2800" dirty="0"/>
              <a:t>❌ </a:t>
            </a:r>
            <a:r>
              <a:rPr lang="en-US" sz="2800" b="1" dirty="0"/>
              <a:t>Cons:</a:t>
            </a:r>
            <a:r>
              <a:rPr lang="en-US" sz="2800" dirty="0"/>
              <a:t> Needs a large dataset for training.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547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B8C5B-67B0-991A-21A3-C6A42AB5D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86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0887A-AC27-080B-15DD-9B6EE141E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10748"/>
            <a:ext cx="10023617" cy="519897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D. Estimation by Project Breakdown</a:t>
            </a:r>
          </a:p>
          <a:p>
            <a:pPr>
              <a:buFont typeface="+mj-lt"/>
              <a:buAutoNum type="arabicPeriod"/>
            </a:pPr>
            <a:r>
              <a:rPr lang="en-US" sz="2800" b="1" dirty="0"/>
              <a:t>Top-Down Estimation</a:t>
            </a:r>
            <a:endParaRPr lang="en-US" sz="2800" dirty="0"/>
          </a:p>
          <a:p>
            <a:pPr marL="742950" lvl="1" indent="-285750">
              <a:buFont typeface="+mj-lt"/>
              <a:buAutoNum type="arabicPeriod"/>
            </a:pPr>
            <a:r>
              <a:rPr lang="en-US" sz="2400" dirty="0"/>
              <a:t>Estimates cost based on overall project scope.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/>
              <a:t>Used in early stages for rough estimates.</a:t>
            </a:r>
          </a:p>
          <a:p>
            <a:pPr>
              <a:buFont typeface="+mj-lt"/>
              <a:buAutoNum type="arabicPeriod"/>
            </a:pPr>
            <a:r>
              <a:rPr lang="en-US" sz="2800" b="1" dirty="0"/>
              <a:t>Bottom-Up Estimation</a:t>
            </a:r>
            <a:endParaRPr lang="en-US" sz="2800" dirty="0"/>
          </a:p>
          <a:p>
            <a:pPr marL="742950" lvl="1" indent="-285750">
              <a:buFont typeface="+mj-lt"/>
              <a:buAutoNum type="arabicPeriod"/>
            </a:pPr>
            <a:r>
              <a:rPr lang="en-US" sz="2400" dirty="0"/>
              <a:t>Breaks project into smaller tasks, estimates each, and sums them.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/>
              <a:t>More accurate but time-consuming.</a:t>
            </a:r>
          </a:p>
          <a:p>
            <a:r>
              <a:rPr lang="en-US" sz="2800" dirty="0"/>
              <a:t>✅ </a:t>
            </a:r>
            <a:r>
              <a:rPr lang="en-US" sz="2800" b="1" dirty="0"/>
              <a:t>Best for Agile projects</a:t>
            </a:r>
            <a:r>
              <a:rPr lang="en-US" sz="2800" dirty="0"/>
              <a:t>: Combines </a:t>
            </a:r>
            <a:r>
              <a:rPr lang="en-US" sz="2800" b="1" dirty="0"/>
              <a:t>top-down for planning</a:t>
            </a:r>
            <a:r>
              <a:rPr lang="en-US" sz="2800" dirty="0"/>
              <a:t> &amp; </a:t>
            </a:r>
            <a:r>
              <a:rPr lang="en-US" sz="2800" b="1" dirty="0"/>
              <a:t>bottom-up for sprints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76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8447-DDEC-E91C-3D5F-477497FA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09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3. Factors Affecting Cost Estimation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97705-C256-EFF9-601A-EB0A96853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90583"/>
            <a:ext cx="9640558" cy="435781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Project Size &amp;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Technology Stack &amp;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Development Team Experience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Third-party Integrations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Testing &amp; Security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Market &amp; Compliance Factors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851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4D41E-BF26-EFB5-6A2A-9707A3DD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5374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7A4A75-F3AD-0308-72F7-5A25367DAB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408259"/>
              </p:ext>
            </p:extLst>
          </p:nvPr>
        </p:nvGraphicFramePr>
        <p:xfrm>
          <a:off x="677334" y="1762539"/>
          <a:ext cx="9990667" cy="4835969"/>
        </p:xfrm>
        <a:graphic>
          <a:graphicData uri="http://schemas.openxmlformats.org/drawingml/2006/table">
            <a:tbl>
              <a:tblPr/>
              <a:tblGrid>
                <a:gridCol w="2497667">
                  <a:extLst>
                    <a:ext uri="{9D8B030D-6E8A-4147-A177-3AD203B41FA5}">
                      <a16:colId xmlns:a16="http://schemas.microsoft.com/office/drawing/2014/main" val="3431257965"/>
                    </a:ext>
                  </a:extLst>
                </a:gridCol>
                <a:gridCol w="2390453">
                  <a:extLst>
                    <a:ext uri="{9D8B030D-6E8A-4147-A177-3AD203B41FA5}">
                      <a16:colId xmlns:a16="http://schemas.microsoft.com/office/drawing/2014/main" val="779541847"/>
                    </a:ext>
                  </a:extLst>
                </a:gridCol>
                <a:gridCol w="2604880">
                  <a:extLst>
                    <a:ext uri="{9D8B030D-6E8A-4147-A177-3AD203B41FA5}">
                      <a16:colId xmlns:a16="http://schemas.microsoft.com/office/drawing/2014/main" val="1825881385"/>
                    </a:ext>
                  </a:extLst>
                </a:gridCol>
                <a:gridCol w="2497667">
                  <a:extLst>
                    <a:ext uri="{9D8B030D-6E8A-4147-A177-3AD203B41FA5}">
                      <a16:colId xmlns:a16="http://schemas.microsoft.com/office/drawing/2014/main" val="2559109413"/>
                    </a:ext>
                  </a:extLst>
                </a:gridCol>
              </a:tblGrid>
              <a:tr h="402739">
                <a:tc>
                  <a:txBody>
                    <a:bodyPr/>
                    <a:lstStyle/>
                    <a:p>
                      <a:r>
                        <a:rPr lang="en-US" sz="1600" b="1"/>
                        <a:t>Model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Best For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Accuracy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Complexity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006448"/>
                  </a:ext>
                </a:extLst>
              </a:tr>
              <a:tr h="1007623">
                <a:tc>
                  <a:txBody>
                    <a:bodyPr/>
                    <a:lstStyle/>
                    <a:p>
                      <a:r>
                        <a:rPr lang="en-US" sz="1600" b="1"/>
                        <a:t>COCOMO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Large projects, historical data available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High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High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823818"/>
                  </a:ext>
                </a:extLst>
              </a:tr>
              <a:tr h="1310064">
                <a:tc>
                  <a:txBody>
                    <a:bodyPr/>
                    <a:lstStyle/>
                    <a:p>
                      <a:r>
                        <a:rPr lang="en-US" sz="1600" b="1" dirty="0"/>
                        <a:t>Function Points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Business applications, multiple tech stacks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Medium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Medium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828088"/>
                  </a:ext>
                </a:extLst>
              </a:tr>
              <a:tr h="705181">
                <a:tc>
                  <a:txBody>
                    <a:bodyPr/>
                    <a:lstStyle/>
                    <a:p>
                      <a:r>
                        <a:rPr lang="en-US" sz="1600" b="1"/>
                        <a:t>Expert Judgment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Small teams, startup projects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Medium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Low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009668"/>
                  </a:ext>
                </a:extLst>
              </a:tr>
              <a:tr h="705181">
                <a:tc>
                  <a:txBody>
                    <a:bodyPr/>
                    <a:lstStyle/>
                    <a:p>
                      <a:r>
                        <a:rPr lang="en-US" sz="1600" b="1"/>
                        <a:t>Machine Learning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Data-driven organizations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High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High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635758"/>
                  </a:ext>
                </a:extLst>
              </a:tr>
              <a:tr h="705181">
                <a:tc>
                  <a:txBody>
                    <a:bodyPr/>
                    <a:lstStyle/>
                    <a:p>
                      <a:r>
                        <a:rPr lang="en-US" sz="1600" b="1"/>
                        <a:t>Bottom-Up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Agile teams, detailed planning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High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High</a:t>
                      </a:r>
                    </a:p>
                  </a:txBody>
                  <a:tcPr marL="80863" marR="80863" marT="40432" marB="40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32452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31D52B2-D5AF-9DD8-10C8-8D414E33A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Which Model Should You Use?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746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A583-D3AE-3869-8E0E-22DDFA0EA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091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5. Best Practices for Software Cost Estimation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2003B-6EA8-6CC7-4A7C-41445A2A3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✅ </a:t>
            </a:r>
            <a:r>
              <a:rPr lang="en-US" sz="2800" b="1" dirty="0"/>
              <a:t>Use multiple estimation models</a:t>
            </a:r>
            <a:r>
              <a:rPr lang="en-US" sz="2800" dirty="0"/>
              <a:t> to cross-check accuracy.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Break projects into phases</a:t>
            </a:r>
            <a:r>
              <a:rPr lang="en-US" sz="2800" dirty="0"/>
              <a:t> to improve predictability.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Adjust estimates for risks</a:t>
            </a:r>
            <a:r>
              <a:rPr lang="en-US" sz="2800" dirty="0"/>
              <a:t> like scope creep and tech changes.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Continuously update estimates</a:t>
            </a:r>
            <a:r>
              <a:rPr lang="en-US" sz="2800" dirty="0"/>
              <a:t> based on project progress.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346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083F9-815A-59B8-B3AF-3F8C8702A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B6BE2-EE82-09A5-F2DE-E1D197F0E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18722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3129</TotalTime>
  <Words>1297</Words>
  <Application>Microsoft Office PowerPoint</Application>
  <PresentationFormat>Widescreen</PresentationFormat>
  <Paragraphs>144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Trebuchet MS</vt:lpstr>
      <vt:lpstr>Wingdings</vt:lpstr>
      <vt:lpstr>Wingdings 3</vt:lpstr>
      <vt:lpstr>Facet</vt:lpstr>
      <vt:lpstr>Soft ware economics </vt:lpstr>
      <vt:lpstr>Over view </vt:lpstr>
      <vt:lpstr>Course contents </vt:lpstr>
      <vt:lpstr>Software Economics </vt:lpstr>
      <vt:lpstr>Key Aspects of Software Economics </vt:lpstr>
      <vt:lpstr>PowerPoint Presentation</vt:lpstr>
      <vt:lpstr>c. Cost-Benefit Analysis (CBA) </vt:lpstr>
      <vt:lpstr>Factors Affecting Software Economics </vt:lpstr>
      <vt:lpstr>3. Software Pricing Models </vt:lpstr>
      <vt:lpstr>4. Economic Challenges in Software Development </vt:lpstr>
      <vt:lpstr>5. Best Practices to Optimize Software Economics </vt:lpstr>
      <vt:lpstr>Software Cost Estimation Models </vt:lpstr>
      <vt:lpstr>2. Key Software Cost Estimation Models </vt:lpstr>
      <vt:lpstr>PowerPoint Presentation</vt:lpstr>
      <vt:lpstr>2. Function Point Analysis (FPA) </vt:lpstr>
      <vt:lpstr>PowerPoint Presentation</vt:lpstr>
      <vt:lpstr>PowerPoint Presentation</vt:lpstr>
      <vt:lpstr>PowerPoint Presentation</vt:lpstr>
      <vt:lpstr>3. Factors Affecting Cost Estimation </vt:lpstr>
      <vt:lpstr>PowerPoint Presentation</vt:lpstr>
      <vt:lpstr>5. Best Practices for Software Cost Estimation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29</cp:revision>
  <dcterms:created xsi:type="dcterms:W3CDTF">2025-01-29T09:29:44Z</dcterms:created>
  <dcterms:modified xsi:type="dcterms:W3CDTF">2025-02-17T10:28:49Z</dcterms:modified>
</cp:coreProperties>
</file>