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handoutMasterIdLst>
    <p:handoutMasterId r:id="rId29"/>
  </p:handoutMasterIdLst>
  <p:sldIdLst>
    <p:sldId id="306" r:id="rId5"/>
    <p:sldId id="263" r:id="rId6"/>
    <p:sldId id="264" r:id="rId7"/>
    <p:sldId id="265" r:id="rId8"/>
    <p:sldId id="266" r:id="rId9"/>
    <p:sldId id="267" r:id="rId10"/>
    <p:sldId id="269" r:id="rId11"/>
    <p:sldId id="270" r:id="rId12"/>
    <p:sldId id="271" r:id="rId13"/>
    <p:sldId id="278" r:id="rId14"/>
    <p:sldId id="280" r:id="rId15"/>
    <p:sldId id="282" r:id="rId16"/>
    <p:sldId id="283" r:id="rId17"/>
    <p:sldId id="285" r:id="rId18"/>
    <p:sldId id="286" r:id="rId19"/>
    <p:sldId id="287" r:id="rId20"/>
    <p:sldId id="288" r:id="rId21"/>
    <p:sldId id="294" r:id="rId22"/>
    <p:sldId id="299" r:id="rId23"/>
    <p:sldId id="301" r:id="rId24"/>
    <p:sldId id="302" r:id="rId25"/>
    <p:sldId id="303" r:id="rId26"/>
    <p:sldId id="304" r:id="rId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2571" autoAdjust="0"/>
  </p:normalViewPr>
  <p:slideViewPr>
    <p:cSldViewPr>
      <p:cViewPr varScale="1">
        <p:scale>
          <a:sx n="69" d="100"/>
          <a:sy n="69" d="100"/>
        </p:scale>
        <p:origin x="1380" y="66"/>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84591" tIns="42296" rIns="84591" bIns="42296" rtlCol="0"/>
          <a:lstStyle>
            <a:lvl1pPr algn="l">
              <a:defRPr sz="1100">
                <a:latin typeface="Arial" charset="0"/>
                <a:cs typeface="Arial" charset="0"/>
              </a:defRPr>
            </a:lvl1pPr>
          </a:lstStyle>
          <a:p>
            <a:pPr>
              <a:defRPr/>
            </a:pPr>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84591" tIns="42296" rIns="84591" bIns="42296" rtlCol="0"/>
          <a:lstStyle>
            <a:lvl1pPr algn="r">
              <a:defRPr sz="1100">
                <a:latin typeface="Arial" charset="0"/>
                <a:cs typeface="Arial" charset="0"/>
              </a:defRPr>
            </a:lvl1pPr>
          </a:lstStyle>
          <a:p>
            <a:pPr>
              <a:defRPr/>
            </a:pPr>
            <a:fld id="{070E1BE9-18F7-4AF4-A2BB-C9DFE67BC3AD}" type="datetimeFigureOut">
              <a:rPr lang="en-US"/>
              <a:pPr>
                <a:defRPr/>
              </a:pPr>
              <a:t>11/18/2024</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84591" tIns="42296" rIns="84591" bIns="42296" rtlCol="0" anchor="b"/>
          <a:lstStyle>
            <a:lvl1pPr algn="l">
              <a:defRPr sz="1100">
                <a:latin typeface="Arial" charset="0"/>
                <a:cs typeface="Arial" charset="0"/>
              </a:defRPr>
            </a:lvl1pPr>
          </a:lstStyle>
          <a:p>
            <a:pPr>
              <a:defRPr/>
            </a:pPr>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84591" tIns="42296" rIns="84591" bIns="42296" numCol="1" anchor="b" anchorCtr="0" compatLnSpc="1">
            <a:prstTxWarp prst="textNoShape">
              <a:avLst/>
            </a:prstTxWarp>
          </a:bodyPr>
          <a:lstStyle>
            <a:lvl1pPr algn="r">
              <a:defRPr sz="1100"/>
            </a:lvl1pPr>
          </a:lstStyle>
          <a:p>
            <a:fld id="{ECD82966-79E7-4043-BA99-A01578139893}" type="slidenum">
              <a:rPr lang="en-GB"/>
              <a:pPr/>
              <a:t>‹#›</a:t>
            </a:fld>
            <a:endParaRPr lang="en-GB"/>
          </a:p>
        </p:txBody>
      </p:sp>
    </p:spTree>
    <p:extLst>
      <p:ext uri="{BB962C8B-B14F-4D97-AF65-F5344CB8AC3E}">
        <p14:creationId xmlns:p14="http://schemas.microsoft.com/office/powerpoint/2010/main" val="18209723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34" tIns="45718" rIns="91434" bIns="45718"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34" tIns="45718" rIns="91434" bIns="45718" rtlCol="0"/>
          <a:lstStyle>
            <a:lvl1pPr algn="r" fontAlgn="auto">
              <a:spcBef>
                <a:spcPts val="0"/>
              </a:spcBef>
              <a:spcAft>
                <a:spcPts val="0"/>
              </a:spcAft>
              <a:defRPr sz="1200">
                <a:latin typeface="+mn-lt"/>
                <a:cs typeface="+mn-cs"/>
              </a:defRPr>
            </a:lvl1pPr>
          </a:lstStyle>
          <a:p>
            <a:pPr>
              <a:defRPr/>
            </a:pPr>
            <a:fld id="{63ED7C5D-03BC-47F6-B1E9-B3F21C9FAE73}" type="datetimeFigureOut">
              <a:rPr lang="en-US"/>
              <a:pPr>
                <a:defRPr/>
              </a:pPr>
              <a:t>11/18/2024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34" tIns="45718" rIns="91434" bIns="45718" rtlCol="0" anchor="ctr"/>
          <a:lstStyle/>
          <a:p>
            <a:pPr lvl="0"/>
            <a:endParaRPr lang="en-GB"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34" tIns="45718" rIns="91434" bIns="45718"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34" tIns="45718" rIns="91434" bIns="45718"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34" tIns="45718" rIns="91434" bIns="45718" numCol="1" anchor="b" anchorCtr="0" compatLnSpc="1">
            <a:prstTxWarp prst="textNoShape">
              <a:avLst/>
            </a:prstTxWarp>
          </a:bodyPr>
          <a:lstStyle>
            <a:lvl1pPr algn="r">
              <a:defRPr sz="1200">
                <a:latin typeface="Calibri" panose="020F0502020204030204" pitchFamily="34" charset="0"/>
              </a:defRPr>
            </a:lvl1pPr>
          </a:lstStyle>
          <a:p>
            <a:fld id="{4D67C231-2574-4F91-AE69-2D8B912E0546}" type="slidenum">
              <a:rPr lang="en-GB"/>
              <a:pPr/>
              <a:t>‹#›</a:t>
            </a:fld>
            <a:endParaRPr lang="en-GB"/>
          </a:p>
        </p:txBody>
      </p:sp>
    </p:spTree>
    <p:extLst>
      <p:ext uri="{BB962C8B-B14F-4D97-AF65-F5344CB8AC3E}">
        <p14:creationId xmlns:p14="http://schemas.microsoft.com/office/powerpoint/2010/main" val="11677554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AB6162F-9539-46A3-BD31-20D57F401948}" type="slidenum">
              <a:rPr lang="en-GB">
                <a:latin typeface="Calibri" panose="020F0502020204030204" pitchFamily="34" charset="0"/>
              </a:rPr>
              <a:pPr eaLnBrk="1" hangingPunct="1"/>
              <a:t>2</a:t>
            </a:fld>
            <a:endParaRPr lang="en-GB">
              <a:latin typeface="Calibri" panose="020F0502020204030204" pitchFamily="34" charset="0"/>
            </a:endParaRPr>
          </a:p>
        </p:txBody>
      </p:sp>
    </p:spTree>
    <p:extLst>
      <p:ext uri="{BB962C8B-B14F-4D97-AF65-F5344CB8AC3E}">
        <p14:creationId xmlns:p14="http://schemas.microsoft.com/office/powerpoint/2010/main" val="1116343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89C4779-80B3-4D12-81B3-36C4E344B04A}" type="slidenum">
              <a:rPr lang="en-GB">
                <a:latin typeface="Calibri" panose="020F0502020204030204" pitchFamily="34" charset="0"/>
              </a:rPr>
              <a:pPr eaLnBrk="1" hangingPunct="1"/>
              <a:t>3</a:t>
            </a:fld>
            <a:endParaRPr lang="en-GB">
              <a:latin typeface="Calibri" panose="020F0502020204030204" pitchFamily="34" charset="0"/>
            </a:endParaRPr>
          </a:p>
        </p:txBody>
      </p:sp>
    </p:spTree>
    <p:extLst>
      <p:ext uri="{BB962C8B-B14F-4D97-AF65-F5344CB8AC3E}">
        <p14:creationId xmlns:p14="http://schemas.microsoft.com/office/powerpoint/2010/main" val="3116678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B867FB4-9D61-48BD-857D-18677121DC1D}" type="slidenum">
              <a:rPr lang="en-GB">
                <a:latin typeface="Calibri" panose="020F0502020204030204" pitchFamily="34" charset="0"/>
              </a:rPr>
              <a:pPr eaLnBrk="1" hangingPunct="1"/>
              <a:t>4</a:t>
            </a:fld>
            <a:endParaRPr lang="en-GB">
              <a:latin typeface="Calibri" panose="020F0502020204030204" pitchFamily="34" charset="0"/>
            </a:endParaRPr>
          </a:p>
        </p:txBody>
      </p:sp>
    </p:spTree>
    <p:extLst>
      <p:ext uri="{BB962C8B-B14F-4D97-AF65-F5344CB8AC3E}">
        <p14:creationId xmlns:p14="http://schemas.microsoft.com/office/powerpoint/2010/main" val="651720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5D0F3B-00A8-40EF-BC9F-39E667F2C528}" type="slidenum">
              <a:rPr lang="en-GB">
                <a:latin typeface="Calibri" panose="020F0502020204030204" pitchFamily="34" charset="0"/>
              </a:rPr>
              <a:pPr eaLnBrk="1" hangingPunct="1"/>
              <a:t>5</a:t>
            </a:fld>
            <a:endParaRPr lang="en-GB">
              <a:latin typeface="Calibri" panose="020F0502020204030204" pitchFamily="34" charset="0"/>
            </a:endParaRPr>
          </a:p>
        </p:txBody>
      </p:sp>
    </p:spTree>
    <p:extLst>
      <p:ext uri="{BB962C8B-B14F-4D97-AF65-F5344CB8AC3E}">
        <p14:creationId xmlns:p14="http://schemas.microsoft.com/office/powerpoint/2010/main" val="3973677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8DDBE4-B2F9-4C00-B244-EBDCC59B3F62}" type="slidenum">
              <a:rPr lang="en-GB">
                <a:latin typeface="Calibri" panose="020F0502020204030204" pitchFamily="34" charset="0"/>
              </a:rPr>
              <a:pPr eaLnBrk="1" hangingPunct="1"/>
              <a:t>6</a:t>
            </a:fld>
            <a:endParaRPr lang="en-GB">
              <a:latin typeface="Calibri" panose="020F0502020204030204" pitchFamily="34" charset="0"/>
            </a:endParaRPr>
          </a:p>
        </p:txBody>
      </p:sp>
    </p:spTree>
    <p:extLst>
      <p:ext uri="{BB962C8B-B14F-4D97-AF65-F5344CB8AC3E}">
        <p14:creationId xmlns:p14="http://schemas.microsoft.com/office/powerpoint/2010/main" val="3448630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07840D-9CA8-461D-821B-E43EBCA9B456}" type="slidenum">
              <a:rPr lang="en-GB">
                <a:latin typeface="Calibri" panose="020F0502020204030204" pitchFamily="34" charset="0"/>
              </a:rPr>
              <a:pPr eaLnBrk="1" hangingPunct="1"/>
              <a:t>7</a:t>
            </a:fld>
            <a:endParaRPr lang="en-GB">
              <a:latin typeface="Calibri" panose="020F0502020204030204" pitchFamily="34" charset="0"/>
            </a:endParaRPr>
          </a:p>
        </p:txBody>
      </p:sp>
    </p:spTree>
    <p:extLst>
      <p:ext uri="{BB962C8B-B14F-4D97-AF65-F5344CB8AC3E}">
        <p14:creationId xmlns:p14="http://schemas.microsoft.com/office/powerpoint/2010/main" val="4047270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03A8B6-07E3-4D45-9629-FE9F4FADF057}" type="slidenum">
              <a:rPr lang="en-GB">
                <a:latin typeface="Calibri" panose="020F0502020204030204" pitchFamily="34" charset="0"/>
              </a:rPr>
              <a:pPr eaLnBrk="1" hangingPunct="1"/>
              <a:t>8</a:t>
            </a:fld>
            <a:endParaRPr lang="en-GB">
              <a:latin typeface="Calibri" panose="020F0502020204030204" pitchFamily="34" charset="0"/>
            </a:endParaRPr>
          </a:p>
        </p:txBody>
      </p:sp>
    </p:spTree>
    <p:extLst>
      <p:ext uri="{BB962C8B-B14F-4D97-AF65-F5344CB8AC3E}">
        <p14:creationId xmlns:p14="http://schemas.microsoft.com/office/powerpoint/2010/main" val="805670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943DDE1-C873-4D9E-A9DC-5C27B5217CE9}" type="slidenum">
              <a:rPr lang="en-GB">
                <a:latin typeface="Calibri" panose="020F0502020204030204" pitchFamily="34" charset="0"/>
              </a:rPr>
              <a:pPr eaLnBrk="1" hangingPunct="1"/>
              <a:t>9</a:t>
            </a:fld>
            <a:endParaRPr lang="en-GB">
              <a:latin typeface="Calibri" panose="020F0502020204030204" pitchFamily="34" charset="0"/>
            </a:endParaRPr>
          </a:p>
        </p:txBody>
      </p:sp>
    </p:spTree>
    <p:extLst>
      <p:ext uri="{BB962C8B-B14F-4D97-AF65-F5344CB8AC3E}">
        <p14:creationId xmlns:p14="http://schemas.microsoft.com/office/powerpoint/2010/main" val="7193578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B5BDD97-3E90-4E15-9981-1AD0F43F90E3}" type="slidenum">
              <a:rPr lang="en-GB">
                <a:latin typeface="Calibri" panose="020F0502020204030204" pitchFamily="34" charset="0"/>
              </a:rPr>
              <a:pPr eaLnBrk="1" hangingPunct="1"/>
              <a:t>10</a:t>
            </a:fld>
            <a:endParaRPr lang="en-GB">
              <a:latin typeface="Calibri" panose="020F0502020204030204" pitchFamily="34" charset="0"/>
            </a:endParaRPr>
          </a:p>
        </p:txBody>
      </p:sp>
    </p:spTree>
    <p:extLst>
      <p:ext uri="{BB962C8B-B14F-4D97-AF65-F5344CB8AC3E}">
        <p14:creationId xmlns:p14="http://schemas.microsoft.com/office/powerpoint/2010/main" val="2269817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42CEB4-2826-4348-B626-D3EEB07203B5}" type="slidenum">
              <a:rPr lang="en-GB">
                <a:latin typeface="Calibri" panose="020F0502020204030204" pitchFamily="34" charset="0"/>
              </a:rPr>
              <a:pPr eaLnBrk="1" hangingPunct="1"/>
              <a:t>11</a:t>
            </a:fld>
            <a:endParaRPr lang="en-GB">
              <a:latin typeface="Calibri" panose="020F0502020204030204" pitchFamily="34" charset="0"/>
            </a:endParaRPr>
          </a:p>
        </p:txBody>
      </p:sp>
    </p:spTree>
    <p:extLst>
      <p:ext uri="{BB962C8B-B14F-4D97-AF65-F5344CB8AC3E}">
        <p14:creationId xmlns:p14="http://schemas.microsoft.com/office/powerpoint/2010/main" val="2970768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17D384-7221-4DB7-A020-A1CDC6550730}" type="slidenum">
              <a:rPr lang="en-GB">
                <a:latin typeface="Calibri" panose="020F0502020204030204" pitchFamily="34" charset="0"/>
              </a:rPr>
              <a:pPr eaLnBrk="1" hangingPunct="1"/>
              <a:t>12</a:t>
            </a:fld>
            <a:endParaRPr lang="en-GB">
              <a:latin typeface="Calibri" panose="020F0502020204030204" pitchFamily="34" charset="0"/>
            </a:endParaRPr>
          </a:p>
        </p:txBody>
      </p:sp>
    </p:spTree>
    <p:extLst>
      <p:ext uri="{BB962C8B-B14F-4D97-AF65-F5344CB8AC3E}">
        <p14:creationId xmlns:p14="http://schemas.microsoft.com/office/powerpoint/2010/main" val="1083581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0B4CF5B-3C77-411D-89DE-B191E02E43A0}" type="slidenum">
              <a:rPr lang="en-GB">
                <a:latin typeface="Calibri" panose="020F0502020204030204" pitchFamily="34" charset="0"/>
              </a:rPr>
              <a:pPr eaLnBrk="1" hangingPunct="1"/>
              <a:t>13</a:t>
            </a:fld>
            <a:endParaRPr lang="en-GB">
              <a:latin typeface="Calibri" panose="020F0502020204030204" pitchFamily="34" charset="0"/>
            </a:endParaRPr>
          </a:p>
        </p:txBody>
      </p:sp>
    </p:spTree>
    <p:extLst>
      <p:ext uri="{BB962C8B-B14F-4D97-AF65-F5344CB8AC3E}">
        <p14:creationId xmlns:p14="http://schemas.microsoft.com/office/powerpoint/2010/main" val="1731765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26BF889-30ED-4EAC-8072-FA10050B012B}" type="slidenum">
              <a:rPr lang="en-GB">
                <a:latin typeface="Calibri" panose="020F0502020204030204" pitchFamily="34" charset="0"/>
              </a:rPr>
              <a:pPr eaLnBrk="1" hangingPunct="1"/>
              <a:t>14</a:t>
            </a:fld>
            <a:endParaRPr lang="en-GB">
              <a:latin typeface="Calibri" panose="020F0502020204030204" pitchFamily="34" charset="0"/>
            </a:endParaRPr>
          </a:p>
        </p:txBody>
      </p:sp>
    </p:spTree>
    <p:extLst>
      <p:ext uri="{BB962C8B-B14F-4D97-AF65-F5344CB8AC3E}">
        <p14:creationId xmlns:p14="http://schemas.microsoft.com/office/powerpoint/2010/main" val="1544786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3D7816C-DE58-4BBF-B157-EE6A13D7AD84}" type="slidenum">
              <a:rPr lang="en-GB">
                <a:latin typeface="Calibri" panose="020F0502020204030204" pitchFamily="34" charset="0"/>
              </a:rPr>
              <a:pPr eaLnBrk="1" hangingPunct="1"/>
              <a:t>15</a:t>
            </a:fld>
            <a:endParaRPr lang="en-GB">
              <a:latin typeface="Calibri" panose="020F0502020204030204" pitchFamily="34" charset="0"/>
            </a:endParaRPr>
          </a:p>
        </p:txBody>
      </p:sp>
    </p:spTree>
    <p:extLst>
      <p:ext uri="{BB962C8B-B14F-4D97-AF65-F5344CB8AC3E}">
        <p14:creationId xmlns:p14="http://schemas.microsoft.com/office/powerpoint/2010/main" val="1152045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FD1A19-2266-4593-BF9C-0CDF9C050F7C}" type="slidenum">
              <a:rPr lang="en-GB">
                <a:latin typeface="Calibri" panose="020F0502020204030204" pitchFamily="34" charset="0"/>
              </a:rPr>
              <a:pPr eaLnBrk="1" hangingPunct="1"/>
              <a:t>16</a:t>
            </a:fld>
            <a:endParaRPr lang="en-GB">
              <a:latin typeface="Calibri" panose="020F0502020204030204" pitchFamily="34" charset="0"/>
            </a:endParaRPr>
          </a:p>
        </p:txBody>
      </p:sp>
    </p:spTree>
    <p:extLst>
      <p:ext uri="{BB962C8B-B14F-4D97-AF65-F5344CB8AC3E}">
        <p14:creationId xmlns:p14="http://schemas.microsoft.com/office/powerpoint/2010/main" val="707573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2E85524-5C5C-4EEF-85B7-2FD2C823F573}" type="slidenum">
              <a:rPr lang="en-GB">
                <a:latin typeface="Calibri" panose="020F0502020204030204" pitchFamily="34" charset="0"/>
              </a:rPr>
              <a:pPr eaLnBrk="1" hangingPunct="1"/>
              <a:t>17</a:t>
            </a:fld>
            <a:endParaRPr lang="en-GB">
              <a:latin typeface="Calibri" panose="020F0502020204030204" pitchFamily="34" charset="0"/>
            </a:endParaRPr>
          </a:p>
        </p:txBody>
      </p:sp>
    </p:spTree>
    <p:extLst>
      <p:ext uri="{BB962C8B-B14F-4D97-AF65-F5344CB8AC3E}">
        <p14:creationId xmlns:p14="http://schemas.microsoft.com/office/powerpoint/2010/main" val="2624540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E1F5DD-3627-45FD-B37C-D2516B1257B7}" type="slidenum">
              <a:rPr lang="en-GB">
                <a:latin typeface="Calibri" panose="020F0502020204030204" pitchFamily="34" charset="0"/>
              </a:rPr>
              <a:pPr eaLnBrk="1" hangingPunct="1"/>
              <a:t>18</a:t>
            </a:fld>
            <a:endParaRPr lang="en-GB">
              <a:latin typeface="Calibri" panose="020F0502020204030204" pitchFamily="34" charset="0"/>
            </a:endParaRPr>
          </a:p>
        </p:txBody>
      </p:sp>
    </p:spTree>
    <p:extLst>
      <p:ext uri="{BB962C8B-B14F-4D97-AF65-F5344CB8AC3E}">
        <p14:creationId xmlns:p14="http://schemas.microsoft.com/office/powerpoint/2010/main" val="41824818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8E5B53-50BA-4FFD-9F5C-C64BD6392B4B}" type="slidenum">
              <a:rPr lang="en-GB">
                <a:latin typeface="Calibri" panose="020F0502020204030204" pitchFamily="34" charset="0"/>
              </a:rPr>
              <a:pPr eaLnBrk="1" hangingPunct="1"/>
              <a:t>19</a:t>
            </a:fld>
            <a:endParaRPr lang="en-GB">
              <a:latin typeface="Calibri" panose="020F0502020204030204" pitchFamily="34" charset="0"/>
            </a:endParaRPr>
          </a:p>
        </p:txBody>
      </p:sp>
    </p:spTree>
    <p:extLst>
      <p:ext uri="{BB962C8B-B14F-4D97-AF65-F5344CB8AC3E}">
        <p14:creationId xmlns:p14="http://schemas.microsoft.com/office/powerpoint/2010/main" val="974772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87C61AC-DB9D-49B2-BA75-5EA0C366EDC5}" type="slidenum">
              <a:rPr lang="en-GB">
                <a:latin typeface="Calibri" panose="020F0502020204030204" pitchFamily="34" charset="0"/>
              </a:rPr>
              <a:pPr eaLnBrk="1" hangingPunct="1"/>
              <a:t>20</a:t>
            </a:fld>
            <a:endParaRPr lang="en-GB">
              <a:latin typeface="Calibri" panose="020F0502020204030204" pitchFamily="34" charset="0"/>
            </a:endParaRPr>
          </a:p>
        </p:txBody>
      </p:sp>
    </p:spTree>
    <p:extLst>
      <p:ext uri="{BB962C8B-B14F-4D97-AF65-F5344CB8AC3E}">
        <p14:creationId xmlns:p14="http://schemas.microsoft.com/office/powerpoint/2010/main" val="42234076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ADF53D7-E930-4042-A268-0312DAA2A0B0}" type="slidenum">
              <a:rPr lang="en-GB">
                <a:latin typeface="Calibri" panose="020F0502020204030204" pitchFamily="34" charset="0"/>
              </a:rPr>
              <a:pPr eaLnBrk="1" hangingPunct="1"/>
              <a:t>21</a:t>
            </a:fld>
            <a:endParaRPr lang="en-GB">
              <a:latin typeface="Calibri" panose="020F0502020204030204" pitchFamily="34" charset="0"/>
            </a:endParaRPr>
          </a:p>
        </p:txBody>
      </p:sp>
    </p:spTree>
    <p:extLst>
      <p:ext uri="{BB962C8B-B14F-4D97-AF65-F5344CB8AC3E}">
        <p14:creationId xmlns:p14="http://schemas.microsoft.com/office/powerpoint/2010/main" val="404603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2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AB818B-C364-42EC-87DE-920C8AAD8DD0}" type="slidenum">
              <a:rPr lang="en-GB">
                <a:latin typeface="Calibri" panose="020F0502020204030204" pitchFamily="34" charset="0"/>
              </a:rPr>
              <a:pPr eaLnBrk="1" hangingPunct="1"/>
              <a:t>22</a:t>
            </a:fld>
            <a:endParaRPr lang="en-GB">
              <a:latin typeface="Calibri" panose="020F0502020204030204" pitchFamily="34" charset="0"/>
            </a:endParaRPr>
          </a:p>
        </p:txBody>
      </p:sp>
    </p:spTree>
    <p:extLst>
      <p:ext uri="{BB962C8B-B14F-4D97-AF65-F5344CB8AC3E}">
        <p14:creationId xmlns:p14="http://schemas.microsoft.com/office/powerpoint/2010/main" val="2233814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pPr>
              <a:defRPr/>
            </a:pPr>
            <a:fld id="{EFDBA7CD-F57B-42B4-8117-BF7432947C20}" type="datetime1">
              <a:rPr lang="en-US" smtClean="0"/>
              <a:pPr>
                <a:defRPr/>
              </a:pPr>
              <a:t>11/18/2024</a:t>
            </a:fld>
            <a:endParaRPr lang="en-GB"/>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pPr>
              <a:defRPr/>
            </a:pPr>
            <a:endParaRPr lang="en-GB"/>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90D49728-AFC0-4066-B6B1-39FCBAEA583C}" type="slidenum">
              <a:rPr lang="en-GB" smtClean="0"/>
              <a:pPr/>
              <a:t>‹#›</a:t>
            </a:fld>
            <a:endParaRPr lang="en-GB"/>
          </a:p>
        </p:txBody>
      </p:sp>
    </p:spTree>
    <p:extLst>
      <p:ext uri="{BB962C8B-B14F-4D97-AF65-F5344CB8AC3E}">
        <p14:creationId xmlns:p14="http://schemas.microsoft.com/office/powerpoint/2010/main" val="647429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F34786A0-3469-4D86-9B0D-30095DB042AA}" type="datetime1">
              <a:rPr lang="en-US" smtClean="0"/>
              <a:pPr>
                <a:defRPr/>
              </a:pPr>
              <a:t>11/18/2024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42AFEE24-B9CD-4A98-9AC6-5D17588574FB}" type="slidenum">
              <a:rPr lang="en-GB" smtClean="0"/>
              <a:pPr/>
              <a:t>‹#›</a:t>
            </a:fld>
            <a:endParaRPr lang="en-GB"/>
          </a:p>
        </p:txBody>
      </p:sp>
    </p:spTree>
    <p:extLst>
      <p:ext uri="{BB962C8B-B14F-4D97-AF65-F5344CB8AC3E}">
        <p14:creationId xmlns:p14="http://schemas.microsoft.com/office/powerpoint/2010/main" val="3663092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237CB1F6-7BC7-4982-8F7E-C2D2BC7E771C}" type="datetime1">
              <a:rPr lang="en-US" smtClean="0"/>
              <a:pPr>
                <a:defRPr/>
              </a:pPr>
              <a:t>11/18/2024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77C142BE-8E1F-48BF-B6E1-0A8B32D6D54F}" type="slidenum">
              <a:rPr lang="en-GB" smtClean="0"/>
              <a:pPr/>
              <a:t>‹#›</a:t>
            </a:fld>
            <a:endParaRPr lang="en-GB"/>
          </a:p>
        </p:txBody>
      </p:sp>
    </p:spTree>
    <p:extLst>
      <p:ext uri="{BB962C8B-B14F-4D97-AF65-F5344CB8AC3E}">
        <p14:creationId xmlns:p14="http://schemas.microsoft.com/office/powerpoint/2010/main" val="1649477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98BF14E7-C510-4EDD-8B4E-D2D71640D76D}" type="datetime1">
              <a:rPr lang="en-US" smtClean="0"/>
              <a:pPr>
                <a:defRPr/>
              </a:pPr>
              <a:t>11/18/2024</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B2D1A6EC-5918-4330-A876-F5484CFD25F4}" type="slidenum">
              <a:rPr lang="en-GB" smtClean="0"/>
              <a:pPr/>
              <a:t>‹#›</a:t>
            </a:fld>
            <a:endParaRPr lang="en-GB"/>
          </a:p>
        </p:txBody>
      </p:sp>
    </p:spTree>
    <p:extLst>
      <p:ext uri="{BB962C8B-B14F-4D97-AF65-F5344CB8AC3E}">
        <p14:creationId xmlns:p14="http://schemas.microsoft.com/office/powerpoint/2010/main" val="1364829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2EB739FE-4696-4219-BFA8-8D98BD2716A0}" type="datetime1">
              <a:rPr lang="en-US" smtClean="0"/>
              <a:pPr>
                <a:defRPr/>
              </a:pPr>
              <a:t>11/18/2024</a:t>
            </a:fld>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471FC005-0FAC-4983-BC67-6CF2D2C5C541}" type="slidenum">
              <a:rPr lang="en-GB" smtClean="0"/>
              <a:pPr/>
              <a:t>‹#›</a:t>
            </a:fld>
            <a:endParaRPr lang="en-GB"/>
          </a:p>
        </p:txBody>
      </p:sp>
    </p:spTree>
    <p:extLst>
      <p:ext uri="{BB962C8B-B14F-4D97-AF65-F5344CB8AC3E}">
        <p14:creationId xmlns:p14="http://schemas.microsoft.com/office/powerpoint/2010/main" val="636228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74BCD19F-F228-4553-A09F-D7640F8EDEC1}" type="datetime1">
              <a:rPr lang="en-US" smtClean="0"/>
              <a:pPr>
                <a:defRPr/>
              </a:pPr>
              <a:t>11/18/2024</a:t>
            </a:fld>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DFB9F0F4-A8CE-456A-A656-E489FF926A61}" type="slidenum">
              <a:rPr lang="en-GB" smtClean="0"/>
              <a:pPr/>
              <a:t>‹#›</a:t>
            </a:fld>
            <a:endParaRPr lang="en-GB"/>
          </a:p>
        </p:txBody>
      </p:sp>
    </p:spTree>
    <p:extLst>
      <p:ext uri="{BB962C8B-B14F-4D97-AF65-F5344CB8AC3E}">
        <p14:creationId xmlns:p14="http://schemas.microsoft.com/office/powerpoint/2010/main" val="2981268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pPr>
              <a:defRPr/>
            </a:pPr>
            <a:fld id="{3E4837C8-6962-4346-B6E4-781B1E9F9E8B}" type="datetime1">
              <a:rPr lang="en-US" smtClean="0"/>
              <a:pPr>
                <a:defRPr/>
              </a:pPr>
              <a:t>11/18/2024</a:t>
            </a:fld>
            <a:endParaRPr lang="en-GB"/>
          </a:p>
        </p:txBody>
      </p:sp>
      <p:sp>
        <p:nvSpPr>
          <p:cNvPr id="3" name="Footer Placeholder 2"/>
          <p:cNvSpPr>
            <a:spLocks noGrp="1"/>
          </p:cNvSpPr>
          <p:nvPr>
            <p:ph type="ftr" sz="quarter" idx="11"/>
          </p:nvPr>
        </p:nvSpPr>
        <p:spPr/>
        <p:txBody>
          <a:bodyPr/>
          <a:lstStyle/>
          <a:p>
            <a:pPr>
              <a:defRPr/>
            </a:pPr>
            <a:endParaRPr lang="en-GB"/>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DA58C51D-ED1C-4B71-B8A1-7378A2E1F16A}" type="slidenum">
              <a:rPr lang="en-GB" smtClean="0"/>
              <a:pPr/>
              <a:t>‹#›</a:t>
            </a:fld>
            <a:endParaRPr lang="en-GB"/>
          </a:p>
        </p:txBody>
      </p:sp>
    </p:spTree>
    <p:extLst>
      <p:ext uri="{BB962C8B-B14F-4D97-AF65-F5344CB8AC3E}">
        <p14:creationId xmlns:p14="http://schemas.microsoft.com/office/powerpoint/2010/main" val="1903660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99337386-7A0A-4FBB-B46F-6A515EAD33D7}" type="datetime1">
              <a:rPr lang="en-US" smtClean="0"/>
              <a:pPr>
                <a:defRPr/>
              </a:pPr>
              <a:t>11/18/2024</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6ECE5AA7-153B-481F-825D-8F2105E67EE6}" type="slidenum">
              <a:rPr lang="en-GB" smtClean="0"/>
              <a:pPr/>
              <a:t>‹#›</a:t>
            </a:fld>
            <a:endParaRPr lang="en-GB"/>
          </a:p>
        </p:txBody>
      </p:sp>
    </p:spTree>
    <p:extLst>
      <p:ext uri="{BB962C8B-B14F-4D97-AF65-F5344CB8AC3E}">
        <p14:creationId xmlns:p14="http://schemas.microsoft.com/office/powerpoint/2010/main" val="83474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FA4B429D-D165-4EED-AD86-439E1DF8859F}" type="datetime1">
              <a:rPr lang="en-US" smtClean="0"/>
              <a:pPr>
                <a:defRPr/>
              </a:pPr>
              <a:t>11/18/2024</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71D1E9DF-7950-4AB4-852E-329AB9814836}" type="slidenum">
              <a:rPr lang="en-GB" smtClean="0"/>
              <a:pPr/>
              <a:t>‹#›</a:t>
            </a:fld>
            <a:endParaRPr lang="en-GB"/>
          </a:p>
        </p:txBody>
      </p:sp>
    </p:spTree>
    <p:extLst>
      <p:ext uri="{BB962C8B-B14F-4D97-AF65-F5344CB8AC3E}">
        <p14:creationId xmlns:p14="http://schemas.microsoft.com/office/powerpoint/2010/main" val="46835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26C54F5A-2018-4679-AD51-F0197053D5D0}" type="datetime1">
              <a:rPr lang="en-US" smtClean="0"/>
              <a:pPr>
                <a:defRPr/>
              </a:pPr>
              <a:t>11/18/2024</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E29EFB44-C811-4827-81A9-F69C212A4394}" type="slidenum">
              <a:rPr lang="en-GB" smtClean="0"/>
              <a:pPr/>
              <a:t>‹#›</a:t>
            </a:fld>
            <a:endParaRPr lang="en-GB"/>
          </a:p>
        </p:txBody>
      </p:sp>
    </p:spTree>
    <p:extLst>
      <p:ext uri="{BB962C8B-B14F-4D97-AF65-F5344CB8AC3E}">
        <p14:creationId xmlns:p14="http://schemas.microsoft.com/office/powerpoint/2010/main" val="56781479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26C54F5A-2018-4679-AD51-F0197053D5D0}" type="datetime1">
              <a:rPr lang="en-US" smtClean="0"/>
              <a:pPr>
                <a:defRPr/>
              </a:pPr>
              <a:t>11/18/2024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E29EFB44-C811-4827-81A9-F69C212A4394}" type="slidenum">
              <a:rPr lang="en-GB" smtClean="0"/>
              <a:pPr/>
              <a:t>‹#›</a:t>
            </a:fld>
            <a:endParaRPr lang="en-GB"/>
          </a:p>
        </p:txBody>
      </p:sp>
    </p:spTree>
    <p:extLst>
      <p:ext uri="{BB962C8B-B14F-4D97-AF65-F5344CB8AC3E}">
        <p14:creationId xmlns:p14="http://schemas.microsoft.com/office/powerpoint/2010/main" val="165531316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26C54F5A-2018-4679-AD51-F0197053D5D0}" type="datetime1">
              <a:rPr lang="en-US" smtClean="0"/>
              <a:pPr>
                <a:defRPr/>
              </a:pPr>
              <a:t>11/18/2024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E29EFB44-C811-4827-81A9-F69C212A4394}" type="slidenum">
              <a:rPr lang="en-GB" smtClean="0"/>
              <a:pPr/>
              <a:t>‹#›</a:t>
            </a:fld>
            <a:endParaRPr lang="en-GB"/>
          </a:p>
        </p:txBody>
      </p:sp>
    </p:spTree>
    <p:extLst>
      <p:ext uri="{BB962C8B-B14F-4D97-AF65-F5344CB8AC3E}">
        <p14:creationId xmlns:p14="http://schemas.microsoft.com/office/powerpoint/2010/main" val="292400448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26C54F5A-2018-4679-AD51-F0197053D5D0}" type="datetime1">
              <a:rPr lang="en-US" smtClean="0"/>
              <a:pPr>
                <a:defRPr/>
              </a:pPr>
              <a:t>11/18/2024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E29EFB44-C811-4827-81A9-F69C212A4394}" type="slidenum">
              <a:rPr lang="en-GB" smtClean="0"/>
              <a:pPr/>
              <a:t>‹#›</a:t>
            </a:fld>
            <a:endParaRPr lang="en-GB"/>
          </a:p>
        </p:txBody>
      </p:sp>
    </p:spTree>
    <p:extLst>
      <p:ext uri="{BB962C8B-B14F-4D97-AF65-F5344CB8AC3E}">
        <p14:creationId xmlns:p14="http://schemas.microsoft.com/office/powerpoint/2010/main" val="26105237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fld id="{26C54F5A-2018-4679-AD51-F0197053D5D0}" type="datetime1">
              <a:rPr lang="en-US" smtClean="0"/>
              <a:pPr>
                <a:defRPr/>
              </a:pPr>
              <a:t>11/18/2024</a:t>
            </a:fld>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E29EFB44-C811-4827-81A9-F69C212A4394}" type="slidenum">
              <a:rPr lang="en-GB" smtClean="0"/>
              <a:pPr/>
              <a:t>‹#›</a:t>
            </a:fld>
            <a:endParaRPr lang="en-GB"/>
          </a:p>
        </p:txBody>
      </p:sp>
    </p:spTree>
    <p:extLst>
      <p:ext uri="{BB962C8B-B14F-4D97-AF65-F5344CB8AC3E}">
        <p14:creationId xmlns:p14="http://schemas.microsoft.com/office/powerpoint/2010/main" val="146670109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fld id="{26C54F5A-2018-4679-AD51-F0197053D5D0}" type="datetime1">
              <a:rPr lang="en-US" smtClean="0"/>
              <a:pPr>
                <a:defRPr/>
              </a:pPr>
              <a:t>11/18/2024</a:t>
            </a:fld>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E29EFB44-C811-4827-81A9-F69C212A4394}" type="slidenum">
              <a:rPr lang="en-GB" smtClean="0"/>
              <a:pPr/>
              <a:t>‹#›</a:t>
            </a:fld>
            <a:endParaRPr lang="en-GB"/>
          </a:p>
        </p:txBody>
      </p:sp>
    </p:spTree>
    <p:extLst>
      <p:ext uri="{BB962C8B-B14F-4D97-AF65-F5344CB8AC3E}">
        <p14:creationId xmlns:p14="http://schemas.microsoft.com/office/powerpoint/2010/main" val="3601822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pPr>
              <a:defRPr/>
            </a:pPr>
            <a:fld id="{E0294FBE-F032-4FFF-A3DE-7FCA1BE9359A}" type="datetime1">
              <a:rPr lang="en-US" smtClean="0"/>
              <a:pPr>
                <a:defRPr/>
              </a:pPr>
              <a:t>11/18/2024</a:t>
            </a:fld>
            <a:endParaRPr lang="en-GB"/>
          </a:p>
        </p:txBody>
      </p:sp>
      <p:sp>
        <p:nvSpPr>
          <p:cNvPr id="5" name="Footer Placeholder 4"/>
          <p:cNvSpPr>
            <a:spLocks noGrp="1"/>
          </p:cNvSpPr>
          <p:nvPr>
            <p:ph type="ftr" sz="quarter" idx="11"/>
          </p:nvPr>
        </p:nvSpPr>
        <p:spPr>
          <a:xfrm>
            <a:off x="516133" y="6387910"/>
            <a:ext cx="3859795" cy="228660"/>
          </a:xfrm>
        </p:spPr>
        <p:txBody>
          <a:bodyPr/>
          <a:lstStyle/>
          <a:p>
            <a:pPr>
              <a:defRPr/>
            </a:pPr>
            <a:endParaRPr lang="en-GB"/>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48569CF9-A7B4-4678-948E-60F96D69CC46}" type="slidenum">
              <a:rPr lang="en-GB" smtClean="0"/>
              <a:pPr/>
              <a:t>‹#›</a:t>
            </a:fld>
            <a:endParaRPr lang="en-GB"/>
          </a:p>
        </p:txBody>
      </p:sp>
    </p:spTree>
    <p:extLst>
      <p:ext uri="{BB962C8B-B14F-4D97-AF65-F5344CB8AC3E}">
        <p14:creationId xmlns:p14="http://schemas.microsoft.com/office/powerpoint/2010/main" val="2430230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2244B6B2-09D7-45ED-98ED-7D94DEFC0E71}" type="datetime1">
              <a:rPr lang="en-US" smtClean="0"/>
              <a:pPr>
                <a:defRPr/>
              </a:pPr>
              <a:t>11/18/2024</a:t>
            </a:fld>
            <a:endParaRPr lang="en-GB"/>
          </a:p>
        </p:txBody>
      </p:sp>
      <p:sp>
        <p:nvSpPr>
          <p:cNvPr id="5" name="Footer Placeholder 4"/>
          <p:cNvSpPr>
            <a:spLocks noGrp="1"/>
          </p:cNvSpPr>
          <p:nvPr>
            <p:ph type="ftr" sz="quarter" idx="11"/>
          </p:nvPr>
        </p:nvSpPr>
        <p:spPr>
          <a:xfrm>
            <a:off x="538546" y="6365498"/>
            <a:ext cx="3859795" cy="228660"/>
          </a:xfrm>
        </p:spPr>
        <p:txBody>
          <a:bodyPr/>
          <a:lstStyle/>
          <a:p>
            <a:pPr>
              <a:defRPr/>
            </a:pPr>
            <a:endParaRPr lang="en-GB"/>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A2F39BD2-BE2B-429B-A617-707B1ECC974C}" type="slidenum">
              <a:rPr lang="en-GB" smtClean="0"/>
              <a:pPr/>
              <a:t>‹#›</a:t>
            </a:fld>
            <a:endParaRPr lang="en-GB"/>
          </a:p>
        </p:txBody>
      </p:sp>
    </p:spTree>
    <p:extLst>
      <p:ext uri="{BB962C8B-B14F-4D97-AF65-F5344CB8AC3E}">
        <p14:creationId xmlns:p14="http://schemas.microsoft.com/office/powerpoint/2010/main" val="1221784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pPr>
              <a:defRPr/>
            </a:pPr>
            <a:fld id="{26C54F5A-2018-4679-AD51-F0197053D5D0}" type="datetime1">
              <a:rPr lang="en-US" smtClean="0"/>
              <a:pPr>
                <a:defRPr/>
              </a:pPr>
              <a:t>11/18/2024</a:t>
            </a:fld>
            <a:endParaRPr lang="en-GB"/>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pPr>
              <a:defRPr/>
            </a:pPr>
            <a:endParaRPr lang="en-GB"/>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E29EFB44-C811-4827-81A9-F69C212A4394}" type="slidenum">
              <a:rPr lang="en-GB" smtClean="0"/>
              <a:pPr/>
              <a:t>‹#›</a:t>
            </a:fld>
            <a:endParaRPr lang="en-GB"/>
          </a:p>
        </p:txBody>
      </p:sp>
    </p:spTree>
    <p:extLst>
      <p:ext uri="{BB962C8B-B14F-4D97-AF65-F5344CB8AC3E}">
        <p14:creationId xmlns:p14="http://schemas.microsoft.com/office/powerpoint/2010/main" val="35648957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717032"/>
            <a:ext cx="7992888" cy="793775"/>
          </a:xfrm>
        </p:spPr>
        <p:txBody>
          <a:bodyPr/>
          <a:lstStyle/>
          <a:p>
            <a:pPr algn="ctr"/>
            <a:r>
              <a:rPr lang="en-US" sz="3600" b="1" dirty="0"/>
              <a:t>Introduction to </a:t>
            </a:r>
            <a:r>
              <a:rPr lang="en-US" sz="3600" b="1" dirty="0" smtClean="0"/>
              <a:t>Internet Technology</a:t>
            </a:r>
            <a:endParaRPr lang="ar-JO" sz="3600" b="1" dirty="0"/>
          </a:p>
        </p:txBody>
      </p:sp>
      <p:sp>
        <p:nvSpPr>
          <p:cNvPr id="5" name="TextBox 4"/>
          <p:cNvSpPr txBox="1"/>
          <p:nvPr/>
        </p:nvSpPr>
        <p:spPr>
          <a:xfrm>
            <a:off x="2699792" y="3009146"/>
            <a:ext cx="3240360" cy="707886"/>
          </a:xfrm>
          <a:prstGeom prst="rect">
            <a:avLst/>
          </a:prstGeom>
          <a:noFill/>
        </p:spPr>
        <p:txBody>
          <a:bodyPr wrap="square" rtlCol="0">
            <a:spAutoFit/>
          </a:bodyPr>
          <a:lstStyle/>
          <a:p>
            <a:pPr algn="ctr"/>
            <a:r>
              <a:rPr lang="en-US" sz="4000" b="1" dirty="0" smtClean="0">
                <a:solidFill>
                  <a:schemeClr val="bg1"/>
                </a:solidFill>
              </a:rPr>
              <a:t>Lecture </a:t>
            </a:r>
            <a:r>
              <a:rPr lang="en-US" sz="4000" b="1" dirty="0" smtClean="0">
                <a:solidFill>
                  <a:schemeClr val="bg1"/>
                </a:solidFill>
              </a:rPr>
              <a:t>2</a:t>
            </a:r>
            <a:endParaRPr lang="en-US" sz="4000" b="1" dirty="0">
              <a:solidFill>
                <a:schemeClr val="bg1"/>
              </a:solidFill>
            </a:endParaRPr>
          </a:p>
        </p:txBody>
      </p:sp>
    </p:spTree>
    <p:extLst>
      <p:ext uri="{BB962C8B-B14F-4D97-AF65-F5344CB8AC3E}">
        <p14:creationId xmlns:p14="http://schemas.microsoft.com/office/powerpoint/2010/main" val="28890656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865970" y="927098"/>
            <a:ext cx="7090406" cy="709865"/>
          </a:xfrm>
        </p:spPr>
        <p:txBody>
          <a:bodyPr/>
          <a:lstStyle/>
          <a:p>
            <a:pPr algn="ctr" eaLnBrk="1" hangingPunct="1">
              <a:defRPr/>
            </a:pPr>
            <a:r>
              <a:rPr lang="en-US" sz="2400" b="1" dirty="0" smtClean="0">
                <a:effectLst>
                  <a:outerShdw blurRad="38100" dist="38100" dir="2700000" algn="tl">
                    <a:srgbClr val="000000">
                      <a:alpha val="43137"/>
                    </a:srgbClr>
                  </a:outerShdw>
                </a:effectLst>
              </a:rPr>
              <a:t>AN OVERVIEW OF INTERNET TECHNOLOGIES</a:t>
            </a:r>
            <a:endParaRPr lang="en-GB" sz="2400" b="1" cap="all" dirty="0" smtClean="0">
              <a:effectLst>
                <a:outerShdw blurRad="38100" dist="38100" dir="2700000" algn="tl">
                  <a:srgbClr val="000000">
                    <a:alpha val="43137"/>
                  </a:srgbClr>
                </a:outerShdw>
              </a:effectLst>
            </a:endParaRPr>
          </a:p>
        </p:txBody>
      </p:sp>
      <p:sp>
        <p:nvSpPr>
          <p:cNvPr id="3075" name="Content Placeholder 2"/>
          <p:cNvSpPr>
            <a:spLocks noGrp="1"/>
          </p:cNvSpPr>
          <p:nvPr>
            <p:ph idx="1"/>
          </p:nvPr>
        </p:nvSpPr>
        <p:spPr>
          <a:xfrm>
            <a:off x="457200" y="2151065"/>
            <a:ext cx="8229600" cy="4278310"/>
          </a:xfrm>
        </p:spPr>
        <p:txBody>
          <a:bodyPr>
            <a:normAutofit fontScale="92500" lnSpcReduction="20000"/>
          </a:bodyPr>
          <a:lstStyle/>
          <a:p>
            <a:pPr>
              <a:buFont typeface="Wingdings" panose="05000000000000000000" pitchFamily="2" charset="2"/>
              <a:buChar char="Ø"/>
              <a:defRPr/>
            </a:pPr>
            <a:r>
              <a:rPr lang="en-US" sz="2400" dirty="0" smtClean="0"/>
              <a:t>Although we use the term Internet to refer to a single entity or structure, the Internet is actually the infrastructure that provides access to or exchanges of information using several telecommunication services, or technologies, across numerous networks.</a:t>
            </a:r>
            <a:endParaRPr lang="en-US" sz="800" dirty="0" smtClean="0"/>
          </a:p>
          <a:p>
            <a:pPr>
              <a:buFont typeface="Wingdings" panose="05000000000000000000" pitchFamily="2" charset="2"/>
              <a:buChar char="Ø"/>
              <a:defRPr/>
            </a:pPr>
            <a:r>
              <a:rPr lang="en-US" sz="2400" dirty="0" smtClean="0"/>
              <a:t>In contrast to the Internet, </a:t>
            </a:r>
            <a:r>
              <a:rPr lang="en-US" sz="2400" b="1" dirty="0" smtClean="0">
                <a:effectLst>
                  <a:outerShdw blurRad="38100" dist="38100" dir="2700000" algn="tl">
                    <a:srgbClr val="000000">
                      <a:alpha val="43137"/>
                    </a:srgbClr>
                  </a:outerShdw>
                </a:effectLst>
              </a:rPr>
              <a:t>an intranet </a:t>
            </a:r>
            <a:r>
              <a:rPr lang="en-US" sz="2400" dirty="0" smtClean="0"/>
              <a:t>is a private network that resides within an organization and is not accessible to the public. </a:t>
            </a:r>
            <a:endParaRPr lang="en-GB" sz="800" dirty="0" smtClean="0"/>
          </a:p>
          <a:p>
            <a:pPr>
              <a:buFont typeface="Wingdings" panose="05000000000000000000" pitchFamily="2" charset="2"/>
              <a:buChar char="Ø"/>
              <a:defRPr/>
            </a:pPr>
            <a:r>
              <a:rPr lang="en-US" sz="2400" dirty="0" smtClean="0"/>
              <a:t>It uses networking hardware and software for communicating and storing or sharing files within the intranet. </a:t>
            </a:r>
            <a:endParaRPr lang="en-US" sz="800" dirty="0" smtClean="0"/>
          </a:p>
          <a:p>
            <a:pPr>
              <a:buFont typeface="Wingdings" panose="05000000000000000000" pitchFamily="2" charset="2"/>
              <a:buChar char="Ø"/>
              <a:defRPr/>
            </a:pPr>
            <a:r>
              <a:rPr lang="en-US" sz="2400" dirty="0" smtClean="0"/>
              <a:t>Usually a networked computer can access both an intranet and the Internet.</a:t>
            </a:r>
            <a:endParaRPr lang="en-GB" sz="2400" dirty="0" smtClean="0"/>
          </a:p>
          <a:p>
            <a:pPr eaLnBrk="1" hangingPunct="1">
              <a:buFont typeface="Arial" charset="0"/>
              <a:buChar char="•"/>
              <a:defRPr/>
            </a:pPr>
            <a:endParaRPr lang="en-GB" sz="1800" dirty="0" smtClean="0"/>
          </a:p>
          <a:p>
            <a:pPr eaLnBrk="1" hangingPunct="1">
              <a:buFont typeface="Arial" charset="0"/>
              <a:buChar char="•"/>
              <a:defRPr/>
            </a:pPr>
            <a:endParaRPr lang="en-GB"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6C843EC-5E1D-4390-8168-780CCF04FA63}" type="slidenum">
              <a:rPr lang="en-GB">
                <a:solidFill>
                  <a:srgbClr val="898989"/>
                </a:solidFill>
                <a:latin typeface="Calibri" panose="020F0502020204030204" pitchFamily="34" charset="0"/>
              </a:rPr>
              <a:pPr eaLnBrk="1" hangingPunct="1"/>
              <a:t>2</a:t>
            </a:fld>
            <a:endParaRPr lang="en-GB">
              <a:solidFill>
                <a:srgbClr val="898989"/>
              </a:solidFill>
              <a:latin typeface="Calibri" panose="020F0502020204030204" pitchFamily="34" charset="0"/>
            </a:endParaRPr>
          </a:p>
        </p:txBody>
      </p:sp>
      <p:pic>
        <p:nvPicPr>
          <p:cNvPr id="7172" name="Picture 4" descr="C:\Program Files\Microsoft Office\MEDIA\OFFICE12\Lines\BD21340_.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18281"/>
            <a:ext cx="8286750"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75">
                                            <p:txEl>
                                              <p:pRg st="1" end="1"/>
                                            </p:txEl>
                                          </p:spTgt>
                                        </p:tgtEl>
                                        <p:attrNameLst>
                                          <p:attrName>style.visibility</p:attrName>
                                        </p:attrNameLst>
                                      </p:cBhvr>
                                      <p:to>
                                        <p:strVal val="visible"/>
                                      </p:to>
                                    </p:set>
                                    <p:animEffect transition="in" filter="checkerboard(across)">
                                      <p:cBhvr>
                                        <p:cTn id="7" dur="500"/>
                                        <p:tgtEl>
                                          <p:spTgt spid="3075">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075">
                                            <p:txEl>
                                              <p:pRg st="2" end="2"/>
                                            </p:txEl>
                                          </p:spTgt>
                                        </p:tgtEl>
                                        <p:attrNameLst>
                                          <p:attrName>style.visibility</p:attrName>
                                        </p:attrNameLst>
                                      </p:cBhvr>
                                      <p:to>
                                        <p:strVal val="visible"/>
                                      </p:to>
                                    </p:set>
                                    <p:animEffect transition="in" filter="checkerboard(across)">
                                      <p:cBhvr>
                                        <p:cTn id="10" dur="500"/>
                                        <p:tgtEl>
                                          <p:spTgt spid="3075">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075">
                                            <p:txEl>
                                              <p:pRg st="3" end="3"/>
                                            </p:txEl>
                                          </p:spTgt>
                                        </p:tgtEl>
                                        <p:attrNameLst>
                                          <p:attrName>style.visibility</p:attrName>
                                        </p:attrNameLst>
                                      </p:cBhvr>
                                      <p:to>
                                        <p:strVal val="visible"/>
                                      </p:to>
                                    </p:set>
                                    <p:animEffect transition="in" filter="checkerboard(across)">
                                      <p:cBhvr>
                                        <p:cTn id="13" dur="500"/>
                                        <p:tgtEl>
                                          <p:spTgt spid="3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1"/>
          </p:nvPr>
        </p:nvSpPr>
        <p:spPr>
          <a:xfrm>
            <a:off x="395536" y="2420888"/>
            <a:ext cx="8208912" cy="3960440"/>
          </a:xfrm>
        </p:spPr>
        <p:txBody>
          <a:bodyPr>
            <a:normAutofit fontScale="92500" lnSpcReduction="20000"/>
          </a:bodyPr>
          <a:lstStyle/>
          <a:p>
            <a:r>
              <a:rPr lang="en-US" altLang="en-US" sz="2400" dirty="0" smtClean="0"/>
              <a:t>Internet technologies provide access to information that would have been impossible to access just a few years ago. </a:t>
            </a:r>
            <a:endParaRPr lang="en-US" altLang="en-US" sz="1200" dirty="0" smtClean="0"/>
          </a:p>
          <a:p>
            <a:r>
              <a:rPr lang="en-US" altLang="en-US" sz="2400" dirty="0" smtClean="0"/>
              <a:t>Using the World Wide Web, students have access to virtual libraries, electronic databases, and powerful search engines.</a:t>
            </a:r>
            <a:endParaRPr lang="en-GB" altLang="en-US" sz="1200" dirty="0" smtClean="0"/>
          </a:p>
          <a:p>
            <a:r>
              <a:rPr lang="en-US" altLang="en-US" sz="2400" dirty="0" smtClean="0"/>
              <a:t>The Internet also permits interaction and communication among peers and with experts outside the local</a:t>
            </a:r>
            <a:r>
              <a:rPr lang="en-GB" altLang="en-US" sz="2400" dirty="0" smtClean="0"/>
              <a:t> </a:t>
            </a:r>
            <a:r>
              <a:rPr lang="en-US" altLang="en-US" sz="2400" dirty="0" smtClean="0"/>
              <a:t>classroom, both synchronously and asynchronously. </a:t>
            </a:r>
            <a:endParaRPr lang="en-US" altLang="en-US" sz="1200" dirty="0" smtClean="0"/>
          </a:p>
          <a:p>
            <a:r>
              <a:rPr lang="en-US" altLang="en-US" sz="2400" dirty="0" smtClean="0"/>
              <a:t>Internet technologies support interaction and collaboration that allow students to share ideas, ask questions, and discuss classroom projects.</a:t>
            </a:r>
            <a:endParaRPr lang="en-GB" altLang="en-US" sz="2400" dirty="0" smtClean="0"/>
          </a:p>
          <a:p>
            <a:pPr eaLnBrk="1" hangingPunct="1"/>
            <a:endParaRPr lang="en-GB" altLang="en-US" sz="12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23FCBD-0571-489F-9D5C-B44CBF22FA3C}" type="slidenum">
              <a:rPr lang="en-GB">
                <a:solidFill>
                  <a:srgbClr val="898989"/>
                </a:solidFill>
                <a:latin typeface="Calibri" panose="020F0502020204030204" pitchFamily="34" charset="0"/>
              </a:rPr>
              <a:pPr eaLnBrk="1" hangingPunct="1"/>
              <a:t>3</a:t>
            </a:fld>
            <a:endParaRPr lang="en-GB">
              <a:solidFill>
                <a:srgbClr val="898989"/>
              </a:solidFill>
              <a:latin typeface="Calibri" panose="020F0502020204030204" pitchFamily="34" charset="0"/>
            </a:endParaRPr>
          </a:p>
        </p:txBody>
      </p:sp>
      <p:sp>
        <p:nvSpPr>
          <p:cNvPr id="10" name="Title 1"/>
          <p:cNvSpPr>
            <a:spLocks noGrp="1"/>
          </p:cNvSpPr>
          <p:nvPr>
            <p:ph type="title"/>
          </p:nvPr>
        </p:nvSpPr>
        <p:spPr>
          <a:xfrm>
            <a:off x="865970" y="927098"/>
            <a:ext cx="7090406" cy="709865"/>
          </a:xfrm>
        </p:spPr>
        <p:txBody>
          <a:bodyPr/>
          <a:lstStyle/>
          <a:p>
            <a:pPr eaLnBrk="1" hangingPunct="1">
              <a:defRPr/>
            </a:pPr>
            <a:r>
              <a:rPr lang="en-US" sz="2400" b="1" dirty="0" smtClean="0">
                <a:effectLst>
                  <a:outerShdw blurRad="38100" dist="38100" dir="2700000" algn="tl">
                    <a:srgbClr val="000000">
                      <a:alpha val="43137"/>
                    </a:srgbClr>
                  </a:outerShdw>
                </a:effectLst>
              </a:rPr>
              <a:t>AN OVERVIEW OF INTERNET TECHNOLOGIES</a:t>
            </a:r>
            <a:endParaRPr lang="en-GB" sz="2400" b="1" cap="all" dirty="0" smtClean="0">
              <a:effectLst>
                <a:outerShdw blurRad="38100" dist="38100" dir="2700000" algn="tl">
                  <a:srgbClr val="000000">
                    <a:alpha val="43137"/>
                  </a:srgbClr>
                </a:outerShdw>
              </a:effectLst>
            </a:endParaRPr>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defRPr/>
            </a:pPr>
            <a:r>
              <a:rPr lang="en-US" b="1" dirty="0" smtClean="0">
                <a:effectLst>
                  <a:outerShdw blurRad="38100" dist="38100" dir="2700000" algn="tl">
                    <a:srgbClr val="000000">
                      <a:alpha val="43137"/>
                    </a:srgbClr>
                  </a:outerShdw>
                </a:effectLst>
              </a:rPr>
              <a:t>Old Internet Technologies</a:t>
            </a:r>
            <a:endParaRPr lang="en-GB" b="1" cap="all" dirty="0" smtClean="0">
              <a:effectLst>
                <a:outerShdw blurRad="38100" dist="38100" dir="2700000" algn="tl">
                  <a:srgbClr val="000000">
                    <a:alpha val="43137"/>
                  </a:srgbClr>
                </a:outerShdw>
              </a:effectLst>
            </a:endParaRPr>
          </a:p>
        </p:txBody>
      </p:sp>
      <p:sp>
        <p:nvSpPr>
          <p:cNvPr id="9219" name="Content Placeholder 2"/>
          <p:cNvSpPr>
            <a:spLocks noGrp="1"/>
          </p:cNvSpPr>
          <p:nvPr>
            <p:ph idx="1"/>
          </p:nvPr>
        </p:nvSpPr>
        <p:spPr>
          <a:xfrm>
            <a:off x="457200" y="2151065"/>
            <a:ext cx="8229600" cy="4278310"/>
          </a:xfrm>
        </p:spPr>
        <p:txBody>
          <a:bodyPr>
            <a:normAutofit fontScale="92500" lnSpcReduction="10000"/>
          </a:bodyPr>
          <a:lstStyle/>
          <a:p>
            <a:r>
              <a:rPr lang="en-US" altLang="en-US" sz="2600" dirty="0" smtClean="0"/>
              <a:t>Old Internet technologies were used on the Internet prior to the beginning of the World Wide Web and now are not widely used.</a:t>
            </a:r>
            <a:endParaRPr lang="en-US" altLang="en-US" sz="2200" b="1" i="1" dirty="0" smtClean="0"/>
          </a:p>
          <a:p>
            <a:r>
              <a:rPr lang="en-US" altLang="en-US" sz="2800" b="1" i="1" dirty="0" smtClean="0"/>
              <a:t>Gopher</a:t>
            </a:r>
            <a:endParaRPr lang="en-GB" altLang="en-US" sz="2800" dirty="0" smtClean="0"/>
          </a:p>
          <a:p>
            <a:pPr lvl="1"/>
            <a:r>
              <a:rPr lang="en-US" altLang="en-US" sz="2400" b="1" dirty="0" smtClean="0"/>
              <a:t>Gopher </a:t>
            </a:r>
            <a:r>
              <a:rPr lang="en-US" altLang="en-US" sz="2400" dirty="0" smtClean="0"/>
              <a:t>brought hierarchically organized text files from servers all over the world to a user’s computer. </a:t>
            </a:r>
          </a:p>
          <a:p>
            <a:pPr lvl="1"/>
            <a:r>
              <a:rPr lang="en-US" altLang="en-US" sz="2400" dirty="0" smtClean="0"/>
              <a:t>Gopher was developed at the University of Minnesota (where sports teams are called the Golden Gophers) and was prominently used from about 1992 through 1996, when it was effectively replaced by the World Wide Web.</a:t>
            </a:r>
            <a:endParaRPr lang="en-GB" altLang="en-US" sz="24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FAA982-457E-498F-A0AB-178BF15434E6}" type="slidenum">
              <a:rPr lang="en-GB">
                <a:solidFill>
                  <a:srgbClr val="898989"/>
                </a:solidFill>
                <a:latin typeface="Calibri" panose="020F0502020204030204" pitchFamily="34" charset="0"/>
              </a:rPr>
              <a:pPr eaLnBrk="1" hangingPunct="1"/>
              <a:t>4</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219">
                                            <p:txEl>
                                              <p:pRg st="2" end="2"/>
                                            </p:txEl>
                                          </p:spTgt>
                                        </p:tgtEl>
                                        <p:attrNameLst>
                                          <p:attrName>style.visibility</p:attrName>
                                        </p:attrNameLst>
                                      </p:cBhvr>
                                      <p:to>
                                        <p:strVal val="visible"/>
                                      </p:to>
                                    </p:set>
                                    <p:animEffect transition="in" filter="checkerboard(across)">
                                      <p:cBhvr>
                                        <p:cTn id="7" dur="500"/>
                                        <p:tgtEl>
                                          <p:spTgt spid="9219">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219">
                                            <p:txEl>
                                              <p:pRg st="3" end="3"/>
                                            </p:txEl>
                                          </p:spTgt>
                                        </p:tgtEl>
                                        <p:attrNameLst>
                                          <p:attrName>style.visibility</p:attrName>
                                        </p:attrNameLst>
                                      </p:cBhvr>
                                      <p:to>
                                        <p:strVal val="visible"/>
                                      </p:to>
                                    </p:set>
                                    <p:animEffect transition="in" filter="checkerboard(across)">
                                      <p:cBhvr>
                                        <p:cTn id="10"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US" sz="3600" b="1" dirty="0" smtClean="0">
                <a:effectLst>
                  <a:outerShdw blurRad="38100" dist="38100" dir="2700000" algn="tl">
                    <a:srgbClr val="000000">
                      <a:alpha val="43137"/>
                    </a:srgbClr>
                  </a:outerShdw>
                </a:effectLst>
              </a:rPr>
              <a:t>Telnet</a:t>
            </a:r>
            <a:endParaRPr lang="en-GB" sz="3600" b="1" cap="all" dirty="0" smtClean="0">
              <a:effectLst>
                <a:outerShdw blurRad="38100" dist="38100" dir="2700000" algn="tl">
                  <a:srgbClr val="000000">
                    <a:alpha val="43137"/>
                  </a:srgbClr>
                </a:outerShdw>
              </a:effectLst>
            </a:endParaRPr>
          </a:p>
        </p:txBody>
      </p:sp>
      <p:sp>
        <p:nvSpPr>
          <p:cNvPr id="10243" name="Content Placeholder 2"/>
          <p:cNvSpPr>
            <a:spLocks noGrp="1"/>
          </p:cNvSpPr>
          <p:nvPr>
            <p:ph idx="1"/>
          </p:nvPr>
        </p:nvSpPr>
        <p:spPr>
          <a:xfrm>
            <a:off x="457200" y="2151065"/>
            <a:ext cx="8229600" cy="4278310"/>
          </a:xfrm>
        </p:spPr>
        <p:txBody>
          <a:bodyPr>
            <a:normAutofit fontScale="92500" lnSpcReduction="10000"/>
          </a:bodyPr>
          <a:lstStyle/>
          <a:p>
            <a:r>
              <a:rPr lang="en-US" altLang="en-US" sz="2800" b="1" dirty="0" smtClean="0"/>
              <a:t>Telnet </a:t>
            </a:r>
            <a:r>
              <a:rPr lang="en-US" altLang="en-US" sz="2800" dirty="0" smtClean="0"/>
              <a:t>is a protocol that permits basic communication between two host computers. </a:t>
            </a:r>
            <a:endParaRPr lang="en-US" altLang="en-US" sz="1200" dirty="0" smtClean="0"/>
          </a:p>
          <a:p>
            <a:r>
              <a:rPr lang="en-US" altLang="en-US" sz="2800" dirty="0" smtClean="0"/>
              <a:t>It was developed in the early days of the Internet as an accommodation to overcome simple differences among computers, such as what kind of character set to use. </a:t>
            </a:r>
            <a:endParaRPr lang="en-US" altLang="en-US" sz="1200" dirty="0" smtClean="0"/>
          </a:p>
          <a:p>
            <a:r>
              <a:rPr lang="en-US" altLang="en-US" sz="2800" dirty="0" smtClean="0"/>
              <a:t>Telnet allowed a person to log on to a host computer through the Internet as a regular user with whatever privileges were granted to the specific application and data on that computer.</a:t>
            </a:r>
            <a:endParaRPr lang="en-GB" altLang="en-US" sz="2800" dirty="0" smtClean="0"/>
          </a:p>
          <a:p>
            <a:endParaRPr lang="en-GB" altLang="en-US" sz="28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E23811-19B1-4863-B7ED-F89F08821E76}" type="slidenum">
              <a:rPr lang="en-GB">
                <a:solidFill>
                  <a:srgbClr val="898989"/>
                </a:solidFill>
                <a:latin typeface="Calibri" panose="020F0502020204030204" pitchFamily="34" charset="0"/>
              </a:rPr>
              <a:pPr eaLnBrk="1" hangingPunct="1"/>
              <a:t>5</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checkerboard(across)">
                                      <p:cBhvr>
                                        <p:cTn id="7" dur="500"/>
                                        <p:tgtEl>
                                          <p:spTgt spid="10243">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0243">
                                            <p:txEl>
                                              <p:pRg st="1" end="1"/>
                                            </p:txEl>
                                          </p:spTgt>
                                        </p:tgtEl>
                                        <p:attrNameLst>
                                          <p:attrName>style.visibility</p:attrName>
                                        </p:attrNameLst>
                                      </p:cBhvr>
                                      <p:to>
                                        <p:strVal val="visible"/>
                                      </p:to>
                                    </p:set>
                                    <p:animEffect transition="in" filter="checkerboard(across)">
                                      <p:cBhvr>
                                        <p:cTn id="10" dur="500"/>
                                        <p:tgtEl>
                                          <p:spTgt spid="10243">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animEffect transition="in" filter="checkerboard(across)">
                                      <p:cBhvr>
                                        <p:cTn id="13" dur="500"/>
                                        <p:tgtEl>
                                          <p:spTgt spid="102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865970" y="927098"/>
            <a:ext cx="7378438" cy="709865"/>
          </a:xfrm>
        </p:spPr>
        <p:txBody>
          <a:bodyPr/>
          <a:lstStyle/>
          <a:p>
            <a:pPr eaLnBrk="1" hangingPunct="1">
              <a:defRPr/>
            </a:pPr>
            <a:r>
              <a:rPr lang="en-US" b="1" dirty="0" smtClean="0">
                <a:effectLst>
                  <a:outerShdw blurRad="38100" dist="38100" dir="2700000" algn="tl">
                    <a:srgbClr val="000000">
                      <a:alpha val="43137"/>
                    </a:srgbClr>
                  </a:outerShdw>
                </a:effectLst>
              </a:rPr>
              <a:t>Recycled Internet Technologies</a:t>
            </a:r>
            <a:endParaRPr lang="en-GB" b="1" cap="all" dirty="0" smtClean="0">
              <a:effectLst>
                <a:outerShdw blurRad="38100" dist="38100" dir="2700000" algn="tl">
                  <a:srgbClr val="000000">
                    <a:alpha val="43137"/>
                  </a:srgbClr>
                </a:outerShdw>
              </a:effectLst>
            </a:endParaRPr>
          </a:p>
        </p:txBody>
      </p:sp>
      <p:sp>
        <p:nvSpPr>
          <p:cNvPr id="11267" name="Content Placeholder 2"/>
          <p:cNvSpPr>
            <a:spLocks noGrp="1"/>
          </p:cNvSpPr>
          <p:nvPr>
            <p:ph idx="1"/>
          </p:nvPr>
        </p:nvSpPr>
        <p:spPr>
          <a:xfrm>
            <a:off x="457200" y="2268331"/>
            <a:ext cx="8229600" cy="4161044"/>
          </a:xfrm>
        </p:spPr>
        <p:txBody>
          <a:bodyPr/>
          <a:lstStyle/>
          <a:p>
            <a:endParaRPr lang="en-US" altLang="en-US" sz="2800" dirty="0" smtClean="0"/>
          </a:p>
          <a:p>
            <a:r>
              <a:rPr lang="en-US" altLang="en-US" sz="2800" dirty="0" smtClean="0"/>
              <a:t>Recycled Internet technologies were used on the Internet prior to the beginning of the World Wide Web but were modified to work as a Web service or are still widely used.</a:t>
            </a:r>
            <a:endParaRPr lang="en-GB" altLang="en-US" sz="28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0577686-794C-4721-ACA0-08E5349EFD05}" type="slidenum">
              <a:rPr lang="en-GB">
                <a:solidFill>
                  <a:srgbClr val="898989"/>
                </a:solidFill>
                <a:latin typeface="Calibri" panose="020F0502020204030204" pitchFamily="34" charset="0"/>
              </a:rPr>
              <a:pPr eaLnBrk="1" hangingPunct="1"/>
              <a:t>6</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US" b="1" dirty="0" smtClean="0">
                <a:effectLst>
                  <a:outerShdw blurRad="38100" dist="38100" dir="2700000" algn="tl">
                    <a:srgbClr val="000000">
                      <a:alpha val="43137"/>
                    </a:srgbClr>
                  </a:outerShdw>
                </a:effectLst>
              </a:rPr>
              <a:t>Electronic Mail</a:t>
            </a:r>
            <a:endParaRPr lang="en-GB" b="1" cap="all" dirty="0" smtClean="0">
              <a:effectLst>
                <a:outerShdw blurRad="38100" dist="38100" dir="2700000" algn="tl">
                  <a:srgbClr val="000000">
                    <a:alpha val="43137"/>
                  </a:srgbClr>
                </a:outerShdw>
              </a:effectLst>
            </a:endParaRPr>
          </a:p>
        </p:txBody>
      </p:sp>
      <p:sp>
        <p:nvSpPr>
          <p:cNvPr id="13315" name="Content Placeholder 2"/>
          <p:cNvSpPr>
            <a:spLocks noGrp="1"/>
          </p:cNvSpPr>
          <p:nvPr>
            <p:ph idx="1"/>
          </p:nvPr>
        </p:nvSpPr>
        <p:spPr>
          <a:xfrm>
            <a:off x="457200" y="2204864"/>
            <a:ext cx="8229600" cy="4653136"/>
          </a:xfrm>
        </p:spPr>
        <p:txBody>
          <a:bodyPr>
            <a:normAutofit fontScale="92500" lnSpcReduction="10000"/>
          </a:bodyPr>
          <a:lstStyle/>
          <a:p>
            <a:r>
              <a:rPr lang="en-US" altLang="en-US" sz="2400" b="1" dirty="0" smtClean="0"/>
              <a:t>E-mail </a:t>
            </a:r>
            <a:r>
              <a:rPr lang="en-US" altLang="en-US" sz="2400" dirty="0" smtClean="0"/>
              <a:t>was one of the original Internet technologies, yet it remains probably the most popular technology used on the Internet. </a:t>
            </a:r>
          </a:p>
          <a:p>
            <a:r>
              <a:rPr lang="en-US" altLang="en-US" sz="2400" dirty="0" smtClean="0"/>
              <a:t>E-mail allows messages comprised of text and other media to be sent between computers. </a:t>
            </a:r>
          </a:p>
          <a:p>
            <a:r>
              <a:rPr lang="en-US" altLang="en-US" sz="2400" dirty="0" smtClean="0"/>
              <a:t>It was invented during the 1960s, when computer scientists devised ways of exchanging short messages within a large time-sharing computer system. </a:t>
            </a:r>
          </a:p>
          <a:p>
            <a:r>
              <a:rPr lang="en-US" altLang="en-US" sz="2400" dirty="0" smtClean="0"/>
              <a:t>By 1970 electronic message traffic was moving smoothly on the Department of Defense network, and by the early 1980s network mail was called e-mail and the @ sign became an indispensable component of e-mail addresses. </a:t>
            </a:r>
            <a:endParaRPr lang="en-GB" altLang="en-US" sz="2400" dirty="0" smtClean="0"/>
          </a:p>
          <a:p>
            <a:pPr eaLnBrk="1" hangingPunct="1"/>
            <a:endParaRPr lang="en-GB" altLang="en-US" sz="1600" dirty="0" smtClean="0"/>
          </a:p>
          <a:p>
            <a:pPr eaLnBrk="1" hangingPunct="1"/>
            <a:endParaRPr lang="en-GB" altLang="en-US" sz="12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4BF48E-4653-4196-AFCA-D564FC610397}" type="slidenum">
              <a:rPr lang="en-GB">
                <a:solidFill>
                  <a:srgbClr val="898989"/>
                </a:solidFill>
                <a:latin typeface="Calibri" panose="020F0502020204030204" pitchFamily="34" charset="0"/>
              </a:rPr>
              <a:pPr eaLnBrk="1" hangingPunct="1"/>
              <a:t>7</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checkerboard(across)">
                                      <p:cBhvr>
                                        <p:cTn id="7" dur="500"/>
                                        <p:tgtEl>
                                          <p:spTgt spid="1331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3315">
                                            <p:txEl>
                                              <p:pRg st="1" end="1"/>
                                            </p:txEl>
                                          </p:spTgt>
                                        </p:tgtEl>
                                        <p:attrNameLst>
                                          <p:attrName>style.visibility</p:attrName>
                                        </p:attrNameLst>
                                      </p:cBhvr>
                                      <p:to>
                                        <p:strVal val="visible"/>
                                      </p:to>
                                    </p:set>
                                    <p:animEffect transition="in" filter="checkerboard(across)">
                                      <p:cBhvr>
                                        <p:cTn id="10" dur="500"/>
                                        <p:tgtEl>
                                          <p:spTgt spid="13315">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animEffect transition="in" filter="checkerboard(across)">
                                      <p:cBhvr>
                                        <p:cTn id="13" dur="500"/>
                                        <p:tgtEl>
                                          <p:spTgt spid="13315">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3315">
                                            <p:txEl>
                                              <p:pRg st="3" end="3"/>
                                            </p:txEl>
                                          </p:spTgt>
                                        </p:tgtEl>
                                        <p:attrNameLst>
                                          <p:attrName>style.visibility</p:attrName>
                                        </p:attrNameLst>
                                      </p:cBhvr>
                                      <p:to>
                                        <p:strVal val="visible"/>
                                      </p:to>
                                    </p:set>
                                    <p:animEffect transition="in" filter="checkerboard(across)">
                                      <p:cBhvr>
                                        <p:cTn id="16" dur="500"/>
                                        <p:tgtEl>
                                          <p:spTgt spid="13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US" b="1" dirty="0" smtClean="0">
                <a:effectLst>
                  <a:outerShdw blurRad="38100" dist="38100" dir="2700000" algn="tl">
                    <a:srgbClr val="000000">
                      <a:alpha val="43137"/>
                    </a:srgbClr>
                  </a:outerShdw>
                </a:effectLst>
              </a:rPr>
              <a:t>Electronic Mail…</a:t>
            </a:r>
            <a:endParaRPr lang="en-GB" b="1" cap="all" dirty="0" smtClean="0">
              <a:effectLst>
                <a:outerShdw blurRad="38100" dist="38100" dir="2700000" algn="tl">
                  <a:srgbClr val="000000">
                    <a:alpha val="43137"/>
                  </a:srgbClr>
                </a:outerShdw>
              </a:effectLst>
            </a:endParaRPr>
          </a:p>
        </p:txBody>
      </p:sp>
      <p:sp>
        <p:nvSpPr>
          <p:cNvPr id="14339" name="Content Placeholder 2"/>
          <p:cNvSpPr>
            <a:spLocks noGrp="1"/>
          </p:cNvSpPr>
          <p:nvPr>
            <p:ph idx="1"/>
          </p:nvPr>
        </p:nvSpPr>
        <p:spPr>
          <a:xfrm>
            <a:off x="285750" y="2221781"/>
            <a:ext cx="8501063" cy="2185988"/>
          </a:xfrm>
        </p:spPr>
        <p:txBody>
          <a:bodyPr>
            <a:normAutofit fontScale="92500" lnSpcReduction="10000"/>
          </a:bodyPr>
          <a:lstStyle/>
          <a:p>
            <a:r>
              <a:rPr lang="en-US" altLang="en-US" sz="2100" dirty="0" smtClean="0"/>
              <a:t>An e-mail account is identified by an e-mail address, which has two parts, separated by an @ symbol. </a:t>
            </a:r>
          </a:p>
          <a:p>
            <a:r>
              <a:rPr lang="en-US" altLang="en-US" sz="2100" dirty="0" smtClean="0"/>
              <a:t>To the left of the @ symbol is the account or user name; the part on the right identifies the domain of the mail server where your account resides. </a:t>
            </a:r>
          </a:p>
          <a:p>
            <a:r>
              <a:rPr lang="en-US" altLang="en-US" sz="2100" dirty="0" smtClean="0"/>
              <a:t>The account or user name can be chosen or assigned, but it must be unique within the domain in which it is used.</a:t>
            </a:r>
            <a:endParaRPr lang="en-GB" altLang="en-US" sz="21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62DBBC3-13AE-497A-8209-5D47ECF33583}" type="slidenum">
              <a:rPr lang="en-GB">
                <a:solidFill>
                  <a:srgbClr val="898989"/>
                </a:solidFill>
                <a:latin typeface="Calibri" panose="020F0502020204030204" pitchFamily="34" charset="0"/>
              </a:rPr>
              <a:pPr eaLnBrk="1" hangingPunct="1"/>
              <a:t>8</a:t>
            </a:fld>
            <a:endParaRPr lang="en-GB">
              <a:solidFill>
                <a:srgbClr val="898989"/>
              </a:solidFill>
              <a:latin typeface="Calibri" panose="020F0502020204030204" pitchFamily="34" charset="0"/>
            </a:endParaRPr>
          </a:p>
        </p:txBody>
      </p:sp>
      <p:pic>
        <p:nvPicPr>
          <p:cNvPr id="143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4459290"/>
            <a:ext cx="8429625" cy="1977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Rectangle 9"/>
          <p:cNvSpPr>
            <a:spLocks noChangeArrowheads="1"/>
          </p:cNvSpPr>
          <p:nvPr/>
        </p:nvSpPr>
        <p:spPr bwMode="auto">
          <a:xfrm>
            <a:off x="2627784" y="6488113"/>
            <a:ext cx="4237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latin typeface="Arial" panose="020B0604020202020204" pitchFamily="34" charset="0"/>
              </a:rPr>
              <a:t>The Structure of an E-Mail Address</a:t>
            </a:r>
            <a:endParaRPr lang="en-GB" altLang="en-US" sz="1800" dirty="0">
              <a:latin typeface="Arial" panose="020B0604020202020204" pitchFamily="34" charset="0"/>
            </a:endParaRPr>
          </a:p>
        </p:txBody>
      </p:sp>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US" b="1" dirty="0" smtClean="0">
                <a:effectLst>
                  <a:outerShdw blurRad="38100" dist="38100" dir="2700000" algn="tl">
                    <a:srgbClr val="000000">
                      <a:alpha val="43137"/>
                    </a:srgbClr>
                  </a:outerShdw>
                </a:effectLst>
              </a:rPr>
              <a:t>File Transfer Protocol</a:t>
            </a:r>
            <a:endParaRPr lang="en-GB" b="1" cap="all" dirty="0" smtClean="0">
              <a:effectLst>
                <a:outerShdw blurRad="38100" dist="38100" dir="2700000" algn="tl">
                  <a:srgbClr val="000000">
                    <a:alpha val="43137"/>
                  </a:srgbClr>
                </a:outerShdw>
              </a:effectLst>
            </a:endParaRPr>
          </a:p>
        </p:txBody>
      </p:sp>
      <p:sp>
        <p:nvSpPr>
          <p:cNvPr id="15363" name="Content Placeholder 2"/>
          <p:cNvSpPr>
            <a:spLocks noGrp="1"/>
          </p:cNvSpPr>
          <p:nvPr>
            <p:ph idx="1"/>
          </p:nvPr>
        </p:nvSpPr>
        <p:spPr>
          <a:xfrm>
            <a:off x="457200" y="2420888"/>
            <a:ext cx="8229600" cy="4008487"/>
          </a:xfrm>
        </p:spPr>
        <p:txBody>
          <a:bodyPr>
            <a:normAutofit fontScale="92500" lnSpcReduction="20000"/>
          </a:bodyPr>
          <a:lstStyle/>
          <a:p>
            <a:r>
              <a:rPr lang="en-US" altLang="en-US" sz="2500" b="1" dirty="0" smtClean="0"/>
              <a:t>File transfer protocol (FTP) </a:t>
            </a:r>
            <a:r>
              <a:rPr lang="en-US" altLang="en-US" sz="2500" dirty="0" smtClean="0"/>
              <a:t>is a standard Internet protocol that permits the exchange of files between computers on the Internet. </a:t>
            </a:r>
            <a:endParaRPr lang="en-US" altLang="en-US" sz="2400" dirty="0" smtClean="0"/>
          </a:p>
          <a:p>
            <a:r>
              <a:rPr lang="en-US" altLang="en-US" sz="2500" dirty="0" smtClean="0"/>
              <a:t>Like Telnet, FTP was developed in the early days of the Internet (it was released as a standard protocol in 1972) to make it possible to share files between computers. </a:t>
            </a:r>
            <a:endParaRPr lang="en-US" altLang="en-US" sz="2400" dirty="0" smtClean="0"/>
          </a:p>
          <a:p>
            <a:r>
              <a:rPr lang="en-US" altLang="en-US" sz="2500" dirty="0" smtClean="0"/>
              <a:t>FTP is now commonly used to transfer Web page files from the Web page author’s computer to a Web server. FTP is also commonly used to download programs and other files from a Web server to a user or client computer.</a:t>
            </a:r>
            <a:endParaRPr lang="en-GB" altLang="en-US" sz="25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B6D33E-ABA8-4C80-A88F-BF453B44B727}" type="slidenum">
              <a:rPr lang="en-GB">
                <a:solidFill>
                  <a:srgbClr val="898989"/>
                </a:solidFill>
                <a:latin typeface="Calibri" panose="020F0502020204030204" pitchFamily="34" charset="0"/>
              </a:rPr>
              <a:pPr eaLnBrk="1" hangingPunct="1"/>
              <a:t>9</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checkerboard(across)">
                                      <p:cBhvr>
                                        <p:cTn id="7" dur="500"/>
                                        <p:tgtEl>
                                          <p:spTgt spid="15363">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checkerboard(across)">
                                      <p:cBhvr>
                                        <p:cTn id="10" dur="500"/>
                                        <p:tgtEl>
                                          <p:spTgt spid="15363">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Effect transition="in" filter="checkerboard(across)">
                                      <p:cBhvr>
                                        <p:cTn id="13"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865970" y="927098"/>
            <a:ext cx="7378438" cy="709865"/>
          </a:xfrm>
        </p:spPr>
        <p:txBody>
          <a:bodyPr/>
          <a:lstStyle/>
          <a:p>
            <a:pPr algn="ctr" eaLnBrk="1" hangingPunct="1">
              <a:defRPr/>
            </a:pPr>
            <a:r>
              <a:rPr lang="en-US" b="1" dirty="0" smtClean="0">
                <a:effectLst>
                  <a:outerShdw blurRad="38100" dist="38100" dir="2700000" algn="tl">
                    <a:srgbClr val="000000">
                      <a:alpha val="43137"/>
                    </a:srgbClr>
                  </a:outerShdw>
                </a:effectLst>
              </a:rPr>
              <a:t>Transmission Control Protocol Internet Protocol</a:t>
            </a:r>
            <a:endParaRPr lang="en-GB" b="1" cap="all" dirty="0" smtClean="0">
              <a:effectLst>
                <a:outerShdw blurRad="38100" dist="38100" dir="2700000" algn="tl">
                  <a:srgbClr val="000000">
                    <a:alpha val="43137"/>
                  </a:srgbClr>
                </a:outerShdw>
              </a:effectLst>
            </a:endParaRPr>
          </a:p>
        </p:txBody>
      </p:sp>
      <p:sp>
        <p:nvSpPr>
          <p:cNvPr id="22531" name="Content Placeholder 2"/>
          <p:cNvSpPr>
            <a:spLocks noGrp="1"/>
          </p:cNvSpPr>
          <p:nvPr>
            <p:ph idx="1"/>
          </p:nvPr>
        </p:nvSpPr>
        <p:spPr>
          <a:xfrm>
            <a:off x="457200" y="2348880"/>
            <a:ext cx="8229600" cy="4080495"/>
          </a:xfrm>
        </p:spPr>
        <p:txBody>
          <a:bodyPr>
            <a:normAutofit fontScale="92500" lnSpcReduction="10000"/>
          </a:bodyPr>
          <a:lstStyle/>
          <a:p>
            <a:r>
              <a:rPr lang="en-US" altLang="en-US" sz="2800" b="1" dirty="0" smtClean="0"/>
              <a:t>TCP/IP </a:t>
            </a:r>
            <a:r>
              <a:rPr lang="en-US" altLang="en-US" sz="2800" dirty="0" smtClean="0"/>
              <a:t>(transmission control protocol/Internet protocol) is the basic communication language, or protocol, of the Internet. </a:t>
            </a:r>
            <a:endParaRPr lang="en-US" altLang="en-US" sz="2000" dirty="0" smtClean="0"/>
          </a:p>
          <a:p>
            <a:r>
              <a:rPr lang="en-US" altLang="en-US" sz="2800" dirty="0" smtClean="0"/>
              <a:t>It can also be used in a local area network. The collection of networks eventually called the Internet was named for the first word of Internet protocol.</a:t>
            </a:r>
            <a:endParaRPr lang="en-US" altLang="en-US" sz="2000" dirty="0" smtClean="0"/>
          </a:p>
          <a:p>
            <a:r>
              <a:rPr lang="en-US" altLang="en-US" sz="2800" dirty="0" smtClean="0"/>
              <a:t>The Internet can best be described as one large worldwide network connecting many smaller networks.</a:t>
            </a:r>
            <a:endParaRPr lang="en-GB" altLang="en-US" sz="28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CFB86B-633A-4045-9A7D-38F3879FF6AD}" type="slidenum">
              <a:rPr lang="en-GB">
                <a:solidFill>
                  <a:srgbClr val="898989"/>
                </a:solidFill>
                <a:latin typeface="Calibri" panose="020F0502020204030204" pitchFamily="34" charset="0"/>
              </a:rPr>
              <a:pPr eaLnBrk="1" hangingPunct="1"/>
              <a:t>10</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checkerboard(across)">
                                      <p:cBhvr>
                                        <p:cTn id="7" dur="500"/>
                                        <p:tgtEl>
                                          <p:spTgt spid="22531">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2531">
                                            <p:txEl>
                                              <p:pRg st="1" end="1"/>
                                            </p:txEl>
                                          </p:spTgt>
                                        </p:tgtEl>
                                        <p:attrNameLst>
                                          <p:attrName>style.visibility</p:attrName>
                                        </p:attrNameLst>
                                      </p:cBhvr>
                                      <p:to>
                                        <p:strVal val="visible"/>
                                      </p:to>
                                    </p:set>
                                    <p:animEffect transition="in" filter="checkerboard(across)">
                                      <p:cBhvr>
                                        <p:cTn id="10" dur="500"/>
                                        <p:tgtEl>
                                          <p:spTgt spid="22531">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2531">
                                            <p:txEl>
                                              <p:pRg st="2" end="2"/>
                                            </p:txEl>
                                          </p:spTgt>
                                        </p:tgtEl>
                                        <p:attrNameLst>
                                          <p:attrName>style.visibility</p:attrName>
                                        </p:attrNameLst>
                                      </p:cBhvr>
                                      <p:to>
                                        <p:strVal val="visible"/>
                                      </p:to>
                                    </p:set>
                                    <p:animEffect transition="in" filter="checkerboard(across)">
                                      <p:cBhvr>
                                        <p:cTn id="13" dur="500"/>
                                        <p:tgtEl>
                                          <p:spTgt spid="22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p:cNvSpPr>
            <a:spLocks noGrp="1"/>
          </p:cNvSpPr>
          <p:nvPr>
            <p:ph idx="1"/>
          </p:nvPr>
        </p:nvSpPr>
        <p:spPr>
          <a:xfrm>
            <a:off x="457200" y="2348880"/>
            <a:ext cx="8229600" cy="4080495"/>
          </a:xfrm>
        </p:spPr>
        <p:txBody>
          <a:bodyPr>
            <a:normAutofit fontScale="92500" lnSpcReduction="10000"/>
          </a:bodyPr>
          <a:lstStyle/>
          <a:p>
            <a:r>
              <a:rPr lang="en-US" altLang="en-US" sz="2800" dirty="0" smtClean="0"/>
              <a:t>TCP/IP is a two-layer program.</a:t>
            </a:r>
            <a:endParaRPr lang="en-US" altLang="en-US" sz="1200" dirty="0" smtClean="0"/>
          </a:p>
          <a:p>
            <a:r>
              <a:rPr lang="en-US" altLang="en-US" sz="2800" b="1" dirty="0" smtClean="0"/>
              <a:t>TCP</a:t>
            </a:r>
            <a:r>
              <a:rPr lang="en-US" altLang="en-US" sz="2800" dirty="0" smtClean="0"/>
              <a:t> manages the assembling of a message or file into smaller packets that are transmitted over the Internet and are then reassembled into the original message.</a:t>
            </a:r>
            <a:endParaRPr lang="en-US" altLang="en-US" sz="1200" dirty="0" smtClean="0"/>
          </a:p>
          <a:p>
            <a:r>
              <a:rPr lang="en-US" altLang="en-US" sz="2800" dirty="0" smtClean="0"/>
              <a:t>The other layer, </a:t>
            </a:r>
            <a:r>
              <a:rPr lang="en-US" altLang="en-US" sz="2800" b="1" dirty="0" smtClean="0"/>
              <a:t>IP,</a:t>
            </a:r>
            <a:r>
              <a:rPr lang="en-US" altLang="en-US" sz="2800" dirty="0" smtClean="0"/>
              <a:t> handles the address part of each packet so that it gets to the right destination. </a:t>
            </a:r>
            <a:endParaRPr lang="en-US" altLang="en-US" sz="1200" dirty="0" smtClean="0"/>
          </a:p>
          <a:p>
            <a:r>
              <a:rPr lang="en-US" altLang="en-US" sz="2800" dirty="0" smtClean="0"/>
              <a:t>A Gateway computer checks the address to see where to forward the message.</a:t>
            </a:r>
            <a:endParaRPr lang="en-GB" altLang="en-US" sz="28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585E6B-A941-4FA5-B88D-43186A1596FA}" type="slidenum">
              <a:rPr lang="en-GB">
                <a:solidFill>
                  <a:srgbClr val="898989"/>
                </a:solidFill>
                <a:latin typeface="Calibri" panose="020F0502020204030204" pitchFamily="34" charset="0"/>
              </a:rPr>
              <a:pPr eaLnBrk="1" hangingPunct="1"/>
              <a:t>11</a:t>
            </a:fld>
            <a:endParaRPr lang="en-GB">
              <a:solidFill>
                <a:srgbClr val="898989"/>
              </a:solidFill>
              <a:latin typeface="Calibri" panose="020F0502020204030204" pitchFamily="34" charset="0"/>
            </a:endParaRPr>
          </a:p>
        </p:txBody>
      </p:sp>
      <p:sp>
        <p:nvSpPr>
          <p:cNvPr id="8" name="Title 1"/>
          <p:cNvSpPr>
            <a:spLocks noGrp="1"/>
          </p:cNvSpPr>
          <p:nvPr>
            <p:ph type="title"/>
          </p:nvPr>
        </p:nvSpPr>
        <p:spPr>
          <a:xfrm>
            <a:off x="865970" y="927098"/>
            <a:ext cx="7378438" cy="845718"/>
          </a:xfrm>
        </p:spPr>
        <p:txBody>
          <a:bodyPr/>
          <a:lstStyle/>
          <a:p>
            <a:pPr algn="ctr" eaLnBrk="1" hangingPunct="1">
              <a:defRPr/>
            </a:pPr>
            <a:r>
              <a:rPr lang="en-US" b="1" dirty="0" smtClean="0">
                <a:effectLst>
                  <a:outerShdw blurRad="38100" dist="38100" dir="2700000" algn="tl">
                    <a:srgbClr val="000000">
                      <a:alpha val="43137"/>
                    </a:srgbClr>
                  </a:outerShdw>
                </a:effectLst>
              </a:rPr>
              <a:t>Transmission Control Protocol Internet Protocol</a:t>
            </a:r>
            <a:endParaRPr lang="en-GB" b="1" cap="all" dirty="0" smtClean="0">
              <a:effectLst>
                <a:outerShdw blurRad="38100" dist="38100" dir="2700000" algn="tl">
                  <a:srgbClr val="000000">
                    <a:alpha val="43137"/>
                  </a:srgbClr>
                </a:outerShdw>
              </a:effectLst>
            </a:endParaRPr>
          </a:p>
        </p:txBody>
      </p:sp>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US" b="1" dirty="0" smtClean="0">
                <a:effectLst>
                  <a:outerShdw blurRad="38100" dist="38100" dir="2700000" algn="tl">
                    <a:srgbClr val="000000">
                      <a:alpha val="43137"/>
                    </a:srgbClr>
                  </a:outerShdw>
                </a:effectLst>
              </a:rPr>
              <a:t>New Internet Technologies</a:t>
            </a:r>
            <a:endParaRPr lang="en-GB" b="1" cap="all" dirty="0" smtClean="0">
              <a:effectLst>
                <a:outerShdw blurRad="38100" dist="38100" dir="2700000" algn="tl">
                  <a:srgbClr val="000000">
                    <a:alpha val="43137"/>
                  </a:srgbClr>
                </a:outerShdw>
              </a:effectLst>
            </a:endParaRPr>
          </a:p>
        </p:txBody>
      </p:sp>
      <p:sp>
        <p:nvSpPr>
          <p:cNvPr id="26627" name="Content Placeholder 2"/>
          <p:cNvSpPr>
            <a:spLocks noGrp="1"/>
          </p:cNvSpPr>
          <p:nvPr>
            <p:ph idx="1"/>
          </p:nvPr>
        </p:nvSpPr>
        <p:spPr>
          <a:xfrm>
            <a:off x="457200" y="2143378"/>
            <a:ext cx="8229600" cy="4285997"/>
          </a:xfrm>
        </p:spPr>
        <p:txBody>
          <a:bodyPr>
            <a:normAutofit lnSpcReduction="10000"/>
          </a:bodyPr>
          <a:lstStyle/>
          <a:p>
            <a:r>
              <a:rPr lang="en-GB" altLang="en-US" sz="2800" dirty="0" smtClean="0"/>
              <a:t>New Internet technologies support the use of the World Wide Web.</a:t>
            </a:r>
          </a:p>
          <a:p>
            <a:r>
              <a:rPr lang="en-GB" altLang="en-US" b="1" i="1" dirty="0" smtClean="0"/>
              <a:t>Chat</a:t>
            </a:r>
          </a:p>
          <a:p>
            <a:pPr lvl="1"/>
            <a:r>
              <a:rPr lang="en-GB" altLang="en-US" sz="2400" dirty="0" smtClean="0"/>
              <a:t>Chat is real-time communication between two or more people using computers, usually through the Internet.</a:t>
            </a:r>
          </a:p>
          <a:p>
            <a:pPr lvl="1"/>
            <a:r>
              <a:rPr lang="en-GB" altLang="en-US" sz="2400" dirty="0" smtClean="0"/>
              <a:t>Any online, real-time conversation is chat or a form of chat. </a:t>
            </a:r>
          </a:p>
          <a:p>
            <a:pPr lvl="1"/>
            <a:r>
              <a:rPr lang="en-GB" altLang="en-US" sz="2400" dirty="0" smtClean="0"/>
              <a:t>Most networks, online services, and conferencing programs offer a chat feature.</a:t>
            </a:r>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9A3871-5AA4-4081-BC5F-326325F0DA2F}" type="slidenum">
              <a:rPr lang="en-GB">
                <a:solidFill>
                  <a:srgbClr val="898989"/>
                </a:solidFill>
                <a:latin typeface="Calibri" panose="020F0502020204030204" pitchFamily="34" charset="0"/>
              </a:rPr>
              <a:pPr eaLnBrk="1" hangingPunct="1"/>
              <a:t>12</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627">
                                            <p:txEl>
                                              <p:pRg st="2" end="2"/>
                                            </p:txEl>
                                          </p:spTgt>
                                        </p:tgtEl>
                                        <p:attrNameLst>
                                          <p:attrName>style.visibility</p:attrName>
                                        </p:attrNameLst>
                                      </p:cBhvr>
                                      <p:to>
                                        <p:strVal val="visible"/>
                                      </p:to>
                                    </p:set>
                                    <p:animEffect transition="in" filter="checkerboard(across)">
                                      <p:cBhvr>
                                        <p:cTn id="7" dur="500"/>
                                        <p:tgtEl>
                                          <p:spTgt spid="26627">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6627">
                                            <p:txEl>
                                              <p:pRg st="3" end="3"/>
                                            </p:txEl>
                                          </p:spTgt>
                                        </p:tgtEl>
                                        <p:attrNameLst>
                                          <p:attrName>style.visibility</p:attrName>
                                        </p:attrNameLst>
                                      </p:cBhvr>
                                      <p:to>
                                        <p:strVal val="visible"/>
                                      </p:to>
                                    </p:set>
                                    <p:animEffect transition="in" filter="checkerboard(across)">
                                      <p:cBhvr>
                                        <p:cTn id="10" dur="500"/>
                                        <p:tgtEl>
                                          <p:spTgt spid="26627">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6627">
                                            <p:txEl>
                                              <p:pRg st="4" end="4"/>
                                            </p:txEl>
                                          </p:spTgt>
                                        </p:tgtEl>
                                        <p:attrNameLst>
                                          <p:attrName>style.visibility</p:attrName>
                                        </p:attrNameLst>
                                      </p:cBhvr>
                                      <p:to>
                                        <p:strVal val="visible"/>
                                      </p:to>
                                    </p:set>
                                    <p:animEffect transition="in" filter="checkerboard(across)">
                                      <p:cBhvr>
                                        <p:cTn id="13"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i="1" dirty="0" smtClean="0"/>
              <a:t>Chat...</a:t>
            </a:r>
            <a:endParaRPr lang="en-GB" b="1" cap="all" dirty="0" smtClean="0">
              <a:effectLst>
                <a:outerShdw blurRad="38100" dist="38100" dir="2700000" algn="tl">
                  <a:srgbClr val="000000">
                    <a:alpha val="43137"/>
                  </a:srgbClr>
                </a:outerShdw>
              </a:effectLst>
            </a:endParaRPr>
          </a:p>
        </p:txBody>
      </p:sp>
      <p:sp>
        <p:nvSpPr>
          <p:cNvPr id="27651" name="Content Placeholder 2"/>
          <p:cNvSpPr>
            <a:spLocks noGrp="1"/>
          </p:cNvSpPr>
          <p:nvPr>
            <p:ph idx="1"/>
          </p:nvPr>
        </p:nvSpPr>
        <p:spPr>
          <a:xfrm>
            <a:off x="457200" y="2420888"/>
            <a:ext cx="8229600" cy="4008487"/>
          </a:xfrm>
        </p:spPr>
        <p:txBody>
          <a:bodyPr>
            <a:normAutofit/>
          </a:bodyPr>
          <a:lstStyle/>
          <a:p>
            <a:r>
              <a:rPr lang="en-GB" altLang="en-US" sz="2800" dirty="0" smtClean="0"/>
              <a:t>A </a:t>
            </a:r>
            <a:r>
              <a:rPr lang="en-GB" altLang="en-US" sz="2800" b="1" dirty="0" smtClean="0"/>
              <a:t>chat room is a virtual </a:t>
            </a:r>
            <a:r>
              <a:rPr lang="en-GB" altLang="en-US" sz="2800" dirty="0" smtClean="0"/>
              <a:t>space where a chat session takes place. </a:t>
            </a:r>
          </a:p>
          <a:p>
            <a:r>
              <a:rPr lang="en-GB" altLang="en-US" sz="2800" dirty="0" smtClean="0"/>
              <a:t>Technically, a chat room is a communications channel, but the term </a:t>
            </a:r>
            <a:r>
              <a:rPr lang="en-GB" altLang="en-US" sz="2800" i="1" dirty="0" smtClean="0"/>
              <a:t>room supports the chat metaphor.</a:t>
            </a:r>
          </a:p>
          <a:p>
            <a:r>
              <a:rPr lang="en-GB" altLang="en-US" sz="2800" dirty="0" smtClean="0"/>
              <a:t>Because chat is intended for two-way communication, it supports a high level of interactivity among users.</a:t>
            </a:r>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1328457-1593-4518-8F10-318B0ABE214E}" type="slidenum">
              <a:rPr lang="en-GB">
                <a:solidFill>
                  <a:srgbClr val="898989"/>
                </a:solidFill>
                <a:latin typeface="Calibri" panose="020F0502020204030204" pitchFamily="34" charset="0"/>
              </a:rPr>
              <a:pPr eaLnBrk="1" hangingPunct="1"/>
              <a:t>13</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i="1" dirty="0" smtClean="0"/>
              <a:t>Hypertext Transfer Protocol</a:t>
            </a:r>
            <a:endParaRPr lang="en-GB" b="1" cap="all" dirty="0" smtClean="0">
              <a:effectLst>
                <a:outerShdw blurRad="38100" dist="38100" dir="2700000" algn="tl">
                  <a:srgbClr val="000000">
                    <a:alpha val="43137"/>
                  </a:srgbClr>
                </a:outerShdw>
              </a:effectLst>
            </a:endParaRPr>
          </a:p>
        </p:txBody>
      </p:sp>
      <p:sp>
        <p:nvSpPr>
          <p:cNvPr id="29699" name="Content Placeholder 2"/>
          <p:cNvSpPr>
            <a:spLocks noGrp="1"/>
          </p:cNvSpPr>
          <p:nvPr>
            <p:ph idx="1"/>
          </p:nvPr>
        </p:nvSpPr>
        <p:spPr>
          <a:xfrm>
            <a:off x="457200" y="2276872"/>
            <a:ext cx="8229600" cy="4152503"/>
          </a:xfrm>
        </p:spPr>
        <p:txBody>
          <a:bodyPr>
            <a:normAutofit fontScale="92500" lnSpcReduction="20000"/>
          </a:bodyPr>
          <a:lstStyle/>
          <a:p>
            <a:r>
              <a:rPr lang="en-GB" altLang="en-US" sz="2800" dirty="0" smtClean="0"/>
              <a:t>Hypertext transfer protocol </a:t>
            </a:r>
            <a:r>
              <a:rPr lang="en-GB" altLang="en-US" sz="2800" b="1" dirty="0" smtClean="0"/>
              <a:t>(HTTP) </a:t>
            </a:r>
            <a:r>
              <a:rPr lang="en-GB" altLang="en-US" sz="2800" dirty="0" smtClean="0"/>
              <a:t>is the underlying protocol used by the World Wide Web. </a:t>
            </a:r>
            <a:endParaRPr lang="en-GB" altLang="en-US" sz="1200" dirty="0" smtClean="0"/>
          </a:p>
          <a:p>
            <a:r>
              <a:rPr lang="en-GB" altLang="en-US" sz="2800" dirty="0" smtClean="0"/>
              <a:t>HTTP defines how messages are formatted and transmitted and what actions Web servers and Web browsers should take in response to various commands. </a:t>
            </a:r>
            <a:endParaRPr lang="en-GB" altLang="en-US" sz="1200" dirty="0" smtClean="0"/>
          </a:p>
          <a:p>
            <a:r>
              <a:rPr lang="en-GB" altLang="en-US" sz="2800" dirty="0" smtClean="0"/>
              <a:t>For example, when you enter a URL in your browser, you send an HTTP command to the Web server directing it to fetch and transmit the requested Web page.</a:t>
            </a:r>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A73548-9224-432E-8C3D-EC1CF451FADD}" type="slidenum">
              <a:rPr lang="en-GB">
                <a:solidFill>
                  <a:srgbClr val="898989"/>
                </a:solidFill>
                <a:latin typeface="Calibri" panose="020F0502020204030204" pitchFamily="34" charset="0"/>
              </a:rPr>
              <a:pPr eaLnBrk="1" hangingPunct="1"/>
              <a:t>14</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checkerboard(across)">
                                      <p:cBhvr>
                                        <p:cTn id="7" dur="500"/>
                                        <p:tgtEl>
                                          <p:spTgt spid="29699">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9699">
                                            <p:txEl>
                                              <p:pRg st="1" end="1"/>
                                            </p:txEl>
                                          </p:spTgt>
                                        </p:tgtEl>
                                        <p:attrNameLst>
                                          <p:attrName>style.visibility</p:attrName>
                                        </p:attrNameLst>
                                      </p:cBhvr>
                                      <p:to>
                                        <p:strVal val="visible"/>
                                      </p:to>
                                    </p:set>
                                    <p:animEffect transition="in" filter="checkerboard(across)">
                                      <p:cBhvr>
                                        <p:cTn id="10" dur="500"/>
                                        <p:tgtEl>
                                          <p:spTgt spid="29699">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9699">
                                            <p:txEl>
                                              <p:pRg st="2" end="2"/>
                                            </p:txEl>
                                          </p:spTgt>
                                        </p:tgtEl>
                                        <p:attrNameLst>
                                          <p:attrName>style.visibility</p:attrName>
                                        </p:attrNameLst>
                                      </p:cBhvr>
                                      <p:to>
                                        <p:strVal val="visible"/>
                                      </p:to>
                                    </p:set>
                                    <p:animEffect transition="in" filter="checkerboard(across)">
                                      <p:cBhvr>
                                        <p:cTn id="13" dur="500"/>
                                        <p:tgtEl>
                                          <p:spTgt spid="29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i="1" dirty="0" smtClean="0"/>
              <a:t>Hypertext Transfer Protocol...</a:t>
            </a:r>
            <a:endParaRPr lang="en-GB" b="1" cap="all" dirty="0" smtClean="0">
              <a:effectLst>
                <a:outerShdw blurRad="38100" dist="38100" dir="2700000" algn="tl">
                  <a:srgbClr val="000000">
                    <a:alpha val="43137"/>
                  </a:srgbClr>
                </a:outerShdw>
              </a:effectLst>
            </a:endParaRPr>
          </a:p>
        </p:txBody>
      </p:sp>
      <p:sp>
        <p:nvSpPr>
          <p:cNvPr id="30723" name="Content Placeholder 2"/>
          <p:cNvSpPr>
            <a:spLocks noGrp="1"/>
          </p:cNvSpPr>
          <p:nvPr>
            <p:ph idx="1"/>
          </p:nvPr>
        </p:nvSpPr>
        <p:spPr>
          <a:xfrm>
            <a:off x="457200" y="2276872"/>
            <a:ext cx="8229600" cy="4152503"/>
          </a:xfrm>
        </p:spPr>
        <p:txBody>
          <a:bodyPr>
            <a:normAutofit fontScale="92500"/>
          </a:bodyPr>
          <a:lstStyle/>
          <a:p>
            <a:r>
              <a:rPr lang="en-GB" altLang="en-US" sz="2800" dirty="0" smtClean="0"/>
              <a:t>FTP is a two-way system in which files can be transferred back and forth between server and client computers. </a:t>
            </a:r>
            <a:endParaRPr lang="en-GB" altLang="en-US" sz="2000" dirty="0" smtClean="0"/>
          </a:p>
          <a:p>
            <a:r>
              <a:rPr lang="en-GB" altLang="en-US" sz="2800" dirty="0" smtClean="0"/>
              <a:t>HTTP is a one-way system in which files are transferred from the Web server into the Web browser of the client computer.</a:t>
            </a:r>
            <a:endParaRPr lang="en-GB" altLang="en-US" sz="2000" dirty="0" smtClean="0"/>
          </a:p>
          <a:p>
            <a:r>
              <a:rPr lang="en-GB" altLang="en-US" sz="2800" dirty="0" smtClean="0"/>
              <a:t>When HTTP appears in a URL, it means that the user is connecting to a Web server and files are transferred but not downloaded and stored.</a:t>
            </a:r>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5C26F18-5EF9-45F7-9053-A434D037749A}" type="slidenum">
              <a:rPr lang="en-GB">
                <a:solidFill>
                  <a:srgbClr val="898989"/>
                </a:solidFill>
                <a:latin typeface="Calibri" panose="020F0502020204030204" pitchFamily="34" charset="0"/>
              </a:rPr>
              <a:pPr eaLnBrk="1" hangingPunct="1"/>
              <a:t>15</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i="1" dirty="0" smtClean="0"/>
              <a:t>Hypertext </a:t>
            </a:r>
            <a:r>
              <a:rPr lang="en-GB" b="1" i="1" dirty="0" err="1" smtClean="0"/>
              <a:t>Markup</a:t>
            </a:r>
            <a:r>
              <a:rPr lang="en-GB" b="1" i="1" dirty="0" smtClean="0"/>
              <a:t> Language</a:t>
            </a:r>
            <a:endParaRPr lang="en-GB" b="1" cap="all" dirty="0" smtClean="0">
              <a:effectLst>
                <a:outerShdw blurRad="38100" dist="38100" dir="2700000" algn="tl">
                  <a:srgbClr val="000000">
                    <a:alpha val="43137"/>
                  </a:srgbClr>
                </a:outerShdw>
              </a:effectLst>
            </a:endParaRPr>
          </a:p>
        </p:txBody>
      </p:sp>
      <p:sp>
        <p:nvSpPr>
          <p:cNvPr id="31747" name="Content Placeholder 2"/>
          <p:cNvSpPr>
            <a:spLocks noGrp="1"/>
          </p:cNvSpPr>
          <p:nvPr>
            <p:ph idx="1"/>
          </p:nvPr>
        </p:nvSpPr>
        <p:spPr>
          <a:xfrm>
            <a:off x="457200" y="2143378"/>
            <a:ext cx="8229600" cy="4285997"/>
          </a:xfrm>
        </p:spPr>
        <p:txBody>
          <a:bodyPr>
            <a:normAutofit lnSpcReduction="10000"/>
          </a:bodyPr>
          <a:lstStyle/>
          <a:p>
            <a:r>
              <a:rPr lang="en-GB" altLang="en-US" sz="2800" dirty="0" smtClean="0"/>
              <a:t>Hypertext </a:t>
            </a:r>
            <a:r>
              <a:rPr lang="en-GB" altLang="en-US" sz="2800" dirty="0" err="1" smtClean="0"/>
              <a:t>markup</a:t>
            </a:r>
            <a:r>
              <a:rPr lang="en-GB" altLang="en-US" sz="2800" dirty="0" smtClean="0"/>
              <a:t> language </a:t>
            </a:r>
            <a:r>
              <a:rPr lang="en-GB" altLang="en-US" sz="2800" b="1" dirty="0" smtClean="0"/>
              <a:t>(HTML)</a:t>
            </a:r>
            <a:r>
              <a:rPr lang="en-GB" altLang="en-US" sz="2800" dirty="0" smtClean="0"/>
              <a:t> is the language in which Web pages are written.</a:t>
            </a:r>
          </a:p>
          <a:p>
            <a:r>
              <a:rPr lang="en-GB" altLang="en-US" sz="2800" b="1" dirty="0" smtClean="0"/>
              <a:t>HTML </a:t>
            </a:r>
            <a:r>
              <a:rPr lang="en-GB" altLang="en-US" sz="2800" dirty="0" smtClean="0"/>
              <a:t>uses a simple system for denoting instructions, called tags, to convey the content and structure of a hypertext document, or Web page.</a:t>
            </a:r>
          </a:p>
          <a:p>
            <a:r>
              <a:rPr lang="en-GB" altLang="en-US" sz="2800" dirty="0" smtClean="0"/>
              <a:t>Hypertext, Web pages now commonly include other media, and it may be more accurate to use the term </a:t>
            </a:r>
            <a:r>
              <a:rPr lang="en-GB" altLang="en-US" sz="2800" i="1" dirty="0" smtClean="0"/>
              <a:t>hypermedia instead of hypertext.</a:t>
            </a:r>
          </a:p>
          <a:p>
            <a:pPr eaLnBrk="1" hangingPunct="1">
              <a:buFont typeface="Arial" panose="020B0604020202020204" pitchFamily="34" charset="0"/>
              <a:buNone/>
            </a:pPr>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CCF1CED-F1B3-4BA8-8F46-F2663DF1636C}" type="slidenum">
              <a:rPr lang="en-GB">
                <a:solidFill>
                  <a:srgbClr val="898989"/>
                </a:solidFill>
                <a:latin typeface="Calibri" panose="020F0502020204030204" pitchFamily="34" charset="0"/>
              </a:rPr>
              <a:pPr eaLnBrk="1" hangingPunct="1"/>
              <a:t>16</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checkerboard(across)">
                                      <p:cBhvr>
                                        <p:cTn id="7" dur="500"/>
                                        <p:tgtEl>
                                          <p:spTgt spid="3174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1747">
                                            <p:txEl>
                                              <p:pRg st="1" end="1"/>
                                            </p:txEl>
                                          </p:spTgt>
                                        </p:tgtEl>
                                        <p:attrNameLst>
                                          <p:attrName>style.visibility</p:attrName>
                                        </p:attrNameLst>
                                      </p:cBhvr>
                                      <p:to>
                                        <p:strVal val="visible"/>
                                      </p:to>
                                    </p:set>
                                    <p:animEffect transition="in" filter="checkerboard(across)">
                                      <p:cBhvr>
                                        <p:cTn id="10" dur="500"/>
                                        <p:tgtEl>
                                          <p:spTgt spid="31747">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animEffect transition="in" filter="checkerboard(across)">
                                      <p:cBhvr>
                                        <p:cTn id="13" dur="500"/>
                                        <p:tgtEl>
                                          <p:spTgt spid="31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i="1" dirty="0" smtClean="0"/>
              <a:t>Hypertext </a:t>
            </a:r>
            <a:r>
              <a:rPr lang="en-GB" b="1" i="1" dirty="0" err="1" smtClean="0"/>
              <a:t>Markup</a:t>
            </a:r>
            <a:r>
              <a:rPr lang="en-GB" b="1" i="1" dirty="0" smtClean="0"/>
              <a:t> Language...</a:t>
            </a:r>
            <a:endParaRPr lang="en-GB" b="1" cap="all" dirty="0" smtClean="0">
              <a:effectLst>
                <a:outerShdw blurRad="38100" dist="38100" dir="2700000" algn="tl">
                  <a:srgbClr val="000000">
                    <a:alpha val="43137"/>
                  </a:srgbClr>
                </a:outerShdw>
              </a:effectLst>
            </a:endParaRPr>
          </a:p>
        </p:txBody>
      </p:sp>
      <p:sp>
        <p:nvSpPr>
          <p:cNvPr id="32771" name="Content Placeholder 2"/>
          <p:cNvSpPr>
            <a:spLocks noGrp="1"/>
          </p:cNvSpPr>
          <p:nvPr>
            <p:ph idx="1"/>
          </p:nvPr>
        </p:nvSpPr>
        <p:spPr>
          <a:xfrm>
            <a:off x="457200" y="2708920"/>
            <a:ext cx="8229600" cy="3720455"/>
          </a:xfrm>
        </p:spPr>
        <p:txBody>
          <a:bodyPr/>
          <a:lstStyle/>
          <a:p>
            <a:endParaRPr lang="en-GB" altLang="en-US" sz="2800" dirty="0" smtClean="0"/>
          </a:p>
          <a:p>
            <a:r>
              <a:rPr lang="en-GB" altLang="en-US" sz="2800" dirty="0" smtClean="0"/>
              <a:t>HTML files, or Web pages, use HTTP to transfer Web pages from a Web server through the World Wide Web to a client computer, where they are parsed and displayed using a </a:t>
            </a:r>
            <a:r>
              <a:rPr lang="en-GB" altLang="en-US" sz="2800" b="1" dirty="0" smtClean="0"/>
              <a:t>Web </a:t>
            </a:r>
            <a:r>
              <a:rPr lang="en-GB" altLang="en-US" sz="2800" dirty="0" smtClean="0"/>
              <a:t>browser program.</a:t>
            </a:r>
          </a:p>
          <a:p>
            <a:endParaRPr lang="en-GB" altLang="en-US" sz="2800" dirty="0" smtClean="0"/>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BA234EB-5DA0-4B09-9917-781401924BFE}" type="slidenum">
              <a:rPr lang="en-GB">
                <a:solidFill>
                  <a:srgbClr val="898989"/>
                </a:solidFill>
                <a:latin typeface="Calibri" panose="020F0502020204030204" pitchFamily="34" charset="0"/>
              </a:rPr>
              <a:pPr eaLnBrk="1" hangingPunct="1"/>
              <a:t>17</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877744" y="679573"/>
            <a:ext cx="6343672" cy="709865"/>
          </a:xfrm>
        </p:spPr>
        <p:txBody>
          <a:bodyPr/>
          <a:lstStyle/>
          <a:p>
            <a:pPr eaLnBrk="1" hangingPunct="1">
              <a:defRPr/>
            </a:pPr>
            <a:r>
              <a:rPr lang="en-GB" b="1" i="1" dirty="0" smtClean="0"/>
              <a:t>Uniform Resource Locator</a:t>
            </a:r>
            <a:endParaRPr lang="en-GB" b="1" cap="all" dirty="0" smtClean="0">
              <a:effectLst>
                <a:outerShdw blurRad="38100" dist="38100" dir="2700000" algn="tl">
                  <a:srgbClr val="000000">
                    <a:alpha val="43137"/>
                  </a:srgbClr>
                </a:outerShdw>
              </a:effectLst>
            </a:endParaRPr>
          </a:p>
        </p:txBody>
      </p:sp>
      <p:sp>
        <p:nvSpPr>
          <p:cNvPr id="38915" name="Content Placeholder 2"/>
          <p:cNvSpPr>
            <a:spLocks noGrp="1"/>
          </p:cNvSpPr>
          <p:nvPr>
            <p:ph idx="1"/>
          </p:nvPr>
        </p:nvSpPr>
        <p:spPr>
          <a:xfrm>
            <a:off x="457200" y="2204864"/>
            <a:ext cx="8229600" cy="2050242"/>
          </a:xfrm>
        </p:spPr>
        <p:txBody>
          <a:bodyPr>
            <a:normAutofit fontScale="92500"/>
          </a:bodyPr>
          <a:lstStyle/>
          <a:p>
            <a:r>
              <a:rPr lang="en-GB" altLang="en-US" sz="2200" dirty="0" smtClean="0"/>
              <a:t>A uniform resource locator </a:t>
            </a:r>
            <a:r>
              <a:rPr lang="en-GB" altLang="en-US" sz="2200" b="1" dirty="0" smtClean="0"/>
              <a:t>(URL) </a:t>
            </a:r>
            <a:r>
              <a:rPr lang="en-GB" altLang="en-US" sz="2200" dirty="0" smtClean="0"/>
              <a:t>is the address or location on the World Wide Web of a document or file that resides on a Web server connected to the Internet.</a:t>
            </a:r>
          </a:p>
          <a:p>
            <a:r>
              <a:rPr lang="en-GB" altLang="en-US" sz="2200" dirty="0" smtClean="0"/>
              <a:t>The URL is the most fundamental innovation of the Web, it is the specification used by any program, computer, or server connected to the Internet to locate a resource on the Web.</a:t>
            </a:r>
          </a:p>
          <a:p>
            <a:pPr eaLnBrk="1" hangingPunct="1"/>
            <a:endParaRPr lang="en-GB" altLang="en-US" sz="1800" dirty="0" smtClean="0"/>
          </a:p>
          <a:p>
            <a:pPr eaLnBrk="1" hangingPunct="1"/>
            <a:endParaRPr lang="en-GB" altLang="en-US" sz="14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DD52F1-E5DB-4597-9BBE-9AD7A304AF6A}" type="slidenum">
              <a:rPr lang="en-GB">
                <a:solidFill>
                  <a:srgbClr val="898989"/>
                </a:solidFill>
                <a:latin typeface="Calibri" panose="020F0502020204030204" pitchFamily="34" charset="0"/>
              </a:rPr>
              <a:pPr eaLnBrk="1" hangingPunct="1"/>
              <a:t>18</a:t>
            </a:fld>
            <a:endParaRPr lang="en-GB">
              <a:solidFill>
                <a:srgbClr val="898989"/>
              </a:solidFill>
              <a:latin typeface="Calibri" panose="020F0502020204030204" pitchFamily="34" charset="0"/>
            </a:endParaRPr>
          </a:p>
        </p:txBody>
      </p:sp>
      <p:pic>
        <p:nvPicPr>
          <p:cNvPr id="3891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437113"/>
            <a:ext cx="8064896" cy="20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3275856" y="6462922"/>
            <a:ext cx="2976563" cy="400050"/>
          </a:xfrm>
          <a:prstGeom prst="rect">
            <a:avLst/>
          </a:prstGeom>
        </p:spPr>
        <p:txBody>
          <a:bodyPr wrap="none">
            <a:spAutoFit/>
          </a:bodyPr>
          <a:lstStyle/>
          <a:p>
            <a:pPr>
              <a:defRPr/>
            </a:pPr>
            <a:r>
              <a:rPr lang="en-GB" sz="2000" b="1" dirty="0">
                <a:effectLst>
                  <a:outerShdw blurRad="38100" dist="38100" dir="2700000" algn="tl">
                    <a:srgbClr val="000000">
                      <a:alpha val="43137"/>
                    </a:srgbClr>
                  </a:outerShdw>
                </a:effectLst>
                <a:latin typeface="Arial" charset="0"/>
                <a:cs typeface="Arial" charset="0"/>
              </a:rPr>
              <a:t>The Structure of a URL</a:t>
            </a:r>
            <a:endParaRPr lang="en-GB" sz="2000" dirty="0">
              <a:effectLst>
                <a:outerShdw blurRad="38100" dist="38100" dir="2700000" algn="tl">
                  <a:srgbClr val="000000">
                    <a:alpha val="43137"/>
                  </a:srgbClr>
                </a:outerShdw>
              </a:effectLst>
              <a:latin typeface="Arial" charset="0"/>
              <a:cs typeface="Arial" charset="0"/>
            </a:endParaRPr>
          </a:p>
        </p:txBody>
      </p:sp>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i="1" dirty="0" smtClean="0"/>
              <a:t>Web Log</a:t>
            </a:r>
            <a:endParaRPr lang="en-GB" b="1" cap="all" dirty="0" smtClean="0">
              <a:effectLst>
                <a:outerShdw blurRad="38100" dist="38100" dir="2700000" algn="tl">
                  <a:srgbClr val="000000">
                    <a:alpha val="43137"/>
                  </a:srgbClr>
                </a:outerShdw>
              </a:effectLst>
            </a:endParaRPr>
          </a:p>
        </p:txBody>
      </p:sp>
      <p:sp>
        <p:nvSpPr>
          <p:cNvPr id="44035" name="Content Placeholder 2"/>
          <p:cNvSpPr>
            <a:spLocks noGrp="1"/>
          </p:cNvSpPr>
          <p:nvPr>
            <p:ph idx="1"/>
          </p:nvPr>
        </p:nvSpPr>
        <p:spPr>
          <a:xfrm>
            <a:off x="395536" y="2058661"/>
            <a:ext cx="8229600" cy="4829175"/>
          </a:xfrm>
        </p:spPr>
        <p:txBody>
          <a:bodyPr>
            <a:normAutofit lnSpcReduction="10000"/>
          </a:bodyPr>
          <a:lstStyle/>
          <a:p>
            <a:r>
              <a:rPr lang="en-GB" altLang="en-US" sz="2400" dirty="0" smtClean="0"/>
              <a:t>A </a:t>
            </a:r>
            <a:r>
              <a:rPr lang="en-GB" altLang="en-US" sz="2400" b="1" dirty="0" smtClean="0"/>
              <a:t>Web log, or blog, </a:t>
            </a:r>
            <a:r>
              <a:rPr lang="en-GB" altLang="en-US" sz="2400" dirty="0" smtClean="0"/>
              <a:t>is an online journal in the form of a Web page that is comprised of links and postings in reverse chronological order. </a:t>
            </a:r>
          </a:p>
          <a:p>
            <a:r>
              <a:rPr lang="en-GB" altLang="en-US" sz="2400" dirty="0" smtClean="0"/>
              <a:t>The activity of updating a blog is called </a:t>
            </a:r>
            <a:r>
              <a:rPr lang="en-GB" altLang="en-US" sz="2400" i="1" dirty="0" smtClean="0"/>
              <a:t>blogging, and the person who maintains a blog is a blogger.</a:t>
            </a:r>
          </a:p>
          <a:p>
            <a:r>
              <a:rPr lang="en-GB" altLang="en-US" sz="2400" i="1" dirty="0" smtClean="0"/>
              <a:t>The totality of Web logs on the </a:t>
            </a:r>
            <a:r>
              <a:rPr lang="en-GB" altLang="en-US" sz="2400" dirty="0" smtClean="0"/>
              <a:t>World Wide Web is often called the </a:t>
            </a:r>
            <a:r>
              <a:rPr lang="en-GB" altLang="en-US" sz="2400" i="1" dirty="0" smtClean="0"/>
              <a:t>blogosphere.</a:t>
            </a:r>
            <a:endParaRPr lang="en-GB" altLang="en-US" sz="2400" dirty="0" smtClean="0"/>
          </a:p>
          <a:p>
            <a:r>
              <a:rPr lang="en-GB" altLang="en-US" sz="2400" dirty="0" smtClean="0"/>
              <a:t>Web logs are not actually an Internet technology but use Web publishing technologies and tools to disseminate information on the Web.</a:t>
            </a:r>
          </a:p>
          <a:p>
            <a:r>
              <a:rPr lang="en-GB" altLang="en-US" sz="2400" dirty="0" smtClean="0"/>
              <a:t>Two features common to Web logs are </a:t>
            </a:r>
            <a:r>
              <a:rPr lang="en-GB" altLang="en-US" sz="2400" dirty="0" err="1" smtClean="0"/>
              <a:t>blogrolls</a:t>
            </a:r>
            <a:r>
              <a:rPr lang="en-GB" altLang="en-US" sz="2400" dirty="0" smtClean="0"/>
              <a:t> and commenting, or feedback. </a:t>
            </a:r>
          </a:p>
          <a:p>
            <a:endParaRPr lang="en-GB" altLang="en-US" sz="20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8A77DE-6A8B-4A79-896C-B2CCFD685895}" type="slidenum">
              <a:rPr lang="en-GB">
                <a:solidFill>
                  <a:srgbClr val="898989"/>
                </a:solidFill>
                <a:latin typeface="Calibri" panose="020F0502020204030204" pitchFamily="34" charset="0"/>
              </a:rPr>
              <a:pPr eaLnBrk="1" hangingPunct="1"/>
              <a:t>19</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checkerboard(across)">
                                      <p:cBhvr>
                                        <p:cTn id="7" dur="500"/>
                                        <p:tgtEl>
                                          <p:spTgt spid="4403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4035">
                                            <p:txEl>
                                              <p:pRg st="1" end="1"/>
                                            </p:txEl>
                                          </p:spTgt>
                                        </p:tgtEl>
                                        <p:attrNameLst>
                                          <p:attrName>style.visibility</p:attrName>
                                        </p:attrNameLst>
                                      </p:cBhvr>
                                      <p:to>
                                        <p:strVal val="visible"/>
                                      </p:to>
                                    </p:set>
                                    <p:animEffect transition="in" filter="checkerboard(across)">
                                      <p:cBhvr>
                                        <p:cTn id="10" dur="500"/>
                                        <p:tgtEl>
                                          <p:spTgt spid="44035">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animEffect transition="in" filter="checkerboard(across)">
                                      <p:cBhvr>
                                        <p:cTn id="13" dur="500"/>
                                        <p:tgtEl>
                                          <p:spTgt spid="44035">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4035">
                                            <p:txEl>
                                              <p:pRg st="3" end="3"/>
                                            </p:txEl>
                                          </p:spTgt>
                                        </p:tgtEl>
                                        <p:attrNameLst>
                                          <p:attrName>style.visibility</p:attrName>
                                        </p:attrNameLst>
                                      </p:cBhvr>
                                      <p:to>
                                        <p:strVal val="visible"/>
                                      </p:to>
                                    </p:set>
                                    <p:animEffect transition="in" filter="checkerboard(across)">
                                      <p:cBhvr>
                                        <p:cTn id="16" dur="500"/>
                                        <p:tgtEl>
                                          <p:spTgt spid="44035">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44035">
                                            <p:txEl>
                                              <p:pRg st="4" end="4"/>
                                            </p:txEl>
                                          </p:spTgt>
                                        </p:tgtEl>
                                        <p:attrNameLst>
                                          <p:attrName>style.visibility</p:attrName>
                                        </p:attrNameLst>
                                      </p:cBhvr>
                                      <p:to>
                                        <p:strVal val="visible"/>
                                      </p:to>
                                    </p:set>
                                    <p:animEffect transition="in" filter="checkerboard(across)">
                                      <p:cBhvr>
                                        <p:cTn id="19" dur="500"/>
                                        <p:tgtEl>
                                          <p:spTgt spid="44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i="1" dirty="0" smtClean="0"/>
              <a:t>World Wide Web</a:t>
            </a:r>
            <a:endParaRPr lang="en-GB" b="1" cap="all" dirty="0" smtClean="0">
              <a:effectLst>
                <a:outerShdw blurRad="38100" dist="38100" dir="2700000" algn="tl">
                  <a:srgbClr val="000000">
                    <a:alpha val="43137"/>
                  </a:srgbClr>
                </a:outerShdw>
              </a:effectLst>
            </a:endParaRPr>
          </a:p>
        </p:txBody>
      </p:sp>
      <p:sp>
        <p:nvSpPr>
          <p:cNvPr id="46083" name="Content Placeholder 2"/>
          <p:cNvSpPr>
            <a:spLocks noGrp="1"/>
          </p:cNvSpPr>
          <p:nvPr>
            <p:ph idx="1"/>
          </p:nvPr>
        </p:nvSpPr>
        <p:spPr>
          <a:xfrm>
            <a:off x="457200" y="2348880"/>
            <a:ext cx="8229600" cy="4080495"/>
          </a:xfrm>
        </p:spPr>
        <p:txBody>
          <a:bodyPr>
            <a:normAutofit fontScale="92500" lnSpcReduction="20000"/>
          </a:bodyPr>
          <a:lstStyle/>
          <a:p>
            <a:r>
              <a:rPr lang="en-GB" altLang="en-US" sz="2600" dirty="0" smtClean="0"/>
              <a:t>The </a:t>
            </a:r>
            <a:r>
              <a:rPr lang="en-GB" altLang="en-US" sz="2600" b="1" dirty="0" smtClean="0"/>
              <a:t>World Wide Web (WWW, or just Web) </a:t>
            </a:r>
            <a:r>
              <a:rPr lang="en-GB" altLang="en-US" sz="2600" dirty="0" smtClean="0"/>
              <a:t>is the second most popular Internet application</a:t>
            </a:r>
            <a:r>
              <a:rPr lang="en-GB" altLang="en-US" sz="2600" b="1" dirty="0" smtClean="0"/>
              <a:t>, </a:t>
            </a:r>
            <a:r>
              <a:rPr lang="en-GB" altLang="en-US" sz="2600" dirty="0" smtClean="0"/>
              <a:t>second only to e-mail.</a:t>
            </a:r>
            <a:endParaRPr lang="en-GB" altLang="en-US" sz="2000" dirty="0" smtClean="0"/>
          </a:p>
          <a:p>
            <a:r>
              <a:rPr lang="en-GB" altLang="en-US" sz="2600" dirty="0" smtClean="0"/>
              <a:t>The Web is an application built on top of the Internet and used to access information resources through the Internet, using specific protocols to identify and locate that information.</a:t>
            </a:r>
            <a:endParaRPr lang="en-GB" altLang="en-US" sz="2000" dirty="0" smtClean="0"/>
          </a:p>
          <a:p>
            <a:r>
              <a:rPr lang="en-GB" altLang="en-US" sz="2600" dirty="0" smtClean="0"/>
              <a:t>The World Wide Web is a body of software, protocols, and conventions that provide for the viewing and publication of text and multimedia documents stored on computers known as </a:t>
            </a:r>
            <a:r>
              <a:rPr lang="en-GB" altLang="en-US" sz="2600" b="1" dirty="0" smtClean="0"/>
              <a:t>Web servers.</a:t>
            </a:r>
            <a:endParaRPr lang="en-GB" altLang="en-US" sz="26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848176C-D002-41D5-9230-35A59DA42CE9}" type="slidenum">
              <a:rPr lang="en-GB">
                <a:solidFill>
                  <a:srgbClr val="898989"/>
                </a:solidFill>
                <a:latin typeface="Calibri" panose="020F0502020204030204" pitchFamily="34" charset="0"/>
              </a:rPr>
              <a:pPr eaLnBrk="1" hangingPunct="1"/>
              <a:t>20</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checkerboard(across)">
                                      <p:cBhvr>
                                        <p:cTn id="7" dur="500"/>
                                        <p:tgtEl>
                                          <p:spTgt spid="46083">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6083">
                                            <p:txEl>
                                              <p:pRg st="1" end="1"/>
                                            </p:txEl>
                                          </p:spTgt>
                                        </p:tgtEl>
                                        <p:attrNameLst>
                                          <p:attrName>style.visibility</p:attrName>
                                        </p:attrNameLst>
                                      </p:cBhvr>
                                      <p:to>
                                        <p:strVal val="visible"/>
                                      </p:to>
                                    </p:set>
                                    <p:animEffect transition="in" filter="checkerboard(across)">
                                      <p:cBhvr>
                                        <p:cTn id="10" dur="500"/>
                                        <p:tgtEl>
                                          <p:spTgt spid="46083">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6083">
                                            <p:txEl>
                                              <p:pRg st="2" end="2"/>
                                            </p:txEl>
                                          </p:spTgt>
                                        </p:tgtEl>
                                        <p:attrNameLst>
                                          <p:attrName>style.visibility</p:attrName>
                                        </p:attrNameLst>
                                      </p:cBhvr>
                                      <p:to>
                                        <p:strVal val="visible"/>
                                      </p:to>
                                    </p:set>
                                    <p:animEffect transition="in" filter="checkerboard(across)">
                                      <p:cBhvr>
                                        <p:cTn id="13" dur="500"/>
                                        <p:tgtEl>
                                          <p:spTgt spid="460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865970" y="927098"/>
            <a:ext cx="7450446" cy="709865"/>
          </a:xfrm>
        </p:spPr>
        <p:txBody>
          <a:bodyPr/>
          <a:lstStyle/>
          <a:p>
            <a:pPr algn="ctr" eaLnBrk="1" hangingPunct="1">
              <a:defRPr/>
            </a:pPr>
            <a:r>
              <a:rPr lang="en-GB" sz="2800" b="1" dirty="0" smtClean="0"/>
              <a:t>SYNCHRONOUS AND ASYNCHRONOUS MODES</a:t>
            </a:r>
            <a:endParaRPr lang="en-GB" sz="2800" b="1" cap="all" dirty="0" smtClean="0">
              <a:effectLst>
                <a:outerShdw blurRad="38100" dist="38100" dir="2700000" algn="tl">
                  <a:srgbClr val="000000">
                    <a:alpha val="43137"/>
                  </a:srgbClr>
                </a:outerShdw>
              </a:effectLst>
            </a:endParaRPr>
          </a:p>
        </p:txBody>
      </p:sp>
      <p:sp>
        <p:nvSpPr>
          <p:cNvPr id="47107" name="Content Placeholder 2"/>
          <p:cNvSpPr>
            <a:spLocks noGrp="1"/>
          </p:cNvSpPr>
          <p:nvPr>
            <p:ph idx="1"/>
          </p:nvPr>
        </p:nvSpPr>
        <p:spPr>
          <a:xfrm>
            <a:off x="457200" y="2348880"/>
            <a:ext cx="8229600" cy="4080495"/>
          </a:xfrm>
        </p:spPr>
        <p:txBody>
          <a:bodyPr>
            <a:normAutofit fontScale="92500" lnSpcReduction="20000"/>
          </a:bodyPr>
          <a:lstStyle/>
          <a:p>
            <a:r>
              <a:rPr lang="en-GB" altLang="en-US" sz="2200" dirty="0" smtClean="0"/>
              <a:t>The Internet supports both synchronous and asynchronous communication channels. </a:t>
            </a:r>
            <a:endParaRPr lang="en-GB" altLang="en-US" sz="1000" dirty="0" smtClean="0"/>
          </a:p>
          <a:p>
            <a:r>
              <a:rPr lang="en-GB" altLang="en-US" sz="2200" b="1" dirty="0" smtClean="0"/>
              <a:t>Asynchronous communication </a:t>
            </a:r>
            <a:r>
              <a:rPr lang="en-GB" altLang="en-US" sz="2200" dirty="0" smtClean="0"/>
              <a:t>is communication that occurs without regard to time or location; it is not necessary for all communicating parties to be present when communication occurs.</a:t>
            </a:r>
          </a:p>
          <a:p>
            <a:r>
              <a:rPr lang="en-GB" altLang="en-US" sz="2200" dirty="0" smtClean="0"/>
              <a:t>With asynchronous communication a message is sent but is not necessarily received (accessed and read) immediately. </a:t>
            </a:r>
          </a:p>
          <a:p>
            <a:r>
              <a:rPr lang="en-GB" altLang="en-US" sz="2200" b="1" dirty="0" smtClean="0"/>
              <a:t>Synchronous communication </a:t>
            </a:r>
            <a:r>
              <a:rPr lang="en-GB" altLang="en-US" sz="2200" dirty="0" smtClean="0"/>
              <a:t>is communication that occurs in real time and is highly interactive; all communicating parties are simultaneously present.</a:t>
            </a:r>
            <a:endParaRPr lang="en-GB" altLang="en-US" sz="1000" dirty="0" smtClean="0"/>
          </a:p>
          <a:p>
            <a:r>
              <a:rPr lang="en-GB" altLang="en-US" sz="2200" dirty="0" smtClean="0"/>
              <a:t>With synchronous communication a message is sent and immediately received.</a:t>
            </a:r>
          </a:p>
          <a:p>
            <a:pPr eaLnBrk="1" hangingPunct="1"/>
            <a:endParaRPr lang="en-GB" altLang="en-US" sz="2000" dirty="0" smtClean="0"/>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4FB439-EEDB-438F-A5E9-B5181EB4F853}" type="slidenum">
              <a:rPr lang="en-GB">
                <a:solidFill>
                  <a:srgbClr val="898989"/>
                </a:solidFill>
                <a:latin typeface="Calibri" panose="020F0502020204030204" pitchFamily="34" charset="0"/>
              </a:rPr>
              <a:pPr eaLnBrk="1" hangingPunct="1"/>
              <a:t>21</a:t>
            </a:fld>
            <a:endParaRPr lang="en-GB">
              <a:solidFill>
                <a:srgbClr val="898989"/>
              </a:solidFill>
              <a:latin typeface="Calibri" panose="020F050202020403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checkerboard(across)">
                                      <p:cBhvr>
                                        <p:cTn id="7" dur="500"/>
                                        <p:tgtEl>
                                          <p:spTgt spid="4710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7107">
                                            <p:txEl>
                                              <p:pRg st="1" end="1"/>
                                            </p:txEl>
                                          </p:spTgt>
                                        </p:tgtEl>
                                        <p:attrNameLst>
                                          <p:attrName>style.visibility</p:attrName>
                                        </p:attrNameLst>
                                      </p:cBhvr>
                                      <p:to>
                                        <p:strVal val="visible"/>
                                      </p:to>
                                    </p:set>
                                    <p:animEffect transition="in" filter="checkerboard(across)">
                                      <p:cBhvr>
                                        <p:cTn id="10" dur="500"/>
                                        <p:tgtEl>
                                          <p:spTgt spid="47107">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7107">
                                            <p:txEl>
                                              <p:pRg st="2" end="2"/>
                                            </p:txEl>
                                          </p:spTgt>
                                        </p:tgtEl>
                                        <p:attrNameLst>
                                          <p:attrName>style.visibility</p:attrName>
                                        </p:attrNameLst>
                                      </p:cBhvr>
                                      <p:to>
                                        <p:strVal val="visible"/>
                                      </p:to>
                                    </p:set>
                                    <p:animEffect transition="in" filter="checkerboard(across)">
                                      <p:cBhvr>
                                        <p:cTn id="13" dur="500"/>
                                        <p:tgtEl>
                                          <p:spTgt spid="47107">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7107">
                                            <p:txEl>
                                              <p:pRg st="3" end="3"/>
                                            </p:txEl>
                                          </p:spTgt>
                                        </p:tgtEl>
                                        <p:attrNameLst>
                                          <p:attrName>style.visibility</p:attrName>
                                        </p:attrNameLst>
                                      </p:cBhvr>
                                      <p:to>
                                        <p:strVal val="visible"/>
                                      </p:to>
                                    </p:set>
                                    <p:animEffect transition="in" filter="checkerboard(across)">
                                      <p:cBhvr>
                                        <p:cTn id="16" dur="500"/>
                                        <p:tgtEl>
                                          <p:spTgt spid="47107">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animEffect transition="in" filter="checkerboard(across)">
                                      <p:cBhvr>
                                        <p:cTn id="19" dur="500"/>
                                        <p:tgtEl>
                                          <p:spTgt spid="47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defRPr/>
            </a:pPr>
            <a:r>
              <a:rPr lang="en-GB" b="1" dirty="0" smtClean="0"/>
              <a:t>NETIQUETTE</a:t>
            </a:r>
            <a:endParaRPr lang="en-GB" b="1" cap="all" dirty="0" smtClean="0">
              <a:effectLst>
                <a:outerShdw blurRad="38100" dist="38100" dir="2700000" algn="tl">
                  <a:srgbClr val="000000">
                    <a:alpha val="43137"/>
                  </a:srgbClr>
                </a:outerShdw>
              </a:effectLst>
            </a:endParaRPr>
          </a:p>
        </p:txBody>
      </p:sp>
      <p:sp>
        <p:nvSpPr>
          <p:cNvPr id="48131" name="Content Placeholder 2"/>
          <p:cNvSpPr>
            <a:spLocks noGrp="1"/>
          </p:cNvSpPr>
          <p:nvPr>
            <p:ph idx="1"/>
          </p:nvPr>
        </p:nvSpPr>
        <p:spPr>
          <a:xfrm>
            <a:off x="457200" y="2348880"/>
            <a:ext cx="8229600" cy="4080495"/>
          </a:xfrm>
        </p:spPr>
        <p:txBody>
          <a:bodyPr>
            <a:normAutofit fontScale="92500" lnSpcReduction="20000"/>
          </a:bodyPr>
          <a:lstStyle/>
          <a:p>
            <a:r>
              <a:rPr lang="en-GB" altLang="en-US" sz="2400" dirty="0" smtClean="0"/>
              <a:t>Because of the unstructured nature of asynchronous and synchronous communication, it is important to establish clear rules and expectations for Internet communication sessions. </a:t>
            </a:r>
            <a:endParaRPr lang="en-GB" altLang="en-US" sz="1800" dirty="0" smtClean="0"/>
          </a:p>
          <a:p>
            <a:r>
              <a:rPr lang="en-GB" altLang="en-US" sz="2400" dirty="0" smtClean="0"/>
              <a:t>You should establish ground rules ahead of time that focus discussions on learning goals and make it easier to evaluate student participation.</a:t>
            </a:r>
            <a:endParaRPr lang="en-GB" altLang="en-US" sz="1800" dirty="0" smtClean="0"/>
          </a:p>
          <a:p>
            <a:r>
              <a:rPr lang="en-GB" altLang="en-US" sz="2400" dirty="0" smtClean="0"/>
              <a:t>Rules and expectations for information exchanges should be made clear in general guidelines for online communication. </a:t>
            </a:r>
            <a:endParaRPr lang="en-GB" altLang="en-US" sz="1800" dirty="0" smtClean="0"/>
          </a:p>
          <a:p>
            <a:r>
              <a:rPr lang="en-GB" altLang="en-US" sz="2400" b="1" dirty="0" smtClean="0"/>
              <a:t>Netiquette</a:t>
            </a:r>
            <a:r>
              <a:rPr lang="en-GB" altLang="en-US" sz="2400" dirty="0" smtClean="0"/>
              <a:t> means network etiquette and refers to the dos and don’ts of online communication.</a:t>
            </a:r>
          </a:p>
        </p:txBody>
      </p:sp>
      <p:sp>
        <p:nvSpPr>
          <p:cNvPr id="9" name="Slide Number Placeholder 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92F4F60-DD91-4E42-8CE5-C4FCE65C4E08}" type="slidenum">
              <a:rPr lang="en-GB">
                <a:solidFill>
                  <a:srgbClr val="898989"/>
                </a:solidFill>
                <a:latin typeface="Calibri" panose="020F0502020204030204" pitchFamily="34" charset="0"/>
              </a:rPr>
              <a:pPr eaLnBrk="1" hangingPunct="1"/>
              <a:t>22</a:t>
            </a:fld>
            <a:endParaRPr lang="en-GB">
              <a:solidFill>
                <a:srgbClr val="898989"/>
              </a:solidFill>
              <a:latin typeface="Calibri" panose="020F0502020204030204" pitchFamily="34" charset="0"/>
            </a:endParaRPr>
          </a:p>
        </p:txBody>
      </p:sp>
      <p:pic>
        <p:nvPicPr>
          <p:cNvPr id="48132" name="Picture 4" descr="C:\Program Files\Microsoft Office\MEDIA\OFFICE12\Lines\BD21340_.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433513"/>
            <a:ext cx="8286750"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704" y="4149080"/>
            <a:ext cx="6343672" cy="709865"/>
          </a:xfrm>
        </p:spPr>
        <p:txBody>
          <a:bodyPr/>
          <a:lstStyle/>
          <a:p>
            <a:pPr algn="ctr"/>
            <a:r>
              <a:rPr lang="en-US" sz="4400" b="1" dirty="0" smtClean="0">
                <a:solidFill>
                  <a:schemeClr val="tx1"/>
                </a:solidFill>
              </a:rPr>
              <a:t>Questions ?</a:t>
            </a:r>
            <a:endParaRPr lang="en-US" sz="4400" b="1" dirty="0">
              <a:solidFill>
                <a:schemeClr val="tx1"/>
              </a:solidFill>
            </a:endParaRPr>
          </a:p>
        </p:txBody>
      </p:sp>
      <p:sp>
        <p:nvSpPr>
          <p:cNvPr id="4" name="Slide Number Placeholder 3"/>
          <p:cNvSpPr>
            <a:spLocks noGrp="1"/>
          </p:cNvSpPr>
          <p:nvPr>
            <p:ph type="sldNum" sz="quarter" idx="12"/>
          </p:nvPr>
        </p:nvSpPr>
        <p:spPr/>
        <p:txBody>
          <a:bodyPr/>
          <a:lstStyle/>
          <a:p>
            <a:fld id="{42AFEE24-B9CD-4A98-9AC6-5D17588574FB}" type="slidenum">
              <a:rPr lang="en-GB" smtClean="0"/>
              <a:pPr/>
              <a:t>23</a:t>
            </a:fld>
            <a:endParaRPr lang="en-GB" dirty="0"/>
          </a:p>
        </p:txBody>
      </p:sp>
    </p:spTree>
    <p:extLst>
      <p:ext uri="{BB962C8B-B14F-4D97-AF65-F5344CB8AC3E}">
        <p14:creationId xmlns:p14="http://schemas.microsoft.com/office/powerpoint/2010/main" val="14079190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F09669960F28498D431AC289DADA00" ma:contentTypeVersion="" ma:contentTypeDescription="Create a new document." ma:contentTypeScope="" ma:versionID="d0e3e01d88ae1bb11e354ac54375c308">
  <xsd:schema xmlns:xsd="http://www.w3.org/2001/XMLSchema" xmlns:xs="http://www.w3.org/2001/XMLSchema" xmlns:p="http://schemas.microsoft.com/office/2006/metadata/properties" xmlns:ns1="http://schemas.microsoft.com/sharepoint/v3" targetNamespace="http://schemas.microsoft.com/office/2006/metadata/properties" ma:root="true" ma:fieldsID="53aad9280c7bc17f35f657eabd183f16"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AA0085DB-A9C8-4517-ABBC-36D7EDECD1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7074D5-90A3-4B74-9991-F4CEDAFCC0A9}">
  <ds:schemaRefs>
    <ds:schemaRef ds:uri="http://schemas.microsoft.com/sharepoint/v3/contenttype/forms"/>
  </ds:schemaRefs>
</ds:datastoreItem>
</file>

<file path=customXml/itemProps3.xml><?xml version="1.0" encoding="utf-8"?>
<ds:datastoreItem xmlns:ds="http://schemas.openxmlformats.org/officeDocument/2006/customXml" ds:itemID="{F38DF945-ACEF-4650-8D52-D7B667A319E2}">
  <ds:schemaRefs>
    <ds:schemaRef ds:uri="http://schemas.microsoft.com/sharepoint/v3"/>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Ion Boardroom</Template>
  <TotalTime>2691</TotalTime>
  <Words>1694</Words>
  <Application>Microsoft Office PowerPoint</Application>
  <PresentationFormat>On-screen Show (4:3)</PresentationFormat>
  <Paragraphs>143</Paragraphs>
  <Slides>23</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Century Gothic</vt:lpstr>
      <vt:lpstr>Times New Roman</vt:lpstr>
      <vt:lpstr>Wingdings</vt:lpstr>
      <vt:lpstr>Wingdings 3</vt:lpstr>
      <vt:lpstr>Ion Boardroom</vt:lpstr>
      <vt:lpstr>Introduction to Internet Technology</vt:lpstr>
      <vt:lpstr>AN OVERVIEW OF INTERNET TECHNOLOGIES</vt:lpstr>
      <vt:lpstr>AN OVERVIEW OF INTERNET TECHNOLOGIES</vt:lpstr>
      <vt:lpstr>Old Internet Technologies</vt:lpstr>
      <vt:lpstr>Telnet</vt:lpstr>
      <vt:lpstr>Recycled Internet Technologies</vt:lpstr>
      <vt:lpstr>Electronic Mail</vt:lpstr>
      <vt:lpstr>Electronic Mail…</vt:lpstr>
      <vt:lpstr>File Transfer Protocol</vt:lpstr>
      <vt:lpstr>Transmission Control Protocol Internet Protocol</vt:lpstr>
      <vt:lpstr>Transmission Control Protocol Internet Protocol</vt:lpstr>
      <vt:lpstr>New Internet Technologies</vt:lpstr>
      <vt:lpstr>Chat...</vt:lpstr>
      <vt:lpstr>Hypertext Transfer Protocol</vt:lpstr>
      <vt:lpstr>Hypertext Transfer Protocol...</vt:lpstr>
      <vt:lpstr>Hypertext Markup Language</vt:lpstr>
      <vt:lpstr>Hypertext Markup Language...</vt:lpstr>
      <vt:lpstr>Uniform Resource Locator</vt:lpstr>
      <vt:lpstr>Web Log</vt:lpstr>
      <vt:lpstr>World Wide Web</vt:lpstr>
      <vt:lpstr>SYNCHRONOUS AND ASYNCHRONOUS MODES</vt:lpstr>
      <vt:lpstr>NETIQUETTE</vt:lpstr>
      <vt:lpstr>Questions ?</vt:lpstr>
    </vt:vector>
  </TitlesOfParts>
  <Company>Grizli777</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E.ISCIOGLU</dc:creator>
  <cp:lastModifiedBy>Dr. Abo Molhima</cp:lastModifiedBy>
  <cp:revision>185</cp:revision>
  <dcterms:created xsi:type="dcterms:W3CDTF">2009-10-05T20:30:16Z</dcterms:created>
  <dcterms:modified xsi:type="dcterms:W3CDTF">2024-11-18T13:02:50Z</dcterms:modified>
</cp:coreProperties>
</file>