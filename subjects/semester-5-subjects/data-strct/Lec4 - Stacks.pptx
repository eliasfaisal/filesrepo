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template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presProps.xml" ContentType="application/vnd.openxmlformats-officedocument.presentationml.presProps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endParaRPr b="0" lang="en-US" sz="3300" strike="noStrike" u="none">
              <a:solidFill>
                <a:srgbClr val="050505"/>
              </a:solidFill>
              <a:uFillTx/>
              <a:latin typeface="Times New Roman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subTitle"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2FBB9C9-74C2-48ED-B874-D92CE60D599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16D3A38-3EB7-450F-B5F0-2E7BCC846FD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endParaRPr b="0" lang="en-US" sz="3300" strike="noStrike" u="none">
              <a:solidFill>
                <a:srgbClr val="050505"/>
              </a:solidFill>
              <a:uFillTx/>
              <a:latin typeface="Times New Roman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60"/>
              </a:spcAft>
              <a:buNone/>
            </a:pP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0C54384-0A95-412A-A2D2-51AEC486B1C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0" lang="en-US" sz="3300" strike="noStrike" u="none">
                <a:solidFill>
                  <a:srgbClr val="050505"/>
                </a:solidFill>
                <a:uFillTx/>
                <a:latin typeface="Times New Roman"/>
              </a:rPr>
              <a:t>Click to edit the title text format</a:t>
            </a:r>
            <a:endParaRPr b="0" lang="en-US" sz="3300" strike="noStrike" u="none">
              <a:solidFill>
                <a:srgbClr val="050505"/>
              </a:solidFill>
              <a:uFillTx/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Click to edit the outline text format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lvl="1" marL="864000" indent="-324000">
              <a:spcAft>
                <a:spcPts val="848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100" strike="noStrike" u="none">
                <a:solidFill>
                  <a:srgbClr val="050505"/>
                </a:solidFill>
                <a:uFillTx/>
                <a:latin typeface="Arial"/>
              </a:rPr>
              <a:t>Second Outline Level</a:t>
            </a:r>
            <a:endParaRPr b="0" lang="en-US" sz="21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lvl="2" marL="1296000" indent="-288000">
              <a:spcAft>
                <a:spcPts val="63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50505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lvl="3" marL="1728000" indent="-216000">
              <a:spcAft>
                <a:spcPts val="42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050505"/>
                </a:solidFill>
                <a:uFillTx/>
                <a:latin typeface="Arial"/>
              </a:rPr>
              <a:t>Fourth Outline Level</a:t>
            </a:r>
            <a:endParaRPr b="0" lang="en-US" sz="15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lvl="4" marL="2160000" indent="-216000">
              <a:spcAft>
                <a:spcPts val="21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050505"/>
                </a:solidFill>
                <a:uFillTx/>
                <a:latin typeface="Arial"/>
              </a:rPr>
              <a:t>Fifth Outline Level</a:t>
            </a:r>
            <a:endParaRPr b="0" lang="en-US" sz="15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lvl="5" marL="2592000" indent="-216000">
              <a:spcAft>
                <a:spcPts val="21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050505"/>
                </a:solidFill>
                <a:uFillTx/>
                <a:latin typeface="Arial"/>
              </a:rPr>
              <a:t>Sixth Outline Level</a:t>
            </a:r>
            <a:endParaRPr b="0" lang="en-US" sz="15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lvl="6" marL="3024000" indent="-216000">
              <a:spcAft>
                <a:spcPts val="21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050505"/>
                </a:solidFill>
                <a:uFillTx/>
                <a:latin typeface="Arial"/>
              </a:rPr>
              <a:t>Seventh Outline Level</a:t>
            </a:r>
            <a:endParaRPr b="0" lang="en-US" sz="1500" strike="noStrike" u="none">
              <a:solidFill>
                <a:srgbClr val="050505"/>
              </a:solidFill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1584000" y="516492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987000" y="516492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000" y="516492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 algn="r">
              <a:buNone/>
            </a:pPr>
            <a:fld id="{C07D6280-FC8A-43F1-8E4B-A7AAA01EC5F1}" type="slidenum"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5" name=""/>
          <p:cNvCxnSpPr>
            <a:stCxn id="6" idx="6"/>
            <a:endCxn id="7" idx="2"/>
          </p:cNvCxnSpPr>
          <p:nvPr/>
        </p:nvCxnSpPr>
        <p:spPr>
          <a:xfrm>
            <a:off x="540000" y="306360"/>
            <a:ext cx="720360" cy="360"/>
          </a:xfrm>
          <a:prstGeom prst="bentConnector3">
            <a:avLst>
              <a:gd name="adj1" fmla="val 138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8" name=""/>
          <p:cNvCxnSpPr>
            <a:stCxn id="9" idx="6"/>
            <a:endCxn id="10" idx="2"/>
          </p:cNvCxnSpPr>
          <p:nvPr/>
        </p:nvCxnSpPr>
        <p:spPr>
          <a:xfrm>
            <a:off x="720000" y="486360"/>
            <a:ext cx="360360" cy="360"/>
          </a:xfrm>
          <a:prstGeom prst="bentConnector3">
            <a:avLst>
              <a:gd name="adj1" fmla="val 276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11" name=""/>
          <p:cNvCxnSpPr>
            <a:stCxn id="12" idx="6"/>
            <a:endCxn id="13" idx="2"/>
          </p:cNvCxnSpPr>
          <p:nvPr/>
        </p:nvCxnSpPr>
        <p:spPr>
          <a:xfrm>
            <a:off x="864000" y="702360"/>
            <a:ext cx="72360" cy="360"/>
          </a:xfrm>
          <a:prstGeom prst="bentConnector3">
            <a:avLst>
              <a:gd name="adj1" fmla="val 1380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14" name=""/>
          <p:cNvCxnSpPr>
            <a:stCxn id="15" idx="6"/>
            <a:endCxn id="16" idx="2"/>
          </p:cNvCxnSpPr>
          <p:nvPr/>
        </p:nvCxnSpPr>
        <p:spPr>
          <a:xfrm>
            <a:off x="720000" y="126360"/>
            <a:ext cx="360360" cy="360"/>
          </a:xfrm>
          <a:prstGeom prst="bentConnector3">
            <a:avLst>
              <a:gd name="adj1" fmla="val 276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17" name=""/>
          <p:cNvCxnSpPr>
            <a:stCxn id="18" idx="6"/>
            <a:endCxn id="19" idx="2"/>
          </p:cNvCxnSpPr>
          <p:nvPr/>
        </p:nvCxnSpPr>
        <p:spPr>
          <a:xfrm>
            <a:off x="864000" y="954360"/>
            <a:ext cx="72360" cy="360"/>
          </a:xfrm>
          <a:prstGeom prst="bentConnector3">
            <a:avLst>
              <a:gd name="adj1" fmla="val 1380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20" name=""/>
          <p:cNvCxnSpPr>
            <a:stCxn id="21" idx="6"/>
            <a:endCxn id="22" idx="2"/>
          </p:cNvCxnSpPr>
          <p:nvPr/>
        </p:nvCxnSpPr>
        <p:spPr>
          <a:xfrm rot="10800000">
            <a:off x="540000" y="1350360"/>
            <a:ext cx="720360" cy="360"/>
          </a:xfrm>
          <a:prstGeom prst="bentConnector3">
            <a:avLst>
              <a:gd name="adj1" fmla="val 138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23" name=""/>
          <p:cNvCxnSpPr>
            <a:stCxn id="24" idx="6"/>
            <a:endCxn id="25" idx="2"/>
          </p:cNvCxnSpPr>
          <p:nvPr/>
        </p:nvCxnSpPr>
        <p:spPr>
          <a:xfrm rot="10800000">
            <a:off x="720000" y="1170360"/>
            <a:ext cx="360360" cy="360"/>
          </a:xfrm>
          <a:prstGeom prst="bentConnector3">
            <a:avLst>
              <a:gd name="adj1" fmla="val 276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26" name=""/>
          <p:cNvCxnSpPr>
            <a:stCxn id="27" idx="6"/>
            <a:endCxn id="28" idx="2"/>
          </p:cNvCxnSpPr>
          <p:nvPr/>
        </p:nvCxnSpPr>
        <p:spPr>
          <a:xfrm rot="10800000">
            <a:off x="720000" y="1530360"/>
            <a:ext cx="360360" cy="360"/>
          </a:xfrm>
          <a:prstGeom prst="bentConnector3">
            <a:avLst>
              <a:gd name="adj1" fmla="val 276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29" name=""/>
          <p:cNvCxnSpPr>
            <a:stCxn id="30" idx="6"/>
            <a:endCxn id="31" idx="2"/>
          </p:cNvCxnSpPr>
          <p:nvPr/>
        </p:nvCxnSpPr>
        <p:spPr>
          <a:xfrm rot="10800000">
            <a:off x="864000" y="1746360"/>
            <a:ext cx="72360" cy="360"/>
          </a:xfrm>
          <a:prstGeom prst="bentConnector3">
            <a:avLst>
              <a:gd name="adj1" fmla="val 1380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32" name=""/>
          <p:cNvCxnSpPr>
            <a:stCxn id="33" idx="6"/>
            <a:endCxn id="34" idx="2"/>
          </p:cNvCxnSpPr>
          <p:nvPr/>
        </p:nvCxnSpPr>
        <p:spPr>
          <a:xfrm rot="10800000">
            <a:off x="864000" y="1998360"/>
            <a:ext cx="72360" cy="360"/>
          </a:xfrm>
          <a:prstGeom prst="bentConnector3">
            <a:avLst>
              <a:gd name="adj1" fmla="val 1380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35" name=""/>
          <p:cNvCxnSpPr>
            <a:stCxn id="36" idx="6"/>
            <a:endCxn id="37" idx="2"/>
          </p:cNvCxnSpPr>
          <p:nvPr/>
        </p:nvCxnSpPr>
        <p:spPr>
          <a:xfrm>
            <a:off x="540000" y="2394360"/>
            <a:ext cx="720360" cy="360"/>
          </a:xfrm>
          <a:prstGeom prst="bentConnector3">
            <a:avLst>
              <a:gd name="adj1" fmla="val 138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38" name=""/>
          <p:cNvCxnSpPr>
            <a:stCxn id="39" idx="6"/>
            <a:endCxn id="40" idx="2"/>
          </p:cNvCxnSpPr>
          <p:nvPr/>
        </p:nvCxnSpPr>
        <p:spPr>
          <a:xfrm>
            <a:off x="720000" y="2214360"/>
            <a:ext cx="360360" cy="360"/>
          </a:xfrm>
          <a:prstGeom prst="bentConnector3">
            <a:avLst>
              <a:gd name="adj1" fmla="val 276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41" name=""/>
          <p:cNvCxnSpPr>
            <a:stCxn id="42" idx="6"/>
            <a:endCxn id="43" idx="2"/>
          </p:cNvCxnSpPr>
          <p:nvPr/>
        </p:nvCxnSpPr>
        <p:spPr>
          <a:xfrm>
            <a:off x="720000" y="2583720"/>
            <a:ext cx="360360" cy="360"/>
          </a:xfrm>
          <a:prstGeom prst="bentConnector3">
            <a:avLst>
              <a:gd name="adj1" fmla="val 276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44" name=""/>
          <p:cNvCxnSpPr>
            <a:stCxn id="45" idx="6"/>
            <a:endCxn id="46" idx="2"/>
          </p:cNvCxnSpPr>
          <p:nvPr/>
        </p:nvCxnSpPr>
        <p:spPr>
          <a:xfrm>
            <a:off x="864000" y="2799720"/>
            <a:ext cx="72360" cy="360"/>
          </a:xfrm>
          <a:prstGeom prst="bentConnector3">
            <a:avLst>
              <a:gd name="adj1" fmla="val 1380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47" name=""/>
          <p:cNvCxnSpPr>
            <a:stCxn id="48" idx="6"/>
            <a:endCxn id="49" idx="2"/>
          </p:cNvCxnSpPr>
          <p:nvPr/>
        </p:nvCxnSpPr>
        <p:spPr>
          <a:xfrm>
            <a:off x="864000" y="3051720"/>
            <a:ext cx="72360" cy="360"/>
          </a:xfrm>
          <a:prstGeom prst="bentConnector3">
            <a:avLst>
              <a:gd name="adj1" fmla="val 1380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50" name=""/>
          <p:cNvCxnSpPr>
            <a:stCxn id="51" idx="6"/>
            <a:endCxn id="52" idx="2"/>
          </p:cNvCxnSpPr>
          <p:nvPr/>
        </p:nvCxnSpPr>
        <p:spPr>
          <a:xfrm rot="10800000">
            <a:off x="540000" y="3447720"/>
            <a:ext cx="720360" cy="360"/>
          </a:xfrm>
          <a:prstGeom prst="bentConnector3">
            <a:avLst>
              <a:gd name="adj1" fmla="val 138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53" name=""/>
          <p:cNvCxnSpPr>
            <a:stCxn id="54" idx="6"/>
            <a:endCxn id="55" idx="2"/>
          </p:cNvCxnSpPr>
          <p:nvPr/>
        </p:nvCxnSpPr>
        <p:spPr>
          <a:xfrm rot="10800000">
            <a:off x="738720" y="3267720"/>
            <a:ext cx="360360" cy="360"/>
          </a:xfrm>
          <a:prstGeom prst="bentConnector3">
            <a:avLst>
              <a:gd name="adj1" fmla="val 276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56" name=""/>
          <p:cNvCxnSpPr>
            <a:stCxn id="57" idx="6"/>
            <a:endCxn id="58" idx="2"/>
          </p:cNvCxnSpPr>
          <p:nvPr/>
        </p:nvCxnSpPr>
        <p:spPr>
          <a:xfrm rot="10800000">
            <a:off x="729360" y="3636720"/>
            <a:ext cx="360360" cy="360"/>
          </a:xfrm>
          <a:prstGeom prst="bentConnector3">
            <a:avLst>
              <a:gd name="adj1" fmla="val 276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59" name=""/>
          <p:cNvCxnSpPr>
            <a:stCxn id="60" idx="6"/>
            <a:endCxn id="61" idx="2"/>
          </p:cNvCxnSpPr>
          <p:nvPr/>
        </p:nvCxnSpPr>
        <p:spPr>
          <a:xfrm rot="10800000">
            <a:off x="873360" y="3852720"/>
            <a:ext cx="72360" cy="360"/>
          </a:xfrm>
          <a:prstGeom prst="bentConnector3">
            <a:avLst>
              <a:gd name="adj1" fmla="val 1380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62" name=""/>
          <p:cNvCxnSpPr>
            <a:stCxn id="63" idx="6"/>
            <a:endCxn id="64" idx="2"/>
          </p:cNvCxnSpPr>
          <p:nvPr/>
        </p:nvCxnSpPr>
        <p:spPr>
          <a:xfrm rot="10800000">
            <a:off x="873360" y="4104720"/>
            <a:ext cx="72360" cy="360"/>
          </a:xfrm>
          <a:prstGeom prst="bentConnector3">
            <a:avLst>
              <a:gd name="adj1" fmla="val 1380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65" name=""/>
          <p:cNvCxnSpPr>
            <a:stCxn id="66" idx="6"/>
            <a:endCxn id="67" idx="2"/>
          </p:cNvCxnSpPr>
          <p:nvPr/>
        </p:nvCxnSpPr>
        <p:spPr>
          <a:xfrm>
            <a:off x="549360" y="4500720"/>
            <a:ext cx="720360" cy="360"/>
          </a:xfrm>
          <a:prstGeom prst="bentConnector3">
            <a:avLst>
              <a:gd name="adj1" fmla="val 138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68" name=""/>
          <p:cNvCxnSpPr>
            <a:stCxn id="69" idx="6"/>
            <a:endCxn id="70" idx="2"/>
          </p:cNvCxnSpPr>
          <p:nvPr/>
        </p:nvCxnSpPr>
        <p:spPr>
          <a:xfrm>
            <a:off x="729360" y="4320720"/>
            <a:ext cx="360360" cy="360"/>
          </a:xfrm>
          <a:prstGeom prst="bentConnector3">
            <a:avLst>
              <a:gd name="adj1" fmla="val 276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71" name=""/>
          <p:cNvCxnSpPr>
            <a:stCxn id="72" idx="6"/>
            <a:endCxn id="73" idx="2"/>
          </p:cNvCxnSpPr>
          <p:nvPr/>
        </p:nvCxnSpPr>
        <p:spPr>
          <a:xfrm>
            <a:off x="729360" y="4680720"/>
            <a:ext cx="360360" cy="360"/>
          </a:xfrm>
          <a:prstGeom prst="bentConnector3">
            <a:avLst>
              <a:gd name="adj1" fmla="val 276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74" name=""/>
          <p:cNvCxnSpPr>
            <a:stCxn id="75" idx="6"/>
            <a:endCxn id="76" idx="2"/>
          </p:cNvCxnSpPr>
          <p:nvPr/>
        </p:nvCxnSpPr>
        <p:spPr>
          <a:xfrm>
            <a:off x="873360" y="4896720"/>
            <a:ext cx="72360" cy="360"/>
          </a:xfrm>
          <a:prstGeom prst="bentConnector3">
            <a:avLst>
              <a:gd name="adj1" fmla="val 1380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77" name=""/>
          <p:cNvCxnSpPr>
            <a:stCxn id="78" idx="6"/>
            <a:endCxn id="79" idx="2"/>
          </p:cNvCxnSpPr>
          <p:nvPr/>
        </p:nvCxnSpPr>
        <p:spPr>
          <a:xfrm>
            <a:off x="873360" y="5148720"/>
            <a:ext cx="72360" cy="360"/>
          </a:xfrm>
          <a:prstGeom prst="bentConnector3">
            <a:avLst>
              <a:gd name="adj1" fmla="val 1380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80" name=""/>
          <p:cNvCxnSpPr>
            <a:stCxn id="81" idx="6"/>
            <a:endCxn id="82" idx="2"/>
          </p:cNvCxnSpPr>
          <p:nvPr/>
        </p:nvCxnSpPr>
        <p:spPr>
          <a:xfrm rot="10800000">
            <a:off x="549360" y="5544720"/>
            <a:ext cx="720360" cy="360"/>
          </a:xfrm>
          <a:prstGeom prst="bentConnector3">
            <a:avLst>
              <a:gd name="adj1" fmla="val 138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83" name=""/>
          <p:cNvCxnSpPr>
            <a:stCxn id="84" idx="6"/>
            <a:endCxn id="85" idx="2"/>
          </p:cNvCxnSpPr>
          <p:nvPr/>
        </p:nvCxnSpPr>
        <p:spPr>
          <a:xfrm rot="10800000">
            <a:off x="729360" y="5364720"/>
            <a:ext cx="360360" cy="360"/>
          </a:xfrm>
          <a:prstGeom prst="bentConnector3">
            <a:avLst>
              <a:gd name="adj1" fmla="val 27600"/>
            </a:avLst>
          </a:prstGeom>
          <a:ln w="18000">
            <a:solidFill>
              <a:srgbClr val="2a6099"/>
            </a:solidFill>
            <a:round/>
          </a:ln>
        </p:spPr>
      </p:cxnSp>
      <p:sp>
        <p:nvSpPr>
          <p:cNvPr id="7" name=""/>
          <p:cNvSpPr/>
          <p:nvPr/>
        </p:nvSpPr>
        <p:spPr>
          <a:xfrm>
            <a:off x="1260000" y="216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" name=""/>
          <p:cNvSpPr/>
          <p:nvPr/>
        </p:nvSpPr>
        <p:spPr>
          <a:xfrm>
            <a:off x="1080000" y="396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1080000" y="36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936000" y="612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936000" y="864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 flipH="1">
            <a:off x="1260000" y="1260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 flipH="1">
            <a:off x="1080000" y="1080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 flipH="1">
            <a:off x="1080000" y="1440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 flipH="1">
            <a:off x="936000" y="1656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 flipH="1">
            <a:off x="936000" y="1908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1260000" y="2304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1080000" y="2124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1080000" y="2493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936000" y="2709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936000" y="2961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 flipH="1">
            <a:off x="1260000" y="3357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 flipH="1">
            <a:off x="1098720" y="3177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 flipH="1">
            <a:off x="1089360" y="3546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 flipH="1">
            <a:off x="945360" y="3762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 flipH="1">
            <a:off x="945360" y="4014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1269360" y="4410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1089360" y="4230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1089360" y="4590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945360" y="4806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945360" y="5058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 flipH="1">
            <a:off x="369360" y="5454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 flipH="1">
            <a:off x="549360" y="5274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"/>
          <p:cNvSpPr/>
          <p:nvPr/>
        </p:nvSpPr>
        <p:spPr>
          <a:xfrm>
            <a:off x="360000" y="216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" name=""/>
          <p:cNvSpPr/>
          <p:nvPr/>
        </p:nvSpPr>
        <p:spPr>
          <a:xfrm>
            <a:off x="540000" y="396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540000" y="36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" name=""/>
          <p:cNvSpPr/>
          <p:nvPr/>
        </p:nvSpPr>
        <p:spPr>
          <a:xfrm>
            <a:off x="684000" y="612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684000" y="864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 flipH="1">
            <a:off x="360000" y="1260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 flipH="1">
            <a:off x="540000" y="1080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 flipH="1">
            <a:off x="540000" y="1440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 flipH="1">
            <a:off x="684000" y="1656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 flipH="1">
            <a:off x="684000" y="1908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360000" y="2304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540000" y="2124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540000" y="2493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684000" y="2709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684000" y="2961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 flipH="1">
            <a:off x="360000" y="3357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 flipH="1">
            <a:off x="558720" y="3177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 flipH="1">
            <a:off x="549360" y="3546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 flipH="1">
            <a:off x="693360" y="3762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 flipH="1">
            <a:off x="693360" y="4014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369360" y="4410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549360" y="4230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549360" y="4590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693360" y="4806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693360" y="5058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 flipH="1">
            <a:off x="1269360" y="5454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 flipH="1">
            <a:off x="1089360" y="5274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subTitle"/>
          </p:nvPr>
        </p:nvSpPr>
        <p:spPr>
          <a:xfrm>
            <a:off x="1620000" y="216000"/>
            <a:ext cx="8100000" cy="434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b="0" lang="en-US" sz="4400" strike="noStrike" u="none">
                <a:solidFill>
                  <a:srgbClr val="000000"/>
                </a:solidFill>
                <a:uFillTx/>
                <a:latin typeface="Times New Roman"/>
              </a:rPr>
              <a:t>Stacks in Data Structures </a:t>
            </a:r>
            <a:endParaRPr b="0" lang="en-US" sz="4400" strike="noStrike" u="none">
              <a:solidFill>
                <a:srgbClr val="000000"/>
              </a:solidFill>
              <a:uFillTx/>
              <a:latin typeface="Times New Roman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endParaRPr b="0" lang="en-US" sz="4400" strike="noStrike" u="none">
              <a:solidFill>
                <a:srgbClr val="000000"/>
              </a:solidFill>
              <a:uFillTx/>
              <a:latin typeface="Times New Roman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b="0" lang="en-US" sz="4400" strike="noStrike" u="none">
                <a:solidFill>
                  <a:srgbClr val="000000"/>
                </a:solidFill>
                <a:uFillTx/>
                <a:latin typeface="Times New Roman"/>
              </a:rPr>
              <a:t>Concepts, Applications, and Python Implementation </a:t>
            </a:r>
            <a:endParaRPr b="0" lang="en-US" sz="4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6C4538A-96A3-417B-BB3C-09D52E5F1640}" type="slidenum">
              <a:t>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3600" strike="noStrike" u="none">
                <a:solidFill>
                  <a:srgbClr val="050505"/>
                </a:solidFill>
                <a:uFillTx/>
                <a:latin typeface="Times New Roman"/>
              </a:rPr>
              <a:t>What is a Stack? </a:t>
            </a:r>
            <a:endParaRPr b="0" lang="en-US" sz="3600" strike="noStrike" u="none">
              <a:solidFill>
                <a:srgbClr val="050505"/>
              </a:solidFill>
              <a:uFillTx/>
              <a:latin typeface="Times New Roman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subTitle"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3200" strike="noStrike" u="none">
                <a:solidFill>
                  <a:srgbClr val="000000"/>
                </a:solidFill>
                <a:uFillTx/>
                <a:latin typeface="Times New Roman"/>
              </a:rPr>
              <a:t>A linear data structure.</a:t>
            </a:r>
            <a:endParaRPr b="0" lang="en-US" sz="3200" strike="noStrike" u="none">
              <a:solidFill>
                <a:srgbClr val="000000"/>
              </a:solidFill>
              <a:uFillTx/>
              <a:latin typeface="Times New Roman"/>
            </a:endParaRPr>
          </a:p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3200" strike="noStrike" u="none">
                <a:solidFill>
                  <a:srgbClr val="000000"/>
                </a:solidFill>
                <a:uFillTx/>
                <a:latin typeface="Times New Roman"/>
              </a:rPr>
              <a:t>Elements are added and removed from one end—called the "top".</a:t>
            </a:r>
            <a:endParaRPr b="0" lang="en-US" sz="3200" strike="noStrike" u="none">
              <a:solidFill>
                <a:srgbClr val="000000"/>
              </a:solidFill>
              <a:uFillTx/>
              <a:latin typeface="Times New Roman"/>
            </a:endParaRPr>
          </a:p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3200" strike="noStrike" u="none">
                <a:solidFill>
                  <a:srgbClr val="000000"/>
                </a:solidFill>
                <a:uFillTx/>
                <a:latin typeface="Times New Roman"/>
              </a:rPr>
              <a:t>Operates on LIFO (Last In, First Out) principle.</a:t>
            </a:r>
            <a:endParaRPr b="0" lang="en-US" sz="3200" strike="noStrike" u="none">
              <a:solidFill>
                <a:srgbClr val="000000"/>
              </a:solidFill>
              <a:uFillTx/>
              <a:latin typeface="Times New Roman"/>
            </a:endParaRPr>
          </a:p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9D124A6-96A6-4A47-92EF-3DC48B2911E7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506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3600" strike="noStrike" u="none">
                <a:solidFill>
                  <a:srgbClr val="050505"/>
                </a:solidFill>
                <a:uFillTx/>
                <a:latin typeface="Times New Roman"/>
              </a:rPr>
              <a:t>Real-Life Stack Examples </a:t>
            </a:r>
            <a:endParaRPr b="0" lang="en-US" sz="3600" strike="noStrike" u="none">
              <a:solidFill>
                <a:srgbClr val="050505"/>
              </a:solidFill>
              <a:uFillTx/>
              <a:latin typeface="Times New Roman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50505"/>
                </a:solidFill>
                <a:uFillTx/>
                <a:latin typeface="Arial"/>
              </a:rPr>
              <a:t>A stack of plates.</a:t>
            </a:r>
            <a:endParaRPr b="0" lang="en-US" sz="28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50505"/>
                </a:solidFill>
                <a:uFillTx/>
                <a:latin typeface="Arial"/>
              </a:rPr>
              <a:t>Books piled one over the other.</a:t>
            </a:r>
            <a:endParaRPr b="0" lang="en-US" sz="28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50505"/>
                </a:solidFill>
                <a:uFillTx/>
                <a:latin typeface="Arial"/>
              </a:rPr>
              <a:t>Browser back button history.</a:t>
            </a:r>
            <a:endParaRPr b="0" lang="en-US" sz="28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b="0" lang="en-US" sz="2800" strike="noStrike" u="none">
              <a:solidFill>
                <a:srgbClr val="050505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046C718-DE99-41B7-B092-97FBD3C908C4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3600" strike="noStrike" u="none">
                <a:solidFill>
                  <a:srgbClr val="050505"/>
                </a:solidFill>
                <a:uFillTx/>
                <a:latin typeface="Times New Roman"/>
              </a:rPr>
              <a:t>LIFO Explained </a:t>
            </a:r>
            <a:endParaRPr b="0" lang="en-US" sz="3600" strike="noStrike" u="none">
              <a:solidFill>
                <a:srgbClr val="050505"/>
              </a:solidFill>
              <a:uFillTx/>
              <a:latin typeface="Times New Roman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8100000" cy="228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50505"/>
                </a:solidFill>
                <a:uFillTx/>
                <a:latin typeface="Arial"/>
              </a:rPr>
              <a:t>The last item added is the first one to be removed.</a:t>
            </a:r>
            <a:endParaRPr b="0" lang="en-US" sz="28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50505"/>
                </a:solidFill>
                <a:uFillTx/>
                <a:latin typeface="Arial"/>
              </a:rPr>
              <a:t>Think of stacking boxes: you remove the topmost box first.</a:t>
            </a:r>
            <a:endParaRPr b="0" lang="en-US" sz="28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b="0" lang="en-US" sz="2800" strike="noStrike" u="none">
              <a:solidFill>
                <a:srgbClr val="050505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C2D3ED8-DD00-4E3B-9697-0704E85B9D70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506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3600" strike="noStrike" u="none">
                <a:solidFill>
                  <a:srgbClr val="050505"/>
                </a:solidFill>
                <a:uFillTx/>
                <a:latin typeface="Times New Roman"/>
              </a:rPr>
              <a:t>Basic Stack Operations </a:t>
            </a:r>
            <a:endParaRPr b="0" lang="en-US" sz="3600" strike="noStrike" u="none">
              <a:solidFill>
                <a:srgbClr val="050505"/>
              </a:solidFill>
              <a:uFillTx/>
              <a:latin typeface="Times New Roman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50505"/>
                </a:solidFill>
                <a:uFillTx/>
                <a:latin typeface="Arial"/>
              </a:rPr>
              <a:t>Push – Insert an element on top.</a:t>
            </a:r>
            <a:endParaRPr b="0" lang="en-US" sz="28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50505"/>
                </a:solidFill>
                <a:uFillTx/>
                <a:latin typeface="Arial"/>
              </a:rPr>
              <a:t>Pop – Remove the top element.</a:t>
            </a:r>
            <a:endParaRPr b="0" lang="en-US" sz="28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50505"/>
                </a:solidFill>
                <a:uFillTx/>
                <a:latin typeface="Arial"/>
              </a:rPr>
              <a:t>Peek/Top – View the top element without removing it.</a:t>
            </a:r>
            <a:endParaRPr b="0" lang="en-US" sz="28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50505"/>
                </a:solidFill>
                <a:uFillTx/>
                <a:latin typeface="Arial"/>
              </a:rPr>
              <a:t>isEmpty – Check if the stack is empty.</a:t>
            </a:r>
            <a:endParaRPr b="0" lang="en-US" sz="28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2800" strike="noStrike" u="none">
                <a:solidFill>
                  <a:srgbClr val="050505"/>
                </a:solidFill>
                <a:uFillTx/>
                <a:latin typeface="Arial"/>
              </a:rPr>
              <a:t> </a:t>
            </a:r>
            <a:endParaRPr b="0" lang="en-US" sz="2800" strike="noStrike" u="none">
              <a:solidFill>
                <a:srgbClr val="050505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B73987F-96DC-40F9-8C02-B381E5133100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3600" strike="noStrike" u="none">
                <a:solidFill>
                  <a:srgbClr val="050505"/>
                </a:solidFill>
                <a:uFillTx/>
                <a:latin typeface="Times New Roman"/>
              </a:rPr>
              <a:t>Applications of Stacks </a:t>
            </a:r>
            <a:endParaRPr b="0" lang="en-US" sz="3600" strike="noStrike" u="none">
              <a:solidFill>
                <a:srgbClr val="050505"/>
              </a:solidFill>
              <a:uFillTx/>
              <a:latin typeface="Times New Roman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8100000" cy="25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50505"/>
                </a:solidFill>
                <a:uFillTx/>
                <a:latin typeface="Arial"/>
              </a:rPr>
              <a:t>Undo operations in editors.</a:t>
            </a:r>
            <a:endParaRPr b="0" lang="en-US" sz="28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50505"/>
                </a:solidFill>
                <a:uFillTx/>
                <a:latin typeface="Arial"/>
              </a:rPr>
              <a:t>Function call/return in recursion.</a:t>
            </a:r>
            <a:endParaRPr b="0" lang="en-US" sz="28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50505"/>
                </a:solidFill>
                <a:uFillTx/>
                <a:latin typeface="Arial"/>
              </a:rPr>
              <a:t>Expression evaluation (infix to postfix).</a:t>
            </a:r>
            <a:endParaRPr b="0" lang="en-US" sz="28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50505"/>
                </a:solidFill>
                <a:uFillTx/>
                <a:latin typeface="Arial"/>
              </a:rPr>
              <a:t>Balanced parentheses checking.</a:t>
            </a:r>
            <a:endParaRPr b="0" lang="en-US" sz="28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b="0" lang="en-US" sz="2800" strike="noStrike" u="none">
              <a:solidFill>
                <a:srgbClr val="050505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31070AF-F746-4182-A89A-0E40967F4264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3600" strike="noStrike" u="none">
                <a:solidFill>
                  <a:srgbClr val="050505"/>
                </a:solidFill>
                <a:uFillTx/>
                <a:latin typeface="Times New Roman"/>
              </a:rPr>
              <a:t>Stack Operation Complexity </a:t>
            </a:r>
            <a:endParaRPr b="0" lang="en-US" sz="3600" strike="noStrike" u="none">
              <a:solidFill>
                <a:srgbClr val="050505"/>
              </a:solidFill>
              <a:uFillTx/>
              <a:latin typeface="Times New Roman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0" lnSpcReduction="19999"/>
          </a:bodyPr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50505"/>
                </a:solidFill>
                <a:uFillTx/>
                <a:latin typeface="Arial"/>
              </a:rPr>
              <a:t>Operation                                                                                Time Complexity   </a:t>
            </a:r>
            <a:endParaRPr b="0" lang="en-US" sz="28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50505"/>
                </a:solidFill>
                <a:uFillTx/>
                <a:latin typeface="Arial"/>
              </a:rPr>
              <a:t>Push                                                                                       O(1)</a:t>
            </a:r>
            <a:endParaRPr b="0" lang="en-US" sz="28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50505"/>
                </a:solidFill>
                <a:uFillTx/>
                <a:latin typeface="Arial"/>
              </a:rPr>
              <a:t>Pop                                                                                         O(1)</a:t>
            </a:r>
            <a:endParaRPr b="0" lang="en-US" sz="28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50505"/>
                </a:solidFill>
                <a:uFillTx/>
                <a:latin typeface="Arial"/>
              </a:rPr>
              <a:t>Peek                                                                                       O(1)</a:t>
            </a:r>
            <a:endParaRPr b="0" lang="en-US" sz="28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50505"/>
                </a:solidFill>
                <a:uFillTx/>
                <a:latin typeface="Arial"/>
              </a:rPr>
              <a:t>Search                                                                                    O(n)</a:t>
            </a:r>
            <a:endParaRPr b="0" lang="en-US" sz="28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b="0" lang="en-US" sz="28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b="0" lang="en-US" sz="2800" strike="noStrike" u="none">
              <a:solidFill>
                <a:srgbClr val="050505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0DE405B-46E1-496F-8298-3B9FB8116A37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3600" strike="noStrike" u="none">
                <a:solidFill>
                  <a:srgbClr val="050505"/>
                </a:solidFill>
                <a:uFillTx/>
                <a:latin typeface="Times New Roman"/>
              </a:rPr>
              <a:t>Implementing a Stack Using Lists </a:t>
            </a:r>
            <a:endParaRPr b="0" lang="en-US" sz="3600" strike="noStrike" u="none">
              <a:solidFill>
                <a:srgbClr val="050505"/>
              </a:solidFill>
              <a:uFillTx/>
              <a:latin typeface="Times New Roman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stack = []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stack.append(10)  # Push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stack.append(20)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print(stack.pop())  # Pop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print(stack[-1])    # Peek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Uses Python's built-in list functions.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0">
              <a:spcAft>
                <a:spcPts val="1060"/>
              </a:spcAft>
              <a:buNone/>
            </a:pP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0">
              <a:spcAft>
                <a:spcPts val="1060"/>
              </a:spcAft>
              <a:buNone/>
            </a:pP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FB9BFE6-DEB6-4B0E-90AC-D07C779E16B1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3600" strike="noStrike" u="none">
                <a:solidFill>
                  <a:srgbClr val="050505"/>
                </a:solidFill>
                <a:uFillTx/>
                <a:latin typeface="Times New Roman"/>
              </a:rPr>
              <a:t>Stack Class Using Lists </a:t>
            </a:r>
            <a:endParaRPr b="0" lang="en-US" sz="3600" strike="noStrike" u="none">
              <a:solidFill>
                <a:srgbClr val="050505"/>
              </a:solidFill>
              <a:uFillTx/>
              <a:latin typeface="Times New Roman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1501200" y="914400"/>
            <a:ext cx="7871400" cy="48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50505"/>
                </a:solidFill>
                <a:uFillTx/>
                <a:latin typeface="Arial"/>
              </a:rPr>
              <a:t>class Stack:</a:t>
            </a:r>
            <a:endParaRPr b="0" lang="en-US" sz="20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50505"/>
                </a:solidFill>
                <a:uFillTx/>
                <a:latin typeface="Arial"/>
              </a:rPr>
              <a:t>    </a:t>
            </a:r>
            <a:r>
              <a:rPr b="0" lang="en-US" sz="2000" strike="noStrike" u="none">
                <a:solidFill>
                  <a:srgbClr val="050505"/>
                </a:solidFill>
                <a:uFillTx/>
                <a:latin typeface="Arial"/>
              </a:rPr>
              <a:t>def __init__(self):</a:t>
            </a:r>
            <a:endParaRPr b="0" lang="en-US" sz="20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50505"/>
                </a:solidFill>
                <a:uFillTx/>
                <a:latin typeface="Arial"/>
              </a:rPr>
              <a:t>        </a:t>
            </a:r>
            <a:r>
              <a:rPr b="0" lang="en-US" sz="2000" strike="noStrike" u="none">
                <a:solidFill>
                  <a:srgbClr val="050505"/>
                </a:solidFill>
                <a:uFillTx/>
                <a:latin typeface="Arial"/>
              </a:rPr>
              <a:t>self.items = []</a:t>
            </a:r>
            <a:endParaRPr b="0" lang="en-US" sz="20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50505"/>
                </a:solidFill>
                <a:uFillTx/>
                <a:latin typeface="Arial"/>
              </a:rPr>
              <a:t>    </a:t>
            </a:r>
            <a:r>
              <a:rPr b="0" lang="en-US" sz="2000" strike="noStrike" u="none">
                <a:solidFill>
                  <a:srgbClr val="050505"/>
                </a:solidFill>
                <a:uFillTx/>
                <a:latin typeface="Arial"/>
              </a:rPr>
              <a:t>def push(self, item):</a:t>
            </a:r>
            <a:endParaRPr b="0" lang="en-US" sz="20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50505"/>
                </a:solidFill>
                <a:uFillTx/>
                <a:latin typeface="Arial"/>
              </a:rPr>
              <a:t>        </a:t>
            </a:r>
            <a:r>
              <a:rPr b="0" lang="en-US" sz="2000" strike="noStrike" u="none">
                <a:solidFill>
                  <a:srgbClr val="050505"/>
                </a:solidFill>
                <a:uFillTx/>
                <a:latin typeface="Arial"/>
              </a:rPr>
              <a:t>self.items.append(item)</a:t>
            </a:r>
            <a:endParaRPr b="0" lang="en-US" sz="20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50505"/>
                </a:solidFill>
                <a:uFillTx/>
                <a:latin typeface="Arial"/>
              </a:rPr>
              <a:t>    </a:t>
            </a:r>
            <a:r>
              <a:rPr b="0" lang="en-US" sz="2000" strike="noStrike" u="none">
                <a:solidFill>
                  <a:srgbClr val="050505"/>
                </a:solidFill>
                <a:uFillTx/>
                <a:latin typeface="Arial"/>
              </a:rPr>
              <a:t>def pop(self):</a:t>
            </a:r>
            <a:endParaRPr b="0" lang="en-US" sz="20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50505"/>
                </a:solidFill>
                <a:uFillTx/>
                <a:latin typeface="Arial"/>
              </a:rPr>
              <a:t>        </a:t>
            </a:r>
            <a:r>
              <a:rPr b="0" lang="en-US" sz="2000" strike="noStrike" u="none">
                <a:solidFill>
                  <a:srgbClr val="050505"/>
                </a:solidFill>
                <a:uFillTx/>
                <a:latin typeface="Arial"/>
              </a:rPr>
              <a:t>return self.items.pop()</a:t>
            </a:r>
            <a:endParaRPr b="0" lang="en-US" sz="20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50505"/>
                </a:solidFill>
                <a:uFillTx/>
                <a:latin typeface="Arial"/>
              </a:rPr>
              <a:t>    </a:t>
            </a:r>
            <a:r>
              <a:rPr b="0" lang="en-US" sz="2000" strike="noStrike" u="none">
                <a:solidFill>
                  <a:srgbClr val="050505"/>
                </a:solidFill>
                <a:uFillTx/>
                <a:latin typeface="Arial"/>
              </a:rPr>
              <a:t>def peek(self):</a:t>
            </a:r>
            <a:endParaRPr b="0" lang="en-US" sz="20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50505"/>
                </a:solidFill>
                <a:uFillTx/>
                <a:latin typeface="Arial"/>
              </a:rPr>
              <a:t>        </a:t>
            </a:r>
            <a:r>
              <a:rPr b="0" lang="en-US" sz="2000" strike="noStrike" u="none">
                <a:solidFill>
                  <a:srgbClr val="050505"/>
                </a:solidFill>
                <a:uFillTx/>
                <a:latin typeface="Arial"/>
              </a:rPr>
              <a:t>return self.items[-1]</a:t>
            </a:r>
            <a:endParaRPr b="0" lang="en-US" sz="20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50505"/>
                </a:solidFill>
                <a:uFillTx/>
                <a:latin typeface="Arial"/>
              </a:rPr>
              <a:t>    </a:t>
            </a:r>
            <a:r>
              <a:rPr b="0" lang="en-US" sz="2000" strike="noStrike" u="none">
                <a:solidFill>
                  <a:srgbClr val="050505"/>
                </a:solidFill>
                <a:uFillTx/>
                <a:latin typeface="Arial"/>
              </a:rPr>
              <a:t>def is_empty(self):</a:t>
            </a:r>
            <a:endParaRPr b="0" lang="en-US" sz="20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50505"/>
                </a:solidFill>
                <a:uFillTx/>
                <a:latin typeface="Arial"/>
              </a:rPr>
              <a:t>        </a:t>
            </a:r>
            <a:r>
              <a:rPr b="0" lang="en-US" sz="2000" strike="noStrike" u="none">
                <a:solidFill>
                  <a:srgbClr val="050505"/>
                </a:solidFill>
                <a:uFillTx/>
                <a:latin typeface="Arial"/>
              </a:rPr>
              <a:t>return not self.items</a:t>
            </a:r>
            <a:endParaRPr b="0" lang="en-US" sz="20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0">
              <a:spcAft>
                <a:spcPts val="1060"/>
              </a:spcAft>
              <a:buNone/>
            </a:pPr>
            <a:endParaRPr b="0" lang="en-US" sz="2000" strike="noStrike" u="none">
              <a:solidFill>
                <a:srgbClr val="050505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C2410EC-3EBC-4894-B71C-41C7A8DFDA19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3600" strike="noStrike" u="none">
                <a:solidFill>
                  <a:srgbClr val="050505"/>
                </a:solidFill>
                <a:uFillTx/>
                <a:latin typeface="Times New Roman"/>
              </a:rPr>
              <a:t>Advantages of List-based Stack </a:t>
            </a:r>
            <a:endParaRPr b="0" lang="en-US" sz="3600" strike="noStrike" u="none">
              <a:solidFill>
                <a:srgbClr val="050505"/>
              </a:solidFill>
              <a:uFillTx/>
              <a:latin typeface="Times New Roman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Simple and clean.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Efficient due to Python's built-in methods.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Suitable for small to medium datasets.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B820EC1-4F76-40B5-BC55-5A6FEB6E315F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3600" strike="noStrike" u="none">
                <a:solidFill>
                  <a:srgbClr val="050505"/>
                </a:solidFill>
                <a:uFillTx/>
                <a:latin typeface="Times New Roman"/>
              </a:rPr>
              <a:t>Limitations of List-based Stack </a:t>
            </a:r>
            <a:endParaRPr b="0" lang="en-US" sz="3600" strike="noStrike" u="none">
              <a:solidFill>
                <a:srgbClr val="050505"/>
              </a:solidFill>
              <a:uFillTx/>
              <a:latin typeface="Times New Roman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Lists may over-allocate memory.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Not ideal for large, frequent stack operations (memory resizing).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A27E0AE-A2E7-4D28-A964-F52C7F15071A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3600" strike="noStrike" u="none">
                <a:solidFill>
                  <a:srgbClr val="050505"/>
                </a:solidFill>
                <a:uFillTx/>
                <a:latin typeface="Times New Roman"/>
              </a:rPr>
              <a:t>Stack Using Linked List - Why? </a:t>
            </a:r>
            <a:endParaRPr b="0" lang="en-US" sz="3600" strike="noStrike" u="none">
              <a:solidFill>
                <a:srgbClr val="050505"/>
              </a:solidFill>
              <a:uFillTx/>
              <a:latin typeface="Times New Roman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Dynamic memory allocation.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More memory-efficient than lists in large-scale environments.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6F7C50C-74B3-4402-8A9A-D8BCC23AD49D}" type="slidenum">
              <a:t>12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506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3600" strike="noStrike" u="none">
                <a:solidFill>
                  <a:srgbClr val="050505"/>
                </a:solidFill>
                <a:uFillTx/>
                <a:latin typeface="Times New Roman"/>
              </a:rPr>
              <a:t>Node Class for Linked List </a:t>
            </a:r>
            <a:endParaRPr b="0" lang="en-US" sz="3600" strike="noStrike" u="none">
              <a:solidFill>
                <a:srgbClr val="050505"/>
              </a:solidFill>
              <a:uFillTx/>
              <a:latin typeface="Times New Roman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s Node: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    </a:t>
            </a: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def __init__(self, data):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        </a:t>
            </a: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self.data = data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        </a:t>
            </a: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self.next = None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Basic building block of linked stack.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0">
              <a:spcAft>
                <a:spcPts val="1060"/>
              </a:spcAft>
              <a:buNone/>
            </a:pP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0">
              <a:spcAft>
                <a:spcPts val="1060"/>
              </a:spcAft>
              <a:buNone/>
            </a:pP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8F676A2-A5A7-4438-BAAE-7D61B7ACB4D5}" type="slidenum">
              <a:t>13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506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3600" strike="noStrike" u="none">
                <a:solidFill>
                  <a:srgbClr val="050505"/>
                </a:solidFill>
                <a:uFillTx/>
                <a:latin typeface="Times New Roman"/>
              </a:rPr>
              <a:t>Stack Class with Linked List </a:t>
            </a:r>
            <a:endParaRPr b="0" lang="en-US" sz="3600" strike="noStrike" u="none">
              <a:solidFill>
                <a:srgbClr val="050505"/>
              </a:solidFill>
              <a:uFillTx/>
              <a:latin typeface="Times New Roman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class LinkedStack: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    </a:t>
            </a: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def __init__(self):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        </a:t>
            </a: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self.top = None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    </a:t>
            </a: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def push(self, data):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        </a:t>
            </a: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new_node = Node(data)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        </a:t>
            </a: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new_node.next = self.top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        </a:t>
            </a: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self.top = new_node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0">
              <a:spcAft>
                <a:spcPts val="1060"/>
              </a:spcAft>
              <a:buNone/>
            </a:pP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3204318-98F9-4DB1-86F8-C38DA03B1A95}" type="slidenum">
              <a:t>14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3600" strike="noStrike" u="none">
                <a:solidFill>
                  <a:srgbClr val="050505"/>
                </a:solidFill>
                <a:uFillTx/>
                <a:latin typeface="Times New Roman"/>
              </a:rPr>
              <a:t>Pop and Peek in Linked Stack </a:t>
            </a:r>
            <a:endParaRPr b="0" lang="en-US" sz="3600" strike="noStrike" u="none">
              <a:solidFill>
                <a:srgbClr val="050505"/>
              </a:solidFill>
              <a:uFillTx/>
              <a:latin typeface="Times New Roman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    </a:t>
            </a: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def pop(self):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        </a:t>
            </a: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if self.top is None: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            </a:t>
            </a: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return None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        </a:t>
            </a: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popped = self.top.data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        </a:t>
            </a: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self.top = self.top.next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        </a:t>
            </a: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return popped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0">
              <a:spcAft>
                <a:spcPts val="1060"/>
              </a:spcAft>
              <a:buNone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 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    </a:t>
            </a: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def peek(self):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        </a:t>
            </a: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return self.top.data if self.top else None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0">
              <a:spcAft>
                <a:spcPts val="1060"/>
              </a:spcAft>
              <a:buNone/>
            </a:pP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72E60EB-971F-43CA-AD2B-D7C2809E0BDF}" type="slidenum">
              <a:t>15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3600" strike="noStrike" u="none">
                <a:solidFill>
                  <a:srgbClr val="050505"/>
                </a:solidFill>
                <a:uFillTx/>
                <a:latin typeface="Times New Roman"/>
              </a:rPr>
              <a:t>Practice Task 1 </a:t>
            </a:r>
            <a:endParaRPr b="0" lang="en-US" sz="3600" strike="noStrike" u="none">
              <a:solidFill>
                <a:srgbClr val="050505"/>
              </a:solidFill>
              <a:uFillTx/>
              <a:latin typeface="Times New Roman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8100000" cy="166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Task: Write a Python function to reverse a string using a stack.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Hint : Push characters to a stack, then pop them.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E001776-5A29-4312-B363-8BC24F8CB430}" type="slidenum">
              <a:t>16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506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3600" strike="noStrike" u="none">
                <a:solidFill>
                  <a:srgbClr val="050505"/>
                </a:solidFill>
                <a:uFillTx/>
                <a:latin typeface="Times New Roman"/>
              </a:rPr>
              <a:t>Practice Task 2 </a:t>
            </a:r>
            <a:endParaRPr b="0" lang="en-US" sz="3600" strike="noStrike" u="none">
              <a:solidFill>
                <a:srgbClr val="050505"/>
              </a:solidFill>
              <a:uFillTx/>
              <a:latin typeface="Times New Roman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0" lnSpcReduction="19999"/>
          </a:bodyPr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Task: Check for balanced parentheses using a stack.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Liberation Mono;Courier New;DejaVu Sans Mono;Lucida Sans Typewriter"/>
                <a:ea typeface="Liberation Mono;Courier New;DejaVu Sans Mono;Lucida Sans Typewriter"/>
              </a:rPr>
              <a:t>pythonCopyEditdef is_balanced(expr):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Liberation Mono;Courier New;DejaVu Sans Mono;Lucida Sans Typewriter"/>
                <a:ea typeface="Liberation Mono;Courier New;DejaVu Sans Mono;Lucida Sans Typewriter"/>
              </a:rPr>
              <a:t>    </a:t>
            </a:r>
            <a:r>
              <a:rPr b="0" lang="en-US" sz="2400" strike="noStrike" u="none">
                <a:solidFill>
                  <a:srgbClr val="050505"/>
                </a:solidFill>
                <a:uFillTx/>
                <a:latin typeface="Liberation Mono;Courier New;DejaVu Sans Mono;Lucida Sans Typewriter"/>
                <a:ea typeface="Liberation Mono;Courier New;DejaVu Sans Mono;Lucida Sans Typewriter"/>
              </a:rPr>
              <a:t>stack = []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Liberation Mono;Courier New;DejaVu Sans Mono;Lucida Sans Typewriter"/>
                <a:ea typeface="Liberation Mono;Courier New;DejaVu Sans Mono;Lucida Sans Typewriter"/>
              </a:rPr>
              <a:t>    </a:t>
            </a:r>
            <a:r>
              <a:rPr b="0" lang="en-US" sz="2400" strike="noStrike" u="none">
                <a:solidFill>
                  <a:srgbClr val="050505"/>
                </a:solidFill>
                <a:uFillTx/>
                <a:latin typeface="Liberation Mono;Courier New;DejaVu Sans Mono;Lucida Sans Typewriter"/>
                <a:ea typeface="Liberation Mono;Courier New;DejaVu Sans Mono;Lucida Sans Typewriter"/>
              </a:rPr>
              <a:t>for char in expr: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Liberation Mono;Courier New;DejaVu Sans Mono;Lucida Sans Typewriter"/>
                <a:ea typeface="Liberation Mono;Courier New;DejaVu Sans Mono;Lucida Sans Typewriter"/>
              </a:rPr>
              <a:t>        </a:t>
            </a:r>
            <a:r>
              <a:rPr b="0" lang="en-US" sz="2400" strike="noStrike" u="none">
                <a:solidFill>
                  <a:srgbClr val="050505"/>
                </a:solidFill>
                <a:uFillTx/>
                <a:latin typeface="Liberation Mono;Courier New;DejaVu Sans Mono;Lucida Sans Typewriter"/>
                <a:ea typeface="Liberation Mono;Courier New;DejaVu Sans Mono;Lucida Sans Typewriter"/>
              </a:rPr>
              <a:t>if char in "([{":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Liberation Mono;Courier New;DejaVu Sans Mono;Lucida Sans Typewriter"/>
                <a:ea typeface="Liberation Mono;Courier New;DejaVu Sans Mono;Lucida Sans Typewriter"/>
              </a:rPr>
              <a:t>            </a:t>
            </a:r>
            <a:r>
              <a:rPr b="0" lang="en-US" sz="2400" strike="noStrike" u="none">
                <a:solidFill>
                  <a:srgbClr val="050505"/>
                </a:solidFill>
                <a:uFillTx/>
                <a:latin typeface="Liberation Mono;Courier New;DejaVu Sans Mono;Lucida Sans Typewriter"/>
                <a:ea typeface="Liberation Mono;Courier New;DejaVu Sans Mono;Lucida Sans Typewriter"/>
              </a:rPr>
              <a:t>stack.append(char)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Liberation Mono;Courier New;DejaVu Sans Mono;Lucida Sans Typewriter"/>
                <a:ea typeface="Liberation Mono;Courier New;DejaVu Sans Mono;Lucida Sans Typewriter"/>
              </a:rPr>
              <a:t>        </a:t>
            </a:r>
            <a:r>
              <a:rPr b="0" lang="en-US" sz="2400" strike="noStrike" u="none">
                <a:solidFill>
                  <a:srgbClr val="050505"/>
                </a:solidFill>
                <a:uFillTx/>
                <a:latin typeface="Liberation Mono;Courier New;DejaVu Sans Mono;Lucida Sans Typewriter"/>
                <a:ea typeface="Liberation Mono;Courier New;DejaVu Sans Mono;Lucida Sans Typewriter"/>
              </a:rPr>
              <a:t>elif char in ")]}":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Liberation Mono;Courier New;DejaVu Sans Mono;Lucida Sans Typewriter"/>
                <a:ea typeface="Liberation Mono;Courier New;DejaVu Sans Mono;Lucida Sans Typewriter"/>
              </a:rPr>
              <a:t>            </a:t>
            </a:r>
            <a:r>
              <a:rPr b="0" lang="en-US" sz="2400" strike="noStrike" u="none">
                <a:solidFill>
                  <a:srgbClr val="050505"/>
                </a:solidFill>
                <a:uFillTx/>
                <a:latin typeface="Liberation Mono;Courier New;DejaVu Sans Mono;Lucida Sans Typewriter"/>
                <a:ea typeface="Liberation Mono;Courier New;DejaVu Sans Mono;Lucida Sans Typewriter"/>
              </a:rPr>
              <a:t>if not stack or {'(':')','{':'}','[':']'}[stack.pop()] != char: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Liberation Mono;Courier New;DejaVu Sans Mono;Lucida Sans Typewriter"/>
                <a:ea typeface="Liberation Mono;Courier New;DejaVu Sans Mono;Lucida Sans Typewriter"/>
              </a:rPr>
              <a:t>                </a:t>
            </a:r>
            <a:r>
              <a:rPr b="0" lang="en-US" sz="2400" strike="noStrike" u="none">
                <a:solidFill>
                  <a:srgbClr val="050505"/>
                </a:solidFill>
                <a:uFillTx/>
                <a:latin typeface="Liberation Mono;Courier New;DejaVu Sans Mono;Lucida Sans Typewriter"/>
                <a:ea typeface="Liberation Mono;Courier New;DejaVu Sans Mono;Lucida Sans Typewriter"/>
              </a:rPr>
              <a:t>return False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Liberation Mono;Courier New;DejaVu Sans Mono;Lucida Sans Typewriter"/>
                <a:ea typeface="Liberation Mono;Courier New;DejaVu Sans Mono;Lucida Sans Typewriter"/>
              </a:rPr>
              <a:t>    </a:t>
            </a:r>
            <a:r>
              <a:rPr b="0" lang="en-US" sz="2400" strike="noStrike" u="none">
                <a:solidFill>
                  <a:srgbClr val="050505"/>
                </a:solidFill>
                <a:uFillTx/>
                <a:latin typeface="Liberation Mono;Courier New;DejaVu Sans Mono;Lucida Sans Typewriter"/>
                <a:ea typeface="Liberation Mono;Courier New;DejaVu Sans Mono;Lucida Sans Typewriter"/>
              </a:rPr>
              <a:t>return not stack 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C981925-7DCB-45D2-B3C2-A113A725ED1F}" type="slidenum">
              <a:t>17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506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3600" strike="noStrike" u="none">
                <a:solidFill>
                  <a:srgbClr val="050505"/>
                </a:solidFill>
                <a:uFillTx/>
                <a:latin typeface="Times New Roman"/>
              </a:rPr>
              <a:t>Summary </a:t>
            </a:r>
            <a:endParaRPr b="0" lang="en-US" sz="3600" strike="noStrike" u="none">
              <a:solidFill>
                <a:srgbClr val="050505"/>
              </a:solidFill>
              <a:uFillTx/>
              <a:latin typeface="Times New Roman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Stacks follow LIFO principle.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Used in many core computer science algorithms.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Can be implemented via lists or linked lists in Python.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Mastery of push/pop/peek is essential for problem-solving.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1000" strike="noStrike" u="none">
                <a:solidFill>
                  <a:srgbClr val="050505"/>
                </a:solidFill>
                <a:uFillTx/>
                <a:latin typeface="Arial"/>
              </a:rPr>
              <a:t> </a:t>
            </a:r>
            <a:endParaRPr b="0" lang="en-US" sz="1000" strike="noStrike" u="none">
              <a:solidFill>
                <a:srgbClr val="050505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43A9A1D-A1BD-47CC-87E6-754438707D97}" type="slidenum">
              <a:t>18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Application>LibreOffice/24.8.6.2$Windows_X86_64 LibreOffice_project/6d98ba145e9a8a39fc57bcc76981d1fb1316c60c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2025-05-04T15:20:35Z</dcterms:created>
  <dc:creator/>
  <dc:description/>
  <dc:language>en-US</dc:language>
  <cp:lastModifiedBy/>
  <dcterms:modified xsi:type="dcterms:W3CDTF">2025-05-04T15:50:14Z</dcterms:modified>
  <cp:revision>7</cp:revision>
  <dc:subject/>
  <dc:title>DNA</dc:title>
</cp:coreProperties>
</file>