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</p:sldMasterIdLst>
  <p:notesMasterIdLst>
    <p:notesMasterId r:id="rId45"/>
  </p:notesMasterIdLst>
  <p:handoutMasterIdLst>
    <p:handoutMasterId r:id="rId46"/>
  </p:handoutMasterIdLst>
  <p:sldIdLst>
    <p:sldId id="332" r:id="rId2"/>
    <p:sldId id="256" r:id="rId3"/>
    <p:sldId id="428" r:id="rId4"/>
    <p:sldId id="427" r:id="rId5"/>
    <p:sldId id="429" r:id="rId6"/>
    <p:sldId id="430" r:id="rId7"/>
    <p:sldId id="431" r:id="rId8"/>
    <p:sldId id="432" r:id="rId9"/>
    <p:sldId id="433" r:id="rId10"/>
    <p:sldId id="434" r:id="rId11"/>
    <p:sldId id="435" r:id="rId12"/>
    <p:sldId id="257" r:id="rId13"/>
    <p:sldId id="258" r:id="rId14"/>
    <p:sldId id="259" r:id="rId15"/>
    <p:sldId id="262" r:id="rId16"/>
    <p:sldId id="436" r:id="rId17"/>
    <p:sldId id="437" r:id="rId18"/>
    <p:sldId id="438" r:id="rId19"/>
    <p:sldId id="439" r:id="rId20"/>
    <p:sldId id="442" r:id="rId21"/>
    <p:sldId id="418" r:id="rId22"/>
    <p:sldId id="419" r:id="rId23"/>
    <p:sldId id="420" r:id="rId24"/>
    <p:sldId id="443" r:id="rId25"/>
    <p:sldId id="327" r:id="rId26"/>
    <p:sldId id="421" r:id="rId27"/>
    <p:sldId id="382" r:id="rId28"/>
    <p:sldId id="383" r:id="rId29"/>
    <p:sldId id="440" r:id="rId30"/>
    <p:sldId id="384" r:id="rId31"/>
    <p:sldId id="444" r:id="rId32"/>
    <p:sldId id="385" r:id="rId33"/>
    <p:sldId id="386" r:id="rId34"/>
    <p:sldId id="387" r:id="rId35"/>
    <p:sldId id="271" r:id="rId36"/>
    <p:sldId id="272" r:id="rId37"/>
    <p:sldId id="273" r:id="rId38"/>
    <p:sldId id="400" r:id="rId39"/>
    <p:sldId id="380" r:id="rId40"/>
    <p:sldId id="441" r:id="rId41"/>
    <p:sldId id="276" r:id="rId42"/>
    <p:sldId id="277" r:id="rId43"/>
    <p:sldId id="426" r:id="rId4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34" charset="0"/>
        <a:ea typeface="MS PGothic" pitchFamily="34" charset="-128"/>
        <a:cs typeface="+mn-cs"/>
      </a:defRPr>
    </a:lvl5pPr>
    <a:lvl6pPr marL="2286000" algn="r" defTabSz="914400" rtl="1" eaLnBrk="1" latinLnBrk="0" hangingPunct="1">
      <a:defRPr sz="1600" kern="1200">
        <a:solidFill>
          <a:schemeClr val="tx1"/>
        </a:solidFill>
        <a:latin typeface="Helvetica" pitchFamily="34" charset="0"/>
        <a:ea typeface="MS PGothic" pitchFamily="34" charset="-128"/>
        <a:cs typeface="+mn-cs"/>
      </a:defRPr>
    </a:lvl6pPr>
    <a:lvl7pPr marL="2743200" algn="r" defTabSz="914400" rtl="1" eaLnBrk="1" latinLnBrk="0" hangingPunct="1">
      <a:defRPr sz="1600" kern="1200">
        <a:solidFill>
          <a:schemeClr val="tx1"/>
        </a:solidFill>
        <a:latin typeface="Helvetica" pitchFamily="34" charset="0"/>
        <a:ea typeface="MS PGothic" pitchFamily="34" charset="-128"/>
        <a:cs typeface="+mn-cs"/>
      </a:defRPr>
    </a:lvl7pPr>
    <a:lvl8pPr marL="3200400" algn="r" defTabSz="914400" rtl="1" eaLnBrk="1" latinLnBrk="0" hangingPunct="1">
      <a:defRPr sz="1600" kern="1200">
        <a:solidFill>
          <a:schemeClr val="tx1"/>
        </a:solidFill>
        <a:latin typeface="Helvetica" pitchFamily="34" charset="0"/>
        <a:ea typeface="MS PGothic" pitchFamily="34" charset="-128"/>
        <a:cs typeface="+mn-cs"/>
      </a:defRPr>
    </a:lvl8pPr>
    <a:lvl9pPr marL="3657600" algn="r" defTabSz="914400" rtl="1" eaLnBrk="1" latinLnBrk="0" hangingPunct="1">
      <a:defRPr sz="1600" kern="1200">
        <a:solidFill>
          <a:schemeClr val="tx1"/>
        </a:solidFill>
        <a:latin typeface="Helvetica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574" autoAdjust="0"/>
  </p:normalViewPr>
  <p:slideViewPr>
    <p:cSldViewPr snapToGrid="0">
      <p:cViewPr varScale="1">
        <p:scale>
          <a:sx n="52" d="100"/>
          <a:sy n="52" d="100"/>
        </p:scale>
        <p:origin x="-1128" y="-86"/>
      </p:cViewPr>
      <p:guideLst>
        <p:guide orient="horz" pos="680"/>
        <p:guide pos="520"/>
      </p:guideLst>
    </p:cSldViewPr>
  </p:slideViewPr>
  <p:outlineViewPr>
    <p:cViewPr>
      <p:scale>
        <a:sx n="33" d="100"/>
        <a:sy n="33" d="100"/>
      </p:scale>
      <p:origin x="0" y="8179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7" tIns="46584" rIns="93167" bIns="46584" numCol="1" anchor="t" anchorCtr="0" compatLnSpc="1">
            <a:prstTxWarp prst="textNoShape">
              <a:avLst/>
            </a:prstTxWarp>
          </a:bodyPr>
          <a:lstStyle>
            <a:lvl1pPr defTabSz="931670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7" tIns="46584" rIns="93167" bIns="46584" numCol="1" anchor="t" anchorCtr="0" compatLnSpc="1">
            <a:prstTxWarp prst="textNoShape">
              <a:avLst/>
            </a:prstTxWarp>
          </a:bodyPr>
          <a:lstStyle>
            <a:lvl1pPr algn="r" defTabSz="931670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7" tIns="46584" rIns="93167" bIns="46584" numCol="1" anchor="b" anchorCtr="0" compatLnSpc="1">
            <a:prstTxWarp prst="textNoShape">
              <a:avLst/>
            </a:prstTxWarp>
          </a:bodyPr>
          <a:lstStyle>
            <a:lvl1pPr defTabSz="931670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7" tIns="46584" rIns="93167" bIns="46584" numCol="1" anchor="b" anchorCtr="0" compatLnSpc="1">
            <a:prstTxWarp prst="textNoShape">
              <a:avLst/>
            </a:prstTxWarp>
          </a:bodyPr>
          <a:lstStyle>
            <a:lvl1pPr algn="r" defTabSz="931670">
              <a:defRPr sz="1300">
                <a:latin typeface="Times New Roman" pitchFamily="18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4C0364D4-0E82-48D3-A1EF-EE4E9C8287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4" tIns="44067" rIns="88134" bIns="44067" numCol="1" anchor="t" anchorCtr="0" compatLnSpc="1">
            <a:prstTxWarp prst="textNoShape">
              <a:avLst/>
            </a:prstTxWarp>
          </a:bodyPr>
          <a:lstStyle>
            <a:lvl1pPr defTabSz="880794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4" tIns="44067" rIns="88134" bIns="44067" numCol="1" anchor="t" anchorCtr="0" compatLnSpc="1">
            <a:prstTxWarp prst="textNoShape">
              <a:avLst/>
            </a:prstTxWarp>
          </a:bodyPr>
          <a:lstStyle>
            <a:lvl1pPr algn="r" defTabSz="880794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9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4" tIns="44067" rIns="88134" bIns="44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9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4" tIns="44067" rIns="88134" bIns="44067" numCol="1" anchor="b" anchorCtr="0" compatLnSpc="1">
            <a:prstTxWarp prst="textNoShape">
              <a:avLst/>
            </a:prstTxWarp>
          </a:bodyPr>
          <a:lstStyle>
            <a:lvl1pPr defTabSz="880794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134" tIns="44067" rIns="88134" bIns="44067" numCol="1" anchor="b" anchorCtr="0" compatLnSpc="1">
            <a:prstTxWarp prst="textNoShape">
              <a:avLst/>
            </a:prstTxWarp>
          </a:bodyPr>
          <a:lstStyle>
            <a:lvl1pPr algn="r" defTabSz="880794">
              <a:defRPr sz="1200">
                <a:latin typeface="Times New Roman" pitchFamily="18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40EF80C1-CEDC-459A-9798-44A75F39BE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1475"/>
          </a:xfrm>
          <a:noFill/>
          <a:ln/>
        </p:spPr>
        <p:txBody>
          <a:bodyPr/>
          <a:lstStyle/>
          <a:p>
            <a:endParaRPr lang="ar-EG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 txBox="1">
            <a:spLocks noGrp="1" noChangeArrowheads="1"/>
          </p:cNvSpPr>
          <p:nvPr/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3171" tIns="46586" rIns="93171" bIns="46586" anchor="b"/>
          <a:lstStyle/>
          <a:p>
            <a:pPr algn="r" defTabSz="930275"/>
            <a:fld id="{97055BCF-4DA9-439B-B0AD-F12E67838613}" type="slidenum">
              <a:rPr lang="en-US" sz="1200"/>
              <a:pPr algn="r" defTabSz="930275"/>
              <a:t>43</a:t>
            </a:fld>
            <a:endParaRPr lang="en-US" sz="1200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ar-EG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jpeg"/><Relationship Id="rId4" Type="http://schemas.openxmlformats.org/officeDocument/2006/relationships/hyperlink" Target="http://www.db-book.com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Rectangle 2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p:oleObj spid="_x0000_s88066" name="Clip" r:id="rId3" imgW="0" imgH="0" progId="">
              <p:embed/>
            </p:oleObj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1">
                <a:solidFill>
                  <a:srgbClr val="CC3300"/>
                </a:solidFill>
                <a:ea typeface="ＭＳ Ｐゴシック" pitchFamily="34" charset="-128"/>
              </a:rPr>
              <a:t>Database System Concepts, 6</a:t>
            </a:r>
            <a:r>
              <a:rPr lang="en-US" b="1" baseline="30000">
                <a:solidFill>
                  <a:srgbClr val="CC3300"/>
                </a:solidFill>
                <a:ea typeface="ＭＳ Ｐゴシック" pitchFamily="34" charset="-128"/>
              </a:rPr>
              <a:t>th</a:t>
            </a:r>
            <a:r>
              <a:rPr lang="en-US" b="1">
                <a:solidFill>
                  <a:srgbClr val="CC3300"/>
                </a:solidFill>
                <a:ea typeface="ＭＳ Ｐゴシック" pitchFamily="34" charset="-128"/>
              </a:rPr>
              <a:t> Ed</a:t>
            </a:r>
            <a:r>
              <a:rPr lang="en-US">
                <a:solidFill>
                  <a:srgbClr val="CC3300"/>
                </a:solidFill>
                <a:ea typeface="ＭＳ Ｐゴシック" pitchFamily="34" charset="-128"/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1200" b="1">
                <a:solidFill>
                  <a:srgbClr val="CC3300"/>
                </a:solidFill>
                <a:ea typeface="ＭＳ Ｐゴシック" pitchFamily="34" charset="-128"/>
              </a:rPr>
              <a:t>©Silberschatz, Korth and Sudarshan</a:t>
            </a:r>
            <a:br>
              <a:rPr lang="en-US" sz="1200" b="1">
                <a:solidFill>
                  <a:srgbClr val="CC3300"/>
                </a:solidFill>
                <a:ea typeface="ＭＳ Ｐゴシック" pitchFamily="34" charset="-128"/>
              </a:rPr>
            </a:br>
            <a:r>
              <a:rPr lang="en-US" sz="1200" b="1">
                <a:solidFill>
                  <a:srgbClr val="CC3300"/>
                </a:solidFill>
                <a:ea typeface="ＭＳ Ｐゴシック" pitchFamily="34" charset="-128"/>
              </a:rPr>
              <a:t>See </a:t>
            </a:r>
            <a:r>
              <a:rPr lang="en-US" sz="1200" b="1">
                <a:solidFill>
                  <a:srgbClr val="CC3300"/>
                </a:solidFill>
                <a:ea typeface="ＭＳ Ｐゴシック" pitchFamily="34" charset="-128"/>
                <a:hlinkClick r:id="rId4"/>
              </a:rPr>
              <a:t>www.db-book.com</a:t>
            </a:r>
            <a:r>
              <a:rPr lang="en-US" sz="1200" b="1">
                <a:solidFill>
                  <a:srgbClr val="CC3300"/>
                </a:solidFill>
                <a:ea typeface="ＭＳ Ｐゴシック" pitchFamily="34" charset="-128"/>
              </a:rPr>
              <a:t> for conditions on re-use </a:t>
            </a:r>
          </a:p>
        </p:txBody>
      </p:sp>
      <p:pic>
        <p:nvPicPr>
          <p:cNvPr id="6" name="Picture 8" descr="Cover-6Ed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0"/>
            <a:ext cx="1392238" cy="170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6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563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96063" y="6218238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  <a:ea typeface="ＭＳ Ｐゴシック" pitchFamily="34" charset="-128"/>
              </a:defRPr>
            </a:lvl1pPr>
          </a:lstStyle>
          <a:p>
            <a:pPr>
              <a:defRPr/>
            </a:pPr>
            <a:fld id="{72A85C3A-7A42-4E50-BE16-9FEC861BBD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chemeClr val="tx2"/>
                </a:solidFill>
                <a:ea typeface="ＭＳ Ｐゴシック" pitchFamily="34" charset="-128"/>
              </a:rPr>
              <a:t>©Silberschatz, Korth and Sudarshan</a:t>
            </a:r>
          </a:p>
        </p:txBody>
      </p:sp>
      <p:sp>
        <p:nvSpPr>
          <p:cNvPr id="355333" name="Text Box 5"/>
          <p:cNvSpPr txBox="1">
            <a:spLocks noChangeArrowheads="1"/>
          </p:cNvSpPr>
          <p:nvPr/>
        </p:nvSpPr>
        <p:spPr bwMode="auto">
          <a:xfrm>
            <a:off x="4445000" y="6613525"/>
            <a:ext cx="51752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000" b="1" dirty="0">
                <a:solidFill>
                  <a:schemeClr val="tx2"/>
                </a:solidFill>
                <a:ea typeface="ＭＳ Ｐゴシック" pitchFamily="34" charset="-128"/>
              </a:rPr>
              <a:t>15.</a:t>
            </a:r>
            <a:fld id="{C5064BFE-F4CA-407C-9350-F986A066B08B}" type="slidenum">
              <a:rPr lang="en-US" sz="1000" b="1">
                <a:solidFill>
                  <a:schemeClr val="tx2"/>
                </a:solidFill>
                <a:ea typeface="ＭＳ Ｐゴシック" pitchFamily="34" charset="-128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sz="1000" b="1" dirty="0">
              <a:solidFill>
                <a:schemeClr val="tx2"/>
              </a:solidFill>
              <a:ea typeface="ＭＳ Ｐゴシック" pitchFamily="34" charset="-128"/>
            </a:endParaRPr>
          </a:p>
        </p:txBody>
      </p:sp>
      <p:sp>
        <p:nvSpPr>
          <p:cNvPr id="35533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Text Box 7"/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chemeClr val="tx2"/>
                </a:solidFill>
                <a:ea typeface="ＭＳ Ｐゴシック" pitchFamily="34" charset="-128"/>
              </a:rPr>
              <a:t>Database System Concepts - 6</a:t>
            </a:r>
            <a:r>
              <a:rPr lang="en-US" sz="1000" b="1" baseline="30000">
                <a:solidFill>
                  <a:schemeClr val="tx2"/>
                </a:solidFill>
                <a:ea typeface="ＭＳ Ｐゴシック" pitchFamily="34" charset="-128"/>
              </a:rPr>
              <a:t>th</a:t>
            </a:r>
            <a:r>
              <a:rPr lang="en-US" sz="1000" b="1">
                <a:solidFill>
                  <a:schemeClr val="tx2"/>
                </a:solidFill>
                <a:ea typeface="ＭＳ Ｐゴシック" pitchFamily="34" charset="-128"/>
              </a:rPr>
              <a:t> Edition</a:t>
            </a:r>
          </a:p>
        </p:txBody>
      </p:sp>
      <p:sp>
        <p:nvSpPr>
          <p:cNvPr id="1031" name="Freeform 8"/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59 h 61"/>
              <a:gd name="T2" fmla="*/ 2 w 285"/>
              <a:gd name="T3" fmla="*/ 48 h 61"/>
              <a:gd name="T4" fmla="*/ 9 w 285"/>
              <a:gd name="T5" fmla="*/ 34 h 61"/>
              <a:gd name="T6" fmla="*/ 17 w 285"/>
              <a:gd name="T7" fmla="*/ 25 h 61"/>
              <a:gd name="T8" fmla="*/ 30 w 285"/>
              <a:gd name="T9" fmla="*/ 17 h 61"/>
              <a:gd name="T10" fmla="*/ 45 w 285"/>
              <a:gd name="T11" fmla="*/ 10 h 61"/>
              <a:gd name="T12" fmla="*/ 57 w 285"/>
              <a:gd name="T13" fmla="*/ 6 h 61"/>
              <a:gd name="T14" fmla="*/ 70 w 285"/>
              <a:gd name="T15" fmla="*/ 2 h 61"/>
              <a:gd name="T16" fmla="*/ 85 w 285"/>
              <a:gd name="T17" fmla="*/ 0 h 61"/>
              <a:gd name="T18" fmla="*/ 100 w 285"/>
              <a:gd name="T19" fmla="*/ 0 h 61"/>
              <a:gd name="T20" fmla="*/ 118 w 285"/>
              <a:gd name="T21" fmla="*/ 0 h 61"/>
              <a:gd name="T22" fmla="*/ 137 w 285"/>
              <a:gd name="T23" fmla="*/ 0 h 61"/>
              <a:gd name="T24" fmla="*/ 154 w 285"/>
              <a:gd name="T25" fmla="*/ 2 h 61"/>
              <a:gd name="T26" fmla="*/ 173 w 285"/>
              <a:gd name="T27" fmla="*/ 6 h 61"/>
              <a:gd name="T28" fmla="*/ 192 w 285"/>
              <a:gd name="T29" fmla="*/ 8 h 61"/>
              <a:gd name="T30" fmla="*/ 209 w 285"/>
              <a:gd name="T31" fmla="*/ 12 h 61"/>
              <a:gd name="T32" fmla="*/ 224 w 285"/>
              <a:gd name="T33" fmla="*/ 15 h 61"/>
              <a:gd name="T34" fmla="*/ 239 w 285"/>
              <a:gd name="T35" fmla="*/ 19 h 61"/>
              <a:gd name="T36" fmla="*/ 254 w 285"/>
              <a:gd name="T37" fmla="*/ 23 h 61"/>
              <a:gd name="T38" fmla="*/ 266 w 285"/>
              <a:gd name="T39" fmla="*/ 25 h 61"/>
              <a:gd name="T40" fmla="*/ 273 w 285"/>
              <a:gd name="T41" fmla="*/ 27 h 61"/>
              <a:gd name="T42" fmla="*/ 283 w 285"/>
              <a:gd name="T43" fmla="*/ 31 h 61"/>
              <a:gd name="T44" fmla="*/ 279 w 285"/>
              <a:gd name="T45" fmla="*/ 44 h 61"/>
              <a:gd name="T46" fmla="*/ 273 w 285"/>
              <a:gd name="T47" fmla="*/ 42 h 61"/>
              <a:gd name="T48" fmla="*/ 260 w 285"/>
              <a:gd name="T49" fmla="*/ 40 h 61"/>
              <a:gd name="T50" fmla="*/ 241 w 285"/>
              <a:gd name="T51" fmla="*/ 36 h 61"/>
              <a:gd name="T52" fmla="*/ 230 w 285"/>
              <a:gd name="T53" fmla="*/ 34 h 61"/>
              <a:gd name="T54" fmla="*/ 218 w 285"/>
              <a:gd name="T55" fmla="*/ 32 h 61"/>
              <a:gd name="T56" fmla="*/ 207 w 285"/>
              <a:gd name="T57" fmla="*/ 31 h 61"/>
              <a:gd name="T58" fmla="*/ 196 w 285"/>
              <a:gd name="T59" fmla="*/ 29 h 61"/>
              <a:gd name="T60" fmla="*/ 182 w 285"/>
              <a:gd name="T61" fmla="*/ 27 h 61"/>
              <a:gd name="T62" fmla="*/ 173 w 285"/>
              <a:gd name="T63" fmla="*/ 25 h 61"/>
              <a:gd name="T64" fmla="*/ 163 w 285"/>
              <a:gd name="T65" fmla="*/ 23 h 61"/>
              <a:gd name="T66" fmla="*/ 154 w 285"/>
              <a:gd name="T67" fmla="*/ 21 h 61"/>
              <a:gd name="T68" fmla="*/ 142 w 285"/>
              <a:gd name="T69" fmla="*/ 19 h 61"/>
              <a:gd name="T70" fmla="*/ 110 w 285"/>
              <a:gd name="T71" fmla="*/ 15 h 61"/>
              <a:gd name="T72" fmla="*/ 83 w 285"/>
              <a:gd name="T73" fmla="*/ 21 h 61"/>
              <a:gd name="T74" fmla="*/ 59 w 285"/>
              <a:gd name="T75" fmla="*/ 29 h 61"/>
              <a:gd name="T76" fmla="*/ 53 w 285"/>
              <a:gd name="T77" fmla="*/ 31 h 61"/>
              <a:gd name="T78" fmla="*/ 43 w 285"/>
              <a:gd name="T79" fmla="*/ 34 h 61"/>
              <a:gd name="T80" fmla="*/ 32 w 285"/>
              <a:gd name="T81" fmla="*/ 38 h 61"/>
              <a:gd name="T82" fmla="*/ 23 w 285"/>
              <a:gd name="T83" fmla="*/ 44 h 61"/>
              <a:gd name="T84" fmla="*/ 7 w 285"/>
              <a:gd name="T85" fmla="*/ 55 h 61"/>
              <a:gd name="T86" fmla="*/ 2 w 285"/>
              <a:gd name="T87" fmla="*/ 61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ea typeface="ＭＳ Ｐゴシック" pitchFamily="34" charset="-128"/>
            </a:endParaRPr>
          </a:p>
        </p:txBody>
      </p:sp>
      <p:pic>
        <p:nvPicPr>
          <p:cNvPr id="3080" name="Picture 9" descr="Cover-6Ed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-3175" y="0"/>
            <a:ext cx="668338" cy="81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37" r:id="rId1"/>
    <p:sldLayoutId id="2147484126" r:id="rId2"/>
    <p:sldLayoutId id="2147484127" r:id="rId3"/>
    <p:sldLayoutId id="2147484128" r:id="rId4"/>
    <p:sldLayoutId id="2147484129" r:id="rId5"/>
    <p:sldLayoutId id="2147484130" r:id="rId6"/>
    <p:sldLayoutId id="2147484131" r:id="rId7"/>
    <p:sldLayoutId id="2147484132" r:id="rId8"/>
    <p:sldLayoutId id="2147484133" r:id="rId9"/>
    <p:sldLayoutId id="2147484134" r:id="rId10"/>
    <p:sldLayoutId id="2147484135" r:id="rId11"/>
    <p:sldLayoutId id="214748413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itchFamily="18" charset="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google.com/url?sa=i&amp;rct=j&amp;q=&amp;esrc=s&amp;source=imgres&amp;cd=&amp;cad=rja&amp;uact=8&amp;ved=0ahUKEwiIwLHBspjUAhWFlxoKHeSSAzIQjRwIBw&amp;url=https://stackoverflow.com/questions/29722886/2pl-rigorous-vs-strict-model-is-there-any-benefit&amp;psig=AFQjCNFULUyUYo3I4OT_xgWUMpgeKsOd-w&amp;ust=1496260403775777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Chapter 15 : Concurrency Control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47763" y="1169988"/>
            <a:ext cx="6411912" cy="3427412"/>
          </a:xfrm>
        </p:spPr>
        <p:txBody>
          <a:bodyPr/>
          <a:lstStyle/>
          <a:p>
            <a:r>
              <a:rPr lang="en-US" smtClean="0"/>
              <a:t>Lock-Based Protocols</a:t>
            </a:r>
          </a:p>
          <a:p>
            <a:r>
              <a:rPr lang="en-US" smtClean="0"/>
              <a:t>Timestamp-Based Protocols</a:t>
            </a:r>
          </a:p>
          <a:p>
            <a:r>
              <a:rPr lang="en-US" smtClean="0"/>
              <a:t>Validation-Based Protocols</a:t>
            </a:r>
          </a:p>
          <a:p>
            <a:r>
              <a:rPr lang="en-US" smtClean="0"/>
              <a:t>Multiple Granularity</a:t>
            </a:r>
          </a:p>
          <a:p>
            <a:r>
              <a:rPr lang="en-US" smtClean="0"/>
              <a:t>Multiversion Schemes</a:t>
            </a:r>
          </a:p>
          <a:p>
            <a:r>
              <a:rPr lang="en-US" smtClean="0"/>
              <a:t>Insert and Delete Operations</a:t>
            </a:r>
          </a:p>
          <a:p>
            <a:r>
              <a:rPr lang="en-US" smtClean="0"/>
              <a:t>Concurrency in Index Structures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647700" y="1117600"/>
            <a:ext cx="457200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ar-EG"/>
          </a:p>
          <a:p>
            <a:r>
              <a:rPr lang="en-US"/>
              <a:t> </a:t>
            </a:r>
            <a:r>
              <a:rPr lang="en-US" b="1" u="sng"/>
              <a:t>What is concurrency? </a:t>
            </a:r>
            <a:endParaRPr lang="ar-EG"/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500063" y="1801813"/>
            <a:ext cx="8126412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ar-EG"/>
          </a:p>
          <a:p>
            <a:r>
              <a:rPr lang="en-US"/>
              <a:t> </a:t>
            </a:r>
            <a:r>
              <a:rPr lang="en-US" b="1"/>
              <a:t>Concurrency in terms of databases means allowing multiple users to access the data contained within a database at the same time. </a:t>
            </a:r>
            <a:endParaRPr lang="ar-EG"/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534988" y="2454275"/>
            <a:ext cx="8194675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ar-EG" sz="1800" b="1">
              <a:solidFill>
                <a:srgbClr val="000000"/>
              </a:solidFill>
              <a:latin typeface="FHCJLL+TimesNewRoman"/>
            </a:endParaRPr>
          </a:p>
          <a:p>
            <a:pPr algn="just"/>
            <a:r>
              <a:rPr lang="en-US" sz="1800" b="1">
                <a:solidFill>
                  <a:srgbClr val="000000"/>
                </a:solidFill>
                <a:latin typeface="FHCJLL+TimesNewRoman"/>
              </a:rPr>
              <a:t> </a:t>
            </a:r>
            <a:r>
              <a:rPr lang="en-US" b="1">
                <a:solidFill>
                  <a:srgbClr val="000000"/>
                </a:solidFill>
                <a:latin typeface="FHCJLL+TimesNewRoman"/>
              </a:rPr>
              <a:t>If concurrent access is not managed by the Database Management System (DBMS)  another problems can occur when various transactions interleave, </a:t>
            </a:r>
            <a:endParaRPr lang="ar-EG" b="1"/>
          </a:p>
        </p:txBody>
      </p:sp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612775" y="3619500"/>
            <a:ext cx="45720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ar-EG" sz="1800" b="1">
              <a:solidFill>
                <a:srgbClr val="000000"/>
              </a:solidFill>
              <a:latin typeface="FHCJLL+TimesNewRoman"/>
            </a:endParaRPr>
          </a:p>
          <a:p>
            <a:pPr algn="just"/>
            <a:r>
              <a:rPr lang="en-US" sz="1800" b="1">
                <a:solidFill>
                  <a:srgbClr val="000000"/>
                </a:solidFill>
                <a:latin typeface="FHCJLL+TimesNewRoman"/>
              </a:rPr>
              <a:t> </a:t>
            </a:r>
            <a:r>
              <a:rPr lang="en-US" b="1">
                <a:solidFill>
                  <a:srgbClr val="000000"/>
                </a:solidFill>
                <a:latin typeface="FHCJLL+TimesNewRoman"/>
              </a:rPr>
              <a:t>resulting in an i</a:t>
            </a:r>
            <a:r>
              <a:rPr lang="en-US" b="1">
                <a:solidFill>
                  <a:srgbClr val="C00000"/>
                </a:solidFill>
                <a:latin typeface="FHCJLL+TimesNewRoman"/>
              </a:rPr>
              <a:t>nconsistent database</a:t>
            </a:r>
            <a:r>
              <a:rPr lang="en-US" b="1">
                <a:solidFill>
                  <a:srgbClr val="000000"/>
                </a:solidFill>
                <a:latin typeface="FHCJLL+TimesNewRoman"/>
              </a:rPr>
              <a:t>. </a:t>
            </a:r>
            <a:endParaRPr lang="ar-EG" b="1"/>
          </a:p>
        </p:txBody>
      </p:sp>
      <p:sp>
        <p:nvSpPr>
          <p:cNvPr id="6151" name="Rectangle 6"/>
          <p:cNvSpPr>
            <a:spLocks noChangeArrowheads="1"/>
          </p:cNvSpPr>
          <p:nvPr/>
        </p:nvSpPr>
        <p:spPr bwMode="auto">
          <a:xfrm>
            <a:off x="569913" y="4300538"/>
            <a:ext cx="8142287" cy="113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ar-EG" sz="1800" b="1">
              <a:solidFill>
                <a:srgbClr val="000000"/>
              </a:solidFill>
              <a:latin typeface="FHCJLL+TimesNewRoman"/>
            </a:endParaRPr>
          </a:p>
          <a:p>
            <a:r>
              <a:rPr lang="en-US" sz="1800" b="1">
                <a:solidFill>
                  <a:srgbClr val="000000"/>
                </a:solidFill>
                <a:latin typeface="FHCJLL+TimesNewRoman"/>
              </a:rPr>
              <a:t> </a:t>
            </a:r>
            <a:r>
              <a:rPr lang="en-US" b="1">
                <a:solidFill>
                  <a:srgbClr val="000000"/>
                </a:solidFill>
                <a:latin typeface="FHCJLL+TimesNewRoman"/>
              </a:rPr>
              <a:t>Concurrency is achieved by the DBMS, which interleaves actions (reads/writes of DB objects) of various transactions. Each transaction must leave the database in a consistent state if the DB is consistent when the transaction begins. </a:t>
            </a:r>
            <a:endParaRPr lang="ar-EG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727075" y="1430338"/>
            <a:ext cx="352583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002060"/>
                </a:solidFill>
                <a:latin typeface="FHCJLL+TimesNewRoman"/>
              </a:rPr>
              <a:t>reasons for allowing concurrency </a:t>
            </a:r>
            <a:endParaRPr lang="ar-EG" b="1">
              <a:solidFill>
                <a:srgbClr val="002060"/>
              </a:solidFill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741363" y="2174875"/>
            <a:ext cx="7988300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b="1">
                <a:solidFill>
                  <a:srgbClr val="000000"/>
                </a:solidFill>
                <a:latin typeface="FHCJKK+TimesNewRoman,Bold"/>
              </a:rPr>
              <a:t>1. </a:t>
            </a:r>
            <a:r>
              <a:rPr lang="en-US" b="1">
                <a:solidFill>
                  <a:srgbClr val="FF0000"/>
                </a:solidFill>
                <a:latin typeface="FHCJKK+TimesNewRoman,Bold"/>
              </a:rPr>
              <a:t>Improved throughput and resource utilization. </a:t>
            </a:r>
          </a:p>
          <a:p>
            <a:pPr algn="just"/>
            <a:r>
              <a:rPr lang="en-US">
                <a:solidFill>
                  <a:srgbClr val="000000"/>
                </a:solidFill>
                <a:latin typeface="FHCJLL+TimesNewRoman"/>
              </a:rPr>
              <a:t>(THROUGHPUT = Number of Transactions executed per unit of time.) </a:t>
            </a:r>
          </a:p>
          <a:p>
            <a:pPr algn="just"/>
            <a:r>
              <a:rPr lang="en-US">
                <a:solidFill>
                  <a:srgbClr val="000000"/>
                </a:solidFill>
                <a:latin typeface="FHCJLL+TimesNewRoman"/>
              </a:rPr>
              <a:t>The CPU and the Disk can operate in parallel. When a Transaction </a:t>
            </a:r>
          </a:p>
          <a:p>
            <a:pPr algn="just"/>
            <a:r>
              <a:rPr lang="en-US">
                <a:solidFill>
                  <a:srgbClr val="000000"/>
                </a:solidFill>
                <a:latin typeface="FHCJLL+TimesNewRoman"/>
              </a:rPr>
              <a:t>Read/Write the Disk another Transaction can be running in the CPU. </a:t>
            </a:r>
          </a:p>
          <a:p>
            <a:pPr algn="just"/>
            <a:r>
              <a:rPr lang="en-US">
                <a:solidFill>
                  <a:srgbClr val="000000"/>
                </a:solidFill>
                <a:latin typeface="FHCJLL+TimesNewRoman"/>
              </a:rPr>
              <a:t>The CPU and Disk utilization also increases. </a:t>
            </a:r>
          </a:p>
          <a:p>
            <a:pPr algn="just"/>
            <a:endParaRPr lang="en-US">
              <a:solidFill>
                <a:srgbClr val="000000"/>
              </a:solidFill>
              <a:latin typeface="FHCJLL+TimesNewRoman"/>
            </a:endParaRPr>
          </a:p>
          <a:p>
            <a:pPr algn="just"/>
            <a:endParaRPr lang="en-US">
              <a:solidFill>
                <a:srgbClr val="000000"/>
              </a:solidFill>
              <a:latin typeface="FHCJLL+TimesNewRoman"/>
            </a:endParaRPr>
          </a:p>
          <a:p>
            <a:pPr algn="just"/>
            <a:r>
              <a:rPr lang="en-US" b="1">
                <a:solidFill>
                  <a:srgbClr val="000000"/>
                </a:solidFill>
                <a:latin typeface="FHCJKK+TimesNewRoman,Bold"/>
              </a:rPr>
              <a:t>2</a:t>
            </a:r>
            <a:r>
              <a:rPr lang="en-US" b="1">
                <a:solidFill>
                  <a:srgbClr val="FF0000"/>
                </a:solidFill>
                <a:latin typeface="FHCJKK+TimesNewRoman,Bold"/>
              </a:rPr>
              <a:t>. Reduced waiting time</a:t>
            </a:r>
            <a:r>
              <a:rPr lang="en-US" b="1">
                <a:solidFill>
                  <a:srgbClr val="000000"/>
                </a:solidFill>
                <a:latin typeface="FHCJKK+TimesNewRoman,Bold"/>
              </a:rPr>
              <a:t>. </a:t>
            </a:r>
          </a:p>
          <a:p>
            <a:pPr algn="just"/>
            <a:r>
              <a:rPr lang="en-US">
                <a:solidFill>
                  <a:srgbClr val="000000"/>
                </a:solidFill>
                <a:latin typeface="FHCJLL+TimesNewRoman"/>
              </a:rPr>
              <a:t>In a serial processing a short Transaction may have to wait for a long transaction to complete. Concurrent execution reduces the average response time; the average time for a Transaction to be completed. </a:t>
            </a:r>
            <a:endParaRPr lang="ar-EG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603250" y="1162050"/>
            <a:ext cx="7920038" cy="89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b="1" u="sng">
                <a:solidFill>
                  <a:srgbClr val="002060"/>
                </a:solidFill>
              </a:rPr>
              <a:t>What is concurrency control</a:t>
            </a:r>
            <a:r>
              <a:rPr lang="en-US" b="1" u="sng"/>
              <a:t>? </a:t>
            </a:r>
          </a:p>
          <a:p>
            <a:r>
              <a:rPr lang="en-US"/>
              <a:t>Concurrency control is needed to handle problems that can occur when transactions execute concurrently. The following are the concurrency issues:- </a:t>
            </a:r>
            <a:endParaRPr lang="ar-EG"/>
          </a:p>
        </p:txBody>
      </p:sp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723900" y="2097088"/>
            <a:ext cx="762635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  <a:latin typeface="FHCJKK+TimesNewRoman,Bold"/>
              </a:rPr>
              <a:t>Lost Update</a:t>
            </a:r>
            <a:r>
              <a:rPr lang="en-US" b="1" dirty="0">
                <a:solidFill>
                  <a:srgbClr val="000000"/>
                </a:solidFill>
                <a:latin typeface="FHCJLL+TimesNewRoman"/>
              </a:rPr>
              <a:t>: an update to an object by some transaction is overwritten by another interleaved transaction without knowledge of the initial update.</a:t>
            </a:r>
            <a:endParaRPr lang="ar-EG" dirty="0"/>
          </a:p>
          <a:p>
            <a:pPr algn="just"/>
            <a:r>
              <a:rPr lang="en-US" dirty="0"/>
              <a:t> </a:t>
            </a:r>
            <a:r>
              <a:rPr lang="en-US" b="1" u="sng" dirty="0">
                <a:solidFill>
                  <a:srgbClr val="FF0000"/>
                </a:solidFill>
              </a:rPr>
              <a:t>Incorrect Analysis Problem /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/>
              <a:t>The problem of dirty read occurs when a transaction reads several values from the data base while another transactions are updating the values</a:t>
            </a:r>
            <a:r>
              <a:rPr lang="en-US" b="1" dirty="0" smtClean="0"/>
              <a:t>.</a:t>
            </a:r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>
                <a:solidFill>
                  <a:srgbClr val="FF0000"/>
                </a:solidFill>
                <a:latin typeface="FHCJKK+TimesNewRoman,Bold"/>
              </a:rPr>
              <a:t>Unrepeatable </a:t>
            </a:r>
            <a:r>
              <a:rPr lang="en-US" b="1" dirty="0" smtClean="0">
                <a:solidFill>
                  <a:srgbClr val="FF0000"/>
                </a:solidFill>
                <a:latin typeface="FHCJKK+TimesNewRoman,Bold"/>
              </a:rPr>
              <a:t>read </a:t>
            </a:r>
          </a:p>
          <a:p>
            <a:pPr algn="just"/>
            <a:endParaRPr lang="ar-EG" dirty="0"/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776288" y="3995738"/>
            <a:ext cx="7419975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b="1">
                <a:solidFill>
                  <a:srgbClr val="FF0000"/>
                </a:solidFill>
              </a:rPr>
              <a:t>Uncommitted Dependency</a:t>
            </a:r>
            <a:r>
              <a:rPr lang="en-US" b="1"/>
              <a:t>:</a:t>
            </a:r>
            <a:r>
              <a:rPr lang="en-US" b="1">
                <a:solidFill>
                  <a:srgbClr val="FF0000"/>
                </a:solidFill>
              </a:rPr>
              <a:t> The Temporary Update</a:t>
            </a:r>
            <a:endParaRPr lang="en-US" b="1" u="sng">
              <a:solidFill>
                <a:srgbClr val="FF0000"/>
              </a:solidFill>
            </a:endParaRPr>
          </a:p>
          <a:p>
            <a:pPr algn="just"/>
            <a:r>
              <a:rPr lang="en-US"/>
              <a:t>updates a database item and then the transaction fails for some reason </a:t>
            </a:r>
            <a:r>
              <a:rPr lang="en-US">
                <a:solidFill>
                  <a:srgbClr val="C00000"/>
                </a:solidFill>
              </a:rPr>
              <a:t>as </a:t>
            </a:r>
            <a:r>
              <a:rPr lang="en-US" b="1">
                <a:solidFill>
                  <a:srgbClr val="C00000"/>
                </a:solidFill>
              </a:rPr>
              <a:t>dirty read </a:t>
            </a:r>
            <a:r>
              <a:rPr lang="en-US" b="1"/>
              <a:t>or </a:t>
            </a:r>
            <a:r>
              <a:rPr lang="en-US" b="1">
                <a:solidFill>
                  <a:srgbClr val="C00000"/>
                </a:solidFill>
              </a:rPr>
              <a:t>unrepeatable data</a:t>
            </a:r>
            <a:r>
              <a:rPr lang="en-US" b="1"/>
              <a:t>. a transaction reads an object updated by another transaction that later falls. </a:t>
            </a:r>
            <a:endParaRPr lang="ar-EG"/>
          </a:p>
        </p:txBody>
      </p:sp>
      <p:sp>
        <p:nvSpPr>
          <p:cNvPr id="8198" name="Rectangle 5"/>
          <p:cNvSpPr>
            <a:spLocks noChangeArrowheads="1"/>
          </p:cNvSpPr>
          <p:nvPr/>
        </p:nvSpPr>
        <p:spPr bwMode="auto">
          <a:xfrm>
            <a:off x="811213" y="5634038"/>
            <a:ext cx="765968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FHCJKK+TimesNewRoman,Bold"/>
              </a:rPr>
              <a:t>Inconsistent Analysis</a:t>
            </a:r>
            <a:r>
              <a:rPr lang="en-US" b="1">
                <a:solidFill>
                  <a:srgbClr val="000000"/>
                </a:solidFill>
                <a:latin typeface="FHCJLL+TimesNewRoman"/>
              </a:rPr>
              <a:t>:</a:t>
            </a:r>
            <a:r>
              <a:rPr lang="en-US" b="1"/>
              <a:t> </a:t>
            </a:r>
            <a:r>
              <a:rPr lang="en-US" b="1">
                <a:solidFill>
                  <a:srgbClr val="002060"/>
                </a:solidFill>
              </a:rPr>
              <a:t>The Incorrect Summary Problem</a:t>
            </a:r>
            <a:r>
              <a:rPr lang="en-US" b="1"/>
              <a:t>.</a:t>
            </a:r>
            <a:r>
              <a:rPr lang="en-US" b="1">
                <a:solidFill>
                  <a:srgbClr val="000000"/>
                </a:solidFill>
                <a:latin typeface="FHCJLL+TimesNewRoman"/>
              </a:rPr>
              <a:t> a transaction calculating an aggregate function uses some but not all updated objects of another transaction</a:t>
            </a:r>
            <a:endParaRPr lang="ar-EG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Lost Update: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921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5413" y="1138238"/>
            <a:ext cx="6353175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5413" y="1138238"/>
            <a:ext cx="6353175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Uncommitted Dependency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024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88" y="919163"/>
            <a:ext cx="6143625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75" y="117475"/>
            <a:ext cx="8937625" cy="609600"/>
          </a:xfrm>
        </p:spPr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 techniques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7" name="Rectangle 2"/>
          <p:cNvSpPr>
            <a:spLocks noChangeArrowheads="1"/>
          </p:cNvSpPr>
          <p:nvPr/>
        </p:nvSpPr>
        <p:spPr bwMode="auto">
          <a:xfrm>
            <a:off x="811213" y="979488"/>
            <a:ext cx="807402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Using </a:t>
            </a:r>
            <a:r>
              <a:rPr lang="en-US" b="1"/>
              <a:t>concurrency control protocols (sets of rules) that guarantee serializability.</a:t>
            </a:r>
            <a:endParaRPr lang="ar-EG"/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868363" y="1827213"/>
            <a:ext cx="300831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002060"/>
                </a:solidFill>
              </a:rPr>
              <a:t>Two-phase locking protocols</a:t>
            </a:r>
            <a:endParaRPr lang="ar-EG" b="1">
              <a:solidFill>
                <a:srgbClr val="002060"/>
              </a:solidFill>
            </a:endParaRPr>
          </a:p>
        </p:txBody>
      </p:sp>
      <p:sp>
        <p:nvSpPr>
          <p:cNvPr id="11269" name="Rectangle 4"/>
          <p:cNvSpPr>
            <a:spLocks noChangeArrowheads="1"/>
          </p:cNvSpPr>
          <p:nvPr/>
        </p:nvSpPr>
        <p:spPr bwMode="auto">
          <a:xfrm>
            <a:off x="1431925" y="2187575"/>
            <a:ext cx="6711950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Employ the technique of </a:t>
            </a:r>
            <a:r>
              <a:rPr lang="en-US" b="1"/>
              <a:t>locking data items to prevent multiple transactions from </a:t>
            </a:r>
            <a:r>
              <a:rPr lang="en-US"/>
              <a:t>accessing the items concurrently</a:t>
            </a:r>
            <a:endParaRPr lang="ar-EG"/>
          </a:p>
        </p:txBody>
      </p:sp>
      <p:sp>
        <p:nvSpPr>
          <p:cNvPr id="11270" name="Rectangle 5"/>
          <p:cNvSpPr>
            <a:spLocks noChangeArrowheads="1"/>
          </p:cNvSpPr>
          <p:nvPr/>
        </p:nvSpPr>
        <p:spPr bwMode="auto">
          <a:xfrm>
            <a:off x="868363" y="2795588"/>
            <a:ext cx="1325562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002060"/>
                </a:solidFill>
              </a:rPr>
              <a:t>Tmestamps</a:t>
            </a:r>
            <a:endParaRPr lang="ar-EG" i="1">
              <a:solidFill>
                <a:srgbClr val="002060"/>
              </a:solidFill>
            </a:endParaRPr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1431925" y="3155950"/>
            <a:ext cx="6383338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 timestamp is a unique identifier for each transaction, generated by the system. Timestamps values are generated  in the same order as the transaction start times</a:t>
            </a:r>
            <a:endParaRPr lang="ar-EG"/>
          </a:p>
        </p:txBody>
      </p:sp>
      <p:sp>
        <p:nvSpPr>
          <p:cNvPr id="11272" name="Rectangle 7"/>
          <p:cNvSpPr>
            <a:spLocks noChangeArrowheads="1"/>
          </p:cNvSpPr>
          <p:nvPr/>
        </p:nvSpPr>
        <p:spPr bwMode="auto">
          <a:xfrm>
            <a:off x="868363" y="4008438"/>
            <a:ext cx="140652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i="1">
                <a:solidFill>
                  <a:srgbClr val="002060"/>
                </a:solidFill>
              </a:rPr>
              <a:t>Multiversion</a:t>
            </a:r>
            <a:endParaRPr lang="ar-EG" b="1" i="1">
              <a:solidFill>
                <a:srgbClr val="002060"/>
              </a:solidFill>
            </a:endParaRPr>
          </a:p>
        </p:txBody>
      </p:sp>
      <p:sp>
        <p:nvSpPr>
          <p:cNvPr id="11273" name="Rectangle 8"/>
          <p:cNvSpPr>
            <a:spLocks noChangeArrowheads="1"/>
          </p:cNvSpPr>
          <p:nvPr/>
        </p:nvSpPr>
        <p:spPr bwMode="auto">
          <a:xfrm>
            <a:off x="1431925" y="4368800"/>
            <a:ext cx="6530975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/>
              <a:t>Concurrency control protocols that use multiple versions of a data item. One multiversion protocol extends timestamp order to multiversion timestamp ordering  and another extends two-phase locking</a:t>
            </a:r>
            <a:endParaRPr lang="ar-EG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 techniques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1" name="Rectangle 2"/>
          <p:cNvSpPr>
            <a:spLocks noChangeArrowheads="1"/>
          </p:cNvSpPr>
          <p:nvPr/>
        </p:nvSpPr>
        <p:spPr bwMode="auto">
          <a:xfrm>
            <a:off x="482600" y="2752725"/>
            <a:ext cx="8005763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/>
              <a:t>Binary Locks. A binary lock can have two states or values: locked and unlocked (or</a:t>
            </a:r>
            <a:r>
              <a:rPr lang="en-US"/>
              <a:t>1 and 0, for simplicity). A distinct lock is associated with each database item </a:t>
            </a:r>
            <a:r>
              <a:rPr lang="en-US" i="1"/>
              <a:t>X. If the</a:t>
            </a:r>
          </a:p>
          <a:p>
            <a:r>
              <a:rPr lang="en-US"/>
              <a:t>value of the lock on </a:t>
            </a:r>
            <a:r>
              <a:rPr lang="en-US" i="1"/>
              <a:t>X is 1, item X cannot be accessed by a database operation that</a:t>
            </a:r>
          </a:p>
          <a:p>
            <a:r>
              <a:rPr lang="en-US"/>
              <a:t>requests the item. If the value of the lock on </a:t>
            </a:r>
            <a:r>
              <a:rPr lang="en-US" i="1"/>
              <a:t>X is 0, the item can be accessed when</a:t>
            </a:r>
          </a:p>
          <a:p>
            <a:r>
              <a:rPr lang="en-US"/>
              <a:t>requested, and the lock value is changed to 1.We refer to the current value (or state)</a:t>
            </a:r>
          </a:p>
          <a:p>
            <a:r>
              <a:rPr lang="en-US"/>
              <a:t>of the lock associated with item </a:t>
            </a:r>
            <a:r>
              <a:rPr lang="en-US" i="1"/>
              <a:t>X as </a:t>
            </a:r>
            <a:r>
              <a:rPr lang="en-US" b="1" i="1"/>
              <a:t>lock(X).</a:t>
            </a:r>
            <a:endParaRPr lang="ar-EG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603250" y="4745038"/>
            <a:ext cx="8143875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Two operations, lock_item and unlock_item, are used with binary locking.A transaction</a:t>
            </a:r>
          </a:p>
          <a:p>
            <a:r>
              <a:rPr lang="en-US"/>
              <a:t>requests access to an item </a:t>
            </a:r>
            <a:r>
              <a:rPr lang="en-US" i="1"/>
              <a:t>X by first issuing a </a:t>
            </a:r>
            <a:r>
              <a:rPr lang="en-US" b="1" i="1"/>
              <a:t>lock_item(X) operation. If LOCK(X) =</a:t>
            </a:r>
          </a:p>
          <a:p>
            <a:r>
              <a:rPr lang="en-US"/>
              <a:t>1, the transaction is forced to wait. If LOCK(</a:t>
            </a:r>
            <a:r>
              <a:rPr lang="en-US" i="1"/>
              <a:t>X) = 0, it is set to 1 (the transaction </a:t>
            </a:r>
            <a:r>
              <a:rPr lang="en-US" b="1" i="1"/>
              <a:t>locks</a:t>
            </a:r>
          </a:p>
          <a:p>
            <a:r>
              <a:rPr lang="en-US"/>
              <a:t>the item) and the transaction is allowed to access item </a:t>
            </a:r>
            <a:r>
              <a:rPr lang="en-US" i="1"/>
              <a:t>X. When the transaction is</a:t>
            </a:r>
          </a:p>
          <a:p>
            <a:r>
              <a:rPr lang="en-US"/>
              <a:t>through using the item, it issues an </a:t>
            </a:r>
            <a:r>
              <a:rPr lang="en-US" b="1"/>
              <a:t>unlock_item(</a:t>
            </a:r>
            <a:r>
              <a:rPr lang="en-US" b="1" i="1"/>
              <a:t>X) operation, which sets LOCK(X)</a:t>
            </a:r>
          </a:p>
          <a:p>
            <a:r>
              <a:rPr lang="en-US"/>
              <a:t>back to 0 (</a:t>
            </a:r>
            <a:r>
              <a:rPr lang="en-US" b="1"/>
              <a:t>unlocks the item) so that </a:t>
            </a:r>
            <a:r>
              <a:rPr lang="en-US" b="1" i="1"/>
              <a:t>X may be accessed by other transactions</a:t>
            </a:r>
            <a:endParaRPr lang="ar-EG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560388" y="1630363"/>
            <a:ext cx="827246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/>
              <a:t>A </a:t>
            </a:r>
            <a:r>
              <a:rPr lang="en-US" b="1"/>
              <a:t>lock is a variable associated with a </a:t>
            </a:r>
            <a:r>
              <a:rPr lang="en-US"/>
              <a:t>data item that describes the status of the item</a:t>
            </a:r>
          </a:p>
          <a:p>
            <a:pPr algn="just"/>
            <a:r>
              <a:rPr lang="en-US"/>
              <a:t>A lock is a mechanism to control concurrent access to a data item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550863" y="1000125"/>
            <a:ext cx="20669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>
                <a:solidFill>
                  <a:srgbClr val="002060"/>
                </a:solidFill>
              </a:rPr>
              <a:t>Lock technique</a:t>
            </a:r>
            <a:endParaRPr lang="ar-EG" sz="2000" b="1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Binary lock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133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8825" y="1217613"/>
            <a:ext cx="7350125" cy="459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Binary lock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293688" y="1533525"/>
            <a:ext cx="8609012" cy="255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Minion-Regular"/>
              </a:rPr>
              <a:t>If the simple binary locking scheme described here is used, every transaction must</a:t>
            </a:r>
          </a:p>
          <a:p>
            <a:r>
              <a:rPr lang="en-US">
                <a:solidFill>
                  <a:srgbClr val="000000"/>
                </a:solidFill>
                <a:latin typeface="Minion-Regular"/>
              </a:rPr>
              <a:t>obey the following rules:</a:t>
            </a:r>
          </a:p>
          <a:p>
            <a:r>
              <a:rPr lang="en-US" sz="1400" b="1">
                <a:solidFill>
                  <a:srgbClr val="808080"/>
                </a:solidFill>
                <a:latin typeface="AkzidenzGroteskBE-Bold"/>
              </a:rPr>
              <a:t>1. </a:t>
            </a:r>
            <a:r>
              <a:rPr lang="en-US" b="1">
                <a:solidFill>
                  <a:srgbClr val="000000"/>
                </a:solidFill>
                <a:latin typeface="Minion-Regular"/>
              </a:rPr>
              <a:t>A transaction 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 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must issue the operation </a:t>
            </a:r>
            <a:r>
              <a:rPr lang="en-US" sz="1400" b="1" i="1">
                <a:solidFill>
                  <a:srgbClr val="000000"/>
                </a:solidFill>
                <a:latin typeface="AkzidenzGroteskBE-Regular"/>
              </a:rPr>
              <a:t>lock_item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X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) before any</a:t>
            </a:r>
          </a:p>
          <a:p>
            <a:r>
              <a:rPr lang="en-US" sz="1400">
                <a:solidFill>
                  <a:srgbClr val="000000"/>
                </a:solidFill>
                <a:latin typeface="AkzidenzGroteskBE-Regular"/>
              </a:rPr>
              <a:t>read_item</a:t>
            </a:r>
            <a:r>
              <a:rPr lang="en-US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X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) or </a:t>
            </a:r>
            <a:r>
              <a:rPr lang="en-US" sz="1400" i="1">
                <a:solidFill>
                  <a:srgbClr val="000000"/>
                </a:solidFill>
                <a:latin typeface="AkzidenzGroteskBE-Regular"/>
              </a:rPr>
              <a:t>write_item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X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) operations are performed in 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T.</a:t>
            </a:r>
          </a:p>
          <a:p>
            <a:r>
              <a:rPr lang="en-US" sz="1400" b="1">
                <a:solidFill>
                  <a:srgbClr val="808080"/>
                </a:solidFill>
                <a:latin typeface="AkzidenzGroteskBE-Bold"/>
              </a:rPr>
              <a:t>2. </a:t>
            </a:r>
            <a:r>
              <a:rPr lang="en-US" b="1">
                <a:solidFill>
                  <a:srgbClr val="000000"/>
                </a:solidFill>
                <a:latin typeface="Minion-Regular"/>
              </a:rPr>
              <a:t>A transaction 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must issue the operation </a:t>
            </a:r>
            <a:r>
              <a:rPr lang="en-US" sz="1400" b="1" i="1">
                <a:solidFill>
                  <a:srgbClr val="000000"/>
                </a:solidFill>
                <a:latin typeface="AkzidenzGroteskBE-Regular"/>
              </a:rPr>
              <a:t>unlock_item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X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) after all </a:t>
            </a:r>
            <a:r>
              <a:rPr lang="en-US" sz="1400" b="1" i="1">
                <a:solidFill>
                  <a:srgbClr val="000000"/>
                </a:solidFill>
                <a:latin typeface="AkzidenzGroteskBE-Regular"/>
              </a:rPr>
              <a:t>read_item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X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)</a:t>
            </a:r>
          </a:p>
          <a:p>
            <a:r>
              <a:rPr lang="en-US">
                <a:solidFill>
                  <a:srgbClr val="000000"/>
                </a:solidFill>
                <a:latin typeface="Minion-Regular"/>
              </a:rPr>
              <a:t>and </a:t>
            </a:r>
            <a:r>
              <a:rPr lang="en-US" sz="1400">
                <a:solidFill>
                  <a:srgbClr val="000000"/>
                </a:solidFill>
                <a:latin typeface="AkzidenzGroteskBE-Regular"/>
              </a:rPr>
              <a:t>write_item</a:t>
            </a:r>
            <a:r>
              <a:rPr lang="en-US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X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) operations are completed in 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T.</a:t>
            </a:r>
          </a:p>
          <a:p>
            <a:r>
              <a:rPr lang="en-US" sz="1400" b="1">
                <a:solidFill>
                  <a:srgbClr val="808080"/>
                </a:solidFill>
                <a:latin typeface="AkzidenzGroteskBE-Bold"/>
              </a:rPr>
              <a:t>3. </a:t>
            </a:r>
            <a:r>
              <a:rPr lang="en-US" b="1">
                <a:solidFill>
                  <a:srgbClr val="000000"/>
                </a:solidFill>
                <a:latin typeface="Minion-Regular"/>
              </a:rPr>
              <a:t>A transaction 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 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will not issue a </a:t>
            </a:r>
            <a:r>
              <a:rPr lang="en-US" sz="1400" b="1" i="1">
                <a:solidFill>
                  <a:srgbClr val="000000"/>
                </a:solidFill>
                <a:latin typeface="AkzidenzGroteskBE-Regular"/>
              </a:rPr>
              <a:t>lock_item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X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) operation if it already holds the</a:t>
            </a:r>
          </a:p>
          <a:p>
            <a:r>
              <a:rPr lang="en-US">
                <a:solidFill>
                  <a:srgbClr val="000000"/>
                </a:solidFill>
                <a:latin typeface="Minion-Regular"/>
              </a:rPr>
              <a:t>lock on item 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X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.</a:t>
            </a:r>
            <a:r>
              <a:rPr lang="en-US" sz="1200" i="1">
                <a:solidFill>
                  <a:srgbClr val="000000"/>
                </a:solidFill>
                <a:latin typeface="Minion-Regular"/>
              </a:rPr>
              <a:t>1</a:t>
            </a:r>
          </a:p>
          <a:p>
            <a:r>
              <a:rPr lang="en-US" sz="1400" b="1">
                <a:solidFill>
                  <a:srgbClr val="808080"/>
                </a:solidFill>
                <a:latin typeface="AkzidenzGroteskBE-Bold"/>
              </a:rPr>
              <a:t>4. </a:t>
            </a:r>
            <a:r>
              <a:rPr lang="en-US" b="1">
                <a:solidFill>
                  <a:srgbClr val="000000"/>
                </a:solidFill>
                <a:latin typeface="Minion-Regular"/>
              </a:rPr>
              <a:t>A transaction 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 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will not issue an </a:t>
            </a:r>
            <a:r>
              <a:rPr lang="en-US" sz="1400" b="1" i="1">
                <a:solidFill>
                  <a:srgbClr val="000000"/>
                </a:solidFill>
                <a:latin typeface="AkzidenzGroteskBE-Regular"/>
              </a:rPr>
              <a:t>unlock_item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X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) operation unless it already</a:t>
            </a:r>
          </a:p>
          <a:p>
            <a:r>
              <a:rPr lang="en-US">
                <a:solidFill>
                  <a:srgbClr val="000000"/>
                </a:solidFill>
                <a:latin typeface="Minion-Regular"/>
              </a:rPr>
              <a:t>holds the lock on item 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X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.</a:t>
            </a:r>
            <a:endParaRPr lang="ar-EG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140200" y="6089650"/>
            <a:ext cx="1079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ar-EG"/>
              <a:t>معامله اصدار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Lock-Based Protocols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5500" y="1079500"/>
            <a:ext cx="6827838" cy="4876800"/>
          </a:xfrm>
        </p:spPr>
        <p:txBody>
          <a:bodyPr/>
          <a:lstStyle/>
          <a:p>
            <a:r>
              <a:rPr lang="en-US" dirty="0" smtClean="0"/>
              <a:t>because at most, one transaction can hold a lock on a given </a:t>
            </a:r>
            <a:r>
              <a:rPr lang="en-US" dirty="0" err="1" smtClean="0"/>
              <a:t>item.We</a:t>
            </a:r>
            <a:r>
              <a:rPr lang="en-US" dirty="0" smtClean="0"/>
              <a:t> should allow several transactions to access the same item </a:t>
            </a:r>
            <a:r>
              <a:rPr lang="en-US" i="1" dirty="0" smtClean="0"/>
              <a:t>X if they all access X for reading purposes </a:t>
            </a:r>
            <a:r>
              <a:rPr lang="en-US" i="1" dirty="0" err="1" smtClean="0"/>
              <a:t>only.</a:t>
            </a:r>
            <a:r>
              <a:rPr lang="en-US" dirty="0" err="1" smtClean="0"/>
              <a:t>This</a:t>
            </a:r>
            <a:r>
              <a:rPr lang="en-US" dirty="0" smtClean="0"/>
              <a:t> is because read operations on the same item by different transactions are not conflicting</a:t>
            </a:r>
          </a:p>
          <a:p>
            <a:r>
              <a:rPr lang="en-US" dirty="0" smtClean="0"/>
              <a:t>There are three locking operations: </a:t>
            </a:r>
            <a:r>
              <a:rPr lang="en-US" dirty="0" err="1" smtClean="0"/>
              <a:t>read_lock</a:t>
            </a:r>
            <a:r>
              <a:rPr lang="en-US" dirty="0" smtClean="0"/>
              <a:t>(</a:t>
            </a:r>
            <a:r>
              <a:rPr lang="en-US" i="1" dirty="0" smtClean="0"/>
              <a:t>X), </a:t>
            </a:r>
            <a:r>
              <a:rPr lang="en-US" i="1" dirty="0" err="1" smtClean="0"/>
              <a:t>write_lock</a:t>
            </a:r>
            <a:r>
              <a:rPr lang="en-US" i="1" dirty="0" smtClean="0"/>
              <a:t>(X), and unlock(X).</a:t>
            </a:r>
          </a:p>
          <a:p>
            <a:r>
              <a:rPr lang="en-US" dirty="0" smtClean="0"/>
              <a:t>Now has three possible states: </a:t>
            </a:r>
            <a:r>
              <a:rPr lang="en-US" i="1" dirty="0" smtClean="0"/>
              <a:t>read-locked(s</a:t>
            </a:r>
            <a:r>
              <a:rPr lang="en-US" b="1" dirty="0" smtClean="0"/>
              <a:t>hare-locked</a:t>
            </a:r>
            <a:r>
              <a:rPr lang="en-US" i="1" dirty="0" smtClean="0"/>
              <a:t>), write-locked(</a:t>
            </a:r>
            <a:r>
              <a:rPr lang="en-US" b="1" dirty="0" smtClean="0"/>
              <a:t>exclusive-locked</a:t>
            </a:r>
            <a:r>
              <a:rPr lang="en-US" i="1" dirty="0" smtClean="0"/>
              <a:t>), or unlocked.</a:t>
            </a:r>
            <a:endParaRPr lang="en-US" dirty="0" smtClean="0"/>
          </a:p>
          <a:p>
            <a:pPr algn="just"/>
            <a:r>
              <a:rPr lang="en-US" dirty="0" smtClean="0"/>
              <a:t>Data items can be locked in two modes :</a:t>
            </a:r>
          </a:p>
          <a:p>
            <a:pPr algn="just">
              <a:buFont typeface="Monotype Sorts" charset="2"/>
              <a:buNone/>
            </a:pPr>
            <a:r>
              <a:rPr lang="en-US" i="1" dirty="0" smtClean="0"/>
              <a:t>    </a:t>
            </a:r>
            <a:r>
              <a:rPr lang="en-US" dirty="0" smtClean="0"/>
              <a:t>1</a:t>
            </a:r>
            <a:r>
              <a:rPr lang="en-US" i="1" dirty="0" smtClean="0"/>
              <a:t>.  </a:t>
            </a:r>
            <a:r>
              <a:rPr lang="en-US" i="1" dirty="0" smtClean="0">
                <a:solidFill>
                  <a:srgbClr val="000099"/>
                </a:solidFill>
              </a:rPr>
              <a:t>exclusive</a:t>
            </a:r>
            <a:r>
              <a:rPr lang="en-US" i="1" dirty="0" smtClean="0"/>
              <a:t> (X) mode</a:t>
            </a:r>
            <a:r>
              <a:rPr lang="en-US" dirty="0" smtClean="0"/>
              <a:t>. </a:t>
            </a:r>
          </a:p>
          <a:p>
            <a:pPr algn="just">
              <a:buFont typeface="Monotype Sorts" charset="2"/>
              <a:buNone/>
            </a:pPr>
            <a:r>
              <a:rPr lang="en-US" dirty="0" smtClean="0"/>
              <a:t>     2</a:t>
            </a:r>
            <a:r>
              <a:rPr lang="en-US" i="1" dirty="0" smtClean="0"/>
              <a:t>.  </a:t>
            </a:r>
            <a:r>
              <a:rPr lang="en-US" i="1" dirty="0" smtClean="0">
                <a:solidFill>
                  <a:srgbClr val="000099"/>
                </a:solidFill>
              </a:rPr>
              <a:t>shared</a:t>
            </a:r>
            <a:r>
              <a:rPr lang="en-US" i="1" dirty="0" smtClean="0"/>
              <a:t> (S) mode</a:t>
            </a:r>
            <a:r>
              <a:rPr lang="en-US" dirty="0" smtClean="0"/>
              <a:t>. Data item can only be read.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Lock-Based Protocols (Cont.)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5500" y="1079500"/>
            <a:ext cx="7204075" cy="4876800"/>
          </a:xfrm>
        </p:spPr>
        <p:txBody>
          <a:bodyPr/>
          <a:lstStyle/>
          <a:p>
            <a:r>
              <a:rPr lang="en-US" b="1" dirty="0" smtClean="0">
                <a:solidFill>
                  <a:srgbClr val="000099"/>
                </a:solidFill>
              </a:rPr>
              <a:t>Lock-compatibility matrix</a:t>
            </a:r>
          </a:p>
          <a:p>
            <a:pPr>
              <a:buFont typeface="Monotype Sorts" charset="2"/>
              <a:buNone/>
            </a:pPr>
            <a:endParaRPr lang="en-US" dirty="0" smtClean="0"/>
          </a:p>
          <a:p>
            <a:pPr>
              <a:buFont typeface="Monotype Sorts" charset="2"/>
              <a:buNone/>
            </a:pPr>
            <a:endParaRPr lang="en-US" dirty="0" smtClean="0"/>
          </a:p>
          <a:p>
            <a:r>
              <a:rPr lang="en-US" dirty="0" smtClean="0"/>
              <a:t>lock table. Each record in the lock table will have four fields: &lt;</a:t>
            </a:r>
            <a:r>
              <a:rPr lang="en-US" dirty="0" err="1" smtClean="0"/>
              <a:t>Data_item_name,LOCK</a:t>
            </a:r>
            <a:r>
              <a:rPr lang="en-US" dirty="0" smtClean="0"/>
              <a:t>, </a:t>
            </a:r>
            <a:r>
              <a:rPr lang="en-US" dirty="0" err="1" smtClean="0"/>
              <a:t>No_of_reads</a:t>
            </a:r>
            <a:r>
              <a:rPr lang="en-US" dirty="0" smtClean="0"/>
              <a:t>, </a:t>
            </a:r>
            <a:r>
              <a:rPr lang="en-US" dirty="0" err="1" smtClean="0"/>
              <a:t>Locking_transaction</a:t>
            </a:r>
            <a:r>
              <a:rPr lang="en-US" dirty="0" smtClean="0"/>
              <a:t>(s)&gt;.</a:t>
            </a:r>
          </a:p>
          <a:p>
            <a:pPr>
              <a:buFont typeface="Monotype Sorts" charset="2"/>
              <a:buNone/>
            </a:pPr>
            <a:endParaRPr lang="en-US" dirty="0" smtClean="0"/>
          </a:p>
          <a:p>
            <a:r>
              <a:rPr lang="en-US" dirty="0" smtClean="0"/>
              <a:t>A transaction may be </a:t>
            </a:r>
            <a:r>
              <a:rPr lang="en-US" b="1" dirty="0" smtClean="0">
                <a:solidFill>
                  <a:srgbClr val="FF0000"/>
                </a:solidFill>
              </a:rPr>
              <a:t>granted a lock </a:t>
            </a:r>
            <a:r>
              <a:rPr lang="en-US" dirty="0" smtClean="0"/>
              <a:t>on an item if the requested lock is </a:t>
            </a:r>
            <a:r>
              <a:rPr lang="en-US" b="1" dirty="0" smtClean="0">
                <a:solidFill>
                  <a:srgbClr val="FF0000"/>
                </a:solidFill>
              </a:rPr>
              <a:t>compatible</a:t>
            </a:r>
            <a:r>
              <a:rPr lang="en-US" dirty="0" smtClean="0"/>
              <a:t> with locks already held on the item by other transactions</a:t>
            </a:r>
          </a:p>
          <a:p>
            <a:r>
              <a:rPr lang="en-US" dirty="0" smtClean="0"/>
              <a:t>Any number of transactions can hold shared locks on an item, </a:t>
            </a:r>
          </a:p>
          <a:p>
            <a:pPr lvl="1"/>
            <a:r>
              <a:rPr lang="en-US" dirty="0" smtClean="0"/>
              <a:t>But if any transaction holds an exclusive on the item no other transaction may hold any lock on the item.</a:t>
            </a:r>
          </a:p>
          <a:p>
            <a:r>
              <a:rPr lang="en-US" dirty="0" smtClean="0"/>
              <a:t>If a lock cannot be granted, the requesting transaction is made to wait till all incompatible locks held by other transactions have been released.  The lock is then granted.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973638" y="1114425"/>
            <a:ext cx="1847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ar-EG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Lock-Based Protocols (Cont.)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60463" y="1079500"/>
            <a:ext cx="6696075" cy="4806950"/>
          </a:xfrm>
        </p:spPr>
        <p:txBody>
          <a:bodyPr/>
          <a:lstStyle/>
          <a:p>
            <a:r>
              <a:rPr lang="en-US" dirty="0" smtClean="0"/>
              <a:t>A  </a:t>
            </a:r>
            <a:r>
              <a:rPr lang="en-US" b="1" dirty="0" smtClean="0">
                <a:solidFill>
                  <a:srgbClr val="000099"/>
                </a:solidFill>
              </a:rPr>
              <a:t>locking protocol</a:t>
            </a:r>
            <a:r>
              <a:rPr lang="en-US" dirty="0" smtClean="0"/>
              <a:t> is a set of rules followed by all transactions while requesting and releasing locks. Locking protocols restrict the set of possible schedules.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35013" y="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The Two-Phase Locking Protocol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114425" y="1196975"/>
            <a:ext cx="7115175" cy="4903788"/>
          </a:xfrm>
        </p:spPr>
        <p:txBody>
          <a:bodyPr/>
          <a:lstStyle/>
          <a:p>
            <a:r>
              <a:rPr lang="en-US" dirty="0" smtClean="0"/>
              <a:t>This protocol ensures conflict-</a:t>
            </a:r>
            <a:r>
              <a:rPr lang="en-US" dirty="0" err="1" smtClean="0"/>
              <a:t>serializable</a:t>
            </a:r>
            <a:r>
              <a:rPr lang="en-US" dirty="0" smtClean="0"/>
              <a:t> schedules.</a:t>
            </a:r>
          </a:p>
          <a:p>
            <a:r>
              <a:rPr lang="en-US" dirty="0" smtClean="0"/>
              <a:t>Phase 1: Growing Phase</a:t>
            </a:r>
          </a:p>
          <a:p>
            <a:pPr lvl="1"/>
            <a:r>
              <a:rPr lang="en-US" dirty="0" smtClean="0"/>
              <a:t>Transaction may obtain locks </a:t>
            </a:r>
          </a:p>
          <a:p>
            <a:pPr lvl="1"/>
            <a:r>
              <a:rPr lang="en-US" dirty="0" smtClean="0"/>
              <a:t>Transaction may not release locks</a:t>
            </a:r>
          </a:p>
          <a:p>
            <a:r>
              <a:rPr lang="en-US" dirty="0" smtClean="0"/>
              <a:t>Phase 2: Shrinking Phase</a:t>
            </a:r>
          </a:p>
          <a:p>
            <a:pPr lvl="1"/>
            <a:r>
              <a:rPr lang="en-US" dirty="0" smtClean="0"/>
              <a:t>Transaction may release locks</a:t>
            </a:r>
          </a:p>
          <a:p>
            <a:pPr lvl="1"/>
            <a:r>
              <a:rPr lang="en-US" dirty="0" smtClean="0"/>
              <a:t>Transaction may not obtain locks</a:t>
            </a:r>
          </a:p>
          <a:p>
            <a:pPr>
              <a:lnSpc>
                <a:spcPct val="120000"/>
              </a:lnSpc>
            </a:pPr>
            <a:r>
              <a:rPr lang="en-US" dirty="0" smtClean="0"/>
              <a:t>The protocol assures </a:t>
            </a:r>
            <a:r>
              <a:rPr lang="en-US" dirty="0" err="1" smtClean="0"/>
              <a:t>serializability</a:t>
            </a:r>
            <a:r>
              <a:rPr lang="en-US" dirty="0" smtClean="0"/>
              <a:t>. It can be proved that the transactions can be serialized in the order of their </a:t>
            </a:r>
            <a:r>
              <a:rPr lang="en-US" b="1" dirty="0" smtClean="0">
                <a:solidFill>
                  <a:srgbClr val="000099"/>
                </a:solidFill>
              </a:rPr>
              <a:t>lock points</a:t>
            </a:r>
            <a:r>
              <a:rPr lang="en-US" i="1" dirty="0" smtClean="0"/>
              <a:t> </a:t>
            </a:r>
            <a:r>
              <a:rPr lang="en-US" dirty="0" smtClean="0"/>
              <a:t> (i.e., the point where a transaction acquired its final lock).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4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18435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517525" y="1395413"/>
            <a:ext cx="7902575" cy="427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When we use the shared/exclusive locking scheme, the system must enforce the following</a:t>
            </a:r>
          </a:p>
          <a:p>
            <a:r>
              <a:rPr lang="en-US" dirty="0"/>
              <a:t>rules:</a:t>
            </a:r>
          </a:p>
          <a:p>
            <a:r>
              <a:rPr lang="en-US" b="1" dirty="0"/>
              <a:t>1. A transaction </a:t>
            </a:r>
            <a:r>
              <a:rPr lang="en-US" b="1" i="1" dirty="0"/>
              <a:t>T must </a:t>
            </a:r>
            <a:r>
              <a:rPr lang="en-US" b="1" i="1" dirty="0" smtClean="0"/>
              <a:t>  the </a:t>
            </a:r>
            <a:r>
              <a:rPr lang="en-US" b="1" i="1" dirty="0"/>
              <a:t>operation </a:t>
            </a:r>
            <a:r>
              <a:rPr lang="en-US" b="1" i="1" dirty="0" err="1"/>
              <a:t>read_lock</a:t>
            </a:r>
            <a:r>
              <a:rPr lang="en-US" b="1" i="1" dirty="0"/>
              <a:t>(X) or </a:t>
            </a:r>
            <a:r>
              <a:rPr lang="en-US" b="1" i="1" dirty="0" err="1"/>
              <a:t>write_lock</a:t>
            </a:r>
            <a:r>
              <a:rPr lang="en-US" b="1" i="1" dirty="0"/>
              <a:t>(X) before</a:t>
            </a:r>
          </a:p>
          <a:p>
            <a:r>
              <a:rPr lang="en-US" dirty="0"/>
              <a:t>any </a:t>
            </a:r>
            <a:r>
              <a:rPr lang="en-US" dirty="0" err="1"/>
              <a:t>read_item</a:t>
            </a:r>
            <a:r>
              <a:rPr lang="en-US" dirty="0"/>
              <a:t>(</a:t>
            </a:r>
            <a:r>
              <a:rPr lang="en-US" i="1" dirty="0"/>
              <a:t>X) operation is performed in T.</a:t>
            </a:r>
          </a:p>
          <a:p>
            <a:r>
              <a:rPr lang="en-US" b="1" dirty="0"/>
              <a:t>2. A transaction </a:t>
            </a:r>
            <a:r>
              <a:rPr lang="en-US" b="1" i="1" dirty="0"/>
              <a:t>T must issue the operation </a:t>
            </a:r>
            <a:r>
              <a:rPr lang="en-US" b="1" i="1" dirty="0" err="1"/>
              <a:t>write_lock</a:t>
            </a:r>
            <a:r>
              <a:rPr lang="en-US" b="1" i="1" dirty="0"/>
              <a:t>(X) before any</a:t>
            </a:r>
          </a:p>
          <a:p>
            <a:r>
              <a:rPr lang="en-US" dirty="0" err="1"/>
              <a:t>write_item</a:t>
            </a:r>
            <a:r>
              <a:rPr lang="en-US" dirty="0"/>
              <a:t>(</a:t>
            </a:r>
            <a:r>
              <a:rPr lang="en-US" i="1" dirty="0"/>
              <a:t>X) operation is performed in T.</a:t>
            </a:r>
          </a:p>
          <a:p>
            <a:r>
              <a:rPr lang="en-US" b="1" dirty="0"/>
              <a:t>3. A transaction </a:t>
            </a:r>
            <a:r>
              <a:rPr lang="en-US" b="1" i="1" dirty="0"/>
              <a:t>T must issue the operation unlock(X) after all </a:t>
            </a:r>
            <a:r>
              <a:rPr lang="en-US" b="1" i="1" dirty="0" err="1"/>
              <a:t>read_item</a:t>
            </a:r>
            <a:r>
              <a:rPr lang="en-US" b="1" i="1" dirty="0"/>
              <a:t>(X) and</a:t>
            </a:r>
          </a:p>
          <a:p>
            <a:r>
              <a:rPr lang="en-US" dirty="0" err="1"/>
              <a:t>write_item</a:t>
            </a:r>
            <a:r>
              <a:rPr lang="en-US" dirty="0"/>
              <a:t>(</a:t>
            </a:r>
            <a:r>
              <a:rPr lang="en-US" i="1" dirty="0"/>
              <a:t>X) operations are completed in T.3</a:t>
            </a:r>
          </a:p>
          <a:p>
            <a:r>
              <a:rPr lang="en-US" b="1" dirty="0"/>
              <a:t>4. A transaction </a:t>
            </a:r>
            <a:r>
              <a:rPr lang="en-US" b="1" i="1" dirty="0"/>
              <a:t>T will not issue a </a:t>
            </a:r>
            <a:r>
              <a:rPr lang="en-US" b="1" i="1" dirty="0" err="1"/>
              <a:t>read_lock</a:t>
            </a:r>
            <a:r>
              <a:rPr lang="en-US" b="1" i="1" dirty="0"/>
              <a:t>(X) operation if it already holds a</a:t>
            </a:r>
          </a:p>
          <a:p>
            <a:r>
              <a:rPr lang="en-US" dirty="0"/>
              <a:t>read (shared) lock or a write (exclusive) lock on item </a:t>
            </a:r>
            <a:r>
              <a:rPr lang="en-US" i="1" dirty="0"/>
              <a:t>X. This rule may be</a:t>
            </a:r>
          </a:p>
          <a:p>
            <a:r>
              <a:rPr lang="en-US" dirty="0"/>
              <a:t>relaxed, </a:t>
            </a:r>
          </a:p>
          <a:p>
            <a:r>
              <a:rPr lang="en-US" b="1" dirty="0"/>
              <a:t>5. A transaction </a:t>
            </a:r>
            <a:r>
              <a:rPr lang="en-US" b="1" i="1" dirty="0"/>
              <a:t>T will not issue a </a:t>
            </a:r>
            <a:r>
              <a:rPr lang="en-US" b="1" i="1" dirty="0" err="1"/>
              <a:t>write_lock</a:t>
            </a:r>
            <a:r>
              <a:rPr lang="en-US" b="1" i="1" dirty="0"/>
              <a:t>(X) operation if it already holds a</a:t>
            </a:r>
          </a:p>
          <a:p>
            <a:r>
              <a:rPr lang="en-US" dirty="0"/>
              <a:t>read (shared) lock or write (exclusive) lock on item </a:t>
            </a:r>
            <a:r>
              <a:rPr lang="en-US" i="1" dirty="0"/>
              <a:t>X. This rule may also be</a:t>
            </a:r>
          </a:p>
          <a:p>
            <a:r>
              <a:rPr lang="en-US" dirty="0"/>
              <a:t>relaxed, </a:t>
            </a:r>
          </a:p>
          <a:p>
            <a:r>
              <a:rPr lang="en-US" b="1" dirty="0"/>
              <a:t>6. A transaction </a:t>
            </a:r>
            <a:r>
              <a:rPr lang="en-US" b="1" i="1" dirty="0"/>
              <a:t>T will not issue an unlock(X) operation unless it already holds</a:t>
            </a:r>
          </a:p>
          <a:p>
            <a:r>
              <a:rPr lang="en-US" dirty="0"/>
              <a:t>a read (shared) lock or a write (exclusive) lock on item </a:t>
            </a:r>
            <a:r>
              <a:rPr lang="en-US" i="1" dirty="0"/>
              <a:t>X.</a:t>
            </a:r>
            <a:endParaRPr lang="ar-E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8088" y="930275"/>
            <a:ext cx="6710362" cy="568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050" y="1241425"/>
            <a:ext cx="8972550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Lock Conversions</a:t>
            </a:r>
            <a:r>
              <a:rPr lang="ar-EG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تحويل الأقفال. </a:t>
            </a: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2531" name="Rectangle 2"/>
          <p:cNvSpPr>
            <a:spLocks noChangeArrowheads="1"/>
          </p:cNvSpPr>
          <p:nvPr/>
        </p:nvSpPr>
        <p:spPr bwMode="auto">
          <a:xfrm>
            <a:off x="344488" y="1243013"/>
            <a:ext cx="8143875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Low"/>
            <a:r>
              <a:rPr lang="en-US" b="1"/>
              <a:t>Conversion of Locks. Sometimes it is desirable to relax conditions 4 and 5 in the</a:t>
            </a:r>
          </a:p>
          <a:p>
            <a:pPr algn="justLow"/>
            <a:r>
              <a:rPr lang="en-US"/>
              <a:t>preceding list in order to allow </a:t>
            </a:r>
            <a:r>
              <a:rPr lang="en-US" b="1"/>
              <a:t>lock conversion; that is, a transaction that already</a:t>
            </a:r>
          </a:p>
          <a:p>
            <a:pPr algn="justLow"/>
            <a:r>
              <a:rPr lang="en-US"/>
              <a:t>holds a lock on item </a:t>
            </a:r>
            <a:r>
              <a:rPr lang="en-US" i="1"/>
              <a:t>X is allowed under certain conditions to </a:t>
            </a:r>
            <a:r>
              <a:rPr lang="en-US" b="1" i="1"/>
              <a:t>convert the lock from</a:t>
            </a:r>
          </a:p>
          <a:p>
            <a:pPr algn="justLow"/>
            <a:r>
              <a:rPr lang="en-US"/>
              <a:t>one locked state to another. For example, it is possible for a transaction </a:t>
            </a:r>
            <a:r>
              <a:rPr lang="en-US" i="1"/>
              <a:t>T to issue a</a:t>
            </a:r>
          </a:p>
          <a:p>
            <a:pPr algn="justLow"/>
            <a:r>
              <a:rPr lang="en-US"/>
              <a:t>read_lock(</a:t>
            </a:r>
            <a:r>
              <a:rPr lang="en-US" i="1"/>
              <a:t>X) and then later to </a:t>
            </a:r>
            <a:r>
              <a:rPr lang="en-US" b="1" i="1">
                <a:solidFill>
                  <a:srgbClr val="FF0000"/>
                </a:solidFill>
              </a:rPr>
              <a:t>upgrade </a:t>
            </a:r>
            <a:r>
              <a:rPr lang="en-US" b="1" i="1"/>
              <a:t>the lock by issuing a write_lock(X) operation.</a:t>
            </a:r>
          </a:p>
          <a:p>
            <a:pPr algn="justLow"/>
            <a:r>
              <a:rPr lang="en-US"/>
              <a:t>If </a:t>
            </a:r>
            <a:r>
              <a:rPr lang="en-US" i="1"/>
              <a:t>T is the only transaction holding a read lock on X at the time it issues the </a:t>
            </a:r>
            <a:r>
              <a:rPr lang="en-US"/>
              <a:t>write_lock(</a:t>
            </a:r>
            <a:r>
              <a:rPr lang="en-US" i="1"/>
              <a:t>X) operation, the lock can be upgraded; otherwise, the transaction must  </a:t>
            </a:r>
            <a:r>
              <a:rPr lang="en-US"/>
              <a:t>wait.</a:t>
            </a:r>
            <a:endParaRPr lang="ar-EG"/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344488" y="3263900"/>
            <a:ext cx="8021637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/>
              <a:t>It is also possible for a transaction </a:t>
            </a:r>
            <a:r>
              <a:rPr lang="en-US" i="1"/>
              <a:t>T to issue a write_lock(X) and then later to </a:t>
            </a:r>
            <a:r>
              <a:rPr lang="en-US" b="1">
                <a:solidFill>
                  <a:srgbClr val="FF0000"/>
                </a:solidFill>
              </a:rPr>
              <a:t>downgrade</a:t>
            </a:r>
            <a:r>
              <a:rPr lang="en-US" b="1"/>
              <a:t> the lock by issuing a read_lock(</a:t>
            </a:r>
            <a:r>
              <a:rPr lang="en-US" b="1" i="1"/>
              <a:t>X) operation. When upgrading and </a:t>
            </a:r>
            <a:r>
              <a:rPr lang="en-US"/>
              <a:t>downgrading of locks is used, the lock table must include transaction identifiers in the record structure for each lock</a:t>
            </a:r>
            <a:endParaRPr lang="ar-EG"/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344488" y="4773613"/>
            <a:ext cx="8523287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/>
              <a:t>4. A transaction </a:t>
            </a:r>
            <a:r>
              <a:rPr lang="en-US" b="1" i="1" dirty="0"/>
              <a:t>T will not issue a </a:t>
            </a:r>
            <a:r>
              <a:rPr lang="en-US" b="1" i="1" dirty="0" err="1"/>
              <a:t>read_lock</a:t>
            </a:r>
            <a:r>
              <a:rPr lang="en-US" b="1" i="1" dirty="0"/>
              <a:t>(X) operation if it already holds a</a:t>
            </a:r>
          </a:p>
          <a:p>
            <a:r>
              <a:rPr lang="en-US" dirty="0"/>
              <a:t>read (shared) lock or a write (exclusive) lock on item </a:t>
            </a:r>
            <a:r>
              <a:rPr lang="en-US" i="1" dirty="0"/>
              <a:t>X. This rule may be</a:t>
            </a:r>
          </a:p>
          <a:p>
            <a:r>
              <a:rPr lang="en-US" dirty="0"/>
              <a:t>relaxed, </a:t>
            </a:r>
          </a:p>
          <a:p>
            <a:r>
              <a:rPr lang="en-US" b="1" dirty="0"/>
              <a:t>5. A transaction </a:t>
            </a:r>
            <a:r>
              <a:rPr lang="en-US" b="1" i="1" dirty="0"/>
              <a:t>T will not issue a </a:t>
            </a:r>
            <a:r>
              <a:rPr lang="en-US" b="1" i="1" dirty="0" err="1"/>
              <a:t>write_lock</a:t>
            </a:r>
            <a:r>
              <a:rPr lang="en-US" b="1" i="1" dirty="0"/>
              <a:t>(X) operation if it already holds a</a:t>
            </a:r>
          </a:p>
          <a:p>
            <a:r>
              <a:rPr lang="en-US" dirty="0"/>
              <a:t>read (shared) lock or write (exclusive) lock on item </a:t>
            </a:r>
            <a:r>
              <a:rPr lang="en-US" i="1" dirty="0"/>
              <a:t>X. This rule may also be</a:t>
            </a:r>
          </a:p>
          <a:p>
            <a:r>
              <a:rPr lang="en-US" dirty="0"/>
              <a:t>relaxed,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85725" y="1498600"/>
            <a:ext cx="8799513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DejaVuSans"/>
              </a:rPr>
              <a:t>In a multi-process system, deadlock is an unwanted situation that arises in a shared resource</a:t>
            </a:r>
          </a:p>
          <a:p>
            <a:r>
              <a:rPr lang="en-US">
                <a:latin typeface="DejaVuSans"/>
              </a:rPr>
              <a:t>environment, where a process indefinitely waits for a resource that is held by another process.</a:t>
            </a:r>
          </a:p>
          <a:p>
            <a:r>
              <a:rPr lang="en-US">
                <a:latin typeface="DejaVuSans"/>
              </a:rPr>
              <a:t>For example, assume a set of transactions {T</a:t>
            </a:r>
            <a:r>
              <a:rPr lang="en-US" sz="800">
                <a:latin typeface="DejaVuSans"/>
              </a:rPr>
              <a:t>0</a:t>
            </a:r>
            <a:r>
              <a:rPr lang="en-US">
                <a:latin typeface="DejaVuSans"/>
              </a:rPr>
              <a:t>, T</a:t>
            </a:r>
            <a:r>
              <a:rPr lang="en-US" sz="800">
                <a:latin typeface="DejaVuSans"/>
              </a:rPr>
              <a:t>1</a:t>
            </a:r>
            <a:r>
              <a:rPr lang="en-US">
                <a:latin typeface="DejaVuSans"/>
              </a:rPr>
              <a:t>, T</a:t>
            </a:r>
            <a:r>
              <a:rPr lang="en-US" sz="800">
                <a:latin typeface="DejaVuSans"/>
              </a:rPr>
              <a:t>2</a:t>
            </a:r>
            <a:r>
              <a:rPr lang="en-US">
                <a:latin typeface="DejaVuSans"/>
              </a:rPr>
              <a:t>, ...,T</a:t>
            </a:r>
            <a:r>
              <a:rPr lang="en-US" sz="800">
                <a:latin typeface="DejaVuSans"/>
              </a:rPr>
              <a:t>n</a:t>
            </a:r>
            <a:r>
              <a:rPr lang="en-US">
                <a:latin typeface="DejaVuSans"/>
              </a:rPr>
              <a:t>}. T</a:t>
            </a:r>
            <a:r>
              <a:rPr lang="en-US" sz="800">
                <a:latin typeface="DejaVuSans"/>
              </a:rPr>
              <a:t>0 </a:t>
            </a:r>
            <a:r>
              <a:rPr lang="en-US">
                <a:latin typeface="DejaVuSans"/>
              </a:rPr>
              <a:t>needs a resource X to complete its task. Resource X is held by T</a:t>
            </a:r>
            <a:r>
              <a:rPr lang="en-US" sz="800">
                <a:latin typeface="DejaVuSans"/>
              </a:rPr>
              <a:t>1</a:t>
            </a:r>
            <a:r>
              <a:rPr lang="en-US">
                <a:latin typeface="DejaVuSans"/>
              </a:rPr>
              <a:t>, and T</a:t>
            </a:r>
            <a:r>
              <a:rPr lang="en-US" sz="800">
                <a:latin typeface="DejaVuSans"/>
              </a:rPr>
              <a:t>1 </a:t>
            </a:r>
            <a:r>
              <a:rPr lang="en-US">
                <a:latin typeface="DejaVuSans"/>
              </a:rPr>
              <a:t>is waiting for a resource Y, which is held by T</a:t>
            </a:r>
            <a:r>
              <a:rPr lang="en-US" sz="800">
                <a:latin typeface="DejaVuSans"/>
              </a:rPr>
              <a:t>2</a:t>
            </a:r>
            <a:r>
              <a:rPr lang="en-US">
                <a:latin typeface="DejaVuSans"/>
              </a:rPr>
              <a:t>. T</a:t>
            </a:r>
            <a:r>
              <a:rPr lang="en-US" sz="800">
                <a:latin typeface="DejaVuSans"/>
              </a:rPr>
              <a:t>2 </a:t>
            </a:r>
            <a:r>
              <a:rPr lang="en-US">
                <a:latin typeface="DejaVuSans"/>
              </a:rPr>
              <a:t>is waiting for resource Z, which is held by T</a:t>
            </a:r>
            <a:r>
              <a:rPr lang="en-US" sz="800">
                <a:latin typeface="DejaVuSans"/>
              </a:rPr>
              <a:t>0</a:t>
            </a:r>
            <a:r>
              <a:rPr lang="en-US">
                <a:latin typeface="DejaVuSans"/>
              </a:rPr>
              <a:t>. Thus, all the processes wait for each other to release resources.</a:t>
            </a:r>
          </a:p>
          <a:p>
            <a:r>
              <a:rPr lang="en-US">
                <a:latin typeface="DejaVuSans"/>
              </a:rPr>
              <a:t>In this situation, none of the processes can finish their task. This situation is known as a deadlock.</a:t>
            </a:r>
            <a:endParaRPr lang="ar-EG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Deadlocks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Deadlocks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5500" y="1079500"/>
            <a:ext cx="7466013" cy="51435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Consider the partial schedule</a:t>
            </a:r>
          </a:p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smtClean="0"/>
              <a:t/>
            </a:r>
            <a:br>
              <a:rPr lang="en-US" smtClean="0"/>
            </a:br>
            <a:endParaRPr lang="en-US" smtClean="0"/>
          </a:p>
          <a:p>
            <a:pPr>
              <a:lnSpc>
                <a:spcPct val="90000"/>
              </a:lnSpc>
            </a:pPr>
            <a:r>
              <a:rPr lang="en-US" smtClean="0"/>
              <a:t>Neither </a:t>
            </a:r>
            <a:r>
              <a:rPr lang="en-US" i="1" smtClean="0"/>
              <a:t>T</a:t>
            </a:r>
            <a:r>
              <a:rPr lang="en-US" i="1" baseline="-25000" smtClean="0"/>
              <a:t>3</a:t>
            </a:r>
            <a:r>
              <a:rPr lang="en-US" smtClean="0"/>
              <a:t> nor </a:t>
            </a:r>
            <a:r>
              <a:rPr lang="en-US" i="1" smtClean="0"/>
              <a:t>T</a:t>
            </a:r>
            <a:r>
              <a:rPr lang="en-US" i="1" baseline="-25000" smtClean="0"/>
              <a:t>4</a:t>
            </a:r>
            <a:r>
              <a:rPr lang="en-US" smtClean="0"/>
              <a:t> can make progress — executing  </a:t>
            </a:r>
            <a:r>
              <a:rPr lang="en-US" b="1" smtClean="0"/>
              <a:t>lock-S</a:t>
            </a:r>
            <a:r>
              <a:rPr lang="en-US" i="1" smtClean="0"/>
              <a:t>(B)</a:t>
            </a:r>
            <a:r>
              <a:rPr lang="en-US" smtClean="0"/>
              <a:t> causes </a:t>
            </a:r>
            <a:r>
              <a:rPr lang="en-US" i="1" smtClean="0"/>
              <a:t>T</a:t>
            </a:r>
            <a:r>
              <a:rPr lang="en-US" i="1" baseline="-25000" smtClean="0"/>
              <a:t>4</a:t>
            </a:r>
            <a:r>
              <a:rPr lang="en-US" smtClean="0"/>
              <a:t> to wait for </a:t>
            </a:r>
            <a:r>
              <a:rPr lang="en-US" i="1" smtClean="0"/>
              <a:t>T</a:t>
            </a:r>
            <a:r>
              <a:rPr lang="en-US" i="1" baseline="-25000" smtClean="0"/>
              <a:t>3</a:t>
            </a:r>
            <a:r>
              <a:rPr lang="en-US" smtClean="0"/>
              <a:t> to release its lock on </a:t>
            </a:r>
            <a:r>
              <a:rPr lang="en-US" i="1" smtClean="0"/>
              <a:t>B</a:t>
            </a:r>
            <a:r>
              <a:rPr lang="en-US" smtClean="0"/>
              <a:t>, while executing  </a:t>
            </a:r>
            <a:r>
              <a:rPr lang="en-US" b="1" smtClean="0"/>
              <a:t>lock-X</a:t>
            </a:r>
            <a:r>
              <a:rPr lang="en-US" i="1" smtClean="0"/>
              <a:t>(A)</a:t>
            </a:r>
            <a:r>
              <a:rPr lang="en-US" smtClean="0"/>
              <a:t> causes </a:t>
            </a:r>
            <a:r>
              <a:rPr lang="en-US" i="1" smtClean="0"/>
              <a:t>T</a:t>
            </a:r>
            <a:r>
              <a:rPr lang="en-US" i="1" baseline="-25000" smtClean="0"/>
              <a:t>3</a:t>
            </a:r>
            <a:r>
              <a:rPr lang="en-US" i="1" smtClean="0"/>
              <a:t> </a:t>
            </a:r>
            <a:r>
              <a:rPr lang="en-US" smtClean="0"/>
              <a:t> to wait for </a:t>
            </a:r>
            <a:r>
              <a:rPr lang="en-US" i="1" smtClean="0"/>
              <a:t>T</a:t>
            </a:r>
            <a:r>
              <a:rPr lang="en-US" i="1" baseline="-25000" smtClean="0"/>
              <a:t>4</a:t>
            </a:r>
            <a:r>
              <a:rPr lang="en-US" smtClean="0"/>
              <a:t> to release its lock on </a:t>
            </a:r>
            <a:r>
              <a:rPr lang="en-US" i="1" smtClean="0"/>
              <a:t>A</a:t>
            </a:r>
            <a:r>
              <a:rPr lang="en-US" smtClean="0"/>
              <a:t>.</a:t>
            </a:r>
          </a:p>
          <a:p>
            <a:pPr>
              <a:lnSpc>
                <a:spcPct val="90000"/>
              </a:lnSpc>
            </a:pPr>
            <a:r>
              <a:rPr lang="en-US" smtClean="0"/>
              <a:t>Such a situation is called a </a:t>
            </a:r>
            <a:r>
              <a:rPr lang="en-US" b="1" smtClean="0">
                <a:solidFill>
                  <a:srgbClr val="000099"/>
                </a:solidFill>
              </a:rPr>
              <a:t>deadlock</a:t>
            </a:r>
            <a:r>
              <a:rPr lang="en-US" smtClean="0"/>
              <a:t>. 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To handle a deadlock one of </a:t>
            </a:r>
            <a:r>
              <a:rPr lang="en-US" i="1" smtClean="0"/>
              <a:t>T</a:t>
            </a:r>
            <a:r>
              <a:rPr lang="en-US" i="1" baseline="-25000" smtClean="0"/>
              <a:t>3</a:t>
            </a:r>
            <a:r>
              <a:rPr lang="en-US" smtClean="0"/>
              <a:t> or </a:t>
            </a:r>
            <a:r>
              <a:rPr lang="en-US" i="1" smtClean="0"/>
              <a:t>T</a:t>
            </a:r>
            <a:r>
              <a:rPr lang="en-US" i="1" baseline="-25000" smtClean="0"/>
              <a:t>4</a:t>
            </a:r>
            <a:r>
              <a:rPr lang="en-US" smtClean="0"/>
              <a:t> must be rolled back </a:t>
            </a:r>
            <a:br>
              <a:rPr lang="en-US" smtClean="0"/>
            </a:br>
            <a:r>
              <a:rPr lang="en-US" smtClean="0"/>
              <a:t>and its locks released.</a:t>
            </a:r>
          </a:p>
        </p:txBody>
      </p:sp>
      <p:pic>
        <p:nvPicPr>
          <p:cNvPr id="24580" name="Picture 14" descr="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65425" y="1585913"/>
            <a:ext cx="2960688" cy="244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89000" y="5556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Deadlocks (Cont.)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25513" y="779463"/>
            <a:ext cx="6915150" cy="4903787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Two-phase locking </a:t>
            </a:r>
            <a:r>
              <a:rPr lang="en-US" i="1" dirty="0" smtClean="0"/>
              <a:t>does not</a:t>
            </a:r>
            <a:r>
              <a:rPr lang="en-US" dirty="0" smtClean="0"/>
              <a:t> ensure freedom from deadlocks.</a:t>
            </a:r>
          </a:p>
          <a:p>
            <a:r>
              <a:rPr lang="en-US" dirty="0" smtClean="0"/>
              <a:t>In addition to deadlocks</a:t>
            </a:r>
            <a:r>
              <a:rPr lang="en-US" b="1" dirty="0" smtClean="0">
                <a:solidFill>
                  <a:srgbClr val="000099"/>
                </a:solidFill>
              </a:rPr>
              <a:t>, </a:t>
            </a:r>
            <a:r>
              <a:rPr lang="en-US" dirty="0" smtClean="0"/>
              <a:t>there is a possibility of </a:t>
            </a:r>
            <a:r>
              <a:rPr lang="en-US" b="1" dirty="0" smtClean="0">
                <a:solidFill>
                  <a:srgbClr val="000099"/>
                </a:solidFill>
              </a:rPr>
              <a:t>starvation.</a:t>
            </a:r>
          </a:p>
          <a:p>
            <a:r>
              <a:rPr lang="en-US" dirty="0" smtClean="0">
                <a:solidFill>
                  <a:srgbClr val="000000"/>
                </a:solidFill>
              </a:rPr>
              <a:t>An example is maximum throughput scheduling. </a:t>
            </a:r>
            <a:r>
              <a:rPr lang="en-US" b="1" dirty="0" smtClean="0">
                <a:solidFill>
                  <a:srgbClr val="000000"/>
                </a:solidFill>
              </a:rPr>
              <a:t>Starvation</a:t>
            </a:r>
            <a:r>
              <a:rPr lang="en-US" dirty="0" smtClean="0">
                <a:solidFill>
                  <a:srgbClr val="000000"/>
                </a:solidFill>
              </a:rPr>
              <a:t> is similar to </a:t>
            </a:r>
            <a:r>
              <a:rPr lang="en-US" b="1" dirty="0" smtClean="0">
                <a:solidFill>
                  <a:srgbClr val="000000"/>
                </a:solidFill>
              </a:rPr>
              <a:t>deadlock</a:t>
            </a:r>
            <a:r>
              <a:rPr lang="en-US" dirty="0" smtClean="0">
                <a:solidFill>
                  <a:srgbClr val="000000"/>
                </a:solidFill>
              </a:rPr>
              <a:t> in that it causes a process to freeze. Two or more processes become </a:t>
            </a:r>
            <a:r>
              <a:rPr lang="en-US" b="1" dirty="0" smtClean="0">
                <a:solidFill>
                  <a:srgbClr val="000000"/>
                </a:solidFill>
              </a:rPr>
              <a:t>deadlocked</a:t>
            </a:r>
            <a:r>
              <a:rPr lang="en-US" dirty="0" smtClean="0">
                <a:solidFill>
                  <a:srgbClr val="000000"/>
                </a:solidFill>
              </a:rPr>
              <a:t> when each of them is doing nothing while waiting for a resource occupied by another program in the same set. </a:t>
            </a:r>
          </a:p>
          <a:p>
            <a:r>
              <a:rPr lang="en-US" dirty="0" smtClean="0"/>
              <a:t>Concurrency control manager can be designed to prevent starvation.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682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Deadlocks (Cont.)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76313" y="866775"/>
            <a:ext cx="6902450" cy="3919538"/>
          </a:xfrm>
        </p:spPr>
        <p:txBody>
          <a:bodyPr/>
          <a:lstStyle/>
          <a:p>
            <a:r>
              <a:rPr lang="en-US" smtClean="0"/>
              <a:t>The potential for deadlock exists in most locking protocols. Deadlocks are a necessary evil.</a:t>
            </a:r>
          </a:p>
          <a:p>
            <a:r>
              <a:rPr lang="en-US" smtClean="0"/>
              <a:t>When a deadlock occurs there is a possibility of cascading roll-backs. </a:t>
            </a:r>
          </a:p>
          <a:p>
            <a:pPr>
              <a:lnSpc>
                <a:spcPct val="110000"/>
              </a:lnSpc>
            </a:pPr>
            <a:r>
              <a:rPr lang="en-US" smtClean="0"/>
              <a:t>Cascading roll-back is possible under two-phase locking. To avoid this, follow a modified protocol called </a:t>
            </a:r>
            <a:r>
              <a:rPr lang="en-US" b="1" smtClean="0">
                <a:solidFill>
                  <a:srgbClr val="000099"/>
                </a:solidFill>
              </a:rPr>
              <a:t>strict two-phase locking</a:t>
            </a:r>
            <a:r>
              <a:rPr lang="en-US" smtClean="0"/>
              <a:t> -- a transaction must hold all its exclusive locks till it commits/aborts.</a:t>
            </a:r>
          </a:p>
          <a:p>
            <a:pPr>
              <a:lnSpc>
                <a:spcPct val="110000"/>
              </a:lnSpc>
            </a:pPr>
            <a:r>
              <a:rPr lang="en-US" smtClean="0"/>
              <a:t>A </a:t>
            </a:r>
            <a:r>
              <a:rPr lang="en-US" b="1" smtClean="0"/>
              <a:t>cascading rollback</a:t>
            </a:r>
            <a:r>
              <a:rPr lang="en-US" smtClean="0"/>
              <a:t> occurs in database systems when a transaction (T1) causes a failure and a </a:t>
            </a:r>
            <a:r>
              <a:rPr lang="en-US" b="1" smtClean="0"/>
              <a:t>rollback</a:t>
            </a:r>
            <a:r>
              <a:rPr lang="en-US" smtClean="0"/>
              <a:t> must be performed. Other transactions dependent on T1's actions must also be rollbacked due to T1's failure, thus causing a </a:t>
            </a:r>
            <a:r>
              <a:rPr lang="en-US" b="1" smtClean="0"/>
              <a:t>cascading</a:t>
            </a:r>
            <a:r>
              <a:rPr lang="en-US" smtClean="0"/>
              <a:t> effect. That is, one transaction's failure causes many to fail.</a:t>
            </a:r>
          </a:p>
          <a:p>
            <a:pPr>
              <a:lnSpc>
                <a:spcPct val="110000"/>
              </a:lnSpc>
            </a:pPr>
            <a:r>
              <a:rPr lang="en-US" b="1" smtClean="0">
                <a:solidFill>
                  <a:srgbClr val="000099"/>
                </a:solidFill>
              </a:rPr>
              <a:t>Rigorous two-phase locking</a:t>
            </a:r>
            <a:r>
              <a:rPr lang="en-US" smtClean="0"/>
              <a:t> is even stricter. Here, </a:t>
            </a:r>
            <a:r>
              <a:rPr lang="en-US" i="1" smtClean="0"/>
              <a:t>all </a:t>
            </a:r>
            <a:r>
              <a:rPr lang="en-US" smtClean="0"/>
              <a:t>locks are held till commit/abort. In this protocol transactions can be serialized in the order in which they commit.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Image result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56400" y="1127125"/>
            <a:ext cx="219075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58738" y="1495425"/>
            <a:ext cx="6407151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Implementation of Locking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9975" y="1095375"/>
            <a:ext cx="6996113" cy="4903788"/>
          </a:xfrm>
        </p:spPr>
        <p:txBody>
          <a:bodyPr/>
          <a:lstStyle/>
          <a:p>
            <a:r>
              <a:rPr lang="en-US" smtClean="0"/>
              <a:t>A</a:t>
            </a:r>
            <a:r>
              <a:rPr lang="en-US" b="1" smtClean="0">
                <a:solidFill>
                  <a:schemeClr val="tx2"/>
                </a:solidFill>
              </a:rPr>
              <a:t> </a:t>
            </a:r>
            <a:r>
              <a:rPr lang="en-US" b="1" smtClean="0">
                <a:solidFill>
                  <a:srgbClr val="000099"/>
                </a:solidFill>
              </a:rPr>
              <a:t>lock manager</a:t>
            </a:r>
            <a:r>
              <a:rPr lang="en-US" b="1" smtClean="0">
                <a:solidFill>
                  <a:schemeClr val="tx2"/>
                </a:solidFill>
              </a:rPr>
              <a:t> </a:t>
            </a:r>
            <a:r>
              <a:rPr lang="en-US" smtClean="0"/>
              <a:t>can be implemented as a separate process to which transactions send lock and unlock requests</a:t>
            </a:r>
          </a:p>
          <a:p>
            <a:r>
              <a:rPr lang="en-US" smtClean="0"/>
              <a:t>The lock manager replies to a lock request by sending a lock grant messages (or a message asking the transaction to roll back, in case of  a deadlock)</a:t>
            </a:r>
          </a:p>
          <a:p>
            <a:r>
              <a:rPr lang="en-US" smtClean="0"/>
              <a:t>The requesting transaction waits until its request is answered</a:t>
            </a:r>
          </a:p>
          <a:p>
            <a:r>
              <a:rPr lang="en-US" smtClean="0"/>
              <a:t>The lock manager maintains a data-structure called a </a:t>
            </a:r>
            <a:r>
              <a:rPr lang="en-US" b="1" smtClean="0">
                <a:solidFill>
                  <a:srgbClr val="000099"/>
                </a:solidFill>
              </a:rPr>
              <a:t>lock table</a:t>
            </a:r>
            <a:r>
              <a:rPr lang="en-US" b="1" smtClean="0">
                <a:solidFill>
                  <a:schemeClr val="tx2"/>
                </a:solidFill>
              </a:rPr>
              <a:t> </a:t>
            </a:r>
            <a:r>
              <a:rPr lang="en-US" smtClean="0"/>
              <a:t>to record granted locks and pending requests</a:t>
            </a:r>
          </a:p>
          <a:p>
            <a:r>
              <a:rPr lang="en-US" smtClean="0"/>
              <a:t>The lock table is usually implemented as an in-memory hash table indexed on the name of the data item being locked</a:t>
            </a:r>
            <a:endParaRPr lang="en-US" b="1" smtClean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Lock Table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10100" y="1079500"/>
            <a:ext cx="4318000" cy="5168900"/>
          </a:xfrm>
          <a:noFill/>
        </p:spPr>
        <p:txBody>
          <a:bodyPr/>
          <a:lstStyle/>
          <a:p>
            <a:r>
              <a:rPr lang="en-US" sz="1600" smtClean="0"/>
              <a:t>Dark blue rectangles indicate granted locks; light blue indicate waiting requests</a:t>
            </a:r>
          </a:p>
          <a:p>
            <a:r>
              <a:rPr lang="en-US" sz="1600" smtClean="0"/>
              <a:t>Lock table also records the type of lock granted or requested</a:t>
            </a:r>
          </a:p>
          <a:p>
            <a:r>
              <a:rPr lang="en-US" sz="1600" smtClean="0"/>
              <a:t>New request is added to the end of the queue of requests for the data item, and granted if it is compatible with all earlier locks</a:t>
            </a:r>
          </a:p>
          <a:p>
            <a:r>
              <a:rPr lang="en-US" sz="1600" smtClean="0"/>
              <a:t>Unlock requests result in the request being deleted, and later requests are checked to see if they can now be granted</a:t>
            </a:r>
          </a:p>
          <a:p>
            <a:r>
              <a:rPr lang="en-US" sz="1600" smtClean="0"/>
              <a:t>If transaction aborts, all waiting or granted requests of the transaction are deleted </a:t>
            </a:r>
          </a:p>
          <a:p>
            <a:pPr lvl="1"/>
            <a:r>
              <a:rPr lang="en-US" sz="1600" smtClean="0"/>
              <a:t>lock manager may keep a list of locks held by each transaction, to implement this efficiently</a:t>
            </a:r>
          </a:p>
        </p:txBody>
      </p:sp>
      <p:pic>
        <p:nvPicPr>
          <p:cNvPr id="29700" name="Picture 3" descr="C:\Users\as668\Desktop\15_10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4388" y="1252538"/>
            <a:ext cx="3354387" cy="4722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Deadlock Handling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14388" y="1093788"/>
            <a:ext cx="7151687" cy="3400425"/>
          </a:xfrm>
        </p:spPr>
        <p:txBody>
          <a:bodyPr/>
          <a:lstStyle/>
          <a:p>
            <a:r>
              <a:rPr lang="en-US" smtClean="0"/>
              <a:t>System is deadlocked if there is a set of transactions such that every transaction in the set is waiting for another transaction in the set.</a:t>
            </a:r>
          </a:p>
          <a:p>
            <a:r>
              <a:rPr lang="en-US" b="1" i="1" smtClean="0">
                <a:solidFill>
                  <a:srgbClr val="000099"/>
                </a:solidFill>
              </a:rPr>
              <a:t>Deadlock prevention</a:t>
            </a:r>
            <a:r>
              <a:rPr lang="en-US" smtClean="0"/>
              <a:t> protocols ensure that the system will </a:t>
            </a:r>
            <a:r>
              <a:rPr lang="en-US" i="1" smtClean="0"/>
              <a:t>never</a:t>
            </a:r>
            <a:r>
              <a:rPr lang="en-US" smtClean="0"/>
              <a:t> enter into a deadlock state. Some prevention strategies :</a:t>
            </a:r>
          </a:p>
          <a:p>
            <a:pPr lvl="1"/>
            <a:r>
              <a:rPr lang="en-US" smtClean="0"/>
              <a:t>Require that each transaction locks all its data items before it begins execution (predeclaration).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More Deadlock Prevention Strategies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5500" y="1079500"/>
            <a:ext cx="7648575" cy="4876800"/>
          </a:xfrm>
        </p:spPr>
        <p:txBody>
          <a:bodyPr/>
          <a:lstStyle/>
          <a:p>
            <a:r>
              <a:rPr lang="en-US" smtClean="0"/>
              <a:t>Following schemes use transaction timestamps for the sake of deadlock prevention alone.</a:t>
            </a:r>
          </a:p>
          <a:p>
            <a:r>
              <a:rPr lang="en-US" b="1" smtClean="0">
                <a:solidFill>
                  <a:srgbClr val="000099"/>
                </a:solidFill>
              </a:rPr>
              <a:t>wait-die</a:t>
            </a:r>
            <a:r>
              <a:rPr lang="en-US" smtClean="0"/>
              <a:t> scheme — non-preemptive</a:t>
            </a:r>
          </a:p>
          <a:p>
            <a:pPr lvl="1"/>
            <a:r>
              <a:rPr lang="en-US" smtClean="0"/>
              <a:t>older transaction may wait for younger one to release data item. (older means smaller timestamp) Younger transactions never Younger transactions never wait for older ones; they are rolled back instead.</a:t>
            </a:r>
          </a:p>
          <a:p>
            <a:pPr lvl="1"/>
            <a:r>
              <a:rPr lang="en-US" smtClean="0"/>
              <a:t>a transaction may die several times before acquiring needed data item</a:t>
            </a:r>
          </a:p>
          <a:p>
            <a:r>
              <a:rPr lang="en-US" b="1" smtClean="0">
                <a:solidFill>
                  <a:srgbClr val="000099"/>
                </a:solidFill>
              </a:rPr>
              <a:t>wound-wait</a:t>
            </a:r>
            <a:r>
              <a:rPr lang="en-US" smtClean="0"/>
              <a:t> scheme — preemptive</a:t>
            </a:r>
          </a:p>
          <a:p>
            <a:pPr lvl="1"/>
            <a:r>
              <a:rPr lang="en-US" smtClean="0"/>
              <a:t>older transaction </a:t>
            </a:r>
            <a:r>
              <a:rPr lang="en-US" i="1" smtClean="0"/>
              <a:t>wounds</a:t>
            </a:r>
            <a:r>
              <a:rPr lang="en-US" smtClean="0"/>
              <a:t> (forces rollback) of younger transaction instead of waiting for it. Younger transactions may wait for older ones.</a:t>
            </a:r>
          </a:p>
          <a:p>
            <a:pPr lvl="1"/>
            <a:r>
              <a:rPr lang="en-US" smtClean="0"/>
              <a:t>may be fewer rollbacks than </a:t>
            </a:r>
            <a:r>
              <a:rPr lang="en-US" i="1" smtClean="0"/>
              <a:t>wait-die</a:t>
            </a:r>
            <a:r>
              <a:rPr lang="en-US" smtClean="0"/>
              <a:t> scheme.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ChangeArrowheads="1"/>
          </p:cNvSpPr>
          <p:nvPr/>
        </p:nvSpPr>
        <p:spPr bwMode="auto">
          <a:xfrm>
            <a:off x="276225" y="1892300"/>
            <a:ext cx="8867775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800">
                <a:solidFill>
                  <a:srgbClr val="808080"/>
                </a:solidFill>
                <a:latin typeface="ZapfDingbats"/>
              </a:rPr>
              <a:t>■ </a:t>
            </a:r>
            <a:r>
              <a:rPr lang="en-US" b="1">
                <a:solidFill>
                  <a:srgbClr val="000000"/>
                </a:solidFill>
                <a:latin typeface="Minion-Bold"/>
              </a:rPr>
              <a:t>Wait-die. </a:t>
            </a:r>
            <a:r>
              <a:rPr lang="en-US" b="1">
                <a:solidFill>
                  <a:srgbClr val="000000"/>
                </a:solidFill>
                <a:latin typeface="Minion-Regular"/>
              </a:rPr>
              <a:t>If </a:t>
            </a:r>
            <a:r>
              <a:rPr lang="en-US" sz="1400" b="1">
                <a:solidFill>
                  <a:srgbClr val="000000"/>
                </a:solidFill>
                <a:latin typeface="AkzidenzGroteskBE-Regular"/>
              </a:rPr>
              <a:t>TS</a:t>
            </a:r>
            <a:r>
              <a:rPr lang="en-US" b="1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b="1" i="1">
                <a:solidFill>
                  <a:srgbClr val="000000"/>
                </a:solidFill>
                <a:latin typeface="Minion-Italic"/>
              </a:rPr>
              <a:t>i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) &lt; </a:t>
            </a:r>
            <a:r>
              <a:rPr lang="en-US" sz="1400" b="1" i="1">
                <a:solidFill>
                  <a:srgbClr val="000000"/>
                </a:solidFill>
                <a:latin typeface="AkzidenzGroteskBE-Regular"/>
              </a:rPr>
              <a:t>TS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b="1" i="1">
                <a:solidFill>
                  <a:srgbClr val="000000"/>
                </a:solidFill>
                <a:latin typeface="Minion-Italic"/>
              </a:rPr>
              <a:t>j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), then (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b="1" i="1">
                <a:solidFill>
                  <a:srgbClr val="000000"/>
                </a:solidFill>
                <a:latin typeface="Minion-Italic"/>
              </a:rPr>
              <a:t>i 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older than 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b="1" i="1">
                <a:solidFill>
                  <a:srgbClr val="000000"/>
                </a:solidFill>
                <a:latin typeface="Minion-Italic"/>
              </a:rPr>
              <a:t>j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) 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b="1" i="1">
                <a:solidFill>
                  <a:srgbClr val="000000"/>
                </a:solidFill>
                <a:latin typeface="Minion-Italic"/>
              </a:rPr>
              <a:t>i 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is allowed to wait;</a:t>
            </a:r>
          </a:p>
          <a:p>
            <a:r>
              <a:rPr lang="en-US">
                <a:solidFill>
                  <a:srgbClr val="000000"/>
                </a:solidFill>
                <a:latin typeface="Minion-Regular"/>
              </a:rPr>
              <a:t>otherwise (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i="1">
                <a:solidFill>
                  <a:srgbClr val="000000"/>
                </a:solidFill>
                <a:latin typeface="Minion-Italic"/>
              </a:rPr>
              <a:t>i 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younger than 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i="1">
                <a:solidFill>
                  <a:srgbClr val="000000"/>
                </a:solidFill>
                <a:latin typeface="Minion-Italic"/>
              </a:rPr>
              <a:t>j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) abort 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i="1">
                <a:solidFill>
                  <a:srgbClr val="000000"/>
                </a:solidFill>
                <a:latin typeface="Minion-Italic"/>
              </a:rPr>
              <a:t>i 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i="1">
                <a:solidFill>
                  <a:srgbClr val="000000"/>
                </a:solidFill>
                <a:latin typeface="Minion-Italic"/>
              </a:rPr>
              <a:t>i 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dies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) and restart it later 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with the</a:t>
            </a:r>
          </a:p>
          <a:p>
            <a:r>
              <a:rPr lang="en-US" i="1">
                <a:solidFill>
                  <a:srgbClr val="000000"/>
                </a:solidFill>
                <a:latin typeface="Minion-Italic"/>
              </a:rPr>
              <a:t>same timestamp.</a:t>
            </a:r>
          </a:p>
          <a:p>
            <a:r>
              <a:rPr lang="en-US" sz="800">
                <a:solidFill>
                  <a:srgbClr val="808080"/>
                </a:solidFill>
                <a:latin typeface="ZapfDingbats"/>
              </a:rPr>
              <a:t>■ </a:t>
            </a:r>
            <a:r>
              <a:rPr lang="en-US" b="1">
                <a:solidFill>
                  <a:srgbClr val="000000"/>
                </a:solidFill>
                <a:latin typeface="Minion-Bold"/>
              </a:rPr>
              <a:t>Wound-wait. </a:t>
            </a:r>
            <a:r>
              <a:rPr lang="en-US" b="1">
                <a:solidFill>
                  <a:srgbClr val="000000"/>
                </a:solidFill>
                <a:latin typeface="Minion-Regular"/>
              </a:rPr>
              <a:t>If </a:t>
            </a:r>
            <a:r>
              <a:rPr lang="en-US" sz="1400" b="1">
                <a:solidFill>
                  <a:srgbClr val="000000"/>
                </a:solidFill>
                <a:latin typeface="AkzidenzGroteskBE-Regular"/>
              </a:rPr>
              <a:t>TS</a:t>
            </a:r>
            <a:r>
              <a:rPr lang="en-US" b="1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b="1" i="1">
                <a:solidFill>
                  <a:srgbClr val="000000"/>
                </a:solidFill>
                <a:latin typeface="Minion-Italic"/>
              </a:rPr>
              <a:t>i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) &lt; </a:t>
            </a:r>
            <a:r>
              <a:rPr lang="en-US" sz="1400" b="1" i="1">
                <a:solidFill>
                  <a:srgbClr val="000000"/>
                </a:solidFill>
                <a:latin typeface="AkzidenzGroteskBE-Regular"/>
              </a:rPr>
              <a:t>TS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b="1" i="1">
                <a:solidFill>
                  <a:srgbClr val="000000"/>
                </a:solidFill>
                <a:latin typeface="Minion-Italic"/>
              </a:rPr>
              <a:t>j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), then (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b="1" i="1">
                <a:solidFill>
                  <a:srgbClr val="000000"/>
                </a:solidFill>
                <a:latin typeface="Minion-Italic"/>
              </a:rPr>
              <a:t>i 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older than 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b="1" i="1">
                <a:solidFill>
                  <a:srgbClr val="000000"/>
                </a:solidFill>
                <a:latin typeface="Minion-Italic"/>
              </a:rPr>
              <a:t>j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) abort 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b="1" i="1">
                <a:solidFill>
                  <a:srgbClr val="000000"/>
                </a:solidFill>
                <a:latin typeface="Minion-Italic"/>
              </a:rPr>
              <a:t>j </a:t>
            </a:r>
            <a:r>
              <a:rPr lang="en-US" b="1" i="1">
                <a:solidFill>
                  <a:srgbClr val="000000"/>
                </a:solidFill>
                <a:latin typeface="Minion-Regular"/>
              </a:rPr>
              <a:t>(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b="1" i="1">
                <a:solidFill>
                  <a:srgbClr val="000000"/>
                </a:solidFill>
                <a:latin typeface="Minion-Italic"/>
              </a:rPr>
              <a:t>i </a:t>
            </a:r>
            <a:r>
              <a:rPr lang="en-US" b="1" i="1">
                <a:solidFill>
                  <a:srgbClr val="000000"/>
                </a:solidFill>
                <a:latin typeface="Minion-Italic"/>
              </a:rPr>
              <a:t>wounds</a:t>
            </a:r>
          </a:p>
          <a:p>
            <a:r>
              <a:rPr lang="en-US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i="1">
                <a:solidFill>
                  <a:srgbClr val="000000"/>
                </a:solidFill>
                <a:latin typeface="Minion-Italic"/>
              </a:rPr>
              <a:t>j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) and restart it later 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with the same timestamp; 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otherwise (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i="1">
                <a:solidFill>
                  <a:srgbClr val="000000"/>
                </a:solidFill>
                <a:latin typeface="Minion-Italic"/>
              </a:rPr>
              <a:t>i 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younger than</a:t>
            </a:r>
          </a:p>
          <a:p>
            <a:r>
              <a:rPr lang="en-US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i="1">
                <a:solidFill>
                  <a:srgbClr val="000000"/>
                </a:solidFill>
                <a:latin typeface="Minion-Italic"/>
              </a:rPr>
              <a:t>j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) </a:t>
            </a:r>
            <a:r>
              <a:rPr lang="en-US" i="1">
                <a:solidFill>
                  <a:srgbClr val="000000"/>
                </a:solidFill>
                <a:latin typeface="Minion-Italic"/>
              </a:rPr>
              <a:t>T</a:t>
            </a:r>
            <a:r>
              <a:rPr lang="en-US" sz="1200" i="1">
                <a:solidFill>
                  <a:srgbClr val="000000"/>
                </a:solidFill>
                <a:latin typeface="Minion-Italic"/>
              </a:rPr>
              <a:t>i </a:t>
            </a:r>
            <a:r>
              <a:rPr lang="en-US" i="1">
                <a:solidFill>
                  <a:srgbClr val="000000"/>
                </a:solidFill>
                <a:latin typeface="Minion-Regular"/>
              </a:rPr>
              <a:t>is allowed to wait.</a:t>
            </a:r>
            <a:endParaRPr lang="ar-EG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More Deadlock Prevention Strategies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Deadlock prevention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/>
              <a:t>Both in </a:t>
            </a:r>
            <a:r>
              <a:rPr lang="en-US" i="1" smtClean="0"/>
              <a:t>wait-die</a:t>
            </a:r>
            <a:r>
              <a:rPr lang="en-US" smtClean="0"/>
              <a:t> and in </a:t>
            </a:r>
            <a:r>
              <a:rPr lang="en-US" i="1" smtClean="0"/>
              <a:t>wound-wait</a:t>
            </a:r>
            <a:r>
              <a:rPr lang="en-US" smtClean="0"/>
              <a:t> schemes, a rolled back transactions is restarted with its original timestamp. Older transactions thus have precedence over newer ones, and starvation is hence avoided.</a:t>
            </a:r>
          </a:p>
          <a:p>
            <a:r>
              <a:rPr lang="en-US" b="1" smtClean="0">
                <a:solidFill>
                  <a:srgbClr val="000099"/>
                </a:solidFill>
              </a:rPr>
              <a:t>Timeout-Based Schemes:</a:t>
            </a:r>
          </a:p>
          <a:p>
            <a:pPr lvl="1"/>
            <a:r>
              <a:rPr lang="en-US" smtClean="0"/>
              <a:t>a transaction waits for a lock only for a specified amount of time. If the lock has not been granted within that time, the transaction is rolled back and restarted,</a:t>
            </a:r>
          </a:p>
          <a:p>
            <a:pPr lvl="1"/>
            <a:r>
              <a:rPr lang="en-US" smtClean="0"/>
              <a:t>Thus, deadlocks are not possible</a:t>
            </a:r>
          </a:p>
          <a:p>
            <a:pPr lvl="1"/>
            <a:r>
              <a:rPr lang="en-US" smtClean="0"/>
              <a:t>simple to implement; but starvation is possible. Also difficult to determine good value of the timeout interval.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 smtClean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3481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43075" y="2009775"/>
            <a:ext cx="565785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Deadlock Detection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/>
              <a:t>Deadlocks can be described as a </a:t>
            </a:r>
            <a:r>
              <a:rPr lang="en-US" i="1" smtClean="0">
                <a:solidFill>
                  <a:srgbClr val="000099"/>
                </a:solidFill>
              </a:rPr>
              <a:t>wait-for</a:t>
            </a:r>
            <a:r>
              <a:rPr lang="en-US" i="1" smtClean="0"/>
              <a:t> graph</a:t>
            </a:r>
            <a:r>
              <a:rPr lang="en-US" smtClean="0"/>
              <a:t>, which consists of a pair </a:t>
            </a:r>
            <a:r>
              <a:rPr lang="en-US" i="1" smtClean="0"/>
              <a:t>G</a:t>
            </a:r>
            <a:r>
              <a:rPr lang="en-US" smtClean="0"/>
              <a:t> = (</a:t>
            </a:r>
            <a:r>
              <a:rPr lang="en-US" i="1" smtClean="0"/>
              <a:t>V</a:t>
            </a:r>
            <a:r>
              <a:rPr lang="en-US" smtClean="0"/>
              <a:t>,</a:t>
            </a:r>
            <a:r>
              <a:rPr lang="en-US" i="1" smtClean="0"/>
              <a:t>E</a:t>
            </a:r>
            <a:r>
              <a:rPr lang="en-US" smtClean="0"/>
              <a:t>), </a:t>
            </a:r>
          </a:p>
          <a:p>
            <a:pPr lvl="1"/>
            <a:r>
              <a:rPr lang="en-US" i="1" smtClean="0"/>
              <a:t>V</a:t>
            </a:r>
            <a:r>
              <a:rPr lang="en-US" smtClean="0"/>
              <a:t> is a set of vertices (all the transactions in the system)</a:t>
            </a:r>
          </a:p>
          <a:p>
            <a:pPr lvl="1"/>
            <a:r>
              <a:rPr lang="en-US" i="1" smtClean="0"/>
              <a:t>E</a:t>
            </a:r>
            <a:r>
              <a:rPr lang="en-US" smtClean="0"/>
              <a:t> is a set of edges; each element is an ordered pair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</a:t>
            </a:r>
            <a:r>
              <a:rPr lang="en-US" smtClean="0">
                <a:sym typeface="Symbol" pitchFamily="18" charset="2"/>
              </a:rPr>
              <a:t>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smtClean="0"/>
              <a:t>.  </a:t>
            </a:r>
          </a:p>
          <a:p>
            <a:r>
              <a:rPr lang="en-US" smtClean="0"/>
              <a:t>If </a:t>
            </a:r>
            <a:r>
              <a:rPr lang="en-US" i="1" smtClean="0"/>
              <a:t>T</a:t>
            </a:r>
            <a:r>
              <a:rPr lang="en-US" i="1" baseline="-25000" smtClean="0"/>
              <a:t>i </a:t>
            </a:r>
            <a:r>
              <a:rPr lang="en-US" i="1" smtClean="0">
                <a:sym typeface="Symbol" pitchFamily="18" charset="2"/>
              </a:rPr>
              <a:t></a:t>
            </a:r>
            <a:r>
              <a:rPr lang="en-US" smtClean="0"/>
              <a:t>  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baseline="-25000" smtClean="0"/>
              <a:t> </a:t>
            </a:r>
            <a:r>
              <a:rPr lang="en-US" smtClean="0"/>
              <a:t>is in </a:t>
            </a:r>
            <a:r>
              <a:rPr lang="en-US" i="1" smtClean="0"/>
              <a:t>E</a:t>
            </a:r>
            <a:r>
              <a:rPr lang="en-US" smtClean="0"/>
              <a:t>, then there is a directed edge from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to 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smtClean="0"/>
              <a:t>, implying that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is waiting for 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smtClean="0"/>
              <a:t> to release a data item.</a:t>
            </a:r>
          </a:p>
          <a:p>
            <a:r>
              <a:rPr lang="en-US" smtClean="0"/>
              <a:t>When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requests a data item currently being held by 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smtClean="0"/>
              <a:t>, then the edge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</a:t>
            </a:r>
            <a:r>
              <a:rPr lang="en-US" i="1" smtClean="0">
                <a:sym typeface="Symbol" pitchFamily="18" charset="2"/>
              </a:rPr>
              <a:t></a:t>
            </a:r>
            <a:r>
              <a:rPr lang="en-US" smtClean="0"/>
              <a:t> 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smtClean="0"/>
              <a:t> is inserted in the wait-for graph. This edge is removed only when 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smtClean="0"/>
              <a:t> is no longer holding a data item needed by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.</a:t>
            </a:r>
          </a:p>
          <a:p>
            <a:r>
              <a:rPr lang="en-US" smtClean="0"/>
              <a:t>The system is in a deadlock state if and only if the wait-for graph has a cycle.  Must invoke a deadlock-detection algorithm periodically to look for cycles.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508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Deadlock Detection (Cont.)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909638" y="4210050"/>
            <a:ext cx="35210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Wait-for graph without a cycle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5284788" y="4246563"/>
            <a:ext cx="3168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Wait-for graph with a cycle</a:t>
            </a:r>
          </a:p>
        </p:txBody>
      </p:sp>
      <p:pic>
        <p:nvPicPr>
          <p:cNvPr id="36869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1263" y="1574800"/>
            <a:ext cx="2882900" cy="212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70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99113" y="1747838"/>
            <a:ext cx="2562225" cy="187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Deadlock Recovery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14388" y="1093788"/>
            <a:ext cx="7415212" cy="4903787"/>
          </a:xfrm>
        </p:spPr>
        <p:txBody>
          <a:bodyPr/>
          <a:lstStyle/>
          <a:p>
            <a:r>
              <a:rPr lang="en-US" smtClean="0"/>
              <a:t>When deadlock is  detected :</a:t>
            </a:r>
          </a:p>
          <a:p>
            <a:pPr lvl="1"/>
            <a:r>
              <a:rPr lang="en-US" smtClean="0"/>
              <a:t>Some transaction will have to rolled back (made a victim) to break deadlock.  Select that transaction as victim that will incur minimum cost.</a:t>
            </a:r>
          </a:p>
          <a:p>
            <a:pPr lvl="1"/>
            <a:r>
              <a:rPr lang="en-US" smtClean="0"/>
              <a:t>Rollback -- determine how far to roll back transaction</a:t>
            </a:r>
          </a:p>
          <a:p>
            <a:pPr lvl="2"/>
            <a:r>
              <a:rPr lang="en-US" smtClean="0">
                <a:solidFill>
                  <a:srgbClr val="000099"/>
                </a:solidFill>
              </a:rPr>
              <a:t>Total rollback</a:t>
            </a:r>
            <a:r>
              <a:rPr lang="en-US" smtClean="0"/>
              <a:t>: Abort the transaction and then restart it.</a:t>
            </a:r>
          </a:p>
          <a:p>
            <a:pPr lvl="2"/>
            <a:r>
              <a:rPr lang="en-US" smtClean="0"/>
              <a:t>More effective to roll back transaction only as far as necessary to break deadlock.</a:t>
            </a:r>
          </a:p>
          <a:p>
            <a:pPr lvl="1"/>
            <a:r>
              <a:rPr lang="en-US" smtClean="0"/>
              <a:t>Starvation happens if same transaction is always chosen as victim. Include the number of rollbacks in the cost factor to avoid starvation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Timestamp-Based Protocols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5500" y="1079500"/>
            <a:ext cx="7681913" cy="39147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smtClean="0"/>
              <a:t>Each transaction is issued a timestamp when it enters the system. If an old transaction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has time-stamp TS(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), a new transaction 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smtClean="0"/>
              <a:t> is assigned time-stamp TS(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smtClean="0"/>
              <a:t>) such that TS(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) &lt;TS(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smtClean="0"/>
              <a:t>). </a:t>
            </a:r>
          </a:p>
          <a:p>
            <a:pPr>
              <a:lnSpc>
                <a:spcPct val="110000"/>
              </a:lnSpc>
            </a:pPr>
            <a:r>
              <a:rPr lang="en-US" smtClean="0"/>
              <a:t>The protocol manages concurrent execution such that the time-stamps determine the serializability order.</a:t>
            </a:r>
          </a:p>
          <a:p>
            <a:pPr>
              <a:lnSpc>
                <a:spcPct val="110000"/>
              </a:lnSpc>
            </a:pPr>
            <a:r>
              <a:rPr lang="en-US" smtClean="0"/>
              <a:t>In order to assure such behavior, the protocol maintains for each data </a:t>
            </a:r>
            <a:r>
              <a:rPr lang="en-US" i="1" smtClean="0"/>
              <a:t>Q </a:t>
            </a:r>
            <a:r>
              <a:rPr lang="en-US" smtClean="0"/>
              <a:t>two timestamp values:</a:t>
            </a:r>
          </a:p>
          <a:p>
            <a:pPr lvl="1">
              <a:lnSpc>
                <a:spcPct val="110000"/>
              </a:lnSpc>
            </a:pPr>
            <a:r>
              <a:rPr lang="en-US" b="1" smtClean="0"/>
              <a:t>W-timestamp</a:t>
            </a:r>
            <a:r>
              <a:rPr lang="en-US" smtClean="0"/>
              <a:t>(</a:t>
            </a:r>
            <a:r>
              <a:rPr lang="en-US" i="1" smtClean="0"/>
              <a:t>Q</a:t>
            </a:r>
            <a:r>
              <a:rPr lang="en-US" smtClean="0"/>
              <a:t>) is the largest time-stamp of any transaction that executed </a:t>
            </a:r>
            <a:r>
              <a:rPr lang="en-US" b="1" smtClean="0"/>
              <a:t>write</a:t>
            </a:r>
            <a:r>
              <a:rPr lang="en-US" smtClean="0"/>
              <a:t>(</a:t>
            </a:r>
            <a:r>
              <a:rPr lang="en-US" i="1" smtClean="0"/>
              <a:t>Q</a:t>
            </a:r>
            <a:r>
              <a:rPr lang="en-US" smtClean="0"/>
              <a:t>) successfully.</a:t>
            </a:r>
          </a:p>
          <a:p>
            <a:pPr lvl="1">
              <a:lnSpc>
                <a:spcPct val="110000"/>
              </a:lnSpc>
            </a:pPr>
            <a:r>
              <a:rPr lang="en-US" b="1" smtClean="0"/>
              <a:t>R-timestamp</a:t>
            </a:r>
            <a:r>
              <a:rPr lang="en-US" smtClean="0"/>
              <a:t>(</a:t>
            </a:r>
            <a:r>
              <a:rPr lang="en-US" i="1" smtClean="0"/>
              <a:t>Q</a:t>
            </a:r>
            <a:r>
              <a:rPr lang="en-US" smtClean="0"/>
              <a:t>) is the largest time-stamp of any transaction that executed </a:t>
            </a:r>
            <a:r>
              <a:rPr lang="en-US" b="1" smtClean="0"/>
              <a:t>read</a:t>
            </a:r>
            <a:r>
              <a:rPr lang="en-US" smtClean="0"/>
              <a:t>(</a:t>
            </a:r>
            <a:r>
              <a:rPr lang="en-US" i="1" smtClean="0"/>
              <a:t>Q</a:t>
            </a:r>
            <a:r>
              <a:rPr lang="en-US" smtClean="0"/>
              <a:t>) successfully.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34938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Timestamp-Based Protocols (Cont.)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5500" y="1079500"/>
            <a:ext cx="7442200" cy="3705225"/>
          </a:xfrm>
        </p:spPr>
        <p:txBody>
          <a:bodyPr/>
          <a:lstStyle/>
          <a:p>
            <a:r>
              <a:rPr lang="en-US" smtClean="0"/>
              <a:t>The timestamp ordering protocol ensures that any conflicting </a:t>
            </a:r>
            <a:r>
              <a:rPr lang="en-US" b="1" smtClean="0"/>
              <a:t>read</a:t>
            </a:r>
            <a:r>
              <a:rPr lang="en-US" smtClean="0"/>
              <a:t> and </a:t>
            </a:r>
            <a:r>
              <a:rPr lang="en-US" b="1" smtClean="0"/>
              <a:t>write</a:t>
            </a:r>
            <a:r>
              <a:rPr lang="en-US" smtClean="0"/>
              <a:t> operations are executed in timestamp order.</a:t>
            </a:r>
          </a:p>
          <a:p>
            <a:r>
              <a:rPr lang="en-US" smtClean="0"/>
              <a:t>Suppose a transaction T</a:t>
            </a:r>
            <a:r>
              <a:rPr lang="en-US" baseline="-25000" smtClean="0"/>
              <a:t>i</a:t>
            </a:r>
            <a:r>
              <a:rPr lang="en-US" smtClean="0"/>
              <a:t> issues a </a:t>
            </a:r>
            <a:r>
              <a:rPr lang="en-US" b="1" smtClean="0"/>
              <a:t>read</a:t>
            </a:r>
            <a:r>
              <a:rPr lang="en-US" smtClean="0"/>
              <a:t>(</a:t>
            </a:r>
            <a:r>
              <a:rPr lang="en-US" i="1" smtClean="0"/>
              <a:t>Q</a:t>
            </a:r>
            <a:r>
              <a:rPr lang="en-US" smtClean="0"/>
              <a:t>)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smtClean="0"/>
              <a:t>If TS(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) </a:t>
            </a:r>
            <a:r>
              <a:rPr lang="en-US" smtClean="0">
                <a:sym typeface="Symbol" pitchFamily="18" charset="2"/>
              </a:rPr>
              <a:t>&lt;</a:t>
            </a:r>
            <a:r>
              <a:rPr lang="en-US" smtClean="0"/>
              <a:t> </a:t>
            </a:r>
            <a:r>
              <a:rPr lang="en-US" b="1" smtClean="0"/>
              <a:t>W</a:t>
            </a:r>
            <a:r>
              <a:rPr lang="en-US" smtClean="0"/>
              <a:t>-timestamp(</a:t>
            </a:r>
            <a:r>
              <a:rPr lang="en-US" i="1" smtClean="0"/>
              <a:t>Q</a:t>
            </a:r>
            <a:r>
              <a:rPr lang="en-US" smtClean="0"/>
              <a:t>), then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needs to read a value of </a:t>
            </a:r>
            <a:r>
              <a:rPr lang="en-US" i="1" smtClean="0"/>
              <a:t>Q</a:t>
            </a:r>
            <a:r>
              <a:rPr lang="en-US" smtClean="0"/>
              <a:t>        that was already overwritten.</a:t>
            </a:r>
          </a:p>
          <a:p>
            <a:pPr marL="1200150" lvl="2" indent="-342900">
              <a:buFont typeface="Monotype Sorts" charset="2"/>
              <a:buChar char="n"/>
            </a:pPr>
            <a:r>
              <a:rPr lang="en-US" smtClean="0"/>
              <a:t>Hence, the </a:t>
            </a:r>
            <a:r>
              <a:rPr lang="en-US" b="1" smtClean="0"/>
              <a:t>read</a:t>
            </a:r>
            <a:r>
              <a:rPr lang="en-US" smtClean="0"/>
              <a:t> operation is rejected, and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i="1" smtClean="0"/>
              <a:t> </a:t>
            </a:r>
            <a:r>
              <a:rPr lang="en-US" smtClean="0"/>
              <a:t> is rolled back.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smtClean="0"/>
              <a:t>If TS(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) </a:t>
            </a:r>
            <a:r>
              <a:rPr lang="en-US" smtClean="0">
                <a:sym typeface="Symbol" pitchFamily="18" charset="2"/>
              </a:rPr>
              <a:t>&gt;</a:t>
            </a:r>
            <a:r>
              <a:rPr lang="en-US" smtClean="0"/>
              <a:t> </a:t>
            </a:r>
            <a:r>
              <a:rPr lang="en-US" b="1" smtClean="0"/>
              <a:t>W</a:t>
            </a:r>
            <a:r>
              <a:rPr lang="en-US" smtClean="0"/>
              <a:t>-timestamp(</a:t>
            </a:r>
            <a:r>
              <a:rPr lang="en-US" i="1" smtClean="0"/>
              <a:t>Q</a:t>
            </a:r>
            <a:r>
              <a:rPr lang="en-US" smtClean="0"/>
              <a:t>), then the </a:t>
            </a:r>
            <a:r>
              <a:rPr lang="en-US" b="1" smtClean="0"/>
              <a:t>read</a:t>
            </a:r>
            <a:r>
              <a:rPr lang="en-US" smtClean="0"/>
              <a:t> operation is executed, and R-timestamp(</a:t>
            </a:r>
            <a:r>
              <a:rPr lang="en-US" i="1" smtClean="0"/>
              <a:t>Q</a:t>
            </a:r>
            <a:r>
              <a:rPr lang="en-US" smtClean="0"/>
              <a:t>) is set to </a:t>
            </a:r>
            <a:r>
              <a:rPr lang="en-US" b="1" smtClean="0"/>
              <a:t>max</a:t>
            </a:r>
            <a:r>
              <a:rPr lang="en-US" smtClean="0"/>
              <a:t>(R-timestamp(</a:t>
            </a:r>
            <a:r>
              <a:rPr lang="en-US" i="1" smtClean="0"/>
              <a:t>Q</a:t>
            </a:r>
            <a:r>
              <a:rPr lang="en-US" smtClean="0"/>
              <a:t>), TS(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)).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Timestamp-Based Protocols (Cont.)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14388" y="1093788"/>
            <a:ext cx="7661275" cy="3706812"/>
          </a:xfrm>
        </p:spPr>
        <p:txBody>
          <a:bodyPr/>
          <a:lstStyle/>
          <a:p>
            <a:r>
              <a:rPr lang="en-US" smtClean="0"/>
              <a:t>Suppose that transaction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issues </a:t>
            </a:r>
            <a:r>
              <a:rPr lang="en-US" b="1" smtClean="0"/>
              <a:t>write</a:t>
            </a:r>
            <a:r>
              <a:rPr lang="en-US" smtClean="0"/>
              <a:t>(</a:t>
            </a:r>
            <a:r>
              <a:rPr lang="en-US" i="1" smtClean="0"/>
              <a:t>Q</a:t>
            </a:r>
            <a:r>
              <a:rPr lang="en-US" smtClean="0"/>
              <a:t>).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smtClean="0"/>
              <a:t>If TS(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) &lt; R-timestamp(</a:t>
            </a:r>
            <a:r>
              <a:rPr lang="en-US" i="1" smtClean="0"/>
              <a:t>Q</a:t>
            </a:r>
            <a:r>
              <a:rPr lang="en-US" smtClean="0"/>
              <a:t>), then the value of </a:t>
            </a:r>
            <a:r>
              <a:rPr lang="en-US" i="1" smtClean="0"/>
              <a:t>Q</a:t>
            </a:r>
            <a:r>
              <a:rPr lang="en-US" smtClean="0"/>
              <a:t> that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is producing was needed previously, and the system assumed that that value would never be produced. </a:t>
            </a:r>
          </a:p>
          <a:p>
            <a:pPr marL="1200150" lvl="2" indent="-342900">
              <a:buFont typeface="Monotype Sorts" charset="2"/>
              <a:buChar char="n"/>
            </a:pPr>
            <a:r>
              <a:rPr lang="en-US" smtClean="0"/>
              <a:t>Hence, the </a:t>
            </a:r>
            <a:r>
              <a:rPr lang="en-US" b="1" smtClean="0"/>
              <a:t>write</a:t>
            </a:r>
            <a:r>
              <a:rPr lang="en-US" smtClean="0"/>
              <a:t> operation is rejected, and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is rolled back.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smtClean="0"/>
              <a:t>If TS(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) &lt; W-timestamp(</a:t>
            </a:r>
            <a:r>
              <a:rPr lang="en-US" i="1" smtClean="0"/>
              <a:t>Q</a:t>
            </a:r>
            <a:r>
              <a:rPr lang="en-US" smtClean="0"/>
              <a:t>), then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is attempting to write an obsolete value of </a:t>
            </a:r>
            <a:r>
              <a:rPr lang="en-US" i="1" smtClean="0"/>
              <a:t>Q</a:t>
            </a:r>
            <a:r>
              <a:rPr lang="en-US" smtClean="0"/>
              <a:t>. </a:t>
            </a:r>
          </a:p>
          <a:p>
            <a:pPr marL="1200150" lvl="2" indent="-342900">
              <a:buFont typeface="Monotype Sorts" charset="2"/>
              <a:buChar char="n"/>
            </a:pPr>
            <a:r>
              <a:rPr lang="en-US" smtClean="0"/>
              <a:t>Hence, this </a:t>
            </a:r>
            <a:r>
              <a:rPr lang="en-US" b="1" smtClean="0"/>
              <a:t>write</a:t>
            </a:r>
            <a:r>
              <a:rPr lang="en-US" smtClean="0"/>
              <a:t> operation is rejected, and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is rolled back.</a:t>
            </a:r>
          </a:p>
          <a:p>
            <a:pPr marL="800100" lvl="1" indent="-342900">
              <a:buFont typeface="Monotype Sorts" charset="2"/>
              <a:buAutoNum type="arabicPeriod"/>
            </a:pPr>
            <a:r>
              <a:rPr lang="en-US" smtClean="0"/>
              <a:t>Otherwise, the </a:t>
            </a:r>
            <a:r>
              <a:rPr lang="en-US" b="1" smtClean="0"/>
              <a:t> write</a:t>
            </a:r>
            <a:r>
              <a:rPr lang="en-US" smtClean="0"/>
              <a:t> operation is executed, and W-timestamp(</a:t>
            </a:r>
            <a:r>
              <a:rPr lang="en-US" i="1" smtClean="0"/>
              <a:t>Q</a:t>
            </a:r>
            <a:r>
              <a:rPr lang="en-US" smtClean="0"/>
              <a:t>) is set to TS(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3970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Example Use of the Protocol</a:t>
            </a:r>
          </a:p>
        </p:txBody>
      </p:sp>
      <p:sp>
        <p:nvSpPr>
          <p:cNvPr id="41987" name="Rectangle 5"/>
          <p:cNvSpPr>
            <a:spLocks noChangeArrowheads="1"/>
          </p:cNvSpPr>
          <p:nvPr/>
        </p:nvSpPr>
        <p:spPr bwMode="auto">
          <a:xfrm>
            <a:off x="927100" y="1085850"/>
            <a:ext cx="6705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sz="1800"/>
              <a:t>A partial schedule for several data items for transactions with</a:t>
            </a:r>
          </a:p>
          <a:p>
            <a:r>
              <a:rPr kumimoji="1" lang="en-US" sz="1800"/>
              <a:t>timestamps 1, 2, 3, 4, 5</a:t>
            </a:r>
          </a:p>
        </p:txBody>
      </p:sp>
      <p:pic>
        <p:nvPicPr>
          <p:cNvPr id="4198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76413" y="2041525"/>
            <a:ext cx="4983162" cy="371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80963"/>
            <a:ext cx="8610600" cy="609600"/>
          </a:xfrm>
        </p:spPr>
        <p:txBody>
          <a:bodyPr/>
          <a:lstStyle/>
          <a:p>
            <a:pPr>
              <a:defRPr/>
            </a:pPr>
            <a:r>
              <a:rPr lang="en-US" sz="28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Correctness of Timestamp-Ordering Protocol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5500" y="1079500"/>
            <a:ext cx="7416800" cy="5286375"/>
          </a:xfrm>
        </p:spPr>
        <p:txBody>
          <a:bodyPr/>
          <a:lstStyle/>
          <a:p>
            <a:r>
              <a:rPr lang="en-US" smtClean="0"/>
              <a:t>The timestamp-ordering protocol guarantees serializability since all the arcs in the precedence graph are of the form:</a:t>
            </a:r>
          </a:p>
          <a:p>
            <a:pPr>
              <a:buFont typeface="Monotype Sorts" charset="2"/>
              <a:buNone/>
            </a:pPr>
            <a:r>
              <a:rPr lang="en-US" smtClean="0"/>
              <a:t>    </a:t>
            </a:r>
          </a:p>
          <a:p>
            <a:pPr>
              <a:buFont typeface="Monotype Sorts" charset="2"/>
              <a:buNone/>
            </a:pPr>
            <a:endParaRPr lang="en-US" smtClean="0"/>
          </a:p>
          <a:p>
            <a:pPr>
              <a:buFont typeface="Monotype Sorts" charset="2"/>
              <a:buNone/>
            </a:pPr>
            <a:endParaRPr lang="en-US" smtClean="0"/>
          </a:p>
          <a:p>
            <a:pPr>
              <a:buFont typeface="Monotype Sorts" charset="2"/>
              <a:buNone/>
            </a:pPr>
            <a:endParaRPr lang="en-US" smtClean="0"/>
          </a:p>
          <a:p>
            <a:pPr>
              <a:buFont typeface="Monotype Sorts" charset="2"/>
              <a:buNone/>
            </a:pPr>
            <a:endParaRPr lang="en-US" smtClean="0"/>
          </a:p>
          <a:p>
            <a:pPr>
              <a:buFont typeface="Monotype Sorts" charset="2"/>
              <a:buNone/>
            </a:pPr>
            <a:r>
              <a:rPr lang="en-US" smtClean="0"/>
              <a:t>    Thus, there will be </a:t>
            </a:r>
            <a:r>
              <a:rPr lang="en-US" b="1" smtClean="0">
                <a:solidFill>
                  <a:srgbClr val="FF0000"/>
                </a:solidFill>
              </a:rPr>
              <a:t>no cycles </a:t>
            </a:r>
            <a:r>
              <a:rPr lang="en-US" smtClean="0"/>
              <a:t>in the precedence graph</a:t>
            </a:r>
          </a:p>
          <a:p>
            <a:pPr>
              <a:lnSpc>
                <a:spcPct val="90000"/>
              </a:lnSpc>
            </a:pPr>
            <a:r>
              <a:rPr lang="en-US" smtClean="0"/>
              <a:t>Timestamp protocol ensures </a:t>
            </a:r>
            <a:r>
              <a:rPr lang="en-US" b="1" smtClean="0">
                <a:solidFill>
                  <a:srgbClr val="FF0000"/>
                </a:solidFill>
              </a:rPr>
              <a:t>freedom from deadlock </a:t>
            </a:r>
            <a:r>
              <a:rPr lang="en-US" smtClean="0"/>
              <a:t>as no transaction ever waits.  </a:t>
            </a:r>
          </a:p>
        </p:txBody>
      </p:sp>
      <p:pic>
        <p:nvPicPr>
          <p:cNvPr id="43012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2013" y="1979613"/>
            <a:ext cx="4945062" cy="137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Deadlocks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76313" y="1079500"/>
            <a:ext cx="7661275" cy="4903788"/>
          </a:xfrm>
        </p:spPr>
        <p:txBody>
          <a:bodyPr/>
          <a:lstStyle/>
          <a:p>
            <a:r>
              <a:rPr lang="en-US" smtClean="0"/>
              <a:t>Consider the following two transactions:</a:t>
            </a:r>
          </a:p>
          <a:p>
            <a:pPr>
              <a:buFont typeface="Monotype Sorts" charset="2"/>
              <a:buNone/>
            </a:pPr>
            <a:r>
              <a:rPr lang="en-US" smtClean="0"/>
              <a:t>             </a:t>
            </a:r>
            <a:r>
              <a:rPr lang="en-US" i="1" smtClean="0"/>
              <a:t>T</a:t>
            </a:r>
            <a:r>
              <a:rPr lang="en-US" baseline="-25000" smtClean="0"/>
              <a:t>1</a:t>
            </a:r>
            <a:r>
              <a:rPr lang="en-US" smtClean="0"/>
              <a:t>:     write (</a:t>
            </a:r>
            <a:r>
              <a:rPr lang="en-US" i="1" smtClean="0"/>
              <a:t>X</a:t>
            </a:r>
            <a:r>
              <a:rPr lang="en-US" smtClean="0"/>
              <a:t>)               </a:t>
            </a:r>
            <a:r>
              <a:rPr lang="en-US" i="1" smtClean="0"/>
              <a:t>T</a:t>
            </a:r>
            <a:r>
              <a:rPr lang="en-US" baseline="-25000" smtClean="0"/>
              <a:t>2</a:t>
            </a:r>
            <a:r>
              <a:rPr lang="en-US" smtClean="0"/>
              <a:t>:    write(</a:t>
            </a:r>
            <a:r>
              <a:rPr lang="en-US" i="1" smtClean="0"/>
              <a:t>Y</a:t>
            </a:r>
            <a:r>
              <a:rPr lang="en-US" smtClean="0"/>
              <a:t>)</a:t>
            </a:r>
          </a:p>
          <a:p>
            <a:pPr>
              <a:buFont typeface="Monotype Sorts" charset="2"/>
              <a:buNone/>
            </a:pPr>
            <a:r>
              <a:rPr lang="en-US" smtClean="0"/>
              <a:t>                       write(</a:t>
            </a:r>
            <a:r>
              <a:rPr lang="en-US" i="1" smtClean="0"/>
              <a:t>Y</a:t>
            </a:r>
            <a:r>
              <a:rPr lang="en-US" smtClean="0"/>
              <a:t>)                         write(</a:t>
            </a:r>
            <a:r>
              <a:rPr lang="en-US" i="1" smtClean="0"/>
              <a:t>X</a:t>
            </a:r>
            <a:r>
              <a:rPr lang="en-US" smtClean="0"/>
              <a:t>)</a:t>
            </a:r>
          </a:p>
          <a:p>
            <a:pPr>
              <a:buFont typeface="Monotype Sorts" charset="2"/>
              <a:buNone/>
            </a:pPr>
            <a:endParaRPr lang="en-US" smtClean="0"/>
          </a:p>
          <a:p>
            <a:r>
              <a:rPr lang="en-US" smtClean="0"/>
              <a:t>Schedule with deadlock</a:t>
            </a:r>
          </a:p>
        </p:txBody>
      </p:sp>
      <p:pic>
        <p:nvPicPr>
          <p:cNvPr id="44036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31975" y="3117850"/>
            <a:ext cx="4197350" cy="206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Recovery and Cascade Freedom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14388" y="1093788"/>
            <a:ext cx="7708900" cy="5284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mtClean="0"/>
              <a:t>Problem with timestamp-ordering protocol: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Suppose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aborts, but 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smtClean="0"/>
              <a:t> has read a data item written by 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endParaRPr lang="en-US" smtClean="0"/>
          </a:p>
          <a:p>
            <a:pPr lvl="1">
              <a:lnSpc>
                <a:spcPct val="90000"/>
              </a:lnSpc>
            </a:pPr>
            <a:r>
              <a:rPr lang="en-US" smtClean="0"/>
              <a:t>Then 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i="1" smtClean="0"/>
              <a:t> </a:t>
            </a:r>
            <a:r>
              <a:rPr lang="en-US" smtClean="0"/>
              <a:t>must abort; if 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i="1" smtClean="0"/>
              <a:t> </a:t>
            </a:r>
            <a:r>
              <a:rPr lang="en-US" smtClean="0"/>
              <a:t>had been allowed to commit earlier, the schedule is not recoverable.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Further, any transaction that has read a data item written by </a:t>
            </a:r>
            <a:r>
              <a:rPr lang="en-US" i="1" smtClean="0"/>
              <a:t>T</a:t>
            </a:r>
            <a:r>
              <a:rPr lang="en-US" i="1" baseline="-25000" smtClean="0"/>
              <a:t>j</a:t>
            </a:r>
            <a:r>
              <a:rPr lang="en-US" smtClean="0"/>
              <a:t> must abort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This can lead to </a:t>
            </a:r>
            <a:r>
              <a:rPr lang="en-US" b="1" smtClean="0">
                <a:solidFill>
                  <a:srgbClr val="FF0000"/>
                </a:solidFill>
              </a:rPr>
              <a:t>cascading rollback</a:t>
            </a:r>
            <a:r>
              <a:rPr lang="en-US" smtClean="0"/>
              <a:t> --- that is, a chain of rollbacks </a:t>
            </a:r>
          </a:p>
          <a:p>
            <a:pPr>
              <a:lnSpc>
                <a:spcPct val="90000"/>
              </a:lnSpc>
            </a:pPr>
            <a:r>
              <a:rPr lang="en-US" smtClean="0"/>
              <a:t> Solution 1: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A transaction is structured such that </a:t>
            </a:r>
            <a:r>
              <a:rPr lang="en-US" smtClean="0">
                <a:solidFill>
                  <a:srgbClr val="FF0000"/>
                </a:solidFill>
              </a:rPr>
              <a:t>its writes are all performed </a:t>
            </a:r>
            <a:r>
              <a:rPr lang="en-US" smtClean="0"/>
              <a:t>at the end of its processing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A transaction that aborts is </a:t>
            </a:r>
            <a:r>
              <a:rPr lang="en-US" smtClean="0">
                <a:solidFill>
                  <a:srgbClr val="FF0000"/>
                </a:solidFill>
              </a:rPr>
              <a:t>restarted</a:t>
            </a:r>
            <a:r>
              <a:rPr lang="en-US" smtClean="0"/>
              <a:t> with a new timestamp</a:t>
            </a:r>
          </a:p>
          <a:p>
            <a:pPr>
              <a:lnSpc>
                <a:spcPct val="90000"/>
              </a:lnSpc>
            </a:pPr>
            <a:r>
              <a:rPr lang="en-US" smtClean="0"/>
              <a:t>Solution 2: Limited form of locking: </a:t>
            </a:r>
            <a:r>
              <a:rPr lang="en-US" smtClean="0">
                <a:solidFill>
                  <a:srgbClr val="FF0000"/>
                </a:solidFill>
              </a:rPr>
              <a:t>wait for data to be committed before reading it</a:t>
            </a:r>
          </a:p>
          <a:p>
            <a:pPr>
              <a:lnSpc>
                <a:spcPct val="90000"/>
              </a:lnSpc>
            </a:pPr>
            <a:r>
              <a:rPr lang="en-US" smtClean="0"/>
              <a:t>Solution 3: Use commit dependencies to ensure recovery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Thomas</a:t>
            </a:r>
            <a:r>
              <a:rPr lang="ja-JP" altLang="en-US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’</a:t>
            </a:r>
            <a:r>
              <a:rPr lang="en-US" altLang="ja-JP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4" charset="-128"/>
              </a:rPr>
              <a:t> Write Rule</a:t>
            </a:r>
            <a:endParaRPr lang="en-US" smtClean="0">
              <a:effectLst>
                <a:outerShdw blurRad="38100" dist="38100" dir="2700000" algn="tl">
                  <a:srgbClr val="C0C0C0"/>
                </a:outerShdw>
              </a:effectLst>
              <a:ea typeface="ＭＳ Ｐゴシック" pitchFamily="34" charset="-128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smtClean="0"/>
              <a:t>Modified version of the timestamp-ordering protocol in which obsolete </a:t>
            </a:r>
            <a:r>
              <a:rPr lang="en-US" b="1" smtClean="0"/>
              <a:t> write</a:t>
            </a:r>
            <a:r>
              <a:rPr lang="en-US" smtClean="0"/>
              <a:t> operations may be ignored under certain circumstances.</a:t>
            </a:r>
          </a:p>
          <a:p>
            <a:pPr>
              <a:lnSpc>
                <a:spcPct val="110000"/>
              </a:lnSpc>
            </a:pPr>
            <a:r>
              <a:rPr lang="en-US" smtClean="0"/>
              <a:t>When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attempts to write data item </a:t>
            </a:r>
            <a:r>
              <a:rPr lang="en-US" i="1" smtClean="0"/>
              <a:t>Q</a:t>
            </a:r>
            <a:r>
              <a:rPr lang="en-US" smtClean="0"/>
              <a:t>, if TS(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) </a:t>
            </a:r>
            <a:r>
              <a:rPr lang="en-US" i="1" smtClean="0"/>
              <a:t>&lt;</a:t>
            </a:r>
            <a:r>
              <a:rPr lang="en-US" smtClean="0"/>
              <a:t> W-timestamp(</a:t>
            </a:r>
            <a:r>
              <a:rPr lang="en-US" i="1" smtClean="0"/>
              <a:t>Q</a:t>
            </a:r>
            <a:r>
              <a:rPr lang="en-US" smtClean="0"/>
              <a:t>), then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is attempting to write an obsolete value of {</a:t>
            </a:r>
            <a:r>
              <a:rPr lang="en-US" i="1" smtClean="0"/>
              <a:t>Q</a:t>
            </a:r>
            <a:r>
              <a:rPr lang="en-US" smtClean="0"/>
              <a:t>}. </a:t>
            </a:r>
          </a:p>
          <a:p>
            <a:pPr lvl="1">
              <a:lnSpc>
                <a:spcPct val="110000"/>
              </a:lnSpc>
            </a:pPr>
            <a:r>
              <a:rPr lang="en-US" smtClean="0"/>
              <a:t>Rather than rolling back </a:t>
            </a:r>
            <a:r>
              <a:rPr lang="en-US" i="1" smtClean="0"/>
              <a:t>T</a:t>
            </a:r>
            <a:r>
              <a:rPr lang="en-US" i="1" baseline="-25000" smtClean="0"/>
              <a:t>i</a:t>
            </a:r>
            <a:r>
              <a:rPr lang="en-US" smtClean="0"/>
              <a:t> as the timestamp ordering protocol would have done, this {</a:t>
            </a:r>
            <a:r>
              <a:rPr lang="en-US" b="1" smtClean="0"/>
              <a:t>write</a:t>
            </a:r>
            <a:r>
              <a:rPr lang="en-US" smtClean="0"/>
              <a:t>} operation can be ignored.</a:t>
            </a:r>
          </a:p>
          <a:p>
            <a:r>
              <a:rPr lang="en-US" smtClean="0"/>
              <a:t>Otherwise this protocol is the same as the timestamp ordering protocol.</a:t>
            </a:r>
          </a:p>
          <a:p>
            <a:pPr>
              <a:lnSpc>
                <a:spcPct val="120000"/>
              </a:lnSpc>
            </a:pPr>
            <a:r>
              <a:rPr lang="en-US" smtClean="0"/>
              <a:t>Thomas' Write Rule allows greater potential concurrency. </a:t>
            </a:r>
          </a:p>
          <a:p>
            <a:pPr lvl="1">
              <a:lnSpc>
                <a:spcPct val="120000"/>
              </a:lnSpc>
            </a:pPr>
            <a:r>
              <a:rPr lang="en-US" smtClean="0"/>
              <a:t>Allows some view-serializable schedules that are not conflict-serializable.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286000"/>
            <a:ext cx="7772400" cy="1143000"/>
          </a:xfrm>
          <a:noFill/>
        </p:spPr>
        <p:txBody>
          <a:bodyPr/>
          <a:lstStyle/>
          <a:p>
            <a:r>
              <a:rPr lang="en-US" smtClean="0">
                <a:effectLst/>
              </a:rPr>
              <a:t>End of Module 16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38706</TotalTime>
  <Words>3442</Words>
  <Application>Microsoft Office PowerPoint</Application>
  <PresentationFormat>On-screen Show (4:3)</PresentationFormat>
  <Paragraphs>281</Paragraphs>
  <Slides>43</Slides>
  <Notes>26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5" baseType="lpstr">
      <vt:lpstr>2_db-5-grey</vt:lpstr>
      <vt:lpstr>Clip</vt:lpstr>
      <vt:lpstr>Chapter 15 : Concurrency Control </vt:lpstr>
      <vt:lpstr>Outline</vt:lpstr>
      <vt:lpstr>concurrency</vt:lpstr>
      <vt:lpstr>concurrency</vt:lpstr>
      <vt:lpstr>concurrency control</vt:lpstr>
      <vt:lpstr>Lost Update:</vt:lpstr>
      <vt:lpstr>Uncommitted Dependency</vt:lpstr>
      <vt:lpstr>Concurrency control techniques</vt:lpstr>
      <vt:lpstr>   Concurrency control techniques</vt:lpstr>
      <vt:lpstr>Binary lock</vt:lpstr>
      <vt:lpstr>Binary lock</vt:lpstr>
      <vt:lpstr>Lock-Based Protocols</vt:lpstr>
      <vt:lpstr>Lock-Based Protocols (Cont.)</vt:lpstr>
      <vt:lpstr>Lock-Based Protocols (Cont.)</vt:lpstr>
      <vt:lpstr>The Two-Phase Locking Protocol</vt:lpstr>
      <vt:lpstr>The Two-Phase Locking Protocol</vt:lpstr>
      <vt:lpstr>The Two-Phase Locking Protocol</vt:lpstr>
      <vt:lpstr>The Two-Phase Locking Protocol</vt:lpstr>
      <vt:lpstr>Lock Conversionsتحويل الأقفال.  </vt:lpstr>
      <vt:lpstr>Deadlocks</vt:lpstr>
      <vt:lpstr>Deadlocks</vt:lpstr>
      <vt:lpstr>Deadlocks (Cont.)</vt:lpstr>
      <vt:lpstr>Deadlocks (Cont.)</vt:lpstr>
      <vt:lpstr>Slide 24</vt:lpstr>
      <vt:lpstr>Implementation of Locking</vt:lpstr>
      <vt:lpstr>Lock Table</vt:lpstr>
      <vt:lpstr>Deadlock Handling</vt:lpstr>
      <vt:lpstr>More Deadlock Prevention Strategies</vt:lpstr>
      <vt:lpstr>More Deadlock Prevention Strategies</vt:lpstr>
      <vt:lpstr>Deadlock prevention (Cont.)</vt:lpstr>
      <vt:lpstr>Slide 31</vt:lpstr>
      <vt:lpstr>Deadlock Detection</vt:lpstr>
      <vt:lpstr>Deadlock Detection (Cont.)</vt:lpstr>
      <vt:lpstr>Deadlock Recovery</vt:lpstr>
      <vt:lpstr>Timestamp-Based Protocols</vt:lpstr>
      <vt:lpstr>Timestamp-Based Protocols (Cont.)</vt:lpstr>
      <vt:lpstr>Timestamp-Based Protocols (Cont.)</vt:lpstr>
      <vt:lpstr>Example Use of the Protocol</vt:lpstr>
      <vt:lpstr>Correctness of Timestamp-Ordering Protocol</vt:lpstr>
      <vt:lpstr>Deadlocks</vt:lpstr>
      <vt:lpstr>Recovery and Cascade Freedom</vt:lpstr>
      <vt:lpstr>Thomas’ Write Rule</vt:lpstr>
      <vt:lpstr>End of Module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15: Concurrency Control</dc:title>
  <dc:creator>Silberschatz, Korth and Sudarshan</dc:creator>
  <cp:lastModifiedBy>hp</cp:lastModifiedBy>
  <cp:revision>341</cp:revision>
  <dcterms:created xsi:type="dcterms:W3CDTF">2009-12-21T15:40:24Z</dcterms:created>
  <dcterms:modified xsi:type="dcterms:W3CDTF">2025-04-30T06:20:47Z</dcterms:modified>
</cp:coreProperties>
</file>