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9"/>
  </p:notesMasterIdLst>
  <p:sldIdLst>
    <p:sldId id="256" r:id="rId2"/>
    <p:sldId id="282" r:id="rId3"/>
    <p:sldId id="257" r:id="rId4"/>
    <p:sldId id="283" r:id="rId5"/>
    <p:sldId id="284" r:id="rId6"/>
    <p:sldId id="285" r:id="rId7"/>
    <p:sldId id="287" r:id="rId8"/>
    <p:sldId id="286" r:id="rId9"/>
    <p:sldId id="288" r:id="rId10"/>
    <p:sldId id="289" r:id="rId11"/>
    <p:sldId id="290" r:id="rId12"/>
    <p:sldId id="291" r:id="rId13"/>
    <p:sldId id="292" r:id="rId14"/>
    <p:sldId id="293" r:id="rId15"/>
    <p:sldId id="294" r:id="rId16"/>
    <p:sldId id="295" r:id="rId17"/>
    <p:sldId id="296" r:id="rId18"/>
    <p:sldId id="298" r:id="rId19"/>
    <p:sldId id="297" r:id="rId20"/>
    <p:sldId id="299" r:id="rId21"/>
    <p:sldId id="300" r:id="rId22"/>
    <p:sldId id="259" r:id="rId23"/>
    <p:sldId id="301" r:id="rId24"/>
    <p:sldId id="261" r:id="rId25"/>
    <p:sldId id="262" r:id="rId26"/>
    <p:sldId id="302" r:id="rId27"/>
    <p:sldId id="273" r:id="rId28"/>
    <p:sldId id="258" r:id="rId29"/>
    <p:sldId id="274" r:id="rId30"/>
    <p:sldId id="275" r:id="rId31"/>
    <p:sldId id="303" r:id="rId32"/>
    <p:sldId id="304" r:id="rId33"/>
    <p:sldId id="306" r:id="rId34"/>
    <p:sldId id="305" r:id="rId35"/>
    <p:sldId id="260" r:id="rId36"/>
    <p:sldId id="276" r:id="rId37"/>
    <p:sldId id="307" r:id="rId38"/>
    <p:sldId id="308" r:id="rId39"/>
    <p:sldId id="309" r:id="rId40"/>
    <p:sldId id="310" r:id="rId41"/>
    <p:sldId id="277" r:id="rId42"/>
    <p:sldId id="311" r:id="rId43"/>
    <p:sldId id="312" r:id="rId44"/>
    <p:sldId id="278" r:id="rId45"/>
    <p:sldId id="313" r:id="rId46"/>
    <p:sldId id="314" r:id="rId47"/>
    <p:sldId id="264" r:id="rId48"/>
    <p:sldId id="265" r:id="rId49"/>
    <p:sldId id="266" r:id="rId50"/>
    <p:sldId id="267" r:id="rId51"/>
    <p:sldId id="279" r:id="rId52"/>
    <p:sldId id="268" r:id="rId53"/>
    <p:sldId id="269" r:id="rId54"/>
    <p:sldId id="270" r:id="rId55"/>
    <p:sldId id="271" r:id="rId56"/>
    <p:sldId id="280" r:id="rId57"/>
    <p:sldId id="281" r:id="rId5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30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itchFamily="34" charset="0"/>
              </a:defRPr>
            </a:lvl1pPr>
          </a:lstStyle>
          <a:p>
            <a:fld id="{9C1AACE4-D8EF-4ED6-B3ED-DDBB22FA94F0}"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5A2091-2091-4D23-A25B-C23B58389B18}" type="slidenum">
              <a:rPr lang="en-US"/>
              <a:pPr/>
              <a:t>52</a:t>
            </a:fld>
            <a:endParaRPr lang="en-US"/>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p:txBody>
          <a:bodyPr/>
          <a:lstStyle/>
          <a:p>
            <a:r>
              <a:rPr lang="en-US"/>
              <a:t>Mention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9312916-387A-476A-B687-4F53345C733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07D3F1C2-335F-4818-B37D-8F2424B0C395}"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43023EB-2FB5-460C-8981-E71BCFA4F1CF}"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fld id="{172BF8DE-A379-4A88-9ACB-8BC75744982A}"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fld id="{30DEF22A-C012-484A-9E1F-5C10C03F35C9}"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34F00D5-A6D7-41DC-84CD-89FC3BE78F4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CE54CCA0-4B65-48D7-805D-6E0747B0B97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A62595AB-B5A3-47D5-B889-57AB0CADBD75}"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DC69C8CD-61B4-4E80-AD19-625C3B58F701}"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FB767-DFA1-43EB-85F8-53634188034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5B56687D-7584-468D-87F4-CFA328B1B09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789717BC-D8D3-4B7C-B659-88FA3E038B0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09600" y="2133600"/>
            <a:ext cx="7924800" cy="947738"/>
          </a:xfrm>
        </p:spPr>
        <p:txBody>
          <a:bodyPr>
            <a:normAutofit fontScale="90000"/>
          </a:bodyPr>
          <a:lstStyle/>
          <a:p>
            <a:pPr algn="ctr"/>
            <a:r>
              <a:rPr lang="en-US" sz="3600" dirty="0"/>
              <a:t>Software DEVOLPMENT and Documentation</a:t>
            </a:r>
            <a:br>
              <a:rPr lang="en-US" dirty="0"/>
            </a:br>
            <a:endParaRPr lang="en-US" sz="2800" dirty="0"/>
          </a:p>
        </p:txBody>
      </p:sp>
      <p:sp>
        <p:nvSpPr>
          <p:cNvPr id="7" name="Subtitle 6"/>
          <p:cNvSpPr>
            <a:spLocks noGrp="1"/>
          </p:cNvSpPr>
          <p:nvPr>
            <p:ph type="subTitle" idx="1"/>
          </p:nvPr>
        </p:nvSpPr>
        <p:spPr/>
        <p:txBody>
          <a:bodyPr/>
          <a:lstStyle/>
          <a:p>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CE4F6-90F4-8B08-6B21-AE3F017550C6}"/>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B6564667-0EF1-0C44-4D45-89C197B1E0AE}"/>
              </a:ext>
            </a:extLst>
          </p:cNvPr>
          <p:cNvSpPr>
            <a:spLocks noGrp="1"/>
          </p:cNvSpPr>
          <p:nvPr>
            <p:ph sz="quarter" idx="1"/>
          </p:nvPr>
        </p:nvSpPr>
        <p:spPr/>
        <p:txBody>
          <a:bodyPr>
            <a:normAutofit/>
          </a:bodyPr>
          <a:lstStyle/>
          <a:p>
            <a:endParaRPr lang="en-US" dirty="0"/>
          </a:p>
          <a:p>
            <a:r>
              <a:rPr lang="en-US" dirty="0"/>
              <a:t>Project (25%): A comprehensive project where students document a sample software application, covering each SDLC phase.</a:t>
            </a:r>
          </a:p>
          <a:p>
            <a:endParaRPr lang="en-US" dirty="0"/>
          </a:p>
          <a:p>
            <a:r>
              <a:rPr lang="en-US" dirty="0"/>
              <a:t>Final Exam (75%)</a:t>
            </a:r>
            <a:endParaRPr lang="ar-SD" dirty="0"/>
          </a:p>
        </p:txBody>
      </p:sp>
    </p:spTree>
    <p:extLst>
      <p:ext uri="{BB962C8B-B14F-4D97-AF65-F5344CB8AC3E}">
        <p14:creationId xmlns:p14="http://schemas.microsoft.com/office/powerpoint/2010/main" val="2468272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Introduction</a:t>
            </a:r>
          </a:p>
        </p:txBody>
      </p:sp>
      <p:sp>
        <p:nvSpPr>
          <p:cNvPr id="6147" name="Rectangle 3"/>
          <p:cNvSpPr>
            <a:spLocks noGrp="1" noChangeArrowheads="1"/>
          </p:cNvSpPr>
          <p:nvPr>
            <p:ph sz="quarter" idx="1"/>
          </p:nvPr>
        </p:nvSpPr>
        <p:spPr/>
        <p:txBody>
          <a:bodyPr/>
          <a:lstStyle/>
          <a:p>
            <a:pPr lvl="1"/>
            <a:r>
              <a:rPr lang="en-US" dirty="0"/>
              <a:t>Reasons for software documentation</a:t>
            </a:r>
          </a:p>
          <a:p>
            <a:pPr lvl="1"/>
            <a:r>
              <a:rPr lang="en-US" dirty="0"/>
              <a:t>Types of software documentation</a:t>
            </a:r>
          </a:p>
          <a:p>
            <a:pPr lvl="1"/>
            <a:r>
              <a:rPr lang="en-US" dirty="0"/>
              <a:t>Ways to implement software documentation</a:t>
            </a:r>
          </a:p>
          <a:p>
            <a:pPr lvl="2"/>
            <a:r>
              <a:rPr lang="en-US" dirty="0"/>
              <a:t>Processes and “Good Ideas”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4D6E3-876A-47B5-EC69-967C5BD0E221}"/>
              </a:ext>
            </a:extLst>
          </p:cNvPr>
          <p:cNvSpPr>
            <a:spLocks noGrp="1"/>
          </p:cNvSpPr>
          <p:nvPr>
            <p:ph type="title"/>
          </p:nvPr>
        </p:nvSpPr>
        <p:spPr/>
        <p:txBody>
          <a:bodyPr>
            <a:normAutofit fontScale="90000"/>
          </a:bodyPr>
          <a:lstStyle/>
          <a:p>
            <a:r>
              <a:rPr lang="en-US" dirty="0"/>
              <a:t>What is the Software documentation </a:t>
            </a:r>
            <a:endParaRPr lang="ar-SD" dirty="0"/>
          </a:p>
        </p:txBody>
      </p:sp>
      <p:sp>
        <p:nvSpPr>
          <p:cNvPr id="3" name="Content Placeholder 2">
            <a:extLst>
              <a:ext uri="{FF2B5EF4-FFF2-40B4-BE49-F238E27FC236}">
                <a16:creationId xmlns:a16="http://schemas.microsoft.com/office/drawing/2014/main" id="{4855C87D-4C8F-E208-DF2E-9700FC791420}"/>
              </a:ext>
            </a:extLst>
          </p:cNvPr>
          <p:cNvSpPr>
            <a:spLocks noGrp="1"/>
          </p:cNvSpPr>
          <p:nvPr>
            <p:ph sz="quarter" idx="1"/>
          </p:nvPr>
        </p:nvSpPr>
        <p:spPr/>
        <p:txBody>
          <a:bodyPr>
            <a:normAutofit fontScale="85000" lnSpcReduction="10000"/>
          </a:bodyPr>
          <a:lstStyle/>
          <a:p>
            <a:r>
              <a:rPr lang="en-US" dirty="0"/>
              <a:t>is a written piece of text that is often accompanied by a software program. This makes the life of all the members associated with the project easier. It may contain anything from API documentation, build notes or just help content.</a:t>
            </a:r>
          </a:p>
          <a:p>
            <a:r>
              <a:rPr lang="en-US" dirty="0"/>
              <a:t> It is a very critical process in software development. It’s primarily an integral part of any computer code development method.</a:t>
            </a:r>
          </a:p>
          <a:p>
            <a:r>
              <a:rPr lang="en-US" dirty="0"/>
              <a:t> Moreover, computer code practitioners are a unit typically concerned with the worth, degree of usage, and quality of the actual documentation throughout the development and its maintenance throughout the total method.</a:t>
            </a:r>
            <a:endParaRPr lang="ar-SD" dirty="0"/>
          </a:p>
        </p:txBody>
      </p:sp>
    </p:spTree>
    <p:extLst>
      <p:ext uri="{BB962C8B-B14F-4D97-AF65-F5344CB8AC3E}">
        <p14:creationId xmlns:p14="http://schemas.microsoft.com/office/powerpoint/2010/main" val="608998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9F2E5-86BC-2F94-0A7E-7CA0C7C4C38D}"/>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2BC4A6AF-087D-BF6F-D690-462F0FC92574}"/>
              </a:ext>
            </a:extLst>
          </p:cNvPr>
          <p:cNvSpPr>
            <a:spLocks noGrp="1"/>
          </p:cNvSpPr>
          <p:nvPr>
            <p:ph sz="quarter" idx="1"/>
          </p:nvPr>
        </p:nvSpPr>
        <p:spPr/>
        <p:txBody>
          <a:bodyPr/>
          <a:lstStyle/>
          <a:p>
            <a:r>
              <a:rPr lang="en-US" dirty="0"/>
              <a:t>Motivated by the requirements of Novatel opposition, a world-leading company developing package in support of worldwide navigation satellite system, and based mostly on the results of a former systematic mapping studies area unit aimed at a higher understanding of the usage and therefore the quality of varied technical documents throughout computer code development and their maintenance</a:t>
            </a:r>
            <a:endParaRPr lang="ar-SD" dirty="0"/>
          </a:p>
        </p:txBody>
      </p:sp>
    </p:spTree>
    <p:extLst>
      <p:ext uri="{BB962C8B-B14F-4D97-AF65-F5344CB8AC3E}">
        <p14:creationId xmlns:p14="http://schemas.microsoft.com/office/powerpoint/2010/main" val="509503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A4014-B592-A544-C996-DAC559A2BAC5}"/>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9C9507B0-5CF4-3CFE-F09E-69178EB15F09}"/>
              </a:ext>
            </a:extLst>
          </p:cNvPr>
          <p:cNvSpPr>
            <a:spLocks noGrp="1"/>
          </p:cNvSpPr>
          <p:nvPr>
            <p:ph sz="quarter" idx="1"/>
          </p:nvPr>
        </p:nvSpPr>
        <p:spPr/>
        <p:txBody>
          <a:bodyPr/>
          <a:lstStyle/>
          <a:p>
            <a:r>
              <a:rPr lang="en-US" dirty="0"/>
              <a:t>For example, before the development of any software product requirements are documented which is called Software Requirement Specification (SRS). Requirement gathering is considered a stage of Software Development Life Cycle (SDLC).</a:t>
            </a:r>
          </a:p>
          <a:p>
            <a:r>
              <a:rPr lang="en-US" dirty="0"/>
              <a:t>Another example can be a user manual that a user refers to for installing, using, and providing maintenance to the software application/product.</a:t>
            </a:r>
          </a:p>
          <a:p>
            <a:endParaRPr lang="ar-SD" dirty="0"/>
          </a:p>
        </p:txBody>
      </p:sp>
    </p:spTree>
    <p:extLst>
      <p:ext uri="{BB962C8B-B14F-4D97-AF65-F5344CB8AC3E}">
        <p14:creationId xmlns:p14="http://schemas.microsoft.com/office/powerpoint/2010/main" val="2533265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3455-ECC3-19E8-2211-73520435B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D7176-C014-2238-D556-1D3760A47F64}"/>
              </a:ext>
            </a:extLst>
          </p:cNvPr>
          <p:cNvSpPr>
            <a:spLocks noGrp="1"/>
          </p:cNvSpPr>
          <p:nvPr>
            <p:ph type="title"/>
          </p:nvPr>
        </p:nvSpPr>
        <p:spPr/>
        <p:txBody>
          <a:bodyPr>
            <a:normAutofit fontScale="90000"/>
          </a:bodyPr>
          <a:lstStyle/>
          <a:p>
            <a:r>
              <a:rPr lang="en-US" dirty="0"/>
              <a:t>Purpose of Documentation:</a:t>
            </a:r>
            <a:br>
              <a:rPr lang="en-US" dirty="0"/>
            </a:br>
            <a:endParaRPr lang="ar-SD" dirty="0"/>
          </a:p>
        </p:txBody>
      </p:sp>
      <p:sp>
        <p:nvSpPr>
          <p:cNvPr id="3" name="Content Placeholder 2">
            <a:extLst>
              <a:ext uri="{FF2B5EF4-FFF2-40B4-BE49-F238E27FC236}">
                <a16:creationId xmlns:a16="http://schemas.microsoft.com/office/drawing/2014/main" id="{4CC8B7CF-3DF7-0940-2869-C3122F8548BC}"/>
              </a:ext>
            </a:extLst>
          </p:cNvPr>
          <p:cNvSpPr>
            <a:spLocks noGrp="1"/>
          </p:cNvSpPr>
          <p:nvPr>
            <p:ph sz="quarter" idx="1"/>
          </p:nvPr>
        </p:nvSpPr>
        <p:spPr/>
        <p:txBody>
          <a:bodyPr>
            <a:normAutofit fontScale="85000" lnSpcReduction="10000"/>
          </a:bodyPr>
          <a:lstStyle/>
          <a:p>
            <a:r>
              <a:rPr lang="en-US" dirty="0"/>
              <a:t>Due to the growing importance of computer code necessities, the method of crucial them needs to be effective to notice desired results. As to such determination of necessities is often beneath sure regulation and pointers that area unit core in getting a given goal.</a:t>
            </a:r>
          </a:p>
          <a:p>
            <a:r>
              <a:rPr lang="en-US" dirty="0"/>
              <a:t>These all imply that computer code necessities area unit expected to alter thanks to the ever ever-changing technology within the world. </a:t>
            </a:r>
          </a:p>
          <a:p>
            <a:r>
              <a:rPr lang="en-US" dirty="0"/>
              <a:t>However, the very fact that computer code information I’d obtained through development has to be modified within the wants of users and the transformation of the atmosphere area unit is inevitable.</a:t>
            </a:r>
          </a:p>
          <a:p>
            <a:endParaRPr lang="ar-SD" dirty="0"/>
          </a:p>
        </p:txBody>
      </p:sp>
    </p:spTree>
    <p:extLst>
      <p:ext uri="{BB962C8B-B14F-4D97-AF65-F5344CB8AC3E}">
        <p14:creationId xmlns:p14="http://schemas.microsoft.com/office/powerpoint/2010/main" val="1420708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5EE95-6D66-A841-28A1-14C18C681D61}"/>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2324B004-043B-D1C5-534D-84A75075240F}"/>
              </a:ext>
            </a:extLst>
          </p:cNvPr>
          <p:cNvSpPr>
            <a:spLocks noGrp="1"/>
          </p:cNvSpPr>
          <p:nvPr>
            <p:ph sz="quarter" idx="1"/>
          </p:nvPr>
        </p:nvSpPr>
        <p:spPr/>
        <p:txBody>
          <a:bodyPr>
            <a:normAutofit fontScale="77500" lnSpcReduction="20000"/>
          </a:bodyPr>
          <a:lstStyle/>
          <a:p>
            <a:r>
              <a:rPr lang="en-US" dirty="0"/>
              <a:t>What is more, computer code necessities ensure that there’s a verification and therefore the testing method, in conjunction with prototyping and conferences there are focus teams and observations?</a:t>
            </a:r>
          </a:p>
          <a:p>
            <a:r>
              <a:rPr lang="en-US" dirty="0"/>
              <a:t>For a software engineer reliable documentation is typically a should the presence of documentation helps keep track of all aspects of associate applications, and it improves the standard of wares, it’s the most focused area of unit development, maintenance, and information transfer to alternative developers. </a:t>
            </a:r>
          </a:p>
          <a:p>
            <a:r>
              <a:rPr lang="en-US" dirty="0"/>
              <a:t>Productive documentation can build info simply accessible, offer a restricted range of user entry purposes, facilitate new users to learn quickly, alter the merchandise and facilitate chopping out the price.</a:t>
            </a:r>
          </a:p>
          <a:p>
            <a:endParaRPr lang="ar-SD" dirty="0"/>
          </a:p>
        </p:txBody>
      </p:sp>
    </p:spTree>
    <p:extLst>
      <p:ext uri="{BB962C8B-B14F-4D97-AF65-F5344CB8AC3E}">
        <p14:creationId xmlns:p14="http://schemas.microsoft.com/office/powerpoint/2010/main" val="2216929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98F9B-A00C-316F-D56C-BDE260193C07}"/>
              </a:ext>
            </a:extLst>
          </p:cNvPr>
          <p:cNvSpPr>
            <a:spLocks noGrp="1"/>
          </p:cNvSpPr>
          <p:nvPr>
            <p:ph type="title"/>
          </p:nvPr>
        </p:nvSpPr>
        <p:spPr/>
        <p:txBody>
          <a:bodyPr>
            <a:normAutofit fontScale="90000"/>
          </a:bodyPr>
          <a:lstStyle/>
          <a:p>
            <a:r>
              <a:rPr lang="en-US" dirty="0"/>
              <a:t>Importance of software documentation </a:t>
            </a:r>
            <a:br>
              <a:rPr lang="en-US" dirty="0"/>
            </a:br>
            <a:endParaRPr lang="ar-SD" dirty="0"/>
          </a:p>
        </p:txBody>
      </p:sp>
      <p:sp>
        <p:nvSpPr>
          <p:cNvPr id="3" name="Content Placeholder 2">
            <a:extLst>
              <a:ext uri="{FF2B5EF4-FFF2-40B4-BE49-F238E27FC236}">
                <a16:creationId xmlns:a16="http://schemas.microsoft.com/office/drawing/2014/main" id="{AD6EE6EE-E556-98B6-AFB7-E79BF92CD0AF}"/>
              </a:ext>
            </a:extLst>
          </p:cNvPr>
          <p:cNvSpPr>
            <a:spLocks noGrp="1"/>
          </p:cNvSpPr>
          <p:nvPr>
            <p:ph sz="quarter" idx="1"/>
          </p:nvPr>
        </p:nvSpPr>
        <p:spPr/>
        <p:txBody>
          <a:bodyPr/>
          <a:lstStyle/>
          <a:p>
            <a:r>
              <a:rPr lang="en-US" dirty="0"/>
              <a:t>For a programmer reliable documentation is always a must the presence keeps track of all aspects of an application and helps in keeping the software updated.</a:t>
            </a:r>
          </a:p>
          <a:p>
            <a:endParaRPr lang="ar-SD" dirty="0"/>
          </a:p>
        </p:txBody>
      </p:sp>
    </p:spTree>
    <p:extLst>
      <p:ext uri="{BB962C8B-B14F-4D97-AF65-F5344CB8AC3E}">
        <p14:creationId xmlns:p14="http://schemas.microsoft.com/office/powerpoint/2010/main" val="1276969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2471-5477-D2C8-B4DB-46E501CFCAE9}"/>
              </a:ext>
            </a:extLst>
          </p:cNvPr>
          <p:cNvSpPr>
            <a:spLocks noGrp="1"/>
          </p:cNvSpPr>
          <p:nvPr>
            <p:ph type="title"/>
          </p:nvPr>
        </p:nvSpPr>
        <p:spPr/>
        <p:txBody>
          <a:bodyPr>
            <a:normAutofit fontScale="90000"/>
          </a:bodyPr>
          <a:lstStyle/>
          <a:p>
            <a:br>
              <a:rPr lang="en-US" dirty="0"/>
            </a:br>
            <a:r>
              <a:rPr lang="en-US" dirty="0"/>
              <a:t>Principles of Software Documentation:</a:t>
            </a:r>
            <a:br>
              <a:rPr lang="en-US" dirty="0"/>
            </a:br>
            <a:endParaRPr lang="ar-SD" dirty="0"/>
          </a:p>
        </p:txBody>
      </p:sp>
      <p:sp>
        <p:nvSpPr>
          <p:cNvPr id="3" name="Content Placeholder 2">
            <a:extLst>
              <a:ext uri="{FF2B5EF4-FFF2-40B4-BE49-F238E27FC236}">
                <a16:creationId xmlns:a16="http://schemas.microsoft.com/office/drawing/2014/main" id="{637904FC-703C-EEB4-4286-FD8992E9660C}"/>
              </a:ext>
            </a:extLst>
          </p:cNvPr>
          <p:cNvSpPr>
            <a:spLocks noGrp="1"/>
          </p:cNvSpPr>
          <p:nvPr>
            <p:ph sz="quarter" idx="1"/>
          </p:nvPr>
        </p:nvSpPr>
        <p:spPr/>
        <p:txBody>
          <a:bodyPr/>
          <a:lstStyle/>
          <a:p>
            <a:endParaRPr lang="en-US" dirty="0"/>
          </a:p>
          <a:p>
            <a:r>
              <a:rPr lang="en-US" dirty="0"/>
              <a:t>While writing or contributing into any software documentation, one must keep in mind the following set of 7-principles :</a:t>
            </a:r>
          </a:p>
          <a:p>
            <a:endParaRPr lang="en-US" dirty="0"/>
          </a:p>
          <a:p>
            <a:endParaRPr lang="ar-SD" dirty="0"/>
          </a:p>
        </p:txBody>
      </p:sp>
    </p:spTree>
    <p:extLst>
      <p:ext uri="{BB962C8B-B14F-4D97-AF65-F5344CB8AC3E}">
        <p14:creationId xmlns:p14="http://schemas.microsoft.com/office/powerpoint/2010/main" val="40025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4F44C-18AD-6BF6-0D37-7E403EE91841}"/>
              </a:ext>
            </a:extLst>
          </p:cNvPr>
          <p:cNvSpPr>
            <a:spLocks noGrp="1"/>
          </p:cNvSpPr>
          <p:nvPr>
            <p:ph type="title"/>
          </p:nvPr>
        </p:nvSpPr>
        <p:spPr/>
        <p:txBody>
          <a:bodyPr>
            <a:normAutofit fontScale="90000"/>
          </a:bodyPr>
          <a:lstStyle/>
          <a:p>
            <a:br>
              <a:rPr lang="en-US" dirty="0"/>
            </a:br>
            <a:r>
              <a:rPr lang="en-US" dirty="0"/>
              <a:t>1. Write from reader’s point of view:</a:t>
            </a:r>
            <a:br>
              <a:rPr lang="en-US" dirty="0"/>
            </a:br>
            <a:endParaRPr lang="ar-SD" dirty="0"/>
          </a:p>
        </p:txBody>
      </p:sp>
      <p:sp>
        <p:nvSpPr>
          <p:cNvPr id="3" name="Content Placeholder 2">
            <a:extLst>
              <a:ext uri="{FF2B5EF4-FFF2-40B4-BE49-F238E27FC236}">
                <a16:creationId xmlns:a16="http://schemas.microsoft.com/office/drawing/2014/main" id="{6E68E439-2078-730D-741E-0069614F7924}"/>
              </a:ext>
            </a:extLst>
          </p:cNvPr>
          <p:cNvSpPr>
            <a:spLocks noGrp="1"/>
          </p:cNvSpPr>
          <p:nvPr>
            <p:ph sz="quarter" idx="1"/>
          </p:nvPr>
        </p:nvSpPr>
        <p:spPr/>
        <p:txBody>
          <a:bodyPr>
            <a:normAutofit fontScale="77500" lnSpcReduction="20000"/>
          </a:bodyPr>
          <a:lstStyle/>
          <a:p>
            <a:r>
              <a:rPr lang="en-US" dirty="0"/>
              <a:t>It’s important to keep in mind the targeted audience that will be learning, and working through the software’s documentation to understand and implement the fully functional robust software application and even the ones who will be learning for the purpose of using the software. So, while writing a documentation it becomes very crucial to use the simplest language &amp; domain related specific languages and terminologies. The structure of the documentation should be organized in a clearly viewable, navigable and understandable format.</a:t>
            </a:r>
          </a:p>
          <a:p>
            <a:r>
              <a:rPr lang="en-US" dirty="0"/>
              <a:t>If there’s a lot of content, you can organize it in the glossary part at the end of the document.</a:t>
            </a:r>
          </a:p>
          <a:p>
            <a:r>
              <a:rPr lang="en-US" dirty="0"/>
              <a:t>List down synonyms, antonyms and difficult terminologies used. </a:t>
            </a:r>
          </a:p>
          <a:p>
            <a:endParaRPr lang="ar-SD" dirty="0"/>
          </a:p>
        </p:txBody>
      </p:sp>
    </p:spTree>
    <p:extLst>
      <p:ext uri="{BB962C8B-B14F-4D97-AF65-F5344CB8AC3E}">
        <p14:creationId xmlns:p14="http://schemas.microsoft.com/office/powerpoint/2010/main" val="2053353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5AFA-8FC0-0782-C037-7BE7AA20FD04}"/>
              </a:ext>
            </a:extLst>
          </p:cNvPr>
          <p:cNvSpPr>
            <a:spLocks noGrp="1"/>
          </p:cNvSpPr>
          <p:nvPr>
            <p:ph type="title"/>
          </p:nvPr>
        </p:nvSpPr>
        <p:spPr/>
        <p:txBody>
          <a:bodyPr>
            <a:normAutofit fontScale="90000"/>
          </a:bodyPr>
          <a:lstStyle/>
          <a:p>
            <a:r>
              <a:rPr lang="en-US" dirty="0"/>
              <a:t>2. Avoid unnecessary repetition:</a:t>
            </a:r>
            <a:br>
              <a:rPr lang="en-US" dirty="0"/>
            </a:br>
            <a:endParaRPr lang="ar-SD" dirty="0"/>
          </a:p>
        </p:txBody>
      </p:sp>
      <p:sp>
        <p:nvSpPr>
          <p:cNvPr id="3" name="Content Placeholder 2">
            <a:extLst>
              <a:ext uri="{FF2B5EF4-FFF2-40B4-BE49-F238E27FC236}">
                <a16:creationId xmlns:a16="http://schemas.microsoft.com/office/drawing/2014/main" id="{C7CEE9C5-10DF-C38E-6836-2D8BB9A79AFE}"/>
              </a:ext>
            </a:extLst>
          </p:cNvPr>
          <p:cNvSpPr>
            <a:spLocks noGrp="1"/>
          </p:cNvSpPr>
          <p:nvPr>
            <p:ph sz="quarter" idx="1"/>
          </p:nvPr>
        </p:nvSpPr>
        <p:spPr/>
        <p:txBody>
          <a:bodyPr/>
          <a:lstStyle/>
          <a:p>
            <a:r>
              <a:rPr lang="en-US" dirty="0"/>
              <a:t>While the idea of hyperlinking and backlinking may seem redundant at the moment, but it aids in avoiding the need of redundancy. The back-end database stores every piece of information as an individual unit and displays it in various different variety of context so redundancy at any point will not be maintainable and is considered a bad practice.</a:t>
            </a:r>
          </a:p>
          <a:p>
            <a:endParaRPr lang="ar-SD" dirty="0"/>
          </a:p>
        </p:txBody>
      </p:sp>
    </p:spTree>
    <p:extLst>
      <p:ext uri="{BB962C8B-B14F-4D97-AF65-F5344CB8AC3E}">
        <p14:creationId xmlns:p14="http://schemas.microsoft.com/office/powerpoint/2010/main" val="4245254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1F4A-0496-B2EA-C517-2D65B7661F08}"/>
              </a:ext>
            </a:extLst>
          </p:cNvPr>
          <p:cNvSpPr>
            <a:spLocks noGrp="1"/>
          </p:cNvSpPr>
          <p:nvPr>
            <p:ph type="title"/>
          </p:nvPr>
        </p:nvSpPr>
        <p:spPr/>
        <p:txBody>
          <a:bodyPr>
            <a:normAutofit fontScale="90000"/>
          </a:bodyPr>
          <a:lstStyle/>
          <a:p>
            <a:br>
              <a:rPr lang="en-US" dirty="0"/>
            </a:br>
            <a:r>
              <a:rPr lang="en-US" dirty="0"/>
              <a:t>3. Avoid ambiguity:</a:t>
            </a:r>
            <a:br>
              <a:rPr lang="en-US" dirty="0"/>
            </a:br>
            <a:endParaRPr lang="ar-SD" dirty="0"/>
          </a:p>
        </p:txBody>
      </p:sp>
      <p:sp>
        <p:nvSpPr>
          <p:cNvPr id="3" name="Content Placeholder 2">
            <a:extLst>
              <a:ext uri="{FF2B5EF4-FFF2-40B4-BE49-F238E27FC236}">
                <a16:creationId xmlns:a16="http://schemas.microsoft.com/office/drawing/2014/main" id="{AF1C559C-B5B3-4F29-6644-B0FA3A127A33}"/>
              </a:ext>
            </a:extLst>
          </p:cNvPr>
          <p:cNvSpPr>
            <a:spLocks noGrp="1"/>
          </p:cNvSpPr>
          <p:nvPr>
            <p:ph sz="quarter" idx="1"/>
          </p:nvPr>
        </p:nvSpPr>
        <p:spPr/>
        <p:txBody>
          <a:bodyPr>
            <a:normAutofit fontScale="92500" lnSpcReduction="10000"/>
          </a:bodyPr>
          <a:lstStyle/>
          <a:p>
            <a:r>
              <a:rPr lang="en-US" dirty="0"/>
              <a:t>Documentation contains a lot of information regarding the versatile functionalities of the software system, every part of it must be written with clear and precise knowledge while avoiding any conflicting information that might cause confusion to the reader. For example, if one terminology is used in different set of context than it must be explicitly defined what it means so to avoid any miscommunication. This aspect of the software documentation is very important to avoid any kind of conflicting knowledge between the stakeholders, developers and the maintainers.</a:t>
            </a:r>
          </a:p>
          <a:p>
            <a:endParaRPr lang="ar-SD" dirty="0"/>
          </a:p>
        </p:txBody>
      </p:sp>
    </p:spTree>
    <p:extLst>
      <p:ext uri="{BB962C8B-B14F-4D97-AF65-F5344CB8AC3E}">
        <p14:creationId xmlns:p14="http://schemas.microsoft.com/office/powerpoint/2010/main" val="4253133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81FF-25FF-2F73-F10B-8DC9504BB070}"/>
              </a:ext>
            </a:extLst>
          </p:cNvPr>
          <p:cNvSpPr>
            <a:spLocks noGrp="1"/>
          </p:cNvSpPr>
          <p:nvPr>
            <p:ph type="title"/>
          </p:nvPr>
        </p:nvSpPr>
        <p:spPr>
          <a:xfrm>
            <a:off x="115824" y="266700"/>
            <a:ext cx="8912352" cy="990600"/>
          </a:xfrm>
        </p:spPr>
        <p:txBody>
          <a:bodyPr>
            <a:normAutofit fontScale="90000"/>
          </a:bodyPr>
          <a:lstStyle/>
          <a:p>
            <a:br>
              <a:rPr lang="en-US" dirty="0"/>
            </a:br>
            <a:r>
              <a:rPr lang="en-US" dirty="0"/>
              <a:t>4. Follow a certain standard organization:</a:t>
            </a:r>
            <a:br>
              <a:rPr lang="en-US" dirty="0"/>
            </a:br>
            <a:endParaRPr lang="ar-SD" dirty="0"/>
          </a:p>
        </p:txBody>
      </p:sp>
      <p:sp>
        <p:nvSpPr>
          <p:cNvPr id="3" name="Content Placeholder 2">
            <a:extLst>
              <a:ext uri="{FF2B5EF4-FFF2-40B4-BE49-F238E27FC236}">
                <a16:creationId xmlns:a16="http://schemas.microsoft.com/office/drawing/2014/main" id="{9203605B-BB0A-6368-3558-513589693868}"/>
              </a:ext>
            </a:extLst>
          </p:cNvPr>
          <p:cNvSpPr>
            <a:spLocks noGrp="1"/>
          </p:cNvSpPr>
          <p:nvPr>
            <p:ph sz="quarter" idx="1"/>
          </p:nvPr>
        </p:nvSpPr>
        <p:spPr/>
        <p:txBody>
          <a:bodyPr/>
          <a:lstStyle/>
          <a:p>
            <a:r>
              <a:rPr lang="en-US" dirty="0"/>
              <a:t>In order to maintain the professionalism, accuracy, and precision of the document a certain set of principles must be followed taking reference from other software documentations that would aid in organizing and structuring the content of the documentation in a much productive and organized way.</a:t>
            </a:r>
          </a:p>
          <a:p>
            <a:endParaRPr lang="ar-SD" dirty="0"/>
          </a:p>
        </p:txBody>
      </p:sp>
    </p:spTree>
    <p:extLst>
      <p:ext uri="{BB962C8B-B14F-4D97-AF65-F5344CB8AC3E}">
        <p14:creationId xmlns:p14="http://schemas.microsoft.com/office/powerpoint/2010/main" val="1021517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3EE4E-C9F4-EAA9-995B-AEA689284EBB}"/>
              </a:ext>
            </a:extLst>
          </p:cNvPr>
          <p:cNvSpPr>
            <a:spLocks noGrp="1"/>
          </p:cNvSpPr>
          <p:nvPr>
            <p:ph type="title"/>
          </p:nvPr>
        </p:nvSpPr>
        <p:spPr/>
        <p:txBody>
          <a:bodyPr>
            <a:normAutofit/>
          </a:bodyPr>
          <a:lstStyle/>
          <a:p>
            <a:r>
              <a:rPr lang="en-US" dirty="0"/>
              <a:t>5. Record a Rationale</a:t>
            </a:r>
            <a:endParaRPr lang="ar-SD" dirty="0"/>
          </a:p>
        </p:txBody>
      </p:sp>
      <p:sp>
        <p:nvSpPr>
          <p:cNvPr id="3" name="Content Placeholder 2">
            <a:extLst>
              <a:ext uri="{FF2B5EF4-FFF2-40B4-BE49-F238E27FC236}">
                <a16:creationId xmlns:a16="http://schemas.microsoft.com/office/drawing/2014/main" id="{531D4C4E-1E57-71EC-B6D8-DBC9CE2B4C65}"/>
              </a:ext>
            </a:extLst>
          </p:cNvPr>
          <p:cNvSpPr>
            <a:spLocks noGrp="1"/>
          </p:cNvSpPr>
          <p:nvPr>
            <p:ph sz="quarter" idx="1"/>
          </p:nvPr>
        </p:nvSpPr>
        <p:spPr/>
        <p:txBody>
          <a:bodyPr/>
          <a:lstStyle/>
          <a:p>
            <a:r>
              <a:rPr lang="en-US" dirty="0"/>
              <a:t>Rationale contains a comprehensive understanding of why a certain design or development decision was made. This part of our documentation is written &amp; maintained by the developer or the designer itself for justification and verification for later needs. Rationale can be mentioned in the start or the end of the document although typically, it’s in the start of the document.</a:t>
            </a:r>
          </a:p>
          <a:p>
            <a:endParaRPr lang="ar-SD" dirty="0"/>
          </a:p>
        </p:txBody>
      </p:sp>
    </p:spTree>
    <p:extLst>
      <p:ext uri="{BB962C8B-B14F-4D97-AF65-F5344CB8AC3E}">
        <p14:creationId xmlns:p14="http://schemas.microsoft.com/office/powerpoint/2010/main" val="1170991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B6DF7-4CEE-6DB3-6626-DD9A08841208}"/>
              </a:ext>
            </a:extLst>
          </p:cNvPr>
          <p:cNvSpPr>
            <a:spLocks noGrp="1"/>
          </p:cNvSpPr>
          <p:nvPr>
            <p:ph type="title"/>
          </p:nvPr>
        </p:nvSpPr>
        <p:spPr>
          <a:xfrm>
            <a:off x="612648" y="228600"/>
            <a:ext cx="8302752" cy="990600"/>
          </a:xfrm>
        </p:spPr>
        <p:txBody>
          <a:bodyPr>
            <a:normAutofit fontScale="90000"/>
          </a:bodyPr>
          <a:lstStyle/>
          <a:p>
            <a:br>
              <a:rPr lang="en-US" dirty="0"/>
            </a:br>
            <a:r>
              <a:rPr lang="en-US" dirty="0"/>
              <a:t>6. Keep the documentation updated but to an extent</a:t>
            </a:r>
            <a:br>
              <a:rPr lang="en-US" dirty="0"/>
            </a:br>
            <a:endParaRPr lang="ar-SD" dirty="0"/>
          </a:p>
        </p:txBody>
      </p:sp>
      <p:sp>
        <p:nvSpPr>
          <p:cNvPr id="3" name="Content Placeholder 2">
            <a:extLst>
              <a:ext uri="{FF2B5EF4-FFF2-40B4-BE49-F238E27FC236}">
                <a16:creationId xmlns:a16="http://schemas.microsoft.com/office/drawing/2014/main" id="{FE44551A-E5FB-1BC8-3491-8AC8AA9B7285}"/>
              </a:ext>
            </a:extLst>
          </p:cNvPr>
          <p:cNvSpPr>
            <a:spLocks noGrp="1"/>
          </p:cNvSpPr>
          <p:nvPr>
            <p:ph sz="quarter" idx="1"/>
          </p:nvPr>
        </p:nvSpPr>
        <p:spPr/>
        <p:txBody>
          <a:bodyPr>
            <a:normAutofit/>
          </a:bodyPr>
          <a:lstStyle/>
          <a:p>
            <a:r>
              <a:rPr lang="en-US" dirty="0"/>
              <a:t>This principle applies to the maintainers of the documentation of the software, because updates are made to the software on frequent intervals. The updates may contain some bug fixes, new feature addition or previous functionality maintenance. The maintainer of the documentation must only add the valuable content and avoid anything that doesn’t fit and irrelevant for that particular time.</a:t>
            </a:r>
          </a:p>
          <a:p>
            <a:endParaRPr lang="ar-SD" dirty="0"/>
          </a:p>
        </p:txBody>
      </p:sp>
    </p:spTree>
    <p:extLst>
      <p:ext uri="{BB962C8B-B14F-4D97-AF65-F5344CB8AC3E}">
        <p14:creationId xmlns:p14="http://schemas.microsoft.com/office/powerpoint/2010/main" val="2453938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4DEE6-D509-3021-259C-D4635E81881F}"/>
              </a:ext>
            </a:extLst>
          </p:cNvPr>
          <p:cNvSpPr>
            <a:spLocks noGrp="1"/>
          </p:cNvSpPr>
          <p:nvPr>
            <p:ph type="title"/>
          </p:nvPr>
        </p:nvSpPr>
        <p:spPr/>
        <p:txBody>
          <a:bodyPr>
            <a:normAutofit/>
          </a:bodyPr>
          <a:lstStyle/>
          <a:p>
            <a:r>
              <a:rPr lang="en-US" dirty="0"/>
              <a:t>7. Review documentation</a:t>
            </a:r>
            <a:endParaRPr lang="ar-SD" dirty="0"/>
          </a:p>
        </p:txBody>
      </p:sp>
      <p:sp>
        <p:nvSpPr>
          <p:cNvPr id="3" name="Content Placeholder 2">
            <a:extLst>
              <a:ext uri="{FF2B5EF4-FFF2-40B4-BE49-F238E27FC236}">
                <a16:creationId xmlns:a16="http://schemas.microsoft.com/office/drawing/2014/main" id="{0A19BA89-484C-CED8-BADC-3274217EB1FD}"/>
              </a:ext>
            </a:extLst>
          </p:cNvPr>
          <p:cNvSpPr>
            <a:spLocks noGrp="1"/>
          </p:cNvSpPr>
          <p:nvPr>
            <p:ph sz="quarter" idx="1"/>
          </p:nvPr>
        </p:nvSpPr>
        <p:spPr/>
        <p:txBody>
          <a:bodyPr>
            <a:normAutofit/>
          </a:bodyPr>
          <a:lstStyle/>
          <a:p>
            <a:r>
              <a:rPr lang="en-US" dirty="0"/>
              <a:t>The documentation consists of too many web-pages collectively holding a large chunk of information that’s serving a sole purpose – educate and spread knowledge to anyone who is trying to understand or implement the software. While working with a lot of information it is important ta take feedback from senior architects and make any necessary changes aligning the documentation with its sole purpose depending on the type of documentation.</a:t>
            </a:r>
          </a:p>
          <a:p>
            <a:endParaRPr lang="ar-SD" dirty="0"/>
          </a:p>
        </p:txBody>
      </p:sp>
    </p:spTree>
    <p:extLst>
      <p:ext uri="{BB962C8B-B14F-4D97-AF65-F5344CB8AC3E}">
        <p14:creationId xmlns:p14="http://schemas.microsoft.com/office/powerpoint/2010/main" val="2992349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86EAA-A827-8988-0FBE-83E44231BAD1}"/>
              </a:ext>
            </a:extLst>
          </p:cNvPr>
          <p:cNvSpPr>
            <a:spLocks noGrp="1"/>
          </p:cNvSpPr>
          <p:nvPr>
            <p:ph type="title"/>
          </p:nvPr>
        </p:nvSpPr>
        <p:spPr/>
        <p:txBody>
          <a:bodyPr>
            <a:normAutofit fontScale="90000"/>
          </a:bodyPr>
          <a:lstStyle/>
          <a:p>
            <a:br>
              <a:rPr lang="en-US" dirty="0"/>
            </a:br>
            <a:r>
              <a:rPr lang="en-US" dirty="0"/>
              <a:t>Advantages of software documentation </a:t>
            </a:r>
            <a:br>
              <a:rPr lang="en-US" dirty="0"/>
            </a:br>
            <a:endParaRPr lang="ar-SD" dirty="0"/>
          </a:p>
        </p:txBody>
      </p:sp>
      <p:sp>
        <p:nvSpPr>
          <p:cNvPr id="3" name="Content Placeholder 2">
            <a:extLst>
              <a:ext uri="{FF2B5EF4-FFF2-40B4-BE49-F238E27FC236}">
                <a16:creationId xmlns:a16="http://schemas.microsoft.com/office/drawing/2014/main" id="{10BDC232-F2E9-6CC0-C277-C25E3D05E94F}"/>
              </a:ext>
            </a:extLst>
          </p:cNvPr>
          <p:cNvSpPr>
            <a:spLocks noGrp="1"/>
          </p:cNvSpPr>
          <p:nvPr>
            <p:ph sz="quarter" idx="1"/>
          </p:nvPr>
        </p:nvSpPr>
        <p:spPr/>
        <p:txBody>
          <a:bodyPr>
            <a:normAutofit fontScale="85000" lnSpcReduction="10000"/>
          </a:bodyPr>
          <a:lstStyle/>
          <a:p>
            <a:r>
              <a:rPr lang="en-US" dirty="0"/>
              <a:t>The presence of documentation helps in keeping the track of all aspects of an application and also improves the quality of the software product.</a:t>
            </a:r>
          </a:p>
          <a:p>
            <a:r>
              <a:rPr lang="en-US" dirty="0"/>
              <a:t>The main focus is based on the development, maintenance, and knowledge transfer to other developers.</a:t>
            </a:r>
          </a:p>
          <a:p>
            <a:r>
              <a:rPr lang="en-US" dirty="0"/>
              <a:t>Helps development teams during development.</a:t>
            </a:r>
          </a:p>
          <a:p>
            <a:r>
              <a:rPr lang="en-US" dirty="0"/>
              <a:t>Helps end-users in using the product.</a:t>
            </a:r>
          </a:p>
          <a:p>
            <a:r>
              <a:rPr lang="en-US" dirty="0"/>
              <a:t>Improves overall quality of software product</a:t>
            </a:r>
          </a:p>
          <a:p>
            <a:r>
              <a:rPr lang="en-US" dirty="0"/>
              <a:t>It cuts down duplicative work.</a:t>
            </a:r>
          </a:p>
          <a:p>
            <a:r>
              <a:rPr lang="en-US" dirty="0"/>
              <a:t>Makes easier to understand code.</a:t>
            </a:r>
          </a:p>
          <a:p>
            <a:r>
              <a:rPr lang="en-US" dirty="0"/>
              <a:t>Helps in establishing internal coordination in work.</a:t>
            </a:r>
          </a:p>
          <a:p>
            <a:endParaRPr lang="ar-SD" dirty="0"/>
          </a:p>
        </p:txBody>
      </p:sp>
    </p:spTree>
    <p:extLst>
      <p:ext uri="{BB962C8B-B14F-4D97-AF65-F5344CB8AC3E}">
        <p14:creationId xmlns:p14="http://schemas.microsoft.com/office/powerpoint/2010/main" val="3054477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9ED44-DCFF-E595-F6AD-6BB31A7166C5}"/>
              </a:ext>
            </a:extLst>
          </p:cNvPr>
          <p:cNvSpPr>
            <a:spLocks noGrp="1"/>
          </p:cNvSpPr>
          <p:nvPr>
            <p:ph type="title"/>
          </p:nvPr>
        </p:nvSpPr>
        <p:spPr>
          <a:xfrm>
            <a:off x="330122" y="266700"/>
            <a:ext cx="8836152" cy="990600"/>
          </a:xfrm>
        </p:spPr>
        <p:txBody>
          <a:bodyPr>
            <a:normAutofit fontScale="90000"/>
          </a:bodyPr>
          <a:lstStyle/>
          <a:p>
            <a:r>
              <a:rPr lang="en-US" dirty="0"/>
              <a:t>Disadvantages of software documentation</a:t>
            </a:r>
            <a:br>
              <a:rPr lang="en-US" dirty="0"/>
            </a:br>
            <a:endParaRPr lang="ar-SD" dirty="0"/>
          </a:p>
        </p:txBody>
      </p:sp>
      <p:sp>
        <p:nvSpPr>
          <p:cNvPr id="3" name="Content Placeholder 2">
            <a:extLst>
              <a:ext uri="{FF2B5EF4-FFF2-40B4-BE49-F238E27FC236}">
                <a16:creationId xmlns:a16="http://schemas.microsoft.com/office/drawing/2014/main" id="{AB8E9BD9-EBD4-6817-3D89-BE64BCD45CDE}"/>
              </a:ext>
            </a:extLst>
          </p:cNvPr>
          <p:cNvSpPr>
            <a:spLocks noGrp="1"/>
          </p:cNvSpPr>
          <p:nvPr>
            <p:ph sz="quarter" idx="1"/>
          </p:nvPr>
        </p:nvSpPr>
        <p:spPr/>
        <p:txBody>
          <a:bodyPr>
            <a:normAutofit fontScale="85000" lnSpcReduction="20000"/>
          </a:bodyPr>
          <a:lstStyle/>
          <a:p>
            <a:r>
              <a:rPr lang="en-US" dirty="0"/>
              <a:t>The documenting code is time-consuming.</a:t>
            </a:r>
          </a:p>
          <a:p>
            <a:r>
              <a:rPr lang="en-US" dirty="0"/>
              <a:t>The software development process often takes place under time pressure, due to which many times the documentation updates don’t match the updated code.</a:t>
            </a:r>
          </a:p>
          <a:p>
            <a:r>
              <a:rPr lang="en-US" dirty="0"/>
              <a:t>The documentation has no influence on the performance of an application.</a:t>
            </a:r>
          </a:p>
          <a:p>
            <a:r>
              <a:rPr lang="en-US" dirty="0"/>
              <a:t>Documenting is not so fun, it’s sometimes boring to a certain extent.</a:t>
            </a:r>
          </a:p>
          <a:p>
            <a:r>
              <a:rPr lang="en-US" dirty="0"/>
              <a:t>The agile methodology encourages engineering groups to invariably concentrate on delivering prices to their customers. This key should be thought-about within the method of manufacturing computer code </a:t>
            </a:r>
            <a:endParaRPr lang="ar-SD" dirty="0"/>
          </a:p>
        </p:txBody>
      </p:sp>
    </p:spTree>
    <p:extLst>
      <p:ext uri="{BB962C8B-B14F-4D97-AF65-F5344CB8AC3E}">
        <p14:creationId xmlns:p14="http://schemas.microsoft.com/office/powerpoint/2010/main" val="165948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bject 2"/>
          <p:cNvSpPr/>
          <p:nvPr/>
        </p:nvSpPr>
        <p:spPr>
          <a:xfrm>
            <a:off x="0" y="533400"/>
            <a:ext cx="9144000" cy="6096000"/>
          </a:xfrm>
          <a:prstGeom prst="rect">
            <a:avLst/>
          </a:prstGeom>
          <a:blipFill>
            <a:blip r:embed="rId2" cstate="print"/>
            <a:stretch>
              <a:fillRect b="-12500"/>
            </a:stretch>
          </a:blipFill>
        </p:spPr>
        <p:txBody>
          <a:bodyPr wrap="square" lIns="0" tIns="0" rIns="0" bIns="0" rtlCol="0"/>
          <a:lstStyle/>
          <a:p>
            <a:endParaRPr dirty="0"/>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752600"/>
            <a:ext cx="9144000" cy="4343400"/>
          </a:xfrm>
          <a:prstGeom prst="rect">
            <a:avLst/>
          </a:prstGeom>
          <a:blipFill>
            <a:blip r:embed="rId2" cstate="print"/>
            <a:stretch>
              <a:fillRect t="-40350" b="-17544"/>
            </a:stretch>
          </a:blipFill>
        </p:spPr>
        <p:txBody>
          <a:bodyPr wrap="square" lIns="0" tIns="0" rIns="0" bIns="0" rtlCol="0"/>
          <a:lstStyle/>
          <a:p>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096000"/>
          </a:xfrm>
          <a:prstGeom prst="rect">
            <a:avLst/>
          </a:prstGeom>
          <a:blipFill>
            <a:blip r:embed="rId2" cstate="print"/>
            <a:stretch>
              <a:fillRect b="-12500"/>
            </a:stretch>
          </a:blipFill>
        </p:spPr>
        <p:txBody>
          <a:bodyPr wrap="square" lIns="0" tIns="0" rIns="0" bIns="0" rtlCol="0"/>
          <a:lstStyle/>
          <a:p>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096000"/>
          </a:xfrm>
          <a:prstGeom prst="rect">
            <a:avLst/>
          </a:prstGeom>
          <a:blipFill>
            <a:blip r:embed="rId2" cstate="print"/>
            <a:stretch>
              <a:fillRect b="-12500"/>
            </a:stretch>
          </a:blipFill>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096000"/>
          </a:xfrm>
          <a:prstGeom prst="rect">
            <a:avLst/>
          </a:prstGeom>
          <a:blipFill>
            <a:blip r:embed="rId2" cstate="print"/>
            <a:stretch>
              <a:fillRect b="-12500"/>
            </a:stretch>
          </a:blipFill>
        </p:spPr>
        <p:txBody>
          <a:bodyPr wrap="square" lIns="0" tIns="0" rIns="0" bIns="0" rtlCol="0"/>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096000"/>
          </a:xfrm>
          <a:prstGeom prst="rect">
            <a:avLst/>
          </a:prstGeom>
          <a:blipFill>
            <a:blip r:embed="rId2" cstate="print"/>
            <a:stretch>
              <a:fillRect b="-12500"/>
            </a:stretch>
          </a:blipFill>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096000"/>
          </a:xfrm>
          <a:prstGeom prst="rect">
            <a:avLst/>
          </a:prstGeom>
          <a:blipFill>
            <a:blip r:embed="rId2" cstate="print"/>
            <a:stretch>
              <a:fillRect b="-12500"/>
            </a:stretch>
          </a:blipFill>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4000"/>
              <a:t>Documentation Requirements</a:t>
            </a:r>
          </a:p>
        </p:txBody>
      </p:sp>
      <p:sp>
        <p:nvSpPr>
          <p:cNvPr id="7171" name="Rectangle 3"/>
          <p:cNvSpPr>
            <a:spLocks noGrp="1" noChangeArrowheads="1"/>
          </p:cNvSpPr>
          <p:nvPr>
            <p:ph sz="quarter" idx="1"/>
          </p:nvPr>
        </p:nvSpPr>
        <p:spPr/>
        <p:txBody>
          <a:bodyPr/>
          <a:lstStyle/>
          <a:p>
            <a:pPr>
              <a:lnSpc>
                <a:spcPct val="90000"/>
              </a:lnSpc>
            </a:pPr>
            <a:r>
              <a:rPr lang="en-US"/>
              <a:t>General requirements of all software documentation</a:t>
            </a:r>
          </a:p>
          <a:p>
            <a:pPr lvl="1">
              <a:lnSpc>
                <a:spcPct val="90000"/>
              </a:lnSpc>
            </a:pPr>
            <a:r>
              <a:rPr lang="en-US"/>
              <a:t>Should provide for communication among team members</a:t>
            </a:r>
          </a:p>
          <a:p>
            <a:pPr lvl="1">
              <a:lnSpc>
                <a:spcPct val="90000"/>
              </a:lnSpc>
            </a:pPr>
            <a:r>
              <a:rPr lang="en-US"/>
              <a:t>Should act as an information repository to be used by maintenance engineers</a:t>
            </a:r>
          </a:p>
          <a:p>
            <a:pPr lvl="1">
              <a:lnSpc>
                <a:spcPct val="90000"/>
              </a:lnSpc>
            </a:pPr>
            <a:r>
              <a:rPr lang="en-US"/>
              <a:t>Should provide enough information to management to allow them to perform all program management related activities</a:t>
            </a:r>
          </a:p>
          <a:p>
            <a:pPr lvl="1">
              <a:lnSpc>
                <a:spcPct val="90000"/>
              </a:lnSpc>
            </a:pPr>
            <a:r>
              <a:rPr lang="en-US"/>
              <a:t>Should describe to users how to operate and administer the system</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sz="4000"/>
              <a:t>Documentation Requirements</a:t>
            </a:r>
          </a:p>
        </p:txBody>
      </p:sp>
      <p:sp>
        <p:nvSpPr>
          <p:cNvPr id="8195" name="Rectangle 3"/>
          <p:cNvSpPr>
            <a:spLocks noGrp="1" noChangeArrowheads="1"/>
          </p:cNvSpPr>
          <p:nvPr>
            <p:ph sz="quarter" idx="1"/>
          </p:nvPr>
        </p:nvSpPr>
        <p:spPr/>
        <p:txBody>
          <a:bodyPr>
            <a:normAutofit lnSpcReduction="10000"/>
          </a:bodyPr>
          <a:lstStyle/>
          <a:p>
            <a:r>
              <a:rPr lang="en-US" sz="2800"/>
              <a:t>In all software projects some amount of documentation should be created prior to any code being written</a:t>
            </a:r>
          </a:p>
          <a:p>
            <a:pPr lvl="1"/>
            <a:r>
              <a:rPr lang="en-US" sz="2400"/>
              <a:t>Design docs, etc. </a:t>
            </a:r>
          </a:p>
          <a:p>
            <a:r>
              <a:rPr lang="en-US" sz="2800"/>
              <a:t>Documentation should continue after the code has been completed </a:t>
            </a:r>
          </a:p>
          <a:p>
            <a:pPr lvl="1"/>
            <a:r>
              <a:rPr lang="en-US" sz="2400"/>
              <a:t>User’s manuals, etc. </a:t>
            </a:r>
          </a:p>
          <a:p>
            <a:endParaRPr lang="en-US" sz="2800"/>
          </a:p>
          <a:p>
            <a:r>
              <a:rPr lang="en-US" sz="2800"/>
              <a:t>The two main types of documentation created are </a:t>
            </a:r>
            <a:r>
              <a:rPr lang="en-US" sz="2800" i="1"/>
              <a:t>Process</a:t>
            </a:r>
            <a:r>
              <a:rPr lang="en-US" sz="2800"/>
              <a:t> and </a:t>
            </a:r>
            <a:r>
              <a:rPr lang="en-US" sz="2800" i="1"/>
              <a:t>Product</a:t>
            </a:r>
            <a:r>
              <a:rPr lang="en-US" sz="2800"/>
              <a:t> documents</a:t>
            </a:r>
          </a:p>
          <a:p>
            <a:pPr>
              <a:buFont typeface="Wingdings" pitchFamily="2" charset="2"/>
              <a:buNone/>
            </a:pPr>
            <a:endParaRPr lang="en-US" sz="2800"/>
          </a:p>
          <a:p>
            <a:pPr lvl="1"/>
            <a:endParaRPr lang="en-US" sz="240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sz="4000"/>
              <a:t>Process Documentation</a:t>
            </a:r>
          </a:p>
        </p:txBody>
      </p:sp>
      <p:sp>
        <p:nvSpPr>
          <p:cNvPr id="9219" name="Rectangle 3"/>
          <p:cNvSpPr>
            <a:spLocks noGrp="1" noChangeArrowheads="1"/>
          </p:cNvSpPr>
          <p:nvPr>
            <p:ph sz="quarter" idx="1"/>
          </p:nvPr>
        </p:nvSpPr>
        <p:spPr/>
        <p:txBody>
          <a:bodyPr>
            <a:normAutofit/>
          </a:bodyPr>
          <a:lstStyle/>
          <a:p>
            <a:r>
              <a:rPr lang="en-US" dirty="0"/>
              <a:t>Used to record and track the development process</a:t>
            </a:r>
          </a:p>
          <a:p>
            <a:pPr lvl="1"/>
            <a:r>
              <a:rPr lang="en-US" dirty="0"/>
              <a:t>Planning documentation</a:t>
            </a:r>
          </a:p>
          <a:p>
            <a:pPr lvl="1"/>
            <a:r>
              <a:rPr lang="en-US" dirty="0"/>
              <a:t>Cost, Schedule, Funding tracking</a:t>
            </a:r>
          </a:p>
          <a:p>
            <a:pPr lvl="1"/>
            <a:r>
              <a:rPr lang="en-US" dirty="0"/>
              <a:t>Schedules</a:t>
            </a:r>
          </a:p>
          <a:p>
            <a:pPr lvl="1"/>
            <a:r>
              <a:rPr lang="en-US" dirty="0"/>
              <a:t>Standards</a:t>
            </a:r>
          </a:p>
          <a:p>
            <a:pPr lvl="1"/>
            <a:r>
              <a:rPr lang="en-US" dirty="0"/>
              <a:t>Etc. </a:t>
            </a:r>
          </a:p>
          <a:p>
            <a:r>
              <a:rPr lang="en-US" dirty="0"/>
              <a:t>This documentation is created to allow for successful management of a software product</a:t>
            </a:r>
          </a:p>
          <a:p>
            <a:pPr>
              <a:buFont typeface="Wingdings" pitchFamily="2" charset="2"/>
              <a:buNone/>
            </a:pPr>
            <a:endParaRPr lang="en-US" dirty="0"/>
          </a:p>
          <a:p>
            <a:pPr lvl="1"/>
            <a:endParaRPr 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sz="4000"/>
              <a:t>Process Documentation</a:t>
            </a:r>
          </a:p>
        </p:txBody>
      </p:sp>
      <p:sp>
        <p:nvSpPr>
          <p:cNvPr id="10243" name="Rectangle 3"/>
          <p:cNvSpPr>
            <a:spLocks noGrp="1" noChangeArrowheads="1"/>
          </p:cNvSpPr>
          <p:nvPr>
            <p:ph sz="quarter" idx="1"/>
          </p:nvPr>
        </p:nvSpPr>
        <p:spPr/>
        <p:txBody>
          <a:bodyPr>
            <a:normAutofit lnSpcReduction="10000"/>
          </a:bodyPr>
          <a:lstStyle/>
          <a:p>
            <a:pPr>
              <a:lnSpc>
                <a:spcPct val="90000"/>
              </a:lnSpc>
            </a:pPr>
            <a:r>
              <a:rPr lang="en-US" sz="2800" dirty="0"/>
              <a:t>Has a relatively short lifespan</a:t>
            </a:r>
          </a:p>
          <a:p>
            <a:pPr>
              <a:lnSpc>
                <a:spcPct val="90000"/>
              </a:lnSpc>
            </a:pPr>
            <a:r>
              <a:rPr lang="en-US" sz="2800" dirty="0"/>
              <a:t>Only important to internal development process</a:t>
            </a:r>
          </a:p>
          <a:p>
            <a:pPr lvl="1">
              <a:lnSpc>
                <a:spcPct val="90000"/>
              </a:lnSpc>
            </a:pPr>
            <a:r>
              <a:rPr lang="en-US" sz="2800" dirty="0"/>
              <a:t>Except in cases where the customer requires a view into this data</a:t>
            </a:r>
          </a:p>
          <a:p>
            <a:pPr>
              <a:lnSpc>
                <a:spcPct val="90000"/>
              </a:lnSpc>
            </a:pPr>
            <a:r>
              <a:rPr lang="en-US" sz="2800" dirty="0"/>
              <a:t>Some items, such as papers that describe design decisions should be extracted and moved into the product documentation category when they become implemented</a:t>
            </a:r>
          </a:p>
          <a:p>
            <a:pPr>
              <a:lnSpc>
                <a:spcPct val="90000"/>
              </a:lnSpc>
            </a:pPr>
            <a:r>
              <a:rPr lang="en-US" sz="2800" dirty="0"/>
              <a:t>Process documentation is produced so that the development of the system can</a:t>
            </a:r>
            <a:br>
              <a:rPr lang="en-US" sz="2800" dirty="0"/>
            </a:br>
            <a:r>
              <a:rPr lang="en-US" sz="2800" dirty="0"/>
              <a:t>be managed. </a:t>
            </a:r>
          </a:p>
          <a:p>
            <a:pPr>
              <a:lnSpc>
                <a:spcPct val="90000"/>
              </a:lnSpc>
            </a:pPr>
            <a:endParaRPr lang="en-US" dirty="0"/>
          </a:p>
          <a:p>
            <a:pPr lvl="1">
              <a:lnSpc>
                <a:spcPct val="90000"/>
              </a:lnSpc>
            </a:pPr>
            <a:endParaRPr 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3B48C-B7FD-92D4-3C17-72B0D8681EED}"/>
              </a:ext>
            </a:extLst>
          </p:cNvPr>
          <p:cNvSpPr>
            <a:spLocks noGrp="1"/>
          </p:cNvSpPr>
          <p:nvPr>
            <p:ph type="title"/>
          </p:nvPr>
        </p:nvSpPr>
        <p:spPr/>
        <p:txBody>
          <a:bodyPr>
            <a:normAutofit fontScale="90000"/>
          </a:bodyPr>
          <a:lstStyle/>
          <a:p>
            <a:r>
              <a:rPr lang="en-US" dirty="0">
                <a:solidFill>
                  <a:srgbClr val="000000"/>
                </a:solidFill>
                <a:latin typeface="TimesNewRomanPSMT"/>
              </a:rPr>
              <a:t>Process documentation falls into a number of categories:</a:t>
            </a:r>
            <a:endParaRPr lang="ar-SD" dirty="0"/>
          </a:p>
        </p:txBody>
      </p:sp>
      <p:sp>
        <p:nvSpPr>
          <p:cNvPr id="3" name="Content Placeholder 2">
            <a:extLst>
              <a:ext uri="{FF2B5EF4-FFF2-40B4-BE49-F238E27FC236}">
                <a16:creationId xmlns:a16="http://schemas.microsoft.com/office/drawing/2014/main" id="{0AFF5DEB-2BF6-313B-5C4F-DE7A39B061AC}"/>
              </a:ext>
            </a:extLst>
          </p:cNvPr>
          <p:cNvSpPr>
            <a:spLocks noGrp="1"/>
          </p:cNvSpPr>
          <p:nvPr>
            <p:ph sz="quarter" idx="1"/>
          </p:nvPr>
        </p:nvSpPr>
        <p:spPr/>
        <p:txBody>
          <a:bodyPr>
            <a:normAutofit lnSpcReduction="10000"/>
          </a:bodyPr>
          <a:lstStyle/>
          <a:p>
            <a:pPr marL="0" indent="0">
              <a:buNone/>
            </a:pPr>
            <a:r>
              <a:rPr lang="en-US" sz="2800" dirty="0"/>
              <a:t>1. Plans, estimates and schedules: These are documents produced by managers which are used to predict and to control the software process.</a:t>
            </a:r>
            <a:br>
              <a:rPr lang="en-US" sz="2800" dirty="0"/>
            </a:br>
            <a:r>
              <a:rPr lang="en-US" sz="2800" dirty="0"/>
              <a:t>2. Reports: These are documents which report how resources were used</a:t>
            </a:r>
            <a:br>
              <a:rPr lang="en-US" sz="2800" dirty="0"/>
            </a:br>
            <a:r>
              <a:rPr lang="en-US" sz="2800" dirty="0"/>
              <a:t>during the process of development.</a:t>
            </a:r>
            <a:br>
              <a:rPr lang="en-US" sz="2800" dirty="0"/>
            </a:br>
            <a:r>
              <a:rPr lang="en-US" sz="2800" dirty="0"/>
              <a:t>3. Standards: These are documents which set out how the process is to be implemented. These may be developed from organizational, national or</a:t>
            </a:r>
            <a:br>
              <a:rPr lang="en-US" sz="2800" dirty="0"/>
            </a:br>
            <a:r>
              <a:rPr lang="en-US" sz="2800" dirty="0"/>
              <a:t>international standards </a:t>
            </a:r>
            <a:br>
              <a:rPr lang="en-US" dirty="0"/>
            </a:br>
            <a:endParaRPr lang="ar-SD" dirty="0"/>
          </a:p>
        </p:txBody>
      </p:sp>
    </p:spTree>
    <p:extLst>
      <p:ext uri="{BB962C8B-B14F-4D97-AF65-F5344CB8AC3E}">
        <p14:creationId xmlns:p14="http://schemas.microsoft.com/office/powerpoint/2010/main" val="414569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A184C-39E0-9B33-9A33-A9509E33013D}"/>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BCAFF782-D819-1CFC-4FA3-914A9AD1F407}"/>
              </a:ext>
            </a:extLst>
          </p:cNvPr>
          <p:cNvSpPr>
            <a:spLocks noGrp="1"/>
          </p:cNvSpPr>
          <p:nvPr>
            <p:ph sz="quarter" idx="1"/>
          </p:nvPr>
        </p:nvSpPr>
        <p:spPr/>
        <p:txBody>
          <a:bodyPr>
            <a:normAutofit fontScale="92500" lnSpcReduction="10000"/>
          </a:bodyPr>
          <a:lstStyle/>
          <a:p>
            <a:pPr algn="just"/>
            <a:r>
              <a:rPr lang="en-US" dirty="0"/>
              <a:t>4. Working papers: These are often the principal technical communication documents in a project. They record the ideas and thoughts of the engineers working on the project, are interim versions of product documentation, describe implementation strategies and set out problems which have been identified. They often, implicitly, record the rationale for design decisions.</a:t>
            </a:r>
          </a:p>
          <a:p>
            <a:r>
              <a:rPr lang="en-US" dirty="0"/>
              <a:t>5. Memos and electronic mail messages: These record the details of everyday communications between managers and development engineers.</a:t>
            </a:r>
            <a:endParaRPr lang="ar-SD" dirty="0"/>
          </a:p>
        </p:txBody>
      </p:sp>
    </p:spTree>
    <p:extLst>
      <p:ext uri="{BB962C8B-B14F-4D97-AF65-F5344CB8AC3E}">
        <p14:creationId xmlns:p14="http://schemas.microsoft.com/office/powerpoint/2010/main" val="3968999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D2C6C-74AA-4CF2-45DA-1AAD9A9E74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1AED21-2F88-7CE3-76E0-9C88FCFCE525}"/>
              </a:ext>
            </a:extLst>
          </p:cNvPr>
          <p:cNvSpPr>
            <a:spLocks noGrp="1"/>
          </p:cNvSpPr>
          <p:nvPr>
            <p:ph sz="quarter" idx="1"/>
          </p:nvPr>
        </p:nvSpPr>
        <p:spPr>
          <a:xfrm>
            <a:off x="612648" y="1600200"/>
            <a:ext cx="8226552" cy="4495800"/>
          </a:xfrm>
        </p:spPr>
        <p:txBody>
          <a:bodyPr>
            <a:noAutofit/>
          </a:bodyPr>
          <a:lstStyle/>
          <a:p>
            <a:r>
              <a:rPr lang="en-US" sz="2700" dirty="0"/>
              <a:t>The major characteristic of process documentation is that most of it becomes outdated. Plans may be drawn up on a weekly, fortnightly or monthly basis.</a:t>
            </a:r>
          </a:p>
          <a:p>
            <a:r>
              <a:rPr lang="en-US" sz="2700" dirty="0"/>
              <a:t>Progress will normally be reported weekly. Memos record thoughts, ideas and intentions which change.</a:t>
            </a:r>
            <a:br>
              <a:rPr lang="en-US" sz="2700" dirty="0"/>
            </a:br>
            <a:r>
              <a:rPr lang="en-US" sz="2700" dirty="0"/>
              <a:t>Although of interest to software historians, much of this process information is of little real use after it has gone out of date and there is not normally a need to preserve it after the system has been delivered. However, there are some process documents that can be useful as the software evolves in response to</a:t>
            </a:r>
            <a:br>
              <a:rPr lang="en-US" sz="2700" dirty="0"/>
            </a:br>
            <a:r>
              <a:rPr lang="en-US" sz="2700" dirty="0"/>
              <a:t>new requirements.</a:t>
            </a:r>
            <a:br>
              <a:rPr lang="en-US" sz="2700" dirty="0"/>
            </a:br>
            <a:br>
              <a:rPr lang="en-US" sz="2700" dirty="0"/>
            </a:br>
            <a:endParaRPr lang="ar-SD" sz="2700" dirty="0"/>
          </a:p>
        </p:txBody>
      </p:sp>
    </p:spTree>
    <p:extLst>
      <p:ext uri="{BB962C8B-B14F-4D97-AF65-F5344CB8AC3E}">
        <p14:creationId xmlns:p14="http://schemas.microsoft.com/office/powerpoint/2010/main" val="3127580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75563-D953-B5D0-4594-18EB7C360AEE}"/>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A1FA3EF9-A91D-A0EB-0425-D5DDBEA7F655}"/>
              </a:ext>
            </a:extLst>
          </p:cNvPr>
          <p:cNvSpPr>
            <a:spLocks noGrp="1"/>
          </p:cNvSpPr>
          <p:nvPr>
            <p:ph sz="quarter" idx="1"/>
          </p:nvPr>
        </p:nvSpPr>
        <p:spPr/>
        <p:txBody>
          <a:bodyPr>
            <a:normAutofit fontScale="85000" lnSpcReduction="20000"/>
          </a:bodyPr>
          <a:lstStyle/>
          <a:p>
            <a:pPr algn="just"/>
            <a:r>
              <a:rPr lang="en-US" sz="3200" dirty="0"/>
              <a:t>For example, test schedules are of value during software evolution as they act as a basis for re-planning the validation of system changes. Working papers which explain the reasons behind design decisions (design rationale) are also potentially valuable as they discuss design options and choices made. Access to this information helps avoid making changes which conflict with these original decisions. Ideally, of course, the design rationale should be extracted from the working papers and separately maintained. Unfortunately this hardly ever happens. </a:t>
            </a:r>
            <a:br>
              <a:rPr lang="en-US" dirty="0"/>
            </a:br>
            <a:endParaRPr lang="ar-SD" dirty="0"/>
          </a:p>
        </p:txBody>
      </p:sp>
    </p:spTree>
    <p:extLst>
      <p:ext uri="{BB962C8B-B14F-4D97-AF65-F5344CB8AC3E}">
        <p14:creationId xmlns:p14="http://schemas.microsoft.com/office/powerpoint/2010/main" val="18603434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Product Documentation</a:t>
            </a:r>
          </a:p>
        </p:txBody>
      </p:sp>
      <p:sp>
        <p:nvSpPr>
          <p:cNvPr id="11267" name="Rectangle 3"/>
          <p:cNvSpPr>
            <a:spLocks noGrp="1" noChangeArrowheads="1"/>
          </p:cNvSpPr>
          <p:nvPr>
            <p:ph sz="quarter" idx="1"/>
          </p:nvPr>
        </p:nvSpPr>
        <p:spPr/>
        <p:txBody>
          <a:bodyPr>
            <a:normAutofit fontScale="92500" lnSpcReduction="20000"/>
          </a:bodyPr>
          <a:lstStyle/>
          <a:p>
            <a:pPr>
              <a:lnSpc>
                <a:spcPct val="90000"/>
              </a:lnSpc>
            </a:pPr>
            <a:r>
              <a:rPr lang="en-US" sz="2400" dirty="0"/>
              <a:t>Describes the </a:t>
            </a:r>
            <a:r>
              <a:rPr lang="en-US" sz="2400" b="1" dirty="0"/>
              <a:t>delivered</a:t>
            </a:r>
            <a:r>
              <a:rPr lang="en-US" sz="2400" dirty="0"/>
              <a:t> product</a:t>
            </a:r>
          </a:p>
          <a:p>
            <a:pPr>
              <a:lnSpc>
                <a:spcPct val="90000"/>
              </a:lnSpc>
              <a:buNone/>
            </a:pPr>
            <a:r>
              <a:rPr lang="en-US" dirty="0"/>
              <a:t>Product documentation is used after the system is operational but is also essential for management of the system development. The creation of a document, such as a system specification, may represent an important milestone in the software development process. </a:t>
            </a:r>
            <a:br>
              <a:rPr lang="en-US" dirty="0"/>
            </a:br>
            <a:endParaRPr lang="ar-SD" dirty="0"/>
          </a:p>
          <a:p>
            <a:pPr>
              <a:lnSpc>
                <a:spcPct val="90000"/>
              </a:lnSpc>
            </a:pPr>
            <a:r>
              <a:rPr lang="en-US" sz="2400" dirty="0"/>
              <a:t>Must evolve with the development of the software product</a:t>
            </a:r>
          </a:p>
          <a:p>
            <a:pPr>
              <a:lnSpc>
                <a:spcPct val="90000"/>
              </a:lnSpc>
            </a:pPr>
            <a:endParaRPr lang="en-US" sz="2400" dirty="0"/>
          </a:p>
          <a:p>
            <a:pPr>
              <a:lnSpc>
                <a:spcPct val="90000"/>
              </a:lnSpc>
            </a:pPr>
            <a:r>
              <a:rPr lang="en-US" sz="2400" dirty="0"/>
              <a:t>Two main categories:</a:t>
            </a:r>
          </a:p>
          <a:p>
            <a:pPr lvl="1">
              <a:lnSpc>
                <a:spcPct val="90000"/>
              </a:lnSpc>
            </a:pPr>
            <a:endParaRPr lang="en-US" sz="2000" dirty="0"/>
          </a:p>
          <a:p>
            <a:pPr lvl="1">
              <a:lnSpc>
                <a:spcPct val="90000"/>
              </a:lnSpc>
            </a:pPr>
            <a:r>
              <a:rPr lang="en-US" sz="2000" dirty="0"/>
              <a:t>System Documentation</a:t>
            </a:r>
          </a:p>
          <a:p>
            <a:pPr lvl="1">
              <a:lnSpc>
                <a:spcPct val="90000"/>
              </a:lnSpc>
            </a:pPr>
            <a:endParaRPr lang="en-US" sz="2000" dirty="0"/>
          </a:p>
          <a:p>
            <a:pPr lvl="1">
              <a:lnSpc>
                <a:spcPct val="90000"/>
              </a:lnSpc>
            </a:pPr>
            <a:r>
              <a:rPr lang="en-US" sz="2000" dirty="0"/>
              <a:t>User Documentation</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sz="quarter" idx="1"/>
          </p:nvPr>
        </p:nvSpPr>
        <p:spPr>
          <a:xfrm>
            <a:off x="612648" y="1600200"/>
            <a:ext cx="8153400" cy="5029200"/>
          </a:xfrm>
        </p:spPr>
        <p:txBody>
          <a:bodyPr>
            <a:normAutofit fontScale="62500" lnSpcReduction="20000"/>
          </a:bodyPr>
          <a:lstStyle/>
          <a:p>
            <a:pPr>
              <a:lnSpc>
                <a:spcPct val="90000"/>
              </a:lnSpc>
            </a:pPr>
            <a:r>
              <a:rPr lang="en-US" sz="2800" dirty="0"/>
              <a:t>System Documentation</a:t>
            </a:r>
          </a:p>
          <a:p>
            <a:pPr lvl="1">
              <a:lnSpc>
                <a:spcPct val="90000"/>
              </a:lnSpc>
            </a:pPr>
            <a:r>
              <a:rPr lang="en-US" sz="3200" dirty="0"/>
              <a:t>System documentation includes all of the documents describing the system  itself from the requirements specification to the final acceptance test plan.  Documents describing the design, implementation and testing of a system are  essential if the program is to be understood and maintained. Like user  documentation, it is important that system documentation is structured, with  overviews leading the reader into more formal and detailed descriptions of each  aspect of the system.</a:t>
            </a:r>
          </a:p>
          <a:p>
            <a:pPr>
              <a:lnSpc>
                <a:spcPct val="90000"/>
              </a:lnSpc>
            </a:pPr>
            <a:endParaRPr lang="en-US" sz="2800" dirty="0"/>
          </a:p>
          <a:p>
            <a:pPr>
              <a:lnSpc>
                <a:spcPct val="90000"/>
              </a:lnSpc>
            </a:pPr>
            <a:r>
              <a:rPr lang="en-US" sz="3200" dirty="0"/>
              <a:t>Examples:</a:t>
            </a:r>
          </a:p>
          <a:p>
            <a:pPr lvl="1">
              <a:lnSpc>
                <a:spcPct val="90000"/>
              </a:lnSpc>
            </a:pPr>
            <a:r>
              <a:rPr lang="en-US" dirty="0"/>
              <a:t>Requirements Spec</a:t>
            </a:r>
          </a:p>
          <a:p>
            <a:pPr lvl="1">
              <a:lnSpc>
                <a:spcPct val="90000"/>
              </a:lnSpc>
            </a:pPr>
            <a:r>
              <a:rPr lang="en-US" dirty="0"/>
              <a:t>Architectural Design</a:t>
            </a:r>
          </a:p>
          <a:p>
            <a:pPr lvl="1">
              <a:lnSpc>
                <a:spcPct val="90000"/>
              </a:lnSpc>
            </a:pPr>
            <a:r>
              <a:rPr lang="en-US" dirty="0"/>
              <a:t>Detailed Design</a:t>
            </a:r>
          </a:p>
          <a:p>
            <a:pPr lvl="1">
              <a:lnSpc>
                <a:spcPct val="90000"/>
              </a:lnSpc>
            </a:pPr>
            <a:r>
              <a:rPr lang="en-US" dirty="0"/>
              <a:t>Commented Source Code</a:t>
            </a:r>
          </a:p>
          <a:p>
            <a:pPr lvl="2">
              <a:lnSpc>
                <a:spcPct val="90000"/>
              </a:lnSpc>
            </a:pPr>
            <a:r>
              <a:rPr lang="en-US" sz="2200" dirty="0"/>
              <a:t>Including output such as </a:t>
            </a:r>
            <a:r>
              <a:rPr lang="en-US" sz="2200" dirty="0" err="1"/>
              <a:t>JavaDoc</a:t>
            </a:r>
            <a:endParaRPr lang="en-US" sz="2200" dirty="0"/>
          </a:p>
          <a:p>
            <a:pPr lvl="1">
              <a:lnSpc>
                <a:spcPct val="90000"/>
              </a:lnSpc>
            </a:pPr>
            <a:r>
              <a:rPr lang="en-US" dirty="0"/>
              <a:t>Test Plans</a:t>
            </a:r>
          </a:p>
          <a:p>
            <a:pPr lvl="2">
              <a:lnSpc>
                <a:spcPct val="90000"/>
              </a:lnSpc>
            </a:pPr>
            <a:r>
              <a:rPr lang="en-US" sz="2200" dirty="0"/>
              <a:t>Including test cases</a:t>
            </a:r>
          </a:p>
          <a:p>
            <a:pPr lvl="1">
              <a:lnSpc>
                <a:spcPct val="90000"/>
              </a:lnSpc>
            </a:pPr>
            <a:r>
              <a:rPr lang="en-US" dirty="0"/>
              <a:t>V&amp;V plan and results</a:t>
            </a:r>
          </a:p>
          <a:p>
            <a:pPr lvl="1">
              <a:lnSpc>
                <a:spcPct val="90000"/>
              </a:lnSpc>
            </a:pPr>
            <a:r>
              <a:rPr lang="en-US" dirty="0"/>
              <a:t>List of Known Bugs</a:t>
            </a:r>
          </a:p>
          <a:p>
            <a:pPr lvl="1">
              <a:lnSpc>
                <a:spcPct val="90000"/>
              </a:lnSpc>
            </a:pPr>
            <a:endParaRPr lang="en-US" sz="2400" dirty="0"/>
          </a:p>
          <a:p>
            <a:pPr lvl="1">
              <a:lnSpc>
                <a:spcPct val="90000"/>
              </a:lnSpc>
            </a:pPr>
            <a:endParaRPr lang="en-US" sz="2400" dirty="0"/>
          </a:p>
        </p:txBody>
      </p:sp>
      <p:sp>
        <p:nvSpPr>
          <p:cNvPr id="3" name="Title 2">
            <a:extLst>
              <a:ext uri="{FF2B5EF4-FFF2-40B4-BE49-F238E27FC236}">
                <a16:creationId xmlns:a16="http://schemas.microsoft.com/office/drawing/2014/main" id="{F91BFF05-5719-5551-2318-4CF01BB3ECA7}"/>
              </a:ext>
            </a:extLst>
          </p:cNvPr>
          <p:cNvSpPr>
            <a:spLocks noGrp="1"/>
          </p:cNvSpPr>
          <p:nvPr>
            <p:ph type="title"/>
          </p:nvPr>
        </p:nvSpPr>
        <p:spPr/>
        <p:txBody>
          <a:bodyPr/>
          <a:lstStyle/>
          <a:p>
            <a:endParaRPr lang="ar-SD"/>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096CB-7D8E-484A-0A16-4791C68D8FCC}"/>
              </a:ext>
            </a:extLst>
          </p:cNvPr>
          <p:cNvSpPr>
            <a:spLocks noGrp="1"/>
          </p:cNvSpPr>
          <p:nvPr>
            <p:ph type="title"/>
          </p:nvPr>
        </p:nvSpPr>
        <p:spPr/>
        <p:txBody>
          <a:bodyPr>
            <a:normAutofit fontScale="90000"/>
          </a:bodyPr>
          <a:lstStyle/>
          <a:p>
            <a:br>
              <a:rPr lang="en-US" sz="2200" b="1" dirty="0"/>
            </a:br>
            <a:r>
              <a:rPr lang="en-US" sz="2200" b="1" dirty="0"/>
              <a:t>For large systems that are developed to a customer’s specification, the system  documentation should include:</a:t>
            </a:r>
            <a:br>
              <a:rPr lang="en-US" sz="2200" b="1" dirty="0"/>
            </a:br>
            <a:endParaRPr lang="ar-SD" b="1" dirty="0"/>
          </a:p>
        </p:txBody>
      </p:sp>
      <p:sp>
        <p:nvSpPr>
          <p:cNvPr id="3" name="Content Placeholder 2">
            <a:extLst>
              <a:ext uri="{FF2B5EF4-FFF2-40B4-BE49-F238E27FC236}">
                <a16:creationId xmlns:a16="http://schemas.microsoft.com/office/drawing/2014/main" id="{4B2286C7-BD40-76C7-2D3F-03C138460F24}"/>
              </a:ext>
            </a:extLst>
          </p:cNvPr>
          <p:cNvSpPr>
            <a:spLocks noGrp="1"/>
          </p:cNvSpPr>
          <p:nvPr>
            <p:ph sz="quarter" idx="1"/>
          </p:nvPr>
        </p:nvSpPr>
        <p:spPr/>
        <p:txBody>
          <a:bodyPr>
            <a:normAutofit/>
          </a:bodyPr>
          <a:lstStyle/>
          <a:p>
            <a:pPr marL="514350" indent="-514350">
              <a:buFont typeface="+mj-lt"/>
              <a:buAutoNum type="arabicPeriod"/>
            </a:pPr>
            <a:r>
              <a:rPr lang="en-US" dirty="0"/>
              <a:t>The requirements document and an associated rationale.</a:t>
            </a:r>
          </a:p>
          <a:p>
            <a:pPr marL="514350" indent="-514350">
              <a:buFont typeface="+mj-lt"/>
              <a:buAutoNum type="arabicPeriod"/>
            </a:pPr>
            <a:r>
              <a:rPr lang="en-US" dirty="0"/>
              <a:t>A document describing the system architecture.</a:t>
            </a:r>
          </a:p>
          <a:p>
            <a:pPr marL="514350" indent="-514350">
              <a:buFont typeface="+mj-lt"/>
              <a:buAutoNum type="arabicPeriod"/>
            </a:pPr>
            <a:r>
              <a:rPr lang="en-US" dirty="0"/>
              <a:t>For each program in the system, a description of the architecture of  that program.</a:t>
            </a:r>
          </a:p>
          <a:p>
            <a:pPr marL="514350" indent="-514350">
              <a:buFont typeface="+mj-lt"/>
              <a:buAutoNum type="arabicPeriod"/>
            </a:pPr>
            <a:r>
              <a:rPr lang="en-US" dirty="0"/>
              <a:t>For each component in the system, a description of its functionality  and interfaces.</a:t>
            </a:r>
          </a:p>
          <a:p>
            <a:endParaRPr lang="ar-SD" dirty="0"/>
          </a:p>
          <a:p>
            <a:pPr marL="514350" indent="-514350">
              <a:buFont typeface="+mj-lt"/>
              <a:buAutoNum type="arabicPeriod"/>
            </a:pPr>
            <a:endParaRPr lang="en-US" dirty="0"/>
          </a:p>
          <a:p>
            <a:pPr marL="0" indent="0">
              <a:buNone/>
            </a:pPr>
            <a:endParaRPr lang="en-US" dirty="0"/>
          </a:p>
          <a:p>
            <a:pPr marL="514350" indent="-514350">
              <a:buFont typeface="+mj-lt"/>
              <a:buAutoNum type="arabicPeriod"/>
            </a:pPr>
            <a:endParaRPr lang="en-US" dirty="0"/>
          </a:p>
          <a:p>
            <a:endParaRPr lang="ar-SD" dirty="0"/>
          </a:p>
        </p:txBody>
      </p:sp>
    </p:spTree>
    <p:extLst>
      <p:ext uri="{BB962C8B-B14F-4D97-AF65-F5344CB8AC3E}">
        <p14:creationId xmlns:p14="http://schemas.microsoft.com/office/powerpoint/2010/main" val="42612687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8E34159-EC95-63C7-E631-443617E10D7E}"/>
              </a:ext>
            </a:extLst>
          </p:cNvPr>
          <p:cNvSpPr txBox="1">
            <a:spLocks/>
          </p:cNvSpPr>
          <p:nvPr/>
        </p:nvSpPr>
        <p:spPr>
          <a:xfrm>
            <a:off x="765048" y="1752600"/>
            <a:ext cx="8153400" cy="4495800"/>
          </a:xfrm>
          <a:prstGeom prst="rect">
            <a:avLst/>
          </a:prstGeom>
        </p:spPr>
        <p:txBody>
          <a:bodyPr vert="horz">
            <a:normAutofit fontScale="850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514350" indent="-514350" fontAlgn="auto">
              <a:spcAft>
                <a:spcPts val="0"/>
              </a:spcAft>
              <a:buFont typeface="+mj-lt"/>
              <a:buAutoNum type="arabicPeriod" startAt="5"/>
            </a:pPr>
            <a:r>
              <a:rPr lang="en-US" sz="3200" dirty="0"/>
              <a:t>Program source code listings. These should be commented where the  comments should explain complex sections of code and provide a  rationale for the coding method used.</a:t>
            </a:r>
          </a:p>
          <a:p>
            <a:pPr marL="514350" indent="-514350" fontAlgn="auto">
              <a:spcAft>
                <a:spcPts val="0"/>
              </a:spcAft>
              <a:buFont typeface="+mj-lt"/>
              <a:buAutoNum type="arabicPeriod" startAt="5"/>
            </a:pPr>
            <a:r>
              <a:rPr lang="en-US" sz="3200" dirty="0"/>
              <a:t>Validation documents describing how each program is validated and how  the validation information relates to the requirements.</a:t>
            </a:r>
          </a:p>
          <a:p>
            <a:pPr marL="514350" indent="-514350" fontAlgn="auto">
              <a:spcAft>
                <a:spcPts val="0"/>
              </a:spcAft>
              <a:buFont typeface="+mj-lt"/>
              <a:buAutoNum type="arabicPeriod" startAt="5"/>
            </a:pPr>
            <a:r>
              <a:rPr lang="en-US" sz="3200" dirty="0"/>
              <a:t>A system maintenance guide which describes known problems with the  system, describes which parts of the system are hardware and software  dependent and which describes how evolution of the system has been  taken into account in its design.</a:t>
            </a:r>
          </a:p>
          <a:p>
            <a:pPr fontAlgn="auto">
              <a:spcAft>
                <a:spcPts val="0"/>
              </a:spcAft>
            </a:pPr>
            <a:endParaRPr lang="ar-SD" dirty="0"/>
          </a:p>
          <a:p>
            <a:pPr marL="514350" indent="-514350" fontAlgn="auto">
              <a:spcAft>
                <a:spcPts val="0"/>
              </a:spcAft>
              <a:buFont typeface="+mj-lt"/>
              <a:buAutoNum type="arabicPeriod"/>
            </a:pPr>
            <a:endParaRPr lang="en-US" dirty="0"/>
          </a:p>
          <a:p>
            <a:pPr marL="0" indent="0" fontAlgn="auto">
              <a:spcAft>
                <a:spcPts val="0"/>
              </a:spcAft>
              <a:buFont typeface="Wingdings"/>
              <a:buNone/>
            </a:pPr>
            <a:endParaRPr lang="en-US" dirty="0"/>
          </a:p>
          <a:p>
            <a:pPr marL="514350" indent="-514350" fontAlgn="auto">
              <a:spcAft>
                <a:spcPts val="0"/>
              </a:spcAft>
              <a:buFont typeface="+mj-lt"/>
              <a:buAutoNum type="arabicPeriod"/>
            </a:pPr>
            <a:endParaRPr lang="en-US" dirty="0"/>
          </a:p>
          <a:p>
            <a:pPr fontAlgn="auto">
              <a:spcAft>
                <a:spcPts val="0"/>
              </a:spcAft>
            </a:pPr>
            <a:endParaRPr lang="ar-SD" dirty="0"/>
          </a:p>
        </p:txBody>
      </p:sp>
      <p:sp>
        <p:nvSpPr>
          <p:cNvPr id="6" name="Title 5">
            <a:extLst>
              <a:ext uri="{FF2B5EF4-FFF2-40B4-BE49-F238E27FC236}">
                <a16:creationId xmlns:a16="http://schemas.microsoft.com/office/drawing/2014/main" id="{2B069466-5D6B-6359-FE5E-83C1AFF49336}"/>
              </a:ext>
            </a:extLst>
          </p:cNvPr>
          <p:cNvSpPr>
            <a:spLocks noGrp="1"/>
          </p:cNvSpPr>
          <p:nvPr>
            <p:ph type="title"/>
          </p:nvPr>
        </p:nvSpPr>
        <p:spPr/>
        <p:txBody>
          <a:bodyPr/>
          <a:lstStyle/>
          <a:p>
            <a:endParaRPr lang="ar-SD"/>
          </a:p>
        </p:txBody>
      </p:sp>
    </p:spTree>
    <p:extLst>
      <p:ext uri="{BB962C8B-B14F-4D97-AF65-F5344CB8AC3E}">
        <p14:creationId xmlns:p14="http://schemas.microsoft.com/office/powerpoint/2010/main" val="25283506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BF8FA-CFCD-EED3-40EC-18836E7A9635}"/>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A472882C-9DDA-1E20-8713-814B9ED5D9E5}"/>
              </a:ext>
            </a:extLst>
          </p:cNvPr>
          <p:cNvSpPr>
            <a:spLocks noGrp="1"/>
          </p:cNvSpPr>
          <p:nvPr>
            <p:ph sz="quarter" idx="1"/>
          </p:nvPr>
        </p:nvSpPr>
        <p:spPr/>
        <p:txBody>
          <a:bodyPr>
            <a:normAutofit fontScale="77500" lnSpcReduction="20000"/>
          </a:bodyPr>
          <a:lstStyle/>
          <a:p>
            <a:r>
              <a:rPr lang="en-US" dirty="0"/>
              <a:t>A common system maintenance problem is ensuring that all representations  are kept in step when the system is changed. To help with this, the  relationships and dependencies between documents and parts of documents  should be recorded in a document management system as discussed in the final  part of this paper.</a:t>
            </a:r>
          </a:p>
          <a:p>
            <a:r>
              <a:rPr lang="en-US" dirty="0"/>
              <a:t>For smaller systems and systems that are developed as software products,  system documentation is usually less comprehensive. This is not necessarily a  good thing but schedule pressures on developers mean that documents are  simply never written or, if written, are not kept up to date. These pressures are  sometimes inevitable but, in my view, at the very least you should always try to  maintain a specification of the system, an architectural design document and  the program source code.</a:t>
            </a:r>
          </a:p>
          <a:p>
            <a:endParaRPr lang="ar-SD" dirty="0"/>
          </a:p>
        </p:txBody>
      </p:sp>
    </p:spTree>
    <p:extLst>
      <p:ext uri="{BB962C8B-B14F-4D97-AF65-F5344CB8AC3E}">
        <p14:creationId xmlns:p14="http://schemas.microsoft.com/office/powerpoint/2010/main" val="4263591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22EFE-F485-8D56-2F69-E8F0F3055023}"/>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A346991F-14A7-9E1D-138C-B1CA189B8F0F}"/>
              </a:ext>
            </a:extLst>
          </p:cNvPr>
          <p:cNvSpPr>
            <a:spLocks noGrp="1"/>
          </p:cNvSpPr>
          <p:nvPr>
            <p:ph sz="quarter" idx="1"/>
          </p:nvPr>
        </p:nvSpPr>
        <p:spPr/>
        <p:txBody>
          <a:bodyPr>
            <a:normAutofit fontScale="85000" lnSpcReduction="20000"/>
          </a:bodyPr>
          <a:lstStyle/>
          <a:p>
            <a:r>
              <a:rPr lang="en-US" dirty="0"/>
              <a:t>Unfortunately, documentation maintenance is often neglected. Documentation  may become out of step with its associated software, causing problems for both  users and maintainers of the system. The natural tendency is to meet a deadline  by modifying code with the intention of modifying other documents  later.</a:t>
            </a:r>
          </a:p>
          <a:p>
            <a:r>
              <a:rPr lang="en-US" dirty="0"/>
              <a:t>Often, pressure of work means that this modification is continually set aside  until finding what is to be changed becomes very difficult indeed. The best  solution to this problem is to support document maintenance with software  tools which record document relationships, remind software engineers when  changes to one document affect another and record possible inconsistencies in  the documentation. Such a system is described by Garg and Scacchi  (1990).</a:t>
            </a:r>
          </a:p>
          <a:p>
            <a:endParaRPr lang="ar-SD" dirty="0"/>
          </a:p>
        </p:txBody>
      </p:sp>
    </p:spTree>
    <p:extLst>
      <p:ext uri="{BB962C8B-B14F-4D97-AF65-F5344CB8AC3E}">
        <p14:creationId xmlns:p14="http://schemas.microsoft.com/office/powerpoint/2010/main" val="4086696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a:t>User Documentation</a:t>
            </a:r>
          </a:p>
        </p:txBody>
      </p:sp>
      <p:sp>
        <p:nvSpPr>
          <p:cNvPr id="13315" name="Rectangle 3"/>
          <p:cNvSpPr>
            <a:spLocks noGrp="1" noChangeArrowheads="1"/>
          </p:cNvSpPr>
          <p:nvPr>
            <p:ph sz="quarter" idx="1"/>
          </p:nvPr>
        </p:nvSpPr>
        <p:spPr>
          <a:xfrm>
            <a:off x="612648" y="1600200"/>
            <a:ext cx="8302752" cy="4800600"/>
          </a:xfrm>
        </p:spPr>
        <p:txBody>
          <a:bodyPr>
            <a:normAutofit lnSpcReduction="10000"/>
          </a:bodyPr>
          <a:lstStyle/>
          <a:p>
            <a:r>
              <a:rPr lang="en-US" sz="2800" spc="15" dirty="0">
                <a:latin typeface="Times New Roman"/>
                <a:cs typeface="Times New Roman"/>
              </a:rPr>
              <a:t>Users </a:t>
            </a:r>
            <a:r>
              <a:rPr lang="en-US" sz="2800" spc="10" dirty="0">
                <a:latin typeface="Times New Roman"/>
                <a:cs typeface="Times New Roman"/>
              </a:rPr>
              <a:t>of </a:t>
            </a:r>
            <a:r>
              <a:rPr lang="en-US" sz="2800" dirty="0">
                <a:latin typeface="Times New Roman"/>
                <a:cs typeface="Times New Roman"/>
              </a:rPr>
              <a:t>a </a:t>
            </a:r>
            <a:r>
              <a:rPr lang="en-US" sz="2800" spc="15" dirty="0">
                <a:latin typeface="Times New Roman"/>
                <a:cs typeface="Times New Roman"/>
              </a:rPr>
              <a:t>system </a:t>
            </a:r>
            <a:r>
              <a:rPr lang="en-US" sz="2800" spc="10" dirty="0">
                <a:latin typeface="Times New Roman"/>
                <a:cs typeface="Times New Roman"/>
              </a:rPr>
              <a:t>are not all the </a:t>
            </a:r>
            <a:r>
              <a:rPr lang="en-US" sz="2800" spc="15" dirty="0">
                <a:latin typeface="Times New Roman"/>
                <a:cs typeface="Times New Roman"/>
              </a:rPr>
              <a:t>same. </a:t>
            </a:r>
            <a:r>
              <a:rPr lang="en-US" sz="2800" spc="10" dirty="0">
                <a:latin typeface="Times New Roman"/>
                <a:cs typeface="Times New Roman"/>
              </a:rPr>
              <a:t>The </a:t>
            </a:r>
            <a:r>
              <a:rPr lang="en-US" sz="2800" spc="15" dirty="0">
                <a:latin typeface="Times New Roman"/>
                <a:cs typeface="Times New Roman"/>
              </a:rPr>
              <a:t>producer </a:t>
            </a:r>
            <a:r>
              <a:rPr lang="en-US" sz="2800" spc="10" dirty="0">
                <a:latin typeface="Times New Roman"/>
                <a:cs typeface="Times New Roman"/>
              </a:rPr>
              <a:t>of </a:t>
            </a:r>
            <a:r>
              <a:rPr lang="en-US" sz="2800" spc="15" dirty="0">
                <a:latin typeface="Times New Roman"/>
                <a:cs typeface="Times New Roman"/>
              </a:rPr>
              <a:t>documentation </a:t>
            </a:r>
            <a:r>
              <a:rPr lang="en-US" sz="2800" spc="20" dirty="0">
                <a:latin typeface="Times New Roman"/>
                <a:cs typeface="Times New Roman"/>
              </a:rPr>
              <a:t>must  </a:t>
            </a:r>
            <a:r>
              <a:rPr lang="en-US" sz="2800" spc="15" dirty="0">
                <a:latin typeface="Times New Roman"/>
                <a:cs typeface="Times New Roman"/>
              </a:rPr>
              <a:t>structure </a:t>
            </a:r>
            <a:r>
              <a:rPr lang="en-US" sz="2800" spc="10" dirty="0">
                <a:latin typeface="Times New Roman"/>
                <a:cs typeface="Times New Roman"/>
              </a:rPr>
              <a:t>it to </a:t>
            </a:r>
            <a:r>
              <a:rPr lang="en-US" sz="2800" spc="15" dirty="0">
                <a:latin typeface="Times New Roman"/>
                <a:cs typeface="Times New Roman"/>
              </a:rPr>
              <a:t>cater </a:t>
            </a:r>
            <a:r>
              <a:rPr lang="en-US" sz="2800" spc="10" dirty="0">
                <a:latin typeface="Times New Roman"/>
                <a:cs typeface="Times New Roman"/>
              </a:rPr>
              <a:t>for </a:t>
            </a:r>
            <a:r>
              <a:rPr lang="en-US" sz="2800" spc="15" dirty="0">
                <a:latin typeface="Times New Roman"/>
                <a:cs typeface="Times New Roman"/>
              </a:rPr>
              <a:t>different user tasks </a:t>
            </a:r>
            <a:r>
              <a:rPr lang="en-US" sz="2800" spc="10" dirty="0">
                <a:latin typeface="Times New Roman"/>
                <a:cs typeface="Times New Roman"/>
              </a:rPr>
              <a:t>and </a:t>
            </a:r>
            <a:r>
              <a:rPr lang="en-US" sz="2800" spc="15" dirty="0">
                <a:latin typeface="Times New Roman"/>
                <a:cs typeface="Times New Roman"/>
              </a:rPr>
              <a:t>different levels </a:t>
            </a:r>
            <a:r>
              <a:rPr lang="en-US" sz="2800" spc="10" dirty="0">
                <a:latin typeface="Times New Roman"/>
                <a:cs typeface="Times New Roman"/>
              </a:rPr>
              <a:t>of </a:t>
            </a:r>
            <a:r>
              <a:rPr lang="en-US" sz="2800" spc="15" dirty="0">
                <a:latin typeface="Times New Roman"/>
                <a:cs typeface="Times New Roman"/>
              </a:rPr>
              <a:t>expertise </a:t>
            </a:r>
            <a:r>
              <a:rPr lang="en-US" sz="2800" spc="20" dirty="0">
                <a:latin typeface="Times New Roman"/>
                <a:cs typeface="Times New Roman"/>
              </a:rPr>
              <a:t>and  </a:t>
            </a:r>
            <a:r>
              <a:rPr lang="en-US" sz="2800" spc="10" dirty="0">
                <a:latin typeface="Times New Roman"/>
                <a:cs typeface="Times New Roman"/>
              </a:rPr>
              <a:t>experience. </a:t>
            </a:r>
            <a:r>
              <a:rPr lang="en-US" sz="2800" spc="5" dirty="0">
                <a:latin typeface="Times New Roman"/>
                <a:cs typeface="Times New Roman"/>
              </a:rPr>
              <a:t>It is </a:t>
            </a:r>
            <a:r>
              <a:rPr lang="en-US" sz="2800" spc="10" dirty="0">
                <a:latin typeface="Times New Roman"/>
                <a:cs typeface="Times New Roman"/>
              </a:rPr>
              <a:t>particularly important </a:t>
            </a:r>
            <a:r>
              <a:rPr lang="en-US" sz="2800" spc="5" dirty="0">
                <a:latin typeface="Times New Roman"/>
                <a:cs typeface="Times New Roman"/>
              </a:rPr>
              <a:t>to </a:t>
            </a:r>
            <a:r>
              <a:rPr lang="en-US" sz="2800" spc="10" dirty="0">
                <a:latin typeface="Times New Roman"/>
                <a:cs typeface="Times New Roman"/>
              </a:rPr>
              <a:t>distinguish between end-users </a:t>
            </a:r>
            <a:r>
              <a:rPr lang="en-US" sz="2800" spc="15" dirty="0">
                <a:latin typeface="Times New Roman"/>
                <a:cs typeface="Times New Roman"/>
              </a:rPr>
              <a:t>and  system</a:t>
            </a:r>
            <a:r>
              <a:rPr lang="en-US" sz="2800" spc="-55" dirty="0">
                <a:latin typeface="Times New Roman"/>
                <a:cs typeface="Times New Roman"/>
              </a:rPr>
              <a:t> </a:t>
            </a:r>
            <a:r>
              <a:rPr lang="en-US" sz="2800" spc="20" dirty="0">
                <a:latin typeface="Times New Roman"/>
                <a:cs typeface="Times New Roman"/>
              </a:rPr>
              <a:t>administrators:</a:t>
            </a:r>
            <a:endParaRPr lang="en-US" sz="2800" dirty="0">
              <a:latin typeface="Times New Roman"/>
              <a:cs typeface="Times New Roman"/>
            </a:endParaRPr>
          </a:p>
          <a:p>
            <a:r>
              <a:rPr lang="en-US" sz="2800" dirty="0"/>
              <a:t>User Documentation has two main types</a:t>
            </a:r>
          </a:p>
          <a:p>
            <a:pPr lvl="1"/>
            <a:r>
              <a:rPr lang="en-US" sz="2400" dirty="0"/>
              <a:t>End User: use the software to assist with some task. This may be flying  an aircraft, managing insurance policies, writing a book, etc. They  want to know how the software can help them. They are not interested  in computer or administration details.</a:t>
            </a:r>
          </a:p>
          <a:p>
            <a:pPr lvl="2"/>
            <a:endParaRPr lang="en-US" sz="2000"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2E862-31E8-0C15-2486-C21B3C99F5D9}"/>
              </a:ext>
            </a:extLst>
          </p:cNvPr>
          <p:cNvSpPr>
            <a:spLocks noGrp="1"/>
          </p:cNvSpPr>
          <p:nvPr>
            <p:ph type="title"/>
          </p:nvPr>
        </p:nvSpPr>
        <p:spPr/>
        <p:txBody>
          <a:bodyPr/>
          <a:lstStyle/>
          <a:p>
            <a:endParaRPr lang="ar-SD"/>
          </a:p>
        </p:txBody>
      </p:sp>
      <p:pic>
        <p:nvPicPr>
          <p:cNvPr id="100" name="Picture 99">
            <a:extLst>
              <a:ext uri="{FF2B5EF4-FFF2-40B4-BE49-F238E27FC236}">
                <a16:creationId xmlns:a16="http://schemas.microsoft.com/office/drawing/2014/main" id="{55C4E1E2-525F-9329-6E1E-3952849B8A73}"/>
              </a:ext>
            </a:extLst>
          </p:cNvPr>
          <p:cNvPicPr>
            <a:picLocks noChangeAspect="1"/>
          </p:cNvPicPr>
          <p:nvPr/>
        </p:nvPicPr>
        <p:blipFill>
          <a:blip r:embed="rId2"/>
          <a:stretch>
            <a:fillRect/>
          </a:stretch>
        </p:blipFill>
        <p:spPr>
          <a:xfrm>
            <a:off x="378527" y="1752600"/>
            <a:ext cx="8768171" cy="3505200"/>
          </a:xfrm>
          <a:prstGeom prst="rect">
            <a:avLst/>
          </a:prstGeom>
        </p:spPr>
      </p:pic>
      <p:sp>
        <p:nvSpPr>
          <p:cNvPr id="102" name="TextBox 101">
            <a:extLst>
              <a:ext uri="{FF2B5EF4-FFF2-40B4-BE49-F238E27FC236}">
                <a16:creationId xmlns:a16="http://schemas.microsoft.com/office/drawing/2014/main" id="{50691D8F-592D-5A60-4F5C-E47E78E1C963}"/>
              </a:ext>
            </a:extLst>
          </p:cNvPr>
          <p:cNvSpPr txBox="1"/>
          <p:nvPr/>
        </p:nvSpPr>
        <p:spPr>
          <a:xfrm>
            <a:off x="838200" y="5375701"/>
            <a:ext cx="7927848" cy="461665"/>
          </a:xfrm>
          <a:prstGeom prst="rect">
            <a:avLst/>
          </a:prstGeom>
          <a:noFill/>
        </p:spPr>
        <p:txBody>
          <a:bodyPr wrap="square">
            <a:spAutoFit/>
          </a:bodyPr>
          <a:lstStyle/>
          <a:p>
            <a:pPr marL="723900">
              <a:lnSpc>
                <a:spcPct val="100000"/>
              </a:lnSpc>
            </a:pPr>
            <a:r>
              <a:rPr lang="en-US" sz="2400" b="1" spc="40" dirty="0">
                <a:latin typeface="Times New Roman"/>
                <a:cs typeface="Times New Roman"/>
              </a:rPr>
              <a:t>Figure </a:t>
            </a:r>
            <a:r>
              <a:rPr lang="en-US" sz="2400" b="1" spc="25" dirty="0">
                <a:latin typeface="Times New Roman"/>
                <a:cs typeface="Times New Roman"/>
              </a:rPr>
              <a:t>1: </a:t>
            </a:r>
            <a:r>
              <a:rPr lang="en-US" sz="2400" b="1" spc="40" dirty="0">
                <a:latin typeface="Times New Roman"/>
                <a:cs typeface="Times New Roman"/>
              </a:rPr>
              <a:t>Different types </a:t>
            </a:r>
            <a:r>
              <a:rPr lang="en-US" sz="2400" b="1" spc="25" dirty="0">
                <a:latin typeface="Times New Roman"/>
                <a:cs typeface="Times New Roman"/>
              </a:rPr>
              <a:t>of </a:t>
            </a:r>
            <a:r>
              <a:rPr lang="en-US" sz="2400" b="1" spc="35" dirty="0">
                <a:latin typeface="Times New Roman"/>
                <a:cs typeface="Times New Roman"/>
              </a:rPr>
              <a:t>user </a:t>
            </a:r>
            <a:r>
              <a:rPr lang="en-US" sz="2400" b="1" spc="75" dirty="0">
                <a:latin typeface="Times New Roman"/>
                <a:cs typeface="Times New Roman"/>
              </a:rPr>
              <a:t> </a:t>
            </a:r>
            <a:r>
              <a:rPr lang="en-US" sz="2400" b="1" spc="50" dirty="0">
                <a:latin typeface="Times New Roman"/>
                <a:cs typeface="Times New Roman"/>
              </a:rPr>
              <a:t>documentation</a:t>
            </a:r>
            <a:endParaRPr lang="en-US" sz="2400" dirty="0">
              <a:latin typeface="Times New Roman"/>
              <a:cs typeface="Times New Roman"/>
            </a:endParaRPr>
          </a:p>
        </p:txBody>
      </p:sp>
    </p:spTree>
    <p:extLst>
      <p:ext uri="{BB962C8B-B14F-4D97-AF65-F5344CB8AC3E}">
        <p14:creationId xmlns:p14="http://schemas.microsoft.com/office/powerpoint/2010/main" val="21021535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0ED3F-7CC1-D19B-27F6-0F95A83E1428}"/>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6BA7700C-3002-0E90-0249-8439880D3098}"/>
              </a:ext>
            </a:extLst>
          </p:cNvPr>
          <p:cNvSpPr>
            <a:spLocks noGrp="1"/>
          </p:cNvSpPr>
          <p:nvPr>
            <p:ph sz="quarter" idx="1"/>
          </p:nvPr>
        </p:nvSpPr>
        <p:spPr/>
        <p:txBody>
          <a:bodyPr>
            <a:normAutofit fontScale="92500" lnSpcReduction="10000"/>
          </a:bodyPr>
          <a:lstStyle/>
          <a:p>
            <a:endParaRPr lang="en-US" dirty="0"/>
          </a:p>
          <a:p>
            <a:pPr lvl="1"/>
            <a:r>
              <a:rPr lang="en-US" sz="2900" dirty="0"/>
              <a:t>System Administrator: are responsible for managing the software used  by end-users. This may involve acting as an operator if the system is a  large mainframe system, as a network manager is the system involves a  network of workstations or as a technical guru who fixes end-users  software problems and who liaises between users and the software  supplier. </a:t>
            </a:r>
          </a:p>
          <a:p>
            <a:r>
              <a:rPr lang="en-US" dirty="0"/>
              <a:t>In some cases these are the same people</a:t>
            </a:r>
          </a:p>
          <a:p>
            <a:pPr lvl="1"/>
            <a:r>
              <a:rPr lang="en-US" dirty="0"/>
              <a:t>The target audience must be well understood!</a:t>
            </a:r>
          </a:p>
          <a:p>
            <a:endParaRPr lang="ar-SD" dirty="0"/>
          </a:p>
          <a:p>
            <a:endParaRPr lang="ar-SD" dirty="0"/>
          </a:p>
        </p:txBody>
      </p:sp>
    </p:spTree>
    <p:extLst>
      <p:ext uri="{BB962C8B-B14F-4D97-AF65-F5344CB8AC3E}">
        <p14:creationId xmlns:p14="http://schemas.microsoft.com/office/powerpoint/2010/main" val="37260187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Product Documentation</a:t>
            </a:r>
          </a:p>
        </p:txBody>
      </p:sp>
      <p:sp>
        <p:nvSpPr>
          <p:cNvPr id="14339" name="Rectangle 3"/>
          <p:cNvSpPr>
            <a:spLocks noGrp="1" noChangeArrowheads="1"/>
          </p:cNvSpPr>
          <p:nvPr>
            <p:ph sz="quarter" idx="1"/>
          </p:nvPr>
        </p:nvSpPr>
        <p:spPr/>
        <p:txBody>
          <a:bodyPr>
            <a:normAutofit fontScale="92500"/>
          </a:bodyPr>
          <a:lstStyle/>
          <a:p>
            <a:pPr marL="533400" indent="-533400"/>
            <a:r>
              <a:rPr lang="en-US" sz="2800" dirty="0"/>
              <a:t>There are five important areas that should be documented for a formal release of a software application</a:t>
            </a:r>
          </a:p>
          <a:p>
            <a:pPr marL="914400" lvl="1" indent="-457200"/>
            <a:r>
              <a:rPr lang="en-US" sz="2400" dirty="0"/>
              <a:t>These do not necessarily each have to have their own document, but the topics should be covered thoroughly</a:t>
            </a:r>
          </a:p>
          <a:p>
            <a:pPr marL="0" indent="0">
              <a:buNone/>
            </a:pPr>
            <a:r>
              <a:rPr lang="en-US" sz="2800" dirty="0">
                <a:solidFill>
                  <a:schemeClr val="accent2"/>
                </a:solidFill>
              </a:rPr>
              <a:t>1. </a:t>
            </a:r>
            <a:r>
              <a:rPr lang="en-US" sz="2800" dirty="0"/>
              <a:t>Functional Description of the Software: The functional description of the system outlines the system requirements and  briefly describes the services provided. This document should provide an  overview of the system. Users should be able to read this document with an  introductory manual and decide if the system is what they need.</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12FB5-845D-13B6-6639-787FFBE90A9E}"/>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B35EA87F-A584-F2E1-67E0-87099174BDEF}"/>
              </a:ext>
            </a:extLst>
          </p:cNvPr>
          <p:cNvSpPr>
            <a:spLocks noGrp="1"/>
          </p:cNvSpPr>
          <p:nvPr>
            <p:ph sz="quarter" idx="1"/>
          </p:nvPr>
        </p:nvSpPr>
        <p:spPr>
          <a:xfrm>
            <a:off x="612648" y="1600200"/>
            <a:ext cx="8302752" cy="5029200"/>
          </a:xfrm>
        </p:spPr>
        <p:txBody>
          <a:bodyPr>
            <a:normAutofit fontScale="70000" lnSpcReduction="20000"/>
          </a:bodyPr>
          <a:lstStyle/>
          <a:p>
            <a:pPr marL="0" indent="0" algn="just">
              <a:buNone/>
            </a:pPr>
            <a:r>
              <a:rPr lang="en-US" sz="2600" dirty="0">
                <a:solidFill>
                  <a:schemeClr val="accent2"/>
                </a:solidFill>
              </a:rPr>
              <a:t>2. </a:t>
            </a:r>
            <a:r>
              <a:rPr lang="en-US" sz="3200" dirty="0"/>
              <a:t>Installation Instructions: intended for system administrators. It  should provide details of how to install the system in a particular environment.  It should contain a description of the files making up the system and the  minimal hardware configuration required. The permanent files which must be  established, how to start the system and the configuration dependent files  which must be changed to tailor the system to a particular host system should  also be described. The use of automated installers for PC software has meant  that some suppliers see this document as unnecessary. In fact, it is still required  to help system managers discover and fix problems with the installation</a:t>
            </a:r>
          </a:p>
          <a:p>
            <a:pPr marL="0" indent="0" algn="just">
              <a:buNone/>
            </a:pPr>
            <a:r>
              <a:rPr lang="en-US" sz="2600" dirty="0">
                <a:solidFill>
                  <a:schemeClr val="accent2"/>
                </a:solidFill>
              </a:rPr>
              <a:t>3. </a:t>
            </a:r>
            <a:r>
              <a:rPr lang="en-US" sz="3200" dirty="0"/>
              <a:t>Introductory Manual: should present an informal introduction to the  system, describing its ‘normal’ usage. It should describe how to get started and  how end-users might make use of the common system facilities. It should be  liberally illustrated with examples. Inevitably beginners, whatever their  background and experience, will make mistakes. Easily discovered information  on how to recover from these mistakes and restart useful work should be an  integral part of this document.</a:t>
            </a:r>
          </a:p>
          <a:p>
            <a:pPr algn="just"/>
            <a:endParaRPr lang="ar-SD" dirty="0"/>
          </a:p>
        </p:txBody>
      </p:sp>
    </p:spTree>
    <p:extLst>
      <p:ext uri="{BB962C8B-B14F-4D97-AF65-F5344CB8AC3E}">
        <p14:creationId xmlns:p14="http://schemas.microsoft.com/office/powerpoint/2010/main" val="34801364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370B4-967C-CC82-48B4-73C0F70E5B92}"/>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EDE36707-1084-D63F-FBBD-FEF8E37FEA57}"/>
              </a:ext>
            </a:extLst>
          </p:cNvPr>
          <p:cNvSpPr>
            <a:spLocks noGrp="1"/>
          </p:cNvSpPr>
          <p:nvPr>
            <p:ph sz="quarter" idx="1"/>
          </p:nvPr>
        </p:nvSpPr>
        <p:spPr>
          <a:xfrm>
            <a:off x="612648" y="1600200"/>
            <a:ext cx="8302752" cy="4876800"/>
          </a:xfrm>
        </p:spPr>
        <p:txBody>
          <a:bodyPr>
            <a:normAutofit fontScale="92500"/>
          </a:bodyPr>
          <a:lstStyle/>
          <a:p>
            <a:pPr marL="0" indent="0" algn="just">
              <a:buNone/>
            </a:pPr>
            <a:r>
              <a:rPr lang="en-US" sz="2000" dirty="0">
                <a:solidFill>
                  <a:schemeClr val="accent2"/>
                </a:solidFill>
              </a:rPr>
              <a:t>4. </a:t>
            </a:r>
            <a:r>
              <a:rPr lang="en-US" sz="2400" dirty="0"/>
              <a:t>Reference Manual: </a:t>
            </a:r>
            <a:r>
              <a:rPr lang="en-US" sz="2400" spc="5" dirty="0">
                <a:latin typeface="Times New Roman"/>
                <a:cs typeface="Times New Roman"/>
              </a:rPr>
              <a:t>should describe the system facilities and </a:t>
            </a:r>
            <a:r>
              <a:rPr lang="en-US" sz="2400" spc="10" dirty="0">
                <a:latin typeface="Times New Roman"/>
                <a:cs typeface="Times New Roman"/>
              </a:rPr>
              <a:t>their  </a:t>
            </a:r>
            <a:r>
              <a:rPr lang="en-US" sz="2400" dirty="0">
                <a:latin typeface="Times New Roman"/>
                <a:cs typeface="Times New Roman"/>
              </a:rPr>
              <a:t>usage,  should provide a complete listing of error messages and should </a:t>
            </a:r>
            <a:r>
              <a:rPr lang="en-US" sz="2400" spc="35" dirty="0">
                <a:latin typeface="Times New Roman"/>
                <a:cs typeface="Times New Roman"/>
              </a:rPr>
              <a:t> </a:t>
            </a:r>
            <a:r>
              <a:rPr lang="en-US" sz="2400" spc="5" dirty="0">
                <a:latin typeface="Times New Roman"/>
                <a:cs typeface="Times New Roman"/>
              </a:rPr>
              <a:t>describe </a:t>
            </a:r>
            <a:r>
              <a:rPr lang="en-US" sz="2400" spc="10" dirty="0">
                <a:latin typeface="Times New Roman"/>
                <a:cs typeface="Times New Roman"/>
              </a:rPr>
              <a:t>how to </a:t>
            </a:r>
            <a:r>
              <a:rPr lang="en-US" sz="2400" spc="15" dirty="0">
                <a:latin typeface="Times New Roman"/>
                <a:cs typeface="Times New Roman"/>
              </a:rPr>
              <a:t>recover from detected errors. </a:t>
            </a:r>
            <a:r>
              <a:rPr lang="en-US" sz="2400" spc="10" dirty="0">
                <a:latin typeface="Times New Roman"/>
                <a:cs typeface="Times New Roman"/>
              </a:rPr>
              <a:t>It </a:t>
            </a:r>
            <a:r>
              <a:rPr lang="en-US" sz="2400" spc="15" dirty="0">
                <a:latin typeface="Times New Roman"/>
                <a:cs typeface="Times New Roman"/>
              </a:rPr>
              <a:t>should </a:t>
            </a:r>
            <a:r>
              <a:rPr lang="en-US" sz="2400" spc="10" dirty="0">
                <a:latin typeface="Times New Roman"/>
                <a:cs typeface="Times New Roman"/>
              </a:rPr>
              <a:t>be </a:t>
            </a:r>
            <a:r>
              <a:rPr lang="en-US" sz="2400" spc="15" dirty="0">
                <a:latin typeface="Times New Roman"/>
                <a:cs typeface="Times New Roman"/>
              </a:rPr>
              <a:t>complete. Formal </a:t>
            </a:r>
            <a:r>
              <a:rPr lang="en-US" sz="2400" spc="20" dirty="0">
                <a:latin typeface="Times New Roman"/>
                <a:cs typeface="Times New Roman"/>
              </a:rPr>
              <a:t>descriptive  </a:t>
            </a:r>
            <a:r>
              <a:rPr lang="en-US" sz="2400" spc="10" dirty="0">
                <a:latin typeface="Times New Roman"/>
                <a:cs typeface="Times New Roman"/>
              </a:rPr>
              <a:t>techniques may </a:t>
            </a:r>
            <a:r>
              <a:rPr lang="en-US" sz="2400" spc="5" dirty="0">
                <a:latin typeface="Times New Roman"/>
                <a:cs typeface="Times New Roman"/>
              </a:rPr>
              <a:t>be </a:t>
            </a:r>
            <a:r>
              <a:rPr lang="en-US" sz="2400" spc="10" dirty="0">
                <a:latin typeface="Times New Roman"/>
                <a:cs typeface="Times New Roman"/>
              </a:rPr>
              <a:t>used. The style </a:t>
            </a:r>
            <a:r>
              <a:rPr lang="en-US" sz="2400" spc="5" dirty="0">
                <a:latin typeface="Times New Roman"/>
                <a:cs typeface="Times New Roman"/>
              </a:rPr>
              <a:t>of </a:t>
            </a:r>
            <a:r>
              <a:rPr lang="en-US" sz="2400" spc="10" dirty="0">
                <a:latin typeface="Times New Roman"/>
                <a:cs typeface="Times New Roman"/>
              </a:rPr>
              <a:t>the reference manual should not </a:t>
            </a:r>
            <a:r>
              <a:rPr lang="en-US" sz="2400" spc="15" dirty="0">
                <a:latin typeface="Times New Roman"/>
                <a:cs typeface="Times New Roman"/>
              </a:rPr>
              <a:t>be  unnecessarily pedantic </a:t>
            </a:r>
            <a:r>
              <a:rPr lang="en-US" sz="2400" spc="10" dirty="0">
                <a:latin typeface="Times New Roman"/>
                <a:cs typeface="Times New Roman"/>
              </a:rPr>
              <a:t>and </a:t>
            </a:r>
            <a:r>
              <a:rPr lang="en-US" sz="2400" spc="15" dirty="0">
                <a:latin typeface="Times New Roman"/>
                <a:cs typeface="Times New Roman"/>
              </a:rPr>
              <a:t>turgid, </a:t>
            </a:r>
            <a:r>
              <a:rPr lang="en-US" sz="2400" spc="10" dirty="0">
                <a:latin typeface="Times New Roman"/>
                <a:cs typeface="Times New Roman"/>
              </a:rPr>
              <a:t>but </a:t>
            </a:r>
            <a:r>
              <a:rPr lang="en-US" sz="2400" spc="15" dirty="0">
                <a:latin typeface="Times New Roman"/>
                <a:cs typeface="Times New Roman"/>
              </a:rPr>
              <a:t>completeness </a:t>
            </a:r>
            <a:r>
              <a:rPr lang="en-US" sz="2400" spc="10" dirty="0">
                <a:latin typeface="Times New Roman"/>
                <a:cs typeface="Times New Roman"/>
              </a:rPr>
              <a:t>is </a:t>
            </a:r>
            <a:r>
              <a:rPr lang="en-US" sz="2400" spc="15" dirty="0">
                <a:latin typeface="Times New Roman"/>
                <a:cs typeface="Times New Roman"/>
              </a:rPr>
              <a:t>more important </a:t>
            </a:r>
            <a:r>
              <a:rPr lang="en-US" sz="2400" spc="20" dirty="0">
                <a:latin typeface="Times New Roman"/>
                <a:cs typeface="Times New Roman"/>
              </a:rPr>
              <a:t>than  </a:t>
            </a:r>
            <a:r>
              <a:rPr lang="en-US" sz="2400" spc="10" dirty="0">
                <a:latin typeface="Times New Roman"/>
                <a:cs typeface="Times New Roman"/>
              </a:rPr>
              <a:t>readability.</a:t>
            </a:r>
            <a:endParaRPr lang="en-US" sz="2400" dirty="0"/>
          </a:p>
          <a:p>
            <a:pPr marL="0" indent="0" algn="just">
              <a:buNone/>
            </a:pPr>
            <a:r>
              <a:rPr lang="en-US" sz="2000" dirty="0">
                <a:solidFill>
                  <a:schemeClr val="accent2"/>
                </a:solidFill>
              </a:rPr>
              <a:t>5. </a:t>
            </a:r>
            <a:r>
              <a:rPr lang="en-US" sz="2400" dirty="0"/>
              <a:t>System Administrator’s Guide: should be provided for some types  of system such as command and control systems. This should describe the  messages generated when the system interacts with other systems and how to  react to these messages. If system hardware is involved, it might also explain  the operator’s task in maintaining that hardware. For example, it might  describe how to clear faults in the system console, how to connect new  peripherals, etc.</a:t>
            </a:r>
          </a:p>
          <a:p>
            <a:pPr marL="0" indent="0" algn="just">
              <a:buNone/>
            </a:pPr>
            <a:endParaRPr lang="en-US" sz="2400" dirty="0"/>
          </a:p>
          <a:p>
            <a:pPr algn="just"/>
            <a:endParaRPr lang="ar-SD" sz="2400" dirty="0"/>
          </a:p>
        </p:txBody>
      </p:sp>
    </p:spTree>
    <p:extLst>
      <p:ext uri="{BB962C8B-B14F-4D97-AF65-F5344CB8AC3E}">
        <p14:creationId xmlns:p14="http://schemas.microsoft.com/office/powerpoint/2010/main" val="11082103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Document Structure</a:t>
            </a:r>
          </a:p>
        </p:txBody>
      </p:sp>
      <p:sp>
        <p:nvSpPr>
          <p:cNvPr id="16387" name="Rectangle 3"/>
          <p:cNvSpPr>
            <a:spLocks noGrp="1" noChangeArrowheads="1"/>
          </p:cNvSpPr>
          <p:nvPr>
            <p:ph sz="quarter" idx="1"/>
          </p:nvPr>
        </p:nvSpPr>
        <p:spPr/>
        <p:txBody>
          <a:bodyPr/>
          <a:lstStyle/>
          <a:p>
            <a:pPr marL="609600" indent="-609600">
              <a:lnSpc>
                <a:spcPct val="90000"/>
              </a:lnSpc>
            </a:pPr>
            <a:r>
              <a:rPr lang="en-US" sz="2400"/>
              <a:t>All documents for a given product should have a similar structure</a:t>
            </a:r>
          </a:p>
          <a:p>
            <a:pPr marL="990600" lvl="1" indent="-533400">
              <a:lnSpc>
                <a:spcPct val="90000"/>
              </a:lnSpc>
            </a:pPr>
            <a:r>
              <a:rPr lang="en-US" sz="2000"/>
              <a:t>A good reason for </a:t>
            </a:r>
            <a:r>
              <a:rPr lang="en-US" sz="2000" i="1"/>
              <a:t>product standards</a:t>
            </a:r>
            <a:endParaRPr lang="en-US" sz="2000"/>
          </a:p>
          <a:p>
            <a:pPr marL="609600" indent="-609600">
              <a:lnSpc>
                <a:spcPct val="90000"/>
              </a:lnSpc>
            </a:pPr>
            <a:r>
              <a:rPr lang="en-US" sz="2400"/>
              <a:t>The IEEE Standard for User Documentation lists such a structure</a:t>
            </a:r>
          </a:p>
          <a:p>
            <a:pPr marL="990600" lvl="1" indent="-533400">
              <a:lnSpc>
                <a:spcPct val="90000"/>
              </a:lnSpc>
            </a:pPr>
            <a:r>
              <a:rPr lang="en-US" sz="2000"/>
              <a:t>It is a superset of what most documents need</a:t>
            </a:r>
          </a:p>
          <a:p>
            <a:pPr marL="609600" indent="-609600">
              <a:lnSpc>
                <a:spcPct val="90000"/>
              </a:lnSpc>
            </a:pPr>
            <a:r>
              <a:rPr lang="en-US" sz="2400"/>
              <a:t>The authors “best practices” are:</a:t>
            </a:r>
          </a:p>
          <a:p>
            <a:pPr marL="609600" indent="-609600">
              <a:lnSpc>
                <a:spcPct val="90000"/>
              </a:lnSpc>
              <a:buFont typeface="Wingdings" pitchFamily="2" charset="2"/>
              <a:buAutoNum type="arabicPeriod"/>
            </a:pPr>
            <a:r>
              <a:rPr lang="en-US" sz="2400"/>
              <a:t>Put a cover page on all documents</a:t>
            </a:r>
          </a:p>
          <a:p>
            <a:pPr marL="609600" indent="-609600">
              <a:lnSpc>
                <a:spcPct val="90000"/>
              </a:lnSpc>
              <a:buFont typeface="Wingdings" pitchFamily="2" charset="2"/>
              <a:buAutoNum type="arabicPeriod"/>
            </a:pPr>
            <a:r>
              <a:rPr lang="en-US" sz="2400"/>
              <a:t>Divide documents into chapters with sections and subsections</a:t>
            </a:r>
          </a:p>
          <a:p>
            <a:pPr marL="609600" indent="-609600">
              <a:lnSpc>
                <a:spcPct val="90000"/>
              </a:lnSpc>
              <a:buFont typeface="Wingdings" pitchFamily="2" charset="2"/>
              <a:buAutoNum type="arabicPeriod"/>
            </a:pPr>
            <a:r>
              <a:rPr lang="en-US" sz="2400"/>
              <a:t>Add an index if there is lots of reference information</a:t>
            </a:r>
          </a:p>
          <a:p>
            <a:pPr marL="609600" indent="-609600">
              <a:lnSpc>
                <a:spcPct val="90000"/>
              </a:lnSpc>
              <a:buFont typeface="Wingdings" pitchFamily="2" charset="2"/>
              <a:buAutoNum type="arabicPeriod"/>
            </a:pPr>
            <a:r>
              <a:rPr lang="en-US" sz="2400"/>
              <a:t>Add a glossary to define ambiguous terms</a:t>
            </a:r>
          </a:p>
          <a:p>
            <a:pPr marL="990600" lvl="1" indent="-533400">
              <a:lnSpc>
                <a:spcPct val="90000"/>
              </a:lnSpc>
            </a:pPr>
            <a:endParaRPr lang="en-US" sz="200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t>Standards</a:t>
            </a:r>
          </a:p>
        </p:txBody>
      </p:sp>
      <p:sp>
        <p:nvSpPr>
          <p:cNvPr id="17411" name="Rectangle 3"/>
          <p:cNvSpPr>
            <a:spLocks noGrp="1" noChangeArrowheads="1"/>
          </p:cNvSpPr>
          <p:nvPr>
            <p:ph sz="quarter" idx="1"/>
          </p:nvPr>
        </p:nvSpPr>
        <p:spPr/>
        <p:txBody>
          <a:bodyPr/>
          <a:lstStyle/>
          <a:p>
            <a:r>
              <a:rPr lang="en-US"/>
              <a:t>Standards play an important role in the development, maintenance and usefulness of documentation</a:t>
            </a:r>
          </a:p>
          <a:p>
            <a:r>
              <a:rPr lang="en-US"/>
              <a:t>Standards can act as a basis for quality documentation</a:t>
            </a:r>
          </a:p>
          <a:p>
            <a:pPr lvl="1"/>
            <a:r>
              <a:rPr lang="en-US"/>
              <a:t>But are not good enough on their own</a:t>
            </a:r>
          </a:p>
          <a:p>
            <a:pPr lvl="2"/>
            <a:r>
              <a:rPr lang="en-US"/>
              <a:t>Usually define high level content and organization</a:t>
            </a:r>
          </a:p>
          <a:p>
            <a:r>
              <a:rPr lang="en-US"/>
              <a:t>There are three types of documentation standards -&gt;</a:t>
            </a:r>
          </a:p>
          <a:p>
            <a:pPr lvl="3">
              <a:buFont typeface="Wingdings" pitchFamily="2" charset="2"/>
              <a:buNone/>
            </a:pPr>
            <a:endParaRPr 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t>1.Process Standards</a:t>
            </a:r>
          </a:p>
        </p:txBody>
      </p:sp>
      <p:sp>
        <p:nvSpPr>
          <p:cNvPr id="18435" name="Rectangle 3"/>
          <p:cNvSpPr>
            <a:spLocks noGrp="1" noChangeArrowheads="1"/>
          </p:cNvSpPr>
          <p:nvPr>
            <p:ph sz="quarter" idx="1"/>
          </p:nvPr>
        </p:nvSpPr>
        <p:spPr/>
        <p:txBody>
          <a:bodyPr/>
          <a:lstStyle/>
          <a:p>
            <a:r>
              <a:rPr lang="en-US"/>
              <a:t>Define the approach that is to be used when creating the documentation</a:t>
            </a:r>
          </a:p>
          <a:p>
            <a:r>
              <a:rPr lang="en-US"/>
              <a:t>Don’t actually define any of the content of the documents</a:t>
            </a:r>
          </a:p>
          <a:p>
            <a:endParaRPr lang="en-US"/>
          </a:p>
        </p:txBody>
      </p:sp>
      <p:sp>
        <p:nvSpPr>
          <p:cNvPr id="18436" name="Line 4"/>
          <p:cNvSpPr>
            <a:spLocks noChangeShapeType="1"/>
          </p:cNvSpPr>
          <p:nvPr/>
        </p:nvSpPr>
        <p:spPr bwMode="auto">
          <a:xfrm>
            <a:off x="4724400" y="4876800"/>
            <a:ext cx="304800" cy="304800"/>
          </a:xfrm>
          <a:prstGeom prst="line">
            <a:avLst/>
          </a:prstGeom>
          <a:noFill/>
          <a:ln w="9525">
            <a:solidFill>
              <a:schemeClr val="tx1"/>
            </a:solidFill>
            <a:round/>
            <a:headEnd/>
            <a:tailEnd type="triangle" w="med" len="med"/>
          </a:ln>
          <a:effectLst/>
        </p:spPr>
        <p:txBody>
          <a:bodyPr/>
          <a:lstStyle/>
          <a:p>
            <a:endParaRPr lang="en-US"/>
          </a:p>
        </p:txBody>
      </p:sp>
      <p:grpSp>
        <p:nvGrpSpPr>
          <p:cNvPr id="18437" name="Group 5"/>
          <p:cNvGrpSpPr>
            <a:grpSpLocks/>
          </p:cNvGrpSpPr>
          <p:nvPr/>
        </p:nvGrpSpPr>
        <p:grpSpPr bwMode="auto">
          <a:xfrm>
            <a:off x="3810000" y="4343400"/>
            <a:ext cx="1219200" cy="533400"/>
            <a:chOff x="2400" y="2736"/>
            <a:chExt cx="768" cy="336"/>
          </a:xfrm>
        </p:grpSpPr>
        <p:sp>
          <p:nvSpPr>
            <p:cNvPr id="18438" name="Oval 6"/>
            <p:cNvSpPr>
              <a:spLocks noChangeArrowheads="1"/>
            </p:cNvSpPr>
            <p:nvPr/>
          </p:nvSpPr>
          <p:spPr bwMode="auto">
            <a:xfrm>
              <a:off x="2400" y="2736"/>
              <a:ext cx="768" cy="33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8439" name="Text Box 7"/>
            <p:cNvSpPr txBox="1">
              <a:spLocks noChangeArrowheads="1"/>
            </p:cNvSpPr>
            <p:nvPr/>
          </p:nvSpPr>
          <p:spPr bwMode="auto">
            <a:xfrm>
              <a:off x="2400" y="2736"/>
              <a:ext cx="768" cy="288"/>
            </a:xfrm>
            <a:prstGeom prst="rect">
              <a:avLst/>
            </a:prstGeom>
            <a:noFill/>
            <a:ln w="9525">
              <a:noFill/>
              <a:miter lim="800000"/>
              <a:headEnd/>
              <a:tailEnd/>
            </a:ln>
            <a:effectLst/>
          </p:spPr>
          <p:txBody>
            <a:bodyPr>
              <a:spAutoFit/>
            </a:bodyPr>
            <a:lstStyle/>
            <a:p>
              <a:pPr algn="ctr">
                <a:spcBef>
                  <a:spcPct val="50000"/>
                </a:spcBef>
              </a:pPr>
              <a:r>
                <a:rPr lang="en-US"/>
                <a:t>Draft</a:t>
              </a:r>
            </a:p>
          </p:txBody>
        </p:sp>
      </p:grpSp>
      <p:grpSp>
        <p:nvGrpSpPr>
          <p:cNvPr id="18440" name="Group 8"/>
          <p:cNvGrpSpPr>
            <a:grpSpLocks/>
          </p:cNvGrpSpPr>
          <p:nvPr/>
        </p:nvGrpSpPr>
        <p:grpSpPr bwMode="auto">
          <a:xfrm>
            <a:off x="2819400" y="5257800"/>
            <a:ext cx="1219200" cy="533400"/>
            <a:chOff x="2400" y="2736"/>
            <a:chExt cx="768" cy="336"/>
          </a:xfrm>
        </p:grpSpPr>
        <p:sp>
          <p:nvSpPr>
            <p:cNvPr id="18441" name="Oval 9"/>
            <p:cNvSpPr>
              <a:spLocks noChangeArrowheads="1"/>
            </p:cNvSpPr>
            <p:nvPr/>
          </p:nvSpPr>
          <p:spPr bwMode="auto">
            <a:xfrm>
              <a:off x="2400" y="2736"/>
              <a:ext cx="768" cy="33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8442" name="Text Box 10"/>
            <p:cNvSpPr txBox="1">
              <a:spLocks noChangeArrowheads="1"/>
            </p:cNvSpPr>
            <p:nvPr/>
          </p:nvSpPr>
          <p:spPr bwMode="auto">
            <a:xfrm>
              <a:off x="2400" y="2736"/>
              <a:ext cx="768" cy="288"/>
            </a:xfrm>
            <a:prstGeom prst="rect">
              <a:avLst/>
            </a:prstGeom>
            <a:noFill/>
            <a:ln w="9525">
              <a:noFill/>
              <a:miter lim="800000"/>
              <a:headEnd/>
              <a:tailEnd/>
            </a:ln>
            <a:effectLst/>
          </p:spPr>
          <p:txBody>
            <a:bodyPr>
              <a:spAutoFit/>
            </a:bodyPr>
            <a:lstStyle/>
            <a:p>
              <a:pPr algn="ctr">
                <a:spcBef>
                  <a:spcPct val="50000"/>
                </a:spcBef>
              </a:pPr>
              <a:r>
                <a:rPr lang="en-US"/>
                <a:t>Revise</a:t>
              </a:r>
            </a:p>
          </p:txBody>
        </p:sp>
      </p:grpSp>
      <p:grpSp>
        <p:nvGrpSpPr>
          <p:cNvPr id="18443" name="Group 11"/>
          <p:cNvGrpSpPr>
            <a:grpSpLocks/>
          </p:cNvGrpSpPr>
          <p:nvPr/>
        </p:nvGrpSpPr>
        <p:grpSpPr bwMode="auto">
          <a:xfrm>
            <a:off x="4572000" y="5257800"/>
            <a:ext cx="1219200" cy="533400"/>
            <a:chOff x="2400" y="2736"/>
            <a:chExt cx="768" cy="336"/>
          </a:xfrm>
        </p:grpSpPr>
        <p:sp>
          <p:nvSpPr>
            <p:cNvPr id="18444" name="Oval 12"/>
            <p:cNvSpPr>
              <a:spLocks noChangeArrowheads="1"/>
            </p:cNvSpPr>
            <p:nvPr/>
          </p:nvSpPr>
          <p:spPr bwMode="auto">
            <a:xfrm>
              <a:off x="2400" y="2736"/>
              <a:ext cx="768" cy="336"/>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8445" name="Text Box 13"/>
            <p:cNvSpPr txBox="1">
              <a:spLocks noChangeArrowheads="1"/>
            </p:cNvSpPr>
            <p:nvPr/>
          </p:nvSpPr>
          <p:spPr bwMode="auto">
            <a:xfrm>
              <a:off x="2400" y="2736"/>
              <a:ext cx="768" cy="288"/>
            </a:xfrm>
            <a:prstGeom prst="rect">
              <a:avLst/>
            </a:prstGeom>
            <a:noFill/>
            <a:ln w="9525">
              <a:noFill/>
              <a:miter lim="800000"/>
              <a:headEnd/>
              <a:tailEnd/>
            </a:ln>
            <a:effectLst/>
          </p:spPr>
          <p:txBody>
            <a:bodyPr>
              <a:spAutoFit/>
            </a:bodyPr>
            <a:lstStyle/>
            <a:p>
              <a:pPr algn="ctr">
                <a:spcBef>
                  <a:spcPct val="50000"/>
                </a:spcBef>
              </a:pPr>
              <a:r>
                <a:rPr lang="en-US"/>
                <a:t>Check</a:t>
              </a:r>
            </a:p>
          </p:txBody>
        </p:sp>
      </p:grpSp>
      <p:sp>
        <p:nvSpPr>
          <p:cNvPr id="18446" name="Line 14"/>
          <p:cNvSpPr>
            <a:spLocks noChangeShapeType="1"/>
          </p:cNvSpPr>
          <p:nvPr/>
        </p:nvSpPr>
        <p:spPr bwMode="auto">
          <a:xfrm flipH="1">
            <a:off x="4114800" y="5486400"/>
            <a:ext cx="381000" cy="0"/>
          </a:xfrm>
          <a:prstGeom prst="line">
            <a:avLst/>
          </a:prstGeom>
          <a:noFill/>
          <a:ln w="9525">
            <a:solidFill>
              <a:schemeClr val="tx1"/>
            </a:solidFill>
            <a:round/>
            <a:headEnd type="triangle" w="med" len="med"/>
            <a:tailEnd type="triangle" w="med" len="med"/>
          </a:ln>
          <a:effectLst/>
        </p:spPr>
        <p:txBody>
          <a:bodyPr/>
          <a:lstStyle/>
          <a:p>
            <a:endParaRPr lang="en-US"/>
          </a:p>
        </p:txBody>
      </p:sp>
      <p:sp>
        <p:nvSpPr>
          <p:cNvPr id="18447" name="Line 15"/>
          <p:cNvSpPr>
            <a:spLocks noChangeShapeType="1"/>
          </p:cNvSpPr>
          <p:nvPr/>
        </p:nvSpPr>
        <p:spPr bwMode="auto">
          <a:xfrm flipH="1">
            <a:off x="5791200" y="5181600"/>
            <a:ext cx="762000" cy="228600"/>
          </a:xfrm>
          <a:prstGeom prst="line">
            <a:avLst/>
          </a:prstGeom>
          <a:noFill/>
          <a:ln w="9525">
            <a:solidFill>
              <a:schemeClr val="tx1"/>
            </a:solidFill>
            <a:round/>
            <a:headEnd/>
            <a:tailEnd type="triangle" w="med" len="med"/>
          </a:ln>
          <a:effectLst/>
        </p:spPr>
        <p:txBody>
          <a:bodyPr/>
          <a:lstStyle/>
          <a:p>
            <a:endParaRPr lang="en-US"/>
          </a:p>
        </p:txBody>
      </p:sp>
      <p:sp>
        <p:nvSpPr>
          <p:cNvPr id="18448" name="Text Box 16"/>
          <p:cNvSpPr txBox="1">
            <a:spLocks noChangeArrowheads="1"/>
          </p:cNvSpPr>
          <p:nvPr/>
        </p:nvSpPr>
        <p:spPr bwMode="auto">
          <a:xfrm>
            <a:off x="6519863" y="4910138"/>
            <a:ext cx="1905000" cy="457200"/>
          </a:xfrm>
          <a:prstGeom prst="rect">
            <a:avLst/>
          </a:prstGeom>
          <a:noFill/>
          <a:ln w="9525">
            <a:noFill/>
            <a:miter lim="800000"/>
            <a:headEnd/>
            <a:tailEnd/>
          </a:ln>
          <a:effectLst/>
        </p:spPr>
        <p:txBody>
          <a:bodyPr>
            <a:spAutoFit/>
          </a:bodyPr>
          <a:lstStyle/>
          <a:p>
            <a:pPr>
              <a:spcBef>
                <a:spcPct val="50000"/>
              </a:spcBef>
            </a:pPr>
            <a:r>
              <a:rPr lang="en-US"/>
              <a:t>Peer Reviews</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2. Product Standards</a:t>
            </a:r>
          </a:p>
        </p:txBody>
      </p:sp>
      <p:sp>
        <p:nvSpPr>
          <p:cNvPr id="19459" name="Rectangle 3"/>
          <p:cNvSpPr>
            <a:spLocks noGrp="1" noChangeArrowheads="1"/>
          </p:cNvSpPr>
          <p:nvPr>
            <p:ph sz="quarter" idx="1"/>
          </p:nvPr>
        </p:nvSpPr>
        <p:spPr/>
        <p:txBody>
          <a:bodyPr/>
          <a:lstStyle/>
          <a:p>
            <a:pPr marL="609600" indent="-609600">
              <a:lnSpc>
                <a:spcPct val="90000"/>
              </a:lnSpc>
            </a:pPr>
            <a:r>
              <a:rPr lang="en-US"/>
              <a:t>Goal is to have all documents created for a specific product attain a consistent structure and appearance</a:t>
            </a:r>
          </a:p>
          <a:p>
            <a:pPr marL="990600" lvl="1" indent="-533400">
              <a:lnSpc>
                <a:spcPct val="90000"/>
              </a:lnSpc>
            </a:pPr>
            <a:r>
              <a:rPr lang="en-US"/>
              <a:t>Can be based on organizational or contractually required standards</a:t>
            </a:r>
          </a:p>
          <a:p>
            <a:pPr marL="609600" indent="-609600">
              <a:lnSpc>
                <a:spcPct val="90000"/>
              </a:lnSpc>
            </a:pPr>
            <a:r>
              <a:rPr lang="en-US"/>
              <a:t>Four main types:</a:t>
            </a:r>
          </a:p>
          <a:p>
            <a:pPr marL="609600" indent="-609600">
              <a:lnSpc>
                <a:spcPct val="90000"/>
              </a:lnSpc>
              <a:buFont typeface="Wingdings" pitchFamily="2" charset="2"/>
              <a:buAutoNum type="arabicPeriod"/>
            </a:pPr>
            <a:r>
              <a:rPr lang="en-US" sz="2800"/>
              <a:t>Documentation Identification Standards</a:t>
            </a:r>
          </a:p>
          <a:p>
            <a:pPr marL="609600" indent="-609600">
              <a:lnSpc>
                <a:spcPct val="90000"/>
              </a:lnSpc>
              <a:buFont typeface="Wingdings" pitchFamily="2" charset="2"/>
              <a:buAutoNum type="arabicPeriod"/>
            </a:pPr>
            <a:r>
              <a:rPr lang="en-US" sz="2800"/>
              <a:t>Document Structure Standards</a:t>
            </a:r>
          </a:p>
          <a:p>
            <a:pPr marL="609600" indent="-609600">
              <a:lnSpc>
                <a:spcPct val="90000"/>
              </a:lnSpc>
              <a:buFont typeface="Wingdings" pitchFamily="2" charset="2"/>
              <a:buAutoNum type="arabicPeriod"/>
            </a:pPr>
            <a:r>
              <a:rPr lang="en-US" sz="2800"/>
              <a:t>Document Presentation Standards</a:t>
            </a:r>
          </a:p>
          <a:p>
            <a:pPr marL="609600" indent="-609600">
              <a:lnSpc>
                <a:spcPct val="90000"/>
              </a:lnSpc>
              <a:buFont typeface="Wingdings" pitchFamily="2" charset="2"/>
              <a:buAutoNum type="arabicPeriod"/>
            </a:pPr>
            <a:r>
              <a:rPr lang="en-US" sz="2800"/>
              <a:t>Document Update Standards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2. Product Standards</a:t>
            </a:r>
          </a:p>
        </p:txBody>
      </p:sp>
      <p:sp>
        <p:nvSpPr>
          <p:cNvPr id="20483" name="Rectangle 3"/>
          <p:cNvSpPr>
            <a:spLocks noGrp="1" noChangeArrowheads="1"/>
          </p:cNvSpPr>
          <p:nvPr>
            <p:ph sz="quarter" idx="1"/>
          </p:nvPr>
        </p:nvSpPr>
        <p:spPr/>
        <p:txBody>
          <a:bodyPr/>
          <a:lstStyle/>
          <a:p>
            <a:pPr marL="609600" indent="-609600"/>
            <a:r>
              <a:rPr lang="en-US"/>
              <a:t>One caveat:</a:t>
            </a:r>
          </a:p>
          <a:p>
            <a:pPr marL="990600" lvl="1" indent="-533400"/>
            <a:endParaRPr lang="en-US"/>
          </a:p>
          <a:p>
            <a:pPr marL="990600" lvl="1" indent="-533400"/>
            <a:r>
              <a:rPr lang="en-US"/>
              <a:t>Documentation that will be viewed by end users should be created in a way that is best consumed and is most attractive to them</a:t>
            </a:r>
          </a:p>
          <a:p>
            <a:pPr marL="990600" lvl="1" indent="-533400"/>
            <a:endParaRPr lang="en-US"/>
          </a:p>
          <a:p>
            <a:pPr marL="990600" lvl="1" indent="-533400"/>
            <a:r>
              <a:rPr lang="en-US"/>
              <a:t>Internal development documentation generally does not meet this need</a:t>
            </a:r>
            <a:endParaRPr lang="en-US" sz="240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3. Interchange Standards</a:t>
            </a:r>
          </a:p>
        </p:txBody>
      </p:sp>
      <p:sp>
        <p:nvSpPr>
          <p:cNvPr id="21507" name="Rectangle 3"/>
          <p:cNvSpPr>
            <a:spLocks noGrp="1" noChangeArrowheads="1"/>
          </p:cNvSpPr>
          <p:nvPr>
            <p:ph sz="quarter" idx="1"/>
          </p:nvPr>
        </p:nvSpPr>
        <p:spPr/>
        <p:txBody>
          <a:bodyPr>
            <a:normAutofit/>
          </a:bodyPr>
          <a:lstStyle/>
          <a:p>
            <a:r>
              <a:rPr lang="en-US" sz="2800"/>
              <a:t>Deals with the creation of documents in a format that allows others to effectively use</a:t>
            </a:r>
          </a:p>
          <a:p>
            <a:pPr lvl="1"/>
            <a:r>
              <a:rPr lang="en-US" sz="2400"/>
              <a:t>PDF may be good for end users who don’t need to edit</a:t>
            </a:r>
          </a:p>
          <a:p>
            <a:pPr lvl="1"/>
            <a:r>
              <a:rPr lang="en-US" sz="2400"/>
              <a:t>Word may be good for text editing</a:t>
            </a:r>
          </a:p>
          <a:p>
            <a:pPr lvl="1"/>
            <a:r>
              <a:rPr lang="en-US" sz="2400"/>
              <a:t>Specialized CASE tools need to be considered</a:t>
            </a:r>
          </a:p>
          <a:p>
            <a:r>
              <a:rPr lang="en-US" sz="2800"/>
              <a:t>This is usually not a problem within a single organization, but when sharing data between organizations it can occur</a:t>
            </a:r>
          </a:p>
          <a:p>
            <a:pPr lvl="1"/>
            <a:r>
              <a:rPr lang="en-US" sz="2400"/>
              <a:t>This same problem is faced all the time during software integration</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Other Standards</a:t>
            </a:r>
          </a:p>
        </p:txBody>
      </p:sp>
      <p:sp>
        <p:nvSpPr>
          <p:cNvPr id="23555" name="Rectangle 3"/>
          <p:cNvSpPr>
            <a:spLocks noGrp="1" noChangeArrowheads="1"/>
          </p:cNvSpPr>
          <p:nvPr>
            <p:ph sz="quarter" idx="1"/>
          </p:nvPr>
        </p:nvSpPr>
        <p:spPr/>
        <p:txBody>
          <a:bodyPr/>
          <a:lstStyle/>
          <a:p>
            <a:r>
              <a:rPr lang="en-US" sz="2800"/>
              <a:t>IEEE</a:t>
            </a:r>
          </a:p>
          <a:p>
            <a:pPr lvl="1"/>
            <a:r>
              <a:rPr lang="en-US" sz="2400"/>
              <a:t>Has a published standard for user documentation</a:t>
            </a:r>
          </a:p>
          <a:p>
            <a:pPr lvl="1"/>
            <a:r>
              <a:rPr lang="en-US" sz="2400"/>
              <a:t>Provides a structure and superset of content areas</a:t>
            </a:r>
          </a:p>
          <a:p>
            <a:pPr lvl="1"/>
            <a:r>
              <a:rPr lang="en-US" sz="2400"/>
              <a:t>Many organizations probably won’t create documents that completely match the standard</a:t>
            </a:r>
          </a:p>
          <a:p>
            <a:r>
              <a:rPr lang="en-US" sz="2800"/>
              <a:t>Writing Style</a:t>
            </a:r>
          </a:p>
          <a:p>
            <a:pPr lvl="1"/>
            <a:r>
              <a:rPr lang="en-US" sz="2400"/>
              <a:t>Ten “best practices” when writing are provided</a:t>
            </a:r>
          </a:p>
          <a:p>
            <a:pPr lvl="1"/>
            <a:r>
              <a:rPr lang="en-US" sz="2400"/>
              <a:t>Author proposes that group edits of important documents should occur in a similar fashion to software walkthroughs</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Online Documentation</a:t>
            </a:r>
          </a:p>
        </p:txBody>
      </p:sp>
      <p:sp>
        <p:nvSpPr>
          <p:cNvPr id="24579" name="Rectangle 3"/>
          <p:cNvSpPr>
            <a:spLocks noGrp="1" noChangeArrowheads="1"/>
          </p:cNvSpPr>
          <p:nvPr>
            <p:ph sz="quarter" idx="1"/>
          </p:nvPr>
        </p:nvSpPr>
        <p:spPr/>
        <p:txBody>
          <a:bodyPr>
            <a:normAutofit/>
          </a:bodyPr>
          <a:lstStyle/>
          <a:p>
            <a:r>
              <a:rPr lang="en-US"/>
              <a:t>Either internal to the application or Web based</a:t>
            </a:r>
          </a:p>
          <a:p>
            <a:r>
              <a:rPr lang="en-US"/>
              <a:t>Requires rethinking the presentation style since normal “paper” documentation approaches do not carry over well</a:t>
            </a:r>
          </a:p>
          <a:p>
            <a:r>
              <a:rPr lang="en-US"/>
              <a:t>Should act as a supplement to paper documentation</a:t>
            </a:r>
          </a:p>
          <a:p>
            <a:r>
              <a:rPr lang="en-US"/>
              <a:t>Biggest benefit of Web docs are that they are always current</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t>Document Preparation</a:t>
            </a:r>
          </a:p>
        </p:txBody>
      </p:sp>
      <p:sp>
        <p:nvSpPr>
          <p:cNvPr id="25603" name="Rectangle 3"/>
          <p:cNvSpPr>
            <a:spLocks noGrp="1" noChangeArrowheads="1"/>
          </p:cNvSpPr>
          <p:nvPr>
            <p:ph sz="quarter" idx="1"/>
          </p:nvPr>
        </p:nvSpPr>
        <p:spPr/>
        <p:txBody>
          <a:bodyPr/>
          <a:lstStyle/>
          <a:p>
            <a:r>
              <a:rPr lang="en-US" sz="2800"/>
              <a:t>Covers the entire process of creating and formatting a document for publication</a:t>
            </a:r>
          </a:p>
          <a:p>
            <a:pPr lvl="1"/>
            <a:r>
              <a:rPr lang="en-US" sz="2400"/>
              <a:t>Author recommends using specialized (and separate) tools for creating and preparing documents</a:t>
            </a:r>
          </a:p>
          <a:p>
            <a:pPr lvl="2"/>
            <a:r>
              <a:rPr lang="en-US" sz="2000"/>
              <a:t>This is only important for user documentation</a:t>
            </a:r>
          </a:p>
          <a:p>
            <a:r>
              <a:rPr lang="en-US" sz="2800"/>
              <a:t>It is often important to have a professional writer or document publisher evaluate documents before publication to ensure they look good and will carry over to paper well</a:t>
            </a:r>
          </a:p>
          <a:p>
            <a:pPr lvl="1">
              <a:buFont typeface="Wingdings" pitchFamily="2" charset="2"/>
              <a:buNone/>
            </a:pPr>
            <a:endParaRPr lang="en-US" sz="2400"/>
          </a:p>
          <a:p>
            <a:endParaRPr lang="en-US" sz="280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t>Document Storage</a:t>
            </a:r>
          </a:p>
        </p:txBody>
      </p:sp>
      <p:sp>
        <p:nvSpPr>
          <p:cNvPr id="26627" name="Rectangle 3"/>
          <p:cNvSpPr>
            <a:spLocks noGrp="1" noChangeArrowheads="1"/>
          </p:cNvSpPr>
          <p:nvPr>
            <p:ph sz="quarter" idx="1"/>
          </p:nvPr>
        </p:nvSpPr>
        <p:spPr/>
        <p:txBody>
          <a:bodyPr/>
          <a:lstStyle/>
          <a:p>
            <a:pPr>
              <a:lnSpc>
                <a:spcPct val="90000"/>
              </a:lnSpc>
            </a:pPr>
            <a:r>
              <a:rPr lang="en-US"/>
              <a:t>Author Recommends (in 2001)	</a:t>
            </a:r>
          </a:p>
          <a:p>
            <a:pPr lvl="1">
              <a:lnSpc>
                <a:spcPct val="90000"/>
              </a:lnSpc>
            </a:pPr>
            <a:r>
              <a:rPr lang="en-US"/>
              <a:t>File System to store the actual documents</a:t>
            </a:r>
          </a:p>
          <a:p>
            <a:pPr lvl="1">
              <a:lnSpc>
                <a:spcPct val="90000"/>
              </a:lnSpc>
            </a:pPr>
            <a:r>
              <a:rPr lang="en-US"/>
              <a:t>Database to store references to the files with metadata to allow searching and referencing</a:t>
            </a:r>
          </a:p>
          <a:p>
            <a:pPr>
              <a:lnSpc>
                <a:spcPct val="90000"/>
              </a:lnSpc>
            </a:pPr>
            <a:r>
              <a:rPr lang="en-US"/>
              <a:t>Today it is probably better to use a content management systems</a:t>
            </a:r>
          </a:p>
          <a:p>
            <a:pPr lvl="1">
              <a:lnSpc>
                <a:spcPct val="90000"/>
              </a:lnSpc>
            </a:pPr>
            <a:r>
              <a:rPr lang="en-US"/>
              <a:t>CVS or Subversion</a:t>
            </a:r>
          </a:p>
          <a:p>
            <a:pPr lvl="2">
              <a:lnSpc>
                <a:spcPct val="90000"/>
              </a:lnSpc>
            </a:pPr>
            <a:r>
              <a:rPr lang="en-US"/>
              <a:t>Free and Open Source</a:t>
            </a:r>
          </a:p>
          <a:p>
            <a:pPr lvl="2">
              <a:lnSpc>
                <a:spcPct val="90000"/>
              </a:lnSpc>
            </a:pPr>
            <a:r>
              <a:rPr lang="en-US"/>
              <a:t>Easy to setup and maintain</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t>Conclusion</a:t>
            </a:r>
          </a:p>
        </p:txBody>
      </p:sp>
      <p:sp>
        <p:nvSpPr>
          <p:cNvPr id="27651" name="Rectangle 3"/>
          <p:cNvSpPr>
            <a:spLocks noGrp="1" noChangeArrowheads="1"/>
          </p:cNvSpPr>
          <p:nvPr>
            <p:ph sz="quarter" idx="1"/>
          </p:nvPr>
        </p:nvSpPr>
        <p:spPr/>
        <p:txBody>
          <a:bodyPr/>
          <a:lstStyle/>
          <a:p>
            <a:r>
              <a:rPr lang="en-US"/>
              <a:t>Good overview of documentation</a:t>
            </a:r>
          </a:p>
          <a:p>
            <a:pPr lvl="1"/>
            <a:r>
              <a:rPr lang="en-US"/>
              <a:t>Though most documentation “requirements” are based on contract requirements</a:t>
            </a:r>
          </a:p>
          <a:p>
            <a:pPr lvl="2"/>
            <a:r>
              <a:rPr lang="en-US"/>
              <a:t>Hard to cover things like that in a paper like this</a:t>
            </a:r>
          </a:p>
          <a:p>
            <a:r>
              <a:rPr lang="en-US"/>
              <a:t>Most of the content seemed to be referring to user documentation</a:t>
            </a:r>
          </a:p>
          <a:p>
            <a:pPr lvl="1"/>
            <a:r>
              <a:rPr lang="en-US"/>
              <a:t>Design and other similar docs (often times more graphical than textual) were overlooked</a:t>
            </a:r>
          </a:p>
        </p:txBody>
      </p:sp>
    </p:spTree>
  </p:cSld>
  <p:clrMapOvr>
    <a:masterClrMapping/>
  </p:clrMapOvr>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342</TotalTime>
  <Words>3706</Words>
  <Application>Microsoft Office PowerPoint</Application>
  <PresentationFormat>On-screen Show (4:3)</PresentationFormat>
  <Paragraphs>230</Paragraphs>
  <Slides>57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Times New Roman</vt:lpstr>
      <vt:lpstr>TimesNewRomanPSMT</vt:lpstr>
      <vt:lpstr>Tw Cen MT</vt:lpstr>
      <vt:lpstr>Wingdings</vt:lpstr>
      <vt:lpstr>Wingdings 2</vt:lpstr>
      <vt:lpstr>Median</vt:lpstr>
      <vt:lpstr>Software DEVOLPMENT and Documentation </vt:lpstr>
      <vt:lpstr>PowerPoint Presentation</vt:lpstr>
      <vt:lpstr>Introduction</vt:lpstr>
      <vt:lpstr>What is the Software documentation </vt:lpstr>
      <vt:lpstr>PowerPoint Presentation</vt:lpstr>
      <vt:lpstr>PowerPoint Presentation</vt:lpstr>
      <vt:lpstr>Purpose of Documentation: </vt:lpstr>
      <vt:lpstr>PowerPoint Presentation</vt:lpstr>
      <vt:lpstr>Importance of software documentation  </vt:lpstr>
      <vt:lpstr> Principles of Software Documentation: </vt:lpstr>
      <vt:lpstr> 1. Write from reader’s point of view: </vt:lpstr>
      <vt:lpstr>2. Avoid unnecessary repetition: </vt:lpstr>
      <vt:lpstr> 3. Avoid ambiguity: </vt:lpstr>
      <vt:lpstr> 4. Follow a certain standard organization: </vt:lpstr>
      <vt:lpstr>5. Record a Rationale</vt:lpstr>
      <vt:lpstr> 6. Keep the documentation updated but to an extent </vt:lpstr>
      <vt:lpstr>7. Review documentation</vt:lpstr>
      <vt:lpstr> Advantages of software documentation  </vt:lpstr>
      <vt:lpstr>Disadvantages of software documentation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Documentation Requirements</vt:lpstr>
      <vt:lpstr>Documentation Requirements</vt:lpstr>
      <vt:lpstr>Process Documentation</vt:lpstr>
      <vt:lpstr>Process Documentation</vt:lpstr>
      <vt:lpstr>Process documentation falls into a number of categories:</vt:lpstr>
      <vt:lpstr>PowerPoint Presentation</vt:lpstr>
      <vt:lpstr>PowerPoint Presentation</vt:lpstr>
      <vt:lpstr>PowerPoint Presentation</vt:lpstr>
      <vt:lpstr>Product Documentation</vt:lpstr>
      <vt:lpstr>PowerPoint Presentation</vt:lpstr>
      <vt:lpstr> For large systems that are developed to a customer’s specification, the system  documentation should include: </vt:lpstr>
      <vt:lpstr>PowerPoint Presentation</vt:lpstr>
      <vt:lpstr>PowerPoint Presentation</vt:lpstr>
      <vt:lpstr>PowerPoint Presentation</vt:lpstr>
      <vt:lpstr>User Documentation</vt:lpstr>
      <vt:lpstr>PowerPoint Presentation</vt:lpstr>
      <vt:lpstr>PowerPoint Presentation</vt:lpstr>
      <vt:lpstr>Product Documentation</vt:lpstr>
      <vt:lpstr>PowerPoint Presentation</vt:lpstr>
      <vt:lpstr>PowerPoint Presentation</vt:lpstr>
      <vt:lpstr>Document Structure</vt:lpstr>
      <vt:lpstr>Standards</vt:lpstr>
      <vt:lpstr>1.Process Standards</vt:lpstr>
      <vt:lpstr>2. Product Standards</vt:lpstr>
      <vt:lpstr>2. Product Standards</vt:lpstr>
      <vt:lpstr>3. Interchange Standards</vt:lpstr>
      <vt:lpstr>Other Standards</vt:lpstr>
      <vt:lpstr>Online Documentation</vt:lpstr>
      <vt:lpstr>Document Preparation</vt:lpstr>
      <vt:lpstr>Document Storage</vt:lpstr>
      <vt:lpstr>Conclusion</vt:lpstr>
    </vt:vector>
  </TitlesOfParts>
  <Company>U.S. Army PEOSTRI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Documentation Ian Sommerville</dc:title>
  <dc:creator>Stephen Lopez-Couto</dc:creator>
  <cp:lastModifiedBy>kamal</cp:lastModifiedBy>
  <cp:revision>30</cp:revision>
  <dcterms:created xsi:type="dcterms:W3CDTF">2007-03-23T16:58:55Z</dcterms:created>
  <dcterms:modified xsi:type="dcterms:W3CDTF">2025-10-19T08:55:48Z</dcterms:modified>
</cp:coreProperties>
</file>