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type="screen16x9" cy="6858000" cx="12192000"/>
  <p:notesSz cx="6858000" cy="12192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611"/>
    <p:restoredTop sz="94610"/>
  </p:normalViewPr>
  <p:slideViewPr>
    <p:cSldViewPr snapToGrid="0" snapToObjects="1">
      <p:cViewPr varScale="1">
        <p:scale>
          <a:sx n="82" d="100"/>
          <a:sy n="82" d="100"/>
        </p:scale>
        <p:origin x="494" y="7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tableStyles" Target="tableStyles.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25"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81" name="Slide Image Placeholder 1"/>
          <p:cNvSpPr>
            <a:spLocks noChangeAspect="1" noRot="1" noGrp="1"/>
          </p:cNvSpPr>
          <p:nvPr>
            <p:ph type="sldImg"/>
          </p:nvPr>
        </p:nvSpPr>
        <p:spPr/>
      </p:sp>
      <p:sp>
        <p:nvSpPr>
          <p:cNvPr id="1048582" name="Notes Placeholder 2"/>
          <p:cNvSpPr>
            <a:spLocks noGrp="1"/>
          </p:cNvSpPr>
          <p:nvPr>
            <p:ph type="body" idx="1"/>
          </p:nvPr>
        </p:nvSpPr>
        <p:spPr/>
        <p:txBody>
          <a:bodyPr/>
          <a:p>
            <a:endParaRPr dirty="0" lang="en-US"/>
          </a:p>
        </p:txBody>
      </p:sp>
      <p:sp>
        <p:nvSpPr>
          <p:cNvPr id="1048583"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06" name="Slide Image Placeholder 1"/>
          <p:cNvSpPr>
            <a:spLocks noChangeAspect="1" noRot="1" noGrp="1"/>
          </p:cNvSpPr>
          <p:nvPr>
            <p:ph type="sldImg"/>
          </p:nvPr>
        </p:nvSpPr>
        <p:spPr/>
      </p:sp>
      <p:sp>
        <p:nvSpPr>
          <p:cNvPr id="1048607" name="Notes Placeholder 2"/>
          <p:cNvSpPr>
            <a:spLocks noGrp="1"/>
          </p:cNvSpPr>
          <p:nvPr>
            <p:ph type="body" idx="1"/>
          </p:nvPr>
        </p:nvSpPr>
        <p:spPr/>
        <p:txBody>
          <a:bodyPr/>
          <a:p>
            <a:endParaRPr dirty="0" lang="en-US"/>
          </a:p>
        </p:txBody>
      </p:sp>
      <p:sp>
        <p:nvSpPr>
          <p:cNvPr id="1048608"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14" name="Slide Image Placeholder 1"/>
          <p:cNvSpPr>
            <a:spLocks noChangeAspect="1" noRot="1" noGrp="1"/>
          </p:cNvSpPr>
          <p:nvPr>
            <p:ph type="sldImg"/>
          </p:nvPr>
        </p:nvSpPr>
        <p:spPr/>
      </p:sp>
      <p:sp>
        <p:nvSpPr>
          <p:cNvPr id="1048615" name="Notes Placeholder 2"/>
          <p:cNvSpPr>
            <a:spLocks noGrp="1"/>
          </p:cNvSpPr>
          <p:nvPr>
            <p:ph type="body" idx="1"/>
          </p:nvPr>
        </p:nvSpPr>
        <p:spPr/>
        <p:txBody>
          <a:bodyPr/>
          <a:p>
            <a:endParaRPr dirty="0" lang="en-US"/>
          </a:p>
        </p:txBody>
      </p:sp>
      <p:sp>
        <p:nvSpPr>
          <p:cNvPr id="1048616"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29" name="Slide Image Placeholder 1"/>
          <p:cNvSpPr>
            <a:spLocks noChangeAspect="1" noRot="1" noGrp="1"/>
          </p:cNvSpPr>
          <p:nvPr>
            <p:ph type="sldImg"/>
          </p:nvPr>
        </p:nvSpPr>
        <p:spPr/>
      </p:sp>
      <p:sp>
        <p:nvSpPr>
          <p:cNvPr id="1048630" name="Notes Placeholder 2"/>
          <p:cNvSpPr>
            <a:spLocks noGrp="1"/>
          </p:cNvSpPr>
          <p:nvPr>
            <p:ph type="body" idx="1"/>
          </p:nvPr>
        </p:nvSpPr>
        <p:spPr/>
        <p:txBody>
          <a:bodyPr/>
          <a:p>
            <a:endParaRPr dirty="0" lang="en-US"/>
          </a:p>
        </p:txBody>
      </p:sp>
      <p:sp>
        <p:nvSpPr>
          <p:cNvPr id="1048631"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39" name="Slide Image Placeholder 1"/>
          <p:cNvSpPr>
            <a:spLocks noChangeAspect="1" noRot="1" noGrp="1"/>
          </p:cNvSpPr>
          <p:nvPr>
            <p:ph type="sldImg"/>
          </p:nvPr>
        </p:nvSpPr>
        <p:spPr/>
      </p:sp>
      <p:sp>
        <p:nvSpPr>
          <p:cNvPr id="1048640" name="Notes Placeholder 2"/>
          <p:cNvSpPr>
            <a:spLocks noGrp="1"/>
          </p:cNvSpPr>
          <p:nvPr>
            <p:ph type="body" idx="1"/>
          </p:nvPr>
        </p:nvSpPr>
        <p:spPr/>
        <p:txBody>
          <a:bodyPr/>
          <a:p>
            <a:endParaRPr dirty="0" lang="en-US"/>
          </a:p>
        </p:txBody>
      </p:sp>
      <p:sp>
        <p:nvSpPr>
          <p:cNvPr id="1048641"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61" name="Slide Image Placeholder 1"/>
          <p:cNvSpPr>
            <a:spLocks noChangeAspect="1" noRot="1" noGrp="1"/>
          </p:cNvSpPr>
          <p:nvPr>
            <p:ph type="sldImg"/>
          </p:nvPr>
        </p:nvSpPr>
        <p:spPr/>
      </p:sp>
      <p:sp>
        <p:nvSpPr>
          <p:cNvPr id="1048662" name="Notes Placeholder 2"/>
          <p:cNvSpPr>
            <a:spLocks noGrp="1"/>
          </p:cNvSpPr>
          <p:nvPr>
            <p:ph type="body" idx="1"/>
          </p:nvPr>
        </p:nvSpPr>
        <p:spPr/>
        <p:txBody>
          <a:bodyPr/>
          <a:p>
            <a:endParaRPr dirty="0" lang="en-US"/>
          </a:p>
        </p:txBody>
      </p:sp>
      <p:sp>
        <p:nvSpPr>
          <p:cNvPr id="1048663"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97" name="Slide Image Placeholder 1"/>
          <p:cNvSpPr>
            <a:spLocks noChangeAspect="1" noRot="1" noGrp="1"/>
          </p:cNvSpPr>
          <p:nvPr>
            <p:ph type="sldImg"/>
          </p:nvPr>
        </p:nvSpPr>
        <p:spPr/>
      </p:sp>
      <p:sp>
        <p:nvSpPr>
          <p:cNvPr id="1048698" name="Notes Placeholder 2"/>
          <p:cNvSpPr>
            <a:spLocks noGrp="1"/>
          </p:cNvSpPr>
          <p:nvPr>
            <p:ph type="body" idx="1"/>
          </p:nvPr>
        </p:nvSpPr>
        <p:spPr/>
        <p:txBody>
          <a:bodyPr/>
          <a:p>
            <a:endParaRPr dirty="0" lang="en-US"/>
          </a:p>
        </p:txBody>
      </p:sp>
      <p:sp>
        <p:nvSpPr>
          <p:cNvPr id="1048699"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705" name="Slide Image Placeholder 1"/>
          <p:cNvSpPr>
            <a:spLocks noChangeAspect="1" noRot="1" noGrp="1"/>
          </p:cNvSpPr>
          <p:nvPr>
            <p:ph type="sldImg"/>
          </p:nvPr>
        </p:nvSpPr>
        <p:spPr/>
      </p:sp>
      <p:sp>
        <p:nvSpPr>
          <p:cNvPr id="1048706" name="Notes Placeholder 2"/>
          <p:cNvSpPr>
            <a:spLocks noGrp="1"/>
          </p:cNvSpPr>
          <p:nvPr>
            <p:ph type="body" idx="1"/>
          </p:nvPr>
        </p:nvSpPr>
        <p:spPr/>
        <p:txBody>
          <a:bodyPr/>
          <a:p>
            <a:endParaRPr dirty="0" lang="en-US"/>
          </a:p>
        </p:txBody>
      </p:sp>
      <p:sp>
        <p:nvSpPr>
          <p:cNvPr id="1048707"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715" name="Slide Image Placeholder 1"/>
          <p:cNvSpPr>
            <a:spLocks noChangeAspect="1" noRot="1" noGrp="1"/>
          </p:cNvSpPr>
          <p:nvPr>
            <p:ph type="sldImg"/>
          </p:nvPr>
        </p:nvSpPr>
        <p:spPr/>
      </p:sp>
      <p:sp>
        <p:nvSpPr>
          <p:cNvPr id="1048716" name="Notes Placeholder 2"/>
          <p:cNvSpPr>
            <a:spLocks noGrp="1"/>
          </p:cNvSpPr>
          <p:nvPr>
            <p:ph type="body" idx="1"/>
          </p:nvPr>
        </p:nvSpPr>
        <p:spPr/>
        <p:txBody>
          <a:bodyPr/>
          <a:p>
            <a:endParaRPr dirty="0" lang="en-US"/>
          </a:p>
        </p:txBody>
      </p:sp>
      <p:sp>
        <p:nvSpPr>
          <p:cNvPr id="1048717"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723" name="Slide Image Placeholder 1"/>
          <p:cNvSpPr>
            <a:spLocks noChangeAspect="1" noRot="1" noGrp="1"/>
          </p:cNvSpPr>
          <p:nvPr>
            <p:ph type="sldImg"/>
          </p:nvPr>
        </p:nvSpPr>
        <p:spPr/>
      </p:sp>
      <p:sp>
        <p:nvSpPr>
          <p:cNvPr id="1048724" name="Notes Placeholder 2"/>
          <p:cNvSpPr>
            <a:spLocks noGrp="1"/>
          </p:cNvSpPr>
          <p:nvPr>
            <p:ph type="body" idx="1"/>
          </p:nvPr>
        </p:nvSpPr>
        <p:spPr/>
        <p:txBody>
          <a:bodyPr/>
          <a:p>
            <a:endParaRPr dirty="0" lang="en-US"/>
          </a:p>
        </p:txBody>
      </p:sp>
      <p:sp>
        <p:nvSpPr>
          <p:cNvPr id="1048725"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733" name="Slide Image Placeholder 1"/>
          <p:cNvSpPr>
            <a:spLocks noChangeAspect="1" noRot="1" noGrp="1"/>
          </p:cNvSpPr>
          <p:nvPr>
            <p:ph type="sldImg"/>
          </p:nvPr>
        </p:nvSpPr>
        <p:spPr/>
      </p:sp>
      <p:sp>
        <p:nvSpPr>
          <p:cNvPr id="1048734" name="Notes Placeholder 2"/>
          <p:cNvSpPr>
            <a:spLocks noGrp="1"/>
          </p:cNvSpPr>
          <p:nvPr>
            <p:ph type="body" idx="1"/>
          </p:nvPr>
        </p:nvSpPr>
        <p:spPr/>
        <p:txBody>
          <a:bodyPr/>
          <a:p>
            <a:endParaRPr dirty="0" lang="en-US"/>
          </a:p>
        </p:txBody>
      </p:sp>
      <p:sp>
        <p:nvSpPr>
          <p:cNvPr id="1048735" name="Slide Number Placeholder 3"/>
          <p:cNvSpPr>
            <a:spLocks noGrp="1"/>
          </p:cNvSpPr>
          <p:nvPr>
            <p:ph type="sldNum" sz="quarter" idx="10"/>
          </p:nvPr>
        </p:nvSpPr>
        <p:spPr/>
        <p:txBody>
          <a:bodyPr/>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743" name="Slide Image Placeholder 1"/>
          <p:cNvSpPr>
            <a:spLocks noChangeAspect="1" noRot="1" noGrp="1"/>
          </p:cNvSpPr>
          <p:nvPr>
            <p:ph type="sldImg"/>
          </p:nvPr>
        </p:nvSpPr>
        <p:spPr/>
      </p:sp>
      <p:sp>
        <p:nvSpPr>
          <p:cNvPr id="1048744" name="Notes Placeholder 2"/>
          <p:cNvSpPr>
            <a:spLocks noGrp="1"/>
          </p:cNvSpPr>
          <p:nvPr>
            <p:ph type="body" idx="1"/>
          </p:nvPr>
        </p:nvSpPr>
        <p:spPr/>
        <p:txBody>
          <a:bodyPr/>
          <a:p>
            <a:endParaRPr dirty="0" lang="en-US"/>
          </a:p>
        </p:txBody>
      </p:sp>
      <p:sp>
        <p:nvSpPr>
          <p:cNvPr id="1048745" name="Slide Number Placeholder 3"/>
          <p:cNvSpPr>
            <a:spLocks noGrp="1"/>
          </p:cNvSpPr>
          <p:nvPr>
            <p:ph type="sldNum" sz="quarter" idx="10"/>
          </p:nvPr>
        </p:nvSpPr>
        <p:spPr/>
        <p:txBody>
          <a:bodyPr/>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753" name="Slide Image Placeholder 1"/>
          <p:cNvSpPr>
            <a:spLocks noChangeAspect="1" noRot="1" noGrp="1"/>
          </p:cNvSpPr>
          <p:nvPr>
            <p:ph type="sldImg"/>
          </p:nvPr>
        </p:nvSpPr>
        <p:spPr/>
      </p:sp>
      <p:sp>
        <p:nvSpPr>
          <p:cNvPr id="1048754" name="Notes Placeholder 2"/>
          <p:cNvSpPr>
            <a:spLocks noGrp="1"/>
          </p:cNvSpPr>
          <p:nvPr>
            <p:ph type="body" idx="1"/>
          </p:nvPr>
        </p:nvSpPr>
        <p:spPr/>
        <p:txBody>
          <a:bodyPr/>
          <a:p>
            <a:endParaRPr dirty="0" lang="en-US"/>
          </a:p>
        </p:txBody>
      </p:sp>
      <p:sp>
        <p:nvSpPr>
          <p:cNvPr id="1048755" name="Slide Number Placeholder 3"/>
          <p:cNvSpPr>
            <a:spLocks noGrp="1"/>
          </p:cNvSpPr>
          <p:nvPr>
            <p:ph type="sldNum" sz="quarter" idx="10"/>
          </p:nvPr>
        </p:nvSpPr>
        <p:spPr/>
        <p:txBody>
          <a:bodyPr/>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763" name="Slide Image Placeholder 1"/>
          <p:cNvSpPr>
            <a:spLocks noChangeAspect="1" noRot="1" noGrp="1"/>
          </p:cNvSpPr>
          <p:nvPr>
            <p:ph type="sldImg"/>
          </p:nvPr>
        </p:nvSpPr>
        <p:spPr/>
      </p:sp>
      <p:sp>
        <p:nvSpPr>
          <p:cNvPr id="1048764" name="Notes Placeholder 2"/>
          <p:cNvSpPr>
            <a:spLocks noGrp="1"/>
          </p:cNvSpPr>
          <p:nvPr>
            <p:ph type="body" idx="1"/>
          </p:nvPr>
        </p:nvSpPr>
        <p:spPr/>
        <p:txBody>
          <a:bodyPr/>
          <a:p>
            <a:endParaRPr dirty="0" lang="en-US"/>
          </a:p>
        </p:txBody>
      </p:sp>
      <p:sp>
        <p:nvSpPr>
          <p:cNvPr id="1048765" name="Slide Number Placeholder 3"/>
          <p:cNvSpPr>
            <a:spLocks noGrp="1"/>
          </p:cNvSpPr>
          <p:nvPr>
            <p:ph type="sldNum" sz="quarter" idx="10"/>
          </p:nvPr>
        </p:nvSpPr>
        <p:spPr/>
        <p:txBody>
          <a:bodyPr/>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771" name="Slide Image Placeholder 1"/>
          <p:cNvSpPr>
            <a:spLocks noChangeAspect="1" noRot="1" noGrp="1"/>
          </p:cNvSpPr>
          <p:nvPr>
            <p:ph type="sldImg"/>
          </p:nvPr>
        </p:nvSpPr>
        <p:spPr/>
      </p:sp>
      <p:sp>
        <p:nvSpPr>
          <p:cNvPr id="1048772" name="Notes Placeholder 2"/>
          <p:cNvSpPr>
            <a:spLocks noGrp="1"/>
          </p:cNvSpPr>
          <p:nvPr>
            <p:ph type="body" idx="1"/>
          </p:nvPr>
        </p:nvSpPr>
        <p:spPr/>
        <p:txBody>
          <a:bodyPr/>
          <a:p>
            <a:endParaRPr dirty="0" lang="en-US"/>
          </a:p>
        </p:txBody>
      </p:sp>
      <p:sp>
        <p:nvSpPr>
          <p:cNvPr id="1048773" name="Slide Number Placeholder 3"/>
          <p:cNvSpPr>
            <a:spLocks noGrp="1"/>
          </p:cNvSpPr>
          <p:nvPr>
            <p:ph type="sldNum" sz="quarter" idx="10"/>
          </p:nvPr>
        </p:nvSpPr>
        <p:spPr/>
        <p:txBody>
          <a:bodyPr/>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779" name="Slide Image Placeholder 1"/>
          <p:cNvSpPr>
            <a:spLocks noChangeAspect="1" noRot="1" noGrp="1"/>
          </p:cNvSpPr>
          <p:nvPr>
            <p:ph type="sldImg"/>
          </p:nvPr>
        </p:nvSpPr>
        <p:spPr/>
      </p:sp>
      <p:sp>
        <p:nvSpPr>
          <p:cNvPr id="1048780" name="Notes Placeholder 2"/>
          <p:cNvSpPr>
            <a:spLocks noGrp="1"/>
          </p:cNvSpPr>
          <p:nvPr>
            <p:ph type="body" idx="1"/>
          </p:nvPr>
        </p:nvSpPr>
        <p:spPr/>
        <p:txBody>
          <a:bodyPr/>
          <a:p>
            <a:endParaRPr dirty="0" lang="en-US"/>
          </a:p>
        </p:txBody>
      </p:sp>
      <p:sp>
        <p:nvSpPr>
          <p:cNvPr id="1048781" name="Slide Number Placeholder 3"/>
          <p:cNvSpPr>
            <a:spLocks noGrp="1"/>
          </p:cNvSpPr>
          <p:nvPr>
            <p:ph type="sldNum" sz="quarter" idx="10"/>
          </p:nvPr>
        </p:nvSpPr>
        <p:spPr/>
        <p:txBody>
          <a:bodyPr/>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789" name="Slide Image Placeholder 1"/>
          <p:cNvSpPr>
            <a:spLocks noChangeAspect="1" noRot="1" noGrp="1"/>
          </p:cNvSpPr>
          <p:nvPr>
            <p:ph type="sldImg"/>
          </p:nvPr>
        </p:nvSpPr>
        <p:spPr/>
      </p:sp>
      <p:sp>
        <p:nvSpPr>
          <p:cNvPr id="1048790" name="Notes Placeholder 2"/>
          <p:cNvSpPr>
            <a:spLocks noGrp="1"/>
          </p:cNvSpPr>
          <p:nvPr>
            <p:ph type="body" idx="1"/>
          </p:nvPr>
        </p:nvSpPr>
        <p:spPr/>
        <p:txBody>
          <a:bodyPr/>
          <a:p>
            <a:endParaRPr dirty="0" lang="en-US"/>
          </a:p>
        </p:txBody>
      </p:sp>
      <p:sp>
        <p:nvSpPr>
          <p:cNvPr id="1048791" name="Slide Number Placeholder 3"/>
          <p:cNvSpPr>
            <a:spLocks noGrp="1"/>
          </p:cNvSpPr>
          <p:nvPr>
            <p:ph type="sldNum" sz="quarter" idx="10"/>
          </p:nvPr>
        </p:nvSpPr>
        <p:spPr/>
        <p:txBody>
          <a:bodyPr/>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819" name="Slide Image Placeholder 1"/>
          <p:cNvSpPr>
            <a:spLocks noChangeAspect="1" noRot="1" noGrp="1"/>
          </p:cNvSpPr>
          <p:nvPr>
            <p:ph type="sldImg"/>
          </p:nvPr>
        </p:nvSpPr>
        <p:spPr/>
      </p:sp>
      <p:sp>
        <p:nvSpPr>
          <p:cNvPr id="1048820" name="Notes Placeholder 2"/>
          <p:cNvSpPr>
            <a:spLocks noGrp="1"/>
          </p:cNvSpPr>
          <p:nvPr>
            <p:ph type="body" idx="1"/>
          </p:nvPr>
        </p:nvSpPr>
        <p:spPr/>
        <p:txBody>
          <a:bodyPr/>
          <a:p>
            <a:endParaRPr dirty="0" lang="en-US"/>
          </a:p>
        </p:txBody>
      </p:sp>
      <p:sp>
        <p:nvSpPr>
          <p:cNvPr id="1048821" name="Slide Number Placeholder 3"/>
          <p:cNvSpPr>
            <a:spLocks noGrp="1"/>
          </p:cNvSpPr>
          <p:nvPr>
            <p:ph type="sldNum" sz="quarter" idx="10"/>
          </p:nvPr>
        </p:nvSpPr>
        <p:spPr/>
        <p:txBody>
          <a:bodyPr/>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826" name="Slide Image Placeholder 1"/>
          <p:cNvSpPr>
            <a:spLocks noChangeAspect="1" noRot="1" noGrp="1"/>
          </p:cNvSpPr>
          <p:nvPr>
            <p:ph type="sldImg"/>
          </p:nvPr>
        </p:nvSpPr>
        <p:spPr/>
      </p:sp>
      <p:sp>
        <p:nvSpPr>
          <p:cNvPr id="1048827" name="Notes Placeholder 2"/>
          <p:cNvSpPr>
            <a:spLocks noGrp="1"/>
          </p:cNvSpPr>
          <p:nvPr>
            <p:ph type="body" idx="1"/>
          </p:nvPr>
        </p:nvSpPr>
        <p:spPr/>
        <p:txBody>
          <a:bodyPr/>
          <a:p>
            <a:endParaRPr dirty="0" lang="en-US"/>
          </a:p>
        </p:txBody>
      </p:sp>
      <p:sp>
        <p:nvSpPr>
          <p:cNvPr id="1048828" name="Slide Number Placeholder 3"/>
          <p:cNvSpPr>
            <a:spLocks noGrp="1"/>
          </p:cNvSpPr>
          <p:nvPr>
            <p:ph type="sldNum" sz="quarter" idx="10"/>
          </p:nvPr>
        </p:nvSpPr>
        <p:spPr/>
        <p:txBody>
          <a:bodyPr/>
          <a:p>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834" name="Slide Image Placeholder 1"/>
          <p:cNvSpPr>
            <a:spLocks noChangeAspect="1" noRot="1" noGrp="1"/>
          </p:cNvSpPr>
          <p:nvPr>
            <p:ph type="sldImg"/>
          </p:nvPr>
        </p:nvSpPr>
        <p:spPr/>
      </p:sp>
      <p:sp>
        <p:nvSpPr>
          <p:cNvPr id="1048835" name="Notes Placeholder 2"/>
          <p:cNvSpPr>
            <a:spLocks noGrp="1"/>
          </p:cNvSpPr>
          <p:nvPr>
            <p:ph type="body" idx="1"/>
          </p:nvPr>
        </p:nvSpPr>
        <p:spPr/>
        <p:txBody>
          <a:bodyPr/>
          <a:p>
            <a:endParaRPr dirty="0" lang="en-US"/>
          </a:p>
        </p:txBody>
      </p:sp>
      <p:sp>
        <p:nvSpPr>
          <p:cNvPr id="1048836" name="Slide Number Placeholder 3"/>
          <p:cNvSpPr>
            <a:spLocks noGrp="1"/>
          </p:cNvSpPr>
          <p:nvPr>
            <p:ph type="sldNum" sz="quarter" idx="10"/>
          </p:nvPr>
        </p:nvSpPr>
        <p:spPr/>
        <p:txBody>
          <a:bodyPr/>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842" name="Slide Image Placeholder 1"/>
          <p:cNvSpPr>
            <a:spLocks noChangeAspect="1" noRot="1" noGrp="1"/>
          </p:cNvSpPr>
          <p:nvPr>
            <p:ph type="sldImg"/>
          </p:nvPr>
        </p:nvSpPr>
        <p:spPr/>
      </p:sp>
      <p:sp>
        <p:nvSpPr>
          <p:cNvPr id="1048843" name="Notes Placeholder 2"/>
          <p:cNvSpPr>
            <a:spLocks noGrp="1"/>
          </p:cNvSpPr>
          <p:nvPr>
            <p:ph type="body" idx="1"/>
          </p:nvPr>
        </p:nvSpPr>
        <p:spPr/>
        <p:txBody>
          <a:bodyPr/>
          <a:p>
            <a:endParaRPr dirty="0" lang="en-US"/>
          </a:p>
        </p:txBody>
      </p:sp>
      <p:sp>
        <p:nvSpPr>
          <p:cNvPr id="1048844" name="Slide Number Placeholder 3"/>
          <p:cNvSpPr>
            <a:spLocks noGrp="1"/>
          </p:cNvSpPr>
          <p:nvPr>
            <p:ph type="sldNum" sz="quarter" idx="10"/>
          </p:nvPr>
        </p:nvSpPr>
        <p:spPr/>
        <p:txBody>
          <a:bodyPr/>
          <a:p>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48850" name="Slide Image Placeholder 1"/>
          <p:cNvSpPr>
            <a:spLocks noChangeAspect="1" noRot="1" noGrp="1"/>
          </p:cNvSpPr>
          <p:nvPr>
            <p:ph type="sldImg"/>
          </p:nvPr>
        </p:nvSpPr>
        <p:spPr/>
      </p:sp>
      <p:sp>
        <p:nvSpPr>
          <p:cNvPr id="1048851" name="Notes Placeholder 2"/>
          <p:cNvSpPr>
            <a:spLocks noGrp="1"/>
          </p:cNvSpPr>
          <p:nvPr>
            <p:ph type="body" idx="1"/>
          </p:nvPr>
        </p:nvSpPr>
        <p:spPr/>
        <p:txBody>
          <a:bodyPr/>
          <a:p>
            <a:endParaRPr dirty="0" lang="en-US"/>
          </a:p>
        </p:txBody>
      </p:sp>
      <p:sp>
        <p:nvSpPr>
          <p:cNvPr id="1048852" name="Slide Number Placeholder 3"/>
          <p:cNvSpPr>
            <a:spLocks noGrp="1"/>
          </p:cNvSpPr>
          <p:nvPr>
            <p:ph type="sldNum" sz="quarter" idx="10"/>
          </p:nvPr>
        </p:nvSpPr>
        <p:spPr/>
        <p:txBody>
          <a:bodyPr/>
          <a:p>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858" name="Slide Image Placeholder 1"/>
          <p:cNvSpPr>
            <a:spLocks noChangeAspect="1" noRot="1" noGrp="1"/>
          </p:cNvSpPr>
          <p:nvPr>
            <p:ph type="sldImg"/>
          </p:nvPr>
        </p:nvSpPr>
        <p:spPr/>
      </p:sp>
      <p:sp>
        <p:nvSpPr>
          <p:cNvPr id="1048859" name="Notes Placeholder 2"/>
          <p:cNvSpPr>
            <a:spLocks noGrp="1"/>
          </p:cNvSpPr>
          <p:nvPr>
            <p:ph type="body" idx="1"/>
          </p:nvPr>
        </p:nvSpPr>
        <p:spPr/>
        <p:txBody>
          <a:bodyPr/>
          <a:p>
            <a:endParaRPr dirty="0" lang="en-US"/>
          </a:p>
        </p:txBody>
      </p:sp>
      <p:sp>
        <p:nvSpPr>
          <p:cNvPr id="1048860" name="Slide Number Placeholder 3"/>
          <p:cNvSpPr>
            <a:spLocks noGrp="1"/>
          </p:cNvSpPr>
          <p:nvPr>
            <p:ph type="sldNum" sz="quarter" idx="10"/>
          </p:nvPr>
        </p:nvSpPr>
        <p:spPr/>
        <p:txBody>
          <a:bodyPr/>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48866" name="Slide Image Placeholder 1"/>
          <p:cNvSpPr>
            <a:spLocks noChangeAspect="1" noRot="1" noGrp="1"/>
          </p:cNvSpPr>
          <p:nvPr>
            <p:ph type="sldImg"/>
          </p:nvPr>
        </p:nvSpPr>
        <p:spPr/>
      </p:sp>
      <p:sp>
        <p:nvSpPr>
          <p:cNvPr id="1048867" name="Notes Placeholder 2"/>
          <p:cNvSpPr>
            <a:spLocks noGrp="1"/>
          </p:cNvSpPr>
          <p:nvPr>
            <p:ph type="body" idx="1"/>
          </p:nvPr>
        </p:nvSpPr>
        <p:spPr/>
        <p:txBody>
          <a:bodyPr/>
          <a:p>
            <a:endParaRPr dirty="0" lang="en-US"/>
          </a:p>
        </p:txBody>
      </p:sp>
      <p:sp>
        <p:nvSpPr>
          <p:cNvPr id="1048868" name="Slide Number Placeholder 3"/>
          <p:cNvSpPr>
            <a:spLocks noGrp="1"/>
          </p:cNvSpPr>
          <p:nvPr>
            <p:ph type="sldNum" sz="quarter" idx="10"/>
          </p:nvPr>
        </p:nvSpPr>
        <p:spPr/>
        <p:txBody>
          <a:bodyPr/>
          <a:p>
            <a:fld id="{F7021451-1387-4CA6-816F-3879F97B5CBC}"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874" name="Slide Image Placeholder 1"/>
          <p:cNvSpPr>
            <a:spLocks noChangeAspect="1" noRot="1" noGrp="1"/>
          </p:cNvSpPr>
          <p:nvPr>
            <p:ph type="sldImg"/>
          </p:nvPr>
        </p:nvSpPr>
        <p:spPr/>
      </p:sp>
      <p:sp>
        <p:nvSpPr>
          <p:cNvPr id="1048875" name="Notes Placeholder 2"/>
          <p:cNvSpPr>
            <a:spLocks noGrp="1"/>
          </p:cNvSpPr>
          <p:nvPr>
            <p:ph type="body" idx="1"/>
          </p:nvPr>
        </p:nvSpPr>
        <p:spPr/>
        <p:txBody>
          <a:bodyPr/>
          <a:p>
            <a:endParaRPr dirty="0" lang="en-US"/>
          </a:p>
        </p:txBody>
      </p:sp>
      <p:sp>
        <p:nvSpPr>
          <p:cNvPr id="1048876" name="Slide Number Placeholder 3"/>
          <p:cNvSpPr>
            <a:spLocks noGrp="1"/>
          </p:cNvSpPr>
          <p:nvPr>
            <p:ph type="sldNum" sz="quarter" idx="10"/>
          </p:nvPr>
        </p:nvSpPr>
        <p:spPr/>
        <p:txBody>
          <a:bodyPr/>
          <a:p>
            <a:fld id="{F7021451-1387-4CA6-816F-3879F97B5CBC}" type="slidenum">
              <a:rPr lang="en-US"/>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sp>
        <p:nvSpPr>
          <p:cNvPr id="1048882" name="Slide Image Placeholder 1"/>
          <p:cNvSpPr>
            <a:spLocks noChangeAspect="1" noRot="1" noGrp="1"/>
          </p:cNvSpPr>
          <p:nvPr>
            <p:ph type="sldImg"/>
          </p:nvPr>
        </p:nvSpPr>
        <p:spPr/>
      </p:sp>
      <p:sp>
        <p:nvSpPr>
          <p:cNvPr id="1048883" name="Notes Placeholder 2"/>
          <p:cNvSpPr>
            <a:spLocks noGrp="1"/>
          </p:cNvSpPr>
          <p:nvPr>
            <p:ph type="body" idx="1"/>
          </p:nvPr>
        </p:nvSpPr>
        <p:spPr/>
        <p:txBody>
          <a:bodyPr/>
          <a:p>
            <a:endParaRPr dirty="0" lang="en-US"/>
          </a:p>
        </p:txBody>
      </p:sp>
      <p:sp>
        <p:nvSpPr>
          <p:cNvPr id="1048884" name="Slide Number Placeholder 3"/>
          <p:cNvSpPr>
            <a:spLocks noGrp="1"/>
          </p:cNvSpPr>
          <p:nvPr>
            <p:ph type="sldNum" sz="quarter" idx="10"/>
          </p:nvPr>
        </p:nvSpPr>
        <p:spPr/>
        <p:txBody>
          <a:bodyPr/>
          <a:p>
            <a:fld id="{F7021451-1387-4CA6-816F-3879F97B5CBC}" type="slidenum">
              <a:rPr lang="en-US"/>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15" name=""/>
        <p:cNvGrpSpPr/>
        <p:nvPr/>
      </p:nvGrpSpPr>
      <p:grpSpPr>
        <a:xfrm>
          <a:off x="0" y="0"/>
          <a:ext cx="0" cy="0"/>
          <a:chOff x="0" y="0"/>
          <a:chExt cx="0" cy="0"/>
        </a:xfrm>
      </p:grpSpPr>
      <p:sp>
        <p:nvSpPr>
          <p:cNvPr id="1048890" name="Slide Image Placeholder 1"/>
          <p:cNvSpPr>
            <a:spLocks noChangeAspect="1" noRot="1" noGrp="1"/>
          </p:cNvSpPr>
          <p:nvPr>
            <p:ph type="sldImg"/>
          </p:nvPr>
        </p:nvSpPr>
        <p:spPr/>
      </p:sp>
      <p:sp>
        <p:nvSpPr>
          <p:cNvPr id="1048891" name="Notes Placeholder 2"/>
          <p:cNvSpPr>
            <a:spLocks noGrp="1"/>
          </p:cNvSpPr>
          <p:nvPr>
            <p:ph type="body" idx="1"/>
          </p:nvPr>
        </p:nvSpPr>
        <p:spPr/>
        <p:txBody>
          <a:bodyPr/>
          <a:p>
            <a:endParaRPr dirty="0" lang="en-US"/>
          </a:p>
        </p:txBody>
      </p:sp>
      <p:sp>
        <p:nvSpPr>
          <p:cNvPr id="1048892" name="Slide Number Placeholder 3"/>
          <p:cNvSpPr>
            <a:spLocks noGrp="1"/>
          </p:cNvSpPr>
          <p:nvPr>
            <p:ph type="sldNum" sz="quarter" idx="10"/>
          </p:nvPr>
        </p:nvSpPr>
        <p:spPr/>
        <p:txBody>
          <a:bodyPr/>
          <a:p>
            <a:fld id="{F7021451-1387-4CA6-816F-3879F97B5CBC}" type="slidenum">
              <a:rPr lang="en-US"/>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048917" name="Slide Image Placeholder 1"/>
          <p:cNvSpPr>
            <a:spLocks noChangeAspect="1" noRot="1" noGrp="1"/>
          </p:cNvSpPr>
          <p:nvPr>
            <p:ph type="sldImg"/>
          </p:nvPr>
        </p:nvSpPr>
        <p:spPr/>
      </p:sp>
      <p:sp>
        <p:nvSpPr>
          <p:cNvPr id="1048918" name="Notes Placeholder 2"/>
          <p:cNvSpPr>
            <a:spLocks noGrp="1"/>
          </p:cNvSpPr>
          <p:nvPr>
            <p:ph type="body" idx="1"/>
          </p:nvPr>
        </p:nvSpPr>
        <p:spPr/>
        <p:txBody>
          <a:bodyPr/>
          <a:p>
            <a:endParaRPr dirty="0" lang="en-US"/>
          </a:p>
        </p:txBody>
      </p:sp>
      <p:sp>
        <p:nvSpPr>
          <p:cNvPr id="1048919" name="Slide Number Placeholder 3"/>
          <p:cNvSpPr>
            <a:spLocks noGrp="1"/>
          </p:cNvSpPr>
          <p:nvPr>
            <p:ph type="sldNum" sz="quarter" idx="10"/>
          </p:nvPr>
        </p:nvSpPr>
        <p:spPr/>
        <p:txBody>
          <a:bodyPr/>
          <a:p>
            <a:fld id="{F7021451-1387-4CA6-816F-3879F97B5CBC}" type="slidenum">
              <a:rPr lang="en-US"/>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
        <p:nvSpPr>
          <p:cNvPr id="1048926" name="Slide Image Placeholder 1"/>
          <p:cNvSpPr>
            <a:spLocks noChangeAspect="1" noRot="1" noGrp="1"/>
          </p:cNvSpPr>
          <p:nvPr>
            <p:ph type="sldImg"/>
          </p:nvPr>
        </p:nvSpPr>
        <p:spPr/>
      </p:sp>
      <p:sp>
        <p:nvSpPr>
          <p:cNvPr id="1048927" name="Notes Placeholder 2"/>
          <p:cNvSpPr>
            <a:spLocks noGrp="1"/>
          </p:cNvSpPr>
          <p:nvPr>
            <p:ph type="body" idx="1"/>
          </p:nvPr>
        </p:nvSpPr>
        <p:spPr/>
        <p:txBody>
          <a:bodyPr/>
          <a:p>
            <a:endParaRPr dirty="0" lang="en-US"/>
          </a:p>
        </p:txBody>
      </p:sp>
      <p:sp>
        <p:nvSpPr>
          <p:cNvPr id="1048928" name="Slide Number Placeholder 3"/>
          <p:cNvSpPr>
            <a:spLocks noGrp="1"/>
          </p:cNvSpPr>
          <p:nvPr>
            <p:ph type="sldNum" sz="quarter" idx="10"/>
          </p:nvPr>
        </p:nvSpPr>
        <p:spPr/>
        <p:txBody>
          <a:bodyPr/>
          <a:p>
            <a:fld id="{F7021451-1387-4CA6-816F-3879F97B5CBC}" type="slidenum">
              <a:rPr lang="en-US"/>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24" name=""/>
        <p:cNvGrpSpPr/>
        <p:nvPr/>
      </p:nvGrpSpPr>
      <p:grpSpPr>
        <a:xfrm>
          <a:off x="0" y="0"/>
          <a:ext cx="0" cy="0"/>
          <a:chOff x="0" y="0"/>
          <a:chExt cx="0" cy="0"/>
        </a:xfrm>
      </p:grpSpPr>
      <p:sp>
        <p:nvSpPr>
          <p:cNvPr id="1048937" name="Slide Image Placeholder 1"/>
          <p:cNvSpPr>
            <a:spLocks noChangeAspect="1" noRot="1" noGrp="1"/>
          </p:cNvSpPr>
          <p:nvPr>
            <p:ph type="sldImg"/>
          </p:nvPr>
        </p:nvSpPr>
        <p:spPr/>
      </p:sp>
      <p:sp>
        <p:nvSpPr>
          <p:cNvPr id="1048938" name="Notes Placeholder 2"/>
          <p:cNvSpPr>
            <a:spLocks noGrp="1"/>
          </p:cNvSpPr>
          <p:nvPr>
            <p:ph type="body" idx="1"/>
          </p:nvPr>
        </p:nvSpPr>
        <p:spPr/>
        <p:txBody>
          <a:bodyPr/>
          <a:p>
            <a:endParaRPr dirty="0" lang="en-US"/>
          </a:p>
        </p:txBody>
      </p:sp>
      <p:sp>
        <p:nvSpPr>
          <p:cNvPr id="1048939" name="Slide Number Placeholder 3"/>
          <p:cNvSpPr>
            <a:spLocks noGrp="1"/>
          </p:cNvSpPr>
          <p:nvPr>
            <p:ph type="sldNum" sz="quarter" idx="10"/>
          </p:nvPr>
        </p:nvSpPr>
        <p:spPr/>
        <p:txBody>
          <a:bodyPr/>
          <a:p>
            <a:fld id="{F7021451-1387-4CA6-816F-3879F97B5CBC}" type="slidenum">
              <a:rPr lang="en-US"/>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42"/>
        </a:solidFill>
        <a:effectLst/>
      </p:bgPr>
    </p:bg>
    <p:spTree>
      <p:nvGrpSpPr>
        <p:cNvPr id="15" name=""/>
        <p:cNvGrpSpPr/>
        <p:nvPr/>
      </p:nvGrpSpPr>
      <p:grpSpPr>
        <a:xfrm>
          <a:off x="0" y="0"/>
          <a:ext cx="0" cy="0"/>
          <a:chOff x="0" y="0"/>
          <a:chExt cx="0" cy="0"/>
        </a:xfrm>
      </p:grpSpPr>
      <p:sp>
        <p:nvSpPr>
          <p:cNvPr id="1048576" name="Shape 0"/>
          <p:cNvSpPr/>
          <p:nvPr/>
        </p:nvSpPr>
        <p:spPr>
          <a:xfrm>
            <a:off x="0" y="0"/>
            <a:ext cx="4206240" cy="6858000"/>
          </a:xfrm>
          <a:prstGeom prst="rect"/>
          <a:solidFill>
            <a:srgbClr val="0A1D30"/>
          </a:solidFill>
        </p:spPr>
      </p:sp>
      <p:sp>
        <p:nvSpPr>
          <p:cNvPr id="1048577" name="Text 1"/>
          <p:cNvSpPr/>
          <p:nvPr/>
        </p:nvSpPr>
        <p:spPr>
          <a:xfrm>
            <a:off x="640080" y="2743200"/>
            <a:ext cx="3017520" cy="457200"/>
          </a:xfrm>
          <a:prstGeom prst="rect"/>
          <a:noFill/>
        </p:spPr>
        <p:txBody>
          <a:bodyPr anchor="ctr" bIns="0" lIns="0" rIns="0" rtlCol="0" tIns="0" wrap="square"/>
          <a:p>
            <a:pPr indent="0" marL="0">
              <a:buNone/>
            </a:pPr>
            <a:r>
              <a:rPr b="1" dirty="0" sz="1600" lang="en-US">
                <a:solidFill>
                  <a:srgbClr val="00B8A9"/>
                </a:solidFill>
                <a:latin typeface="Calibri" pitchFamily="34" charset="0"/>
                <a:ea typeface="Calibri" pitchFamily="34" charset="-122"/>
                <a:cs typeface="Calibri" pitchFamily="34" charset="-120"/>
              </a:rPr>
              <a:t>LECTURE 07</a:t>
            </a:r>
            <a:endParaRPr dirty="0" sz="1600" lang="en-US"/>
          </a:p>
        </p:txBody>
      </p:sp>
      <p:sp>
        <p:nvSpPr>
          <p:cNvPr id="1048578" name="Text 2"/>
          <p:cNvSpPr/>
          <p:nvPr/>
        </p:nvSpPr>
        <p:spPr>
          <a:xfrm>
            <a:off x="457200" y="3108960"/>
            <a:ext cx="3291840" cy="2011680"/>
          </a:xfrm>
          <a:prstGeom prst="rect"/>
          <a:noFill/>
        </p:spPr>
        <p:txBody>
          <a:bodyPr anchor="ctr" bIns="0" lIns="0" rIns="0" rtlCol="0" tIns="0" wrap="square"/>
          <a:p>
            <a:pPr indent="0" marL="0">
              <a:buNone/>
            </a:pPr>
            <a:r>
              <a:rPr b="1" dirty="0" sz="10000" lang="en-US">
                <a:solidFill>
                  <a:srgbClr val="1C3A55"/>
                </a:solidFill>
                <a:latin typeface="Calibri" pitchFamily="34" charset="0"/>
                <a:ea typeface="Calibri" pitchFamily="34" charset="-122"/>
                <a:cs typeface="Calibri" pitchFamily="34" charset="-120"/>
              </a:rPr>
              <a:t>07</a:t>
            </a:r>
            <a:endParaRPr dirty="0" sz="10000" lang="en-US"/>
          </a:p>
        </p:txBody>
      </p:sp>
      <p:sp>
        <p:nvSpPr>
          <p:cNvPr id="1048579" name="Text 3"/>
          <p:cNvSpPr/>
          <p:nvPr/>
        </p:nvSpPr>
        <p:spPr>
          <a:xfrm>
            <a:off x="4663440" y="2423160"/>
            <a:ext cx="6949440" cy="1463040"/>
          </a:xfrm>
          <a:prstGeom prst="rect"/>
          <a:noFill/>
        </p:spPr>
        <p:txBody>
          <a:bodyPr anchor="t" bIns="0" lIns="0" rIns="0" rtlCol="0" tIns="0" wrap="square"/>
          <a:p>
            <a:pPr indent="0" marL="0">
              <a:buNone/>
            </a:pPr>
            <a:r>
              <a:rPr b="1" dirty="0" sz="3400" lang="en-US">
                <a:solidFill>
                  <a:srgbClr val="FFFFFF"/>
                </a:solidFill>
                <a:latin typeface="Calibri" pitchFamily="34" charset="0"/>
                <a:ea typeface="Calibri" pitchFamily="34" charset="-122"/>
                <a:cs typeface="Calibri" pitchFamily="34" charset="-120"/>
              </a:rPr>
              <a:t>Discrete-Event Simulation</a:t>
            </a:r>
            <a:endParaRPr dirty="0" sz="3400" lang="en-US"/>
          </a:p>
        </p:txBody>
      </p:sp>
      <p:sp>
        <p:nvSpPr>
          <p:cNvPr id="1048580" name="Text 4"/>
          <p:cNvSpPr/>
          <p:nvPr/>
        </p:nvSpPr>
        <p:spPr>
          <a:xfrm>
            <a:off x="4709160" y="3977639"/>
            <a:ext cx="6766560" cy="1732695"/>
          </a:xfrm>
          <a:prstGeom prst="rect"/>
          <a:noFill/>
        </p:spPr>
        <p:txBody>
          <a:bodyPr anchor="t" bIns="0" lIns="0" rIns="0" rtlCol="0" tIns="0" wrap="square"/>
          <a:p>
            <a:pPr indent="0" marL="0">
              <a:lnSpc>
                <a:spcPct val="130000"/>
              </a:lnSpc>
              <a:buNone/>
            </a:pPr>
            <a:r>
              <a:rPr dirty="0" sz="2400" lang="en-US">
                <a:solidFill>
                  <a:srgbClr val="C7D0D9"/>
                </a:solidFill>
                <a:latin typeface="Calibri" pitchFamily="34" charset="0"/>
                <a:ea typeface="Calibri" pitchFamily="34" charset="-122"/>
                <a:cs typeface="Calibri" pitchFamily="34" charset="-120"/>
              </a:rPr>
              <a:t>When analytical models aren't enough: building, running, and validating a discrete-event simulation, including random variate generation.</a:t>
            </a:r>
            <a:endParaRPr dirty="0" sz="24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38" name=""/>
        <p:cNvGrpSpPr/>
        <p:nvPr/>
      </p:nvGrpSpPr>
      <p:grpSpPr>
        <a:xfrm>
          <a:off x="0" y="0"/>
          <a:ext cx="0" cy="0"/>
          <a:chOff x="0" y="0"/>
          <a:chExt cx="0" cy="0"/>
        </a:xfrm>
      </p:grpSpPr>
      <p:sp>
        <p:nvSpPr>
          <p:cNvPr id="1048584" name="Text 0"/>
          <p:cNvSpPr/>
          <p:nvPr/>
        </p:nvSpPr>
        <p:spPr>
          <a:xfrm>
            <a:off x="548640" y="411480"/>
            <a:ext cx="5486400" cy="640080"/>
          </a:xfrm>
          <a:prstGeom prst="rect"/>
          <a:noFill/>
        </p:spPr>
        <p:txBody>
          <a:bodyPr anchor="ctr" bIns="0" lIns="0" rIns="0" rtlCol="0" tIns="0" wrap="square"/>
          <a:p>
            <a:pPr indent="0" marL="0">
              <a:buNone/>
            </a:pPr>
            <a:r>
              <a:rPr b="1" dirty="0" sz="3000" lang="en-US">
                <a:solidFill>
                  <a:srgbClr val="0F2942"/>
                </a:solidFill>
                <a:latin typeface="Calibri" pitchFamily="34" charset="0"/>
                <a:ea typeface="Calibri" pitchFamily="34" charset="-122"/>
                <a:cs typeface="Calibri" pitchFamily="34" charset="-120"/>
              </a:rPr>
              <a:t>Agenda</a:t>
            </a:r>
            <a:endParaRPr dirty="0" sz="3000" lang="en-US"/>
          </a:p>
        </p:txBody>
      </p:sp>
      <p:sp>
        <p:nvSpPr>
          <p:cNvPr id="1048585" name="Shape 1"/>
          <p:cNvSpPr/>
          <p:nvPr/>
        </p:nvSpPr>
        <p:spPr>
          <a:xfrm>
            <a:off x="566928" y="1097280"/>
            <a:ext cx="457200" cy="54864"/>
          </a:xfrm>
          <a:prstGeom prst="rect"/>
          <a:solidFill>
            <a:srgbClr val="00B8A9"/>
          </a:solidFill>
        </p:spPr>
      </p:sp>
      <p:sp>
        <p:nvSpPr>
          <p:cNvPr id="1048586" name="Shape 2"/>
          <p:cNvSpPr/>
          <p:nvPr/>
        </p:nvSpPr>
        <p:spPr>
          <a:xfrm>
            <a:off x="640080" y="1508760"/>
            <a:ext cx="457200" cy="457200"/>
          </a:xfrm>
          <a:prstGeom prst="roundRect">
            <a:avLst>
              <a:gd name="adj" fmla="val 16000"/>
            </a:avLst>
          </a:prstGeom>
          <a:solidFill>
            <a:srgbClr val="EAF6F5"/>
          </a:solidFill>
        </p:spPr>
      </p:sp>
      <p:sp>
        <p:nvSpPr>
          <p:cNvPr id="1048587" name="Text 3"/>
          <p:cNvSpPr/>
          <p:nvPr/>
        </p:nvSpPr>
        <p:spPr>
          <a:xfrm>
            <a:off x="640080" y="150876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1</a:t>
            </a:r>
            <a:endParaRPr dirty="0" sz="1600" lang="en-US"/>
          </a:p>
        </p:txBody>
      </p:sp>
      <p:sp>
        <p:nvSpPr>
          <p:cNvPr id="1048588" name="Text 4"/>
          <p:cNvSpPr/>
          <p:nvPr/>
        </p:nvSpPr>
        <p:spPr>
          <a:xfrm>
            <a:off x="1234440" y="1481328"/>
            <a:ext cx="10287000"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Why simulate when we already have analytical formulas?</a:t>
            </a:r>
            <a:endParaRPr dirty="0" sz="2400" lang="en-US"/>
          </a:p>
        </p:txBody>
      </p:sp>
      <p:sp>
        <p:nvSpPr>
          <p:cNvPr id="1048589" name="Shape 5"/>
          <p:cNvSpPr/>
          <p:nvPr/>
        </p:nvSpPr>
        <p:spPr>
          <a:xfrm>
            <a:off x="640080" y="2301240"/>
            <a:ext cx="457200" cy="457200"/>
          </a:xfrm>
          <a:prstGeom prst="roundRect">
            <a:avLst>
              <a:gd name="adj" fmla="val 16000"/>
            </a:avLst>
          </a:prstGeom>
          <a:solidFill>
            <a:srgbClr val="EAF6F5"/>
          </a:solidFill>
        </p:spPr>
      </p:sp>
      <p:sp>
        <p:nvSpPr>
          <p:cNvPr id="1048590" name="Text 6"/>
          <p:cNvSpPr/>
          <p:nvPr/>
        </p:nvSpPr>
        <p:spPr>
          <a:xfrm>
            <a:off x="640080" y="230124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2</a:t>
            </a:r>
            <a:endParaRPr dirty="0" sz="1600" lang="en-US"/>
          </a:p>
        </p:txBody>
      </p:sp>
      <p:sp>
        <p:nvSpPr>
          <p:cNvPr id="1048591" name="Text 7"/>
          <p:cNvSpPr/>
          <p:nvPr/>
        </p:nvSpPr>
        <p:spPr>
          <a:xfrm>
            <a:off x="1234440" y="2273808"/>
            <a:ext cx="10287000"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The core mechanics of discrete-event simulation (DES)</a:t>
            </a:r>
            <a:endParaRPr dirty="0" sz="2400" lang="en-US"/>
          </a:p>
        </p:txBody>
      </p:sp>
      <p:sp>
        <p:nvSpPr>
          <p:cNvPr id="1048592" name="Shape 8"/>
          <p:cNvSpPr/>
          <p:nvPr/>
        </p:nvSpPr>
        <p:spPr>
          <a:xfrm>
            <a:off x="640080" y="3093720"/>
            <a:ext cx="457200" cy="457200"/>
          </a:xfrm>
          <a:prstGeom prst="roundRect">
            <a:avLst>
              <a:gd name="adj" fmla="val 16000"/>
            </a:avLst>
          </a:prstGeom>
          <a:solidFill>
            <a:srgbClr val="EAF6F5"/>
          </a:solidFill>
        </p:spPr>
      </p:sp>
      <p:sp>
        <p:nvSpPr>
          <p:cNvPr id="1048593" name="Text 9"/>
          <p:cNvSpPr/>
          <p:nvPr/>
        </p:nvSpPr>
        <p:spPr>
          <a:xfrm>
            <a:off x="640080" y="309372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3</a:t>
            </a:r>
            <a:endParaRPr dirty="0" sz="1600" lang="en-US"/>
          </a:p>
        </p:txBody>
      </p:sp>
      <p:sp>
        <p:nvSpPr>
          <p:cNvPr id="1048594" name="Text 10"/>
          <p:cNvSpPr/>
          <p:nvPr/>
        </p:nvSpPr>
        <p:spPr>
          <a:xfrm>
            <a:off x="1234440" y="3066288"/>
            <a:ext cx="10287000"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The event list and simulation clock</a:t>
            </a:r>
            <a:endParaRPr dirty="0" sz="2400" lang="en-US"/>
          </a:p>
        </p:txBody>
      </p:sp>
      <p:sp>
        <p:nvSpPr>
          <p:cNvPr id="1048595" name="Shape 11"/>
          <p:cNvSpPr/>
          <p:nvPr/>
        </p:nvSpPr>
        <p:spPr>
          <a:xfrm>
            <a:off x="640080" y="3886200"/>
            <a:ext cx="457200" cy="457200"/>
          </a:xfrm>
          <a:prstGeom prst="roundRect">
            <a:avLst>
              <a:gd name="adj" fmla="val 16000"/>
            </a:avLst>
          </a:prstGeom>
          <a:solidFill>
            <a:srgbClr val="EAF6F5"/>
          </a:solidFill>
        </p:spPr>
      </p:sp>
      <p:sp>
        <p:nvSpPr>
          <p:cNvPr id="1048596" name="Text 12"/>
          <p:cNvSpPr/>
          <p:nvPr/>
        </p:nvSpPr>
        <p:spPr>
          <a:xfrm>
            <a:off x="640080" y="388620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4</a:t>
            </a:r>
            <a:endParaRPr dirty="0" sz="1600" lang="en-US"/>
          </a:p>
        </p:txBody>
      </p:sp>
      <p:sp>
        <p:nvSpPr>
          <p:cNvPr id="1048597" name="Text 13"/>
          <p:cNvSpPr/>
          <p:nvPr/>
        </p:nvSpPr>
        <p:spPr>
          <a:xfrm>
            <a:off x="1234440" y="3858768"/>
            <a:ext cx="10287000"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Generating random numbers and random variates</a:t>
            </a:r>
            <a:endParaRPr dirty="0" sz="2400" lang="en-US"/>
          </a:p>
        </p:txBody>
      </p:sp>
      <p:sp>
        <p:nvSpPr>
          <p:cNvPr id="1048598" name="Shape 14"/>
          <p:cNvSpPr/>
          <p:nvPr/>
        </p:nvSpPr>
        <p:spPr>
          <a:xfrm>
            <a:off x="640080" y="4678680"/>
            <a:ext cx="457200" cy="457200"/>
          </a:xfrm>
          <a:prstGeom prst="roundRect">
            <a:avLst>
              <a:gd name="adj" fmla="val 16000"/>
            </a:avLst>
          </a:prstGeom>
          <a:solidFill>
            <a:srgbClr val="EAF6F5"/>
          </a:solidFill>
        </p:spPr>
      </p:sp>
      <p:sp>
        <p:nvSpPr>
          <p:cNvPr id="1048599" name="Text 15"/>
          <p:cNvSpPr/>
          <p:nvPr/>
        </p:nvSpPr>
        <p:spPr>
          <a:xfrm>
            <a:off x="640080" y="467868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5</a:t>
            </a:r>
            <a:endParaRPr dirty="0" sz="1600" lang="en-US"/>
          </a:p>
        </p:txBody>
      </p:sp>
      <p:sp>
        <p:nvSpPr>
          <p:cNvPr id="1048600" name="Text 16"/>
          <p:cNvSpPr/>
          <p:nvPr/>
        </p:nvSpPr>
        <p:spPr>
          <a:xfrm>
            <a:off x="1234440" y="4651248"/>
            <a:ext cx="10287000"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Simulation output analysis: warm-up, replication, and confidence</a:t>
            </a:r>
            <a:endParaRPr dirty="0" sz="2400" lang="en-US"/>
          </a:p>
        </p:txBody>
      </p:sp>
      <p:sp>
        <p:nvSpPr>
          <p:cNvPr id="1048601" name="Shape 17"/>
          <p:cNvSpPr/>
          <p:nvPr/>
        </p:nvSpPr>
        <p:spPr>
          <a:xfrm>
            <a:off x="640080" y="5471160"/>
            <a:ext cx="457200" cy="457200"/>
          </a:xfrm>
          <a:prstGeom prst="roundRect">
            <a:avLst>
              <a:gd name="adj" fmla="val 16000"/>
            </a:avLst>
          </a:prstGeom>
          <a:solidFill>
            <a:srgbClr val="EAF6F5"/>
          </a:solidFill>
        </p:spPr>
      </p:sp>
      <p:sp>
        <p:nvSpPr>
          <p:cNvPr id="1048602" name="Text 18"/>
          <p:cNvSpPr/>
          <p:nvPr/>
        </p:nvSpPr>
        <p:spPr>
          <a:xfrm>
            <a:off x="640080" y="5471160"/>
            <a:ext cx="457200" cy="457200"/>
          </a:xfrm>
          <a:prstGeom prst="rect"/>
          <a:noFill/>
        </p:spPr>
        <p:txBody>
          <a:bodyPr anchor="ctr" bIns="0" lIns="0" rIns="0" rtlCol="0" tIns="0" wrap="square"/>
          <a:p>
            <a:pPr algn="ctr" indent="0" marL="0">
              <a:buNone/>
            </a:pPr>
            <a:r>
              <a:rPr b="1" dirty="0" sz="1600" lang="en-US">
                <a:solidFill>
                  <a:srgbClr val="00B8A9"/>
                </a:solidFill>
                <a:latin typeface="Calibri" pitchFamily="34" charset="0"/>
                <a:ea typeface="Calibri" pitchFamily="34" charset="-122"/>
                <a:cs typeface="Calibri" pitchFamily="34" charset="-120"/>
              </a:rPr>
              <a:t>6</a:t>
            </a:r>
            <a:endParaRPr dirty="0" sz="1600" lang="en-US"/>
          </a:p>
        </p:txBody>
      </p:sp>
      <p:sp>
        <p:nvSpPr>
          <p:cNvPr id="1048603" name="Text 19"/>
          <p:cNvSpPr/>
          <p:nvPr/>
        </p:nvSpPr>
        <p:spPr>
          <a:xfrm>
            <a:off x="1234440" y="5443728"/>
            <a:ext cx="10287000" cy="548640"/>
          </a:xfrm>
          <a:prstGeom prst="rect"/>
          <a:noFill/>
        </p:spPr>
        <p:txBody>
          <a:bodyPr anchor="ctr" bIns="0" lIns="0" rIns="0" rtlCol="0" tIns="0" wrap="square"/>
          <a:p>
            <a:pPr indent="0" marL="0">
              <a:buNone/>
            </a:pPr>
            <a:r>
              <a:rPr dirty="0" sz="2400" lang="en-US">
                <a:solidFill>
                  <a:srgbClr val="33394A"/>
                </a:solidFill>
                <a:latin typeface="Calibri" pitchFamily="34" charset="0"/>
                <a:ea typeface="Calibri" pitchFamily="34" charset="-122"/>
                <a:cs typeface="Calibri" pitchFamily="34" charset="-120"/>
              </a:rPr>
              <a:t>Validating a simulation against analytical and real-world results</a:t>
            </a:r>
            <a:endParaRPr dirty="0" sz="2400" lang="en-US"/>
          </a:p>
        </p:txBody>
      </p:sp>
      <p:sp>
        <p:nvSpPr>
          <p:cNvPr id="1048604" name="Text 20"/>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605" name="Text 21"/>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a:t>
            </a:r>
            <a:endParaRPr dirty="0" sz="9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41" name=""/>
        <p:cNvGrpSpPr/>
        <p:nvPr/>
      </p:nvGrpSpPr>
      <p:grpSpPr>
        <a:xfrm>
          <a:off x="0" y="0"/>
          <a:ext cx="0" cy="0"/>
          <a:chOff x="0" y="0"/>
          <a:chExt cx="0" cy="0"/>
        </a:xfrm>
      </p:grpSpPr>
      <p:sp>
        <p:nvSpPr>
          <p:cNvPr id="104860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Why Simulate At All?</a:t>
            </a:r>
            <a:endParaRPr dirty="0" sz="2600" lang="en-US"/>
          </a:p>
        </p:txBody>
      </p:sp>
      <p:sp>
        <p:nvSpPr>
          <p:cNvPr id="1048610" name="Shape 1"/>
          <p:cNvSpPr/>
          <p:nvPr/>
        </p:nvSpPr>
        <p:spPr>
          <a:xfrm>
            <a:off x="566928" y="1005840"/>
            <a:ext cx="411480" cy="45720"/>
          </a:xfrm>
          <a:prstGeom prst="rect"/>
          <a:solidFill>
            <a:srgbClr val="00B8A9"/>
          </a:solidFill>
        </p:spPr>
      </p:sp>
      <p:sp>
        <p:nvSpPr>
          <p:cNvPr id="1048611" name="Text 2"/>
          <p:cNvSpPr/>
          <p:nvPr/>
        </p:nvSpPr>
        <p:spPr>
          <a:xfrm>
            <a:off x="594360" y="1325880"/>
            <a:ext cx="10881360" cy="5257800"/>
          </a:xfrm>
          <a:prstGeom prst="rect"/>
          <a:noFill/>
        </p:spPr>
        <p:txBody>
          <a:bodyPr anchor="t" bIns="0" lIns="0" rIns="0" rtlCol="0" tIns="0" wrap="square"/>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Lectures 4-6 gave us powerful closed-form formulas — so why do we need simulation too?</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Analytical models require simplifying assumptions: exponential distributions, steady-state, simple network topologies</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Real systems often violate these assumptions: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Non-stationary arrivals (recall Lecture 4's discussion of flash sales)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Complex routing logic, priorities, retries, and timeouts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Transient behavior — what happens in the first 60 seconds after a deploy, not just long-run averages</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Simulation trades mathematical elegance for flexibility: it can model almost anything you can precisely describe in code</a:t>
            </a:r>
            <a:endParaRPr dirty="0" sz="2800" lang="en-US"/>
          </a:p>
        </p:txBody>
      </p:sp>
      <p:sp>
        <p:nvSpPr>
          <p:cNvPr id="1048612"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613"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3</a:t>
            </a:r>
            <a:endParaRPr dirty="0" sz="90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44" name=""/>
        <p:cNvGrpSpPr/>
        <p:nvPr/>
      </p:nvGrpSpPr>
      <p:grpSpPr>
        <a:xfrm>
          <a:off x="0" y="0"/>
          <a:ext cx="0" cy="0"/>
          <a:chOff x="0" y="0"/>
          <a:chExt cx="0" cy="0"/>
        </a:xfrm>
      </p:grpSpPr>
      <p:sp>
        <p:nvSpPr>
          <p:cNvPr id="1048617"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Analytical Models vs. Simulation — Revisited</a:t>
            </a:r>
            <a:endParaRPr dirty="0" sz="2600" lang="en-US"/>
          </a:p>
        </p:txBody>
      </p:sp>
      <p:sp>
        <p:nvSpPr>
          <p:cNvPr id="1048618" name="Shape 1"/>
          <p:cNvSpPr/>
          <p:nvPr/>
        </p:nvSpPr>
        <p:spPr>
          <a:xfrm>
            <a:off x="566928" y="1005840"/>
            <a:ext cx="411480" cy="45720"/>
          </a:xfrm>
          <a:prstGeom prst="rect"/>
          <a:solidFill>
            <a:srgbClr val="00B8A9"/>
          </a:solidFill>
        </p:spPr>
      </p:sp>
      <p:sp>
        <p:nvSpPr>
          <p:cNvPr id="1048619" name="Shape 2"/>
          <p:cNvSpPr/>
          <p:nvPr/>
        </p:nvSpPr>
        <p:spPr>
          <a:xfrm>
            <a:off x="548640" y="1325880"/>
            <a:ext cx="5349240" cy="594360"/>
          </a:xfrm>
          <a:prstGeom prst="roundRect">
            <a:avLst>
              <a:gd name="adj" fmla="val 12308"/>
            </a:avLst>
          </a:prstGeom>
          <a:solidFill>
            <a:srgbClr val="00A79A"/>
          </a:solidFill>
        </p:spPr>
      </p:sp>
      <p:sp>
        <p:nvSpPr>
          <p:cNvPr id="1048620" name="Text 3"/>
          <p:cNvSpPr/>
          <p:nvPr/>
        </p:nvSpPr>
        <p:spPr>
          <a:xfrm>
            <a:off x="548640" y="1325880"/>
            <a:ext cx="5349240" cy="594360"/>
          </a:xfrm>
          <a:prstGeom prst="rect"/>
          <a:noFill/>
        </p:spPr>
        <p:txBody>
          <a:bodyPr anchor="ctr" bIns="0" lIns="0" rIns="0" rtlCol="0" tIns="0" wrap="square"/>
          <a:p>
            <a:pPr algn="ctr" indent="0" marL="0">
              <a:buNone/>
            </a:pPr>
            <a:r>
              <a:rPr b="1" dirty="0" sz="1700" lang="en-US">
                <a:solidFill>
                  <a:srgbClr val="FFFFFF"/>
                </a:solidFill>
                <a:latin typeface="Calibri" pitchFamily="34" charset="0"/>
                <a:ea typeface="Calibri" pitchFamily="34" charset="-122"/>
                <a:cs typeface="Calibri" pitchFamily="34" charset="-120"/>
              </a:rPr>
              <a:t>Analytical (Lectures 4-6)</a:t>
            </a:r>
            <a:endParaRPr dirty="0" sz="1700" lang="en-US"/>
          </a:p>
        </p:txBody>
      </p:sp>
      <p:sp>
        <p:nvSpPr>
          <p:cNvPr id="1048621" name="Shape 4"/>
          <p:cNvSpPr/>
          <p:nvPr/>
        </p:nvSpPr>
        <p:spPr>
          <a:xfrm>
            <a:off x="6263640" y="1325880"/>
            <a:ext cx="5349240" cy="594360"/>
          </a:xfrm>
          <a:prstGeom prst="roundRect">
            <a:avLst>
              <a:gd name="adj" fmla="val 12308"/>
            </a:avLst>
          </a:prstGeom>
          <a:solidFill>
            <a:srgbClr val="44546A"/>
          </a:solidFill>
        </p:spPr>
      </p:sp>
      <p:sp>
        <p:nvSpPr>
          <p:cNvPr id="1048622" name="Text 5"/>
          <p:cNvSpPr/>
          <p:nvPr/>
        </p:nvSpPr>
        <p:spPr>
          <a:xfrm>
            <a:off x="6263640" y="1325880"/>
            <a:ext cx="5349240" cy="594360"/>
          </a:xfrm>
          <a:prstGeom prst="rect"/>
          <a:noFill/>
        </p:spPr>
        <p:txBody>
          <a:bodyPr anchor="ctr" bIns="0" lIns="0" rIns="0" rtlCol="0" tIns="0" wrap="square"/>
          <a:p>
            <a:pPr algn="ctr" indent="0" marL="0">
              <a:buNone/>
            </a:pPr>
            <a:r>
              <a:rPr b="1" dirty="0" sz="1700" lang="en-US">
                <a:solidFill>
                  <a:srgbClr val="FFFFFF"/>
                </a:solidFill>
                <a:latin typeface="Calibri" pitchFamily="34" charset="0"/>
                <a:ea typeface="Calibri" pitchFamily="34" charset="-122"/>
                <a:cs typeface="Calibri" pitchFamily="34" charset="-120"/>
              </a:rPr>
              <a:t>Simulation (This Lecture)</a:t>
            </a:r>
            <a:endParaRPr dirty="0" sz="1700" lang="en-US"/>
          </a:p>
        </p:txBody>
      </p:sp>
      <p:sp>
        <p:nvSpPr>
          <p:cNvPr id="1048623" name="Shape 6"/>
          <p:cNvSpPr/>
          <p:nvPr/>
        </p:nvSpPr>
        <p:spPr>
          <a:xfrm>
            <a:off x="548640" y="2057400"/>
            <a:ext cx="5349240" cy="4297680"/>
          </a:xfrm>
          <a:prstGeom prst="roundRect">
            <a:avLst>
              <a:gd name="adj" fmla="val 1702"/>
            </a:avLst>
          </a:prstGeom>
          <a:solidFill>
            <a:srgbClr val="F4F6F8"/>
          </a:solidFill>
        </p:spPr>
      </p:sp>
      <p:sp>
        <p:nvSpPr>
          <p:cNvPr id="1048624" name="Shape 7"/>
          <p:cNvSpPr/>
          <p:nvPr/>
        </p:nvSpPr>
        <p:spPr>
          <a:xfrm>
            <a:off x="6263640" y="2057400"/>
            <a:ext cx="5349240" cy="4297680"/>
          </a:xfrm>
          <a:prstGeom prst="roundRect">
            <a:avLst>
              <a:gd name="adj" fmla="val 1702"/>
            </a:avLst>
          </a:prstGeom>
          <a:solidFill>
            <a:srgbClr val="F4F6F8"/>
          </a:solidFill>
        </p:spPr>
      </p:sp>
      <p:sp>
        <p:nvSpPr>
          <p:cNvPr id="1048625" name="Text 8"/>
          <p:cNvSpPr/>
          <p:nvPr/>
        </p:nvSpPr>
        <p:spPr>
          <a:xfrm>
            <a:off x="822960" y="2286000"/>
            <a:ext cx="4846320" cy="3931920"/>
          </a:xfrm>
          <a:prstGeom prst="rect"/>
          <a:noFill/>
        </p:spPr>
        <p:txBody>
          <a:bodyPr anchor="t" bIns="0" lIns="0" rIns="0" rtlCol="0" tIns="0" wrap="square"/>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Instant, closed-form answers</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Requires simplifying assumptions</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Gives exact averages, sometimes exact distributions</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Hard to model complex logic (retries, priorities, failures)</a:t>
            </a:r>
            <a:endParaRPr dirty="0" sz="2400" lang="en-US"/>
          </a:p>
        </p:txBody>
      </p:sp>
      <p:sp>
        <p:nvSpPr>
          <p:cNvPr id="1048626" name="Text 9"/>
          <p:cNvSpPr/>
          <p:nvPr/>
        </p:nvSpPr>
        <p:spPr>
          <a:xfrm>
            <a:off x="6537960" y="2286000"/>
            <a:ext cx="4846320" cy="3931920"/>
          </a:xfrm>
          <a:prstGeom prst="rect"/>
          <a:noFill/>
        </p:spPr>
        <p:txBody>
          <a:bodyPr anchor="t" bIns="0" lIns="0" rIns="0" rtlCol="0" tIns="0" wrap="square"/>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Requires running (computing) the model over time</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Can model arbitrary complexity and logic</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Gives statistical estimates, with sampling uncertainty</a:t>
            </a:r>
            <a:endParaRPr dirty="0" sz="2400" lang="en-US"/>
          </a:p>
          <a:p>
            <a:pPr indent="-342900" marL="342900">
              <a:spcAft>
                <a:spcPts val="1000"/>
              </a:spcAft>
              <a:buSzPct val="100000"/>
              <a:buChar char="•"/>
            </a:pPr>
            <a:r>
              <a:rPr dirty="0" sz="2400" lang="en-US">
                <a:solidFill>
                  <a:srgbClr val="1A1A2E"/>
                </a:solidFill>
                <a:latin typeface="Calibri" pitchFamily="34" charset="0"/>
                <a:ea typeface="Calibri" pitchFamily="34" charset="-122"/>
                <a:cs typeface="Calibri" pitchFamily="34" charset="-120"/>
              </a:rPr>
              <a:t>Naturally captures transient and non-steady-state behavior</a:t>
            </a:r>
            <a:endParaRPr dirty="0" sz="2400" lang="en-US"/>
          </a:p>
        </p:txBody>
      </p:sp>
      <p:sp>
        <p:nvSpPr>
          <p:cNvPr id="1048627" name="Text 10"/>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628" name="Text 11"/>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4</a:t>
            </a:r>
            <a:endParaRPr dirty="0" sz="90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942"/>
        </a:solidFill>
        <a:effectLst/>
      </p:bgPr>
    </p:bg>
    <p:spTree>
      <p:nvGrpSpPr>
        <p:cNvPr id="47" name=""/>
        <p:cNvGrpSpPr/>
        <p:nvPr/>
      </p:nvGrpSpPr>
      <p:grpSpPr>
        <a:xfrm>
          <a:off x="0" y="0"/>
          <a:ext cx="0" cy="0"/>
          <a:chOff x="0" y="0"/>
          <a:chExt cx="0" cy="0"/>
        </a:xfrm>
      </p:grpSpPr>
      <p:sp>
        <p:nvSpPr>
          <p:cNvPr id="1048632" name="Shape 0"/>
          <p:cNvSpPr/>
          <p:nvPr/>
        </p:nvSpPr>
        <p:spPr>
          <a:xfrm>
            <a:off x="0" y="0"/>
            <a:ext cx="228600" cy="6858000"/>
          </a:xfrm>
          <a:prstGeom prst="rect"/>
          <a:solidFill>
            <a:srgbClr val="00B8A9"/>
          </a:solidFill>
        </p:spPr>
      </p:sp>
      <p:sp>
        <p:nvSpPr>
          <p:cNvPr id="1048633"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634"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Discrete-Event Simulation (DES)</a:t>
            </a:r>
            <a:endParaRPr dirty="0" sz="3000" lang="en-US"/>
          </a:p>
        </p:txBody>
      </p:sp>
      <p:sp>
        <p:nvSpPr>
          <p:cNvPr id="1048635"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“A modeling technique in which a system is represented as a sequence of discrete events occurring at specific points in simulated time, with the simulation state changing only at those event points, not continuously.”</a:t>
            </a:r>
            <a:endParaRPr dirty="0" sz="2400" lang="en-US"/>
          </a:p>
        </p:txBody>
      </p:sp>
      <p:sp>
        <p:nvSpPr>
          <p:cNvPr id="1048636" name="Text 4"/>
          <p:cNvSpPr/>
          <p:nvPr/>
        </p:nvSpPr>
        <p:spPr>
          <a:xfrm>
            <a:off x="822960" y="4114800"/>
            <a:ext cx="10911840" cy="242316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'Discrete' refers to time jumping directly from one event to the next, skipping the (uneventful) time in between — this is what makes DES computationally efficient</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Contrast with continuous simulation, which advances time in small fixed steps regardless of whether anything happens — DES is far more efficient for queueing-style systems</a:t>
            </a:r>
            <a:endParaRPr dirty="0" sz="2400" lang="en-US"/>
          </a:p>
        </p:txBody>
      </p:sp>
      <p:sp>
        <p:nvSpPr>
          <p:cNvPr id="1048637"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638"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5</a:t>
            </a:r>
            <a:endParaRPr dirty="0" sz="9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50" name=""/>
        <p:cNvGrpSpPr/>
        <p:nvPr/>
      </p:nvGrpSpPr>
      <p:grpSpPr>
        <a:xfrm>
          <a:off x="0" y="0"/>
          <a:ext cx="0" cy="0"/>
          <a:chOff x="0" y="0"/>
          <a:chExt cx="0" cy="0"/>
        </a:xfrm>
      </p:grpSpPr>
      <p:sp>
        <p:nvSpPr>
          <p:cNvPr id="1048642"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The Core Components of a DES</a:t>
            </a:r>
            <a:endParaRPr dirty="0" sz="2600" lang="en-US"/>
          </a:p>
        </p:txBody>
      </p:sp>
      <p:sp>
        <p:nvSpPr>
          <p:cNvPr id="1048643" name="Shape 1"/>
          <p:cNvSpPr/>
          <p:nvPr/>
        </p:nvSpPr>
        <p:spPr>
          <a:xfrm>
            <a:off x="566928" y="1005840"/>
            <a:ext cx="411480" cy="45720"/>
          </a:xfrm>
          <a:prstGeom prst="rect"/>
          <a:solidFill>
            <a:srgbClr val="00B8A9"/>
          </a:solidFill>
        </p:spPr>
      </p:sp>
      <p:sp>
        <p:nvSpPr>
          <p:cNvPr id="1048644" name="Shape 2"/>
          <p:cNvSpPr/>
          <p:nvPr/>
        </p:nvSpPr>
        <p:spPr>
          <a:xfrm>
            <a:off x="822960" y="1325880"/>
            <a:ext cx="6949440" cy="1120140"/>
          </a:xfrm>
          <a:prstGeom prst="roundRect">
            <a:avLst>
              <a:gd name="adj" fmla="val 5714"/>
            </a:avLst>
          </a:prstGeom>
          <a:solidFill>
            <a:srgbClr val="0F2942"/>
          </a:solidFill>
        </p:spPr>
      </p:sp>
      <p:sp>
        <p:nvSpPr>
          <p:cNvPr id="1048645" name="Text 3"/>
          <p:cNvSpPr/>
          <p:nvPr/>
        </p:nvSpPr>
        <p:spPr>
          <a:xfrm>
            <a:off x="1051560" y="1325880"/>
            <a:ext cx="6492240" cy="1120140"/>
          </a:xfrm>
          <a:prstGeom prst="rect"/>
          <a:noFill/>
        </p:spPr>
        <p:txBody>
          <a:bodyPr anchor="ctr" bIns="0" lIns="0" rIns="0" rtlCol="0" tIns="0" wrap="square"/>
          <a:p>
            <a:pPr indent="0" marL="0">
              <a:buNone/>
            </a:pPr>
            <a:r>
              <a:rPr b="1" dirty="0" lang="en-US">
                <a:solidFill>
                  <a:srgbClr val="FFFFFF"/>
                </a:solidFill>
                <a:latin typeface="Calibri" pitchFamily="34" charset="0"/>
                <a:ea typeface="Calibri" pitchFamily="34" charset="-122"/>
                <a:cs typeface="Calibri" pitchFamily="34" charset="-120"/>
              </a:rPr>
              <a:t>Simulation Clock</a:t>
            </a:r>
            <a:endParaRPr dirty="0" lang="en-US"/>
          </a:p>
        </p:txBody>
      </p:sp>
      <p:sp>
        <p:nvSpPr>
          <p:cNvPr id="1048646" name="Text 4"/>
          <p:cNvSpPr/>
          <p:nvPr/>
        </p:nvSpPr>
        <p:spPr>
          <a:xfrm>
            <a:off x="1051560" y="1325880"/>
            <a:ext cx="6492240" cy="1120140"/>
          </a:xfrm>
          <a:prstGeom prst="rect"/>
          <a:noFill/>
        </p:spPr>
        <p:txBody>
          <a:bodyPr anchor="ctr" bIns="0" lIns="0" rIns="0" rtlCol="0" tIns="0" wrap="square"/>
          <a:p>
            <a:pPr algn="r" indent="0" marL="0">
              <a:buNone/>
            </a:pPr>
            <a:r>
              <a:rPr dirty="0" sz="1600" lang="en-US">
                <a:solidFill>
                  <a:srgbClr val="E4E9EE"/>
                </a:solidFill>
                <a:latin typeface="Calibri" pitchFamily="34" charset="0"/>
                <a:ea typeface="Calibri" pitchFamily="34" charset="-122"/>
                <a:cs typeface="Calibri" pitchFamily="34" charset="-120"/>
              </a:rPr>
              <a:t>Tracks the current simulated time</a:t>
            </a:r>
          </a:p>
          <a:p>
            <a:pPr algn="r" indent="0" marL="0">
              <a:buNone/>
            </a:pPr>
            <a:r>
              <a:rPr dirty="0" sz="1600" lang="en-US">
                <a:solidFill>
                  <a:srgbClr val="E4E9EE"/>
                </a:solidFill>
                <a:latin typeface="Calibri" pitchFamily="34" charset="0"/>
                <a:ea typeface="Calibri" pitchFamily="34" charset="-122"/>
                <a:cs typeface="Calibri" pitchFamily="34" charset="-120"/>
              </a:rPr>
              <a:t> (not real/wall-clock time)</a:t>
            </a:r>
            <a:endParaRPr dirty="0" sz="1600" lang="en-US"/>
          </a:p>
        </p:txBody>
      </p:sp>
      <p:sp>
        <p:nvSpPr>
          <p:cNvPr id="1048647" name="Shape 5"/>
          <p:cNvSpPr/>
          <p:nvPr/>
        </p:nvSpPr>
        <p:spPr>
          <a:xfrm>
            <a:off x="822960" y="2583180"/>
            <a:ext cx="6949440" cy="1120140"/>
          </a:xfrm>
          <a:prstGeom prst="roundRect">
            <a:avLst>
              <a:gd name="adj" fmla="val 5714"/>
            </a:avLst>
          </a:prstGeom>
          <a:solidFill>
            <a:srgbClr val="44546A"/>
          </a:solidFill>
        </p:spPr>
        <p:txBody>
          <a:bodyPr/>
          <a:p>
            <a:endParaRPr dirty="0" lang="en-US"/>
          </a:p>
        </p:txBody>
      </p:sp>
      <p:sp>
        <p:nvSpPr>
          <p:cNvPr id="1048648" name="Text 6"/>
          <p:cNvSpPr/>
          <p:nvPr/>
        </p:nvSpPr>
        <p:spPr>
          <a:xfrm>
            <a:off x="1051560" y="2583180"/>
            <a:ext cx="6492240" cy="1120140"/>
          </a:xfrm>
          <a:prstGeom prst="rect"/>
          <a:noFill/>
        </p:spPr>
        <p:txBody>
          <a:bodyPr anchor="ctr" bIns="0" lIns="0" rIns="0" rtlCol="0" tIns="0" wrap="square"/>
          <a:p>
            <a:pPr indent="0" marL="0">
              <a:buNone/>
            </a:pPr>
            <a:r>
              <a:rPr b="1" dirty="0" lang="en-US">
                <a:solidFill>
                  <a:srgbClr val="FFFFFF"/>
                </a:solidFill>
                <a:latin typeface="Calibri" pitchFamily="34" charset="0"/>
                <a:ea typeface="Calibri" pitchFamily="34" charset="-122"/>
                <a:cs typeface="Calibri" pitchFamily="34" charset="-120"/>
              </a:rPr>
              <a:t>Event List</a:t>
            </a:r>
            <a:endParaRPr dirty="0" lang="en-US"/>
          </a:p>
        </p:txBody>
      </p:sp>
      <p:sp>
        <p:nvSpPr>
          <p:cNvPr id="1048649" name="Text 7"/>
          <p:cNvSpPr/>
          <p:nvPr/>
        </p:nvSpPr>
        <p:spPr>
          <a:xfrm>
            <a:off x="1051560" y="2583180"/>
            <a:ext cx="6492240" cy="1120140"/>
          </a:xfrm>
          <a:prstGeom prst="rect"/>
          <a:noFill/>
        </p:spPr>
        <p:txBody>
          <a:bodyPr anchor="ctr" bIns="0" lIns="0" rIns="0" rtlCol="0" tIns="0" wrap="square"/>
          <a:p>
            <a:pPr algn="r" indent="0" marL="0">
              <a:buNone/>
            </a:pPr>
            <a:r>
              <a:rPr dirty="0" sz="1600" lang="en-US">
                <a:solidFill>
                  <a:srgbClr val="E4E9EE"/>
                </a:solidFill>
                <a:latin typeface="Calibri" pitchFamily="34" charset="0"/>
                <a:ea typeface="Calibri" pitchFamily="34" charset="-122"/>
                <a:cs typeface="Calibri" pitchFamily="34" charset="-120"/>
              </a:rPr>
              <a:t>A time-ordered list of scheduled future events</a:t>
            </a:r>
            <a:endParaRPr dirty="0" sz="1600" lang="en-US"/>
          </a:p>
        </p:txBody>
      </p:sp>
      <p:sp>
        <p:nvSpPr>
          <p:cNvPr id="1048650" name="Shape 8"/>
          <p:cNvSpPr/>
          <p:nvPr/>
        </p:nvSpPr>
        <p:spPr>
          <a:xfrm>
            <a:off x="822960" y="3840480"/>
            <a:ext cx="6949440" cy="1120140"/>
          </a:xfrm>
          <a:prstGeom prst="roundRect">
            <a:avLst>
              <a:gd name="adj" fmla="val 5714"/>
            </a:avLst>
          </a:prstGeom>
          <a:solidFill>
            <a:srgbClr val="44546A"/>
          </a:solidFill>
        </p:spPr>
      </p:sp>
      <p:sp>
        <p:nvSpPr>
          <p:cNvPr id="1048651" name="Text 9"/>
          <p:cNvSpPr/>
          <p:nvPr/>
        </p:nvSpPr>
        <p:spPr>
          <a:xfrm>
            <a:off x="1051560" y="3840480"/>
            <a:ext cx="6492240" cy="1120140"/>
          </a:xfrm>
          <a:prstGeom prst="rect"/>
          <a:noFill/>
        </p:spPr>
        <p:txBody>
          <a:bodyPr anchor="ctr" bIns="0" lIns="0" rIns="0" rtlCol="0" tIns="0" wrap="square"/>
          <a:p>
            <a:pPr indent="0" marL="0">
              <a:buNone/>
            </a:pPr>
            <a:r>
              <a:rPr b="1" dirty="0" lang="en-US">
                <a:solidFill>
                  <a:srgbClr val="FFFFFF"/>
                </a:solidFill>
                <a:latin typeface="Calibri" pitchFamily="34" charset="0"/>
                <a:ea typeface="Calibri" pitchFamily="34" charset="-122"/>
                <a:cs typeface="Calibri" pitchFamily="34" charset="-120"/>
              </a:rPr>
              <a:t>State Variables</a:t>
            </a:r>
            <a:endParaRPr dirty="0" lang="en-US"/>
          </a:p>
        </p:txBody>
      </p:sp>
      <p:sp>
        <p:nvSpPr>
          <p:cNvPr id="1048652" name="Text 10"/>
          <p:cNvSpPr/>
          <p:nvPr/>
        </p:nvSpPr>
        <p:spPr>
          <a:xfrm>
            <a:off x="1051560" y="3840480"/>
            <a:ext cx="6492240" cy="1120140"/>
          </a:xfrm>
          <a:prstGeom prst="rect"/>
          <a:noFill/>
        </p:spPr>
        <p:txBody>
          <a:bodyPr anchor="ctr" bIns="0" lIns="0" rIns="0" rtlCol="0" tIns="0" wrap="square"/>
          <a:p>
            <a:pPr algn="r" indent="0" marL="0">
              <a:buNone/>
            </a:pPr>
            <a:r>
              <a:rPr dirty="0" sz="1600" lang="en-US">
                <a:solidFill>
                  <a:srgbClr val="E4E9EE"/>
                </a:solidFill>
                <a:latin typeface="Calibri" pitchFamily="34" charset="0"/>
                <a:ea typeface="Calibri" pitchFamily="34" charset="-122"/>
                <a:cs typeface="Calibri" pitchFamily="34" charset="-120"/>
              </a:rPr>
              <a:t>The current condition of the system (e.g., queue length, </a:t>
            </a:r>
          </a:p>
          <a:p>
            <a:pPr algn="r" indent="0" marL="0">
              <a:buNone/>
            </a:pPr>
            <a:r>
              <a:rPr dirty="0" sz="1600" lang="en-US">
                <a:solidFill>
                  <a:srgbClr val="E4E9EE"/>
                </a:solidFill>
                <a:latin typeface="Calibri" pitchFamily="34" charset="0"/>
                <a:ea typeface="Calibri" pitchFamily="34" charset="-122"/>
                <a:cs typeface="Calibri" pitchFamily="34" charset="-120"/>
              </a:rPr>
              <a:t>server busy/idle)</a:t>
            </a:r>
            <a:endParaRPr dirty="0" sz="1600" lang="en-US"/>
          </a:p>
        </p:txBody>
      </p:sp>
      <p:sp>
        <p:nvSpPr>
          <p:cNvPr id="1048653" name="Shape 11"/>
          <p:cNvSpPr/>
          <p:nvPr/>
        </p:nvSpPr>
        <p:spPr>
          <a:xfrm>
            <a:off x="822960" y="5097780"/>
            <a:ext cx="6949440" cy="1120140"/>
          </a:xfrm>
          <a:prstGeom prst="roundRect">
            <a:avLst>
              <a:gd name="adj" fmla="val 5714"/>
            </a:avLst>
          </a:prstGeom>
          <a:solidFill>
            <a:srgbClr val="44546A"/>
          </a:solidFill>
        </p:spPr>
      </p:sp>
      <p:sp>
        <p:nvSpPr>
          <p:cNvPr id="1048654" name="Text 12"/>
          <p:cNvSpPr/>
          <p:nvPr/>
        </p:nvSpPr>
        <p:spPr>
          <a:xfrm>
            <a:off x="1051560" y="5097780"/>
            <a:ext cx="6492240" cy="1120140"/>
          </a:xfrm>
          <a:prstGeom prst="rect"/>
          <a:noFill/>
        </p:spPr>
        <p:txBody>
          <a:bodyPr anchor="ctr" bIns="0" lIns="0" rIns="0" rtlCol="0" tIns="0" wrap="square"/>
          <a:p>
            <a:pPr indent="0" marL="0">
              <a:buNone/>
            </a:pPr>
            <a:r>
              <a:rPr b="1" dirty="0" lang="en-US">
                <a:solidFill>
                  <a:srgbClr val="FFFFFF"/>
                </a:solidFill>
                <a:latin typeface="Calibri" pitchFamily="34" charset="0"/>
                <a:ea typeface="Calibri" pitchFamily="34" charset="-122"/>
                <a:cs typeface="Calibri" pitchFamily="34" charset="-120"/>
              </a:rPr>
              <a:t>Event Routines</a:t>
            </a:r>
            <a:endParaRPr dirty="0" lang="en-US"/>
          </a:p>
        </p:txBody>
      </p:sp>
      <p:sp>
        <p:nvSpPr>
          <p:cNvPr id="1048655" name="Text 13"/>
          <p:cNvSpPr/>
          <p:nvPr/>
        </p:nvSpPr>
        <p:spPr>
          <a:xfrm>
            <a:off x="1051560" y="5097780"/>
            <a:ext cx="6492240" cy="1120140"/>
          </a:xfrm>
          <a:prstGeom prst="rect"/>
          <a:noFill/>
        </p:spPr>
        <p:txBody>
          <a:bodyPr anchor="ctr" bIns="0" lIns="0" rIns="0" rtlCol="0" tIns="0" wrap="square"/>
          <a:p>
            <a:pPr algn="r" indent="0" marL="0">
              <a:buNone/>
            </a:pPr>
            <a:r>
              <a:rPr dirty="0" sz="1600" lang="en-US">
                <a:solidFill>
                  <a:srgbClr val="E4E9EE"/>
                </a:solidFill>
                <a:latin typeface="Calibri" pitchFamily="34" charset="0"/>
                <a:ea typeface="Calibri" pitchFamily="34" charset="-122"/>
                <a:cs typeface="Calibri" pitchFamily="34" charset="-120"/>
              </a:rPr>
              <a:t>Logic that executes when each type of event occurs</a:t>
            </a:r>
            <a:endParaRPr dirty="0" sz="1600" lang="en-US"/>
          </a:p>
        </p:txBody>
      </p:sp>
      <p:sp>
        <p:nvSpPr>
          <p:cNvPr id="1048656" name="Shape 14"/>
          <p:cNvSpPr/>
          <p:nvPr/>
        </p:nvSpPr>
        <p:spPr>
          <a:xfrm>
            <a:off x="8001000" y="1325880"/>
            <a:ext cx="3566160" cy="4892040"/>
          </a:xfrm>
          <a:prstGeom prst="roundRect">
            <a:avLst>
              <a:gd name="adj" fmla="val 2564"/>
            </a:avLst>
          </a:prstGeom>
          <a:solidFill>
            <a:srgbClr val="EAF6F5"/>
          </a:solidFill>
        </p:spPr>
      </p:sp>
      <p:sp>
        <p:nvSpPr>
          <p:cNvPr id="1048657" name="Text 15"/>
          <p:cNvSpPr/>
          <p:nvPr/>
        </p:nvSpPr>
        <p:spPr>
          <a:xfrm>
            <a:off x="8183880" y="1481328"/>
            <a:ext cx="3200400" cy="365760"/>
          </a:xfrm>
          <a:prstGeom prst="rect"/>
          <a:noFill/>
        </p:spPr>
        <p:txBody>
          <a:bodyPr anchor="ctr" bIns="0" lIns="0" rIns="0" rtlCol="0" tIns="0" wrap="square"/>
          <a:p>
            <a:pPr indent="0" marL="0">
              <a:buNone/>
            </a:pPr>
            <a:r>
              <a:rPr b="1" dirty="0" sz="1600" lang="en-US">
                <a:solidFill>
                  <a:srgbClr val="00B8A9"/>
                </a:solidFill>
                <a:latin typeface="Calibri" pitchFamily="34" charset="0"/>
                <a:ea typeface="Calibri" pitchFamily="34" charset="-122"/>
                <a:cs typeface="Calibri" pitchFamily="34" charset="-120"/>
              </a:rPr>
              <a:t>How They Work Together</a:t>
            </a:r>
            <a:endParaRPr dirty="0" sz="1600" lang="en-US"/>
          </a:p>
        </p:txBody>
      </p:sp>
      <p:sp>
        <p:nvSpPr>
          <p:cNvPr id="1048658" name="Text 16"/>
          <p:cNvSpPr/>
          <p:nvPr/>
        </p:nvSpPr>
        <p:spPr>
          <a:xfrm>
            <a:off x="8183880" y="1874520"/>
            <a:ext cx="3200400" cy="4206240"/>
          </a:xfrm>
          <a:prstGeom prst="rect"/>
          <a:noFill/>
        </p:spPr>
        <p:txBody>
          <a:bodyPr anchor="t" bIns="0" lIns="0" rIns="0" rtlCol="0" tIns="0" wrap="square"/>
          <a:p>
            <a:pPr indent="0" marL="0">
              <a:lnSpc>
                <a:spcPct val="125000"/>
              </a:lnSpc>
              <a:buNone/>
            </a:pPr>
            <a:r>
              <a:rPr dirty="0" sz="2000" lang="en-US">
                <a:solidFill>
                  <a:srgbClr val="33394A"/>
                </a:solidFill>
                <a:latin typeface="Calibri" pitchFamily="34" charset="0"/>
                <a:ea typeface="Calibri" pitchFamily="34" charset="-122"/>
                <a:cs typeface="Calibri" pitchFamily="34" charset="-120"/>
              </a:rPr>
              <a:t>The simulation repeatedly: (1) picks the earliest event from the event list, (2) advances the clock to that event's time, (3) executes the event's logic, updating state and possibly scheduling new future events.</a:t>
            </a:r>
            <a:endParaRPr dirty="0" sz="2000" lang="en-US"/>
          </a:p>
        </p:txBody>
      </p:sp>
      <p:sp>
        <p:nvSpPr>
          <p:cNvPr id="1048659" name="Text 17"/>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660" name="Text 18"/>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6</a:t>
            </a:r>
            <a:endParaRPr dirty="0" sz="9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53" name=""/>
        <p:cNvGrpSpPr/>
        <p:nvPr/>
      </p:nvGrpSpPr>
      <p:grpSpPr>
        <a:xfrm>
          <a:off x="0" y="0"/>
          <a:ext cx="0" cy="0"/>
          <a:chOff x="0" y="0"/>
          <a:chExt cx="0" cy="0"/>
        </a:xfrm>
      </p:grpSpPr>
      <p:sp>
        <p:nvSpPr>
          <p:cNvPr id="1048664"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The DES Main Loop</a:t>
            </a:r>
            <a:endParaRPr dirty="0" sz="2600" lang="en-US"/>
          </a:p>
        </p:txBody>
      </p:sp>
      <p:sp>
        <p:nvSpPr>
          <p:cNvPr id="1048665" name="Shape 1"/>
          <p:cNvSpPr/>
          <p:nvPr/>
        </p:nvSpPr>
        <p:spPr>
          <a:xfrm>
            <a:off x="566928" y="1005840"/>
            <a:ext cx="411480" cy="45720"/>
          </a:xfrm>
          <a:prstGeom prst="rect"/>
          <a:solidFill>
            <a:srgbClr val="00B8A9"/>
          </a:solidFill>
        </p:spPr>
      </p:sp>
      <p:sp>
        <p:nvSpPr>
          <p:cNvPr id="1048666" name="Shape 2"/>
          <p:cNvSpPr/>
          <p:nvPr/>
        </p:nvSpPr>
        <p:spPr>
          <a:xfrm>
            <a:off x="594360" y="2377440"/>
            <a:ext cx="1920240" cy="2377440"/>
          </a:xfrm>
          <a:prstGeom prst="roundRect">
            <a:avLst>
              <a:gd name="adj" fmla="val 4286"/>
            </a:avLst>
          </a:prstGeom>
          <a:solidFill>
            <a:srgbClr val="0F2942"/>
          </a:solidFill>
        </p:spPr>
      </p:sp>
      <p:sp>
        <p:nvSpPr>
          <p:cNvPr id="1048667" name="Shape 3"/>
          <p:cNvSpPr/>
          <p:nvPr/>
        </p:nvSpPr>
        <p:spPr>
          <a:xfrm>
            <a:off x="1298448" y="2103120"/>
            <a:ext cx="512064" cy="512064"/>
          </a:xfrm>
          <a:prstGeom prst="ellipse"/>
          <a:solidFill>
            <a:srgbClr val="00B8A9"/>
          </a:solidFill>
          <a:ln w="25400">
            <a:solidFill>
              <a:srgbClr val="FFFFFF"/>
            </a:solidFill>
            <a:prstDash val="solid"/>
          </a:ln>
        </p:spPr>
      </p:sp>
      <p:sp>
        <p:nvSpPr>
          <p:cNvPr id="1048668" name="Text 4"/>
          <p:cNvSpPr/>
          <p:nvPr/>
        </p:nvSpPr>
        <p:spPr>
          <a:xfrm>
            <a:off x="129844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1</a:t>
            </a:r>
            <a:endParaRPr dirty="0" sz="1500" lang="en-US"/>
          </a:p>
        </p:txBody>
      </p:sp>
      <p:sp>
        <p:nvSpPr>
          <p:cNvPr id="1048669" name="Text 5"/>
          <p:cNvSpPr/>
          <p:nvPr/>
        </p:nvSpPr>
        <p:spPr>
          <a:xfrm>
            <a:off x="731520" y="2697480"/>
            <a:ext cx="164592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1. Initialize</a:t>
            </a:r>
            <a:endParaRPr dirty="0" lang="en-US"/>
          </a:p>
        </p:txBody>
      </p:sp>
      <p:sp>
        <p:nvSpPr>
          <p:cNvPr id="1048670" name="Text 6"/>
          <p:cNvSpPr/>
          <p:nvPr/>
        </p:nvSpPr>
        <p:spPr>
          <a:xfrm>
            <a:off x="731520" y="3246120"/>
            <a:ext cx="1645920" cy="1417320"/>
          </a:xfrm>
          <a:prstGeom prst="rect"/>
          <a:noFill/>
        </p:spPr>
        <p:txBody>
          <a:bodyPr anchor="t" bIns="0" lIns="0" rIns="0" rtlCol="0" tIns="0" wrap="square"/>
          <a:p>
            <a:pPr algn="ctr" indent="0" marL="0">
              <a:lnSpc>
                <a:spcPct val="115000"/>
              </a:lnSpc>
              <a:buNone/>
            </a:pPr>
            <a:r>
              <a:rPr dirty="0" lang="en-US">
                <a:solidFill>
                  <a:srgbClr val="D8DEE6"/>
                </a:solidFill>
                <a:latin typeface="Calibri" pitchFamily="34" charset="0"/>
                <a:ea typeface="Calibri" pitchFamily="34" charset="-122"/>
                <a:cs typeface="Calibri" pitchFamily="34" charset="-120"/>
              </a:rPr>
              <a:t>Set clock to 0; schedule the first arrival event.</a:t>
            </a:r>
            <a:endParaRPr dirty="0" lang="en-US"/>
          </a:p>
        </p:txBody>
      </p:sp>
      <p:sp>
        <p:nvSpPr>
          <p:cNvPr id="1048671" name="Text 7"/>
          <p:cNvSpPr/>
          <p:nvPr/>
        </p:nvSpPr>
        <p:spPr>
          <a:xfrm>
            <a:off x="251460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672" name="Shape 8"/>
          <p:cNvSpPr/>
          <p:nvPr/>
        </p:nvSpPr>
        <p:spPr>
          <a:xfrm>
            <a:off x="2834640" y="2377440"/>
            <a:ext cx="1920240" cy="2377440"/>
          </a:xfrm>
          <a:prstGeom prst="roundRect">
            <a:avLst>
              <a:gd name="adj" fmla="val 4286"/>
            </a:avLst>
          </a:prstGeom>
          <a:solidFill>
            <a:srgbClr val="44546A"/>
          </a:solidFill>
        </p:spPr>
      </p:sp>
      <p:sp>
        <p:nvSpPr>
          <p:cNvPr id="1048673" name="Shape 9"/>
          <p:cNvSpPr/>
          <p:nvPr/>
        </p:nvSpPr>
        <p:spPr>
          <a:xfrm>
            <a:off x="3538728" y="2103120"/>
            <a:ext cx="512064" cy="512064"/>
          </a:xfrm>
          <a:prstGeom prst="ellipse"/>
          <a:solidFill>
            <a:srgbClr val="00B8A9"/>
          </a:solidFill>
          <a:ln w="25400">
            <a:solidFill>
              <a:srgbClr val="FFFFFF"/>
            </a:solidFill>
            <a:prstDash val="solid"/>
          </a:ln>
        </p:spPr>
      </p:sp>
      <p:sp>
        <p:nvSpPr>
          <p:cNvPr id="1048674" name="Text 10"/>
          <p:cNvSpPr/>
          <p:nvPr/>
        </p:nvSpPr>
        <p:spPr>
          <a:xfrm>
            <a:off x="353872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2</a:t>
            </a:r>
            <a:endParaRPr dirty="0" sz="1500" lang="en-US"/>
          </a:p>
        </p:txBody>
      </p:sp>
      <p:sp>
        <p:nvSpPr>
          <p:cNvPr id="1048675" name="Text 11"/>
          <p:cNvSpPr/>
          <p:nvPr/>
        </p:nvSpPr>
        <p:spPr>
          <a:xfrm>
            <a:off x="2971800" y="2697480"/>
            <a:ext cx="164592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2. Get Next Event</a:t>
            </a:r>
            <a:endParaRPr dirty="0" lang="en-US"/>
          </a:p>
        </p:txBody>
      </p:sp>
      <p:sp>
        <p:nvSpPr>
          <p:cNvPr id="1048676" name="Text 12"/>
          <p:cNvSpPr/>
          <p:nvPr/>
        </p:nvSpPr>
        <p:spPr>
          <a:xfrm>
            <a:off x="2971800" y="3246120"/>
            <a:ext cx="1645920" cy="1417320"/>
          </a:xfrm>
          <a:prstGeom prst="rect"/>
          <a:noFill/>
        </p:spPr>
        <p:txBody>
          <a:bodyPr anchor="t" bIns="0" lIns="0" rIns="0" rtlCol="0" tIns="0" wrap="square"/>
          <a:p>
            <a:pPr algn="ctr" indent="0" marL="0">
              <a:lnSpc>
                <a:spcPct val="115000"/>
              </a:lnSpc>
              <a:buNone/>
            </a:pPr>
            <a:r>
              <a:rPr dirty="0" lang="en-US">
                <a:solidFill>
                  <a:srgbClr val="D8DEE6"/>
                </a:solidFill>
                <a:latin typeface="Calibri" pitchFamily="34" charset="0"/>
                <a:ea typeface="Calibri" pitchFamily="34" charset="-122"/>
                <a:cs typeface="Calibri" pitchFamily="34" charset="-120"/>
              </a:rPr>
              <a:t>Remove the earliest event from the event list.</a:t>
            </a:r>
            <a:endParaRPr dirty="0" lang="en-US"/>
          </a:p>
        </p:txBody>
      </p:sp>
      <p:sp>
        <p:nvSpPr>
          <p:cNvPr id="1048677" name="Text 13"/>
          <p:cNvSpPr/>
          <p:nvPr/>
        </p:nvSpPr>
        <p:spPr>
          <a:xfrm>
            <a:off x="475488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678" name="Shape 14"/>
          <p:cNvSpPr/>
          <p:nvPr/>
        </p:nvSpPr>
        <p:spPr>
          <a:xfrm>
            <a:off x="5074920" y="2377440"/>
            <a:ext cx="1920240" cy="2377440"/>
          </a:xfrm>
          <a:prstGeom prst="roundRect">
            <a:avLst>
              <a:gd name="adj" fmla="val 4286"/>
            </a:avLst>
          </a:prstGeom>
          <a:solidFill>
            <a:srgbClr val="0F2942"/>
          </a:solidFill>
        </p:spPr>
      </p:sp>
      <p:sp>
        <p:nvSpPr>
          <p:cNvPr id="1048679" name="Shape 15"/>
          <p:cNvSpPr/>
          <p:nvPr/>
        </p:nvSpPr>
        <p:spPr>
          <a:xfrm>
            <a:off x="5779008" y="2103120"/>
            <a:ext cx="512064" cy="512064"/>
          </a:xfrm>
          <a:prstGeom prst="ellipse"/>
          <a:solidFill>
            <a:srgbClr val="00B8A9"/>
          </a:solidFill>
          <a:ln w="25400">
            <a:solidFill>
              <a:srgbClr val="FFFFFF"/>
            </a:solidFill>
            <a:prstDash val="solid"/>
          </a:ln>
        </p:spPr>
      </p:sp>
      <p:sp>
        <p:nvSpPr>
          <p:cNvPr id="1048680" name="Text 16"/>
          <p:cNvSpPr/>
          <p:nvPr/>
        </p:nvSpPr>
        <p:spPr>
          <a:xfrm>
            <a:off x="577900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3</a:t>
            </a:r>
            <a:endParaRPr dirty="0" sz="1500" lang="en-US"/>
          </a:p>
        </p:txBody>
      </p:sp>
      <p:sp>
        <p:nvSpPr>
          <p:cNvPr id="1048681" name="Text 17"/>
          <p:cNvSpPr/>
          <p:nvPr/>
        </p:nvSpPr>
        <p:spPr>
          <a:xfrm>
            <a:off x="5212080" y="2697480"/>
            <a:ext cx="164592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3. Advance Clock</a:t>
            </a:r>
            <a:endParaRPr dirty="0" lang="en-US"/>
          </a:p>
        </p:txBody>
      </p:sp>
      <p:sp>
        <p:nvSpPr>
          <p:cNvPr id="1048682" name="Text 18"/>
          <p:cNvSpPr/>
          <p:nvPr/>
        </p:nvSpPr>
        <p:spPr>
          <a:xfrm>
            <a:off x="5212080" y="3246120"/>
            <a:ext cx="1645920" cy="1417320"/>
          </a:xfrm>
          <a:prstGeom prst="rect"/>
          <a:noFill/>
        </p:spPr>
        <p:txBody>
          <a:bodyPr anchor="t" bIns="0" lIns="0" rIns="0" rtlCol="0" tIns="0" wrap="square"/>
          <a:p>
            <a:pPr algn="ctr" indent="0" marL="0">
              <a:lnSpc>
                <a:spcPct val="115000"/>
              </a:lnSpc>
              <a:buNone/>
            </a:pPr>
            <a:r>
              <a:rPr dirty="0" lang="en-US">
                <a:solidFill>
                  <a:srgbClr val="D8DEE6"/>
                </a:solidFill>
                <a:latin typeface="Calibri" pitchFamily="34" charset="0"/>
                <a:ea typeface="Calibri" pitchFamily="34" charset="-122"/>
                <a:cs typeface="Calibri" pitchFamily="34" charset="-120"/>
              </a:rPr>
              <a:t>Set simulation clock to this event's timestamp.</a:t>
            </a:r>
            <a:endParaRPr dirty="0" lang="en-US"/>
          </a:p>
        </p:txBody>
      </p:sp>
      <p:sp>
        <p:nvSpPr>
          <p:cNvPr id="1048683" name="Text 19"/>
          <p:cNvSpPr/>
          <p:nvPr/>
        </p:nvSpPr>
        <p:spPr>
          <a:xfrm>
            <a:off x="699516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684" name="Shape 20"/>
          <p:cNvSpPr/>
          <p:nvPr/>
        </p:nvSpPr>
        <p:spPr>
          <a:xfrm>
            <a:off x="7315200" y="2377440"/>
            <a:ext cx="1920240" cy="2377440"/>
          </a:xfrm>
          <a:prstGeom prst="roundRect">
            <a:avLst>
              <a:gd name="adj" fmla="val 4286"/>
            </a:avLst>
          </a:prstGeom>
          <a:solidFill>
            <a:srgbClr val="44546A"/>
          </a:solidFill>
        </p:spPr>
      </p:sp>
      <p:sp>
        <p:nvSpPr>
          <p:cNvPr id="1048685" name="Shape 21"/>
          <p:cNvSpPr/>
          <p:nvPr/>
        </p:nvSpPr>
        <p:spPr>
          <a:xfrm>
            <a:off x="8019288" y="2103120"/>
            <a:ext cx="512064" cy="512064"/>
          </a:xfrm>
          <a:prstGeom prst="ellipse"/>
          <a:solidFill>
            <a:srgbClr val="00B8A9"/>
          </a:solidFill>
          <a:ln w="25400">
            <a:solidFill>
              <a:srgbClr val="FFFFFF"/>
            </a:solidFill>
            <a:prstDash val="solid"/>
          </a:ln>
        </p:spPr>
      </p:sp>
      <p:sp>
        <p:nvSpPr>
          <p:cNvPr id="1048686" name="Text 22"/>
          <p:cNvSpPr/>
          <p:nvPr/>
        </p:nvSpPr>
        <p:spPr>
          <a:xfrm>
            <a:off x="801928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4</a:t>
            </a:r>
            <a:endParaRPr dirty="0" sz="1500" lang="en-US"/>
          </a:p>
        </p:txBody>
      </p:sp>
      <p:sp>
        <p:nvSpPr>
          <p:cNvPr id="1048687" name="Text 23"/>
          <p:cNvSpPr/>
          <p:nvPr/>
        </p:nvSpPr>
        <p:spPr>
          <a:xfrm>
            <a:off x="7452360" y="2697480"/>
            <a:ext cx="164592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4. Process Event</a:t>
            </a:r>
            <a:endParaRPr dirty="0" lang="en-US"/>
          </a:p>
        </p:txBody>
      </p:sp>
      <p:sp>
        <p:nvSpPr>
          <p:cNvPr id="1048688" name="Text 24"/>
          <p:cNvSpPr/>
          <p:nvPr/>
        </p:nvSpPr>
        <p:spPr>
          <a:xfrm>
            <a:off x="7452360" y="3246120"/>
            <a:ext cx="1645920" cy="1417320"/>
          </a:xfrm>
          <a:prstGeom prst="rect"/>
          <a:noFill/>
        </p:spPr>
        <p:txBody>
          <a:bodyPr anchor="t" bIns="0" lIns="0" rIns="0" rtlCol="0" tIns="0" wrap="square"/>
          <a:p>
            <a:pPr algn="ctr" indent="0" marL="0">
              <a:lnSpc>
                <a:spcPct val="115000"/>
              </a:lnSpc>
              <a:buNone/>
            </a:pPr>
            <a:r>
              <a:rPr dirty="0" lang="en-US">
                <a:solidFill>
                  <a:srgbClr val="D8DEE6"/>
                </a:solidFill>
                <a:latin typeface="Calibri" pitchFamily="34" charset="0"/>
                <a:ea typeface="Calibri" pitchFamily="34" charset="-122"/>
                <a:cs typeface="Calibri" pitchFamily="34" charset="-120"/>
              </a:rPr>
              <a:t>Update state; schedule any new resulting events.</a:t>
            </a:r>
            <a:endParaRPr dirty="0" lang="en-US"/>
          </a:p>
        </p:txBody>
      </p:sp>
      <p:sp>
        <p:nvSpPr>
          <p:cNvPr id="1048689" name="Text 25"/>
          <p:cNvSpPr/>
          <p:nvPr/>
        </p:nvSpPr>
        <p:spPr>
          <a:xfrm>
            <a:off x="923544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690" name="Shape 26"/>
          <p:cNvSpPr/>
          <p:nvPr/>
        </p:nvSpPr>
        <p:spPr>
          <a:xfrm>
            <a:off x="9555480" y="2377440"/>
            <a:ext cx="1920240" cy="2377440"/>
          </a:xfrm>
          <a:prstGeom prst="roundRect">
            <a:avLst>
              <a:gd name="adj" fmla="val 4286"/>
            </a:avLst>
          </a:prstGeom>
          <a:solidFill>
            <a:srgbClr val="0F2942"/>
          </a:solidFill>
        </p:spPr>
      </p:sp>
      <p:sp>
        <p:nvSpPr>
          <p:cNvPr id="1048691" name="Shape 27"/>
          <p:cNvSpPr/>
          <p:nvPr/>
        </p:nvSpPr>
        <p:spPr>
          <a:xfrm>
            <a:off x="10259568" y="2103120"/>
            <a:ext cx="512064" cy="512064"/>
          </a:xfrm>
          <a:prstGeom prst="ellipse"/>
          <a:solidFill>
            <a:srgbClr val="00B8A9"/>
          </a:solidFill>
          <a:ln w="25400">
            <a:solidFill>
              <a:srgbClr val="FFFFFF"/>
            </a:solidFill>
            <a:prstDash val="solid"/>
          </a:ln>
        </p:spPr>
      </p:sp>
      <p:sp>
        <p:nvSpPr>
          <p:cNvPr id="1048692" name="Text 28"/>
          <p:cNvSpPr/>
          <p:nvPr/>
        </p:nvSpPr>
        <p:spPr>
          <a:xfrm>
            <a:off x="10259568"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5</a:t>
            </a:r>
            <a:endParaRPr dirty="0" sz="1500" lang="en-US"/>
          </a:p>
        </p:txBody>
      </p:sp>
      <p:sp>
        <p:nvSpPr>
          <p:cNvPr id="1048693" name="Text 29"/>
          <p:cNvSpPr/>
          <p:nvPr/>
        </p:nvSpPr>
        <p:spPr>
          <a:xfrm>
            <a:off x="9692640" y="2697480"/>
            <a:ext cx="1645920" cy="548640"/>
          </a:xfrm>
          <a:prstGeom prst="rect"/>
          <a:noFill/>
        </p:spPr>
        <p:txBody>
          <a:bodyPr anchor="t" bIns="0" lIns="0" rIns="0" rtlCol="0" tIns="0" wrap="square"/>
          <a:p>
            <a:pPr algn="ctr" indent="0" marL="0">
              <a:buNone/>
            </a:pPr>
            <a:r>
              <a:rPr b="1" dirty="0" lang="en-US">
                <a:solidFill>
                  <a:srgbClr val="FFFFFF"/>
                </a:solidFill>
                <a:latin typeface="Calibri" pitchFamily="34" charset="0"/>
                <a:ea typeface="Calibri" pitchFamily="34" charset="-122"/>
                <a:cs typeface="Calibri" pitchFamily="34" charset="-120"/>
              </a:rPr>
              <a:t>5. Repeat or Stop</a:t>
            </a:r>
            <a:endParaRPr dirty="0" lang="en-US"/>
          </a:p>
        </p:txBody>
      </p:sp>
      <p:sp>
        <p:nvSpPr>
          <p:cNvPr id="1048694" name="Text 30"/>
          <p:cNvSpPr/>
          <p:nvPr/>
        </p:nvSpPr>
        <p:spPr>
          <a:xfrm>
            <a:off x="9692640" y="3246120"/>
            <a:ext cx="1645920" cy="1417320"/>
          </a:xfrm>
          <a:prstGeom prst="rect"/>
          <a:noFill/>
        </p:spPr>
        <p:txBody>
          <a:bodyPr anchor="t" bIns="0" lIns="0" rIns="0" rtlCol="0" tIns="0" wrap="square"/>
          <a:p>
            <a:pPr algn="ctr" indent="0" marL="0">
              <a:lnSpc>
                <a:spcPct val="115000"/>
              </a:lnSpc>
              <a:buNone/>
            </a:pPr>
            <a:r>
              <a:rPr dirty="0" lang="en-US">
                <a:solidFill>
                  <a:srgbClr val="D8DEE6"/>
                </a:solidFill>
                <a:latin typeface="Calibri" pitchFamily="34" charset="0"/>
                <a:ea typeface="Calibri" pitchFamily="34" charset="-122"/>
                <a:cs typeface="Calibri" pitchFamily="34" charset="-120"/>
              </a:rPr>
              <a:t>Loop until the event list is empty or a stop condition is met.</a:t>
            </a:r>
            <a:endParaRPr dirty="0" lang="en-US"/>
          </a:p>
        </p:txBody>
      </p:sp>
      <p:sp>
        <p:nvSpPr>
          <p:cNvPr id="1048695" name="Text 31"/>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696" name="Text 32"/>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7</a:t>
            </a:r>
            <a:endParaRPr dirty="0" sz="9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56" name=""/>
        <p:cNvGrpSpPr/>
        <p:nvPr/>
      </p:nvGrpSpPr>
      <p:grpSpPr>
        <a:xfrm>
          <a:off x="0" y="0"/>
          <a:ext cx="0" cy="0"/>
          <a:chOff x="0" y="0"/>
          <a:chExt cx="0" cy="0"/>
        </a:xfrm>
      </p:grpSpPr>
      <p:sp>
        <p:nvSpPr>
          <p:cNvPr id="1048700"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A Concrete Example: Simulating an M/M/1 Queue</a:t>
            </a:r>
            <a:endParaRPr dirty="0" sz="2600" lang="en-US"/>
          </a:p>
        </p:txBody>
      </p:sp>
      <p:sp>
        <p:nvSpPr>
          <p:cNvPr id="1048701" name="Shape 1"/>
          <p:cNvSpPr/>
          <p:nvPr/>
        </p:nvSpPr>
        <p:spPr>
          <a:xfrm>
            <a:off x="566928" y="1005840"/>
            <a:ext cx="411480" cy="45720"/>
          </a:xfrm>
          <a:prstGeom prst="rect"/>
          <a:solidFill>
            <a:srgbClr val="00B8A9"/>
          </a:solidFill>
        </p:spPr>
      </p:sp>
      <p:sp>
        <p:nvSpPr>
          <p:cNvPr id="1048702"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Two event types: 'Arrival' and 'Departure'</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On Arrival:</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If server is idle, start service immediately and schedule a Departure event</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If server is busy, add the customer to the queue</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Schedule the NEXT arrival event</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On Departure:</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If the queue is non-empty, start serving the next customer and schedule their Departure</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Otherwise, mark the server idle</a:t>
            </a:r>
            <a:endParaRPr dirty="0" sz="2800" lang="en-US"/>
          </a:p>
        </p:txBody>
      </p:sp>
      <p:sp>
        <p:nvSpPr>
          <p:cNvPr id="1048703"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704"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8</a:t>
            </a:r>
            <a:endParaRPr dirty="0" sz="9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59" name=""/>
        <p:cNvGrpSpPr/>
        <p:nvPr/>
      </p:nvGrpSpPr>
      <p:grpSpPr>
        <a:xfrm>
          <a:off x="0" y="0"/>
          <a:ext cx="0" cy="0"/>
          <a:chOff x="0" y="0"/>
          <a:chExt cx="0" cy="0"/>
        </a:xfrm>
      </p:grpSpPr>
      <p:sp>
        <p:nvSpPr>
          <p:cNvPr id="1048708"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Simplified DES Pseudocode for M/M/1</a:t>
            </a:r>
            <a:endParaRPr dirty="0" sz="2600" lang="en-US"/>
          </a:p>
        </p:txBody>
      </p:sp>
      <p:sp>
        <p:nvSpPr>
          <p:cNvPr id="1048709" name="Shape 1"/>
          <p:cNvSpPr/>
          <p:nvPr/>
        </p:nvSpPr>
        <p:spPr>
          <a:xfrm>
            <a:off x="566928" y="1005840"/>
            <a:ext cx="411480" cy="45720"/>
          </a:xfrm>
          <a:prstGeom prst="rect"/>
          <a:solidFill>
            <a:srgbClr val="00B8A9"/>
          </a:solidFill>
        </p:spPr>
      </p:sp>
      <p:sp>
        <p:nvSpPr>
          <p:cNvPr id="1048710" name="Shape 2"/>
          <p:cNvSpPr/>
          <p:nvPr/>
        </p:nvSpPr>
        <p:spPr>
          <a:xfrm>
            <a:off x="548640" y="1045952"/>
            <a:ext cx="11064240" cy="5000275"/>
          </a:xfrm>
          <a:prstGeom prst="roundRect">
            <a:avLst>
              <a:gd name="adj" fmla="val 1702"/>
            </a:avLst>
          </a:prstGeom>
          <a:solidFill>
            <a:srgbClr val="0A1D30"/>
          </a:solidFill>
        </p:spPr>
        <p:txBody>
          <a:bodyPr/>
          <a:p>
            <a:endParaRPr dirty="0" lang="en-US"/>
          </a:p>
        </p:txBody>
      </p:sp>
      <p:sp>
        <p:nvSpPr>
          <p:cNvPr id="1048711" name="Text 3"/>
          <p:cNvSpPr/>
          <p:nvPr/>
        </p:nvSpPr>
        <p:spPr>
          <a:xfrm>
            <a:off x="822960" y="1126204"/>
            <a:ext cx="10515600" cy="4630783"/>
          </a:xfrm>
          <a:prstGeom prst="rect"/>
          <a:noFill/>
        </p:spPr>
        <p:txBody>
          <a:bodyPr anchor="t" bIns="0" lIns="0" rIns="0" rtlCol="0" tIns="0" wrap="square"/>
          <a:p>
            <a:pPr indent="0" marL="0">
              <a:buNone/>
            </a:pPr>
            <a:r>
              <a:rPr dirty="0" sz="1400" lang="en-US">
                <a:solidFill>
                  <a:srgbClr val="9BE8DD"/>
                </a:solidFill>
                <a:latin typeface="Consolas" pitchFamily="34" charset="0"/>
                <a:ea typeface="Consolas" pitchFamily="34" charset="-122"/>
                <a:cs typeface="Consolas" pitchFamily="34" charset="-120"/>
              </a:rPr>
              <a:t>clock = 0</a:t>
            </a: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schedule(Arrival, time = generate_interarrival())</a:t>
            </a:r>
            <a:endParaRPr dirty="0" sz="1400" lang="en-US"/>
          </a:p>
          <a:p>
            <a:pPr indent="0" marL="0">
              <a:buNone/>
            </a:pP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while event_list is not empty and clock &lt; end_time:</a:t>
            </a: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event = pop_earliest(event_list)</a:t>
            </a: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clock = event.time</a:t>
            </a:r>
            <a:endParaRPr dirty="0" sz="1400" lang="en-US"/>
          </a:p>
          <a:p>
            <a:pPr indent="0" marL="0">
              <a:buNone/>
            </a:pP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if event.type == Arrival:</a:t>
            </a: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if server.is_idle:</a:t>
            </a: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server.start_service(event.customer)</a:t>
            </a: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schedule(Departure, clock + generate_service_time())</a:t>
            </a: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else:</a:t>
            </a: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queue.append(event.customer)</a:t>
            </a: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schedule(Arrival, clock + generate_interarrival())</a:t>
            </a:r>
            <a:endParaRPr dirty="0" sz="1400" lang="en-US"/>
          </a:p>
          <a:p>
            <a:pPr indent="0" marL="0">
              <a:buNone/>
            </a:pP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elif event.type == Departure:</a:t>
            </a: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if queue is not empty:</a:t>
            </a: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next_customer = queue.pop_front()</a:t>
            </a: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server.start_service(next_customer)</a:t>
            </a: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schedule(Departure, clock + generate_service_time())</a:t>
            </a: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else:</a:t>
            </a:r>
            <a:endParaRPr dirty="0" sz="1400" lang="en-US"/>
          </a:p>
          <a:p>
            <a:pPr indent="0" marL="0">
              <a:buNone/>
            </a:pPr>
            <a:r>
              <a:rPr dirty="0" sz="1400" lang="en-US">
                <a:solidFill>
                  <a:srgbClr val="9BE8DD"/>
                </a:solidFill>
                <a:latin typeface="Consolas" pitchFamily="34" charset="0"/>
                <a:ea typeface="Consolas" pitchFamily="34" charset="-122"/>
                <a:cs typeface="Consolas" pitchFamily="34" charset="-120"/>
              </a:rPr>
              <a:t>            server.set_idle()</a:t>
            </a:r>
            <a:endParaRPr dirty="0" sz="1400" lang="en-US"/>
          </a:p>
        </p:txBody>
      </p:sp>
      <p:sp>
        <p:nvSpPr>
          <p:cNvPr id="1048712" name="Text 4"/>
          <p:cNvSpPr/>
          <p:nvPr/>
        </p:nvSpPr>
        <p:spPr>
          <a:xfrm>
            <a:off x="548640" y="6022911"/>
            <a:ext cx="11064240" cy="502920"/>
          </a:xfrm>
          <a:prstGeom prst="rect"/>
          <a:noFill/>
        </p:spPr>
        <p:txBody>
          <a:bodyPr anchor="ctr" bIns="0" lIns="0" rIns="0" rtlCol="0" tIns="0" wrap="square"/>
          <a:p>
            <a:pPr indent="0" marL="0">
              <a:buNone/>
            </a:pPr>
            <a:r>
              <a:rPr dirty="0" sz="1600" i="1" lang="en-US">
                <a:solidFill>
                  <a:srgbClr val="44546A"/>
                </a:solidFill>
                <a:latin typeface="Calibri" pitchFamily="34" charset="0"/>
                <a:ea typeface="Calibri" pitchFamily="34" charset="-122"/>
                <a:cs typeface="Calibri" pitchFamily="34" charset="-120"/>
              </a:rPr>
              <a:t>This same event-driven skeleton generalizes directly to M/M/c, M/G/1, priority queues, and full multi-station networks — only the event logic changes.</a:t>
            </a:r>
            <a:endParaRPr dirty="0" sz="1600" lang="en-US"/>
          </a:p>
        </p:txBody>
      </p:sp>
      <p:sp>
        <p:nvSpPr>
          <p:cNvPr id="1048713"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714"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9</a:t>
            </a:r>
            <a:endParaRPr dirty="0" sz="90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62" name=""/>
        <p:cNvGrpSpPr/>
        <p:nvPr/>
      </p:nvGrpSpPr>
      <p:grpSpPr>
        <a:xfrm>
          <a:off x="0" y="0"/>
          <a:ext cx="0" cy="0"/>
          <a:chOff x="0" y="0"/>
          <a:chExt cx="0" cy="0"/>
        </a:xfrm>
      </p:grpSpPr>
      <p:sp>
        <p:nvSpPr>
          <p:cNvPr id="1048718"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Why the Event List Must Be Time-Ordered</a:t>
            </a:r>
            <a:endParaRPr dirty="0" sz="2600" lang="en-US"/>
          </a:p>
        </p:txBody>
      </p:sp>
      <p:sp>
        <p:nvSpPr>
          <p:cNvPr id="1048719" name="Shape 1"/>
          <p:cNvSpPr/>
          <p:nvPr/>
        </p:nvSpPr>
        <p:spPr>
          <a:xfrm>
            <a:off x="566928" y="1005840"/>
            <a:ext cx="411480" cy="45720"/>
          </a:xfrm>
          <a:prstGeom prst="rect"/>
          <a:solidFill>
            <a:srgbClr val="00B8A9"/>
          </a:solidFill>
        </p:spPr>
      </p:sp>
      <p:sp>
        <p:nvSpPr>
          <p:cNvPr id="1048720"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Events must be processed in the exact order they would occur in simulated time — never processed out of order</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The event list is typically implemented as a priority queue (often a min-heap), ordered by event timestamp, for efficient insertion and retrieval</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Processing events out of order would corrupt the simulation state — e.g., processing a Departure before an earlier-scheduled Arrival that should have joined that same queue first</a:t>
            </a:r>
            <a:endParaRPr dirty="0" sz="2400" lang="en-US"/>
          </a:p>
        </p:txBody>
      </p:sp>
      <p:sp>
        <p:nvSpPr>
          <p:cNvPr id="1048721"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722"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10</a:t>
            </a:r>
            <a:endParaRPr dirty="0" sz="90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942"/>
        </a:solidFill>
        <a:effectLst/>
      </p:bgPr>
    </p:bg>
    <p:spTree>
      <p:nvGrpSpPr>
        <p:cNvPr id="65" name=""/>
        <p:cNvGrpSpPr/>
        <p:nvPr/>
      </p:nvGrpSpPr>
      <p:grpSpPr>
        <a:xfrm>
          <a:off x="0" y="0"/>
          <a:ext cx="0" cy="0"/>
          <a:chOff x="0" y="0"/>
          <a:chExt cx="0" cy="0"/>
        </a:xfrm>
      </p:grpSpPr>
      <p:sp>
        <p:nvSpPr>
          <p:cNvPr id="1048726" name="Shape 0"/>
          <p:cNvSpPr/>
          <p:nvPr/>
        </p:nvSpPr>
        <p:spPr>
          <a:xfrm>
            <a:off x="0" y="0"/>
            <a:ext cx="228600" cy="6858000"/>
          </a:xfrm>
          <a:prstGeom prst="rect"/>
          <a:solidFill>
            <a:srgbClr val="00B8A9"/>
          </a:solidFill>
        </p:spPr>
      </p:sp>
      <p:sp>
        <p:nvSpPr>
          <p:cNvPr id="1048727"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728"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Random Number Generation (RNG)</a:t>
            </a:r>
            <a:endParaRPr dirty="0" sz="3000" lang="en-US"/>
          </a:p>
        </p:txBody>
      </p:sp>
      <p:sp>
        <p:nvSpPr>
          <p:cNvPr id="1048729"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“The process of generating a sequence of numbers that approximate the properties of true randomness, typically uniform random numbers between 0 and 1, using a deterministic algorithm (a pseudo-random number generator, or PRNG).”</a:t>
            </a:r>
            <a:endParaRPr dirty="0" sz="2400" lang="en-US"/>
          </a:p>
        </p:txBody>
      </p:sp>
      <p:sp>
        <p:nvSpPr>
          <p:cNvPr id="1048730"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'Pseudo-random' because the sequence is fully determined by an initial 'seed' value — this is a feature, not a bug: it allows simulations to be exactly reproduced for debugging and validation</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Modern PRNGs (e.g., Mersenne Twister, PCG) pass rigorous statistical tests for randomness quality</a:t>
            </a:r>
            <a:endParaRPr dirty="0" sz="2400" lang="en-US"/>
          </a:p>
        </p:txBody>
      </p:sp>
      <p:sp>
        <p:nvSpPr>
          <p:cNvPr id="1048731"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732"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11</a:t>
            </a:r>
            <a:endParaRPr dirty="0" sz="900"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942"/>
        </a:solidFill>
        <a:effectLst/>
      </p:bgPr>
    </p:bg>
    <p:spTree>
      <p:nvGrpSpPr>
        <p:cNvPr id="68" name=""/>
        <p:cNvGrpSpPr/>
        <p:nvPr/>
      </p:nvGrpSpPr>
      <p:grpSpPr>
        <a:xfrm>
          <a:off x="0" y="0"/>
          <a:ext cx="0" cy="0"/>
          <a:chOff x="0" y="0"/>
          <a:chExt cx="0" cy="0"/>
        </a:xfrm>
      </p:grpSpPr>
      <p:sp>
        <p:nvSpPr>
          <p:cNvPr id="1048736" name="Shape 0"/>
          <p:cNvSpPr/>
          <p:nvPr/>
        </p:nvSpPr>
        <p:spPr>
          <a:xfrm>
            <a:off x="0" y="0"/>
            <a:ext cx="228600" cy="6858000"/>
          </a:xfrm>
          <a:prstGeom prst="rect"/>
          <a:solidFill>
            <a:srgbClr val="00B8A9"/>
          </a:solidFill>
        </p:spPr>
      </p:sp>
      <p:sp>
        <p:nvSpPr>
          <p:cNvPr id="1048737"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738"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Random Variate Generation</a:t>
            </a:r>
            <a:endParaRPr dirty="0" sz="3000" lang="en-US"/>
          </a:p>
        </p:txBody>
      </p:sp>
      <p:sp>
        <p:nvSpPr>
          <p:cNvPr id="1048739"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“The process of transforming uniform random numbers (from an RNG) into random samples from a specific target distribution — such as exponential, normal, or a custom empirical distribution — needed to drive realistic simulation events.”</a:t>
            </a:r>
            <a:endParaRPr dirty="0" sz="2400" lang="en-US"/>
          </a:p>
        </p:txBody>
      </p:sp>
      <p:sp>
        <p:nvSpPr>
          <p:cNvPr id="1048740" name="Text 4"/>
          <p:cNvSpPr/>
          <p:nvPr/>
        </p:nvSpPr>
        <p:spPr>
          <a:xfrm>
            <a:off x="822960" y="4516021"/>
            <a:ext cx="10241280" cy="1575004"/>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This connects directly back to Lecture 3: every distribution discussed there (exponential, Poisson, normal) needs a corresponding generation technique to be usable in simulation</a:t>
            </a:r>
            <a:endParaRPr dirty="0" sz="2400" lang="en-US"/>
          </a:p>
        </p:txBody>
      </p:sp>
      <p:sp>
        <p:nvSpPr>
          <p:cNvPr id="1048741"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742"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12</a:t>
            </a:r>
            <a:endParaRPr dirty="0" sz="900"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942"/>
        </a:solidFill>
        <a:effectLst/>
      </p:bgPr>
    </p:bg>
    <p:spTree>
      <p:nvGrpSpPr>
        <p:cNvPr id="71" name=""/>
        <p:cNvGrpSpPr/>
        <p:nvPr/>
      </p:nvGrpSpPr>
      <p:grpSpPr>
        <a:xfrm>
          <a:off x="0" y="0"/>
          <a:ext cx="0" cy="0"/>
          <a:chOff x="0" y="0"/>
          <a:chExt cx="0" cy="0"/>
        </a:xfrm>
      </p:grpSpPr>
      <p:sp>
        <p:nvSpPr>
          <p:cNvPr id="1048746" name="Shape 0"/>
          <p:cNvSpPr/>
          <p:nvPr/>
        </p:nvSpPr>
        <p:spPr>
          <a:xfrm>
            <a:off x="0" y="0"/>
            <a:ext cx="228600" cy="6858000"/>
          </a:xfrm>
          <a:prstGeom prst="rect"/>
          <a:solidFill>
            <a:srgbClr val="00B8A9"/>
          </a:solidFill>
        </p:spPr>
      </p:sp>
      <p:sp>
        <p:nvSpPr>
          <p:cNvPr id="1048747"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748"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Inverse Transform Method</a:t>
            </a:r>
            <a:endParaRPr dirty="0" sz="3000" lang="en-US"/>
          </a:p>
        </p:txBody>
      </p:sp>
      <p:sp>
        <p:nvSpPr>
          <p:cNvPr id="1048749"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“A general technique for generating random variates: given a uniform random number U between 0 and 1, compute X = F^(-1)(U), where F^(-1) is the inverse of the target distribution's cumulative distribution function (CDF).”</a:t>
            </a:r>
            <a:endParaRPr dirty="0" sz="2400" lang="en-US"/>
          </a:p>
        </p:txBody>
      </p:sp>
      <p:sp>
        <p:nvSpPr>
          <p:cNvPr id="1048750"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For the exponential distribution with rate lambda, this yields the elegant closed form: X = -ln(1 - U) / lambda</a:t>
            </a:r>
            <a:endParaRPr dirty="0" sz="2400" lang="en-US"/>
          </a:p>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This is exactly how the 'generate_interarrival()' and 'generate_service_time()' calls in the earlier pseudocode would be implemented for exponential inter-arrival and service times</a:t>
            </a:r>
            <a:endParaRPr dirty="0" sz="2400" lang="en-US"/>
          </a:p>
        </p:txBody>
      </p:sp>
      <p:sp>
        <p:nvSpPr>
          <p:cNvPr id="1048751"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752"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13</a:t>
            </a:r>
            <a:endParaRPr dirty="0" sz="900"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74" name=""/>
        <p:cNvGrpSpPr/>
        <p:nvPr/>
      </p:nvGrpSpPr>
      <p:grpSpPr>
        <a:xfrm>
          <a:off x="0" y="0"/>
          <a:ext cx="0" cy="0"/>
          <a:chOff x="0" y="0"/>
          <a:chExt cx="0" cy="0"/>
        </a:xfrm>
      </p:grpSpPr>
      <p:sp>
        <p:nvSpPr>
          <p:cNvPr id="1048756"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Generating Exponential Random Variates</a:t>
            </a:r>
            <a:endParaRPr dirty="0" sz="2600" lang="en-US"/>
          </a:p>
        </p:txBody>
      </p:sp>
      <p:sp>
        <p:nvSpPr>
          <p:cNvPr id="1048757" name="Shape 1"/>
          <p:cNvSpPr/>
          <p:nvPr/>
        </p:nvSpPr>
        <p:spPr>
          <a:xfrm>
            <a:off x="566928" y="1005840"/>
            <a:ext cx="411480" cy="45720"/>
          </a:xfrm>
          <a:prstGeom prst="rect"/>
          <a:solidFill>
            <a:srgbClr val="00B8A9"/>
          </a:solidFill>
        </p:spPr>
      </p:sp>
      <p:sp>
        <p:nvSpPr>
          <p:cNvPr id="1048758" name="Shape 2"/>
          <p:cNvSpPr/>
          <p:nvPr/>
        </p:nvSpPr>
        <p:spPr>
          <a:xfrm>
            <a:off x="548640" y="1325880"/>
            <a:ext cx="11064240" cy="4297680"/>
          </a:xfrm>
          <a:prstGeom prst="roundRect">
            <a:avLst>
              <a:gd name="adj" fmla="val 1702"/>
            </a:avLst>
          </a:prstGeom>
          <a:solidFill>
            <a:srgbClr val="0A1D30"/>
          </a:solidFill>
        </p:spPr>
      </p:sp>
      <p:sp>
        <p:nvSpPr>
          <p:cNvPr id="1048759" name="Text 3"/>
          <p:cNvSpPr/>
          <p:nvPr/>
        </p:nvSpPr>
        <p:spPr>
          <a:xfrm>
            <a:off x="822960" y="1508760"/>
            <a:ext cx="10515600" cy="3931920"/>
          </a:xfrm>
          <a:prstGeom prst="rect"/>
          <a:noFill/>
        </p:spPr>
        <p:txBody>
          <a:bodyPr anchor="t" bIns="0" lIns="0" rIns="0" rtlCol="0" tIns="0" wrap="square"/>
          <a:p>
            <a:pPr indent="0" marL="0">
              <a:buNone/>
            </a:pPr>
            <a:r>
              <a:rPr dirty="0" sz="2000" lang="en-US">
                <a:solidFill>
                  <a:srgbClr val="9BE8DD"/>
                </a:solidFill>
                <a:latin typeface="Consolas" pitchFamily="34" charset="0"/>
                <a:ea typeface="Consolas" pitchFamily="34" charset="-122"/>
                <a:cs typeface="Consolas" pitchFamily="34" charset="-120"/>
              </a:rPr>
              <a:t>function generate_exponential(rate):</a:t>
            </a:r>
            <a:endParaRPr dirty="0" sz="2000" lang="en-US"/>
          </a:p>
          <a:p>
            <a:pPr indent="0" marL="0">
              <a:buNone/>
            </a:pPr>
            <a:r>
              <a:rPr dirty="0" sz="2000" lang="en-US">
                <a:solidFill>
                  <a:srgbClr val="9BE8DD"/>
                </a:solidFill>
                <a:latin typeface="Consolas" pitchFamily="34" charset="0"/>
                <a:ea typeface="Consolas" pitchFamily="34" charset="-122"/>
                <a:cs typeface="Consolas" pitchFamily="34" charset="-120"/>
              </a:rPr>
              <a:t>    U = random_uniform(0, 1)   # from the underlying PRNG</a:t>
            </a:r>
            <a:endParaRPr dirty="0" sz="2000" lang="en-US"/>
          </a:p>
          <a:p>
            <a:pPr indent="0" marL="0">
              <a:buNone/>
            </a:pPr>
            <a:r>
              <a:rPr dirty="0" sz="2000" lang="en-US">
                <a:solidFill>
                  <a:srgbClr val="9BE8DD"/>
                </a:solidFill>
                <a:latin typeface="Consolas" pitchFamily="34" charset="0"/>
                <a:ea typeface="Consolas" pitchFamily="34" charset="-122"/>
                <a:cs typeface="Consolas" pitchFamily="34" charset="-120"/>
              </a:rPr>
              <a:t>    return -ln(1 - U) / rate</a:t>
            </a:r>
            <a:endParaRPr dirty="0" sz="2000" lang="en-US"/>
          </a:p>
          <a:p>
            <a:pPr indent="0" marL="0">
              <a:buNone/>
            </a:pPr>
            <a:endParaRPr dirty="0" sz="2000" lang="en-US"/>
          </a:p>
          <a:p>
            <a:pPr indent="0" marL="0">
              <a:buNone/>
            </a:pPr>
            <a:r>
              <a:rPr dirty="0" sz="2000" lang="en-US">
                <a:solidFill>
                  <a:srgbClr val="9BE8DD"/>
                </a:solidFill>
                <a:latin typeface="Consolas" pitchFamily="34" charset="0"/>
                <a:ea typeface="Consolas" pitchFamily="34" charset="-122"/>
                <a:cs typeface="Consolas" pitchFamily="34" charset="-120"/>
              </a:rPr>
              <a:t># Example: generating 5 interarrival times with rate lambda = 10/sec</a:t>
            </a:r>
            <a:endParaRPr dirty="0" sz="2000" lang="en-US"/>
          </a:p>
          <a:p>
            <a:pPr indent="0" marL="0">
              <a:buNone/>
            </a:pPr>
            <a:r>
              <a:rPr dirty="0" sz="2000" lang="en-US">
                <a:solidFill>
                  <a:srgbClr val="9BE8DD"/>
                </a:solidFill>
                <a:latin typeface="Consolas" pitchFamily="34" charset="0"/>
                <a:ea typeface="Consolas" pitchFamily="34" charset="-122"/>
                <a:cs typeface="Consolas" pitchFamily="34" charset="-120"/>
              </a:rPr>
              <a:t>for i in range(5):</a:t>
            </a:r>
            <a:endParaRPr dirty="0" sz="2000" lang="en-US"/>
          </a:p>
          <a:p>
            <a:pPr indent="0" marL="0">
              <a:buNone/>
            </a:pPr>
            <a:r>
              <a:rPr dirty="0" sz="2000" lang="en-US">
                <a:solidFill>
                  <a:srgbClr val="9BE8DD"/>
                </a:solidFill>
                <a:latin typeface="Consolas" pitchFamily="34" charset="0"/>
                <a:ea typeface="Consolas" pitchFamily="34" charset="-122"/>
                <a:cs typeface="Consolas" pitchFamily="34" charset="-120"/>
              </a:rPr>
              <a:t>    t = generate_exponential(10)</a:t>
            </a:r>
            <a:endParaRPr dirty="0" sz="2000" lang="en-US"/>
          </a:p>
          <a:p>
            <a:pPr indent="0" marL="0">
              <a:buNone/>
            </a:pPr>
            <a:r>
              <a:rPr dirty="0" sz="2000" lang="en-US">
                <a:solidFill>
                  <a:srgbClr val="9BE8DD"/>
                </a:solidFill>
                <a:latin typeface="Consolas" pitchFamily="34" charset="0"/>
                <a:ea typeface="Consolas" pitchFamily="34" charset="-122"/>
                <a:cs typeface="Consolas" pitchFamily="34" charset="-120"/>
              </a:rPr>
              <a:t>    print(t)</a:t>
            </a:r>
            <a:endParaRPr dirty="0" sz="2000" lang="en-US"/>
          </a:p>
          <a:p>
            <a:pPr indent="0" marL="0">
              <a:buNone/>
            </a:pPr>
            <a:r>
              <a:rPr dirty="0" sz="2000" lang="en-US">
                <a:solidFill>
                  <a:srgbClr val="9BE8DD"/>
                </a:solidFill>
                <a:latin typeface="Consolas" pitchFamily="34" charset="0"/>
                <a:ea typeface="Consolas" pitchFamily="34" charset="-122"/>
                <a:cs typeface="Consolas" pitchFamily="34" charset="-120"/>
              </a:rPr>
              <a:t># Might print: 0.031, 0.156, 0.008, 0.204, 0.079 (seconds)</a:t>
            </a:r>
            <a:endParaRPr dirty="0" sz="2000" lang="en-US"/>
          </a:p>
        </p:txBody>
      </p:sp>
      <p:sp>
        <p:nvSpPr>
          <p:cNvPr id="1048760" name="Text 4"/>
          <p:cNvSpPr/>
          <p:nvPr/>
        </p:nvSpPr>
        <p:spPr>
          <a:xfrm>
            <a:off x="548640" y="5715000"/>
            <a:ext cx="11064240" cy="502920"/>
          </a:xfrm>
          <a:prstGeom prst="rect"/>
          <a:noFill/>
        </p:spPr>
        <p:txBody>
          <a:bodyPr anchor="ctr" bIns="0" lIns="0" rIns="0" rtlCol="0" tIns="0" wrap="square"/>
          <a:p>
            <a:pPr indent="0" marL="0">
              <a:buNone/>
            </a:pPr>
            <a:r>
              <a:rPr dirty="0" i="1" lang="en-US">
                <a:solidFill>
                  <a:srgbClr val="44546A"/>
                </a:solidFill>
                <a:latin typeface="Calibri" pitchFamily="34" charset="0"/>
                <a:ea typeface="Calibri" pitchFamily="34" charset="-122"/>
                <a:cs typeface="Calibri" pitchFamily="34" charset="-120"/>
              </a:rPr>
              <a:t>Notice the variability: even with a fixed rate, individual inter-arrival times differ substantially — exactly the randomness the analytical formulas from Lectures 5-6 average over mathematically.</a:t>
            </a:r>
            <a:endParaRPr dirty="0" lang="en-US"/>
          </a:p>
        </p:txBody>
      </p:sp>
      <p:sp>
        <p:nvSpPr>
          <p:cNvPr id="1048761"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762"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14</a:t>
            </a:r>
            <a:endParaRPr dirty="0" sz="900"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77" name=""/>
        <p:cNvGrpSpPr/>
        <p:nvPr/>
      </p:nvGrpSpPr>
      <p:grpSpPr>
        <a:xfrm>
          <a:off x="0" y="0"/>
          <a:ext cx="0" cy="0"/>
          <a:chOff x="0" y="0"/>
          <a:chExt cx="0" cy="0"/>
        </a:xfrm>
      </p:grpSpPr>
      <p:sp>
        <p:nvSpPr>
          <p:cNvPr id="1048766"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The Simulation Warm-Up Problem</a:t>
            </a:r>
            <a:endParaRPr dirty="0" sz="2600" lang="en-US"/>
          </a:p>
        </p:txBody>
      </p:sp>
      <p:sp>
        <p:nvSpPr>
          <p:cNvPr id="1048767" name="Shape 1"/>
          <p:cNvSpPr/>
          <p:nvPr/>
        </p:nvSpPr>
        <p:spPr>
          <a:xfrm>
            <a:off x="566928" y="1005840"/>
            <a:ext cx="411480" cy="45720"/>
          </a:xfrm>
          <a:prstGeom prst="rect"/>
          <a:solidFill>
            <a:srgbClr val="00B8A9"/>
          </a:solidFill>
        </p:spPr>
      </p:sp>
      <p:sp>
        <p:nvSpPr>
          <p:cNvPr id="1048768"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A simulation starting from an empty system (0 customers) does not represent typical steady-state behavior at first</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Early simulated statistics are biased toward 'unrealistically fast/empty' conditions — this is called the initialization bias or warm-up transient</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Standard fix: discard statistics from an initial 'warm-up period' before the system reaches representative steady-state behavior, and only collect statistics afterward</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Determining how long the warm-up period should be is itself a practical skill — often assessed by visually inspecting a plot of a running average over time until it stabilizes</a:t>
            </a:r>
            <a:endParaRPr dirty="0" sz="2400" lang="en-US"/>
          </a:p>
        </p:txBody>
      </p:sp>
      <p:sp>
        <p:nvSpPr>
          <p:cNvPr id="1048769"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770"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15</a:t>
            </a:r>
            <a:endParaRPr dirty="0" sz="900"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80" name=""/>
        <p:cNvGrpSpPr/>
        <p:nvPr/>
      </p:nvGrpSpPr>
      <p:grpSpPr>
        <a:xfrm>
          <a:off x="0" y="0"/>
          <a:ext cx="0" cy="0"/>
          <a:chOff x="0" y="0"/>
          <a:chExt cx="0" cy="0"/>
        </a:xfrm>
      </p:grpSpPr>
      <p:sp>
        <p:nvSpPr>
          <p:cNvPr id="1048774"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Why a Single Simulation Run Is Not Enough</a:t>
            </a:r>
            <a:endParaRPr dirty="0" sz="2600" lang="en-US"/>
          </a:p>
        </p:txBody>
      </p:sp>
      <p:sp>
        <p:nvSpPr>
          <p:cNvPr id="1048775" name="Shape 1"/>
          <p:cNvSpPr/>
          <p:nvPr/>
        </p:nvSpPr>
        <p:spPr>
          <a:xfrm>
            <a:off x="566928" y="1005840"/>
            <a:ext cx="411480" cy="45720"/>
          </a:xfrm>
          <a:prstGeom prst="rect"/>
          <a:solidFill>
            <a:srgbClr val="00B8A9"/>
          </a:solidFill>
        </p:spPr>
      </p:sp>
      <p:sp>
        <p:nvSpPr>
          <p:cNvPr id="1048776"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Because randomness drives the simulation, a single run produces just ONE possible sample outcome, not the true underlying average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Running the same simulation twice with different random seeds can produce meaningfully different results, especially for smaller sample sizes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connects directly back to Lecture 3: a single simulation run is just one sample — we need multiple independent replications to build a proper confidence interval</a:t>
            </a:r>
            <a:endParaRPr dirty="0" sz="2400" lang="en-US"/>
          </a:p>
        </p:txBody>
      </p:sp>
      <p:sp>
        <p:nvSpPr>
          <p:cNvPr id="1048777"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778"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16</a:t>
            </a:r>
            <a:endParaRPr dirty="0" sz="900"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942"/>
        </a:solidFill>
        <a:effectLst/>
      </p:bgPr>
    </p:bg>
    <p:spTree>
      <p:nvGrpSpPr>
        <p:cNvPr id="83" name=""/>
        <p:cNvGrpSpPr/>
        <p:nvPr/>
      </p:nvGrpSpPr>
      <p:grpSpPr>
        <a:xfrm>
          <a:off x="0" y="0"/>
          <a:ext cx="0" cy="0"/>
          <a:chOff x="0" y="0"/>
          <a:chExt cx="0" cy="0"/>
        </a:xfrm>
      </p:grpSpPr>
      <p:sp>
        <p:nvSpPr>
          <p:cNvPr id="1048782" name="Shape 0"/>
          <p:cNvSpPr/>
          <p:nvPr/>
        </p:nvSpPr>
        <p:spPr>
          <a:xfrm>
            <a:off x="0" y="0"/>
            <a:ext cx="228600" cy="6858000"/>
          </a:xfrm>
          <a:prstGeom prst="rect"/>
          <a:solidFill>
            <a:srgbClr val="00B8A9"/>
          </a:solidFill>
        </p:spPr>
      </p:sp>
      <p:sp>
        <p:nvSpPr>
          <p:cNvPr id="1048783" name="Text 1"/>
          <p:cNvSpPr/>
          <p:nvPr/>
        </p:nvSpPr>
        <p:spPr>
          <a:xfrm>
            <a:off x="822960" y="822960"/>
            <a:ext cx="5486400" cy="365760"/>
          </a:xfrm>
          <a:prstGeom prst="rect"/>
          <a:noFill/>
        </p:spPr>
        <p:txBody>
          <a:bodyPr anchor="ctr" bIns="0" lIns="0" rIns="0" rtlCol="0" tIns="0" wrap="square"/>
          <a:p>
            <a:pPr indent="0" marL="0">
              <a:buNone/>
            </a:pPr>
            <a:r>
              <a:rPr b="1" dirty="0" sz="1400" lang="en-US">
                <a:solidFill>
                  <a:srgbClr val="00B8A9"/>
                </a:solidFill>
                <a:latin typeface="Calibri" pitchFamily="34" charset="0"/>
                <a:ea typeface="Calibri" pitchFamily="34" charset="-122"/>
                <a:cs typeface="Calibri" pitchFamily="34" charset="-120"/>
              </a:rPr>
              <a:t>DEFINITION</a:t>
            </a:r>
            <a:endParaRPr dirty="0" sz="1400" lang="en-US"/>
          </a:p>
        </p:txBody>
      </p:sp>
      <p:sp>
        <p:nvSpPr>
          <p:cNvPr id="1048784" name="Text 2"/>
          <p:cNvSpPr/>
          <p:nvPr/>
        </p:nvSpPr>
        <p:spPr>
          <a:xfrm>
            <a:off x="822960" y="1188720"/>
            <a:ext cx="10515600" cy="822960"/>
          </a:xfrm>
          <a:prstGeom prst="rect"/>
          <a:noFill/>
        </p:spPr>
        <p:txBody>
          <a:bodyPr anchor="ctr" bIns="0" lIns="0" rIns="0" rtlCol="0" tIns="0" wrap="square"/>
          <a:p>
            <a:pPr indent="0" marL="0">
              <a:buNone/>
            </a:pPr>
            <a:r>
              <a:rPr b="1" dirty="0" sz="3000" lang="en-US">
                <a:solidFill>
                  <a:srgbClr val="FFFFFF"/>
                </a:solidFill>
                <a:latin typeface="Calibri" pitchFamily="34" charset="0"/>
                <a:ea typeface="Calibri" pitchFamily="34" charset="-122"/>
                <a:cs typeface="Calibri" pitchFamily="34" charset="-120"/>
              </a:rPr>
              <a:t>Independent Replications</a:t>
            </a:r>
            <a:endParaRPr dirty="0" sz="3000" lang="en-US"/>
          </a:p>
        </p:txBody>
      </p:sp>
      <p:sp>
        <p:nvSpPr>
          <p:cNvPr id="1048785" name="Text 3"/>
          <p:cNvSpPr/>
          <p:nvPr/>
        </p:nvSpPr>
        <p:spPr>
          <a:xfrm>
            <a:off x="822960" y="2148840"/>
            <a:ext cx="10241280" cy="1828800"/>
          </a:xfrm>
          <a:prstGeom prst="rect"/>
          <a:noFill/>
        </p:spPr>
        <p:txBody>
          <a:bodyPr anchor="t" bIns="0" lIns="0" rIns="0" rtlCol="0" tIns="0" wrap="square"/>
          <a:p>
            <a:pPr indent="0" marL="0">
              <a:lnSpc>
                <a:spcPct val="130000"/>
              </a:lnSpc>
              <a:buNone/>
            </a:pPr>
            <a:r>
              <a:rPr dirty="0" sz="2400" i="1" lang="en-US">
                <a:solidFill>
                  <a:srgbClr val="DCE3EA"/>
                </a:solidFill>
                <a:latin typeface="Calibri" pitchFamily="34" charset="0"/>
                <a:ea typeface="Calibri" pitchFamily="34" charset="-122"/>
                <a:cs typeface="Calibri" pitchFamily="34" charset="-120"/>
              </a:rPr>
              <a:t>“Running the same simulation model multiple times, each with a different, independent random number seed, in order to obtain multiple independent samples of the output metrics for statistical analysis.”</a:t>
            </a:r>
            <a:endParaRPr dirty="0" sz="2400" lang="en-US"/>
          </a:p>
        </p:txBody>
      </p:sp>
      <p:sp>
        <p:nvSpPr>
          <p:cNvPr id="1048786" name="Text 4"/>
          <p:cNvSpPr/>
          <p:nvPr/>
        </p:nvSpPr>
        <p:spPr>
          <a:xfrm>
            <a:off x="822960" y="4114800"/>
            <a:ext cx="10241280" cy="2103120"/>
          </a:xfrm>
          <a:prstGeom prst="rect"/>
          <a:noFill/>
        </p:spPr>
        <p:txBody>
          <a:bodyPr anchor="t" bIns="0" lIns="0" rIns="0" rtlCol="0" tIns="0" wrap="square"/>
          <a:p>
            <a:pPr indent="-342900" marL="342900">
              <a:spcAft>
                <a:spcPts val="800"/>
              </a:spcAft>
              <a:buSzPct val="100000"/>
              <a:buChar char="•"/>
            </a:pPr>
            <a:r>
              <a:rPr dirty="0" sz="2400" lang="en-US">
                <a:solidFill>
                  <a:srgbClr val="C7D0D9"/>
                </a:solidFill>
                <a:latin typeface="Calibri" pitchFamily="34" charset="0"/>
                <a:ea typeface="Calibri" pitchFamily="34" charset="-122"/>
                <a:cs typeface="Calibri" pitchFamily="34" charset="-120"/>
              </a:rPr>
              <a:t>Each replication gives one estimate of, e.g., average response time — treating these estimates as a sample lets us apply exactly the confidence interval techniques from Lecture 3</a:t>
            </a:r>
            <a:endParaRPr dirty="0" sz="2400" lang="en-US"/>
          </a:p>
        </p:txBody>
      </p:sp>
      <p:sp>
        <p:nvSpPr>
          <p:cNvPr id="1048787" name="Text 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788" name="Text 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17</a:t>
            </a:r>
            <a:endParaRPr dirty="0" sz="900"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86" name=""/>
        <p:cNvGrpSpPr/>
        <p:nvPr/>
      </p:nvGrpSpPr>
      <p:grpSpPr>
        <a:xfrm>
          <a:off x="0" y="0"/>
          <a:ext cx="0" cy="0"/>
          <a:chOff x="0" y="0"/>
          <a:chExt cx="0" cy="0"/>
        </a:xfrm>
      </p:grpSpPr>
      <p:sp>
        <p:nvSpPr>
          <p:cNvPr id="1048792"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Standard Simulation Output Analysis Workflow</a:t>
            </a:r>
            <a:endParaRPr dirty="0" sz="2600" lang="en-US"/>
          </a:p>
        </p:txBody>
      </p:sp>
      <p:sp>
        <p:nvSpPr>
          <p:cNvPr id="1048793" name="Shape 1"/>
          <p:cNvSpPr/>
          <p:nvPr/>
        </p:nvSpPr>
        <p:spPr>
          <a:xfrm>
            <a:off x="566928" y="1005840"/>
            <a:ext cx="411480" cy="45720"/>
          </a:xfrm>
          <a:prstGeom prst="rect"/>
          <a:solidFill>
            <a:srgbClr val="00B8A9"/>
          </a:solidFill>
        </p:spPr>
      </p:sp>
      <p:sp>
        <p:nvSpPr>
          <p:cNvPr id="1048794" name="Shape 2"/>
          <p:cNvSpPr/>
          <p:nvPr/>
        </p:nvSpPr>
        <p:spPr>
          <a:xfrm>
            <a:off x="594360" y="2377440"/>
            <a:ext cx="2480310" cy="2377440"/>
          </a:xfrm>
          <a:prstGeom prst="roundRect">
            <a:avLst>
              <a:gd name="adj" fmla="val 3462"/>
            </a:avLst>
          </a:prstGeom>
          <a:solidFill>
            <a:srgbClr val="0F2942"/>
          </a:solidFill>
        </p:spPr>
      </p:sp>
      <p:sp>
        <p:nvSpPr>
          <p:cNvPr id="1048795" name="Shape 3"/>
          <p:cNvSpPr/>
          <p:nvPr/>
        </p:nvSpPr>
        <p:spPr>
          <a:xfrm>
            <a:off x="1578483" y="2103120"/>
            <a:ext cx="512064" cy="512064"/>
          </a:xfrm>
          <a:prstGeom prst="ellipse"/>
          <a:solidFill>
            <a:srgbClr val="00B8A9"/>
          </a:solidFill>
          <a:ln w="25400">
            <a:solidFill>
              <a:srgbClr val="FFFFFF"/>
            </a:solidFill>
            <a:prstDash val="solid"/>
          </a:ln>
        </p:spPr>
      </p:sp>
      <p:sp>
        <p:nvSpPr>
          <p:cNvPr id="1048796" name="Text 4"/>
          <p:cNvSpPr/>
          <p:nvPr/>
        </p:nvSpPr>
        <p:spPr>
          <a:xfrm>
            <a:off x="157848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1</a:t>
            </a:r>
            <a:endParaRPr dirty="0" sz="1500" lang="en-US"/>
          </a:p>
        </p:txBody>
      </p:sp>
      <p:sp>
        <p:nvSpPr>
          <p:cNvPr id="1048797" name="Text 5"/>
          <p:cNvSpPr/>
          <p:nvPr/>
        </p:nvSpPr>
        <p:spPr>
          <a:xfrm>
            <a:off x="731520" y="2697480"/>
            <a:ext cx="2205990" cy="548640"/>
          </a:xfrm>
          <a:prstGeom prst="rect"/>
          <a:noFill/>
        </p:spPr>
        <p:txBody>
          <a:bodyPr anchor="t" bIns="0" lIns="0" rIns="0" rtlCol="0" tIns="0" wrap="square"/>
          <a:p>
            <a:pPr algn="ctr" indent="0" marL="0">
              <a:buNone/>
            </a:pPr>
            <a:r>
              <a:rPr b="1" dirty="0" sz="1600" lang="en-US">
                <a:solidFill>
                  <a:srgbClr val="FFFFFF"/>
                </a:solidFill>
                <a:latin typeface="Calibri" pitchFamily="34" charset="0"/>
                <a:ea typeface="Calibri" pitchFamily="34" charset="-122"/>
                <a:cs typeface="Calibri" pitchFamily="34" charset="-120"/>
              </a:rPr>
              <a:t>1. Warm-up</a:t>
            </a:r>
            <a:endParaRPr dirty="0" sz="1600" lang="en-US"/>
          </a:p>
        </p:txBody>
      </p:sp>
      <p:sp>
        <p:nvSpPr>
          <p:cNvPr id="1048798" name="Text 6"/>
          <p:cNvSpPr/>
          <p:nvPr/>
        </p:nvSpPr>
        <p:spPr>
          <a:xfrm>
            <a:off x="731520" y="3246120"/>
            <a:ext cx="2205990" cy="1417320"/>
          </a:xfrm>
          <a:prstGeom prst="rect"/>
          <a:noFill/>
        </p:spPr>
        <p:txBody>
          <a:bodyPr anchor="t" bIns="0" lIns="0" rIns="0" rtlCol="0" tIns="0" wrap="square"/>
          <a:p>
            <a:pPr algn="ctr" indent="0" marL="0">
              <a:lnSpc>
                <a:spcPct val="115000"/>
              </a:lnSpc>
              <a:buNone/>
            </a:pPr>
            <a:r>
              <a:rPr dirty="0" sz="2000" lang="en-US">
                <a:solidFill>
                  <a:srgbClr val="D8DEE6"/>
                </a:solidFill>
                <a:latin typeface="Calibri" pitchFamily="34" charset="0"/>
                <a:ea typeface="Calibri" pitchFamily="34" charset="-122"/>
                <a:cs typeface="Calibri" pitchFamily="34" charset="-120"/>
              </a:rPr>
              <a:t>Run the simulation and discard initial transient-period statistics.</a:t>
            </a:r>
            <a:endParaRPr dirty="0" sz="2000" lang="en-US"/>
          </a:p>
        </p:txBody>
      </p:sp>
      <p:sp>
        <p:nvSpPr>
          <p:cNvPr id="1048799" name="Text 7"/>
          <p:cNvSpPr/>
          <p:nvPr/>
        </p:nvSpPr>
        <p:spPr>
          <a:xfrm>
            <a:off x="307467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800" name="Shape 8"/>
          <p:cNvSpPr/>
          <p:nvPr/>
        </p:nvSpPr>
        <p:spPr>
          <a:xfrm>
            <a:off x="3394710" y="2377440"/>
            <a:ext cx="2480310" cy="2377440"/>
          </a:xfrm>
          <a:prstGeom prst="roundRect">
            <a:avLst>
              <a:gd name="adj" fmla="val 3462"/>
            </a:avLst>
          </a:prstGeom>
          <a:solidFill>
            <a:srgbClr val="44546A"/>
          </a:solidFill>
        </p:spPr>
      </p:sp>
      <p:sp>
        <p:nvSpPr>
          <p:cNvPr id="1048801" name="Shape 9"/>
          <p:cNvSpPr/>
          <p:nvPr/>
        </p:nvSpPr>
        <p:spPr>
          <a:xfrm>
            <a:off x="4378833" y="2103120"/>
            <a:ext cx="512064" cy="512064"/>
          </a:xfrm>
          <a:prstGeom prst="ellipse"/>
          <a:solidFill>
            <a:srgbClr val="00B8A9"/>
          </a:solidFill>
          <a:ln w="25400">
            <a:solidFill>
              <a:srgbClr val="FFFFFF"/>
            </a:solidFill>
            <a:prstDash val="solid"/>
          </a:ln>
        </p:spPr>
      </p:sp>
      <p:sp>
        <p:nvSpPr>
          <p:cNvPr id="1048802" name="Text 10"/>
          <p:cNvSpPr/>
          <p:nvPr/>
        </p:nvSpPr>
        <p:spPr>
          <a:xfrm>
            <a:off x="437883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2</a:t>
            </a:r>
            <a:endParaRPr dirty="0" sz="1500" lang="en-US"/>
          </a:p>
        </p:txBody>
      </p:sp>
      <p:sp>
        <p:nvSpPr>
          <p:cNvPr id="1048803" name="Text 11"/>
          <p:cNvSpPr/>
          <p:nvPr/>
        </p:nvSpPr>
        <p:spPr>
          <a:xfrm>
            <a:off x="3531870" y="2697480"/>
            <a:ext cx="2205990" cy="548640"/>
          </a:xfrm>
          <a:prstGeom prst="rect"/>
          <a:noFill/>
        </p:spPr>
        <p:txBody>
          <a:bodyPr anchor="t" bIns="0" lIns="0" rIns="0" rtlCol="0" tIns="0" wrap="square"/>
          <a:p>
            <a:pPr algn="ctr" indent="0" marL="0">
              <a:buNone/>
            </a:pPr>
            <a:r>
              <a:rPr b="1" dirty="0" sz="1600" lang="en-US">
                <a:solidFill>
                  <a:srgbClr val="FFFFFF"/>
                </a:solidFill>
                <a:latin typeface="Calibri" pitchFamily="34" charset="0"/>
                <a:ea typeface="Calibri" pitchFamily="34" charset="-122"/>
                <a:cs typeface="Calibri" pitchFamily="34" charset="-120"/>
              </a:rPr>
              <a:t>2. Run N Replications</a:t>
            </a:r>
            <a:endParaRPr dirty="0" sz="1600" lang="en-US"/>
          </a:p>
        </p:txBody>
      </p:sp>
      <p:sp>
        <p:nvSpPr>
          <p:cNvPr id="1048804" name="Text 12"/>
          <p:cNvSpPr/>
          <p:nvPr/>
        </p:nvSpPr>
        <p:spPr>
          <a:xfrm>
            <a:off x="3531870" y="3246120"/>
            <a:ext cx="2205990" cy="1417320"/>
          </a:xfrm>
          <a:prstGeom prst="rect"/>
          <a:noFill/>
        </p:spPr>
        <p:txBody>
          <a:bodyPr anchor="t" bIns="0" lIns="0" rIns="0" rtlCol="0" tIns="0" wrap="square"/>
          <a:p>
            <a:pPr algn="ctr" indent="0" marL="0">
              <a:lnSpc>
                <a:spcPct val="115000"/>
              </a:lnSpc>
              <a:buNone/>
            </a:pPr>
            <a:r>
              <a:rPr dirty="0" sz="2000" lang="en-US">
                <a:solidFill>
                  <a:srgbClr val="D8DEE6"/>
                </a:solidFill>
                <a:latin typeface="Calibri" pitchFamily="34" charset="0"/>
                <a:ea typeface="Calibri" pitchFamily="34" charset="-122"/>
                <a:cs typeface="Calibri" pitchFamily="34" charset="-120"/>
              </a:rPr>
              <a:t>Repeat the simulation with different random seeds, e.g., 30 times.</a:t>
            </a:r>
            <a:endParaRPr dirty="0" sz="2000" lang="en-US"/>
          </a:p>
        </p:txBody>
      </p:sp>
      <p:sp>
        <p:nvSpPr>
          <p:cNvPr id="1048805" name="Text 13"/>
          <p:cNvSpPr/>
          <p:nvPr/>
        </p:nvSpPr>
        <p:spPr>
          <a:xfrm>
            <a:off x="587502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806" name="Shape 14"/>
          <p:cNvSpPr/>
          <p:nvPr/>
        </p:nvSpPr>
        <p:spPr>
          <a:xfrm>
            <a:off x="6195060" y="2377440"/>
            <a:ext cx="2480310" cy="2377440"/>
          </a:xfrm>
          <a:prstGeom prst="roundRect">
            <a:avLst>
              <a:gd name="adj" fmla="val 3462"/>
            </a:avLst>
          </a:prstGeom>
          <a:solidFill>
            <a:srgbClr val="0F2942"/>
          </a:solidFill>
        </p:spPr>
      </p:sp>
      <p:sp>
        <p:nvSpPr>
          <p:cNvPr id="1048807" name="Shape 15"/>
          <p:cNvSpPr/>
          <p:nvPr/>
        </p:nvSpPr>
        <p:spPr>
          <a:xfrm>
            <a:off x="7179183" y="2103120"/>
            <a:ext cx="512064" cy="512064"/>
          </a:xfrm>
          <a:prstGeom prst="ellipse"/>
          <a:solidFill>
            <a:srgbClr val="00B8A9"/>
          </a:solidFill>
          <a:ln w="25400">
            <a:solidFill>
              <a:srgbClr val="FFFFFF"/>
            </a:solidFill>
            <a:prstDash val="solid"/>
          </a:ln>
        </p:spPr>
      </p:sp>
      <p:sp>
        <p:nvSpPr>
          <p:cNvPr id="1048808" name="Text 16"/>
          <p:cNvSpPr/>
          <p:nvPr/>
        </p:nvSpPr>
        <p:spPr>
          <a:xfrm>
            <a:off x="717918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3</a:t>
            </a:r>
            <a:endParaRPr dirty="0" sz="1500" lang="en-US"/>
          </a:p>
        </p:txBody>
      </p:sp>
      <p:sp>
        <p:nvSpPr>
          <p:cNvPr id="1048809" name="Text 17"/>
          <p:cNvSpPr/>
          <p:nvPr/>
        </p:nvSpPr>
        <p:spPr>
          <a:xfrm>
            <a:off x="6332220" y="2697480"/>
            <a:ext cx="2205990" cy="548640"/>
          </a:xfrm>
          <a:prstGeom prst="rect"/>
          <a:noFill/>
        </p:spPr>
        <p:txBody>
          <a:bodyPr anchor="t" bIns="0" lIns="0" rIns="0" rtlCol="0" tIns="0" wrap="square"/>
          <a:p>
            <a:pPr algn="ctr" indent="0" marL="0">
              <a:buNone/>
            </a:pPr>
            <a:r>
              <a:rPr b="1" dirty="0" sz="1600" lang="en-US">
                <a:solidFill>
                  <a:srgbClr val="FFFFFF"/>
                </a:solidFill>
                <a:latin typeface="Calibri" pitchFamily="34" charset="0"/>
                <a:ea typeface="Calibri" pitchFamily="34" charset="-122"/>
                <a:cs typeface="Calibri" pitchFamily="34" charset="-120"/>
              </a:rPr>
              <a:t>3. Collect Sample Means</a:t>
            </a:r>
            <a:endParaRPr dirty="0" sz="1600" lang="en-US"/>
          </a:p>
        </p:txBody>
      </p:sp>
      <p:sp>
        <p:nvSpPr>
          <p:cNvPr id="1048810" name="Text 18"/>
          <p:cNvSpPr/>
          <p:nvPr/>
        </p:nvSpPr>
        <p:spPr>
          <a:xfrm>
            <a:off x="6332220" y="3246120"/>
            <a:ext cx="2205990" cy="1417320"/>
          </a:xfrm>
          <a:prstGeom prst="rect"/>
          <a:noFill/>
        </p:spPr>
        <p:txBody>
          <a:bodyPr anchor="t" bIns="0" lIns="0" rIns="0" rtlCol="0" tIns="0" wrap="square"/>
          <a:p>
            <a:pPr algn="ctr" indent="0" marL="0">
              <a:lnSpc>
                <a:spcPct val="115000"/>
              </a:lnSpc>
              <a:buNone/>
            </a:pPr>
            <a:r>
              <a:rPr dirty="0" sz="2000" lang="en-US">
                <a:solidFill>
                  <a:srgbClr val="D8DEE6"/>
                </a:solidFill>
                <a:latin typeface="Calibri" pitchFamily="34" charset="0"/>
                <a:ea typeface="Calibri" pitchFamily="34" charset="-122"/>
                <a:cs typeface="Calibri" pitchFamily="34" charset="-120"/>
              </a:rPr>
              <a:t>Record the metric of interest (e.g., avg response time) from each replication.</a:t>
            </a:r>
            <a:endParaRPr dirty="0" sz="2000" lang="en-US"/>
          </a:p>
        </p:txBody>
      </p:sp>
      <p:sp>
        <p:nvSpPr>
          <p:cNvPr id="1048811" name="Text 19"/>
          <p:cNvSpPr/>
          <p:nvPr/>
        </p:nvSpPr>
        <p:spPr>
          <a:xfrm>
            <a:off x="8675370" y="3246120"/>
            <a:ext cx="320040" cy="640080"/>
          </a:xfrm>
          <a:prstGeom prst="rect"/>
          <a:noFill/>
        </p:spPr>
        <p:txBody>
          <a:bodyPr anchor="ctr" bIns="0" lIns="0" rIns="0" rtlCol="0" tIns="0" wrap="square"/>
          <a:p>
            <a:pPr algn="ctr" indent="0" marL="0">
              <a:buNone/>
            </a:pPr>
            <a:r>
              <a:rPr b="1" dirty="0" sz="2200" lang="en-US">
                <a:solidFill>
                  <a:srgbClr val="00B8A9"/>
                </a:solidFill>
                <a:latin typeface="Calibri" pitchFamily="34" charset="0"/>
                <a:ea typeface="Calibri" pitchFamily="34" charset="-122"/>
                <a:cs typeface="Calibri" pitchFamily="34" charset="-120"/>
              </a:rPr>
              <a:t>→</a:t>
            </a:r>
            <a:endParaRPr dirty="0" sz="2200" lang="en-US"/>
          </a:p>
        </p:txBody>
      </p:sp>
      <p:sp>
        <p:nvSpPr>
          <p:cNvPr id="1048812" name="Shape 20"/>
          <p:cNvSpPr/>
          <p:nvPr/>
        </p:nvSpPr>
        <p:spPr>
          <a:xfrm>
            <a:off x="8995410" y="2377440"/>
            <a:ext cx="2480310" cy="2377440"/>
          </a:xfrm>
          <a:prstGeom prst="roundRect">
            <a:avLst>
              <a:gd name="adj" fmla="val 3462"/>
            </a:avLst>
          </a:prstGeom>
          <a:solidFill>
            <a:srgbClr val="44546A"/>
          </a:solidFill>
        </p:spPr>
      </p:sp>
      <p:sp>
        <p:nvSpPr>
          <p:cNvPr id="1048813" name="Shape 21"/>
          <p:cNvSpPr/>
          <p:nvPr/>
        </p:nvSpPr>
        <p:spPr>
          <a:xfrm>
            <a:off x="9979533" y="2103120"/>
            <a:ext cx="512064" cy="512064"/>
          </a:xfrm>
          <a:prstGeom prst="ellipse"/>
          <a:solidFill>
            <a:srgbClr val="00B8A9"/>
          </a:solidFill>
          <a:ln w="25400">
            <a:solidFill>
              <a:srgbClr val="FFFFFF"/>
            </a:solidFill>
            <a:prstDash val="solid"/>
          </a:ln>
        </p:spPr>
      </p:sp>
      <p:sp>
        <p:nvSpPr>
          <p:cNvPr id="1048814" name="Text 22"/>
          <p:cNvSpPr/>
          <p:nvPr/>
        </p:nvSpPr>
        <p:spPr>
          <a:xfrm>
            <a:off x="9979533" y="2103120"/>
            <a:ext cx="512064" cy="512064"/>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4</a:t>
            </a:r>
            <a:endParaRPr dirty="0" sz="1500" lang="en-US"/>
          </a:p>
        </p:txBody>
      </p:sp>
      <p:sp>
        <p:nvSpPr>
          <p:cNvPr id="1048815" name="Text 23"/>
          <p:cNvSpPr/>
          <p:nvPr/>
        </p:nvSpPr>
        <p:spPr>
          <a:xfrm>
            <a:off x="9132570" y="2697480"/>
            <a:ext cx="2205990" cy="548640"/>
          </a:xfrm>
          <a:prstGeom prst="rect"/>
          <a:noFill/>
        </p:spPr>
        <p:txBody>
          <a:bodyPr anchor="t" bIns="0" lIns="0" rIns="0" rtlCol="0" tIns="0" wrap="square"/>
          <a:p>
            <a:pPr algn="ctr" indent="0" marL="0">
              <a:buNone/>
            </a:pPr>
            <a:r>
              <a:rPr b="1" dirty="0" sz="1600" lang="en-US">
                <a:solidFill>
                  <a:srgbClr val="FFFFFF"/>
                </a:solidFill>
                <a:latin typeface="Calibri" pitchFamily="34" charset="0"/>
                <a:ea typeface="Calibri" pitchFamily="34" charset="-122"/>
                <a:cs typeface="Calibri" pitchFamily="34" charset="-120"/>
              </a:rPr>
              <a:t>4. Compute Confidence Interval</a:t>
            </a:r>
            <a:endParaRPr dirty="0" sz="1600" lang="en-US"/>
          </a:p>
        </p:txBody>
      </p:sp>
      <p:sp>
        <p:nvSpPr>
          <p:cNvPr id="1048816" name="Text 24"/>
          <p:cNvSpPr/>
          <p:nvPr/>
        </p:nvSpPr>
        <p:spPr>
          <a:xfrm>
            <a:off x="9132570" y="3246120"/>
            <a:ext cx="2205990" cy="1417320"/>
          </a:xfrm>
          <a:prstGeom prst="rect"/>
          <a:noFill/>
        </p:spPr>
        <p:txBody>
          <a:bodyPr anchor="t" bIns="0" lIns="0" rIns="0" rtlCol="0" tIns="0" wrap="square"/>
          <a:p>
            <a:pPr algn="ctr" indent="0" marL="0">
              <a:lnSpc>
                <a:spcPct val="115000"/>
              </a:lnSpc>
              <a:buNone/>
            </a:pPr>
            <a:r>
              <a:rPr dirty="0" sz="2000" lang="en-US">
                <a:solidFill>
                  <a:srgbClr val="D8DEE6"/>
                </a:solidFill>
                <a:latin typeface="Calibri" pitchFamily="34" charset="0"/>
                <a:ea typeface="Calibri" pitchFamily="34" charset="-122"/>
                <a:cs typeface="Calibri" pitchFamily="34" charset="-120"/>
              </a:rPr>
              <a:t>Apply Lecture 3's techniques to the N sample means.</a:t>
            </a:r>
            <a:endParaRPr dirty="0" sz="2000" lang="en-US"/>
          </a:p>
        </p:txBody>
      </p:sp>
      <p:sp>
        <p:nvSpPr>
          <p:cNvPr id="1048817" name="Text 25"/>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818" name="Text 26"/>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18</a:t>
            </a:r>
            <a:endParaRPr dirty="0" sz="900"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89" name=""/>
        <p:cNvGrpSpPr/>
        <p:nvPr/>
      </p:nvGrpSpPr>
      <p:grpSpPr>
        <a:xfrm>
          <a:off x="0" y="0"/>
          <a:ext cx="0" cy="0"/>
          <a:chOff x="0" y="0"/>
          <a:chExt cx="0" cy="0"/>
        </a:xfrm>
      </p:grpSpPr>
      <p:sp>
        <p:nvSpPr>
          <p:cNvPr id="1048822"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Worked Example: Confidence Interval from Replications</a:t>
            </a:r>
            <a:endParaRPr dirty="0" sz="2600" lang="en-US"/>
          </a:p>
        </p:txBody>
      </p:sp>
      <p:sp>
        <p:nvSpPr>
          <p:cNvPr id="1048823" name="Shape 1"/>
          <p:cNvSpPr/>
          <p:nvPr/>
        </p:nvSpPr>
        <p:spPr>
          <a:xfrm>
            <a:off x="566928" y="1005840"/>
            <a:ext cx="411480" cy="45720"/>
          </a:xfrm>
          <a:prstGeom prst="rect"/>
          <a:solidFill>
            <a:srgbClr val="00B8A9"/>
          </a:solidFill>
        </p:spPr>
      </p:sp>
      <p:graphicFrame>
        <p:nvGraphicFramePr>
          <p:cNvPr id="4194304" name="Table 0"/>
          <p:cNvGraphicFramePr>
            <a:graphicFrameLocks noGrp="1"/>
          </p:cNvGraphicFramePr>
          <p:nvPr/>
        </p:nvGraphicFramePr>
        <p:xfrm>
          <a:off x="548640" y="1325880"/>
          <a:ext cx="11064240" cy="4871720"/>
        </p:xfrm>
        <a:graphic>
          <a:graphicData uri="http://schemas.openxmlformats.org/drawingml/2006/table">
            <a:tbl>
              <a:tblPr/>
              <a:tblGrid>
                <a:gridCol w="5532120"/>
                <a:gridCol w="5532120"/>
              </a:tblGrid>
              <a:tr h="807720">
                <a:tc>
                  <a:txBody>
                    <a:bodyPr/>
                    <a:p>
                      <a:pPr indent="0" marL="0">
                        <a:buNone/>
                      </a:pPr>
                      <a:r>
                        <a:rPr b="1" dirty="0" sz="2400" lang="en-US">
                          <a:solidFill>
                            <a:srgbClr val="FFFFFF"/>
                          </a:solidFill>
                          <a:latin typeface="Calibri" pitchFamily="34" charset="0"/>
                          <a:ea typeface="Calibri" pitchFamily="34" charset="-122"/>
                          <a:cs typeface="Calibri" pitchFamily="34" charset="-120"/>
                        </a:rPr>
                        <a:t>Quantity</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p>
                      <a:pPr indent="0" marL="0">
                        <a:buNone/>
                      </a:pPr>
                      <a:r>
                        <a:rPr b="1" dirty="0" sz="2400" lang="en-US">
                          <a:solidFill>
                            <a:srgbClr val="FFFFFF"/>
                          </a:solidFill>
                          <a:latin typeface="Calibri" pitchFamily="34" charset="0"/>
                          <a:ea typeface="Calibri" pitchFamily="34" charset="-122"/>
                          <a:cs typeface="Calibri" pitchFamily="34" charset="-120"/>
                        </a:rPr>
                        <a:t>Value</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Number of replications (N)</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30</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Sample mean response time</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142 ms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Sample standard deviation (across replications)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18 ms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Standard error (18 / sqrt(30))</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 3.3 ms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r>
              <a:tr h="807720">
                <a:tc>
                  <a:txBody>
                    <a:bodyPr/>
                    <a:p>
                      <a:pPr indent="0" marL="0">
                        <a:buNone/>
                      </a:pPr>
                      <a:r>
                        <a:rPr dirty="0" sz="2400" lang="en-US">
                          <a:solidFill>
                            <a:srgbClr val="1A1A2E"/>
                          </a:solidFill>
                          <a:latin typeface="Calibri" pitchFamily="34" charset="0"/>
                          <a:ea typeface="Calibri" pitchFamily="34" charset="-122"/>
                          <a:cs typeface="Calibri" pitchFamily="34" charset="-120"/>
                        </a:rPr>
                        <a:t>95% confidence interval</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p>
                      <a:pPr indent="0" marL="0">
                        <a:buNone/>
                      </a:pPr>
                      <a:r>
                        <a:rPr dirty="0" sz="2400" lang="en-US">
                          <a:solidFill>
                            <a:srgbClr val="1A1A2E"/>
                          </a:solidFill>
                          <a:latin typeface="Calibri" pitchFamily="34" charset="0"/>
                          <a:ea typeface="Calibri" pitchFamily="34" charset="-122"/>
                          <a:cs typeface="Calibri" pitchFamily="34" charset="-120"/>
                        </a:rPr>
                        <a:t>≈ (135.5 ms, 148.5 ms)</a:t>
                      </a:r>
                      <a:endParaRPr dirty="0" sz="2400" lang="en-US">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bl>
          </a:graphicData>
        </a:graphic>
      </p:graphicFrame>
      <p:sp>
        <p:nvSpPr>
          <p:cNvPr id="1048824" name="Text 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825" name="Text 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19</a:t>
            </a:r>
            <a:endParaRPr dirty="0" sz="900"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92" name=""/>
        <p:cNvGrpSpPr/>
        <p:nvPr/>
      </p:nvGrpSpPr>
      <p:grpSpPr>
        <a:xfrm>
          <a:off x="0" y="0"/>
          <a:ext cx="0" cy="0"/>
          <a:chOff x="0" y="0"/>
          <a:chExt cx="0" cy="0"/>
        </a:xfrm>
      </p:grpSpPr>
      <p:sp>
        <p:nvSpPr>
          <p:cNvPr id="104882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Interpreting the Simulation Confidence Interval</a:t>
            </a:r>
            <a:endParaRPr dirty="0" sz="2600" lang="en-US"/>
          </a:p>
        </p:txBody>
      </p:sp>
      <p:sp>
        <p:nvSpPr>
          <p:cNvPr id="1048830" name="Shape 1"/>
          <p:cNvSpPr/>
          <p:nvPr/>
        </p:nvSpPr>
        <p:spPr>
          <a:xfrm>
            <a:off x="566928" y="1005840"/>
            <a:ext cx="411480" cy="45720"/>
          </a:xfrm>
          <a:prstGeom prst="rect"/>
          <a:solidFill>
            <a:srgbClr val="00B8A9"/>
          </a:solidFill>
        </p:spPr>
      </p:sp>
      <p:sp>
        <p:nvSpPr>
          <p:cNvPr id="1048831"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We can now report: 'the true average response time is estimated to be between 135.5ms and 148.5ms, with 95% confidence' — not just a single, potentially misleading point estimate</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This is strictly more honest and useful than reporting '142ms' alone from a single simulation run</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If the confidence interval is too wide for decision-making purposes, the standard remedy is simply to run more replications — recall from Lecture 3 that margin of error shrinks with sqrt(n)</a:t>
            </a:r>
            <a:endParaRPr dirty="0" sz="2400" lang="en-US"/>
          </a:p>
        </p:txBody>
      </p:sp>
      <p:sp>
        <p:nvSpPr>
          <p:cNvPr id="1048832"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833"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20</a:t>
            </a:r>
            <a:endParaRPr dirty="0" sz="900"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95" name=""/>
        <p:cNvGrpSpPr/>
        <p:nvPr/>
      </p:nvGrpSpPr>
      <p:grpSpPr>
        <a:xfrm>
          <a:off x="0" y="0"/>
          <a:ext cx="0" cy="0"/>
          <a:chOff x="0" y="0"/>
          <a:chExt cx="0" cy="0"/>
        </a:xfrm>
      </p:grpSpPr>
      <p:sp>
        <p:nvSpPr>
          <p:cNvPr id="1048837"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Validating a Simulation: Comparing to Analytical Results</a:t>
            </a:r>
            <a:endParaRPr dirty="0" sz="2600" lang="en-US"/>
          </a:p>
        </p:txBody>
      </p:sp>
      <p:sp>
        <p:nvSpPr>
          <p:cNvPr id="1048838" name="Shape 1"/>
          <p:cNvSpPr/>
          <p:nvPr/>
        </p:nvSpPr>
        <p:spPr>
          <a:xfrm>
            <a:off x="566928" y="1005840"/>
            <a:ext cx="411480" cy="45720"/>
          </a:xfrm>
          <a:prstGeom prst="rect"/>
          <a:solidFill>
            <a:srgbClr val="00B8A9"/>
          </a:solidFill>
        </p:spPr>
      </p:sp>
      <p:sp>
        <p:nvSpPr>
          <p:cNvPr id="1048839"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A powerful sanity check: build a simulation of a simple M/M/1 queue, and confirm its output matches the exact analytical formulas from Lecture 5</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If the simulated average response time and the M/M/1 formula's W = 1/(mu - lambda) agree within the confidence interval, this validates the simulation engine's correctness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Only after this validation should the same simulation engine be trusted to model more complex scenarios where no closed-form formula exists</a:t>
            </a:r>
            <a:endParaRPr dirty="0" sz="2400" lang="en-US"/>
          </a:p>
        </p:txBody>
      </p:sp>
      <p:sp>
        <p:nvSpPr>
          <p:cNvPr id="1048840"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841"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21</a:t>
            </a:r>
            <a:endParaRPr dirty="0" sz="900"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98" name=""/>
        <p:cNvGrpSpPr/>
        <p:nvPr/>
      </p:nvGrpSpPr>
      <p:grpSpPr>
        <a:xfrm>
          <a:off x="0" y="0"/>
          <a:ext cx="0" cy="0"/>
          <a:chOff x="0" y="0"/>
          <a:chExt cx="0" cy="0"/>
        </a:xfrm>
      </p:grpSpPr>
      <p:sp>
        <p:nvSpPr>
          <p:cNvPr id="1048845"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Validating a Simulation: Comparing to Real Measurements</a:t>
            </a:r>
            <a:endParaRPr dirty="0" sz="2600" lang="en-US"/>
          </a:p>
        </p:txBody>
      </p:sp>
      <p:sp>
        <p:nvSpPr>
          <p:cNvPr id="1048846" name="Shape 1"/>
          <p:cNvSpPr/>
          <p:nvPr/>
        </p:nvSpPr>
        <p:spPr>
          <a:xfrm>
            <a:off x="566928" y="1005840"/>
            <a:ext cx="411480" cy="45720"/>
          </a:xfrm>
          <a:prstGeom prst="rect"/>
          <a:solidFill>
            <a:srgbClr val="00B8A9"/>
          </a:solidFill>
        </p:spPr>
      </p:sp>
      <p:sp>
        <p:nvSpPr>
          <p:cNvPr id="1048847"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For simulations of real production systems, the ultimate validation is comparing simulated predictions to actual measured behavior</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Feed the simulation the same workload characterization (Lecture 2) observed in production, and compare predicted vs. actual response time distributions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If predictions diverge significantly from reality, the model's assumptions (arrival process, service time distribution, network topology) need to be revisited — recalling the 'validate' step of the performance engineering lifecycle from Lecture 1</a:t>
            </a:r>
            <a:endParaRPr dirty="0" sz="2400" lang="en-US"/>
          </a:p>
        </p:txBody>
      </p:sp>
      <p:sp>
        <p:nvSpPr>
          <p:cNvPr id="1048848"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849"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22</a:t>
            </a:r>
            <a:endParaRPr dirty="0" sz="900"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01" name=""/>
        <p:cNvGrpSpPr/>
        <p:nvPr/>
      </p:nvGrpSpPr>
      <p:grpSpPr>
        <a:xfrm>
          <a:off x="0" y="0"/>
          <a:ext cx="0" cy="0"/>
          <a:chOff x="0" y="0"/>
          <a:chExt cx="0" cy="0"/>
        </a:xfrm>
      </p:grpSpPr>
      <p:sp>
        <p:nvSpPr>
          <p:cNvPr id="1048853"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When Simulation Is Clearly the Right Tool</a:t>
            </a:r>
            <a:endParaRPr dirty="0" sz="2600" lang="en-US"/>
          </a:p>
        </p:txBody>
      </p:sp>
      <p:sp>
        <p:nvSpPr>
          <p:cNvPr id="1048854" name="Shape 1"/>
          <p:cNvSpPr/>
          <p:nvPr/>
        </p:nvSpPr>
        <p:spPr>
          <a:xfrm>
            <a:off x="566928" y="1005840"/>
            <a:ext cx="411480" cy="45720"/>
          </a:xfrm>
          <a:prstGeom prst="rect"/>
          <a:solidFill>
            <a:srgbClr val="00B8A9"/>
          </a:solidFill>
        </p:spPr>
      </p:sp>
      <p:sp>
        <p:nvSpPr>
          <p:cNvPr id="1048855"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Modeling complex control logic: retries, circuit breakers, priority queues, load-shedding policies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Modeling non-stationary or bursty arrival patterns (e.g., a marketing campaign traffic spike)</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Modeling multi-resource contention with complex dependencies that resist clean analytical decomposition</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Answering 'what happens during the first 5 minutes after a failover', not just long-run steady-state averages</a:t>
            </a:r>
            <a:endParaRPr dirty="0" sz="2400" lang="en-US"/>
          </a:p>
        </p:txBody>
      </p:sp>
      <p:sp>
        <p:nvSpPr>
          <p:cNvPr id="1048856"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857"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23</a:t>
            </a:r>
            <a:endParaRPr dirty="0" sz="900"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04" name=""/>
        <p:cNvGrpSpPr/>
        <p:nvPr/>
      </p:nvGrpSpPr>
      <p:grpSpPr>
        <a:xfrm>
          <a:off x="0" y="0"/>
          <a:ext cx="0" cy="0"/>
          <a:chOff x="0" y="0"/>
          <a:chExt cx="0" cy="0"/>
        </a:xfrm>
      </p:grpSpPr>
      <p:sp>
        <p:nvSpPr>
          <p:cNvPr id="1048861"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When Analytical Models Are Still the Better Choice</a:t>
            </a:r>
            <a:endParaRPr dirty="0" sz="2600" lang="en-US"/>
          </a:p>
        </p:txBody>
      </p:sp>
      <p:sp>
        <p:nvSpPr>
          <p:cNvPr id="1048862" name="Shape 1"/>
          <p:cNvSpPr/>
          <p:nvPr/>
        </p:nvSpPr>
        <p:spPr>
          <a:xfrm>
            <a:off x="566928" y="1005840"/>
            <a:ext cx="411480" cy="45720"/>
          </a:xfrm>
          <a:prstGeom prst="rect"/>
          <a:solidFill>
            <a:srgbClr val="00B8A9"/>
          </a:solidFill>
        </p:spPr>
      </p:sp>
      <p:sp>
        <p:nvSpPr>
          <p:cNvPr id="1048863"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Quick, early-stage 'back of the envelope' estimates during design discussions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Systems that genuinely fit the classical assumptions well (e.g., roughly Poisson arrivals, roughly exponential service)</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Simulation requires more setup time, more computational resources, and more care in output analysis than a formula you can compute in seconds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Experienced performance engineers often use both together: an analytical model for fast initial exploration, then simulation to refine and validate the most promising design</a:t>
            </a:r>
            <a:endParaRPr dirty="0" sz="2400" lang="en-US"/>
          </a:p>
        </p:txBody>
      </p:sp>
      <p:sp>
        <p:nvSpPr>
          <p:cNvPr id="1048864"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865"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24</a:t>
            </a:r>
            <a:endParaRPr dirty="0" sz="900"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07" name=""/>
        <p:cNvGrpSpPr/>
        <p:nvPr/>
      </p:nvGrpSpPr>
      <p:grpSpPr>
        <a:xfrm>
          <a:off x="0" y="0"/>
          <a:ext cx="0" cy="0"/>
          <a:chOff x="0" y="0"/>
          <a:chExt cx="0" cy="0"/>
        </a:xfrm>
      </p:grpSpPr>
      <p:sp>
        <p:nvSpPr>
          <p:cNvPr id="1048869"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Common Discrete-Event Simulation Pitfalls</a:t>
            </a:r>
            <a:endParaRPr dirty="0" sz="2600" lang="en-US"/>
          </a:p>
        </p:txBody>
      </p:sp>
      <p:sp>
        <p:nvSpPr>
          <p:cNvPr id="1048870" name="Shape 1"/>
          <p:cNvSpPr/>
          <p:nvPr/>
        </p:nvSpPr>
        <p:spPr>
          <a:xfrm>
            <a:off x="566928" y="1005840"/>
            <a:ext cx="411480" cy="45720"/>
          </a:xfrm>
          <a:prstGeom prst="rect"/>
          <a:solidFill>
            <a:srgbClr val="00B8A9"/>
          </a:solidFill>
        </p:spPr>
      </p:sp>
      <p:sp>
        <p:nvSpPr>
          <p:cNvPr id="1048871"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Forgetting to discard the warm-up period, biasing results toward an artificially empty initial system</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Running only a single replication and reporting it as 'the' answer, with no confidence interval</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Using a poor-quality or improperly seeded random number generator, producing correlated or non-random sequences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Never validating the simulation against a known analytical case or real measurement before trusting its predictions for new scenarios</a:t>
            </a:r>
            <a:endParaRPr dirty="0" sz="2400" lang="en-US"/>
          </a:p>
        </p:txBody>
      </p:sp>
      <p:sp>
        <p:nvSpPr>
          <p:cNvPr id="1048872"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873"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25</a:t>
            </a:r>
            <a:endParaRPr dirty="0" sz="900"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10" name=""/>
        <p:cNvGrpSpPr/>
        <p:nvPr/>
      </p:nvGrpSpPr>
      <p:grpSpPr>
        <a:xfrm>
          <a:off x="0" y="0"/>
          <a:ext cx="0" cy="0"/>
          <a:chOff x="0" y="0"/>
          <a:chExt cx="0" cy="0"/>
        </a:xfrm>
      </p:grpSpPr>
      <p:sp>
        <p:nvSpPr>
          <p:cNvPr id="1048877"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Simulation Tools in Practice</a:t>
            </a:r>
            <a:endParaRPr dirty="0" sz="2600" lang="en-US"/>
          </a:p>
        </p:txBody>
      </p:sp>
      <p:sp>
        <p:nvSpPr>
          <p:cNvPr id="1048878" name="Shape 1"/>
          <p:cNvSpPr/>
          <p:nvPr/>
        </p:nvSpPr>
        <p:spPr>
          <a:xfrm>
            <a:off x="566928" y="1005840"/>
            <a:ext cx="411480" cy="45720"/>
          </a:xfrm>
          <a:prstGeom prst="rect"/>
          <a:solidFill>
            <a:srgbClr val="00B8A9"/>
          </a:solidFill>
        </p:spPr>
      </p:sp>
      <p:sp>
        <p:nvSpPr>
          <p:cNvPr id="1048879"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General-purpose languages with simulation libraries</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e.g., Python with SimPy — a popular, lightweight discrete-event simulation framework</a:t>
            </a:r>
            <a:endParaRPr dirty="0" sz="2800" lang="en-US"/>
          </a:p>
          <a:p>
            <a:pPr indent="-342900" marL="342900">
              <a:spcAft>
                <a:spcPts val="1200"/>
              </a:spcAft>
              <a:buSzPct val="100000"/>
              <a:buChar char="•"/>
            </a:pPr>
            <a:r>
              <a:rPr b="1" dirty="0" sz="2800" lang="en-US">
                <a:solidFill>
                  <a:srgbClr val="1A1A2E"/>
                </a:solidFill>
                <a:latin typeface="Calibri" pitchFamily="34" charset="0"/>
                <a:ea typeface="Calibri" pitchFamily="34" charset="-122"/>
                <a:cs typeface="Calibri" pitchFamily="34" charset="-120"/>
              </a:rPr>
              <a:t>Dedicated simulation software</a:t>
            </a:r>
            <a:endParaRPr dirty="0" sz="2800" lang="en-US"/>
          </a:p>
          <a:p>
            <a:pPr indent="-342900" lvl="1" marL="685800">
              <a:spcAft>
                <a:spcPts val="600"/>
              </a:spcAft>
              <a:buSzPct val="100000"/>
              <a:buChar char="–"/>
            </a:pPr>
            <a:r>
              <a:rPr dirty="0" sz="2400" lang="en-US">
                <a:solidFill>
                  <a:srgbClr val="44546A"/>
                </a:solidFill>
                <a:latin typeface="Calibri" pitchFamily="34" charset="0"/>
                <a:ea typeface="Calibri" pitchFamily="34" charset="-122"/>
                <a:cs typeface="Calibri" pitchFamily="34" charset="-120"/>
              </a:rPr>
              <a:t>e.g., AnyLogic, Arena — used heavily in manufacturing and logistics performance modeling</a:t>
            </a:r>
            <a:endParaRPr dirty="0" sz="2800" lang="en-US"/>
          </a:p>
          <a:p>
            <a:pPr indent="-342900" marL="342900">
              <a:spcAft>
                <a:spcPts val="1200"/>
              </a:spcAft>
              <a:buSzPct val="100000"/>
              <a:buChar char="•"/>
            </a:pPr>
            <a:r>
              <a:rPr dirty="0" sz="2800" lang="en-US">
                <a:solidFill>
                  <a:srgbClr val="1A1A2E"/>
                </a:solidFill>
                <a:latin typeface="Calibri" pitchFamily="34" charset="0"/>
                <a:ea typeface="Calibri" pitchFamily="34" charset="-122"/>
                <a:cs typeface="Calibri" pitchFamily="34" charset="-120"/>
              </a:rPr>
              <a:t>For this course, the conceptual model (event list, clock, state, event routines) applies regardless of which specific tool or language is used to implement it</a:t>
            </a:r>
            <a:endParaRPr dirty="0" sz="2800" lang="en-US"/>
          </a:p>
        </p:txBody>
      </p:sp>
      <p:sp>
        <p:nvSpPr>
          <p:cNvPr id="1048880"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881"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26</a:t>
            </a:r>
            <a:endParaRPr dirty="0" sz="900"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13" name=""/>
        <p:cNvGrpSpPr/>
        <p:nvPr/>
      </p:nvGrpSpPr>
      <p:grpSpPr>
        <a:xfrm>
          <a:off x="0" y="0"/>
          <a:ext cx="0" cy="0"/>
          <a:chOff x="0" y="0"/>
          <a:chExt cx="0" cy="0"/>
        </a:xfrm>
      </p:grpSpPr>
      <p:sp>
        <p:nvSpPr>
          <p:cNvPr id="1048885" name="Text 0"/>
          <p:cNvSpPr/>
          <p:nvPr/>
        </p:nvSpPr>
        <p:spPr>
          <a:xfrm>
            <a:off x="548640" y="365760"/>
            <a:ext cx="105156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Case Study: Simulating a Retry Storm</a:t>
            </a:r>
            <a:endParaRPr dirty="0" sz="2600" lang="en-US"/>
          </a:p>
        </p:txBody>
      </p:sp>
      <p:sp>
        <p:nvSpPr>
          <p:cNvPr id="1048886" name="Shape 1"/>
          <p:cNvSpPr/>
          <p:nvPr/>
        </p:nvSpPr>
        <p:spPr>
          <a:xfrm>
            <a:off x="566928" y="1005840"/>
            <a:ext cx="411480" cy="45720"/>
          </a:xfrm>
          <a:prstGeom prst="rect"/>
          <a:solidFill>
            <a:srgbClr val="00B8A9"/>
          </a:solidFill>
        </p:spPr>
      </p:sp>
      <p:sp>
        <p:nvSpPr>
          <p:cNvPr id="1048887" name="Text 2"/>
          <p:cNvSpPr/>
          <p:nvPr/>
        </p:nvSpPr>
        <p:spPr>
          <a:xfrm>
            <a:off x="594360" y="1325880"/>
            <a:ext cx="10881360" cy="4937760"/>
          </a:xfrm>
          <a:prstGeom prst="rect"/>
          <a:noFill/>
        </p:spPr>
        <p:txBody>
          <a:bodyPr anchor="t" bIns="0" lIns="0" rIns="0" rtlCol="0" tIns="0" wrap="square"/>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A downstream service becomes briefly overloaded; clients configured with automatic retries begin resending failed requests</a:t>
            </a:r>
            <a:endParaRPr dirty="0" sz="2400" lang="en-US"/>
          </a:p>
          <a:p>
            <a:pPr indent="-342900" marL="342900">
              <a:spcAft>
                <a:spcPts val="1200"/>
              </a:spcAft>
              <a:buSzPct val="100000"/>
              <a:buChar char="•"/>
            </a:pPr>
            <a:r>
              <a:rPr b="1" dirty="0" sz="2400" lang="en-US">
                <a:solidFill>
                  <a:srgbClr val="1A1A2E"/>
                </a:solidFill>
                <a:latin typeface="Calibri" pitchFamily="34" charset="0"/>
                <a:ea typeface="Calibri" pitchFamily="34" charset="-122"/>
                <a:cs typeface="Calibri" pitchFamily="34" charset="-120"/>
              </a:rPr>
              <a:t>This creates a feedback loop — retries increase load, which increases failures, which increases more retries — a phenomenon extremely difficult to capture in closed-form analytical models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A discrete-event simulation, with explicit retry logic and failure-triggering thresholds, can reproduce and quantify this 'retry storm' effect, informing design decisions like exponential backoff and retry budgets</a:t>
            </a:r>
            <a:endParaRPr dirty="0" sz="2400" lang="en-US"/>
          </a:p>
          <a:p>
            <a:pPr indent="-342900" marL="342900">
              <a:spcAft>
                <a:spcPts val="1200"/>
              </a:spcAft>
              <a:buSzPct val="100000"/>
              <a:buChar char="•"/>
            </a:pPr>
            <a:r>
              <a:rPr dirty="0" sz="2400" lang="en-US">
                <a:solidFill>
                  <a:srgbClr val="1A1A2E"/>
                </a:solidFill>
                <a:latin typeface="Calibri" pitchFamily="34" charset="0"/>
                <a:ea typeface="Calibri" pitchFamily="34" charset="-122"/>
                <a:cs typeface="Calibri" pitchFamily="34" charset="-120"/>
              </a:rPr>
              <a:t>This is a canonical real-world example of exactly the kind of complex, dynamic behavior that motivated this entire lecture</a:t>
            </a:r>
            <a:endParaRPr dirty="0" sz="2400" lang="en-US"/>
          </a:p>
        </p:txBody>
      </p:sp>
      <p:sp>
        <p:nvSpPr>
          <p:cNvPr id="1048888" name="Text 3"/>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889" name="Text 4"/>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27</a:t>
            </a:r>
            <a:endParaRPr dirty="0" sz="900"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AF6F5"/>
        </a:solidFill>
        <a:effectLst/>
      </p:bgPr>
    </p:bg>
    <p:spTree>
      <p:nvGrpSpPr>
        <p:cNvPr id="116" name=""/>
        <p:cNvGrpSpPr/>
        <p:nvPr/>
      </p:nvGrpSpPr>
      <p:grpSpPr>
        <a:xfrm>
          <a:off x="0" y="0"/>
          <a:ext cx="0" cy="0"/>
          <a:chOff x="0" y="0"/>
          <a:chExt cx="0" cy="0"/>
        </a:xfrm>
      </p:grpSpPr>
      <p:sp>
        <p:nvSpPr>
          <p:cNvPr id="1048893" name="Text 0"/>
          <p:cNvSpPr/>
          <p:nvPr/>
        </p:nvSpPr>
        <p:spPr>
          <a:xfrm>
            <a:off x="548640" y="457200"/>
            <a:ext cx="7315200" cy="640080"/>
          </a:xfrm>
          <a:prstGeom prst="rect"/>
          <a:noFill/>
        </p:spPr>
        <p:txBody>
          <a:bodyPr anchor="ctr" bIns="0" lIns="0" rIns="0" rtlCol="0" tIns="0" wrap="square"/>
          <a:p>
            <a:pPr indent="0" marL="0">
              <a:buNone/>
            </a:pPr>
            <a:r>
              <a:rPr b="1" dirty="0" sz="2800" lang="en-US">
                <a:solidFill>
                  <a:srgbClr val="0F2942"/>
                </a:solidFill>
                <a:latin typeface="Calibri" pitchFamily="34" charset="0"/>
                <a:ea typeface="Calibri" pitchFamily="34" charset="-122"/>
                <a:cs typeface="Calibri" pitchFamily="34" charset="-120"/>
              </a:rPr>
              <a:t>Key Takeaways</a:t>
            </a:r>
            <a:endParaRPr dirty="0" sz="2800" lang="en-US"/>
          </a:p>
        </p:txBody>
      </p:sp>
      <p:sp>
        <p:nvSpPr>
          <p:cNvPr id="1048894" name="Shape 1"/>
          <p:cNvSpPr/>
          <p:nvPr/>
        </p:nvSpPr>
        <p:spPr>
          <a:xfrm>
            <a:off x="566928" y="1143000"/>
            <a:ext cx="457200" cy="54864"/>
          </a:xfrm>
          <a:prstGeom prst="rect"/>
          <a:solidFill>
            <a:srgbClr val="00B8A9"/>
          </a:solidFill>
        </p:spPr>
      </p:sp>
      <p:sp>
        <p:nvSpPr>
          <p:cNvPr id="1048895" name="Shape 2"/>
          <p:cNvSpPr/>
          <p:nvPr/>
        </p:nvSpPr>
        <p:spPr>
          <a:xfrm>
            <a:off x="548640" y="1508760"/>
            <a:ext cx="11064240" cy="777240"/>
          </a:xfrm>
          <a:prstGeom prst="roundRect">
            <a:avLst>
              <a:gd name="adj" fmla="val 9412"/>
            </a:avLst>
          </a:prstGeom>
          <a:solidFill>
            <a:srgbClr val="FFFFFF"/>
          </a:solidFill>
        </p:spPr>
      </p:sp>
      <p:sp>
        <p:nvSpPr>
          <p:cNvPr id="1048896" name="Shape 3"/>
          <p:cNvSpPr/>
          <p:nvPr/>
        </p:nvSpPr>
        <p:spPr>
          <a:xfrm>
            <a:off x="777240" y="1673352"/>
            <a:ext cx="457200" cy="457200"/>
          </a:xfrm>
          <a:prstGeom prst="ellipse"/>
          <a:solidFill>
            <a:srgbClr val="00B8A9"/>
          </a:solidFill>
        </p:spPr>
      </p:sp>
      <p:sp>
        <p:nvSpPr>
          <p:cNvPr id="1048897" name="Text 4"/>
          <p:cNvSpPr/>
          <p:nvPr/>
        </p:nvSpPr>
        <p:spPr>
          <a:xfrm>
            <a:off x="777240" y="16733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1</a:t>
            </a:r>
            <a:endParaRPr dirty="0" sz="1500" lang="en-US"/>
          </a:p>
        </p:txBody>
      </p:sp>
      <p:sp>
        <p:nvSpPr>
          <p:cNvPr id="1048898" name="Text 5"/>
          <p:cNvSpPr/>
          <p:nvPr/>
        </p:nvSpPr>
        <p:spPr>
          <a:xfrm>
            <a:off x="1417320" y="1508760"/>
            <a:ext cx="9966960" cy="777240"/>
          </a:xfrm>
          <a:prstGeom prst="rect"/>
          <a:noFill/>
        </p:spPr>
        <p:txBody>
          <a:bodyPr anchor="ctr" bIns="0" lIns="0" rIns="0" rtlCol="0" tIns="0" wrap="square"/>
          <a:p>
            <a:pPr indent="0" marL="0">
              <a:buNone/>
            </a:pPr>
            <a:r>
              <a:rPr dirty="0" sz="2000" lang="en-US">
                <a:solidFill>
                  <a:srgbClr val="1A1A2E"/>
                </a:solidFill>
                <a:latin typeface="Calibri" pitchFamily="34" charset="0"/>
                <a:ea typeface="Calibri" pitchFamily="34" charset="-122"/>
                <a:cs typeface="Calibri" pitchFamily="34" charset="-120"/>
              </a:rPr>
              <a:t>Discrete-event simulation advances time event-by-event, using an event list, simulation clock, state variables, and event routines</a:t>
            </a:r>
            <a:endParaRPr dirty="0" sz="2000" lang="en-US"/>
          </a:p>
        </p:txBody>
      </p:sp>
      <p:sp>
        <p:nvSpPr>
          <p:cNvPr id="1048899" name="Shape 6"/>
          <p:cNvSpPr/>
          <p:nvPr/>
        </p:nvSpPr>
        <p:spPr>
          <a:xfrm>
            <a:off x="548640" y="2423160"/>
            <a:ext cx="11064240" cy="777240"/>
          </a:xfrm>
          <a:prstGeom prst="roundRect">
            <a:avLst>
              <a:gd name="adj" fmla="val 9412"/>
            </a:avLst>
          </a:prstGeom>
          <a:solidFill>
            <a:srgbClr val="FFFFFF"/>
          </a:solidFill>
        </p:spPr>
      </p:sp>
      <p:sp>
        <p:nvSpPr>
          <p:cNvPr id="1048900" name="Shape 7"/>
          <p:cNvSpPr/>
          <p:nvPr/>
        </p:nvSpPr>
        <p:spPr>
          <a:xfrm>
            <a:off x="777240" y="2587752"/>
            <a:ext cx="457200" cy="457200"/>
          </a:xfrm>
          <a:prstGeom prst="ellipse"/>
          <a:solidFill>
            <a:srgbClr val="00B8A9"/>
          </a:solidFill>
        </p:spPr>
      </p:sp>
      <p:sp>
        <p:nvSpPr>
          <p:cNvPr id="1048901" name="Text 8"/>
          <p:cNvSpPr/>
          <p:nvPr/>
        </p:nvSpPr>
        <p:spPr>
          <a:xfrm>
            <a:off x="777240" y="25877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2</a:t>
            </a:r>
            <a:endParaRPr dirty="0" sz="1500" lang="en-US"/>
          </a:p>
        </p:txBody>
      </p:sp>
      <p:sp>
        <p:nvSpPr>
          <p:cNvPr id="1048902" name="Text 9"/>
          <p:cNvSpPr/>
          <p:nvPr/>
        </p:nvSpPr>
        <p:spPr>
          <a:xfrm>
            <a:off x="1417320" y="2423160"/>
            <a:ext cx="9966960" cy="777240"/>
          </a:xfrm>
          <a:prstGeom prst="rect"/>
          <a:noFill/>
        </p:spPr>
        <p:txBody>
          <a:bodyPr anchor="ctr" bIns="0" lIns="0" rIns="0" rtlCol="0" tIns="0" wrap="square"/>
          <a:p>
            <a:pPr indent="0" marL="0">
              <a:buNone/>
            </a:pPr>
            <a:r>
              <a:rPr dirty="0" sz="2000" lang="en-US">
                <a:solidFill>
                  <a:srgbClr val="1A1A2E"/>
                </a:solidFill>
                <a:latin typeface="Calibri" pitchFamily="34" charset="0"/>
                <a:ea typeface="Calibri" pitchFamily="34" charset="-122"/>
                <a:cs typeface="Calibri" pitchFamily="34" charset="-120"/>
              </a:rPr>
              <a:t>Random variate generation (e.g., the inverse transform method) converts uniform random numbers into samples from target distributions like the exponential</a:t>
            </a:r>
            <a:endParaRPr dirty="0" sz="2000" lang="en-US"/>
          </a:p>
        </p:txBody>
      </p:sp>
      <p:sp>
        <p:nvSpPr>
          <p:cNvPr id="1048903" name="Shape 10"/>
          <p:cNvSpPr/>
          <p:nvPr/>
        </p:nvSpPr>
        <p:spPr>
          <a:xfrm>
            <a:off x="548640" y="3337560"/>
            <a:ext cx="11064240" cy="777240"/>
          </a:xfrm>
          <a:prstGeom prst="roundRect">
            <a:avLst>
              <a:gd name="adj" fmla="val 9412"/>
            </a:avLst>
          </a:prstGeom>
          <a:solidFill>
            <a:srgbClr val="FFFFFF"/>
          </a:solidFill>
        </p:spPr>
      </p:sp>
      <p:sp>
        <p:nvSpPr>
          <p:cNvPr id="1048904" name="Shape 11"/>
          <p:cNvSpPr/>
          <p:nvPr/>
        </p:nvSpPr>
        <p:spPr>
          <a:xfrm>
            <a:off x="777240" y="3502152"/>
            <a:ext cx="457200" cy="457200"/>
          </a:xfrm>
          <a:prstGeom prst="ellipse"/>
          <a:solidFill>
            <a:srgbClr val="00B8A9"/>
          </a:solidFill>
        </p:spPr>
      </p:sp>
      <p:sp>
        <p:nvSpPr>
          <p:cNvPr id="1048905" name="Text 12"/>
          <p:cNvSpPr/>
          <p:nvPr/>
        </p:nvSpPr>
        <p:spPr>
          <a:xfrm>
            <a:off x="777240" y="35021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3</a:t>
            </a:r>
            <a:endParaRPr dirty="0" sz="1500" lang="en-US"/>
          </a:p>
        </p:txBody>
      </p:sp>
      <p:sp>
        <p:nvSpPr>
          <p:cNvPr id="1048906" name="Text 13"/>
          <p:cNvSpPr/>
          <p:nvPr/>
        </p:nvSpPr>
        <p:spPr>
          <a:xfrm>
            <a:off x="1417320" y="3337560"/>
            <a:ext cx="9966960" cy="777240"/>
          </a:xfrm>
          <a:prstGeom prst="rect"/>
          <a:noFill/>
        </p:spPr>
        <p:txBody>
          <a:bodyPr anchor="ctr" bIns="0" lIns="0" rIns="0" rtlCol="0" tIns="0" wrap="square"/>
          <a:p>
            <a:pPr indent="0" marL="0">
              <a:buNone/>
            </a:pPr>
            <a:r>
              <a:rPr dirty="0" sz="2000" lang="en-US">
                <a:solidFill>
                  <a:srgbClr val="1A1A2E"/>
                </a:solidFill>
                <a:latin typeface="Calibri" pitchFamily="34" charset="0"/>
                <a:ea typeface="Calibri" pitchFamily="34" charset="-122"/>
                <a:cs typeface="Calibri" pitchFamily="34" charset="-120"/>
              </a:rPr>
              <a:t>Warm-up bias and single-run randomness require discarding initial transient statistics and running multiple independent replications</a:t>
            </a:r>
            <a:endParaRPr dirty="0" sz="2000" lang="en-US"/>
          </a:p>
        </p:txBody>
      </p:sp>
      <p:sp>
        <p:nvSpPr>
          <p:cNvPr id="1048907" name="Shape 14"/>
          <p:cNvSpPr/>
          <p:nvPr/>
        </p:nvSpPr>
        <p:spPr>
          <a:xfrm>
            <a:off x="548640" y="4251960"/>
            <a:ext cx="11064240" cy="777240"/>
          </a:xfrm>
          <a:prstGeom prst="roundRect">
            <a:avLst>
              <a:gd name="adj" fmla="val 9412"/>
            </a:avLst>
          </a:prstGeom>
          <a:solidFill>
            <a:srgbClr val="FFFFFF"/>
          </a:solidFill>
        </p:spPr>
      </p:sp>
      <p:sp>
        <p:nvSpPr>
          <p:cNvPr id="1048908" name="Shape 15"/>
          <p:cNvSpPr/>
          <p:nvPr/>
        </p:nvSpPr>
        <p:spPr>
          <a:xfrm>
            <a:off x="777240" y="4416552"/>
            <a:ext cx="457200" cy="457200"/>
          </a:xfrm>
          <a:prstGeom prst="ellipse"/>
          <a:solidFill>
            <a:srgbClr val="00B8A9"/>
          </a:solidFill>
        </p:spPr>
      </p:sp>
      <p:sp>
        <p:nvSpPr>
          <p:cNvPr id="1048909" name="Text 16"/>
          <p:cNvSpPr/>
          <p:nvPr/>
        </p:nvSpPr>
        <p:spPr>
          <a:xfrm>
            <a:off x="777240" y="44165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4</a:t>
            </a:r>
            <a:endParaRPr dirty="0" sz="1500" lang="en-US"/>
          </a:p>
        </p:txBody>
      </p:sp>
      <p:sp>
        <p:nvSpPr>
          <p:cNvPr id="1048910" name="Text 17"/>
          <p:cNvSpPr/>
          <p:nvPr/>
        </p:nvSpPr>
        <p:spPr>
          <a:xfrm>
            <a:off x="1417320" y="4251960"/>
            <a:ext cx="9966960" cy="777240"/>
          </a:xfrm>
          <a:prstGeom prst="rect"/>
          <a:noFill/>
        </p:spPr>
        <p:txBody>
          <a:bodyPr anchor="ctr" bIns="0" lIns="0" rIns="0" rtlCol="0" tIns="0" wrap="square"/>
          <a:p>
            <a:pPr indent="0" marL="0">
              <a:buNone/>
            </a:pPr>
            <a:r>
              <a:rPr dirty="0" sz="2000" lang="en-US">
                <a:solidFill>
                  <a:srgbClr val="1A1A2E"/>
                </a:solidFill>
                <a:latin typeface="Calibri" pitchFamily="34" charset="0"/>
                <a:ea typeface="Calibri" pitchFamily="34" charset="-122"/>
                <a:cs typeface="Calibri" pitchFamily="34" charset="-120"/>
              </a:rPr>
              <a:t>Confidence intervals — built from multiple replications, using Lecture 3's techniques — should always accompany simulation results, not single point estimates</a:t>
            </a:r>
            <a:endParaRPr dirty="0" sz="2000" lang="en-US"/>
          </a:p>
        </p:txBody>
      </p:sp>
      <p:sp>
        <p:nvSpPr>
          <p:cNvPr id="1048911" name="Shape 18"/>
          <p:cNvSpPr/>
          <p:nvPr/>
        </p:nvSpPr>
        <p:spPr>
          <a:xfrm>
            <a:off x="548640" y="5166360"/>
            <a:ext cx="11064240" cy="777240"/>
          </a:xfrm>
          <a:prstGeom prst="roundRect">
            <a:avLst>
              <a:gd name="adj" fmla="val 9412"/>
            </a:avLst>
          </a:prstGeom>
          <a:solidFill>
            <a:srgbClr val="FFFFFF"/>
          </a:solidFill>
        </p:spPr>
      </p:sp>
      <p:sp>
        <p:nvSpPr>
          <p:cNvPr id="1048912" name="Shape 19"/>
          <p:cNvSpPr/>
          <p:nvPr/>
        </p:nvSpPr>
        <p:spPr>
          <a:xfrm>
            <a:off x="777240" y="5330952"/>
            <a:ext cx="457200" cy="457200"/>
          </a:xfrm>
          <a:prstGeom prst="ellipse"/>
          <a:solidFill>
            <a:srgbClr val="00B8A9"/>
          </a:solidFill>
        </p:spPr>
      </p:sp>
      <p:sp>
        <p:nvSpPr>
          <p:cNvPr id="1048913" name="Text 20"/>
          <p:cNvSpPr/>
          <p:nvPr/>
        </p:nvSpPr>
        <p:spPr>
          <a:xfrm>
            <a:off x="777240" y="5330952"/>
            <a:ext cx="457200" cy="457200"/>
          </a:xfrm>
          <a:prstGeom prst="rect"/>
          <a:noFill/>
        </p:spPr>
        <p:txBody>
          <a:bodyPr anchor="ctr" bIns="0" lIns="0" rIns="0" rtlCol="0" tIns="0" wrap="square"/>
          <a:p>
            <a:pPr algn="ctr" indent="0" marL="0">
              <a:buNone/>
            </a:pPr>
            <a:r>
              <a:rPr b="1" dirty="0" sz="1500" lang="en-US">
                <a:solidFill>
                  <a:srgbClr val="FFFFFF"/>
                </a:solidFill>
                <a:latin typeface="Calibri" pitchFamily="34" charset="0"/>
                <a:ea typeface="Calibri" pitchFamily="34" charset="-122"/>
                <a:cs typeface="Calibri" pitchFamily="34" charset="-120"/>
              </a:rPr>
              <a:t>5</a:t>
            </a:r>
            <a:endParaRPr dirty="0" sz="1500" lang="en-US"/>
          </a:p>
        </p:txBody>
      </p:sp>
      <p:sp>
        <p:nvSpPr>
          <p:cNvPr id="1048914" name="Text 21"/>
          <p:cNvSpPr/>
          <p:nvPr/>
        </p:nvSpPr>
        <p:spPr>
          <a:xfrm>
            <a:off x="1417320" y="5166360"/>
            <a:ext cx="9966960" cy="777240"/>
          </a:xfrm>
          <a:prstGeom prst="rect"/>
          <a:noFill/>
        </p:spPr>
        <p:txBody>
          <a:bodyPr anchor="ctr" bIns="0" lIns="0" rIns="0" rtlCol="0" tIns="0" wrap="square"/>
          <a:p>
            <a:pPr indent="0" marL="0">
              <a:buNone/>
            </a:pPr>
            <a:r>
              <a:rPr dirty="0" sz="2000" lang="en-US">
                <a:solidFill>
                  <a:srgbClr val="1A1A2E"/>
                </a:solidFill>
                <a:latin typeface="Calibri" pitchFamily="34" charset="0"/>
                <a:ea typeface="Calibri" pitchFamily="34" charset="-122"/>
                <a:cs typeface="Calibri" pitchFamily="34" charset="-120"/>
              </a:rPr>
              <a:t>Simulation excels at modeling complex logic, transient behavior, and non-stationary workloads that violate classical analytical assumptions</a:t>
            </a:r>
            <a:endParaRPr dirty="0" sz="2000" lang="en-US"/>
          </a:p>
        </p:txBody>
      </p:sp>
      <p:sp>
        <p:nvSpPr>
          <p:cNvPr id="1048915" name="Text 22"/>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916" name="Text 23"/>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28</a:t>
            </a:r>
            <a:endParaRPr dirty="0" sz="900"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942"/>
        </a:solidFill>
        <a:effectLst/>
      </p:bgPr>
    </p:bg>
    <p:spTree>
      <p:nvGrpSpPr>
        <p:cNvPr id="119" name=""/>
        <p:cNvGrpSpPr/>
        <p:nvPr/>
      </p:nvGrpSpPr>
      <p:grpSpPr>
        <a:xfrm>
          <a:off x="0" y="0"/>
          <a:ext cx="0" cy="0"/>
          <a:chOff x="0" y="0"/>
          <a:chExt cx="0" cy="0"/>
        </a:xfrm>
      </p:grpSpPr>
      <p:sp>
        <p:nvSpPr>
          <p:cNvPr id="1048920" name="Text 0"/>
          <p:cNvSpPr/>
          <p:nvPr/>
        </p:nvSpPr>
        <p:spPr>
          <a:xfrm>
            <a:off x="822960" y="822960"/>
            <a:ext cx="7315200" cy="365760"/>
          </a:xfrm>
          <a:prstGeom prst="rect"/>
          <a:noFill/>
        </p:spPr>
        <p:txBody>
          <a:bodyPr anchor="ctr" bIns="0" lIns="0" rIns="0" rtlCol="0" tIns="0" wrap="square"/>
          <a:p>
            <a:pPr indent="0" marL="0">
              <a:buNone/>
            </a:pPr>
            <a:r>
              <a:rPr b="1" dirty="0" sz="1400" lang="en-US">
                <a:solidFill>
                  <a:srgbClr val="FF6B35"/>
                </a:solidFill>
                <a:latin typeface="Calibri" pitchFamily="34" charset="0"/>
                <a:ea typeface="Calibri" pitchFamily="34" charset="-122"/>
                <a:cs typeface="Calibri" pitchFamily="34" charset="-120"/>
              </a:rPr>
              <a:t>DISCUSSION / REVIEW QUESTION</a:t>
            </a:r>
            <a:endParaRPr dirty="0" sz="1400" lang="en-US"/>
          </a:p>
        </p:txBody>
      </p:sp>
      <p:sp>
        <p:nvSpPr>
          <p:cNvPr id="1048921" name="Text 1"/>
          <p:cNvSpPr/>
          <p:nvPr/>
        </p:nvSpPr>
        <p:spPr>
          <a:xfrm>
            <a:off x="822960" y="1371600"/>
            <a:ext cx="10241280" cy="2011680"/>
          </a:xfrm>
          <a:prstGeom prst="rect"/>
          <a:noFill/>
        </p:spPr>
        <p:txBody>
          <a:bodyPr anchor="t" bIns="0" lIns="0" rIns="0" rtlCol="0" tIns="0" wrap="square"/>
          <a:p>
            <a:pPr indent="0" marL="0">
              <a:lnSpc>
                <a:spcPct val="125000"/>
              </a:lnSpc>
              <a:buNone/>
            </a:pPr>
            <a:r>
              <a:rPr b="1" dirty="0" sz="2400" lang="en-US">
                <a:solidFill>
                  <a:srgbClr val="FFFFFF"/>
                </a:solidFill>
                <a:latin typeface="Calibri" pitchFamily="34" charset="0"/>
                <a:ea typeface="Calibri" pitchFamily="34" charset="-122"/>
                <a:cs typeface="Calibri" pitchFamily="34" charset="-120"/>
              </a:rPr>
              <a:t>A team builds a discrete-event simulation of their checkout service and runs it once, reporting '210ms average response time' as their official capacity planning number. Using the concepts from this lecture, list three specific methodological problems with this approach and how each should be fixed.</a:t>
            </a:r>
            <a:endParaRPr dirty="0" sz="2400" lang="en-US"/>
          </a:p>
        </p:txBody>
      </p:sp>
      <p:sp>
        <p:nvSpPr>
          <p:cNvPr id="1048922" name="Text 2"/>
          <p:cNvSpPr/>
          <p:nvPr/>
        </p:nvSpPr>
        <p:spPr>
          <a:xfrm>
            <a:off x="822960" y="3749040"/>
            <a:ext cx="5486400" cy="365760"/>
          </a:xfrm>
          <a:prstGeom prst="rect"/>
          <a:noFill/>
        </p:spPr>
        <p:txBody>
          <a:bodyPr anchor="ctr" bIns="0" lIns="0" rIns="0" rtlCol="0" tIns="0" wrap="square"/>
          <a:p>
            <a:pPr indent="0" marL="0">
              <a:buNone/>
            </a:pPr>
            <a:r>
              <a:rPr b="1" dirty="0" sz="2000" lang="en-US">
                <a:solidFill>
                  <a:srgbClr val="00B8A9"/>
                </a:solidFill>
                <a:latin typeface="Calibri" pitchFamily="34" charset="0"/>
                <a:ea typeface="Calibri" pitchFamily="34" charset="-122"/>
                <a:cs typeface="Calibri" pitchFamily="34" charset="-120"/>
              </a:rPr>
              <a:t>Think about:</a:t>
            </a:r>
            <a:endParaRPr dirty="0" sz="2000" lang="en-US"/>
          </a:p>
        </p:txBody>
      </p:sp>
      <p:sp>
        <p:nvSpPr>
          <p:cNvPr id="1048923" name="Text 3"/>
          <p:cNvSpPr/>
          <p:nvPr/>
        </p:nvSpPr>
        <p:spPr>
          <a:xfrm>
            <a:off x="822960" y="4160520"/>
            <a:ext cx="10058400" cy="2011680"/>
          </a:xfrm>
          <a:prstGeom prst="rect"/>
          <a:noFill/>
        </p:spPr>
        <p:txBody>
          <a:bodyPr anchor="t" bIns="0" lIns="0" rIns="0" rtlCol="0" tIns="0" wrap="square"/>
          <a:p>
            <a:pPr indent="-342900" marL="342900">
              <a:spcAft>
                <a:spcPts val="600"/>
              </a:spcAft>
              <a:buSzPct val="100000"/>
              <a:buChar char="•"/>
            </a:pPr>
            <a:r>
              <a:rPr dirty="0" sz="2000" lang="en-US">
                <a:solidFill>
                  <a:srgbClr val="C7D0D9"/>
                </a:solidFill>
                <a:latin typeface="Calibri" pitchFamily="34" charset="0"/>
                <a:ea typeface="Calibri" pitchFamily="34" charset="-122"/>
                <a:cs typeface="Calibri" pitchFamily="34" charset="-120"/>
              </a:rPr>
              <a:t>Think about warm-up bias — was the simulation run from an empty starting state?</a:t>
            </a:r>
            <a:endParaRPr dirty="0" sz="2000" lang="en-US"/>
          </a:p>
          <a:p>
            <a:pPr indent="-342900" marL="342900">
              <a:spcAft>
                <a:spcPts val="600"/>
              </a:spcAft>
              <a:buSzPct val="100000"/>
              <a:buChar char="•"/>
            </a:pPr>
            <a:r>
              <a:rPr dirty="0" sz="2000" lang="en-US">
                <a:solidFill>
                  <a:srgbClr val="C7D0D9"/>
                </a:solidFill>
                <a:latin typeface="Calibri" pitchFamily="34" charset="0"/>
                <a:ea typeface="Calibri" pitchFamily="34" charset="-122"/>
                <a:cs typeface="Calibri" pitchFamily="34" charset="-120"/>
              </a:rPr>
              <a:t>Think about the number of replications — is one run enough to trust a single number?</a:t>
            </a:r>
            <a:endParaRPr dirty="0" sz="2000" lang="en-US"/>
          </a:p>
          <a:p>
            <a:pPr indent="-342900" marL="342900">
              <a:spcAft>
                <a:spcPts val="600"/>
              </a:spcAft>
              <a:buSzPct val="100000"/>
              <a:buChar char="•"/>
            </a:pPr>
            <a:r>
              <a:rPr dirty="0" sz="2000" lang="en-US">
                <a:solidFill>
                  <a:srgbClr val="C7D0D9"/>
                </a:solidFill>
                <a:latin typeface="Calibri" pitchFamily="34" charset="0"/>
                <a:ea typeface="Calibri" pitchFamily="34" charset="-122"/>
                <a:cs typeface="Calibri" pitchFamily="34" charset="-120"/>
              </a:rPr>
              <a:t>Think about validation — was this simulation ever checked against a known analytical or real-world result?</a:t>
            </a:r>
            <a:endParaRPr dirty="0" sz="2000" lang="en-US"/>
          </a:p>
        </p:txBody>
      </p:sp>
      <p:sp>
        <p:nvSpPr>
          <p:cNvPr id="1048924" name="Text 4"/>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925" name="Text 5"/>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29</a:t>
            </a:r>
            <a:endParaRPr dirty="0" sz="900"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22" name=""/>
        <p:cNvGrpSpPr/>
        <p:nvPr/>
      </p:nvGrpSpPr>
      <p:grpSpPr>
        <a:xfrm>
          <a:off x="0" y="0"/>
          <a:ext cx="0" cy="0"/>
          <a:chOff x="0" y="0"/>
          <a:chExt cx="0" cy="0"/>
        </a:xfrm>
      </p:grpSpPr>
      <p:sp>
        <p:nvSpPr>
          <p:cNvPr id="1048929" name="Text 0"/>
          <p:cNvSpPr/>
          <p:nvPr/>
        </p:nvSpPr>
        <p:spPr>
          <a:xfrm>
            <a:off x="548640" y="457200"/>
            <a:ext cx="9144000" cy="640080"/>
          </a:xfrm>
          <a:prstGeom prst="rect"/>
          <a:noFill/>
        </p:spPr>
        <p:txBody>
          <a:bodyPr anchor="ctr" bIns="0" lIns="0" rIns="0" rtlCol="0" tIns="0" wrap="square"/>
          <a:p>
            <a:pPr indent="0" marL="0">
              <a:buNone/>
            </a:pPr>
            <a:r>
              <a:rPr b="1" dirty="0" sz="2600" lang="en-US">
                <a:solidFill>
                  <a:srgbClr val="0F2942"/>
                </a:solidFill>
                <a:latin typeface="Calibri" pitchFamily="34" charset="0"/>
                <a:ea typeface="Calibri" pitchFamily="34" charset="-122"/>
                <a:cs typeface="Calibri" pitchFamily="34" charset="-120"/>
              </a:rPr>
              <a:t>References &amp; Further Reading</a:t>
            </a:r>
            <a:endParaRPr dirty="0" sz="2600" lang="en-US"/>
          </a:p>
        </p:txBody>
      </p:sp>
      <p:sp>
        <p:nvSpPr>
          <p:cNvPr id="1048930" name="Shape 1"/>
          <p:cNvSpPr/>
          <p:nvPr/>
        </p:nvSpPr>
        <p:spPr>
          <a:xfrm>
            <a:off x="566928" y="1097280"/>
            <a:ext cx="411480" cy="45720"/>
          </a:xfrm>
          <a:prstGeom prst="rect"/>
          <a:solidFill>
            <a:srgbClr val="00B8A9"/>
          </a:solidFill>
        </p:spPr>
      </p:sp>
      <p:sp>
        <p:nvSpPr>
          <p:cNvPr id="1048931" name="Text 2"/>
          <p:cNvSpPr/>
          <p:nvPr/>
        </p:nvSpPr>
        <p:spPr>
          <a:xfrm>
            <a:off x="594360" y="1463040"/>
            <a:ext cx="10789920" cy="3291840"/>
          </a:xfrm>
          <a:prstGeom prst="rect"/>
          <a:noFill/>
        </p:spPr>
        <p:txBody>
          <a:bodyPr anchor="t" bIns="0" lIns="0" rIns="0" rtlCol="0" tIns="0" wrap="square"/>
          <a:p>
            <a:pPr indent="-342900" marL="342900">
              <a:spcAft>
                <a:spcPts val="1000"/>
              </a:spcAft>
              <a:buSzPct val="100000"/>
              <a:buChar char="•"/>
            </a:pPr>
            <a:r>
              <a:rPr dirty="0" lang="en-US">
                <a:solidFill>
                  <a:srgbClr val="1A1A2E"/>
                </a:solidFill>
                <a:latin typeface="Calibri" pitchFamily="34" charset="0"/>
                <a:ea typeface="Calibri" pitchFamily="34" charset="-122"/>
                <a:cs typeface="Calibri" pitchFamily="34" charset="-120"/>
              </a:rPr>
              <a:t>Law, A. — Simulation Modeling and Analysis (the standard reference text)</a:t>
            </a:r>
            <a:endParaRPr dirty="0" lang="en-US"/>
          </a:p>
          <a:p>
            <a:pPr indent="-342900" marL="342900">
              <a:spcAft>
                <a:spcPts val="1000"/>
              </a:spcAft>
              <a:buSzPct val="100000"/>
              <a:buChar char="•"/>
            </a:pPr>
            <a:r>
              <a:rPr dirty="0" lang="en-US">
                <a:solidFill>
                  <a:srgbClr val="1A1A2E"/>
                </a:solidFill>
                <a:latin typeface="Calibri" pitchFamily="34" charset="0"/>
                <a:ea typeface="Calibri" pitchFamily="34" charset="-122"/>
                <a:cs typeface="Calibri" pitchFamily="34" charset="-120"/>
              </a:rPr>
              <a:t>Banks, J. et al. — Discrete-Event System Simulation</a:t>
            </a:r>
            <a:endParaRPr dirty="0" lang="en-US"/>
          </a:p>
          <a:p>
            <a:pPr indent="-342900" marL="342900">
              <a:spcAft>
                <a:spcPts val="1000"/>
              </a:spcAft>
              <a:buSzPct val="100000"/>
              <a:buChar char="•"/>
            </a:pPr>
            <a:r>
              <a:rPr dirty="0" lang="en-US">
                <a:solidFill>
                  <a:srgbClr val="1A1A2E"/>
                </a:solidFill>
                <a:latin typeface="Calibri" pitchFamily="34" charset="0"/>
                <a:ea typeface="Calibri" pitchFamily="34" charset="-122"/>
                <a:cs typeface="Calibri" pitchFamily="34" charset="-120"/>
              </a:rPr>
              <a:t>Ross, S. — Simulation</a:t>
            </a:r>
            <a:endParaRPr dirty="0" lang="en-US"/>
          </a:p>
          <a:p>
            <a:pPr indent="-342900" marL="342900">
              <a:spcAft>
                <a:spcPts val="1000"/>
              </a:spcAft>
              <a:buSzPct val="100000"/>
              <a:buChar char="•"/>
            </a:pPr>
            <a:r>
              <a:rPr dirty="0" lang="en-US">
                <a:solidFill>
                  <a:srgbClr val="1A1A2E"/>
                </a:solidFill>
                <a:latin typeface="Calibri" pitchFamily="34" charset="0"/>
                <a:ea typeface="Calibri" pitchFamily="34" charset="-122"/>
                <a:cs typeface="Calibri" pitchFamily="34" charset="-120"/>
              </a:rPr>
              <a:t>SimPy Documentation — Discrete-Event Simulation for Python</a:t>
            </a:r>
            <a:endParaRPr dirty="0" lang="en-US"/>
          </a:p>
        </p:txBody>
      </p:sp>
      <p:sp>
        <p:nvSpPr>
          <p:cNvPr id="1048932" name="Shape 3"/>
          <p:cNvSpPr/>
          <p:nvPr/>
        </p:nvSpPr>
        <p:spPr>
          <a:xfrm>
            <a:off x="548640" y="5029200"/>
            <a:ext cx="11064240" cy="1051560"/>
          </a:xfrm>
          <a:prstGeom prst="roundRect">
            <a:avLst>
              <a:gd name="adj" fmla="val 7826"/>
            </a:avLst>
          </a:prstGeom>
          <a:solidFill>
            <a:srgbClr val="0F2942"/>
          </a:solidFill>
        </p:spPr>
      </p:sp>
      <p:sp>
        <p:nvSpPr>
          <p:cNvPr id="1048933" name="Text 4"/>
          <p:cNvSpPr/>
          <p:nvPr/>
        </p:nvSpPr>
        <p:spPr>
          <a:xfrm>
            <a:off x="822960" y="5138928"/>
            <a:ext cx="2743200" cy="320040"/>
          </a:xfrm>
          <a:prstGeom prst="rect"/>
          <a:noFill/>
        </p:spPr>
        <p:txBody>
          <a:bodyPr anchor="ctr" bIns="0" lIns="0" rIns="0" rtlCol="0" tIns="0" wrap="square"/>
          <a:p>
            <a:pPr indent="0" marL="0">
              <a:buNone/>
            </a:pPr>
            <a:r>
              <a:rPr b="1" dirty="0" sz="1100" lang="en-US">
                <a:solidFill>
                  <a:srgbClr val="00B8A9"/>
                </a:solidFill>
                <a:latin typeface="Calibri" pitchFamily="34" charset="0"/>
                <a:ea typeface="Calibri" pitchFamily="34" charset="-122"/>
                <a:cs typeface="Calibri" pitchFamily="34" charset="-120"/>
              </a:rPr>
              <a:t>NEXT LECTURE</a:t>
            </a:r>
            <a:endParaRPr dirty="0" sz="1100" lang="en-US"/>
          </a:p>
        </p:txBody>
      </p:sp>
      <p:sp>
        <p:nvSpPr>
          <p:cNvPr id="1048934" name="Text 5"/>
          <p:cNvSpPr/>
          <p:nvPr/>
        </p:nvSpPr>
        <p:spPr>
          <a:xfrm>
            <a:off x="822960" y="5422392"/>
            <a:ext cx="10058400" cy="548640"/>
          </a:xfrm>
          <a:prstGeom prst="rect"/>
          <a:noFill/>
        </p:spPr>
        <p:txBody>
          <a:bodyPr anchor="ctr" bIns="0" lIns="0" rIns="0" rtlCol="0" tIns="0" wrap="square"/>
          <a:p>
            <a:pPr indent="0" marL="0">
              <a:buNone/>
            </a:pPr>
            <a:r>
              <a:rPr b="1" dirty="0" sz="1550" lang="en-US">
                <a:solidFill>
                  <a:srgbClr val="FFFFFF"/>
                </a:solidFill>
                <a:latin typeface="Calibri" pitchFamily="34" charset="0"/>
                <a:ea typeface="Calibri" pitchFamily="34" charset="-122"/>
                <a:cs typeface="Calibri" pitchFamily="34" charset="-120"/>
              </a:rPr>
              <a:t>Lecture 8 — Capacity Planning &amp; Performance Prediction</a:t>
            </a:r>
            <a:endParaRPr dirty="0" sz="1550" lang="en-US"/>
          </a:p>
        </p:txBody>
      </p:sp>
      <p:sp>
        <p:nvSpPr>
          <p:cNvPr id="1048935" name="Text 6"/>
          <p:cNvSpPr/>
          <p:nvPr/>
        </p:nvSpPr>
        <p:spPr>
          <a:xfrm>
            <a:off x="457200" y="6537960"/>
            <a:ext cx="8229600" cy="274320"/>
          </a:xfrm>
          <a:prstGeom prst="rect"/>
          <a:noFill/>
        </p:spPr>
        <p:txBody>
          <a:bodyPr anchor="ctr" bIns="0" lIns="0" rIns="0" rtlCol="0" tIns="0" wrap="square"/>
          <a:p>
            <a:pPr indent="0" marL="0">
              <a:buNone/>
            </a:pPr>
            <a:r>
              <a:rPr dirty="0" sz="900" lang="en-US">
                <a:solidFill>
                  <a:srgbClr val="9AA5B1"/>
                </a:solidFill>
                <a:latin typeface="Calibri" pitchFamily="34" charset="0"/>
                <a:ea typeface="Calibri" pitchFamily="34" charset="-122"/>
                <a:cs typeface="Calibri" pitchFamily="34" charset="-120"/>
              </a:rPr>
              <a:t>SOA — Lecture 7: Discrete-Event Simulation</a:t>
            </a:r>
            <a:endParaRPr dirty="0" sz="900" lang="en-US"/>
          </a:p>
        </p:txBody>
      </p:sp>
      <p:sp>
        <p:nvSpPr>
          <p:cNvPr id="1048936" name="Text 7"/>
          <p:cNvSpPr/>
          <p:nvPr/>
        </p:nvSpPr>
        <p:spPr>
          <a:xfrm>
            <a:off x="11521440" y="6537960"/>
            <a:ext cx="548640" cy="274320"/>
          </a:xfrm>
          <a:prstGeom prst="rect"/>
          <a:noFill/>
        </p:spPr>
        <p:txBody>
          <a:bodyPr anchor="ctr" bIns="0" lIns="0" rIns="0" rtlCol="0" tIns="0" wrap="square"/>
          <a:p>
            <a:pPr algn="r" indent="0" marL="0">
              <a:buNone/>
            </a:pPr>
            <a:r>
              <a:rPr dirty="0" sz="900" lang="en-US">
                <a:solidFill>
                  <a:srgbClr val="9AA5B1"/>
                </a:solidFill>
                <a:latin typeface="Calibri" pitchFamily="34" charset="0"/>
                <a:ea typeface="Calibri" pitchFamily="34" charset="-122"/>
                <a:cs typeface="Calibri" pitchFamily="34" charset="-120"/>
              </a:rPr>
              <a:t>30</a:t>
            </a:r>
            <a:endParaRPr dirty="0" sz="90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creator>PptxGenJS</dc:creator>
  <cp:lastModifiedBy>Abdolraheem Khader</cp:lastModifiedBy>
  <dcterms:created xsi:type="dcterms:W3CDTF">2026-07-31T07:51:25Z</dcterms:created>
  <dcterms:modified xsi:type="dcterms:W3CDTF">2026-09-14T08:16:49Z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fb8c997b607b4fdda3042b2744e9481d_23</vt:lpwstr>
  </property>
</Properties>
</file>