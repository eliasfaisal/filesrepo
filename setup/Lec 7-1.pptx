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81" r:id="rId2"/>
    <p:sldId id="283" r:id="rId3"/>
    <p:sldId id="282" r:id="rId4"/>
    <p:sldId id="284" r:id="rId5"/>
    <p:sldId id="285" r:id="rId6"/>
    <p:sldId id="287" r:id="rId7"/>
    <p:sldId id="286" r:id="rId8"/>
    <p:sldId id="288" r:id="rId9"/>
    <p:sldId id="289" r:id="rId10"/>
    <p:sldId id="291" r:id="rId11"/>
    <p:sldId id="290" r:id="rId12"/>
    <p:sldId id="292" r:id="rId13"/>
    <p:sldId id="293" r:id="rId14"/>
    <p:sldId id="294" r:id="rId15"/>
    <p:sldId id="295" r:id="rId16"/>
    <p:sldId id="296" r:id="rId17"/>
    <p:sldId id="297" r:id="rId18"/>
    <p:sldId id="299" r:id="rId19"/>
    <p:sldId id="300" r:id="rId20"/>
    <p:sldId id="301" r:id="rId21"/>
    <p:sldId id="298" r:id="rId22"/>
    <p:sldId id="302" r:id="rId23"/>
    <p:sldId id="304" r:id="rId24"/>
    <p:sldId id="303" r:id="rId25"/>
    <p:sldId id="305" r:id="rId26"/>
    <p:sldId id="306" r:id="rId27"/>
    <p:sldId id="307" r:id="rId28"/>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p:scale>
          <a:sx n="86" d="100"/>
          <a:sy n="86" d="100"/>
        </p:scale>
        <p:origin x="936" y="-30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16/11/2025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extLst>
      <p:ext uri="{BB962C8B-B14F-4D97-AF65-F5344CB8AC3E}">
        <p14:creationId xmlns:p14="http://schemas.microsoft.com/office/powerpoint/2010/main" val="119235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0720507"/>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intr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11BB43-898D-D4CA-D7B7-DF66D8CB7CA5}"/>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03FD344B-D161-771C-B827-276F50716ADF}"/>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2">
            <a:extLst>
              <a:ext uri="{FF2B5EF4-FFF2-40B4-BE49-F238E27FC236}">
                <a16:creationId xmlns:a16="http://schemas.microsoft.com/office/drawing/2014/main" id="{CA1F8F51-D2FB-5D2A-050B-D521B7236B15}"/>
              </a:ext>
            </a:extLst>
          </p:cNvPr>
          <p:cNvSpPr txBox="1">
            <a:spLocks noChangeArrowheads="1"/>
          </p:cNvSpPr>
          <p:nvPr/>
        </p:nvSpPr>
        <p:spPr>
          <a:xfrm>
            <a:off x="0" y="76200"/>
            <a:ext cx="9144000" cy="1143000"/>
          </a:xfrm>
          <a:prstGeom prst="rect">
            <a:avLst/>
          </a:prstGeom>
          <a:solidFill>
            <a:schemeClr val="accent2">
              <a:lumMod val="20000"/>
              <a:lumOff val="80000"/>
            </a:schemeClr>
          </a:solidFill>
        </p:spPr>
        <p:txBody>
          <a:bodyPr/>
          <a:lstStyle/>
          <a:p>
            <a:pPr marL="571500" indent="-571500">
              <a:defRPr/>
            </a:pPr>
            <a:r>
              <a:rPr lang="en-US" altLang="en-GB" sz="3200" kern="0" dirty="0">
                <a:solidFill>
                  <a:srgbClr val="FF0000"/>
                </a:solidFill>
                <a:latin typeface="Segoe Print" pitchFamily="2" charset="0"/>
              </a:rPr>
              <a:t>    Introduction</a:t>
            </a:r>
            <a:r>
              <a:rPr lang="en-US" altLang="en-GB" sz="2800" kern="0" dirty="0">
                <a:solidFill>
                  <a:srgbClr val="FF0000"/>
                </a:solidFill>
                <a:latin typeface="Segoe Print" pitchFamily="2" charset="0"/>
              </a:rPr>
              <a:t> </a:t>
            </a:r>
            <a:r>
              <a:rPr lang="en-US" altLang="en-GB" sz="2400" kern="0" dirty="0">
                <a:solidFill>
                  <a:srgbClr val="FF0000"/>
                </a:solidFill>
                <a:latin typeface="Algerian" pitchFamily="82" charset="0"/>
              </a:rPr>
              <a:t>                 </a:t>
            </a:r>
            <a:r>
              <a:rPr lang="en-US" altLang="en-GB" sz="2000" b="0" kern="0" dirty="0">
                <a:solidFill>
                  <a:schemeClr val="bg1">
                    <a:lumMod val="85000"/>
                  </a:schemeClr>
                </a:solidFill>
                <a:latin typeface="Algerian" pitchFamily="82" charset="0"/>
              </a:rPr>
              <a:t>Objectives of the study</a:t>
            </a:r>
            <a:endParaRPr lang="en-US" altLang="en-GB" sz="2000" kern="0" dirty="0">
              <a:solidFill>
                <a:schemeClr val="bg1">
                  <a:lumMod val="85000"/>
                </a:schemeClr>
              </a:solidFill>
              <a:latin typeface="Algerian" pitchFamily="82" charset="0"/>
            </a:endParaRPr>
          </a:p>
          <a:p>
            <a:pPr marL="571500" indent="-571500">
              <a:defRPr/>
            </a:pPr>
            <a:r>
              <a:rPr lang="en-US" altLang="en-GB" sz="2000" b="0" kern="0" dirty="0">
                <a:solidFill>
                  <a:schemeClr val="bg1">
                    <a:lumMod val="85000"/>
                  </a:schemeClr>
                </a:solidFill>
                <a:latin typeface="Algerian" pitchFamily="82" charset="0"/>
              </a:rPr>
              <a:t>         Related work                                  Research methodology</a:t>
            </a:r>
          </a:p>
          <a:p>
            <a:pPr marL="571500" indent="-571500">
              <a:defRPr/>
            </a:pPr>
            <a:r>
              <a:rPr lang="en-US" altLang="en-GB" sz="2000" b="0" kern="0" dirty="0">
                <a:solidFill>
                  <a:schemeClr val="bg1">
                    <a:lumMod val="85000"/>
                  </a:schemeClr>
                </a:solidFill>
                <a:latin typeface="Algerian" pitchFamily="82" charset="0"/>
              </a:rPr>
              <a:t>         Problem statement                      Work plan     </a:t>
            </a:r>
            <a:r>
              <a:rPr lang="en-US" altLang="en-GB" sz="2000" b="0" kern="0" dirty="0" err="1">
                <a:solidFill>
                  <a:schemeClr val="bg1">
                    <a:lumMod val="85000"/>
                  </a:schemeClr>
                </a:solidFill>
                <a:latin typeface="Algerian" pitchFamily="82" charset="0"/>
              </a:rPr>
              <a:t>Refrences</a:t>
            </a:r>
            <a:endParaRPr lang="en-US" altLang="en-GB" sz="2000" b="0" kern="0" dirty="0">
              <a:solidFill>
                <a:schemeClr val="bg1">
                  <a:lumMod val="85000"/>
                </a:schemeClr>
              </a:solidFill>
              <a:latin typeface="Algerian" pitchFamily="82" charset="0"/>
            </a:endParaRPr>
          </a:p>
          <a:p>
            <a:pPr marL="571500" indent="-571500">
              <a:defRPr/>
            </a:pPr>
            <a:endParaRPr lang="en-US" altLang="en-GB" sz="2400" b="0" kern="0" dirty="0">
              <a:solidFill>
                <a:prstClr val="black"/>
              </a:solidFill>
              <a:latin typeface="Algerian" pitchFamily="82" charset="0"/>
            </a:endParaRPr>
          </a:p>
        </p:txBody>
      </p:sp>
    </p:spTree>
    <p:extLst>
      <p:ext uri="{BB962C8B-B14F-4D97-AF65-F5344CB8AC3E}">
        <p14:creationId xmlns:p14="http://schemas.microsoft.com/office/powerpoint/2010/main" val="16555724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related wo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3BEB6F-26AA-3739-742F-E78F7BB77551}"/>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51DF9FA1-A84B-27E0-8BEB-DEEA118B8DC8}"/>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2">
            <a:extLst>
              <a:ext uri="{FF2B5EF4-FFF2-40B4-BE49-F238E27FC236}">
                <a16:creationId xmlns:a16="http://schemas.microsoft.com/office/drawing/2014/main" id="{2A895A9A-5AC7-7C82-E54B-A6CAE15A8892}"/>
              </a:ext>
            </a:extLst>
          </p:cNvPr>
          <p:cNvSpPr txBox="1">
            <a:spLocks noChangeArrowheads="1"/>
          </p:cNvSpPr>
          <p:nvPr/>
        </p:nvSpPr>
        <p:spPr>
          <a:xfrm>
            <a:off x="0" y="76200"/>
            <a:ext cx="9144000" cy="1143000"/>
          </a:xfrm>
          <a:prstGeom prst="rect">
            <a:avLst/>
          </a:prstGeom>
          <a:solidFill>
            <a:schemeClr val="accent2">
              <a:lumMod val="20000"/>
              <a:lumOff val="80000"/>
            </a:schemeClr>
          </a:solidFill>
        </p:spPr>
        <p:txBody>
          <a:bodyPr/>
          <a:lstStyle/>
          <a:p>
            <a:pPr marL="571500" indent="-571500">
              <a:defRPr/>
            </a:pPr>
            <a:r>
              <a:rPr lang="en-US" altLang="en-GB" sz="2400" kern="0" dirty="0">
                <a:solidFill>
                  <a:srgbClr val="FF0000"/>
                </a:solidFill>
                <a:latin typeface="Algerian" pitchFamily="82" charset="0"/>
              </a:rPr>
              <a:t>        </a:t>
            </a:r>
            <a:r>
              <a:rPr lang="en-US" altLang="en-GB" sz="24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Introduction </a:t>
            </a:r>
            <a:r>
              <a:rPr lang="en-US" altLang="en-GB" sz="20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Objectives of the study</a:t>
            </a:r>
            <a:endParaRPr lang="en-US" altLang="en-GB" sz="2400" kern="0" dirty="0">
              <a:solidFill>
                <a:schemeClr val="bg1">
                  <a:lumMod val="85000"/>
                </a:schemeClr>
              </a:solidFill>
              <a:latin typeface="Algerian" pitchFamily="82" charset="0"/>
            </a:endParaRPr>
          </a:p>
          <a:p>
            <a:pPr marL="571500" indent="-571500">
              <a:defRPr/>
            </a:pPr>
            <a:r>
              <a:rPr lang="en-US" altLang="en-GB" sz="2400" b="0" kern="0" dirty="0">
                <a:solidFill>
                  <a:schemeClr val="bg1">
                    <a:lumMod val="65000"/>
                  </a:schemeClr>
                </a:solidFill>
                <a:latin typeface="Algerian" pitchFamily="82" charset="0"/>
              </a:rPr>
              <a:t>         </a:t>
            </a:r>
            <a:r>
              <a:rPr lang="en-US" altLang="en-GB" sz="3200" kern="0" dirty="0">
                <a:solidFill>
                  <a:srgbClr val="FF0000"/>
                </a:solidFill>
                <a:latin typeface="Segoe Print" pitchFamily="2" charset="0"/>
              </a:rPr>
              <a:t>Related work</a:t>
            </a:r>
            <a:r>
              <a:rPr lang="en-US" altLang="en-GB" sz="24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Research methodology</a:t>
            </a:r>
          </a:p>
          <a:p>
            <a:pPr marL="571500" indent="-571500">
              <a:defRPr/>
            </a:pPr>
            <a:r>
              <a:rPr lang="en-US" altLang="en-GB" sz="2000" b="0" kern="0" dirty="0">
                <a:solidFill>
                  <a:schemeClr val="bg1">
                    <a:lumMod val="85000"/>
                  </a:schemeClr>
                </a:solidFill>
                <a:latin typeface="Algerian" pitchFamily="82" charset="0"/>
              </a:rPr>
              <a:t>           Problem statement                           Work plan     </a:t>
            </a:r>
            <a:r>
              <a:rPr lang="en-US" altLang="en-GB" sz="2000" b="0" kern="0" dirty="0" err="1">
                <a:solidFill>
                  <a:schemeClr val="bg1">
                    <a:lumMod val="85000"/>
                  </a:schemeClr>
                </a:solidFill>
                <a:latin typeface="Algerian" pitchFamily="82" charset="0"/>
              </a:rPr>
              <a:t>Refrences</a:t>
            </a:r>
            <a:endParaRPr lang="en-US" altLang="en-GB" sz="2000" b="0" kern="0" dirty="0">
              <a:solidFill>
                <a:schemeClr val="bg1">
                  <a:lumMod val="85000"/>
                </a:schemeClr>
              </a:solidFill>
              <a:latin typeface="Algerian" pitchFamily="82" charset="0"/>
            </a:endParaRPr>
          </a:p>
          <a:p>
            <a:pPr marL="571500" indent="-571500">
              <a:defRPr/>
            </a:pPr>
            <a:endParaRPr lang="en-US" altLang="en-GB" sz="2400" b="0" kern="0" dirty="0">
              <a:solidFill>
                <a:prstClr val="black"/>
              </a:solidFill>
              <a:latin typeface="Algerian" pitchFamily="82" charset="0"/>
            </a:endParaRPr>
          </a:p>
        </p:txBody>
      </p:sp>
    </p:spTree>
    <p:extLst>
      <p:ext uri="{BB962C8B-B14F-4D97-AF65-F5344CB8AC3E}">
        <p14:creationId xmlns:p14="http://schemas.microsoft.com/office/powerpoint/2010/main" val="58023875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prole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41078F-0EB9-9BC9-F90A-7BD181E5CC26}"/>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AFDB9D67-9920-1F9B-E932-63BB1F4490D1}"/>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2">
            <a:extLst>
              <a:ext uri="{FF2B5EF4-FFF2-40B4-BE49-F238E27FC236}">
                <a16:creationId xmlns:a16="http://schemas.microsoft.com/office/drawing/2014/main" id="{97784FE8-573F-EB94-C735-5369A56272E2}"/>
              </a:ext>
            </a:extLst>
          </p:cNvPr>
          <p:cNvSpPr txBox="1">
            <a:spLocks noChangeArrowheads="1"/>
          </p:cNvSpPr>
          <p:nvPr/>
        </p:nvSpPr>
        <p:spPr>
          <a:xfrm>
            <a:off x="0" y="76200"/>
            <a:ext cx="9144000" cy="1143000"/>
          </a:xfrm>
          <a:prstGeom prst="rect">
            <a:avLst/>
          </a:prstGeom>
          <a:solidFill>
            <a:schemeClr val="accent2">
              <a:lumMod val="20000"/>
              <a:lumOff val="80000"/>
            </a:schemeClr>
          </a:solidFill>
        </p:spPr>
        <p:txBody>
          <a:bodyPr/>
          <a:lstStyle/>
          <a:p>
            <a:pPr marL="571500" indent="-571500">
              <a:defRPr/>
            </a:pPr>
            <a:r>
              <a:rPr lang="en-US" altLang="en-GB" sz="24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Introduction                                                Objectives of the study</a:t>
            </a:r>
            <a:endParaRPr lang="en-US" altLang="en-GB" sz="2000" kern="0" dirty="0">
              <a:solidFill>
                <a:schemeClr val="bg1">
                  <a:lumMod val="85000"/>
                </a:schemeClr>
              </a:solidFill>
              <a:latin typeface="Algerian" pitchFamily="82" charset="0"/>
            </a:endParaRPr>
          </a:p>
          <a:p>
            <a:pPr marL="571500" indent="-571500">
              <a:defRPr/>
            </a:pPr>
            <a:r>
              <a:rPr lang="en-US" altLang="en-GB" sz="2000" b="0" kern="0" dirty="0">
                <a:solidFill>
                  <a:schemeClr val="bg1">
                    <a:lumMod val="85000"/>
                  </a:schemeClr>
                </a:solidFill>
                <a:latin typeface="Algerian" pitchFamily="82" charset="0"/>
              </a:rPr>
              <a:t>           Related work                                             Research methodology</a:t>
            </a:r>
          </a:p>
          <a:p>
            <a:pPr marL="571500" indent="-571500">
              <a:defRPr/>
            </a:pPr>
            <a:r>
              <a:rPr lang="en-US" altLang="en-GB" sz="2400" b="0" kern="0" dirty="0">
                <a:solidFill>
                  <a:schemeClr val="bg1">
                    <a:lumMod val="65000"/>
                  </a:schemeClr>
                </a:solidFill>
                <a:latin typeface="Algerian" pitchFamily="82" charset="0"/>
              </a:rPr>
              <a:t>         </a:t>
            </a:r>
            <a:r>
              <a:rPr lang="en-US" altLang="en-GB" sz="3200" kern="0" dirty="0">
                <a:solidFill>
                  <a:srgbClr val="FF0000"/>
                </a:solidFill>
                <a:latin typeface="Segoe Print" pitchFamily="2" charset="0"/>
              </a:rPr>
              <a:t>Problem statement</a:t>
            </a:r>
            <a:r>
              <a:rPr lang="en-US" altLang="en-GB" sz="3200" b="0" kern="0" dirty="0">
                <a:solidFill>
                  <a:schemeClr val="bg1">
                    <a:lumMod val="65000"/>
                  </a:schemeClr>
                </a:solidFill>
                <a:latin typeface="Segoe Print" pitchFamily="2" charset="0"/>
              </a:rPr>
              <a:t> </a:t>
            </a:r>
            <a:r>
              <a:rPr lang="en-US" altLang="en-GB" sz="2400" b="0" kern="0" dirty="0">
                <a:solidFill>
                  <a:schemeClr val="bg1">
                    <a:lumMod val="65000"/>
                  </a:schemeClr>
                </a:solidFill>
                <a:latin typeface="Segoe Print" pitchFamily="2" charset="0"/>
              </a:rPr>
              <a:t> </a:t>
            </a:r>
            <a:r>
              <a:rPr lang="en-US" altLang="en-GB" sz="2400" b="0" kern="0" dirty="0">
                <a:solidFill>
                  <a:schemeClr val="bg1">
                    <a:lumMod val="65000"/>
                  </a:schemeClr>
                </a:solidFill>
                <a:latin typeface="Algerian" pitchFamily="82" charset="0"/>
              </a:rPr>
              <a:t>     </a:t>
            </a:r>
            <a:r>
              <a:rPr lang="en-US" altLang="en-GB" sz="20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Work plan      </a:t>
            </a:r>
            <a:r>
              <a:rPr lang="en-US" altLang="en-GB" sz="2000" b="0" kern="0" dirty="0" err="1">
                <a:solidFill>
                  <a:schemeClr val="bg1">
                    <a:lumMod val="85000"/>
                  </a:schemeClr>
                </a:solidFill>
                <a:latin typeface="Algerian" pitchFamily="82" charset="0"/>
              </a:rPr>
              <a:t>Refrences</a:t>
            </a:r>
            <a:endParaRPr lang="en-US" altLang="en-GB" sz="2400" b="0" kern="0" dirty="0">
              <a:solidFill>
                <a:schemeClr val="bg1">
                  <a:lumMod val="85000"/>
                </a:schemeClr>
              </a:solidFill>
              <a:latin typeface="Algerian" pitchFamily="82" charset="0"/>
            </a:endParaRPr>
          </a:p>
          <a:p>
            <a:pPr marL="571500" indent="-571500">
              <a:defRPr/>
            </a:pPr>
            <a:endParaRPr lang="en-US" altLang="en-GB" sz="2400" b="0" kern="0" dirty="0">
              <a:solidFill>
                <a:prstClr val="black"/>
              </a:solidFill>
              <a:latin typeface="Algerian" pitchFamily="82" charset="0"/>
            </a:endParaRPr>
          </a:p>
        </p:txBody>
      </p:sp>
    </p:spTree>
    <p:extLst>
      <p:ext uri="{BB962C8B-B14F-4D97-AF65-F5344CB8AC3E}">
        <p14:creationId xmlns:p14="http://schemas.microsoft.com/office/powerpoint/2010/main" val="1939202481"/>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objectiv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E657F5-ABCF-B56E-5DF5-22304909803B}"/>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91D7CC16-746E-A702-73B2-293B8A5821CF}"/>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2">
            <a:extLst>
              <a:ext uri="{FF2B5EF4-FFF2-40B4-BE49-F238E27FC236}">
                <a16:creationId xmlns:a16="http://schemas.microsoft.com/office/drawing/2014/main" id="{16D16B77-BF77-411B-1FFE-8491DDFE0F0F}"/>
              </a:ext>
            </a:extLst>
          </p:cNvPr>
          <p:cNvSpPr txBox="1">
            <a:spLocks noChangeArrowheads="1"/>
          </p:cNvSpPr>
          <p:nvPr/>
        </p:nvSpPr>
        <p:spPr>
          <a:xfrm>
            <a:off x="0" y="76200"/>
            <a:ext cx="9144000" cy="1143000"/>
          </a:xfrm>
          <a:prstGeom prst="rect">
            <a:avLst/>
          </a:prstGeom>
          <a:solidFill>
            <a:schemeClr val="accent2">
              <a:lumMod val="20000"/>
              <a:lumOff val="80000"/>
            </a:schemeClr>
          </a:solidFill>
        </p:spPr>
        <p:txBody>
          <a:bodyPr/>
          <a:lstStyle/>
          <a:p>
            <a:pPr marL="571500" indent="-571500">
              <a:defRPr/>
            </a:pPr>
            <a:r>
              <a:rPr lang="en-US" altLang="en-GB" sz="2400" b="0" kern="0" dirty="0">
                <a:solidFill>
                  <a:schemeClr val="bg1">
                    <a:lumMod val="65000"/>
                  </a:schemeClr>
                </a:solidFill>
                <a:latin typeface="Algerian" pitchFamily="82" charset="0"/>
              </a:rPr>
              <a:t>        </a:t>
            </a:r>
            <a:r>
              <a:rPr lang="en-US" altLang="en-GB" sz="2400" b="0" kern="0" dirty="0">
                <a:solidFill>
                  <a:schemeClr val="bg1">
                    <a:lumMod val="85000"/>
                  </a:schemeClr>
                </a:solidFill>
                <a:latin typeface="Algerian" pitchFamily="82" charset="0"/>
              </a:rPr>
              <a:t> </a:t>
            </a:r>
            <a:r>
              <a:rPr lang="en-US" altLang="en-GB" sz="2000" b="0" kern="0" dirty="0">
                <a:solidFill>
                  <a:schemeClr val="bg1">
                    <a:lumMod val="85000"/>
                  </a:schemeClr>
                </a:solidFill>
                <a:latin typeface="Algerian" pitchFamily="82" charset="0"/>
              </a:rPr>
              <a:t>Introduction</a:t>
            </a:r>
            <a:r>
              <a:rPr lang="en-US" altLang="en-GB" sz="2400" b="0" kern="0" dirty="0">
                <a:solidFill>
                  <a:schemeClr val="bg1">
                    <a:lumMod val="85000"/>
                  </a:schemeClr>
                </a:solidFill>
                <a:latin typeface="Algerian" pitchFamily="82" charset="0"/>
              </a:rPr>
              <a:t>                     </a:t>
            </a:r>
            <a:r>
              <a:rPr lang="en-US" altLang="en-GB" sz="2400" kern="0" dirty="0">
                <a:solidFill>
                  <a:schemeClr val="bg1">
                    <a:lumMod val="85000"/>
                  </a:schemeClr>
                </a:solidFill>
                <a:latin typeface="Algerian" pitchFamily="82" charset="0"/>
              </a:rPr>
              <a:t> </a:t>
            </a:r>
            <a:r>
              <a:rPr lang="en-US" altLang="en-GB" sz="3200" kern="0" dirty="0">
                <a:solidFill>
                  <a:srgbClr val="FF0000"/>
                </a:solidFill>
                <a:latin typeface="Segoe Print" pitchFamily="2" charset="0"/>
              </a:rPr>
              <a:t>Objectives of the study</a:t>
            </a:r>
            <a:endParaRPr lang="en-US" altLang="en-GB" sz="2400" kern="0" dirty="0">
              <a:solidFill>
                <a:srgbClr val="FF0000"/>
              </a:solidFill>
              <a:latin typeface="Segoe Print" pitchFamily="2" charset="0"/>
            </a:endParaRPr>
          </a:p>
          <a:p>
            <a:pPr marL="571500" indent="-571500">
              <a:defRPr/>
            </a:pPr>
            <a:r>
              <a:rPr lang="en-US" altLang="en-GB" sz="24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Related work                        Research methodology</a:t>
            </a:r>
          </a:p>
          <a:p>
            <a:pPr marL="571500" indent="-571500">
              <a:defRPr/>
            </a:pPr>
            <a:r>
              <a:rPr lang="en-US" altLang="en-GB" sz="20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Problem statement             Work plan     </a:t>
            </a:r>
            <a:r>
              <a:rPr lang="en-US" altLang="en-GB" sz="2000" b="0" kern="0" dirty="0" err="1">
                <a:solidFill>
                  <a:schemeClr val="bg1">
                    <a:lumMod val="85000"/>
                  </a:schemeClr>
                </a:solidFill>
                <a:latin typeface="Algerian" pitchFamily="82" charset="0"/>
              </a:rPr>
              <a:t>Refrences</a:t>
            </a:r>
            <a:endParaRPr lang="en-US" altLang="en-GB" sz="2000" b="0" kern="0" dirty="0">
              <a:solidFill>
                <a:schemeClr val="bg1">
                  <a:lumMod val="85000"/>
                </a:schemeClr>
              </a:solidFill>
              <a:latin typeface="Algerian" pitchFamily="82" charset="0"/>
            </a:endParaRPr>
          </a:p>
          <a:p>
            <a:pPr marL="571500" indent="-571500">
              <a:defRPr/>
            </a:pPr>
            <a:endParaRPr lang="en-US" altLang="en-GB" sz="2400" b="0" kern="0" dirty="0">
              <a:solidFill>
                <a:prstClr val="black"/>
              </a:solidFill>
              <a:latin typeface="Algerian" pitchFamily="82" charset="0"/>
            </a:endParaRPr>
          </a:p>
        </p:txBody>
      </p:sp>
    </p:spTree>
    <p:extLst>
      <p:ext uri="{BB962C8B-B14F-4D97-AF65-F5344CB8AC3E}">
        <p14:creationId xmlns:p14="http://schemas.microsoft.com/office/powerpoint/2010/main" val="3759403479"/>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methodolg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5E4FA2-8F2E-CC25-5CDB-72CAC798373C}"/>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1126AE49-3FC1-99CE-019E-14DDE94904E6}"/>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2">
            <a:extLst>
              <a:ext uri="{FF2B5EF4-FFF2-40B4-BE49-F238E27FC236}">
                <a16:creationId xmlns:a16="http://schemas.microsoft.com/office/drawing/2014/main" id="{F941A52E-4222-9FD7-599B-F4600094736A}"/>
              </a:ext>
            </a:extLst>
          </p:cNvPr>
          <p:cNvSpPr txBox="1">
            <a:spLocks noChangeArrowheads="1"/>
          </p:cNvSpPr>
          <p:nvPr/>
        </p:nvSpPr>
        <p:spPr>
          <a:xfrm>
            <a:off x="0" y="76200"/>
            <a:ext cx="9144000" cy="1066800"/>
          </a:xfrm>
          <a:prstGeom prst="rect">
            <a:avLst/>
          </a:prstGeom>
          <a:solidFill>
            <a:schemeClr val="accent2">
              <a:lumMod val="20000"/>
              <a:lumOff val="80000"/>
            </a:schemeClr>
          </a:solidFill>
        </p:spPr>
        <p:txBody>
          <a:bodyPr/>
          <a:lstStyle/>
          <a:p>
            <a:pPr marL="571500" indent="-571500">
              <a:defRPr/>
            </a:pPr>
            <a:r>
              <a:rPr lang="en-US" altLang="en-GB" sz="2000" b="0" kern="0" dirty="0">
                <a:solidFill>
                  <a:schemeClr val="bg1">
                    <a:lumMod val="65000"/>
                  </a:schemeClr>
                </a:solidFill>
                <a:latin typeface="Algerian" pitchFamily="82" charset="0"/>
              </a:rPr>
              <a:t>         </a:t>
            </a:r>
            <a:r>
              <a:rPr lang="en-US" altLang="en-GB" b="0" kern="0" dirty="0">
                <a:solidFill>
                  <a:schemeClr val="bg1">
                    <a:lumMod val="85000"/>
                  </a:schemeClr>
                </a:solidFill>
                <a:latin typeface="Algerian" pitchFamily="82" charset="0"/>
              </a:rPr>
              <a:t>Introduction                              </a:t>
            </a:r>
            <a:r>
              <a:rPr lang="en-US" altLang="en-GB" kern="0" dirty="0">
                <a:solidFill>
                  <a:schemeClr val="bg1">
                    <a:lumMod val="85000"/>
                  </a:schemeClr>
                </a:solidFill>
                <a:latin typeface="Algerian" pitchFamily="82" charset="0"/>
              </a:rPr>
              <a:t> </a:t>
            </a:r>
            <a:r>
              <a:rPr lang="en-US" altLang="en-GB" b="0" kern="0" dirty="0">
                <a:solidFill>
                  <a:schemeClr val="bg1">
                    <a:lumMod val="85000"/>
                  </a:schemeClr>
                </a:solidFill>
                <a:latin typeface="Algerian" pitchFamily="82" charset="0"/>
              </a:rPr>
              <a:t>Objectives of the study</a:t>
            </a:r>
            <a:endParaRPr lang="en-US" altLang="en-GB" sz="2000" b="0" kern="0" dirty="0">
              <a:solidFill>
                <a:schemeClr val="bg1">
                  <a:lumMod val="85000"/>
                </a:schemeClr>
              </a:solidFill>
              <a:latin typeface="Algerian" pitchFamily="82" charset="0"/>
            </a:endParaRPr>
          </a:p>
          <a:p>
            <a:pPr marL="571500" indent="-571500">
              <a:defRPr/>
            </a:pPr>
            <a:r>
              <a:rPr lang="en-US" altLang="en-GB" sz="2000" b="0" kern="0" dirty="0">
                <a:solidFill>
                  <a:schemeClr val="bg1">
                    <a:lumMod val="65000"/>
                  </a:schemeClr>
                </a:solidFill>
                <a:latin typeface="Algerian" pitchFamily="82" charset="0"/>
              </a:rPr>
              <a:t>         </a:t>
            </a:r>
            <a:r>
              <a:rPr lang="en-US" altLang="en-GB" b="0" kern="0" dirty="0">
                <a:solidFill>
                  <a:schemeClr val="bg1">
                    <a:lumMod val="85000"/>
                  </a:schemeClr>
                </a:solidFill>
                <a:latin typeface="Algerian" pitchFamily="82" charset="0"/>
              </a:rPr>
              <a:t>Related work</a:t>
            </a:r>
            <a:r>
              <a:rPr lang="en-US" altLang="en-GB" sz="2000" b="0" kern="0" dirty="0">
                <a:solidFill>
                  <a:schemeClr val="bg1">
                    <a:lumMod val="65000"/>
                  </a:schemeClr>
                </a:solidFill>
                <a:latin typeface="Algerian" pitchFamily="82" charset="0"/>
              </a:rPr>
              <a:t>                      </a:t>
            </a:r>
            <a:r>
              <a:rPr lang="en-US" altLang="en-GB" sz="2000" kern="0" dirty="0">
                <a:solidFill>
                  <a:srgbClr val="FF0000"/>
                </a:solidFill>
                <a:latin typeface="Algerian" pitchFamily="82" charset="0"/>
              </a:rPr>
              <a:t>    </a:t>
            </a:r>
            <a:r>
              <a:rPr lang="en-US" altLang="en-GB" sz="2800" kern="0" dirty="0">
                <a:solidFill>
                  <a:srgbClr val="FF0000"/>
                </a:solidFill>
                <a:latin typeface="Segoe Print" pitchFamily="2" charset="0"/>
              </a:rPr>
              <a:t>Research methodology</a:t>
            </a:r>
          </a:p>
          <a:p>
            <a:pPr marL="571500" indent="-571500">
              <a:defRPr/>
            </a:pPr>
            <a:r>
              <a:rPr lang="en-US" altLang="en-GB" sz="2000" b="0" kern="0" dirty="0">
                <a:solidFill>
                  <a:schemeClr val="bg1">
                    <a:lumMod val="65000"/>
                  </a:schemeClr>
                </a:solidFill>
                <a:latin typeface="Algerian" pitchFamily="82" charset="0"/>
              </a:rPr>
              <a:t>         </a:t>
            </a:r>
            <a:r>
              <a:rPr lang="en-US" altLang="en-GB" b="0" kern="0" dirty="0">
                <a:solidFill>
                  <a:schemeClr val="bg1">
                    <a:lumMod val="85000"/>
                  </a:schemeClr>
                </a:solidFill>
                <a:latin typeface="Algerian" pitchFamily="82" charset="0"/>
              </a:rPr>
              <a:t>Problem statement                 Work plan       </a:t>
            </a:r>
            <a:r>
              <a:rPr lang="en-US" altLang="en-GB" b="0" kern="0" dirty="0" err="1">
                <a:solidFill>
                  <a:schemeClr val="bg1">
                    <a:lumMod val="85000"/>
                  </a:schemeClr>
                </a:solidFill>
                <a:latin typeface="Algerian" pitchFamily="82" charset="0"/>
              </a:rPr>
              <a:t>Refrences</a:t>
            </a:r>
            <a:endParaRPr lang="en-US" altLang="en-GB" b="0" kern="0" dirty="0">
              <a:solidFill>
                <a:schemeClr val="bg1">
                  <a:lumMod val="85000"/>
                </a:schemeClr>
              </a:solidFill>
              <a:latin typeface="Algerian" pitchFamily="82" charset="0"/>
            </a:endParaRPr>
          </a:p>
          <a:p>
            <a:pPr marL="571500" indent="-571500">
              <a:defRPr/>
            </a:pPr>
            <a:endParaRPr lang="en-US" altLang="en-GB" sz="2000" b="0" kern="0" dirty="0">
              <a:solidFill>
                <a:prstClr val="black"/>
              </a:solidFill>
              <a:latin typeface="Algerian" pitchFamily="82" charset="0"/>
            </a:endParaRPr>
          </a:p>
        </p:txBody>
      </p:sp>
    </p:spTree>
    <p:extLst>
      <p:ext uri="{BB962C8B-B14F-4D97-AF65-F5344CB8AC3E}">
        <p14:creationId xmlns:p14="http://schemas.microsoft.com/office/powerpoint/2010/main" val="1462714406"/>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work pla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709020-6A3D-91DE-9288-A2C1495B7E86}"/>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7B3C77B4-BD02-E441-DE59-0FDA71DB657F}"/>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2">
            <a:extLst>
              <a:ext uri="{FF2B5EF4-FFF2-40B4-BE49-F238E27FC236}">
                <a16:creationId xmlns:a16="http://schemas.microsoft.com/office/drawing/2014/main" id="{45587A5F-841D-3CD2-E740-32C20433E181}"/>
              </a:ext>
            </a:extLst>
          </p:cNvPr>
          <p:cNvSpPr txBox="1">
            <a:spLocks noChangeArrowheads="1"/>
          </p:cNvSpPr>
          <p:nvPr/>
        </p:nvSpPr>
        <p:spPr>
          <a:xfrm>
            <a:off x="0" y="76200"/>
            <a:ext cx="9144000" cy="1143000"/>
          </a:xfrm>
          <a:prstGeom prst="rect">
            <a:avLst/>
          </a:prstGeom>
          <a:solidFill>
            <a:schemeClr val="accent2">
              <a:lumMod val="20000"/>
              <a:lumOff val="80000"/>
            </a:schemeClr>
          </a:solidFill>
        </p:spPr>
        <p:txBody>
          <a:bodyPr/>
          <a:lstStyle/>
          <a:p>
            <a:pPr marL="571500" indent="-571500">
              <a:defRPr/>
            </a:pPr>
            <a:r>
              <a:rPr lang="en-US" altLang="en-GB" sz="24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Introduction                       </a:t>
            </a:r>
            <a:r>
              <a:rPr lang="en-US" altLang="en-GB" sz="2000" kern="0" dirty="0">
                <a:solidFill>
                  <a:schemeClr val="bg1">
                    <a:lumMod val="85000"/>
                  </a:schemeClr>
                </a:solidFill>
                <a:latin typeface="Algerian" pitchFamily="82" charset="0"/>
              </a:rPr>
              <a:t> </a:t>
            </a:r>
            <a:r>
              <a:rPr lang="en-US" altLang="en-GB" sz="2000" b="0" kern="0" dirty="0">
                <a:solidFill>
                  <a:schemeClr val="bg1">
                    <a:lumMod val="85000"/>
                  </a:schemeClr>
                </a:solidFill>
                <a:latin typeface="Algerian" pitchFamily="82" charset="0"/>
              </a:rPr>
              <a:t>Objectives of the study</a:t>
            </a:r>
          </a:p>
          <a:p>
            <a:pPr marL="571500" indent="-571500">
              <a:defRPr/>
            </a:pPr>
            <a:r>
              <a:rPr lang="en-US" altLang="en-GB" sz="2000" b="0" kern="0" dirty="0">
                <a:solidFill>
                  <a:schemeClr val="bg1">
                    <a:lumMod val="85000"/>
                  </a:schemeClr>
                </a:solidFill>
                <a:latin typeface="Algerian" pitchFamily="82" charset="0"/>
              </a:rPr>
              <a:t>         Related work                     </a:t>
            </a:r>
            <a:r>
              <a:rPr lang="en-US" altLang="en-GB" sz="2000" kern="0" dirty="0">
                <a:solidFill>
                  <a:schemeClr val="bg1">
                    <a:lumMod val="85000"/>
                  </a:schemeClr>
                </a:solidFill>
                <a:latin typeface="Algerian" pitchFamily="82" charset="0"/>
              </a:rPr>
              <a:t> </a:t>
            </a:r>
            <a:r>
              <a:rPr lang="en-US" altLang="en-GB" sz="2000" b="0" kern="0" dirty="0">
                <a:solidFill>
                  <a:schemeClr val="bg1">
                    <a:lumMod val="85000"/>
                  </a:schemeClr>
                </a:solidFill>
                <a:latin typeface="Algerian" pitchFamily="82" charset="0"/>
              </a:rPr>
              <a:t>Research methodology</a:t>
            </a:r>
          </a:p>
          <a:p>
            <a:pPr marL="571500" indent="-571500">
              <a:defRPr/>
            </a:pPr>
            <a:r>
              <a:rPr lang="en-US" altLang="en-GB" sz="2000" b="0" kern="0" dirty="0">
                <a:solidFill>
                  <a:schemeClr val="bg1">
                    <a:lumMod val="85000"/>
                  </a:schemeClr>
                </a:solidFill>
                <a:latin typeface="Algerian" pitchFamily="82" charset="0"/>
              </a:rPr>
              <a:t>         Problem statement           </a:t>
            </a:r>
            <a:r>
              <a:rPr lang="en-US" altLang="en-GB" sz="3000" kern="0" dirty="0">
                <a:solidFill>
                  <a:srgbClr val="FF0000"/>
                </a:solidFill>
                <a:latin typeface="Segoe Print" pitchFamily="2" charset="0"/>
              </a:rPr>
              <a:t>Work plan</a:t>
            </a:r>
            <a:r>
              <a:rPr lang="en-US" altLang="en-GB" sz="2400" b="0" kern="0" dirty="0">
                <a:solidFill>
                  <a:schemeClr val="bg1">
                    <a:lumMod val="65000"/>
                  </a:schemeClr>
                </a:solidFill>
                <a:latin typeface="Segoe Print" pitchFamily="2" charset="0"/>
              </a:rPr>
              <a:t>      </a:t>
            </a:r>
            <a:r>
              <a:rPr lang="en-US" altLang="en-GB" sz="2000" b="0" kern="0" dirty="0" err="1">
                <a:solidFill>
                  <a:schemeClr val="bg1">
                    <a:lumMod val="85000"/>
                  </a:schemeClr>
                </a:solidFill>
                <a:latin typeface="Algerian" pitchFamily="82" charset="0"/>
              </a:rPr>
              <a:t>Refrences</a:t>
            </a:r>
            <a:endParaRPr lang="en-US" altLang="en-GB" sz="2400" b="0" kern="0" dirty="0">
              <a:solidFill>
                <a:schemeClr val="bg1">
                  <a:lumMod val="85000"/>
                </a:schemeClr>
              </a:solidFill>
              <a:latin typeface="Algerian" pitchFamily="82" charset="0"/>
            </a:endParaRPr>
          </a:p>
          <a:p>
            <a:pPr marL="571500" indent="-571500">
              <a:defRPr/>
            </a:pPr>
            <a:endParaRPr lang="en-US" altLang="en-GB" sz="2400" b="0" kern="0" dirty="0">
              <a:solidFill>
                <a:prstClr val="black"/>
              </a:solidFill>
              <a:latin typeface="Algerian" pitchFamily="82" charset="0"/>
            </a:endParaRPr>
          </a:p>
        </p:txBody>
      </p:sp>
    </p:spTree>
    <p:extLst>
      <p:ext uri="{BB962C8B-B14F-4D97-AF65-F5344CB8AC3E}">
        <p14:creationId xmlns:p14="http://schemas.microsoft.com/office/powerpoint/2010/main" val="3162501638"/>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referenc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F5E156-6C5A-6C3A-417B-9254F74C2B84}"/>
              </a:ext>
            </a:extLst>
          </p:cNvPr>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F32A57EF-2C10-3C8F-6BD4-A1D2EC6E5F36}"/>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Rectangle 2">
            <a:extLst>
              <a:ext uri="{FF2B5EF4-FFF2-40B4-BE49-F238E27FC236}">
                <a16:creationId xmlns:a16="http://schemas.microsoft.com/office/drawing/2014/main" id="{32BB983D-D5D4-0627-5202-83B92B39FF74}"/>
              </a:ext>
            </a:extLst>
          </p:cNvPr>
          <p:cNvSpPr txBox="1">
            <a:spLocks noChangeArrowheads="1"/>
          </p:cNvSpPr>
          <p:nvPr/>
        </p:nvSpPr>
        <p:spPr>
          <a:xfrm>
            <a:off x="0" y="76200"/>
            <a:ext cx="9144000" cy="1143000"/>
          </a:xfrm>
          <a:prstGeom prst="rect">
            <a:avLst/>
          </a:prstGeom>
          <a:solidFill>
            <a:schemeClr val="accent2">
              <a:lumMod val="20000"/>
              <a:lumOff val="80000"/>
            </a:schemeClr>
          </a:solidFill>
        </p:spPr>
        <p:txBody>
          <a:bodyPr/>
          <a:lstStyle/>
          <a:p>
            <a:pPr marL="571500" indent="-571500">
              <a:defRPr/>
            </a:pPr>
            <a:r>
              <a:rPr lang="en-US" altLang="en-GB" sz="2400" b="0" kern="0" dirty="0">
                <a:solidFill>
                  <a:schemeClr val="bg1">
                    <a:lumMod val="65000"/>
                  </a:schemeClr>
                </a:solidFill>
                <a:latin typeface="Algerian" pitchFamily="82" charset="0"/>
              </a:rPr>
              <a:t>        </a:t>
            </a:r>
            <a:r>
              <a:rPr lang="en-US" altLang="en-GB" sz="2000" b="0" kern="0" dirty="0">
                <a:solidFill>
                  <a:schemeClr val="bg1">
                    <a:lumMod val="85000"/>
                  </a:schemeClr>
                </a:solidFill>
                <a:latin typeface="Algerian" pitchFamily="82" charset="0"/>
              </a:rPr>
              <a:t>Introduction                     </a:t>
            </a:r>
            <a:r>
              <a:rPr lang="en-US" altLang="en-GB" sz="2000" kern="0" dirty="0">
                <a:solidFill>
                  <a:schemeClr val="bg1">
                    <a:lumMod val="85000"/>
                  </a:schemeClr>
                </a:solidFill>
                <a:latin typeface="Algerian" pitchFamily="82" charset="0"/>
              </a:rPr>
              <a:t>   </a:t>
            </a:r>
            <a:r>
              <a:rPr lang="en-US" altLang="en-GB" sz="2000" b="0" kern="0" dirty="0">
                <a:solidFill>
                  <a:schemeClr val="bg1">
                    <a:lumMod val="85000"/>
                  </a:schemeClr>
                </a:solidFill>
                <a:latin typeface="Algerian" pitchFamily="82" charset="0"/>
              </a:rPr>
              <a:t>Objectives of the study</a:t>
            </a:r>
          </a:p>
          <a:p>
            <a:pPr marL="571500" indent="-571500">
              <a:defRPr/>
            </a:pPr>
            <a:r>
              <a:rPr lang="en-US" altLang="en-GB" sz="2000" b="0" kern="0" dirty="0">
                <a:solidFill>
                  <a:schemeClr val="bg1">
                    <a:lumMod val="85000"/>
                  </a:schemeClr>
                </a:solidFill>
                <a:latin typeface="Algerian" pitchFamily="82" charset="0"/>
              </a:rPr>
              <a:t>         Related work                    </a:t>
            </a:r>
            <a:r>
              <a:rPr lang="en-US" altLang="en-GB" sz="2000" kern="0" dirty="0">
                <a:solidFill>
                  <a:schemeClr val="bg1">
                    <a:lumMod val="85000"/>
                  </a:schemeClr>
                </a:solidFill>
                <a:latin typeface="Algerian" pitchFamily="82" charset="0"/>
              </a:rPr>
              <a:t>  </a:t>
            </a:r>
            <a:r>
              <a:rPr lang="en-US" altLang="en-GB" sz="2000" b="0" kern="0" dirty="0">
                <a:solidFill>
                  <a:schemeClr val="bg1">
                    <a:lumMod val="85000"/>
                  </a:schemeClr>
                </a:solidFill>
                <a:latin typeface="Algerian" pitchFamily="82" charset="0"/>
              </a:rPr>
              <a:t>Research methodology</a:t>
            </a:r>
          </a:p>
          <a:p>
            <a:pPr marL="571500" indent="-571500">
              <a:defRPr/>
            </a:pPr>
            <a:r>
              <a:rPr lang="en-US" altLang="en-GB" sz="2000" b="0" kern="0" dirty="0">
                <a:solidFill>
                  <a:schemeClr val="bg1">
                    <a:lumMod val="85000"/>
                  </a:schemeClr>
                </a:solidFill>
                <a:latin typeface="Algerian" pitchFamily="82" charset="0"/>
              </a:rPr>
              <a:t>         Problem statement           Work plan         </a:t>
            </a:r>
            <a:r>
              <a:rPr lang="en-US" altLang="en-GB" sz="3200" kern="0" dirty="0" err="1">
                <a:solidFill>
                  <a:srgbClr val="FF0000"/>
                </a:solidFill>
                <a:latin typeface="Segoe Print" pitchFamily="2" charset="0"/>
              </a:rPr>
              <a:t>Refrences</a:t>
            </a:r>
            <a:endParaRPr lang="en-US" altLang="en-GB" sz="3200" kern="0" dirty="0">
              <a:solidFill>
                <a:srgbClr val="FF0000"/>
              </a:solidFill>
              <a:latin typeface="Segoe Print" pitchFamily="2" charset="0"/>
            </a:endParaRPr>
          </a:p>
          <a:p>
            <a:pPr marL="571500" indent="-571500">
              <a:defRPr/>
            </a:pPr>
            <a:endParaRPr lang="en-US" altLang="en-GB" sz="2400" b="0" kern="0" dirty="0">
              <a:solidFill>
                <a:prstClr val="black"/>
              </a:solidFill>
              <a:latin typeface="Algerian" pitchFamily="82" charset="0"/>
            </a:endParaRPr>
          </a:p>
        </p:txBody>
      </p:sp>
    </p:spTree>
    <p:extLst>
      <p:ext uri="{BB962C8B-B14F-4D97-AF65-F5344CB8AC3E}">
        <p14:creationId xmlns:p14="http://schemas.microsoft.com/office/powerpoint/2010/main" val="105772062"/>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30211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16/11/2025</a:t>
            </a:fld>
            <a:endParaRPr lang="en-AU"/>
          </a:p>
        </p:txBody>
      </p:sp>
      <p:sp>
        <p:nvSpPr>
          <p:cNvPr id="4" name="Footer Placeholder 3"/>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420899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7" name="Pie 6">
            <a:extLst>
              <a:ext uri="{FF2B5EF4-FFF2-40B4-BE49-F238E27FC236}">
                <a16:creationId xmlns:a16="http://schemas.microsoft.com/office/drawing/2014/main" id="{7EC3E86A-A1B6-BA90-88F4-F827C2388432}"/>
              </a:ext>
            </a:extLst>
          </p:cNvPr>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Oval 7">
            <a:extLst>
              <a:ext uri="{FF2B5EF4-FFF2-40B4-BE49-F238E27FC236}">
                <a16:creationId xmlns:a16="http://schemas.microsoft.com/office/drawing/2014/main" id="{DBF228D5-576D-0E2B-7339-06B4983EDE32}"/>
              </a:ext>
            </a:extLst>
          </p:cNvPr>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Donut 10">
            <a:extLst>
              <a:ext uri="{FF2B5EF4-FFF2-40B4-BE49-F238E27FC236}">
                <a16:creationId xmlns:a16="http://schemas.microsoft.com/office/drawing/2014/main" id="{DA97F6D9-DD8A-B423-BC5F-FEA40B24C1DC}"/>
              </a:ext>
            </a:extLst>
          </p:cNvPr>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2" name="Rectangle 11">
            <a:extLst>
              <a:ext uri="{FF2B5EF4-FFF2-40B4-BE49-F238E27FC236}">
                <a16:creationId xmlns:a16="http://schemas.microsoft.com/office/drawing/2014/main" id="{95BD0478-4237-5B74-115B-1B21243C027E}"/>
              </a:ext>
            </a:extLst>
          </p:cNvPr>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Title Placeholder 4">
            <a:extLst>
              <a:ext uri="{FF2B5EF4-FFF2-40B4-BE49-F238E27FC236}">
                <a16:creationId xmlns:a16="http://schemas.microsoft.com/office/drawing/2014/main" id="{036F3CD6-9DAC-B32C-D3B4-33723140F018}"/>
              </a:ext>
            </a:extLst>
          </p:cNvPr>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a:extLst>
              <a:ext uri="{FF2B5EF4-FFF2-40B4-BE49-F238E27FC236}">
                <a16:creationId xmlns:a16="http://schemas.microsoft.com/office/drawing/2014/main" id="{E4CE980C-D966-EB92-65D0-438A865C74D8}"/>
              </a:ext>
            </a:extLst>
          </p:cNvPr>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SD"/>
              <a:t>Click to edit Master text styles</a:t>
            </a:r>
          </a:p>
          <a:p>
            <a:pPr lvl="1"/>
            <a:r>
              <a:rPr lang="en-US" altLang="ar-SD"/>
              <a:t>Second level</a:t>
            </a:r>
          </a:p>
          <a:p>
            <a:pPr lvl="2"/>
            <a:r>
              <a:rPr lang="en-US" altLang="ar-SD"/>
              <a:t>Third level</a:t>
            </a:r>
          </a:p>
          <a:p>
            <a:pPr lvl="3"/>
            <a:r>
              <a:rPr lang="en-US" altLang="ar-SD"/>
              <a:t>Fourth level</a:t>
            </a:r>
          </a:p>
          <a:p>
            <a:pPr lvl="4"/>
            <a:r>
              <a:rPr lang="en-US" altLang="ar-SD"/>
              <a:t>Fifth level</a:t>
            </a:r>
          </a:p>
        </p:txBody>
      </p:sp>
      <p:sp>
        <p:nvSpPr>
          <p:cNvPr id="24" name="Date Placeholder 23">
            <a:extLst>
              <a:ext uri="{FF2B5EF4-FFF2-40B4-BE49-F238E27FC236}">
                <a16:creationId xmlns:a16="http://schemas.microsoft.com/office/drawing/2014/main" id="{A646024C-4098-6460-3314-3F3DDFA368C3}"/>
              </a:ext>
            </a:extLst>
          </p:cNvPr>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02C3DB84-98FB-4B92-9E59-12D7CC27F3EE}" type="datetime1">
              <a:rPr lang="en-AU" smtClean="0"/>
              <a:t>16/11/2025</a:t>
            </a:fld>
            <a:endParaRPr lang="en-AU"/>
          </a:p>
        </p:txBody>
      </p:sp>
      <p:sp>
        <p:nvSpPr>
          <p:cNvPr id="10" name="Footer Placeholder 9">
            <a:extLst>
              <a:ext uri="{FF2B5EF4-FFF2-40B4-BE49-F238E27FC236}">
                <a16:creationId xmlns:a16="http://schemas.microsoft.com/office/drawing/2014/main" id="{BF1B15DE-09FE-2FF1-97FA-26B6A4424473}"/>
              </a:ext>
            </a:extLst>
          </p:cNvPr>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AU"/>
              <a:t>© Len Bass, Paul Clements, Rick Kazman, distributed under Creative Commons Attribution License</a:t>
            </a:r>
            <a:endParaRPr lang="en-AU" dirty="0"/>
          </a:p>
        </p:txBody>
      </p:sp>
      <p:sp>
        <p:nvSpPr>
          <p:cNvPr id="22" name="Slide Number Placeholder 21">
            <a:extLst>
              <a:ext uri="{FF2B5EF4-FFF2-40B4-BE49-F238E27FC236}">
                <a16:creationId xmlns:a16="http://schemas.microsoft.com/office/drawing/2014/main" id="{D80B9CEF-5E05-5B7E-B29F-1E62F65C7E0E}"/>
              </a:ext>
            </a:extLst>
          </p:cNvPr>
          <p:cNvSpPr>
            <a:spLocks noGrp="1"/>
          </p:cNvSpPr>
          <p:nvPr>
            <p:ph type="sldNum" sz="quarter" idx="4"/>
          </p:nvPr>
        </p:nvSpPr>
        <p:spPr>
          <a:xfrm>
            <a:off x="8613775" y="6305550"/>
            <a:ext cx="457200" cy="476250"/>
          </a:xfrm>
          <a:prstGeom prst="rect">
            <a:avLst/>
          </a:prstGeom>
        </p:spPr>
        <p:txBody>
          <a:bodyPr vert="horz" wrap="square" lIns="91440" tIns="45720" rIns="91440" bIns="45720" numCol="1" anchor="b" anchorCtr="0" compatLnSpc="1">
            <a:prstTxWarp prst="textNoShape">
              <a:avLst/>
            </a:prstTxWarp>
          </a:bodyPr>
          <a:lstStyle>
            <a:lvl1pPr algn="ctr">
              <a:defRPr sz="1200">
                <a:solidFill>
                  <a:srgbClr val="B5A788"/>
                </a:solidFill>
              </a:defRPr>
            </a:lvl1pPr>
          </a:lstStyle>
          <a:p>
            <a:fld id="{D0E8C58C-0836-46C6-8F9A-AF87B5CA09C9}" type="slidenum">
              <a:rPr lang="en-AU" smtClean="0"/>
              <a:t>‹#›</a:t>
            </a:fld>
            <a:endParaRPr lang="en-AU"/>
          </a:p>
        </p:txBody>
      </p:sp>
      <p:sp>
        <p:nvSpPr>
          <p:cNvPr id="15" name="Rectangle 14">
            <a:extLst>
              <a:ext uri="{FF2B5EF4-FFF2-40B4-BE49-F238E27FC236}">
                <a16:creationId xmlns:a16="http://schemas.microsoft.com/office/drawing/2014/main" id="{FD1E9D00-65D9-165A-6F65-103022AB0F2F}"/>
              </a:ext>
            </a:extLst>
          </p:cNvPr>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734664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dt="0"/>
  <p:txStyles>
    <p:titleStyle>
      <a:lvl1pPr algn="l" rtl="1" eaLnBrk="1" fontAlgn="base" hangingPunct="1">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1" eaLnBrk="1" fontAlgn="base" hangingPunct="1">
        <a:spcBef>
          <a:spcPct val="0"/>
        </a:spcBef>
        <a:spcAft>
          <a:spcPct val="0"/>
        </a:spcAft>
        <a:defRPr sz="4300">
          <a:solidFill>
            <a:srgbClr val="572314"/>
          </a:solidFill>
          <a:latin typeface="Gill Sans MT" pitchFamily="34" charset="0"/>
        </a:defRPr>
      </a:lvl2pPr>
      <a:lvl3pPr algn="l" rtl="1" eaLnBrk="1" fontAlgn="base" hangingPunct="1">
        <a:spcBef>
          <a:spcPct val="0"/>
        </a:spcBef>
        <a:spcAft>
          <a:spcPct val="0"/>
        </a:spcAft>
        <a:defRPr sz="4300">
          <a:solidFill>
            <a:srgbClr val="572314"/>
          </a:solidFill>
          <a:latin typeface="Gill Sans MT" pitchFamily="34" charset="0"/>
        </a:defRPr>
      </a:lvl3pPr>
      <a:lvl4pPr algn="l" rtl="1" eaLnBrk="1" fontAlgn="base" hangingPunct="1">
        <a:spcBef>
          <a:spcPct val="0"/>
        </a:spcBef>
        <a:spcAft>
          <a:spcPct val="0"/>
        </a:spcAft>
        <a:defRPr sz="4300">
          <a:solidFill>
            <a:srgbClr val="572314"/>
          </a:solidFill>
          <a:latin typeface="Gill Sans MT" pitchFamily="34" charset="0"/>
        </a:defRPr>
      </a:lvl4pPr>
      <a:lvl5pPr algn="l" rtl="1" eaLnBrk="1" fontAlgn="base" hangingPunct="1">
        <a:spcBef>
          <a:spcPct val="0"/>
        </a:spcBef>
        <a:spcAft>
          <a:spcPct val="0"/>
        </a:spcAft>
        <a:defRPr sz="4300">
          <a:solidFill>
            <a:srgbClr val="572314"/>
          </a:solidFill>
          <a:latin typeface="Gill Sans MT" pitchFamily="34" charset="0"/>
        </a:defRPr>
      </a:lvl5pPr>
      <a:lvl6pPr marL="457200" algn="l" rtl="1" eaLnBrk="1" fontAlgn="base" hangingPunct="1">
        <a:spcBef>
          <a:spcPct val="0"/>
        </a:spcBef>
        <a:spcAft>
          <a:spcPct val="0"/>
        </a:spcAft>
        <a:defRPr sz="4300">
          <a:solidFill>
            <a:srgbClr val="572314"/>
          </a:solidFill>
          <a:latin typeface="Gill Sans MT" pitchFamily="34" charset="0"/>
        </a:defRPr>
      </a:lvl6pPr>
      <a:lvl7pPr marL="914400" algn="l" rtl="1" eaLnBrk="1" fontAlgn="base" hangingPunct="1">
        <a:spcBef>
          <a:spcPct val="0"/>
        </a:spcBef>
        <a:spcAft>
          <a:spcPct val="0"/>
        </a:spcAft>
        <a:defRPr sz="4300">
          <a:solidFill>
            <a:srgbClr val="572314"/>
          </a:solidFill>
          <a:latin typeface="Gill Sans MT" pitchFamily="34" charset="0"/>
        </a:defRPr>
      </a:lvl7pPr>
      <a:lvl8pPr marL="1371600" algn="l" rtl="1" eaLnBrk="1" fontAlgn="base" hangingPunct="1">
        <a:spcBef>
          <a:spcPct val="0"/>
        </a:spcBef>
        <a:spcAft>
          <a:spcPct val="0"/>
        </a:spcAft>
        <a:defRPr sz="4300">
          <a:solidFill>
            <a:srgbClr val="572314"/>
          </a:solidFill>
          <a:latin typeface="Gill Sans MT" pitchFamily="34" charset="0"/>
        </a:defRPr>
      </a:lvl8pPr>
      <a:lvl9pPr marL="1828800" algn="l" rtl="1" eaLnBrk="1" fontAlgn="base" hangingPunct="1">
        <a:spcBef>
          <a:spcPct val="0"/>
        </a:spcBef>
        <a:spcAft>
          <a:spcPct val="0"/>
        </a:spcAft>
        <a:defRPr sz="4300">
          <a:solidFill>
            <a:srgbClr val="572314"/>
          </a:solidFill>
          <a:latin typeface="Gill Sans MT" pitchFamily="34" charset="0"/>
        </a:defRPr>
      </a:lvl9pPr>
      <a:extLst/>
    </p:titleStyle>
    <p:bodyStyle>
      <a:lvl1pPr marL="365125" indent="-282575" algn="r" rtl="1" eaLnBrk="1" fontAlgn="base" hangingPunct="1">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39763" indent="-236538" algn="r" rtl="1" eaLnBrk="1" fontAlgn="base" hangingPunct="1">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r" rtl="1" eaLnBrk="1" fontAlgn="base" hangingPunct="1">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6963" indent="-173038" algn="r" rtl="1" eaLnBrk="1" fontAlgn="base" hangingPunct="1">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6988" indent="-182563" algn="r" rtl="1" eaLnBrk="1" fontAlgn="base" hangingPunct="1">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r" rtl="1"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for Choosing the Views</a:t>
            </a:r>
          </a:p>
        </p:txBody>
      </p:sp>
      <p:sp>
        <p:nvSpPr>
          <p:cNvPr id="3" name="Content Placeholder 2"/>
          <p:cNvSpPr>
            <a:spLocks noGrp="1"/>
          </p:cNvSpPr>
          <p:nvPr>
            <p:ph idx="1"/>
          </p:nvPr>
        </p:nvSpPr>
        <p:spPr/>
        <p:txBody>
          <a:bodyPr>
            <a:normAutofit fontScale="77500" lnSpcReduction="20000"/>
          </a:bodyPr>
          <a:lstStyle/>
          <a:p>
            <a:pPr algn="l" rtl="0"/>
            <a:r>
              <a:rPr lang="en-US" b="1" dirty="0"/>
              <a:t>Step 1. Build a stakeholder/view table. </a:t>
            </a:r>
          </a:p>
          <a:p>
            <a:pPr lvl="1" algn="l" rtl="0"/>
            <a:r>
              <a:rPr lang="en-US" dirty="0"/>
              <a:t>Rows: List the stakeholders for your project’s software architecture documentation</a:t>
            </a:r>
          </a:p>
          <a:p>
            <a:pPr lvl="1" algn="l" rtl="0"/>
            <a:r>
              <a:rPr lang="en-US" dirty="0"/>
              <a:t>Columns:  Enumerate the views that apply to your system. </a:t>
            </a:r>
          </a:p>
          <a:p>
            <a:pPr lvl="2" algn="l" rtl="0"/>
            <a:r>
              <a:rPr lang="en-US" dirty="0"/>
              <a:t>Use the structures discussed in Chapter 1, the views discussed in this chapter, and the views that your design work in ADD has suggested as a starting list of candidates.</a:t>
            </a:r>
          </a:p>
          <a:p>
            <a:pPr lvl="2" algn="l" rtl="0"/>
            <a:r>
              <a:rPr lang="en-US" dirty="0"/>
              <a:t>Include the views or view sketches you have as a result of your design work so far. </a:t>
            </a:r>
          </a:p>
          <a:p>
            <a:pPr lvl="1" algn="l" rtl="0"/>
            <a:r>
              <a:rPr lang="en-US" dirty="0"/>
              <a:t>Some views (such as decomposition, uses, and work assignment) apply to every system, while others (various C&amp;C views, the layered view) only apply to some systems. </a:t>
            </a:r>
          </a:p>
          <a:p>
            <a:pPr lvl="1" algn="l" rtl="0"/>
            <a:r>
              <a:rPr lang="en-US" dirty="0"/>
              <a:t>Fill in each cell to describe how much information the stakeholder requires from the view: none, overview only, moderate detail, or high detail.</a:t>
            </a:r>
          </a:p>
        </p:txBody>
      </p:sp>
    </p:spTree>
    <p:extLst>
      <p:ext uri="{BB962C8B-B14F-4D97-AF65-F5344CB8AC3E}">
        <p14:creationId xmlns:p14="http://schemas.microsoft.com/office/powerpoint/2010/main" val="32351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for Choosing the Views</a:t>
            </a:r>
          </a:p>
        </p:txBody>
      </p:sp>
      <p:sp>
        <p:nvSpPr>
          <p:cNvPr id="3" name="Content Placeholder 2"/>
          <p:cNvSpPr>
            <a:spLocks noGrp="1"/>
          </p:cNvSpPr>
          <p:nvPr>
            <p:ph idx="1"/>
          </p:nvPr>
        </p:nvSpPr>
        <p:spPr/>
        <p:txBody>
          <a:bodyPr>
            <a:normAutofit fontScale="70000" lnSpcReduction="20000"/>
          </a:bodyPr>
          <a:lstStyle/>
          <a:p>
            <a:pPr algn="l" rtl="0"/>
            <a:r>
              <a:rPr lang="en-US" dirty="0"/>
              <a:t> </a:t>
            </a:r>
            <a:r>
              <a:rPr lang="en-US" b="1" dirty="0"/>
              <a:t>Step 2. Combine views to reduce their number</a:t>
            </a:r>
            <a:endParaRPr lang="en-US" dirty="0"/>
          </a:p>
          <a:p>
            <a:pPr lvl="1" algn="l" rtl="0"/>
            <a:r>
              <a:rPr lang="en-US" dirty="0"/>
              <a:t>Look for marginal views in the table; those that require only an overview, or that serve very few stakeholders. </a:t>
            </a:r>
          </a:p>
          <a:p>
            <a:pPr lvl="1" algn="l" rtl="0"/>
            <a:r>
              <a:rPr lang="en-US" dirty="0"/>
              <a:t>Combine each marginal view with another view that has a stronger constituency. </a:t>
            </a:r>
          </a:p>
          <a:p>
            <a:pPr lvl="1" algn="l" rtl="0"/>
            <a:r>
              <a:rPr lang="en-US" dirty="0"/>
              <a:t>These views often combine naturally:</a:t>
            </a:r>
          </a:p>
          <a:p>
            <a:pPr lvl="2" algn="l" rtl="0"/>
            <a:r>
              <a:rPr lang="en-US" i="1" dirty="0"/>
              <a:t>Various C&amp;C views.</a:t>
            </a:r>
            <a:r>
              <a:rPr lang="en-US" dirty="0"/>
              <a:t> Because C&amp;C views all show runtime relations among components and connectors of various types, they tend to combine well. </a:t>
            </a:r>
          </a:p>
          <a:p>
            <a:pPr lvl="2" algn="l" rtl="0"/>
            <a:r>
              <a:rPr lang="en-US" i="1" dirty="0"/>
              <a:t>Deployment view with either SOA or communicating-processes views.</a:t>
            </a:r>
            <a:r>
              <a:rPr lang="en-US" dirty="0"/>
              <a:t> An SOA view shows services, and a communicating-processes view shows processes. In both cases, these are components that are deployed onto processors. </a:t>
            </a:r>
          </a:p>
          <a:p>
            <a:pPr lvl="2" algn="l" rtl="0"/>
            <a:r>
              <a:rPr lang="en-US" i="1" dirty="0"/>
              <a:t>Decomposition view and any of work assignment, implementation, uses, or layered views.</a:t>
            </a:r>
            <a:r>
              <a:rPr lang="en-US" dirty="0"/>
              <a:t> The decomposed modules form the units of work, development, and uses. In addition, these modules populate layers.</a:t>
            </a:r>
          </a:p>
          <a:p>
            <a:pPr algn="l" rtl="0"/>
            <a:endParaRPr lang="en-US" dirty="0"/>
          </a:p>
        </p:txBody>
      </p:sp>
    </p:spTree>
    <p:extLst>
      <p:ext uri="{BB962C8B-B14F-4D97-AF65-F5344CB8AC3E}">
        <p14:creationId xmlns:p14="http://schemas.microsoft.com/office/powerpoint/2010/main" val="2483773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for Choosing the Views</a:t>
            </a:r>
          </a:p>
        </p:txBody>
      </p:sp>
      <p:sp>
        <p:nvSpPr>
          <p:cNvPr id="3" name="Content Placeholder 2"/>
          <p:cNvSpPr>
            <a:spLocks noGrp="1"/>
          </p:cNvSpPr>
          <p:nvPr>
            <p:ph idx="1"/>
          </p:nvPr>
        </p:nvSpPr>
        <p:spPr/>
        <p:txBody>
          <a:bodyPr>
            <a:normAutofit fontScale="70000" lnSpcReduction="20000"/>
          </a:bodyPr>
          <a:lstStyle/>
          <a:p>
            <a:pPr algn="l" rtl="0"/>
            <a:r>
              <a:rPr lang="en-US" b="1" dirty="0"/>
              <a:t>Step 3. Prioritize and stage</a:t>
            </a:r>
            <a:r>
              <a:rPr lang="en-US" dirty="0"/>
              <a:t>.</a:t>
            </a:r>
          </a:p>
          <a:p>
            <a:pPr lvl="1" algn="l" rtl="0"/>
            <a:r>
              <a:rPr lang="en-US" dirty="0"/>
              <a:t>The decomposition view (one of the module views) is a particularly helpful view to release early. </a:t>
            </a:r>
          </a:p>
          <a:p>
            <a:pPr lvl="2" algn="l" rtl="0"/>
            <a:r>
              <a:rPr lang="en-US" dirty="0"/>
              <a:t>High-level decompositions are often easy to design</a:t>
            </a:r>
          </a:p>
          <a:p>
            <a:pPr lvl="2" algn="l" rtl="0"/>
            <a:r>
              <a:rPr lang="en-US" dirty="0"/>
              <a:t>The project manager can start to staff development teams, put training in place, determine which parts to outsource, and start producing budgets and schedules.</a:t>
            </a:r>
          </a:p>
          <a:p>
            <a:pPr lvl="1" algn="l" rtl="0"/>
            <a:r>
              <a:rPr lang="en-US" dirty="0"/>
              <a:t>You don’t have to satisfy all the information needs of all the stakeholders to the fullest extent. </a:t>
            </a:r>
          </a:p>
          <a:p>
            <a:pPr lvl="2" algn="l" rtl="0"/>
            <a:r>
              <a:rPr lang="en-US" dirty="0"/>
              <a:t>Providing 80 percent of the information goes a long way, and this might be “good enough” so that the stakeholders can do their job. </a:t>
            </a:r>
          </a:p>
          <a:p>
            <a:pPr lvl="2" algn="l" rtl="0"/>
            <a:r>
              <a:rPr lang="en-US" dirty="0"/>
              <a:t>Check with the stakeholder if a subset of information would be sufficient. </a:t>
            </a:r>
          </a:p>
          <a:p>
            <a:pPr lvl="1" algn="l" rtl="0"/>
            <a:r>
              <a:rPr lang="en-US" dirty="0"/>
              <a:t>You don’t have to complete one view before starting another. </a:t>
            </a:r>
          </a:p>
          <a:p>
            <a:pPr lvl="2" algn="l" rtl="0"/>
            <a:r>
              <a:rPr lang="en-US" dirty="0"/>
              <a:t>People can make progress with overview-level information</a:t>
            </a:r>
          </a:p>
          <a:p>
            <a:pPr lvl="2" algn="l" rtl="0"/>
            <a:r>
              <a:rPr lang="en-US" dirty="0"/>
              <a:t>A breadth-first approach is often the best.</a:t>
            </a:r>
          </a:p>
          <a:p>
            <a:pPr algn="l" rtl="0"/>
            <a:endParaRPr lang="en-US" dirty="0"/>
          </a:p>
        </p:txBody>
      </p:sp>
    </p:spTree>
    <p:extLst>
      <p:ext uri="{BB962C8B-B14F-4D97-AF65-F5344CB8AC3E}">
        <p14:creationId xmlns:p14="http://schemas.microsoft.com/office/powerpoint/2010/main" val="145277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Building the Documentation Package</a:t>
            </a:r>
          </a:p>
        </p:txBody>
      </p:sp>
      <p:sp>
        <p:nvSpPr>
          <p:cNvPr id="3" name="Content Placeholder 2"/>
          <p:cNvSpPr>
            <a:spLocks noGrp="1"/>
          </p:cNvSpPr>
          <p:nvPr>
            <p:ph idx="1"/>
          </p:nvPr>
        </p:nvSpPr>
        <p:spPr/>
        <p:txBody>
          <a:bodyPr/>
          <a:lstStyle/>
          <a:p>
            <a:pPr algn="l" rtl="0"/>
            <a:endParaRPr lang="en-US" dirty="0"/>
          </a:p>
          <a:p>
            <a:pPr algn="l" rtl="0"/>
            <a:r>
              <a:rPr lang="en-US" dirty="0"/>
              <a:t>Documentation package consists of</a:t>
            </a:r>
          </a:p>
          <a:p>
            <a:pPr lvl="1" algn="l" rtl="0"/>
            <a:r>
              <a:rPr lang="en-US" dirty="0"/>
              <a:t>Views</a:t>
            </a:r>
          </a:p>
          <a:p>
            <a:pPr lvl="1" algn="l" rtl="0"/>
            <a:r>
              <a:rPr lang="en-US" dirty="0"/>
              <a:t>Documentation beyond views</a:t>
            </a:r>
          </a:p>
        </p:txBody>
      </p:sp>
    </p:spTree>
    <p:extLst>
      <p:ext uri="{BB962C8B-B14F-4D97-AF65-F5344CB8AC3E}">
        <p14:creationId xmlns:p14="http://schemas.microsoft.com/office/powerpoint/2010/main" val="273921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Documenting a View</a:t>
            </a:r>
          </a:p>
        </p:txBody>
      </p:sp>
      <p:sp>
        <p:nvSpPr>
          <p:cNvPr id="3" name="Content Placeholder 2"/>
          <p:cNvSpPr>
            <a:spLocks noGrp="1"/>
          </p:cNvSpPr>
          <p:nvPr>
            <p:ph idx="1"/>
          </p:nvPr>
        </p:nvSpPr>
        <p:spPr/>
        <p:txBody>
          <a:bodyPr>
            <a:normAutofit fontScale="62500" lnSpcReduction="20000"/>
          </a:bodyPr>
          <a:lstStyle/>
          <a:p>
            <a:pPr algn="l" rtl="0"/>
            <a:r>
              <a:rPr lang="en-US" b="1" dirty="0"/>
              <a:t>Section 1: The Primary Presentation.</a:t>
            </a:r>
            <a:r>
              <a:rPr lang="en-US" dirty="0"/>
              <a:t> </a:t>
            </a:r>
          </a:p>
          <a:p>
            <a:pPr lvl="1" algn="l" rtl="0"/>
            <a:r>
              <a:rPr lang="en-US" dirty="0"/>
              <a:t>The </a:t>
            </a:r>
            <a:r>
              <a:rPr lang="en-US" i="1" dirty="0"/>
              <a:t>primary presentation </a:t>
            </a:r>
            <a:r>
              <a:rPr lang="en-US" dirty="0"/>
              <a:t>shows the elements and relations of the view. </a:t>
            </a:r>
          </a:p>
          <a:p>
            <a:pPr lvl="1" algn="l" rtl="0"/>
            <a:r>
              <a:rPr lang="en-US" dirty="0"/>
              <a:t>The primary presentation should contain the information you wish to convey about the system—in the vocabulary of that view. </a:t>
            </a:r>
          </a:p>
          <a:p>
            <a:pPr lvl="1" algn="l" rtl="0"/>
            <a:r>
              <a:rPr lang="en-US" dirty="0"/>
              <a:t>The primary presentation is most often graphical. </a:t>
            </a:r>
          </a:p>
          <a:p>
            <a:pPr lvl="2" algn="l" rtl="0"/>
            <a:r>
              <a:rPr lang="en-US" dirty="0"/>
              <a:t>It might be a diagram you’ve drawn in an informal notation using a simple drawing tool, or it might be a diagram in a semiformal or formal notation imported from a design or modeling tool that you’re using. </a:t>
            </a:r>
          </a:p>
          <a:p>
            <a:pPr lvl="2" algn="l" rtl="0"/>
            <a:r>
              <a:rPr lang="en-US" dirty="0"/>
              <a:t>If your primary presentation is graphical, make sure to include a key that explains the notation. </a:t>
            </a:r>
          </a:p>
          <a:p>
            <a:pPr lvl="2" algn="l" rtl="0"/>
            <a:r>
              <a:rPr lang="en-US" dirty="0"/>
              <a:t>Lack of a key is the most common mistake that we see in documentation in practice.</a:t>
            </a:r>
          </a:p>
          <a:p>
            <a:pPr lvl="1" algn="l" rtl="0"/>
            <a:r>
              <a:rPr lang="en-US" dirty="0"/>
              <a:t>Occasionally the primary presentation will be textual, such as a table or a list.</a:t>
            </a:r>
          </a:p>
          <a:p>
            <a:pPr lvl="2" algn="l" rtl="0"/>
            <a:r>
              <a:rPr lang="en-US" dirty="0"/>
              <a:t>If that text is presented according to certain stylistic rules, these rules should be stated or incorporated by reference, as the analog to the graphical notation key. </a:t>
            </a:r>
          </a:p>
        </p:txBody>
      </p:sp>
    </p:spTree>
    <p:extLst>
      <p:ext uri="{BB962C8B-B14F-4D97-AF65-F5344CB8AC3E}">
        <p14:creationId xmlns:p14="http://schemas.microsoft.com/office/powerpoint/2010/main" val="214863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Documenting a View</a:t>
            </a:r>
          </a:p>
        </p:txBody>
      </p:sp>
      <p:sp>
        <p:nvSpPr>
          <p:cNvPr id="3" name="Content Placeholder 2"/>
          <p:cNvSpPr>
            <a:spLocks noGrp="1"/>
          </p:cNvSpPr>
          <p:nvPr>
            <p:ph idx="1"/>
          </p:nvPr>
        </p:nvSpPr>
        <p:spPr/>
        <p:txBody>
          <a:bodyPr>
            <a:normAutofit fontScale="62500" lnSpcReduction="20000"/>
          </a:bodyPr>
          <a:lstStyle/>
          <a:p>
            <a:pPr algn="l" rtl="0"/>
            <a:r>
              <a:rPr lang="en-US" sz="4400" b="1" dirty="0"/>
              <a:t>Section 2: The Element Catalog.</a:t>
            </a:r>
            <a:r>
              <a:rPr lang="en-US" sz="4400" dirty="0"/>
              <a:t> </a:t>
            </a:r>
          </a:p>
          <a:p>
            <a:pPr lvl="1" algn="l" rtl="0"/>
            <a:r>
              <a:rPr lang="en-US" sz="3300" dirty="0"/>
              <a:t>The </a:t>
            </a:r>
            <a:r>
              <a:rPr lang="en-US" sz="3300" i="1" dirty="0"/>
              <a:t>element catalog </a:t>
            </a:r>
            <a:r>
              <a:rPr lang="en-US" sz="3300" dirty="0"/>
              <a:t>details at least those elements depicted in the primary presentation. </a:t>
            </a:r>
          </a:p>
          <a:p>
            <a:pPr lvl="2" algn="l" rtl="0"/>
            <a:r>
              <a:rPr lang="en-US" sz="2900" dirty="0"/>
              <a:t>For instance, if a diagram shows elements A, B, and C, then the element catalog needs to explain what A, B, and C are. </a:t>
            </a:r>
          </a:p>
          <a:p>
            <a:pPr lvl="2" algn="l" rtl="0"/>
            <a:r>
              <a:rPr lang="en-US" sz="2900" dirty="0"/>
              <a:t>If elements or relations relevant to this view were omitted from the primary presentation, they should be introduced and explained in the catalog. </a:t>
            </a:r>
          </a:p>
          <a:p>
            <a:pPr lvl="1" algn="l" rtl="0"/>
            <a:r>
              <a:rPr lang="en-US" sz="3300" dirty="0"/>
              <a:t>Parts of the catalog:</a:t>
            </a:r>
          </a:p>
          <a:p>
            <a:pPr lvl="2" algn="l" rtl="0"/>
            <a:r>
              <a:rPr lang="en-US" sz="2900" i="1" dirty="0"/>
              <a:t>Elements and their properties</a:t>
            </a:r>
            <a:r>
              <a:rPr lang="en-US" sz="2900" dirty="0"/>
              <a:t>. This section names each element in the view and lists the properties of that element. Each view listed a set of suggested properties associated with that view. </a:t>
            </a:r>
          </a:p>
          <a:p>
            <a:pPr lvl="2" algn="l" rtl="0"/>
            <a:r>
              <a:rPr lang="en-US" sz="2900" i="1" dirty="0"/>
              <a:t>Relations and their properties</a:t>
            </a:r>
            <a:r>
              <a:rPr lang="en-US" sz="2900" dirty="0"/>
              <a:t>. Each view has specific relation types that it depicts among the elements in that view. </a:t>
            </a:r>
          </a:p>
          <a:p>
            <a:pPr lvl="2" algn="l" rtl="0"/>
            <a:r>
              <a:rPr lang="en-US" sz="2900" i="1" dirty="0"/>
              <a:t>Element</a:t>
            </a:r>
            <a:r>
              <a:rPr lang="en-US" sz="2900" dirty="0"/>
              <a:t> </a:t>
            </a:r>
            <a:r>
              <a:rPr lang="en-US" sz="2900" i="1" dirty="0"/>
              <a:t>interfaces</a:t>
            </a:r>
            <a:r>
              <a:rPr lang="en-US" sz="2900" dirty="0"/>
              <a:t>. This section documents element interfaces.</a:t>
            </a:r>
          </a:p>
          <a:p>
            <a:pPr lvl="2" algn="l" rtl="0"/>
            <a:r>
              <a:rPr lang="en-US" sz="2900" i="1" dirty="0"/>
              <a:t>Element behavior</a:t>
            </a:r>
            <a:r>
              <a:rPr lang="en-US" sz="2900" dirty="0"/>
              <a:t>. This section documents element behavior that is not obvious from the primary presentation.</a:t>
            </a:r>
          </a:p>
          <a:p>
            <a:pPr algn="l" rtl="0"/>
            <a:endParaRPr lang="en-US" dirty="0"/>
          </a:p>
        </p:txBody>
      </p:sp>
    </p:spTree>
    <p:extLst>
      <p:ext uri="{BB962C8B-B14F-4D97-AF65-F5344CB8AC3E}">
        <p14:creationId xmlns:p14="http://schemas.microsoft.com/office/powerpoint/2010/main" val="3988113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Documenting a View</a:t>
            </a:r>
          </a:p>
        </p:txBody>
      </p:sp>
      <p:sp>
        <p:nvSpPr>
          <p:cNvPr id="3" name="Content Placeholder 2"/>
          <p:cNvSpPr>
            <a:spLocks noGrp="1"/>
          </p:cNvSpPr>
          <p:nvPr>
            <p:ph idx="1"/>
          </p:nvPr>
        </p:nvSpPr>
        <p:spPr/>
        <p:txBody>
          <a:bodyPr>
            <a:normAutofit fontScale="62500" lnSpcReduction="20000"/>
          </a:bodyPr>
          <a:lstStyle/>
          <a:p>
            <a:pPr algn="l" rtl="0"/>
            <a:r>
              <a:rPr lang="en-US" b="1" dirty="0"/>
              <a:t>Section 3: Context Diagram.</a:t>
            </a:r>
            <a:r>
              <a:rPr lang="en-US" dirty="0"/>
              <a:t> </a:t>
            </a:r>
          </a:p>
          <a:p>
            <a:pPr lvl="1" algn="l" rtl="0"/>
            <a:r>
              <a:rPr lang="en-US" dirty="0"/>
              <a:t>A </a:t>
            </a:r>
            <a:r>
              <a:rPr lang="en-US" i="1" dirty="0"/>
              <a:t>context diagram</a:t>
            </a:r>
            <a:r>
              <a:rPr lang="en-US" dirty="0"/>
              <a:t> shows how the system or portion of the system depicted in this view relates to its environment. </a:t>
            </a:r>
          </a:p>
          <a:p>
            <a:pPr lvl="1" algn="l" rtl="0"/>
            <a:r>
              <a:rPr lang="en-US" dirty="0"/>
              <a:t>The purpose of a context</a:t>
            </a:r>
            <a:r>
              <a:rPr lang="en-US" b="1" dirty="0"/>
              <a:t> </a:t>
            </a:r>
            <a:r>
              <a:rPr lang="en-US" dirty="0"/>
              <a:t>diagram is to depict the scope of a view. </a:t>
            </a:r>
          </a:p>
          <a:p>
            <a:pPr lvl="1" algn="l" rtl="0"/>
            <a:r>
              <a:rPr lang="en-US" dirty="0"/>
              <a:t>Entities in the environment may be humans, other computer systems, or physical objects, such as sensors or controlled devices. </a:t>
            </a:r>
          </a:p>
          <a:p>
            <a:pPr algn="l" rtl="0"/>
            <a:r>
              <a:rPr lang="en-US" b="1" dirty="0"/>
              <a:t>Section 4: Variability Guide.</a:t>
            </a:r>
            <a:r>
              <a:rPr lang="en-US" dirty="0"/>
              <a:t> </a:t>
            </a:r>
          </a:p>
          <a:p>
            <a:pPr lvl="1" algn="l" rtl="0"/>
            <a:r>
              <a:rPr lang="en-US" dirty="0"/>
              <a:t>A </a:t>
            </a:r>
            <a:r>
              <a:rPr lang="en-US" i="1" dirty="0"/>
              <a:t>variability guide</a:t>
            </a:r>
            <a:r>
              <a:rPr lang="en-US" dirty="0"/>
              <a:t> shows how to exercise any variation points that are a part of the architecture shown in this view.</a:t>
            </a:r>
          </a:p>
          <a:p>
            <a:pPr algn="l" rtl="0"/>
            <a:r>
              <a:rPr lang="en-US" b="1" dirty="0"/>
              <a:t>Section 5: Rationale.</a:t>
            </a:r>
            <a:r>
              <a:rPr lang="en-US" dirty="0"/>
              <a:t> </a:t>
            </a:r>
          </a:p>
          <a:p>
            <a:pPr lvl="1" algn="l" rtl="0"/>
            <a:r>
              <a:rPr lang="en-US" i="1" dirty="0"/>
              <a:t>Rationale</a:t>
            </a:r>
            <a:r>
              <a:rPr lang="en-US" dirty="0"/>
              <a:t> explains why the design reflected in the view came to be. </a:t>
            </a:r>
          </a:p>
          <a:p>
            <a:pPr lvl="1" algn="l" rtl="0"/>
            <a:r>
              <a:rPr lang="en-US" dirty="0"/>
              <a:t>The goal of this section is to explain why the design is as it is and to provide a convincing argument that it is sound. </a:t>
            </a:r>
          </a:p>
          <a:p>
            <a:pPr lvl="1" algn="l" rtl="0"/>
            <a:r>
              <a:rPr lang="en-US" dirty="0"/>
              <a:t>The choice of a pattern in this view should be justified here by describing the architectural problem that the chosen pattern solves and the rationale for choosing it over another.</a:t>
            </a:r>
          </a:p>
          <a:p>
            <a:pPr algn="l" rtl="0"/>
            <a:endParaRPr lang="en-US" dirty="0"/>
          </a:p>
        </p:txBody>
      </p:sp>
    </p:spTree>
    <p:extLst>
      <p:ext uri="{BB962C8B-B14F-4D97-AF65-F5344CB8AC3E}">
        <p14:creationId xmlns:p14="http://schemas.microsoft.com/office/powerpoint/2010/main" val="874190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View Template</a:t>
            </a:r>
          </a:p>
        </p:txBody>
      </p:sp>
      <p:pic>
        <p:nvPicPr>
          <p:cNvPr id="7" name="Picture 6" descr="viewtemplat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84" y="1124744"/>
            <a:ext cx="3908252" cy="4965990"/>
          </a:xfrm>
          <a:prstGeom prst="rect">
            <a:avLst/>
          </a:prstGeom>
        </p:spPr>
      </p:pic>
    </p:spTree>
    <p:extLst>
      <p:ext uri="{BB962C8B-B14F-4D97-AF65-F5344CB8AC3E}">
        <p14:creationId xmlns:p14="http://schemas.microsoft.com/office/powerpoint/2010/main" val="4016941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Documenting Information Beyond Views</a:t>
            </a:r>
          </a:p>
        </p:txBody>
      </p:sp>
      <p:sp>
        <p:nvSpPr>
          <p:cNvPr id="4" name="Content Placeholder 3"/>
          <p:cNvSpPr>
            <a:spLocks noGrp="1"/>
          </p:cNvSpPr>
          <p:nvPr>
            <p:ph idx="1"/>
          </p:nvPr>
        </p:nvSpPr>
        <p:spPr/>
        <p:txBody>
          <a:bodyPr>
            <a:normAutofit/>
          </a:bodyPr>
          <a:lstStyle/>
          <a:p>
            <a:pPr algn="l" rtl="0"/>
            <a:r>
              <a:rPr lang="en-US" b="1" dirty="0"/>
              <a:t>Document control information.</a:t>
            </a:r>
            <a:r>
              <a:rPr lang="en-US" dirty="0"/>
              <a:t> </a:t>
            </a:r>
          </a:p>
          <a:p>
            <a:pPr lvl="1" algn="l" rtl="0"/>
            <a:r>
              <a:rPr lang="en-US" dirty="0"/>
              <a:t>List the issuing organization, the current version number, date of issue and status, a change history, and the procedure for submitting change requests to the document. </a:t>
            </a:r>
          </a:p>
          <a:p>
            <a:pPr lvl="1" algn="l" rtl="0"/>
            <a:r>
              <a:rPr lang="en-US" dirty="0"/>
              <a:t>Usually captured in the front matter</a:t>
            </a:r>
          </a:p>
        </p:txBody>
      </p:sp>
    </p:spTree>
    <p:extLst>
      <p:ext uri="{BB962C8B-B14F-4D97-AF65-F5344CB8AC3E}">
        <p14:creationId xmlns:p14="http://schemas.microsoft.com/office/powerpoint/2010/main" val="3424105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Documenting Information Beyond Views</a:t>
            </a:r>
          </a:p>
        </p:txBody>
      </p:sp>
      <p:sp>
        <p:nvSpPr>
          <p:cNvPr id="4" name="Content Placeholder 3"/>
          <p:cNvSpPr>
            <a:spLocks noGrp="1"/>
          </p:cNvSpPr>
          <p:nvPr>
            <p:ph idx="1"/>
          </p:nvPr>
        </p:nvSpPr>
        <p:spPr/>
        <p:txBody>
          <a:bodyPr>
            <a:normAutofit fontScale="55000" lnSpcReduction="20000"/>
          </a:bodyPr>
          <a:lstStyle/>
          <a:p>
            <a:pPr algn="l" rtl="0"/>
            <a:r>
              <a:rPr lang="en-US" b="1" dirty="0"/>
              <a:t>Section 1: Documentation Roadmap.</a:t>
            </a:r>
            <a:r>
              <a:rPr lang="en-US" dirty="0"/>
              <a:t> The documentation map tells the reader what information is in the documentation and where to find it. </a:t>
            </a:r>
          </a:p>
          <a:p>
            <a:pPr lvl="1" algn="l" rtl="0"/>
            <a:r>
              <a:rPr lang="en-US" i="1" dirty="0"/>
              <a:t>Scope and summary</a:t>
            </a:r>
            <a:r>
              <a:rPr lang="en-US" dirty="0"/>
              <a:t>. Explain the purpose of the document and briefly summarize what is covered. </a:t>
            </a:r>
          </a:p>
          <a:p>
            <a:pPr lvl="1" algn="l" rtl="0"/>
            <a:r>
              <a:rPr lang="en-US" i="1" dirty="0"/>
              <a:t>How the documentation is organized</a:t>
            </a:r>
            <a:r>
              <a:rPr lang="en-US" dirty="0"/>
              <a:t>. For each section in the documentation, give a short synopsis of the information that can be found there.</a:t>
            </a:r>
          </a:p>
          <a:p>
            <a:pPr lvl="1" algn="l" rtl="0"/>
            <a:r>
              <a:rPr lang="en-US" i="1" dirty="0"/>
              <a:t>View overview</a:t>
            </a:r>
            <a:r>
              <a:rPr lang="en-US" dirty="0"/>
              <a:t>. Describes the views that the architect has included in the package. For each view::</a:t>
            </a:r>
          </a:p>
          <a:p>
            <a:pPr lvl="2" algn="l" rtl="0"/>
            <a:r>
              <a:rPr lang="en-US" dirty="0"/>
              <a:t>The name of the view and what pattern it instantiates, if any.</a:t>
            </a:r>
          </a:p>
          <a:p>
            <a:pPr lvl="2" algn="l" rtl="0"/>
            <a:r>
              <a:rPr lang="en-US" dirty="0"/>
              <a:t>A description of the view’s element types, relation types, and property types.</a:t>
            </a:r>
          </a:p>
          <a:p>
            <a:pPr lvl="2" algn="l" rtl="0"/>
            <a:r>
              <a:rPr lang="en-US" dirty="0"/>
              <a:t>A description of language, modeling techniques, or analytical methods used in constructing the view.</a:t>
            </a:r>
          </a:p>
          <a:p>
            <a:pPr lvl="1" algn="l" rtl="0"/>
            <a:r>
              <a:rPr lang="en-US" i="1" dirty="0"/>
              <a:t>How stakeholders can use the documentation</a:t>
            </a:r>
            <a:r>
              <a:rPr lang="en-US" dirty="0"/>
              <a:t>. </a:t>
            </a:r>
          </a:p>
          <a:p>
            <a:pPr lvl="2" algn="l" rtl="0"/>
            <a:r>
              <a:rPr lang="en-US" dirty="0"/>
              <a:t>This section shows how various stakeholders might use the documentation to help address their concerns. </a:t>
            </a:r>
          </a:p>
          <a:p>
            <a:pPr lvl="2" algn="l" rtl="0"/>
            <a:r>
              <a:rPr lang="en-US" dirty="0"/>
              <a:t>Include short scenarios, such as “A maintainer wishes to know the units of software that are likely to be changed by a proposed modification.” </a:t>
            </a:r>
          </a:p>
          <a:p>
            <a:pPr lvl="2" algn="l" rtl="0"/>
            <a:r>
              <a:rPr lang="en-US" dirty="0"/>
              <a:t>To be compliant with ISO/IEC 42010-2007, you must consider the concerns of at least users, acquirers, developers, and maintainers. </a:t>
            </a:r>
          </a:p>
        </p:txBody>
      </p:sp>
    </p:spTree>
    <p:extLst>
      <p:ext uri="{BB962C8B-B14F-4D97-AF65-F5344CB8AC3E}">
        <p14:creationId xmlns:p14="http://schemas.microsoft.com/office/powerpoint/2010/main" val="2983384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Documenting Information Beyond Views</a:t>
            </a:r>
          </a:p>
        </p:txBody>
      </p:sp>
      <p:sp>
        <p:nvSpPr>
          <p:cNvPr id="4" name="Content Placeholder 3"/>
          <p:cNvSpPr>
            <a:spLocks noGrp="1"/>
          </p:cNvSpPr>
          <p:nvPr>
            <p:ph idx="1"/>
          </p:nvPr>
        </p:nvSpPr>
        <p:spPr/>
        <p:txBody>
          <a:bodyPr>
            <a:normAutofit fontScale="92500" lnSpcReduction="20000"/>
          </a:bodyPr>
          <a:lstStyle/>
          <a:p>
            <a:pPr algn="l" rtl="0"/>
            <a:r>
              <a:rPr lang="en-US" b="1" dirty="0"/>
              <a:t>Section 2: How a View Is Documented.</a:t>
            </a:r>
            <a:r>
              <a:rPr lang="en-US" dirty="0"/>
              <a:t> </a:t>
            </a:r>
          </a:p>
          <a:p>
            <a:pPr lvl="1" algn="l" rtl="0"/>
            <a:r>
              <a:rPr lang="en-US" dirty="0"/>
              <a:t>Explain the standard organization you’re using to document views—either the one described in this chapter or one of your own. </a:t>
            </a:r>
          </a:p>
          <a:p>
            <a:pPr algn="l" rtl="0"/>
            <a:r>
              <a:rPr lang="en-US" b="1" dirty="0"/>
              <a:t>Section 3: System Overview.</a:t>
            </a:r>
            <a:r>
              <a:rPr lang="en-US" dirty="0"/>
              <a:t> </a:t>
            </a:r>
          </a:p>
          <a:p>
            <a:pPr lvl="1" algn="l" rtl="0"/>
            <a:r>
              <a:rPr lang="en-US" dirty="0"/>
              <a:t>Short prose description of the system’s function, its users, and any important background or constraints. </a:t>
            </a:r>
          </a:p>
          <a:p>
            <a:pPr lvl="1" algn="l" rtl="0"/>
            <a:r>
              <a:rPr lang="en-US" dirty="0"/>
              <a:t>Provides your readers with a consistent mental model of the system and its purpose. </a:t>
            </a:r>
          </a:p>
          <a:p>
            <a:pPr lvl="1" algn="l" rtl="0"/>
            <a:r>
              <a:rPr lang="en-US" dirty="0"/>
              <a:t>This might be a pointer to your project’s concept-of-operations document for the system.</a:t>
            </a:r>
          </a:p>
        </p:txBody>
      </p:sp>
    </p:spTree>
    <p:extLst>
      <p:ext uri="{BB962C8B-B14F-4D97-AF65-F5344CB8AC3E}">
        <p14:creationId xmlns:p14="http://schemas.microsoft.com/office/powerpoint/2010/main" val="2452347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Documenting Information Beyond Views</a:t>
            </a:r>
          </a:p>
        </p:txBody>
      </p:sp>
      <p:sp>
        <p:nvSpPr>
          <p:cNvPr id="4" name="Content Placeholder 3"/>
          <p:cNvSpPr>
            <a:spLocks noGrp="1"/>
          </p:cNvSpPr>
          <p:nvPr>
            <p:ph idx="1"/>
          </p:nvPr>
        </p:nvSpPr>
        <p:spPr>
          <a:xfrm>
            <a:off x="457200" y="1340768"/>
            <a:ext cx="8229600" cy="4785395"/>
          </a:xfrm>
        </p:spPr>
        <p:txBody>
          <a:bodyPr>
            <a:normAutofit fontScale="85000" lnSpcReduction="20000"/>
          </a:bodyPr>
          <a:lstStyle/>
          <a:p>
            <a:pPr algn="l" rtl="0"/>
            <a:r>
              <a:rPr lang="en-US" b="1" dirty="0"/>
              <a:t>Section 4: Mapping Between Views.</a:t>
            </a:r>
            <a:r>
              <a:rPr lang="en-US" dirty="0"/>
              <a:t> </a:t>
            </a:r>
          </a:p>
          <a:p>
            <a:pPr lvl="1" algn="l" rtl="0"/>
            <a:r>
              <a:rPr lang="en-US" dirty="0"/>
              <a:t>Helping a reader understand the associations between views will help that reader gain a powerful insight into how the architecture works as a unified conceptual whole. </a:t>
            </a:r>
          </a:p>
          <a:p>
            <a:pPr lvl="1" algn="l" rtl="0"/>
            <a:r>
              <a:rPr lang="en-US" dirty="0"/>
              <a:t>The associations between elements across views in an architecture are, in general, many-to-many. </a:t>
            </a:r>
          </a:p>
          <a:p>
            <a:pPr lvl="1" algn="l" rtl="0"/>
            <a:r>
              <a:rPr lang="en-US" dirty="0"/>
              <a:t>View-to-view associations can be captured as tables. </a:t>
            </a:r>
          </a:p>
          <a:p>
            <a:pPr lvl="2" algn="l" rtl="0"/>
            <a:r>
              <a:rPr lang="en-US" dirty="0"/>
              <a:t>The table should name the correspondence between the elements across the two views. </a:t>
            </a:r>
          </a:p>
          <a:p>
            <a:pPr lvl="2" algn="l" rtl="0"/>
            <a:r>
              <a:rPr lang="en-US" dirty="0"/>
              <a:t>Examples </a:t>
            </a:r>
          </a:p>
          <a:p>
            <a:pPr lvl="3" algn="l" rtl="0"/>
            <a:r>
              <a:rPr lang="en-US" dirty="0"/>
              <a:t>“is implemented by” for mapping from a component-and-connector view to a module view</a:t>
            </a:r>
          </a:p>
          <a:p>
            <a:pPr lvl="3" algn="l" rtl="0"/>
            <a:r>
              <a:rPr lang="en-US" dirty="0"/>
              <a:t>“implements” for mapping from a module view to a component-and-connector view</a:t>
            </a:r>
          </a:p>
          <a:p>
            <a:pPr lvl="3" algn="l" rtl="0"/>
            <a:r>
              <a:rPr lang="en-US" dirty="0"/>
              <a:t>“included in” for mapping from a decomposition view to a layered view</a:t>
            </a:r>
          </a:p>
        </p:txBody>
      </p:sp>
    </p:spTree>
    <p:extLst>
      <p:ext uri="{BB962C8B-B14F-4D97-AF65-F5344CB8AC3E}">
        <p14:creationId xmlns:p14="http://schemas.microsoft.com/office/powerpoint/2010/main" val="2019817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Documenting Information Beyond Views</a:t>
            </a:r>
          </a:p>
        </p:txBody>
      </p:sp>
      <p:sp>
        <p:nvSpPr>
          <p:cNvPr id="4" name="Content Placeholder 3"/>
          <p:cNvSpPr>
            <a:spLocks noGrp="1"/>
          </p:cNvSpPr>
          <p:nvPr>
            <p:ph idx="1"/>
          </p:nvPr>
        </p:nvSpPr>
        <p:spPr/>
        <p:txBody>
          <a:bodyPr>
            <a:normAutofit fontScale="92500" lnSpcReduction="20000"/>
          </a:bodyPr>
          <a:lstStyle/>
          <a:p>
            <a:pPr algn="l" rtl="0"/>
            <a:r>
              <a:rPr lang="en-US" b="1" dirty="0"/>
              <a:t>Section 5: Rationale.</a:t>
            </a:r>
            <a:r>
              <a:rPr lang="en-US" dirty="0"/>
              <a:t> </a:t>
            </a:r>
          </a:p>
          <a:p>
            <a:pPr lvl="1" algn="l" rtl="0"/>
            <a:r>
              <a:rPr lang="en-US" dirty="0"/>
              <a:t>Documents the architectural decisions that apply to more than one view. </a:t>
            </a:r>
          </a:p>
          <a:p>
            <a:pPr lvl="2" algn="l" rtl="0"/>
            <a:r>
              <a:rPr lang="en-US" dirty="0"/>
              <a:t>Documentation of background or organizational constraints or major requirements that led to decisions of system-wide import.</a:t>
            </a:r>
          </a:p>
          <a:p>
            <a:pPr lvl="2" algn="l" rtl="0"/>
            <a:r>
              <a:rPr lang="en-US" dirty="0"/>
              <a:t>Decisions about which fundamental architecture patterns are used.</a:t>
            </a:r>
          </a:p>
          <a:p>
            <a:pPr algn="l" rtl="0"/>
            <a:r>
              <a:rPr lang="en-US" b="1" dirty="0"/>
              <a:t>Section 6: Directory.</a:t>
            </a:r>
            <a:r>
              <a:rPr lang="en-US" dirty="0"/>
              <a:t> </a:t>
            </a:r>
          </a:p>
          <a:p>
            <a:pPr lvl="1" algn="l" rtl="0"/>
            <a:r>
              <a:rPr lang="en-US" dirty="0"/>
              <a:t>Set of reference material that helps readers find more information quickly. </a:t>
            </a:r>
          </a:p>
          <a:p>
            <a:pPr lvl="2" algn="l" rtl="0"/>
            <a:r>
              <a:rPr lang="en-US" dirty="0"/>
              <a:t>Index of terms</a:t>
            </a:r>
          </a:p>
          <a:p>
            <a:pPr lvl="2" algn="l" rtl="0"/>
            <a:r>
              <a:rPr lang="en-US" dirty="0"/>
              <a:t>Glossary</a:t>
            </a:r>
          </a:p>
          <a:p>
            <a:pPr lvl="2" algn="l" rtl="0"/>
            <a:r>
              <a:rPr lang="en-US" dirty="0"/>
              <a:t>Acronym list.</a:t>
            </a:r>
          </a:p>
        </p:txBody>
      </p:sp>
    </p:spTree>
    <p:extLst>
      <p:ext uri="{BB962C8B-B14F-4D97-AF65-F5344CB8AC3E}">
        <p14:creationId xmlns:p14="http://schemas.microsoft.com/office/powerpoint/2010/main" val="3491940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Documenting Behavior</a:t>
            </a:r>
          </a:p>
        </p:txBody>
      </p:sp>
      <p:sp>
        <p:nvSpPr>
          <p:cNvPr id="3" name="Content Placeholder 2"/>
          <p:cNvSpPr>
            <a:spLocks noGrp="1"/>
          </p:cNvSpPr>
          <p:nvPr>
            <p:ph idx="1"/>
          </p:nvPr>
        </p:nvSpPr>
        <p:spPr/>
        <p:txBody>
          <a:bodyPr>
            <a:normAutofit fontScale="85000" lnSpcReduction="10000"/>
          </a:bodyPr>
          <a:lstStyle/>
          <a:p>
            <a:pPr algn="l" rtl="0"/>
            <a:r>
              <a:rPr lang="en-US" dirty="0"/>
              <a:t>Behavior documentation complements each views by describing how architecture elements in that view interact with each other. </a:t>
            </a:r>
          </a:p>
          <a:p>
            <a:pPr algn="l" rtl="0"/>
            <a:r>
              <a:rPr lang="en-US" dirty="0"/>
              <a:t>Behavior documentation enables reasoning about </a:t>
            </a:r>
          </a:p>
          <a:p>
            <a:pPr lvl="1" algn="l" rtl="0"/>
            <a:r>
              <a:rPr lang="en-US" dirty="0"/>
              <a:t>a system’s potential to deadlock</a:t>
            </a:r>
          </a:p>
          <a:p>
            <a:pPr lvl="1" algn="l" rtl="0"/>
            <a:r>
              <a:rPr lang="en-US" dirty="0"/>
              <a:t>a system’s ability to complete a task in the desired amount of time</a:t>
            </a:r>
          </a:p>
          <a:p>
            <a:pPr lvl="1" algn="l" rtl="0"/>
            <a:r>
              <a:rPr lang="en-US" dirty="0"/>
              <a:t>maximum memory consumption </a:t>
            </a:r>
          </a:p>
          <a:p>
            <a:pPr lvl="1" algn="l" rtl="0"/>
            <a:r>
              <a:rPr lang="en-US" dirty="0"/>
              <a:t>and more</a:t>
            </a:r>
          </a:p>
          <a:p>
            <a:pPr algn="l" rtl="0"/>
            <a:r>
              <a:rPr lang="en-US" dirty="0"/>
              <a:t>Behavior has its own section in our view template’s element catalog.</a:t>
            </a:r>
          </a:p>
          <a:p>
            <a:pPr algn="l" rtl="0"/>
            <a:endParaRPr lang="en-US" dirty="0"/>
          </a:p>
        </p:txBody>
      </p:sp>
    </p:spTree>
    <p:extLst>
      <p:ext uri="{BB962C8B-B14F-4D97-AF65-F5344CB8AC3E}">
        <p14:creationId xmlns:p14="http://schemas.microsoft.com/office/powerpoint/2010/main" val="77825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Notations for Documenting Behavior</a:t>
            </a:r>
          </a:p>
        </p:txBody>
      </p:sp>
      <p:sp>
        <p:nvSpPr>
          <p:cNvPr id="3" name="Content Placeholder 2"/>
          <p:cNvSpPr>
            <a:spLocks noGrp="1"/>
          </p:cNvSpPr>
          <p:nvPr>
            <p:ph idx="1"/>
          </p:nvPr>
        </p:nvSpPr>
        <p:spPr/>
        <p:txBody>
          <a:bodyPr>
            <a:normAutofit fontScale="77500" lnSpcReduction="20000"/>
          </a:bodyPr>
          <a:lstStyle/>
          <a:p>
            <a:pPr algn="l" rtl="0"/>
            <a:r>
              <a:rPr lang="en-US" dirty="0"/>
              <a:t>Trace-oriented languages</a:t>
            </a:r>
          </a:p>
          <a:p>
            <a:pPr lvl="1" algn="l" rtl="0"/>
            <a:r>
              <a:rPr lang="en-US" dirty="0"/>
              <a:t> </a:t>
            </a:r>
            <a:r>
              <a:rPr lang="en-US" i="1" dirty="0"/>
              <a:t>Traces</a:t>
            </a:r>
            <a:r>
              <a:rPr lang="en-US" dirty="0"/>
              <a:t> are sequences of activities or interactions that describe the system’s response to a specific stimulus when the system is in a specific state. </a:t>
            </a:r>
          </a:p>
          <a:p>
            <a:pPr lvl="1" algn="l" rtl="0"/>
            <a:r>
              <a:rPr lang="en-US" dirty="0"/>
              <a:t>A trace describes a particular sequence of activities or interactions between structural elements of the system. </a:t>
            </a:r>
          </a:p>
          <a:p>
            <a:pPr lvl="1" algn="l" rtl="0"/>
            <a:r>
              <a:rPr lang="en-US" dirty="0"/>
              <a:t>Examples</a:t>
            </a:r>
          </a:p>
          <a:p>
            <a:pPr lvl="2" algn="l" rtl="0"/>
            <a:r>
              <a:rPr lang="en-US" dirty="0"/>
              <a:t>use cases</a:t>
            </a:r>
          </a:p>
          <a:p>
            <a:pPr lvl="2" algn="l" rtl="0"/>
            <a:r>
              <a:rPr lang="en-US" dirty="0"/>
              <a:t>sequence diagrams</a:t>
            </a:r>
          </a:p>
          <a:p>
            <a:pPr lvl="2" algn="l" rtl="0"/>
            <a:r>
              <a:rPr lang="en-US" dirty="0"/>
              <a:t>communication diagrams</a:t>
            </a:r>
          </a:p>
          <a:p>
            <a:pPr lvl="2" algn="l" rtl="0"/>
            <a:r>
              <a:rPr lang="en-US" dirty="0"/>
              <a:t>activity diagrams</a:t>
            </a:r>
          </a:p>
          <a:p>
            <a:pPr lvl="2" algn="l" rtl="0"/>
            <a:r>
              <a:rPr lang="en-US" dirty="0"/>
              <a:t>message sequence charts</a:t>
            </a:r>
          </a:p>
          <a:p>
            <a:pPr lvl="2" algn="l" rtl="0"/>
            <a:r>
              <a:rPr lang="en-US" dirty="0"/>
              <a:t>timing diagrams</a:t>
            </a:r>
          </a:p>
          <a:p>
            <a:pPr lvl="2" algn="l" rtl="0"/>
            <a:r>
              <a:rPr lang="en-US" dirty="0"/>
              <a:t>Business Process Execution Language</a:t>
            </a:r>
          </a:p>
        </p:txBody>
      </p:sp>
    </p:spTree>
    <p:extLst>
      <p:ext uri="{BB962C8B-B14F-4D97-AF65-F5344CB8AC3E}">
        <p14:creationId xmlns:p14="http://schemas.microsoft.com/office/powerpoint/2010/main" val="1568730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p>
        </p:txBody>
      </p:sp>
      <p:pic>
        <p:nvPicPr>
          <p:cNvPr id="4" name="Picture 3" descr="UML use case diagram.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556792"/>
            <a:ext cx="7150100" cy="4178300"/>
          </a:xfrm>
          <a:prstGeom prst="rect">
            <a:avLst/>
          </a:prstGeom>
        </p:spPr>
      </p:pic>
      <p:sp>
        <p:nvSpPr>
          <p:cNvPr id="5" name="TextBox 4"/>
          <p:cNvSpPr txBox="1"/>
          <p:nvPr/>
        </p:nvSpPr>
        <p:spPr>
          <a:xfrm>
            <a:off x="35496" y="6074712"/>
            <a:ext cx="3168352" cy="738664"/>
          </a:xfrm>
          <a:prstGeom prst="rect">
            <a:avLst/>
          </a:prstGeom>
          <a:noFill/>
        </p:spPr>
        <p:txBody>
          <a:bodyPr wrap="square" rtlCol="0">
            <a:spAutoFit/>
          </a:bodyPr>
          <a:lstStyle/>
          <a:p>
            <a:r>
              <a:rPr lang="en-US" sz="1400" dirty="0"/>
              <a:t>From </a:t>
            </a:r>
            <a:r>
              <a:rPr lang="en-US" sz="1400" i="1" dirty="0"/>
              <a:t>Documenting Software Architectures: Views and Beyond</a:t>
            </a:r>
            <a:r>
              <a:rPr lang="en-US" sz="1400" dirty="0"/>
              <a:t>, </a:t>
            </a:r>
            <a:br>
              <a:rPr lang="en-US" sz="1400" dirty="0"/>
            </a:br>
            <a:r>
              <a:rPr lang="en-US" sz="1400" dirty="0"/>
              <a:t>2</a:t>
            </a:r>
            <a:r>
              <a:rPr lang="en-US" sz="1400" baseline="30000" dirty="0"/>
              <a:t>nd</a:t>
            </a:r>
            <a:r>
              <a:rPr lang="en-US" sz="1400" dirty="0"/>
              <a:t> edition, Addison Wesley, 2010</a:t>
            </a:r>
          </a:p>
        </p:txBody>
      </p:sp>
    </p:spTree>
    <p:extLst>
      <p:ext uri="{BB962C8B-B14F-4D97-AF65-F5344CB8AC3E}">
        <p14:creationId xmlns:p14="http://schemas.microsoft.com/office/powerpoint/2010/main" val="2903900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Description</a:t>
            </a:r>
          </a:p>
        </p:txBody>
      </p:sp>
      <p:pic>
        <p:nvPicPr>
          <p:cNvPr id="4" name="Picture 3" descr="use case desc.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57909"/>
            <a:ext cx="9144000" cy="4480682"/>
          </a:xfrm>
          <a:prstGeom prst="rect">
            <a:avLst/>
          </a:prstGeom>
        </p:spPr>
      </p:pic>
      <p:sp>
        <p:nvSpPr>
          <p:cNvPr id="5" name="TextBox 4"/>
          <p:cNvSpPr txBox="1"/>
          <p:nvPr/>
        </p:nvSpPr>
        <p:spPr>
          <a:xfrm>
            <a:off x="35496" y="6074712"/>
            <a:ext cx="3168352" cy="738664"/>
          </a:xfrm>
          <a:prstGeom prst="rect">
            <a:avLst/>
          </a:prstGeom>
          <a:noFill/>
        </p:spPr>
        <p:txBody>
          <a:bodyPr wrap="square" rtlCol="0">
            <a:spAutoFit/>
          </a:bodyPr>
          <a:lstStyle/>
          <a:p>
            <a:r>
              <a:rPr lang="en-US" sz="1400" dirty="0"/>
              <a:t>From </a:t>
            </a:r>
            <a:r>
              <a:rPr lang="en-US" sz="1400" i="1" dirty="0"/>
              <a:t>Documenting Software Architectures: Views and Beyond</a:t>
            </a:r>
            <a:r>
              <a:rPr lang="en-US" sz="1400" dirty="0"/>
              <a:t>, </a:t>
            </a:r>
            <a:br>
              <a:rPr lang="en-US" sz="1400" dirty="0"/>
            </a:br>
            <a:r>
              <a:rPr lang="en-US" sz="1400" dirty="0"/>
              <a:t>2</a:t>
            </a:r>
            <a:r>
              <a:rPr lang="en-US" sz="1400" baseline="30000" dirty="0"/>
              <a:t>nd</a:t>
            </a:r>
            <a:r>
              <a:rPr lang="en-US" sz="1400" dirty="0"/>
              <a:t> edition, Addison Wesley, 2010</a:t>
            </a:r>
          </a:p>
        </p:txBody>
      </p:sp>
    </p:spTree>
    <p:extLst>
      <p:ext uri="{BB962C8B-B14F-4D97-AF65-F5344CB8AC3E}">
        <p14:creationId xmlns:p14="http://schemas.microsoft.com/office/powerpoint/2010/main" val="4240190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p>
        </p:txBody>
      </p:sp>
      <p:pic>
        <p:nvPicPr>
          <p:cNvPr id="4" name="Picture 3" descr="uml seq diagram.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0420" y="1080120"/>
            <a:ext cx="5941900" cy="5301208"/>
          </a:xfrm>
          <a:prstGeom prst="rect">
            <a:avLst/>
          </a:prstGeom>
        </p:spPr>
      </p:pic>
    </p:spTree>
    <p:extLst>
      <p:ext uri="{BB962C8B-B14F-4D97-AF65-F5344CB8AC3E}">
        <p14:creationId xmlns:p14="http://schemas.microsoft.com/office/powerpoint/2010/main" val="2097464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Diagram</a:t>
            </a:r>
          </a:p>
        </p:txBody>
      </p:sp>
      <p:pic>
        <p:nvPicPr>
          <p:cNvPr id="4" name="Picture 3" descr="uml commun diagram.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124744"/>
            <a:ext cx="5930826" cy="5064174"/>
          </a:xfrm>
          <a:prstGeom prst="rect">
            <a:avLst/>
          </a:prstGeom>
        </p:spPr>
      </p:pic>
      <p:sp>
        <p:nvSpPr>
          <p:cNvPr id="5" name="TextBox 4"/>
          <p:cNvSpPr txBox="1"/>
          <p:nvPr/>
        </p:nvSpPr>
        <p:spPr>
          <a:xfrm>
            <a:off x="35496" y="6074712"/>
            <a:ext cx="3168352" cy="738664"/>
          </a:xfrm>
          <a:prstGeom prst="rect">
            <a:avLst/>
          </a:prstGeom>
          <a:noFill/>
        </p:spPr>
        <p:txBody>
          <a:bodyPr wrap="square" rtlCol="0">
            <a:spAutoFit/>
          </a:bodyPr>
          <a:lstStyle/>
          <a:p>
            <a:r>
              <a:rPr lang="en-US" sz="1400" dirty="0"/>
              <a:t>From </a:t>
            </a:r>
            <a:r>
              <a:rPr lang="en-US" sz="1400" i="1" dirty="0"/>
              <a:t>Documenting Software Architectures: Views and Beyond</a:t>
            </a:r>
            <a:r>
              <a:rPr lang="en-US" sz="1400" dirty="0"/>
              <a:t>, </a:t>
            </a:r>
            <a:br>
              <a:rPr lang="en-US" sz="1400" dirty="0"/>
            </a:br>
            <a:r>
              <a:rPr lang="en-US" sz="1400" dirty="0"/>
              <a:t>2</a:t>
            </a:r>
            <a:r>
              <a:rPr lang="en-US" sz="1400" baseline="30000" dirty="0"/>
              <a:t>nd</a:t>
            </a:r>
            <a:r>
              <a:rPr lang="en-US" sz="1400" dirty="0"/>
              <a:t> edition, Addison Wesley, 2010</a:t>
            </a:r>
          </a:p>
        </p:txBody>
      </p:sp>
    </p:spTree>
    <p:extLst>
      <p:ext uri="{BB962C8B-B14F-4D97-AF65-F5344CB8AC3E}">
        <p14:creationId xmlns:p14="http://schemas.microsoft.com/office/powerpoint/2010/main" val="414372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88640"/>
            <a:ext cx="2160240" cy="778098"/>
          </a:xfrm>
        </p:spPr>
        <p:txBody>
          <a:bodyPr>
            <a:normAutofit fontScale="90000"/>
          </a:bodyPr>
          <a:lstStyle/>
          <a:p>
            <a:r>
              <a:rPr lang="en-US" dirty="0"/>
              <a:t>Activity Diagram</a:t>
            </a:r>
          </a:p>
        </p:txBody>
      </p:sp>
      <p:pic>
        <p:nvPicPr>
          <p:cNvPr id="4" name="Picture 3" descr="activity diagram.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856" y="260648"/>
            <a:ext cx="5688632" cy="5887264"/>
          </a:xfrm>
          <a:prstGeom prst="rect">
            <a:avLst/>
          </a:prstGeom>
        </p:spPr>
      </p:pic>
      <p:sp>
        <p:nvSpPr>
          <p:cNvPr id="5" name="TextBox 4"/>
          <p:cNvSpPr txBox="1"/>
          <p:nvPr/>
        </p:nvSpPr>
        <p:spPr>
          <a:xfrm>
            <a:off x="35496" y="6074712"/>
            <a:ext cx="3168352" cy="738664"/>
          </a:xfrm>
          <a:prstGeom prst="rect">
            <a:avLst/>
          </a:prstGeom>
          <a:noFill/>
        </p:spPr>
        <p:txBody>
          <a:bodyPr wrap="square" rtlCol="0">
            <a:spAutoFit/>
          </a:bodyPr>
          <a:lstStyle/>
          <a:p>
            <a:r>
              <a:rPr lang="en-US" sz="1400" dirty="0"/>
              <a:t>From </a:t>
            </a:r>
            <a:r>
              <a:rPr lang="en-US" sz="1400" i="1" dirty="0"/>
              <a:t>Documenting Software Architectures: Views and Beyond</a:t>
            </a:r>
            <a:r>
              <a:rPr lang="en-US" sz="1400" dirty="0"/>
              <a:t>, </a:t>
            </a:r>
            <a:br>
              <a:rPr lang="en-US" sz="1400" dirty="0"/>
            </a:br>
            <a:r>
              <a:rPr lang="en-US" sz="1400" dirty="0"/>
              <a:t>2</a:t>
            </a:r>
            <a:r>
              <a:rPr lang="en-US" sz="1400" baseline="30000" dirty="0"/>
              <a:t>nd</a:t>
            </a:r>
            <a:r>
              <a:rPr lang="en-US" sz="1400" dirty="0"/>
              <a:t> edition, Addison Wesley, 2010</a:t>
            </a:r>
          </a:p>
        </p:txBody>
      </p:sp>
    </p:spTree>
    <p:extLst>
      <p:ext uri="{BB962C8B-B14F-4D97-AF65-F5344CB8AC3E}">
        <p14:creationId xmlns:p14="http://schemas.microsoft.com/office/powerpoint/2010/main" val="343568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Notations for Documenting Behavior</a:t>
            </a:r>
          </a:p>
        </p:txBody>
      </p:sp>
      <p:sp>
        <p:nvSpPr>
          <p:cNvPr id="3" name="Content Placeholder 2"/>
          <p:cNvSpPr>
            <a:spLocks noGrp="1"/>
          </p:cNvSpPr>
          <p:nvPr>
            <p:ph idx="1"/>
          </p:nvPr>
        </p:nvSpPr>
        <p:spPr/>
        <p:txBody>
          <a:bodyPr>
            <a:normAutofit fontScale="85000" lnSpcReduction="10000"/>
          </a:bodyPr>
          <a:lstStyle/>
          <a:p>
            <a:pPr algn="l" rtl="0"/>
            <a:r>
              <a:rPr lang="en-US" dirty="0"/>
              <a:t>Comprehensive languages</a:t>
            </a:r>
          </a:p>
          <a:p>
            <a:pPr lvl="1" algn="l" rtl="0"/>
            <a:r>
              <a:rPr lang="en-US" i="1" dirty="0"/>
              <a:t>Comprehensive models</a:t>
            </a:r>
            <a:r>
              <a:rPr lang="en-US" dirty="0"/>
              <a:t> show the complete behavior of structural elements. </a:t>
            </a:r>
          </a:p>
          <a:p>
            <a:pPr lvl="1" algn="l" rtl="0"/>
            <a:r>
              <a:rPr lang="en-US" dirty="0"/>
              <a:t>Given this type of documentation, it is possible to infer all possible paths from initial state to final state. </a:t>
            </a:r>
          </a:p>
          <a:p>
            <a:pPr lvl="1" algn="l" rtl="0"/>
            <a:r>
              <a:rPr lang="en-US" dirty="0"/>
              <a:t>The state machine formalism represents the behavior of architecture elements because each state is an abstraction of all possible histories that could lead to that state. </a:t>
            </a:r>
          </a:p>
          <a:p>
            <a:pPr lvl="1" algn="l" rtl="0"/>
            <a:r>
              <a:rPr lang="en-US" dirty="0"/>
              <a:t>State machine languages allow you to complement a structural description of the elements of the system with constraints on interactions and timed reactions to both internal and environmental stimuli.</a:t>
            </a:r>
          </a:p>
          <a:p>
            <a:pPr marL="0" indent="0" algn="l" rtl="0">
              <a:buNone/>
            </a:pPr>
            <a:endParaRPr lang="en-US" dirty="0"/>
          </a:p>
          <a:p>
            <a:pPr algn="l" rtl="0"/>
            <a:endParaRPr lang="en-US" dirty="0"/>
          </a:p>
        </p:txBody>
      </p:sp>
    </p:spTree>
    <p:extLst>
      <p:ext uri="{BB962C8B-B14F-4D97-AF65-F5344CB8AC3E}">
        <p14:creationId xmlns:p14="http://schemas.microsoft.com/office/powerpoint/2010/main" val="3245201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Machine</a:t>
            </a:r>
          </a:p>
        </p:txBody>
      </p:sp>
      <p:pic>
        <p:nvPicPr>
          <p:cNvPr id="5" name="Picture 4" descr="uml state machin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2132856"/>
            <a:ext cx="7226300" cy="2755900"/>
          </a:xfrm>
          <a:prstGeom prst="rect">
            <a:avLst/>
          </a:prstGeom>
        </p:spPr>
      </p:pic>
    </p:spTree>
    <p:extLst>
      <p:ext uri="{BB962C8B-B14F-4D97-AF65-F5344CB8AC3E}">
        <p14:creationId xmlns:p14="http://schemas.microsoft.com/office/powerpoint/2010/main" val="139891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2088232" cy="778098"/>
          </a:xfrm>
        </p:spPr>
        <p:txBody>
          <a:bodyPr>
            <a:normAutofit fontScale="90000"/>
          </a:bodyPr>
          <a:lstStyle/>
          <a:p>
            <a:r>
              <a:rPr lang="en-US" dirty="0"/>
              <a:t>State Machine</a:t>
            </a:r>
          </a:p>
        </p:txBody>
      </p:sp>
      <p:pic>
        <p:nvPicPr>
          <p:cNvPr id="4" name="Picture 3" descr="BIG state machin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188640"/>
            <a:ext cx="5977597" cy="6159696"/>
          </a:xfrm>
          <a:prstGeom prst="rect">
            <a:avLst/>
          </a:prstGeom>
        </p:spPr>
      </p:pic>
      <p:sp>
        <p:nvSpPr>
          <p:cNvPr id="5" name="TextBox 4"/>
          <p:cNvSpPr txBox="1"/>
          <p:nvPr/>
        </p:nvSpPr>
        <p:spPr>
          <a:xfrm>
            <a:off x="35496" y="6074712"/>
            <a:ext cx="3168352" cy="738664"/>
          </a:xfrm>
          <a:prstGeom prst="rect">
            <a:avLst/>
          </a:prstGeom>
          <a:noFill/>
        </p:spPr>
        <p:txBody>
          <a:bodyPr wrap="square" rtlCol="0">
            <a:spAutoFit/>
          </a:bodyPr>
          <a:lstStyle/>
          <a:p>
            <a:r>
              <a:rPr lang="en-US" sz="1400" dirty="0"/>
              <a:t>From </a:t>
            </a:r>
            <a:r>
              <a:rPr lang="en-US" sz="1400" i="1" dirty="0"/>
              <a:t>Documenting Software Architectures: Views and Beyond</a:t>
            </a:r>
            <a:r>
              <a:rPr lang="en-US" sz="1400" dirty="0"/>
              <a:t>, </a:t>
            </a:r>
            <a:br>
              <a:rPr lang="en-US" sz="1400" dirty="0"/>
            </a:br>
            <a:r>
              <a:rPr lang="en-US" sz="1400" dirty="0"/>
              <a:t>2</a:t>
            </a:r>
            <a:r>
              <a:rPr lang="en-US" sz="1400" baseline="30000" dirty="0"/>
              <a:t>nd</a:t>
            </a:r>
            <a:r>
              <a:rPr lang="en-US" sz="1400" dirty="0"/>
              <a:t> edition, Addison Wesley, 2010</a:t>
            </a:r>
          </a:p>
        </p:txBody>
      </p:sp>
    </p:spTree>
    <p:extLst>
      <p:ext uri="{BB962C8B-B14F-4D97-AF65-F5344CB8AC3E}">
        <p14:creationId xmlns:p14="http://schemas.microsoft.com/office/powerpoint/2010/main" val="1657194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Documenting Quality Attributes</a:t>
            </a:r>
          </a:p>
        </p:txBody>
      </p:sp>
      <p:sp>
        <p:nvSpPr>
          <p:cNvPr id="3" name="Content Placeholder 2"/>
          <p:cNvSpPr>
            <a:spLocks noGrp="1"/>
          </p:cNvSpPr>
          <p:nvPr>
            <p:ph idx="1"/>
          </p:nvPr>
        </p:nvSpPr>
        <p:spPr>
          <a:xfrm>
            <a:off x="457200" y="1268760"/>
            <a:ext cx="8229600" cy="5112568"/>
          </a:xfrm>
        </p:spPr>
        <p:txBody>
          <a:bodyPr>
            <a:normAutofit fontScale="70000" lnSpcReduction="20000"/>
          </a:bodyPr>
          <a:lstStyle/>
          <a:p>
            <a:pPr algn="l" rtl="0"/>
            <a:r>
              <a:rPr lang="en-US" dirty="0"/>
              <a:t>Where do quality attributes show up in the documentation? There are five major ways:</a:t>
            </a:r>
          </a:p>
          <a:p>
            <a:pPr lvl="1" algn="l" rtl="0"/>
            <a:r>
              <a:rPr lang="en-US" dirty="0"/>
              <a:t>Rationale that explains the choice of design approach should include a discussion about the quality attribute requirements and tradeoffs.</a:t>
            </a:r>
          </a:p>
          <a:p>
            <a:pPr lvl="1" algn="l" rtl="0"/>
            <a:r>
              <a:rPr lang="en-US" dirty="0"/>
              <a:t>Architectural elements providing a service often have quality attribute bounds assigned to them, defined in the interface documentation for the elements, or recorded as </a:t>
            </a:r>
            <a:r>
              <a:rPr lang="en-US" i="1" dirty="0"/>
              <a:t>properties</a:t>
            </a:r>
            <a:r>
              <a:rPr lang="en-US" dirty="0"/>
              <a:t> that the elements exhibit.</a:t>
            </a:r>
          </a:p>
          <a:p>
            <a:pPr lvl="1" algn="l" rtl="0"/>
            <a:r>
              <a:rPr lang="en-US" dirty="0"/>
              <a:t>Quality attributes often impart a “language” of things that you would look for. Someone fluent in the “language” of a quality attribute can search for the kinds of architectural elements) put in place to satisfy that quality attribute requirement.</a:t>
            </a:r>
          </a:p>
          <a:p>
            <a:pPr lvl="1" algn="l" rtl="0"/>
            <a:r>
              <a:rPr lang="en-US" dirty="0"/>
              <a:t>Architecture documentation often contains a </a:t>
            </a:r>
            <a:r>
              <a:rPr lang="en-US" i="1" dirty="0"/>
              <a:t>mapping to requirements</a:t>
            </a:r>
            <a:r>
              <a:rPr lang="en-US" dirty="0"/>
              <a:t> that shows how requirements (including quality attribute requirements) are satisfied.</a:t>
            </a:r>
          </a:p>
          <a:p>
            <a:pPr lvl="1" algn="l" rtl="0"/>
            <a:r>
              <a:rPr lang="en-US" dirty="0"/>
              <a:t>Every quality attribute requirement will have a constituency of stakeholders who want to know that it is going to be satisfied. For these stakeholders, the roadmap tells the stakeholder where in the document to find it.</a:t>
            </a:r>
          </a:p>
          <a:p>
            <a:pPr algn="l" rtl="0"/>
            <a:endParaRPr lang="en-US" dirty="0"/>
          </a:p>
        </p:txBody>
      </p:sp>
    </p:spTree>
    <p:extLst>
      <p:ext uri="{BB962C8B-B14F-4D97-AF65-F5344CB8AC3E}">
        <p14:creationId xmlns:p14="http://schemas.microsoft.com/office/powerpoint/2010/main" val="1039054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1570186"/>
          </a:xfrm>
        </p:spPr>
        <p:txBody>
          <a:bodyPr>
            <a:normAutofit fontScale="90000"/>
          </a:bodyPr>
          <a:lstStyle/>
          <a:p>
            <a:r>
              <a:rPr lang="en-US" dirty="0"/>
              <a:t>Documenting Architectures That Change Faster Than You Can Document Them </a:t>
            </a:r>
          </a:p>
        </p:txBody>
      </p:sp>
      <p:sp>
        <p:nvSpPr>
          <p:cNvPr id="3" name="Content Placeholder 2"/>
          <p:cNvSpPr>
            <a:spLocks noGrp="1"/>
          </p:cNvSpPr>
          <p:nvPr>
            <p:ph idx="1"/>
          </p:nvPr>
        </p:nvSpPr>
        <p:spPr>
          <a:xfrm>
            <a:off x="457200" y="2060848"/>
            <a:ext cx="8229600" cy="4065315"/>
          </a:xfrm>
        </p:spPr>
        <p:txBody>
          <a:bodyPr>
            <a:normAutofit fontScale="70000" lnSpcReduction="20000"/>
          </a:bodyPr>
          <a:lstStyle/>
          <a:p>
            <a:pPr algn="l" rtl="0"/>
            <a:r>
              <a:rPr lang="en-US" dirty="0"/>
              <a:t>An architecture that changes at runtime, or as a result of a high-frequency release-and-deploy cycle, change much faster than the documentation cycle. </a:t>
            </a:r>
          </a:p>
          <a:p>
            <a:pPr algn="l" rtl="0"/>
            <a:r>
              <a:rPr lang="en-US" dirty="0"/>
              <a:t>Nobody will wait until a new architecture document is produced, reviewed, and released. </a:t>
            </a:r>
          </a:p>
          <a:p>
            <a:pPr algn="l" rtl="0"/>
            <a:r>
              <a:rPr lang="en-US" dirty="0"/>
              <a:t>In this case:</a:t>
            </a:r>
          </a:p>
          <a:p>
            <a:pPr lvl="1" algn="l" rtl="0"/>
            <a:r>
              <a:rPr lang="en-US" i="1" dirty="0"/>
              <a:t>Document what is true about all versions of your system.</a:t>
            </a:r>
            <a:r>
              <a:rPr lang="en-US" dirty="0"/>
              <a:t> Record those invariants as you would for any architecture. This may make your documented architecture more a description of constraints or guidelines that any compliant version of the system must follow. </a:t>
            </a:r>
          </a:p>
          <a:p>
            <a:pPr lvl="1" algn="l" rtl="0"/>
            <a:r>
              <a:rPr lang="en-US" i="1" dirty="0"/>
              <a:t>Document the ways the architecture is allowed to change.</a:t>
            </a:r>
            <a:r>
              <a:rPr lang="en-US" dirty="0"/>
              <a:t> This will usually mean adding new components and replacing components with new implementations. The place to do this is called the variability guide. </a:t>
            </a:r>
          </a:p>
          <a:p>
            <a:pPr algn="l" rtl="0"/>
            <a:endParaRPr lang="en-US" dirty="0"/>
          </a:p>
          <a:p>
            <a:pPr algn="l" rtl="0"/>
            <a:endParaRPr lang="en-US" dirty="0"/>
          </a:p>
        </p:txBody>
      </p:sp>
    </p:spTree>
    <p:extLst>
      <p:ext uri="{BB962C8B-B14F-4D97-AF65-F5344CB8AC3E}">
        <p14:creationId xmlns:p14="http://schemas.microsoft.com/office/powerpoint/2010/main" val="1415534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Documenting Architecture in an Agile Development Project </a:t>
            </a:r>
          </a:p>
        </p:txBody>
      </p:sp>
      <p:sp>
        <p:nvSpPr>
          <p:cNvPr id="3" name="Content Placeholder 2"/>
          <p:cNvSpPr>
            <a:spLocks noGrp="1"/>
          </p:cNvSpPr>
          <p:nvPr>
            <p:ph idx="1"/>
          </p:nvPr>
        </p:nvSpPr>
        <p:spPr>
          <a:xfrm>
            <a:off x="457200" y="1484784"/>
            <a:ext cx="8229600" cy="4641379"/>
          </a:xfrm>
        </p:spPr>
        <p:txBody>
          <a:bodyPr>
            <a:normAutofit fontScale="62500" lnSpcReduction="20000"/>
          </a:bodyPr>
          <a:lstStyle/>
          <a:p>
            <a:pPr algn="l" rtl="0"/>
            <a:r>
              <a:rPr lang="en-US" dirty="0"/>
              <a:t>Adopt a template or standard organization to capture your design decisions.</a:t>
            </a:r>
          </a:p>
          <a:p>
            <a:pPr algn="l" rtl="0"/>
            <a:r>
              <a:rPr lang="en-US" dirty="0"/>
              <a:t>Plan to document a view if (but only if) it has a strongly identified stakeholder constituency.</a:t>
            </a:r>
          </a:p>
          <a:p>
            <a:pPr algn="l" rtl="0"/>
            <a:r>
              <a:rPr lang="en-US" dirty="0"/>
              <a:t>Fill in the sections of the template for a view, and for information beyond views, when (and in whatever order) the information becomes available. But only do this if writing down this information will make it easier (or cheaper or make success more likely) for someone downstream doing their job.</a:t>
            </a:r>
          </a:p>
          <a:p>
            <a:pPr algn="l" rtl="0"/>
            <a:r>
              <a:rPr lang="en-US" dirty="0"/>
              <a:t>Don’t worry about creating an architectural design document and then a finer-grained design document. Produce just enough design information to allow you to move on to code. </a:t>
            </a:r>
          </a:p>
          <a:p>
            <a:pPr algn="l" rtl="0"/>
            <a:r>
              <a:rPr lang="en-US" dirty="0"/>
              <a:t>Don’t feel obliged to fill up all sections of the template, and certainly not all at once</a:t>
            </a:r>
            <a:r>
              <a:rPr lang="en-US" i="1" dirty="0"/>
              <a:t>.</a:t>
            </a:r>
            <a:r>
              <a:rPr lang="en-US" dirty="0"/>
              <a:t>  Write “N/A” for the sections for which you don’t need to record the information (perhaps because you will convey it orally). </a:t>
            </a:r>
          </a:p>
          <a:p>
            <a:pPr algn="l" rtl="0"/>
            <a:r>
              <a:rPr lang="en-US" dirty="0"/>
              <a:t>Agile teams sometimes make models in brief discussions by the whiteboard.  Take a picture and use it as the primary presentation. </a:t>
            </a:r>
          </a:p>
        </p:txBody>
      </p:sp>
    </p:spTree>
    <p:extLst>
      <p:ext uri="{BB962C8B-B14F-4D97-AF65-F5344CB8AC3E}">
        <p14:creationId xmlns:p14="http://schemas.microsoft.com/office/powerpoint/2010/main" val="4246894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77500" lnSpcReduction="20000"/>
          </a:bodyPr>
          <a:lstStyle/>
          <a:p>
            <a:pPr algn="l" rtl="0"/>
            <a:r>
              <a:rPr lang="en-US" dirty="0"/>
              <a:t>You must understand the uses to which the writing is to be put and the audience for the writing. </a:t>
            </a:r>
          </a:p>
          <a:p>
            <a:pPr algn="l" rtl="0"/>
            <a:r>
              <a:rPr lang="en-US" dirty="0"/>
              <a:t>Architectural documentation serves as a means for communication among various stakeholders, not only up the management chain and down to the developers but also across to peers. </a:t>
            </a:r>
          </a:p>
          <a:p>
            <a:pPr algn="l" rtl="0"/>
            <a:r>
              <a:rPr lang="en-US" dirty="0"/>
              <a:t>An architecture is a complicated artifact, best expressed by focusing on views.</a:t>
            </a:r>
          </a:p>
          <a:p>
            <a:pPr algn="l" rtl="0"/>
            <a:r>
              <a:rPr lang="en-US" dirty="0"/>
              <a:t>You must choose the views to document, must choose the notation to document these views, and must choose a set of views that is both minimal and adequate.</a:t>
            </a:r>
          </a:p>
          <a:p>
            <a:pPr algn="l" rtl="0"/>
            <a:r>
              <a:rPr lang="en-US" dirty="0"/>
              <a:t>You must document not only the structure of the architecture but also the behavior.</a:t>
            </a:r>
          </a:p>
        </p:txBody>
      </p:sp>
    </p:spTree>
    <p:extLst>
      <p:ext uri="{BB962C8B-B14F-4D97-AF65-F5344CB8AC3E}">
        <p14:creationId xmlns:p14="http://schemas.microsoft.com/office/powerpoint/2010/main" val="17621311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Theme1" id="{30BC075C-2436-4EF2-A116-A60B93E7B8EB}" vid="{B5BCED5B-C663-4E17-8BDE-E2E0E8EAA1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4137</TotalTime>
  <Words>2459</Words>
  <Application>Microsoft Office PowerPoint</Application>
  <PresentationFormat>On-screen Show (4:3)</PresentationFormat>
  <Paragraphs>171</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Algerian</vt:lpstr>
      <vt:lpstr>Arial</vt:lpstr>
      <vt:lpstr>Calibri</vt:lpstr>
      <vt:lpstr>Gill Sans MT</vt:lpstr>
      <vt:lpstr>Segoe Print</vt:lpstr>
      <vt:lpstr>Verdana</vt:lpstr>
      <vt:lpstr>Wingdings 2</vt:lpstr>
      <vt:lpstr>Theme1</vt:lpstr>
      <vt:lpstr>Method for Choosing the Views</vt:lpstr>
      <vt:lpstr>Method for Choosing the Views</vt:lpstr>
      <vt:lpstr>Method for Choosing the Views</vt:lpstr>
      <vt:lpstr>Building the Documentation Package</vt:lpstr>
      <vt:lpstr>Documenting a View</vt:lpstr>
      <vt:lpstr>Documenting a View</vt:lpstr>
      <vt:lpstr>Documenting a View</vt:lpstr>
      <vt:lpstr>View Template</vt:lpstr>
      <vt:lpstr>Documenting Information Beyond Views</vt:lpstr>
      <vt:lpstr>Documenting Information Beyond Views</vt:lpstr>
      <vt:lpstr>Documenting Information Beyond Views</vt:lpstr>
      <vt:lpstr>Documenting Information Beyond Views</vt:lpstr>
      <vt:lpstr>Documenting Information Beyond Views</vt:lpstr>
      <vt:lpstr>Documenting Behavior</vt:lpstr>
      <vt:lpstr>Notations for Documenting Behavior</vt:lpstr>
      <vt:lpstr>Use Case Diagram</vt:lpstr>
      <vt:lpstr>Use Case Description</vt:lpstr>
      <vt:lpstr>Sequence Diagram</vt:lpstr>
      <vt:lpstr>Communication Diagram</vt:lpstr>
      <vt:lpstr>Activity Diagram</vt:lpstr>
      <vt:lpstr>Notations for Documenting Behavior</vt:lpstr>
      <vt:lpstr>State Machine</vt:lpstr>
      <vt:lpstr>State Machine</vt:lpstr>
      <vt:lpstr>Documenting Quality Attributes</vt:lpstr>
      <vt:lpstr>Documenting Architectures That Change Faster Than You Can Document Them </vt:lpstr>
      <vt:lpstr>Documenting Architecture in an Agile Development Project </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kamal</cp:lastModifiedBy>
  <cp:revision>54</cp:revision>
  <dcterms:created xsi:type="dcterms:W3CDTF">2012-04-18T22:57:58Z</dcterms:created>
  <dcterms:modified xsi:type="dcterms:W3CDTF">2025-11-16T09:19:07Z</dcterms:modified>
</cp:coreProperties>
</file>