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67" r:id="rId4"/>
    <p:sldId id="268" r:id="rId6"/>
    <p:sldId id="269" r:id="rId7"/>
    <p:sldId id="270" r:id="rId8"/>
    <p:sldId id="271" r:id="rId9"/>
    <p:sldId id="272" r:id="rId10"/>
    <p:sldId id="273" r:id="rId11"/>
    <p:sldId id="276" r:id="rId12"/>
    <p:sldId id="277" r:id="rId13"/>
    <p:sldId id="278" r:id="rId14"/>
    <p:sldId id="281" r:id="rId15"/>
    <p:sldId id="295" r:id="rId16"/>
    <p:sldId id="296" r:id="rId17"/>
    <p:sldId id="297" r:id="rId18"/>
    <p:sldId id="298" r:id="rId19"/>
    <p:sldId id="299" r:id="rId20"/>
    <p:sldId id="284" r:id="rId21"/>
    <p:sldId id="286" r:id="rId22"/>
    <p:sldId id="287" r:id="rId23"/>
    <p:sldId id="288" r:id="rId24"/>
    <p:sldId id="289" r:id="rId25"/>
    <p:sldId id="290" r:id="rId26"/>
    <p:sldId id="294" r:id="rId27"/>
    <p:sldId id="257" r:id="rId28"/>
    <p:sldId id="266" r:id="rId29"/>
  </p:sldIdLst>
  <p:sldSz cx="9144000" cy="6858000" type="screen4x3"/>
  <p:notesSz cx="6858000" cy="9144000"/>
  <p:custDataLst>
    <p:tags r:id="rId3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3" Type="http://schemas.openxmlformats.org/officeDocument/2006/relationships/tags" Target="tags/tag7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2DB1B3E-5B6E-43E6-A202-FBB6F4927B6B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D88574D4-F4A8-436A-A921-1E9B3E0DD5EF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C27E1B-0635-4FEF-9808-836859C56B93}" type="slidenum">
              <a:rPr lang="en-US" altLang="en-US"/>
            </a:fld>
            <a:endParaRPr lang="en-US" alt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A85AD75-F0CE-457B-8978-546DBEE86134}" type="slidenum">
              <a:rPr lang="en-US" altLang="en-US"/>
            </a:fld>
            <a:endParaRPr lang="en-US" alt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DA31C6A-1C2E-4905-83AA-393608DA2639}" type="slidenum">
              <a:rPr lang="en-US" altLang="en-US"/>
            </a:fld>
            <a:endParaRPr lang="en-US" alt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087ED7-051B-405F-B4CC-D11C86874FC9}" type="slidenum">
              <a:rPr lang="en-US" altLang="en-US"/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ACBD2E-9663-4D53-958B-399901F311C1}" type="slidenum">
              <a:rPr lang="en-US" altLang="en-US"/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FC18D5-E38D-4F31-BAAA-64178B09389F}" type="slidenum">
              <a:rPr lang="en-US" altLang="en-US"/>
            </a:fld>
            <a:endParaRPr lang="en-US" alt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Principle of Least Privilege likely violated as web server user needs privileges to do all operators permitted on users, including deleting them.</a:t>
            </a: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F7FEEF7-C4AD-4E8F-B6D1-9BE754A401B4}" type="slidenum">
              <a:rPr lang="en-US" altLang="en-US"/>
            </a:fld>
            <a:endParaRPr lang="en-US" alt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37012AB-D59D-4ED2-AEE9-B1A9CA411946}" type="slidenum">
              <a:rPr lang="en-US" altLang="en-US"/>
            </a:fld>
            <a:endParaRPr lang="en-US" alt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58CC7DA-E6B7-474C-A464-1BC0DA86B070}" type="slidenum">
              <a:rPr lang="en-US" altLang="en-US"/>
            </a:fld>
            <a:endParaRPr lang="en-US" alt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E929F91-B5D9-4F80-912F-659A17A2CBDB}" type="slidenum">
              <a:rPr lang="en-US" altLang="en-US"/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A15B466-676E-4AF5-9E5F-FD51BA52058F}" type="slidenum">
              <a:rPr lang="en-US" altLang="en-US"/>
            </a:fld>
            <a:endParaRPr lang="en-US" alt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9535FD0-2250-4B8A-89D6-0B5CCC28ACCA}" type="slidenum">
              <a:rPr lang="en-US" altLang="en-US"/>
            </a:fld>
            <a:endParaRPr lang="en-US" alt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A4CC1A-B16E-4F18-8355-0BCAA029E593}" type="slidenum">
              <a:rPr lang="en-US" altLang="en-US"/>
            </a:fld>
            <a:endParaRPr lang="en-US" alt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72698DD-9D34-4F42-9594-979DA1FB554F}" type="slidenum">
              <a:rPr lang="en-US" altLang="en-US"/>
            </a:fld>
            <a:endParaRPr lang="en-US" alt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9925B4D-DE64-49CC-8F41-22C933F6D647}" type="slidenum">
              <a:rPr lang="en-US" altLang="en-US"/>
            </a:fld>
            <a:endParaRPr lang="en-US" alt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0D9C69F-C8E2-4346-B426-C6EA9860A393}" type="slidenum">
              <a:rPr lang="en-US" altLang="en-US"/>
            </a:fld>
            <a:endParaRPr lang="en-US" alt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DD1A0EA-09A7-439E-9E09-BE0D39DE204C}" type="slidenum">
              <a:rPr lang="en-US" altLang="en-US"/>
            </a:fld>
            <a:endParaRPr lang="en-US" alt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C8A89A-9D5A-4DFA-A662-72A5D87BB97C}" type="slidenum">
              <a:rPr lang="en-US" altLang="en-US"/>
            </a:fld>
            <a:endParaRPr lang="en-US" alt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EFF438-3587-42B4-BC96-C814E4860539}" type="slidenum">
              <a:rPr lang="en-US" altLang="en-US"/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28A27B-252D-4F1D-A92A-D21A5BE3A1E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fld id="{C8A37208-BA02-4E6A-B549-96625AD22E0A}" type="slidenum">
              <a:rPr lang="en-US" altLang="en-US"/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73E38D-B109-45DB-844E-EF9997C881C4}" type="slidenum">
              <a:rPr lang="en-US" altLang="en-US"/>
            </a:fld>
            <a:endParaRPr lang="en-US" alt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3F373F9-C628-438C-A309-EEE7BC20EDF1}" type="slidenum">
              <a:rPr lang="en-US" altLang="en-US"/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CD9D32-337E-4C44-8306-831BA16698E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83F2A1-2FDB-4D74-A85B-95915251EE4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CCCEB5-A267-4196-8CC7-8A65BC71CA6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/>
          <a:lstStyle>
            <a:lvl1pPr>
              <a:defRPr sz="2800"/>
            </a:lvl1pPr>
          </a:lstStyle>
          <a:p>
            <a:fld id="{E9788A03-CEE3-4D07-AB91-57B8157FBE56}" type="slidenum">
              <a:rPr lang="en-US" altLang="en-US"/>
            </a:fld>
            <a:endParaRPr lang="en-US" alt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6DCBD-CAAB-4919-BE78-BD38F7362BB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fld id="{B2008CA1-921A-4A9B-8BFE-210AD1982383}" type="slidenum">
              <a:rPr lang="en-US" altLang="en-US"/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BCF994C-4AF4-4447-91F8-C6E55C0E9C4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fld id="{BB9EA8FB-30D9-4756-979B-4741B91787FE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9pPr>
    </p:titleStyle>
    <p:bodyStyle>
      <a:lvl1pPr marL="319405" indent="-319405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3.xml"/><Relationship Id="rId7" Type="http://schemas.openxmlformats.org/officeDocument/2006/relationships/image" Target="../media/image6.wmf"/><Relationship Id="rId6" Type="http://schemas.openxmlformats.org/officeDocument/2006/relationships/image" Target="../media/image5.wmf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.jpeg"/><Relationship Id="rId6" Type="http://schemas.openxmlformats.org/officeDocument/2006/relationships/tags" Target="../tags/tag71.xml"/><Relationship Id="rId5" Type="http://schemas.openxmlformats.org/officeDocument/2006/relationships/hyperlink" Target="http://www.owasp.org/images/f/f3/WebGoat-Bypass-Access-Control-Lesson.JPG" TargetMode="External"/><Relationship Id="rId4" Type="http://schemas.openxmlformats.org/officeDocument/2006/relationships/hyperlink" Target="http://www.owasp.org/index.php/Category:OWASP_WebGoat_Project" TargetMode="External"/><Relationship Id="rId3" Type="http://schemas.openxmlformats.org/officeDocument/2006/relationships/hyperlink" Target="http://www.irongeek.com/i.php?page=videos/webgoat-sql-injection" TargetMode="Externa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1981200" y="1828800"/>
            <a:ext cx="3733800" cy="9144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SQL Injection</a:t>
            </a:r>
            <a:endParaRPr 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pPr eaLnBrk="1" hangingPunct="1"/>
            <a:r>
              <a:rPr lang="en-US" altLang="en-US"/>
              <a:t>CPSC 4670</a:t>
            </a:r>
            <a:endParaRPr lang="en-US" altLang="en-US"/>
          </a:p>
        </p:txBody>
      </p:sp>
      <p:sp>
        <p:nvSpPr>
          <p:cNvPr id="4" name="Rectangle 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81200" y="3505200"/>
            <a:ext cx="3733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anose="020B0602020104020603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Lecture -3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183"/>
    </mc:Choice>
    <mc:Fallback>
      <p:transition spd="slow" advTm="4118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/>
              <a:t>Topics</a:t>
            </a:r>
            <a:endParaRPr lang="en-US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457200" y="1735138"/>
            <a:ext cx="8229600" cy="4284662"/>
          </a:xfrm>
        </p:spPr>
        <p:txBody>
          <a:bodyPr/>
          <a:lstStyle/>
          <a:p>
            <a:pPr marL="685800" indent="-685800" eaLnBrk="1" hangingPunct="1">
              <a:buFont typeface="Wingdings" panose="05000000000000000000" pitchFamily="2" charset="2"/>
              <a:buAutoNum type="arabicPeriod"/>
            </a:pPr>
            <a:r>
              <a:rPr lang="en-US" altLang="en-US"/>
              <a:t>What are injection attacks?</a:t>
            </a:r>
            <a:endParaRPr lang="en-US" altLang="en-US"/>
          </a:p>
          <a:p>
            <a:pPr marL="685800" indent="-685800" eaLnBrk="1" hangingPunct="1">
              <a:buFont typeface="Wingdings" panose="05000000000000000000" pitchFamily="2" charset="2"/>
              <a:buAutoNum type="arabicPeriod"/>
            </a:pPr>
            <a:r>
              <a:rPr lang="en-US" altLang="en-US"/>
              <a:t>How SQL Injection Works</a:t>
            </a:r>
            <a:endParaRPr lang="en-US" altLang="en-US"/>
          </a:p>
          <a:p>
            <a:pPr marL="685800" indent="-685800" eaLnBrk="1" hangingPunct="1">
              <a:buFont typeface="Wingdings" panose="05000000000000000000" pitchFamily="2" charset="2"/>
              <a:buAutoNum type="arabicPeriod"/>
            </a:pPr>
            <a:r>
              <a:rPr lang="en-US" altLang="en-US"/>
              <a:t>Exploiting SQL Injection Bugs</a:t>
            </a:r>
            <a:endParaRPr lang="en-US" altLang="en-US"/>
          </a:p>
          <a:p>
            <a:pPr marL="685800" indent="-685800" eaLnBrk="1" hangingPunct="1">
              <a:buFont typeface="Wingdings" panose="05000000000000000000" pitchFamily="2" charset="2"/>
              <a:buAutoNum type="arabicPeriod"/>
            </a:pPr>
            <a:r>
              <a:rPr lang="en-US" altLang="en-US"/>
              <a:t>Mitigating SQL Injection</a:t>
            </a:r>
            <a:endParaRPr lang="en-US" altLang="en-US"/>
          </a:p>
          <a:p>
            <a:pPr marL="685800" indent="-685800" eaLnBrk="1" hangingPunct="1">
              <a:buFont typeface="Wingdings" panose="05000000000000000000" pitchFamily="2" charset="2"/>
              <a:buAutoNum type="arabicPeriod"/>
            </a:pPr>
            <a:r>
              <a:rPr lang="en-US" altLang="en-US"/>
              <a:t>Other Injection Attacks</a:t>
            </a:r>
            <a:endParaRPr lang="en-US" altLang="en-US"/>
          </a:p>
        </p:txBody>
      </p:sp>
    </p:spTree>
  </p:cSld>
  <p:clrMapOvr>
    <a:masterClrMapping/>
  </p:clrMapOvr>
  <p:transition advTm="27664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/>
              <a:t>Injection</a:t>
            </a:r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457200" y="1905000"/>
            <a:ext cx="822325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/>
              <a:t>Injection attacks trick an application into including unintended commands in the data send to an interpreter.</a:t>
            </a:r>
            <a:endParaRPr lang="en-US" altLang="en-US" sz="2600"/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Interpreters</a:t>
            </a:r>
            <a:endParaRPr lang="en-US" altLang="en-US" sz="2600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Interpret strings as commands.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Ex: SQL, shell (cmd.exe, bash), LDAP, XPath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Key Idea</a:t>
            </a:r>
            <a:endParaRPr lang="en-US" altLang="en-US" sz="2600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Input data from the application is executed as code by the interpreter.</a:t>
            </a:r>
            <a:endParaRPr lang="en-US" altLang="en-US"/>
          </a:p>
        </p:txBody>
      </p:sp>
    </p:spTree>
  </p:cSld>
  <p:clrMapOvr>
    <a:masterClrMapping/>
  </p:clrMapOvr>
  <p:transition advTm="146574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SQL Injection</a:t>
            </a:r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04800" y="1600200"/>
            <a:ext cx="4038600" cy="5019675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/>
              <a:t>App sends form to user.</a:t>
            </a:r>
            <a:endParaRPr lang="en-US" altLang="en-US" sz="200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/>
              <a:t>Attacker submits form with SQL exploit data.</a:t>
            </a:r>
            <a:endParaRPr lang="en-US" altLang="en-US" sz="200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/>
              <a:t>Application builds string with exploit data.</a:t>
            </a:r>
            <a:endParaRPr lang="en-US" altLang="en-US" sz="200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/>
              <a:t>Application sends SQL query to DB.</a:t>
            </a:r>
            <a:endParaRPr lang="en-US" altLang="en-US" sz="200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/>
              <a:t>DB executes query, including exploit, sends data back to application.</a:t>
            </a:r>
            <a:endParaRPr lang="en-US" altLang="en-US" sz="200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/>
              <a:t>Application returns data to user.</a:t>
            </a:r>
            <a:endParaRPr lang="en-US" altLang="en-US" sz="2000"/>
          </a:p>
        </p:txBody>
      </p:sp>
      <p:grpSp>
        <p:nvGrpSpPr>
          <p:cNvPr id="13316" name="Group 4"/>
          <p:cNvGrpSpPr/>
          <p:nvPr>
            <p:custDataLst>
              <p:tags r:id="rId3"/>
            </p:custDataLst>
          </p:nvPr>
        </p:nvGrpSpPr>
        <p:grpSpPr bwMode="auto">
          <a:xfrm>
            <a:off x="4389438" y="3810000"/>
            <a:ext cx="1905000" cy="2728913"/>
            <a:chOff x="2765" y="2295"/>
            <a:chExt cx="1200" cy="1954"/>
          </a:xfrm>
        </p:grpSpPr>
        <p:sp>
          <p:nvSpPr>
            <p:cNvPr id="13333" name="Firewall"/>
            <p:cNvSpPr>
              <a:spLocks noEditPoints="1" noChangeArrowheads="1"/>
            </p:cNvSpPr>
            <p:nvPr/>
          </p:nvSpPr>
          <p:spPr bwMode="auto">
            <a:xfrm>
              <a:off x="2765" y="2295"/>
              <a:ext cx="1200" cy="384"/>
            </a:xfrm>
            <a:custGeom>
              <a:avLst/>
              <a:gdLst>
                <a:gd name="T0" fmla="*/ 0 w 21600"/>
                <a:gd name="T1" fmla="*/ 0 h 21600"/>
                <a:gd name="T2" fmla="*/ 2 w 21600"/>
                <a:gd name="T3" fmla="*/ 0 h 21600"/>
                <a:gd name="T4" fmla="*/ 4 w 21600"/>
                <a:gd name="T5" fmla="*/ 0 h 21600"/>
                <a:gd name="T6" fmla="*/ 4 w 21600"/>
                <a:gd name="T7" fmla="*/ 0 h 21600"/>
                <a:gd name="T8" fmla="*/ 4 w 21600"/>
                <a:gd name="T9" fmla="*/ 0 h 21600"/>
                <a:gd name="T10" fmla="*/ 2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756 w 21600"/>
                <a:gd name="T25" fmla="*/ 22444 h 21600"/>
                <a:gd name="T26" fmla="*/ 21078 w 21600"/>
                <a:gd name="T27" fmla="*/ 3228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540" y="4628"/>
                  </a:moveTo>
                  <a:lnTo>
                    <a:pt x="0" y="4628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4628"/>
                  </a:lnTo>
                  <a:lnTo>
                    <a:pt x="21060" y="4628"/>
                  </a:lnTo>
                  <a:lnTo>
                    <a:pt x="21060" y="21600"/>
                  </a:lnTo>
                  <a:lnTo>
                    <a:pt x="540" y="21600"/>
                  </a:lnTo>
                  <a:lnTo>
                    <a:pt x="540" y="4628"/>
                  </a:lnTo>
                  <a:close/>
                </a:path>
                <a:path w="21600" h="21600" extrusionOk="0">
                  <a:moveTo>
                    <a:pt x="540" y="4628"/>
                  </a:moveTo>
                  <a:lnTo>
                    <a:pt x="540" y="6171"/>
                  </a:lnTo>
                  <a:lnTo>
                    <a:pt x="2700" y="6171"/>
                  </a:lnTo>
                  <a:lnTo>
                    <a:pt x="2700" y="4628"/>
                  </a:lnTo>
                  <a:lnTo>
                    <a:pt x="540" y="4628"/>
                  </a:lnTo>
                  <a:close/>
                </a:path>
                <a:path w="21600" h="21600" extrusionOk="0">
                  <a:moveTo>
                    <a:pt x="2700" y="4628"/>
                  </a:moveTo>
                  <a:lnTo>
                    <a:pt x="2700" y="6171"/>
                  </a:lnTo>
                  <a:lnTo>
                    <a:pt x="4860" y="6171"/>
                  </a:lnTo>
                  <a:lnTo>
                    <a:pt x="4860" y="4628"/>
                  </a:lnTo>
                  <a:lnTo>
                    <a:pt x="2700" y="4628"/>
                  </a:lnTo>
                  <a:close/>
                </a:path>
                <a:path w="21600" h="21600" extrusionOk="0">
                  <a:moveTo>
                    <a:pt x="4860" y="4628"/>
                  </a:moveTo>
                  <a:lnTo>
                    <a:pt x="4860" y="6171"/>
                  </a:lnTo>
                  <a:lnTo>
                    <a:pt x="7020" y="6171"/>
                  </a:lnTo>
                  <a:lnTo>
                    <a:pt x="7020" y="4628"/>
                  </a:lnTo>
                  <a:lnTo>
                    <a:pt x="4860" y="4628"/>
                  </a:lnTo>
                  <a:close/>
                </a:path>
                <a:path w="21600" h="21600" extrusionOk="0">
                  <a:moveTo>
                    <a:pt x="7020" y="4628"/>
                  </a:moveTo>
                  <a:lnTo>
                    <a:pt x="7020" y="6171"/>
                  </a:lnTo>
                  <a:lnTo>
                    <a:pt x="9180" y="6171"/>
                  </a:lnTo>
                  <a:lnTo>
                    <a:pt x="9180" y="4628"/>
                  </a:lnTo>
                  <a:lnTo>
                    <a:pt x="7020" y="4628"/>
                  </a:lnTo>
                  <a:close/>
                </a:path>
                <a:path w="21600" h="21600" extrusionOk="0">
                  <a:moveTo>
                    <a:pt x="9180" y="4628"/>
                  </a:moveTo>
                  <a:lnTo>
                    <a:pt x="9180" y="6171"/>
                  </a:lnTo>
                  <a:lnTo>
                    <a:pt x="11340" y="6171"/>
                  </a:lnTo>
                  <a:lnTo>
                    <a:pt x="11340" y="4628"/>
                  </a:lnTo>
                  <a:lnTo>
                    <a:pt x="9180" y="4628"/>
                  </a:lnTo>
                  <a:close/>
                </a:path>
                <a:path w="21600" h="21600" extrusionOk="0">
                  <a:moveTo>
                    <a:pt x="11340" y="4628"/>
                  </a:moveTo>
                  <a:lnTo>
                    <a:pt x="11340" y="6171"/>
                  </a:lnTo>
                  <a:lnTo>
                    <a:pt x="13500" y="6171"/>
                  </a:lnTo>
                  <a:lnTo>
                    <a:pt x="13500" y="4628"/>
                  </a:lnTo>
                  <a:lnTo>
                    <a:pt x="11340" y="4628"/>
                  </a:lnTo>
                  <a:close/>
                </a:path>
                <a:path w="21600" h="21600" extrusionOk="0">
                  <a:moveTo>
                    <a:pt x="13500" y="4628"/>
                  </a:moveTo>
                  <a:lnTo>
                    <a:pt x="13500" y="6171"/>
                  </a:lnTo>
                  <a:lnTo>
                    <a:pt x="15660" y="6171"/>
                  </a:lnTo>
                  <a:lnTo>
                    <a:pt x="15660" y="4628"/>
                  </a:lnTo>
                  <a:lnTo>
                    <a:pt x="13500" y="4628"/>
                  </a:lnTo>
                  <a:close/>
                </a:path>
                <a:path w="21600" h="21600" extrusionOk="0">
                  <a:moveTo>
                    <a:pt x="15660" y="4628"/>
                  </a:moveTo>
                  <a:lnTo>
                    <a:pt x="15660" y="6171"/>
                  </a:lnTo>
                  <a:lnTo>
                    <a:pt x="17820" y="6171"/>
                  </a:lnTo>
                  <a:lnTo>
                    <a:pt x="17820" y="4628"/>
                  </a:lnTo>
                  <a:lnTo>
                    <a:pt x="15660" y="4628"/>
                  </a:lnTo>
                  <a:close/>
                </a:path>
                <a:path w="21600" h="21600" extrusionOk="0">
                  <a:moveTo>
                    <a:pt x="17820" y="4628"/>
                  </a:moveTo>
                  <a:lnTo>
                    <a:pt x="17820" y="6171"/>
                  </a:lnTo>
                  <a:lnTo>
                    <a:pt x="19980" y="6171"/>
                  </a:lnTo>
                  <a:lnTo>
                    <a:pt x="19980" y="4628"/>
                  </a:lnTo>
                  <a:lnTo>
                    <a:pt x="17820" y="4628"/>
                  </a:lnTo>
                  <a:close/>
                </a:path>
                <a:path w="21600" h="21600" extrusionOk="0">
                  <a:moveTo>
                    <a:pt x="1620" y="6171"/>
                  </a:moveTo>
                  <a:lnTo>
                    <a:pt x="1620" y="7714"/>
                  </a:lnTo>
                  <a:lnTo>
                    <a:pt x="3779" y="7714"/>
                  </a:lnTo>
                  <a:lnTo>
                    <a:pt x="3779" y="6171"/>
                  </a:lnTo>
                  <a:lnTo>
                    <a:pt x="1620" y="6171"/>
                  </a:lnTo>
                  <a:close/>
                </a:path>
                <a:path w="21600" h="21600" extrusionOk="0">
                  <a:moveTo>
                    <a:pt x="3779" y="6171"/>
                  </a:moveTo>
                  <a:lnTo>
                    <a:pt x="3779" y="7714"/>
                  </a:lnTo>
                  <a:lnTo>
                    <a:pt x="5940" y="7714"/>
                  </a:lnTo>
                  <a:lnTo>
                    <a:pt x="5940" y="6171"/>
                  </a:lnTo>
                  <a:lnTo>
                    <a:pt x="3779" y="6171"/>
                  </a:lnTo>
                  <a:close/>
                </a:path>
                <a:path w="21600" h="21600" extrusionOk="0">
                  <a:moveTo>
                    <a:pt x="5940" y="6171"/>
                  </a:moveTo>
                  <a:lnTo>
                    <a:pt x="5940" y="7714"/>
                  </a:lnTo>
                  <a:lnTo>
                    <a:pt x="8100" y="7714"/>
                  </a:lnTo>
                  <a:lnTo>
                    <a:pt x="8100" y="6171"/>
                  </a:lnTo>
                  <a:lnTo>
                    <a:pt x="5940" y="6171"/>
                  </a:lnTo>
                  <a:close/>
                </a:path>
                <a:path w="21600" h="21600" extrusionOk="0">
                  <a:moveTo>
                    <a:pt x="8100" y="6171"/>
                  </a:moveTo>
                  <a:lnTo>
                    <a:pt x="8100" y="7714"/>
                  </a:lnTo>
                  <a:lnTo>
                    <a:pt x="10260" y="7714"/>
                  </a:lnTo>
                  <a:lnTo>
                    <a:pt x="10260" y="6171"/>
                  </a:lnTo>
                  <a:lnTo>
                    <a:pt x="8100" y="6171"/>
                  </a:lnTo>
                  <a:close/>
                </a:path>
                <a:path w="21600" h="21600" extrusionOk="0">
                  <a:moveTo>
                    <a:pt x="10260" y="6171"/>
                  </a:moveTo>
                  <a:lnTo>
                    <a:pt x="10260" y="7714"/>
                  </a:lnTo>
                  <a:lnTo>
                    <a:pt x="12419" y="7714"/>
                  </a:lnTo>
                  <a:lnTo>
                    <a:pt x="12419" y="6171"/>
                  </a:lnTo>
                  <a:lnTo>
                    <a:pt x="10260" y="6171"/>
                  </a:lnTo>
                  <a:close/>
                </a:path>
                <a:path w="21600" h="21600" extrusionOk="0">
                  <a:moveTo>
                    <a:pt x="12419" y="6171"/>
                  </a:moveTo>
                  <a:lnTo>
                    <a:pt x="12419" y="7714"/>
                  </a:lnTo>
                  <a:lnTo>
                    <a:pt x="14580" y="7714"/>
                  </a:lnTo>
                  <a:lnTo>
                    <a:pt x="14580" y="6171"/>
                  </a:lnTo>
                  <a:lnTo>
                    <a:pt x="12419" y="6171"/>
                  </a:lnTo>
                  <a:close/>
                </a:path>
                <a:path w="21600" h="21600" extrusionOk="0">
                  <a:moveTo>
                    <a:pt x="14580" y="6171"/>
                  </a:moveTo>
                  <a:lnTo>
                    <a:pt x="14580" y="7714"/>
                  </a:lnTo>
                  <a:lnTo>
                    <a:pt x="16740" y="7714"/>
                  </a:lnTo>
                  <a:lnTo>
                    <a:pt x="16740" y="6171"/>
                  </a:lnTo>
                  <a:lnTo>
                    <a:pt x="14580" y="6171"/>
                  </a:lnTo>
                  <a:close/>
                </a:path>
                <a:path w="21600" h="21600" extrusionOk="0">
                  <a:moveTo>
                    <a:pt x="16740" y="6171"/>
                  </a:moveTo>
                  <a:lnTo>
                    <a:pt x="16740" y="7714"/>
                  </a:lnTo>
                  <a:lnTo>
                    <a:pt x="18900" y="7714"/>
                  </a:lnTo>
                  <a:lnTo>
                    <a:pt x="18900" y="6171"/>
                  </a:lnTo>
                  <a:lnTo>
                    <a:pt x="16740" y="6171"/>
                  </a:lnTo>
                  <a:close/>
                </a:path>
                <a:path w="21600" h="21600" extrusionOk="0">
                  <a:moveTo>
                    <a:pt x="18900" y="6171"/>
                  </a:moveTo>
                  <a:lnTo>
                    <a:pt x="18900" y="7714"/>
                  </a:lnTo>
                  <a:lnTo>
                    <a:pt x="21060" y="7714"/>
                  </a:lnTo>
                  <a:lnTo>
                    <a:pt x="21060" y="6171"/>
                  </a:lnTo>
                  <a:lnTo>
                    <a:pt x="18900" y="6171"/>
                  </a:lnTo>
                  <a:close/>
                </a:path>
                <a:path w="21600" h="21600" extrusionOk="0">
                  <a:moveTo>
                    <a:pt x="540" y="7714"/>
                  </a:moveTo>
                  <a:lnTo>
                    <a:pt x="540" y="9257"/>
                  </a:lnTo>
                  <a:lnTo>
                    <a:pt x="2700" y="9257"/>
                  </a:lnTo>
                  <a:lnTo>
                    <a:pt x="2700" y="7714"/>
                  </a:lnTo>
                  <a:lnTo>
                    <a:pt x="540" y="7714"/>
                  </a:lnTo>
                  <a:close/>
                </a:path>
                <a:path w="21600" h="21600" extrusionOk="0">
                  <a:moveTo>
                    <a:pt x="2700" y="7714"/>
                  </a:moveTo>
                  <a:lnTo>
                    <a:pt x="2700" y="9257"/>
                  </a:lnTo>
                  <a:lnTo>
                    <a:pt x="4860" y="9257"/>
                  </a:lnTo>
                  <a:lnTo>
                    <a:pt x="4860" y="7714"/>
                  </a:lnTo>
                  <a:lnTo>
                    <a:pt x="2700" y="7714"/>
                  </a:lnTo>
                  <a:close/>
                </a:path>
                <a:path w="21600" h="21600" extrusionOk="0">
                  <a:moveTo>
                    <a:pt x="4860" y="7714"/>
                  </a:moveTo>
                  <a:lnTo>
                    <a:pt x="4860" y="9257"/>
                  </a:lnTo>
                  <a:lnTo>
                    <a:pt x="7020" y="9257"/>
                  </a:lnTo>
                  <a:lnTo>
                    <a:pt x="7020" y="7714"/>
                  </a:lnTo>
                  <a:lnTo>
                    <a:pt x="4860" y="7714"/>
                  </a:lnTo>
                  <a:close/>
                </a:path>
                <a:path w="21600" h="21600" extrusionOk="0">
                  <a:moveTo>
                    <a:pt x="7020" y="7714"/>
                  </a:moveTo>
                  <a:lnTo>
                    <a:pt x="7020" y="9257"/>
                  </a:lnTo>
                  <a:lnTo>
                    <a:pt x="9180" y="9257"/>
                  </a:lnTo>
                  <a:lnTo>
                    <a:pt x="9180" y="7714"/>
                  </a:lnTo>
                  <a:lnTo>
                    <a:pt x="7020" y="7714"/>
                  </a:lnTo>
                  <a:close/>
                </a:path>
                <a:path w="21600" h="21600" extrusionOk="0">
                  <a:moveTo>
                    <a:pt x="9180" y="7714"/>
                  </a:moveTo>
                  <a:lnTo>
                    <a:pt x="9180" y="9257"/>
                  </a:lnTo>
                  <a:lnTo>
                    <a:pt x="11340" y="9257"/>
                  </a:lnTo>
                  <a:lnTo>
                    <a:pt x="11340" y="7714"/>
                  </a:lnTo>
                  <a:lnTo>
                    <a:pt x="9180" y="7714"/>
                  </a:lnTo>
                  <a:close/>
                </a:path>
                <a:path w="21600" h="21600" extrusionOk="0">
                  <a:moveTo>
                    <a:pt x="11340" y="7714"/>
                  </a:moveTo>
                  <a:lnTo>
                    <a:pt x="11340" y="9257"/>
                  </a:lnTo>
                  <a:lnTo>
                    <a:pt x="13500" y="9257"/>
                  </a:lnTo>
                  <a:lnTo>
                    <a:pt x="13500" y="7714"/>
                  </a:lnTo>
                  <a:lnTo>
                    <a:pt x="11340" y="7714"/>
                  </a:lnTo>
                  <a:close/>
                </a:path>
                <a:path w="21600" h="21600" extrusionOk="0">
                  <a:moveTo>
                    <a:pt x="13500" y="7714"/>
                  </a:moveTo>
                  <a:lnTo>
                    <a:pt x="13500" y="9257"/>
                  </a:lnTo>
                  <a:lnTo>
                    <a:pt x="15660" y="9257"/>
                  </a:lnTo>
                  <a:lnTo>
                    <a:pt x="15660" y="7714"/>
                  </a:lnTo>
                  <a:lnTo>
                    <a:pt x="13500" y="7714"/>
                  </a:lnTo>
                  <a:close/>
                </a:path>
                <a:path w="21600" h="21600" extrusionOk="0">
                  <a:moveTo>
                    <a:pt x="15660" y="7714"/>
                  </a:moveTo>
                  <a:lnTo>
                    <a:pt x="15660" y="9257"/>
                  </a:lnTo>
                  <a:lnTo>
                    <a:pt x="17820" y="9257"/>
                  </a:lnTo>
                  <a:lnTo>
                    <a:pt x="17820" y="7714"/>
                  </a:lnTo>
                  <a:lnTo>
                    <a:pt x="15660" y="7714"/>
                  </a:lnTo>
                  <a:close/>
                </a:path>
                <a:path w="21600" h="21600" extrusionOk="0">
                  <a:moveTo>
                    <a:pt x="17820" y="7714"/>
                  </a:moveTo>
                  <a:lnTo>
                    <a:pt x="17820" y="9257"/>
                  </a:lnTo>
                  <a:lnTo>
                    <a:pt x="19980" y="9257"/>
                  </a:lnTo>
                  <a:lnTo>
                    <a:pt x="19980" y="7714"/>
                  </a:lnTo>
                  <a:lnTo>
                    <a:pt x="17820" y="7714"/>
                  </a:lnTo>
                  <a:close/>
                </a:path>
                <a:path w="21600" h="21600" extrusionOk="0">
                  <a:moveTo>
                    <a:pt x="1620" y="9257"/>
                  </a:moveTo>
                  <a:lnTo>
                    <a:pt x="1620" y="10800"/>
                  </a:lnTo>
                  <a:lnTo>
                    <a:pt x="3779" y="10800"/>
                  </a:lnTo>
                  <a:lnTo>
                    <a:pt x="3779" y="9257"/>
                  </a:lnTo>
                  <a:lnTo>
                    <a:pt x="1620" y="9257"/>
                  </a:lnTo>
                  <a:close/>
                </a:path>
                <a:path w="21600" h="21600" extrusionOk="0">
                  <a:moveTo>
                    <a:pt x="3779" y="9257"/>
                  </a:moveTo>
                  <a:lnTo>
                    <a:pt x="3779" y="10800"/>
                  </a:lnTo>
                  <a:lnTo>
                    <a:pt x="5940" y="10800"/>
                  </a:lnTo>
                  <a:lnTo>
                    <a:pt x="5940" y="9257"/>
                  </a:lnTo>
                  <a:lnTo>
                    <a:pt x="3779" y="9257"/>
                  </a:lnTo>
                  <a:close/>
                </a:path>
                <a:path w="21600" h="21600" extrusionOk="0">
                  <a:moveTo>
                    <a:pt x="5940" y="9257"/>
                  </a:moveTo>
                  <a:lnTo>
                    <a:pt x="5940" y="10800"/>
                  </a:lnTo>
                  <a:lnTo>
                    <a:pt x="8100" y="10800"/>
                  </a:lnTo>
                  <a:lnTo>
                    <a:pt x="8100" y="9257"/>
                  </a:lnTo>
                  <a:lnTo>
                    <a:pt x="5940" y="9257"/>
                  </a:lnTo>
                  <a:close/>
                </a:path>
                <a:path w="21600" h="21600" extrusionOk="0">
                  <a:moveTo>
                    <a:pt x="8100" y="9257"/>
                  </a:moveTo>
                  <a:lnTo>
                    <a:pt x="8100" y="10800"/>
                  </a:lnTo>
                  <a:lnTo>
                    <a:pt x="10260" y="10800"/>
                  </a:lnTo>
                  <a:lnTo>
                    <a:pt x="10260" y="9257"/>
                  </a:lnTo>
                  <a:lnTo>
                    <a:pt x="8100" y="9257"/>
                  </a:lnTo>
                  <a:close/>
                </a:path>
                <a:path w="21600" h="21600" extrusionOk="0">
                  <a:moveTo>
                    <a:pt x="10260" y="9257"/>
                  </a:moveTo>
                  <a:lnTo>
                    <a:pt x="10260" y="10800"/>
                  </a:lnTo>
                  <a:lnTo>
                    <a:pt x="12419" y="10800"/>
                  </a:lnTo>
                  <a:lnTo>
                    <a:pt x="12419" y="9257"/>
                  </a:lnTo>
                  <a:lnTo>
                    <a:pt x="10260" y="9257"/>
                  </a:lnTo>
                  <a:close/>
                </a:path>
                <a:path w="21600" h="21600" extrusionOk="0">
                  <a:moveTo>
                    <a:pt x="12419" y="9257"/>
                  </a:moveTo>
                  <a:lnTo>
                    <a:pt x="12419" y="10800"/>
                  </a:lnTo>
                  <a:lnTo>
                    <a:pt x="14580" y="10800"/>
                  </a:lnTo>
                  <a:lnTo>
                    <a:pt x="14580" y="9257"/>
                  </a:lnTo>
                  <a:lnTo>
                    <a:pt x="12419" y="9257"/>
                  </a:lnTo>
                  <a:close/>
                </a:path>
                <a:path w="21600" h="21600" extrusionOk="0">
                  <a:moveTo>
                    <a:pt x="14580" y="9257"/>
                  </a:moveTo>
                  <a:lnTo>
                    <a:pt x="14580" y="10800"/>
                  </a:lnTo>
                  <a:lnTo>
                    <a:pt x="16740" y="10800"/>
                  </a:lnTo>
                  <a:lnTo>
                    <a:pt x="16740" y="9257"/>
                  </a:lnTo>
                  <a:lnTo>
                    <a:pt x="14580" y="9257"/>
                  </a:lnTo>
                  <a:close/>
                </a:path>
                <a:path w="21600" h="21600" extrusionOk="0">
                  <a:moveTo>
                    <a:pt x="16740" y="9257"/>
                  </a:moveTo>
                  <a:lnTo>
                    <a:pt x="16740" y="10800"/>
                  </a:lnTo>
                  <a:lnTo>
                    <a:pt x="18900" y="10800"/>
                  </a:lnTo>
                  <a:lnTo>
                    <a:pt x="18900" y="9257"/>
                  </a:lnTo>
                  <a:lnTo>
                    <a:pt x="16740" y="9257"/>
                  </a:lnTo>
                  <a:close/>
                </a:path>
                <a:path w="21600" h="21600" extrusionOk="0">
                  <a:moveTo>
                    <a:pt x="18900" y="9257"/>
                  </a:moveTo>
                  <a:lnTo>
                    <a:pt x="18900" y="10800"/>
                  </a:lnTo>
                  <a:lnTo>
                    <a:pt x="21060" y="10800"/>
                  </a:lnTo>
                  <a:lnTo>
                    <a:pt x="21060" y="9257"/>
                  </a:lnTo>
                  <a:lnTo>
                    <a:pt x="18900" y="9257"/>
                  </a:lnTo>
                  <a:close/>
                </a:path>
                <a:path w="21600" h="21600" extrusionOk="0">
                  <a:moveTo>
                    <a:pt x="540" y="10800"/>
                  </a:moveTo>
                  <a:lnTo>
                    <a:pt x="540" y="12342"/>
                  </a:lnTo>
                  <a:lnTo>
                    <a:pt x="2700" y="12342"/>
                  </a:lnTo>
                  <a:lnTo>
                    <a:pt x="2700" y="10800"/>
                  </a:lnTo>
                  <a:lnTo>
                    <a:pt x="540" y="10800"/>
                  </a:lnTo>
                  <a:close/>
                </a:path>
                <a:path w="21600" h="21600" extrusionOk="0">
                  <a:moveTo>
                    <a:pt x="2700" y="10800"/>
                  </a:moveTo>
                  <a:lnTo>
                    <a:pt x="2700" y="12342"/>
                  </a:lnTo>
                  <a:lnTo>
                    <a:pt x="4860" y="12342"/>
                  </a:lnTo>
                  <a:lnTo>
                    <a:pt x="4860" y="10800"/>
                  </a:lnTo>
                  <a:lnTo>
                    <a:pt x="2700" y="10800"/>
                  </a:lnTo>
                  <a:close/>
                </a:path>
                <a:path w="21600" h="21600" extrusionOk="0">
                  <a:moveTo>
                    <a:pt x="4860" y="10800"/>
                  </a:moveTo>
                  <a:lnTo>
                    <a:pt x="4860" y="12342"/>
                  </a:lnTo>
                  <a:lnTo>
                    <a:pt x="7020" y="12342"/>
                  </a:lnTo>
                  <a:lnTo>
                    <a:pt x="7020" y="10800"/>
                  </a:lnTo>
                  <a:lnTo>
                    <a:pt x="4860" y="10800"/>
                  </a:lnTo>
                  <a:close/>
                </a:path>
                <a:path w="21600" h="21600" extrusionOk="0">
                  <a:moveTo>
                    <a:pt x="7020" y="10800"/>
                  </a:moveTo>
                  <a:lnTo>
                    <a:pt x="7020" y="12342"/>
                  </a:lnTo>
                  <a:lnTo>
                    <a:pt x="9180" y="12342"/>
                  </a:lnTo>
                  <a:lnTo>
                    <a:pt x="9180" y="10800"/>
                  </a:lnTo>
                  <a:lnTo>
                    <a:pt x="7020" y="10800"/>
                  </a:lnTo>
                  <a:close/>
                </a:path>
                <a:path w="21600" h="21600" extrusionOk="0">
                  <a:moveTo>
                    <a:pt x="9180" y="10800"/>
                  </a:moveTo>
                  <a:lnTo>
                    <a:pt x="9180" y="12342"/>
                  </a:lnTo>
                  <a:lnTo>
                    <a:pt x="11340" y="12342"/>
                  </a:lnTo>
                  <a:lnTo>
                    <a:pt x="11340" y="10800"/>
                  </a:lnTo>
                  <a:lnTo>
                    <a:pt x="9180" y="10800"/>
                  </a:lnTo>
                  <a:close/>
                </a:path>
                <a:path w="21600" h="21600" extrusionOk="0">
                  <a:moveTo>
                    <a:pt x="11340" y="10800"/>
                  </a:moveTo>
                  <a:lnTo>
                    <a:pt x="11340" y="12342"/>
                  </a:lnTo>
                  <a:lnTo>
                    <a:pt x="13500" y="12342"/>
                  </a:lnTo>
                  <a:lnTo>
                    <a:pt x="13500" y="10800"/>
                  </a:lnTo>
                  <a:lnTo>
                    <a:pt x="11340" y="10800"/>
                  </a:lnTo>
                  <a:close/>
                </a:path>
                <a:path w="21600" h="21600" extrusionOk="0">
                  <a:moveTo>
                    <a:pt x="13500" y="10800"/>
                  </a:moveTo>
                  <a:lnTo>
                    <a:pt x="13500" y="12342"/>
                  </a:lnTo>
                  <a:lnTo>
                    <a:pt x="15660" y="12342"/>
                  </a:lnTo>
                  <a:lnTo>
                    <a:pt x="15660" y="10800"/>
                  </a:lnTo>
                  <a:lnTo>
                    <a:pt x="13500" y="10800"/>
                  </a:lnTo>
                  <a:close/>
                </a:path>
                <a:path w="21600" h="21600" extrusionOk="0">
                  <a:moveTo>
                    <a:pt x="15660" y="10800"/>
                  </a:moveTo>
                  <a:lnTo>
                    <a:pt x="15660" y="12342"/>
                  </a:lnTo>
                  <a:lnTo>
                    <a:pt x="17820" y="12342"/>
                  </a:lnTo>
                  <a:lnTo>
                    <a:pt x="17820" y="10800"/>
                  </a:lnTo>
                  <a:lnTo>
                    <a:pt x="15660" y="10800"/>
                  </a:lnTo>
                  <a:close/>
                </a:path>
                <a:path w="21600" h="21600" extrusionOk="0">
                  <a:moveTo>
                    <a:pt x="17820" y="10800"/>
                  </a:moveTo>
                  <a:lnTo>
                    <a:pt x="17820" y="12342"/>
                  </a:lnTo>
                  <a:lnTo>
                    <a:pt x="19980" y="12342"/>
                  </a:lnTo>
                  <a:lnTo>
                    <a:pt x="19980" y="10800"/>
                  </a:lnTo>
                  <a:lnTo>
                    <a:pt x="17820" y="10800"/>
                  </a:lnTo>
                  <a:close/>
                </a:path>
                <a:path w="21600" h="21600" extrusionOk="0">
                  <a:moveTo>
                    <a:pt x="1620" y="12342"/>
                  </a:moveTo>
                  <a:lnTo>
                    <a:pt x="1620" y="13885"/>
                  </a:lnTo>
                  <a:lnTo>
                    <a:pt x="3779" y="13885"/>
                  </a:lnTo>
                  <a:lnTo>
                    <a:pt x="3779" y="12342"/>
                  </a:lnTo>
                  <a:lnTo>
                    <a:pt x="1620" y="12342"/>
                  </a:lnTo>
                  <a:close/>
                </a:path>
                <a:path w="21600" h="21600" extrusionOk="0">
                  <a:moveTo>
                    <a:pt x="3779" y="12342"/>
                  </a:moveTo>
                  <a:lnTo>
                    <a:pt x="3779" y="13885"/>
                  </a:lnTo>
                  <a:lnTo>
                    <a:pt x="5940" y="13885"/>
                  </a:lnTo>
                  <a:lnTo>
                    <a:pt x="5940" y="12342"/>
                  </a:lnTo>
                  <a:lnTo>
                    <a:pt x="3779" y="12342"/>
                  </a:lnTo>
                  <a:close/>
                </a:path>
                <a:path w="21600" h="21600" extrusionOk="0">
                  <a:moveTo>
                    <a:pt x="5940" y="12342"/>
                  </a:moveTo>
                  <a:lnTo>
                    <a:pt x="5940" y="13885"/>
                  </a:lnTo>
                  <a:lnTo>
                    <a:pt x="8100" y="13885"/>
                  </a:lnTo>
                  <a:lnTo>
                    <a:pt x="8100" y="12342"/>
                  </a:lnTo>
                  <a:lnTo>
                    <a:pt x="5940" y="12342"/>
                  </a:lnTo>
                  <a:close/>
                </a:path>
                <a:path w="21600" h="21600" extrusionOk="0">
                  <a:moveTo>
                    <a:pt x="8100" y="12342"/>
                  </a:moveTo>
                  <a:lnTo>
                    <a:pt x="8100" y="13885"/>
                  </a:lnTo>
                  <a:lnTo>
                    <a:pt x="10260" y="13885"/>
                  </a:lnTo>
                  <a:lnTo>
                    <a:pt x="10260" y="12342"/>
                  </a:lnTo>
                  <a:lnTo>
                    <a:pt x="8100" y="12342"/>
                  </a:lnTo>
                  <a:close/>
                </a:path>
                <a:path w="21600" h="21600" extrusionOk="0">
                  <a:moveTo>
                    <a:pt x="10260" y="12342"/>
                  </a:moveTo>
                  <a:lnTo>
                    <a:pt x="10260" y="13885"/>
                  </a:lnTo>
                  <a:lnTo>
                    <a:pt x="12419" y="13885"/>
                  </a:lnTo>
                  <a:lnTo>
                    <a:pt x="12419" y="12342"/>
                  </a:lnTo>
                  <a:lnTo>
                    <a:pt x="10260" y="12342"/>
                  </a:lnTo>
                  <a:close/>
                </a:path>
                <a:path w="21600" h="21600" extrusionOk="0">
                  <a:moveTo>
                    <a:pt x="12419" y="12342"/>
                  </a:moveTo>
                  <a:lnTo>
                    <a:pt x="12419" y="13885"/>
                  </a:lnTo>
                  <a:lnTo>
                    <a:pt x="14580" y="13885"/>
                  </a:lnTo>
                  <a:lnTo>
                    <a:pt x="14580" y="12342"/>
                  </a:lnTo>
                  <a:lnTo>
                    <a:pt x="12419" y="12342"/>
                  </a:lnTo>
                  <a:close/>
                </a:path>
                <a:path w="21600" h="21600" extrusionOk="0">
                  <a:moveTo>
                    <a:pt x="14580" y="12342"/>
                  </a:moveTo>
                  <a:lnTo>
                    <a:pt x="14580" y="13885"/>
                  </a:lnTo>
                  <a:lnTo>
                    <a:pt x="16740" y="13885"/>
                  </a:lnTo>
                  <a:lnTo>
                    <a:pt x="16740" y="12342"/>
                  </a:lnTo>
                  <a:lnTo>
                    <a:pt x="14580" y="12342"/>
                  </a:lnTo>
                  <a:close/>
                </a:path>
                <a:path w="21600" h="21600" extrusionOk="0">
                  <a:moveTo>
                    <a:pt x="16740" y="12342"/>
                  </a:moveTo>
                  <a:lnTo>
                    <a:pt x="16740" y="13885"/>
                  </a:lnTo>
                  <a:lnTo>
                    <a:pt x="18900" y="13885"/>
                  </a:lnTo>
                  <a:lnTo>
                    <a:pt x="18900" y="12342"/>
                  </a:lnTo>
                  <a:lnTo>
                    <a:pt x="16740" y="12342"/>
                  </a:lnTo>
                  <a:close/>
                </a:path>
                <a:path w="21600" h="21600" extrusionOk="0">
                  <a:moveTo>
                    <a:pt x="18900" y="12342"/>
                  </a:moveTo>
                  <a:lnTo>
                    <a:pt x="18900" y="13885"/>
                  </a:lnTo>
                  <a:lnTo>
                    <a:pt x="21060" y="13885"/>
                  </a:lnTo>
                  <a:lnTo>
                    <a:pt x="21060" y="12342"/>
                  </a:lnTo>
                  <a:lnTo>
                    <a:pt x="18900" y="12342"/>
                  </a:lnTo>
                  <a:close/>
                </a:path>
                <a:path w="21600" h="21600" extrusionOk="0">
                  <a:moveTo>
                    <a:pt x="540" y="13885"/>
                  </a:moveTo>
                  <a:lnTo>
                    <a:pt x="540" y="15428"/>
                  </a:lnTo>
                  <a:lnTo>
                    <a:pt x="2700" y="15428"/>
                  </a:lnTo>
                  <a:lnTo>
                    <a:pt x="2700" y="13885"/>
                  </a:lnTo>
                  <a:lnTo>
                    <a:pt x="540" y="13885"/>
                  </a:lnTo>
                  <a:close/>
                </a:path>
                <a:path w="21600" h="21600" extrusionOk="0">
                  <a:moveTo>
                    <a:pt x="2700" y="13885"/>
                  </a:moveTo>
                  <a:lnTo>
                    <a:pt x="2700" y="15428"/>
                  </a:lnTo>
                  <a:lnTo>
                    <a:pt x="4860" y="15428"/>
                  </a:lnTo>
                  <a:lnTo>
                    <a:pt x="4860" y="13885"/>
                  </a:lnTo>
                  <a:lnTo>
                    <a:pt x="2700" y="13885"/>
                  </a:lnTo>
                  <a:close/>
                </a:path>
                <a:path w="21600" h="21600" extrusionOk="0">
                  <a:moveTo>
                    <a:pt x="4860" y="13885"/>
                  </a:moveTo>
                  <a:lnTo>
                    <a:pt x="4860" y="15428"/>
                  </a:lnTo>
                  <a:lnTo>
                    <a:pt x="7020" y="15428"/>
                  </a:lnTo>
                  <a:lnTo>
                    <a:pt x="7020" y="13885"/>
                  </a:lnTo>
                  <a:lnTo>
                    <a:pt x="4860" y="13885"/>
                  </a:lnTo>
                  <a:close/>
                </a:path>
                <a:path w="21600" h="21600" extrusionOk="0">
                  <a:moveTo>
                    <a:pt x="7020" y="13885"/>
                  </a:moveTo>
                  <a:lnTo>
                    <a:pt x="7020" y="15428"/>
                  </a:lnTo>
                  <a:lnTo>
                    <a:pt x="9180" y="15428"/>
                  </a:lnTo>
                  <a:lnTo>
                    <a:pt x="9180" y="13885"/>
                  </a:lnTo>
                  <a:lnTo>
                    <a:pt x="7020" y="13885"/>
                  </a:lnTo>
                  <a:close/>
                </a:path>
                <a:path w="21600" h="21600" extrusionOk="0">
                  <a:moveTo>
                    <a:pt x="9180" y="13885"/>
                  </a:moveTo>
                  <a:lnTo>
                    <a:pt x="9180" y="15428"/>
                  </a:lnTo>
                  <a:lnTo>
                    <a:pt x="11340" y="15428"/>
                  </a:lnTo>
                  <a:lnTo>
                    <a:pt x="11340" y="13885"/>
                  </a:lnTo>
                  <a:lnTo>
                    <a:pt x="9180" y="13885"/>
                  </a:lnTo>
                  <a:close/>
                </a:path>
                <a:path w="21600" h="21600" extrusionOk="0">
                  <a:moveTo>
                    <a:pt x="11340" y="13885"/>
                  </a:moveTo>
                  <a:lnTo>
                    <a:pt x="11340" y="15428"/>
                  </a:lnTo>
                  <a:lnTo>
                    <a:pt x="13500" y="15428"/>
                  </a:lnTo>
                  <a:lnTo>
                    <a:pt x="13500" y="13885"/>
                  </a:lnTo>
                  <a:lnTo>
                    <a:pt x="11340" y="13885"/>
                  </a:lnTo>
                  <a:close/>
                </a:path>
                <a:path w="21600" h="21600" extrusionOk="0">
                  <a:moveTo>
                    <a:pt x="13500" y="13885"/>
                  </a:moveTo>
                  <a:lnTo>
                    <a:pt x="13500" y="15428"/>
                  </a:lnTo>
                  <a:lnTo>
                    <a:pt x="15660" y="15428"/>
                  </a:lnTo>
                  <a:lnTo>
                    <a:pt x="15660" y="13885"/>
                  </a:lnTo>
                  <a:lnTo>
                    <a:pt x="13500" y="13885"/>
                  </a:lnTo>
                  <a:close/>
                </a:path>
                <a:path w="21600" h="21600" extrusionOk="0">
                  <a:moveTo>
                    <a:pt x="15660" y="13885"/>
                  </a:moveTo>
                  <a:lnTo>
                    <a:pt x="15660" y="15428"/>
                  </a:lnTo>
                  <a:lnTo>
                    <a:pt x="17820" y="15428"/>
                  </a:lnTo>
                  <a:lnTo>
                    <a:pt x="17820" y="13885"/>
                  </a:lnTo>
                  <a:lnTo>
                    <a:pt x="15660" y="13885"/>
                  </a:lnTo>
                  <a:close/>
                </a:path>
                <a:path w="21600" h="21600" extrusionOk="0">
                  <a:moveTo>
                    <a:pt x="17820" y="13885"/>
                  </a:moveTo>
                  <a:lnTo>
                    <a:pt x="17820" y="15428"/>
                  </a:lnTo>
                  <a:lnTo>
                    <a:pt x="19980" y="15428"/>
                  </a:lnTo>
                  <a:lnTo>
                    <a:pt x="19980" y="13885"/>
                  </a:lnTo>
                  <a:lnTo>
                    <a:pt x="17820" y="13885"/>
                  </a:lnTo>
                  <a:close/>
                </a:path>
                <a:path w="21600" h="21600" extrusionOk="0">
                  <a:moveTo>
                    <a:pt x="1620" y="15428"/>
                  </a:moveTo>
                  <a:lnTo>
                    <a:pt x="1620" y="16971"/>
                  </a:lnTo>
                  <a:lnTo>
                    <a:pt x="3779" y="16971"/>
                  </a:lnTo>
                  <a:lnTo>
                    <a:pt x="3779" y="15428"/>
                  </a:lnTo>
                  <a:lnTo>
                    <a:pt x="1620" y="15428"/>
                  </a:lnTo>
                  <a:close/>
                </a:path>
                <a:path w="21600" h="21600" extrusionOk="0">
                  <a:moveTo>
                    <a:pt x="3779" y="15428"/>
                  </a:moveTo>
                  <a:lnTo>
                    <a:pt x="3779" y="16971"/>
                  </a:lnTo>
                  <a:lnTo>
                    <a:pt x="5940" y="16971"/>
                  </a:lnTo>
                  <a:lnTo>
                    <a:pt x="5940" y="15428"/>
                  </a:lnTo>
                  <a:lnTo>
                    <a:pt x="3779" y="15428"/>
                  </a:lnTo>
                  <a:close/>
                </a:path>
                <a:path w="21600" h="21600" extrusionOk="0">
                  <a:moveTo>
                    <a:pt x="5940" y="15428"/>
                  </a:moveTo>
                  <a:lnTo>
                    <a:pt x="5940" y="16971"/>
                  </a:lnTo>
                  <a:lnTo>
                    <a:pt x="8100" y="16971"/>
                  </a:lnTo>
                  <a:lnTo>
                    <a:pt x="8100" y="15428"/>
                  </a:lnTo>
                  <a:lnTo>
                    <a:pt x="5940" y="15428"/>
                  </a:lnTo>
                  <a:close/>
                </a:path>
                <a:path w="21600" h="21600" extrusionOk="0">
                  <a:moveTo>
                    <a:pt x="8100" y="15428"/>
                  </a:moveTo>
                  <a:lnTo>
                    <a:pt x="8100" y="16971"/>
                  </a:lnTo>
                  <a:lnTo>
                    <a:pt x="10260" y="16971"/>
                  </a:lnTo>
                  <a:lnTo>
                    <a:pt x="10260" y="15428"/>
                  </a:lnTo>
                  <a:lnTo>
                    <a:pt x="8100" y="15428"/>
                  </a:lnTo>
                  <a:close/>
                </a:path>
                <a:path w="21600" h="21600" extrusionOk="0">
                  <a:moveTo>
                    <a:pt x="10260" y="15428"/>
                  </a:moveTo>
                  <a:lnTo>
                    <a:pt x="10260" y="16971"/>
                  </a:lnTo>
                  <a:lnTo>
                    <a:pt x="12419" y="16971"/>
                  </a:lnTo>
                  <a:lnTo>
                    <a:pt x="12419" y="15428"/>
                  </a:lnTo>
                  <a:lnTo>
                    <a:pt x="10260" y="15428"/>
                  </a:lnTo>
                  <a:close/>
                </a:path>
                <a:path w="21600" h="21600" extrusionOk="0">
                  <a:moveTo>
                    <a:pt x="12419" y="15428"/>
                  </a:moveTo>
                  <a:lnTo>
                    <a:pt x="12419" y="16971"/>
                  </a:lnTo>
                  <a:lnTo>
                    <a:pt x="14580" y="16971"/>
                  </a:lnTo>
                  <a:lnTo>
                    <a:pt x="14580" y="15428"/>
                  </a:lnTo>
                  <a:lnTo>
                    <a:pt x="12419" y="15428"/>
                  </a:lnTo>
                  <a:close/>
                </a:path>
                <a:path w="21600" h="21600" extrusionOk="0">
                  <a:moveTo>
                    <a:pt x="14580" y="15428"/>
                  </a:moveTo>
                  <a:lnTo>
                    <a:pt x="14580" y="16971"/>
                  </a:lnTo>
                  <a:lnTo>
                    <a:pt x="16740" y="16971"/>
                  </a:lnTo>
                  <a:lnTo>
                    <a:pt x="16740" y="15428"/>
                  </a:lnTo>
                  <a:lnTo>
                    <a:pt x="14580" y="15428"/>
                  </a:lnTo>
                  <a:close/>
                </a:path>
                <a:path w="21600" h="21600" extrusionOk="0">
                  <a:moveTo>
                    <a:pt x="16740" y="15428"/>
                  </a:moveTo>
                  <a:lnTo>
                    <a:pt x="16740" y="16971"/>
                  </a:lnTo>
                  <a:lnTo>
                    <a:pt x="18900" y="16971"/>
                  </a:lnTo>
                  <a:lnTo>
                    <a:pt x="18900" y="15428"/>
                  </a:lnTo>
                  <a:lnTo>
                    <a:pt x="16740" y="15428"/>
                  </a:lnTo>
                  <a:close/>
                </a:path>
                <a:path w="21600" h="21600" extrusionOk="0">
                  <a:moveTo>
                    <a:pt x="18900" y="15428"/>
                  </a:moveTo>
                  <a:lnTo>
                    <a:pt x="18900" y="16971"/>
                  </a:lnTo>
                  <a:lnTo>
                    <a:pt x="21060" y="16971"/>
                  </a:lnTo>
                  <a:lnTo>
                    <a:pt x="21060" y="15428"/>
                  </a:lnTo>
                  <a:lnTo>
                    <a:pt x="18900" y="15428"/>
                  </a:lnTo>
                  <a:close/>
                </a:path>
                <a:path w="21600" h="21600" extrusionOk="0">
                  <a:moveTo>
                    <a:pt x="540" y="16971"/>
                  </a:moveTo>
                  <a:lnTo>
                    <a:pt x="540" y="18514"/>
                  </a:lnTo>
                  <a:lnTo>
                    <a:pt x="2700" y="18514"/>
                  </a:lnTo>
                  <a:lnTo>
                    <a:pt x="2700" y="16971"/>
                  </a:lnTo>
                  <a:lnTo>
                    <a:pt x="540" y="16971"/>
                  </a:lnTo>
                  <a:close/>
                </a:path>
                <a:path w="21600" h="21600" extrusionOk="0">
                  <a:moveTo>
                    <a:pt x="2700" y="16971"/>
                  </a:moveTo>
                  <a:lnTo>
                    <a:pt x="2700" y="18514"/>
                  </a:lnTo>
                  <a:lnTo>
                    <a:pt x="4860" y="18514"/>
                  </a:lnTo>
                  <a:lnTo>
                    <a:pt x="4860" y="16971"/>
                  </a:lnTo>
                  <a:lnTo>
                    <a:pt x="2700" y="16971"/>
                  </a:lnTo>
                  <a:close/>
                </a:path>
                <a:path w="21600" h="21600" extrusionOk="0">
                  <a:moveTo>
                    <a:pt x="4860" y="16971"/>
                  </a:moveTo>
                  <a:lnTo>
                    <a:pt x="4860" y="18514"/>
                  </a:lnTo>
                  <a:lnTo>
                    <a:pt x="7020" y="18514"/>
                  </a:lnTo>
                  <a:lnTo>
                    <a:pt x="7020" y="16971"/>
                  </a:lnTo>
                  <a:lnTo>
                    <a:pt x="4860" y="16971"/>
                  </a:lnTo>
                  <a:close/>
                </a:path>
                <a:path w="21600" h="21600" extrusionOk="0">
                  <a:moveTo>
                    <a:pt x="7020" y="16971"/>
                  </a:moveTo>
                  <a:lnTo>
                    <a:pt x="7020" y="18514"/>
                  </a:lnTo>
                  <a:lnTo>
                    <a:pt x="9180" y="18514"/>
                  </a:lnTo>
                  <a:lnTo>
                    <a:pt x="9180" y="16971"/>
                  </a:lnTo>
                  <a:lnTo>
                    <a:pt x="7020" y="16971"/>
                  </a:lnTo>
                  <a:close/>
                </a:path>
                <a:path w="21600" h="21600" extrusionOk="0">
                  <a:moveTo>
                    <a:pt x="9180" y="16971"/>
                  </a:moveTo>
                  <a:lnTo>
                    <a:pt x="9180" y="18514"/>
                  </a:lnTo>
                  <a:lnTo>
                    <a:pt x="11340" y="18514"/>
                  </a:lnTo>
                  <a:lnTo>
                    <a:pt x="11340" y="16971"/>
                  </a:lnTo>
                  <a:lnTo>
                    <a:pt x="9180" y="16971"/>
                  </a:lnTo>
                  <a:close/>
                </a:path>
                <a:path w="21600" h="21600" extrusionOk="0">
                  <a:moveTo>
                    <a:pt x="11340" y="16971"/>
                  </a:moveTo>
                  <a:lnTo>
                    <a:pt x="11340" y="18514"/>
                  </a:lnTo>
                  <a:lnTo>
                    <a:pt x="13500" y="18514"/>
                  </a:lnTo>
                  <a:lnTo>
                    <a:pt x="13500" y="16971"/>
                  </a:lnTo>
                  <a:lnTo>
                    <a:pt x="11340" y="16971"/>
                  </a:lnTo>
                  <a:close/>
                </a:path>
                <a:path w="21600" h="21600" extrusionOk="0">
                  <a:moveTo>
                    <a:pt x="13500" y="16971"/>
                  </a:moveTo>
                  <a:lnTo>
                    <a:pt x="13500" y="18514"/>
                  </a:lnTo>
                  <a:lnTo>
                    <a:pt x="15660" y="18514"/>
                  </a:lnTo>
                  <a:lnTo>
                    <a:pt x="15660" y="16971"/>
                  </a:lnTo>
                  <a:lnTo>
                    <a:pt x="13500" y="16971"/>
                  </a:lnTo>
                  <a:close/>
                </a:path>
                <a:path w="21600" h="21600" extrusionOk="0">
                  <a:moveTo>
                    <a:pt x="15660" y="16971"/>
                  </a:moveTo>
                  <a:lnTo>
                    <a:pt x="15660" y="18514"/>
                  </a:lnTo>
                  <a:lnTo>
                    <a:pt x="17820" y="18514"/>
                  </a:lnTo>
                  <a:lnTo>
                    <a:pt x="17820" y="16971"/>
                  </a:lnTo>
                  <a:lnTo>
                    <a:pt x="15660" y="16971"/>
                  </a:lnTo>
                  <a:close/>
                </a:path>
                <a:path w="21600" h="21600" extrusionOk="0">
                  <a:moveTo>
                    <a:pt x="17820" y="16971"/>
                  </a:moveTo>
                  <a:lnTo>
                    <a:pt x="17820" y="18514"/>
                  </a:lnTo>
                  <a:lnTo>
                    <a:pt x="19980" y="18514"/>
                  </a:lnTo>
                  <a:lnTo>
                    <a:pt x="19980" y="16971"/>
                  </a:lnTo>
                  <a:lnTo>
                    <a:pt x="17820" y="16971"/>
                  </a:lnTo>
                  <a:close/>
                </a:path>
                <a:path w="21600" h="21600" extrusionOk="0">
                  <a:moveTo>
                    <a:pt x="1620" y="18514"/>
                  </a:moveTo>
                  <a:lnTo>
                    <a:pt x="1620" y="20057"/>
                  </a:lnTo>
                  <a:lnTo>
                    <a:pt x="3779" y="20057"/>
                  </a:lnTo>
                  <a:lnTo>
                    <a:pt x="3779" y="18514"/>
                  </a:lnTo>
                  <a:lnTo>
                    <a:pt x="1620" y="18514"/>
                  </a:lnTo>
                  <a:close/>
                </a:path>
                <a:path w="21600" h="21600" extrusionOk="0">
                  <a:moveTo>
                    <a:pt x="3779" y="18514"/>
                  </a:moveTo>
                  <a:lnTo>
                    <a:pt x="3779" y="20057"/>
                  </a:lnTo>
                  <a:lnTo>
                    <a:pt x="5940" y="20057"/>
                  </a:lnTo>
                  <a:lnTo>
                    <a:pt x="5940" y="18514"/>
                  </a:lnTo>
                  <a:lnTo>
                    <a:pt x="3779" y="18514"/>
                  </a:lnTo>
                  <a:close/>
                </a:path>
                <a:path w="21600" h="21600" extrusionOk="0">
                  <a:moveTo>
                    <a:pt x="5940" y="18514"/>
                  </a:moveTo>
                  <a:lnTo>
                    <a:pt x="5940" y="20057"/>
                  </a:lnTo>
                  <a:lnTo>
                    <a:pt x="8100" y="20057"/>
                  </a:lnTo>
                  <a:lnTo>
                    <a:pt x="8100" y="18514"/>
                  </a:lnTo>
                  <a:lnTo>
                    <a:pt x="5940" y="18514"/>
                  </a:lnTo>
                  <a:close/>
                </a:path>
                <a:path w="21600" h="21600" extrusionOk="0">
                  <a:moveTo>
                    <a:pt x="8100" y="18514"/>
                  </a:moveTo>
                  <a:lnTo>
                    <a:pt x="8100" y="20057"/>
                  </a:lnTo>
                  <a:lnTo>
                    <a:pt x="10260" y="20057"/>
                  </a:lnTo>
                  <a:lnTo>
                    <a:pt x="10260" y="18514"/>
                  </a:lnTo>
                  <a:lnTo>
                    <a:pt x="8100" y="18514"/>
                  </a:lnTo>
                  <a:close/>
                </a:path>
                <a:path w="21600" h="21600" extrusionOk="0">
                  <a:moveTo>
                    <a:pt x="10260" y="18514"/>
                  </a:moveTo>
                  <a:lnTo>
                    <a:pt x="10260" y="20057"/>
                  </a:lnTo>
                  <a:lnTo>
                    <a:pt x="12419" y="20057"/>
                  </a:lnTo>
                  <a:lnTo>
                    <a:pt x="12419" y="18514"/>
                  </a:lnTo>
                  <a:lnTo>
                    <a:pt x="10260" y="18514"/>
                  </a:lnTo>
                  <a:close/>
                </a:path>
                <a:path w="21600" h="21600" extrusionOk="0">
                  <a:moveTo>
                    <a:pt x="12419" y="18514"/>
                  </a:moveTo>
                  <a:lnTo>
                    <a:pt x="12419" y="20057"/>
                  </a:lnTo>
                  <a:lnTo>
                    <a:pt x="14580" y="20057"/>
                  </a:lnTo>
                  <a:lnTo>
                    <a:pt x="14580" y="18514"/>
                  </a:lnTo>
                  <a:lnTo>
                    <a:pt x="12419" y="18514"/>
                  </a:lnTo>
                  <a:close/>
                </a:path>
                <a:path w="21600" h="21600" extrusionOk="0">
                  <a:moveTo>
                    <a:pt x="14580" y="18514"/>
                  </a:moveTo>
                  <a:lnTo>
                    <a:pt x="14580" y="20057"/>
                  </a:lnTo>
                  <a:lnTo>
                    <a:pt x="16740" y="20057"/>
                  </a:lnTo>
                  <a:lnTo>
                    <a:pt x="16740" y="18514"/>
                  </a:lnTo>
                  <a:lnTo>
                    <a:pt x="14580" y="18514"/>
                  </a:lnTo>
                  <a:close/>
                </a:path>
                <a:path w="21600" h="21600" extrusionOk="0">
                  <a:moveTo>
                    <a:pt x="16740" y="18514"/>
                  </a:moveTo>
                  <a:lnTo>
                    <a:pt x="16740" y="20057"/>
                  </a:lnTo>
                  <a:lnTo>
                    <a:pt x="18900" y="20057"/>
                  </a:lnTo>
                  <a:lnTo>
                    <a:pt x="18900" y="18514"/>
                  </a:lnTo>
                  <a:lnTo>
                    <a:pt x="16740" y="18514"/>
                  </a:lnTo>
                  <a:close/>
                </a:path>
                <a:path w="21600" h="21600" extrusionOk="0">
                  <a:moveTo>
                    <a:pt x="18900" y="18514"/>
                  </a:moveTo>
                  <a:lnTo>
                    <a:pt x="18900" y="20057"/>
                  </a:lnTo>
                  <a:lnTo>
                    <a:pt x="21060" y="20057"/>
                  </a:lnTo>
                  <a:lnTo>
                    <a:pt x="21060" y="18514"/>
                  </a:lnTo>
                  <a:lnTo>
                    <a:pt x="18900" y="18514"/>
                  </a:lnTo>
                  <a:close/>
                </a:path>
                <a:path w="21600" h="21600" extrusionOk="0">
                  <a:moveTo>
                    <a:pt x="540" y="20057"/>
                  </a:moveTo>
                  <a:lnTo>
                    <a:pt x="540" y="21600"/>
                  </a:lnTo>
                  <a:lnTo>
                    <a:pt x="2700" y="21600"/>
                  </a:lnTo>
                  <a:lnTo>
                    <a:pt x="2700" y="20057"/>
                  </a:lnTo>
                  <a:lnTo>
                    <a:pt x="540" y="20057"/>
                  </a:lnTo>
                  <a:close/>
                </a:path>
                <a:path w="21600" h="21600" extrusionOk="0">
                  <a:moveTo>
                    <a:pt x="2700" y="20057"/>
                  </a:moveTo>
                  <a:lnTo>
                    <a:pt x="2700" y="21600"/>
                  </a:lnTo>
                  <a:lnTo>
                    <a:pt x="4860" y="21600"/>
                  </a:lnTo>
                  <a:lnTo>
                    <a:pt x="4860" y="20057"/>
                  </a:lnTo>
                  <a:lnTo>
                    <a:pt x="2700" y="20057"/>
                  </a:lnTo>
                  <a:close/>
                </a:path>
                <a:path w="21600" h="21600" extrusionOk="0">
                  <a:moveTo>
                    <a:pt x="4860" y="20057"/>
                  </a:moveTo>
                  <a:lnTo>
                    <a:pt x="4860" y="21600"/>
                  </a:lnTo>
                  <a:lnTo>
                    <a:pt x="7020" y="21600"/>
                  </a:lnTo>
                  <a:lnTo>
                    <a:pt x="7020" y="20057"/>
                  </a:lnTo>
                  <a:lnTo>
                    <a:pt x="4860" y="20057"/>
                  </a:lnTo>
                  <a:close/>
                </a:path>
                <a:path w="21600" h="21600" extrusionOk="0">
                  <a:moveTo>
                    <a:pt x="7020" y="20057"/>
                  </a:moveTo>
                  <a:lnTo>
                    <a:pt x="7020" y="21600"/>
                  </a:lnTo>
                  <a:lnTo>
                    <a:pt x="9180" y="21600"/>
                  </a:lnTo>
                  <a:lnTo>
                    <a:pt x="9180" y="20057"/>
                  </a:lnTo>
                  <a:lnTo>
                    <a:pt x="7020" y="20057"/>
                  </a:lnTo>
                  <a:close/>
                </a:path>
                <a:path w="21600" h="21600" extrusionOk="0">
                  <a:moveTo>
                    <a:pt x="9180" y="20057"/>
                  </a:moveTo>
                  <a:lnTo>
                    <a:pt x="9180" y="21600"/>
                  </a:lnTo>
                  <a:lnTo>
                    <a:pt x="11340" y="21600"/>
                  </a:lnTo>
                  <a:lnTo>
                    <a:pt x="11340" y="20057"/>
                  </a:lnTo>
                  <a:lnTo>
                    <a:pt x="9180" y="20057"/>
                  </a:lnTo>
                  <a:close/>
                </a:path>
                <a:path w="21600" h="21600" extrusionOk="0">
                  <a:moveTo>
                    <a:pt x="11340" y="20057"/>
                  </a:moveTo>
                  <a:lnTo>
                    <a:pt x="11340" y="21600"/>
                  </a:lnTo>
                  <a:lnTo>
                    <a:pt x="13500" y="21600"/>
                  </a:lnTo>
                  <a:lnTo>
                    <a:pt x="13500" y="20057"/>
                  </a:lnTo>
                  <a:lnTo>
                    <a:pt x="11340" y="20057"/>
                  </a:lnTo>
                  <a:close/>
                </a:path>
                <a:path w="21600" h="21600" extrusionOk="0">
                  <a:moveTo>
                    <a:pt x="13500" y="20057"/>
                  </a:moveTo>
                  <a:lnTo>
                    <a:pt x="13500" y="21600"/>
                  </a:lnTo>
                  <a:lnTo>
                    <a:pt x="15660" y="21600"/>
                  </a:lnTo>
                  <a:lnTo>
                    <a:pt x="15660" y="20057"/>
                  </a:lnTo>
                  <a:lnTo>
                    <a:pt x="13500" y="20057"/>
                  </a:lnTo>
                  <a:close/>
                </a:path>
                <a:path w="21600" h="21600" extrusionOk="0">
                  <a:moveTo>
                    <a:pt x="15660" y="20057"/>
                  </a:moveTo>
                  <a:lnTo>
                    <a:pt x="15660" y="21600"/>
                  </a:lnTo>
                  <a:lnTo>
                    <a:pt x="17820" y="21600"/>
                  </a:lnTo>
                  <a:lnTo>
                    <a:pt x="17820" y="20057"/>
                  </a:lnTo>
                  <a:lnTo>
                    <a:pt x="15660" y="20057"/>
                  </a:lnTo>
                  <a:close/>
                </a:path>
                <a:path w="21600" h="21600" extrusionOk="0">
                  <a:moveTo>
                    <a:pt x="17820" y="20057"/>
                  </a:moveTo>
                  <a:lnTo>
                    <a:pt x="17820" y="21600"/>
                  </a:lnTo>
                  <a:lnTo>
                    <a:pt x="19980" y="21600"/>
                  </a:lnTo>
                  <a:lnTo>
                    <a:pt x="19980" y="20057"/>
                  </a:lnTo>
                  <a:lnTo>
                    <a:pt x="17820" y="20057"/>
                  </a:lnTo>
                  <a:close/>
                </a:path>
                <a:path w="21600" h="21600" extrusionOk="0">
                  <a:moveTo>
                    <a:pt x="19980" y="4628"/>
                  </a:moveTo>
                  <a:lnTo>
                    <a:pt x="21060" y="4628"/>
                  </a:lnTo>
                  <a:lnTo>
                    <a:pt x="21060" y="6171"/>
                  </a:lnTo>
                  <a:lnTo>
                    <a:pt x="19980" y="6171"/>
                  </a:lnTo>
                  <a:lnTo>
                    <a:pt x="19980" y="4628"/>
                  </a:lnTo>
                  <a:close/>
                </a:path>
              </a:pathLst>
            </a:custGeom>
            <a:solidFill>
              <a:srgbClr val="996633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4" name="Text Box 6"/>
            <p:cNvSpPr txBox="1">
              <a:spLocks noChangeArrowheads="1"/>
            </p:cNvSpPr>
            <p:nvPr/>
          </p:nvSpPr>
          <p:spPr bwMode="auto">
            <a:xfrm>
              <a:off x="2880" y="4018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Web Server</a:t>
              </a:r>
              <a:endParaRPr lang="en-US" altLang="en-US"/>
            </a:p>
          </p:txBody>
        </p:sp>
      </p:grpSp>
      <p:sp>
        <p:nvSpPr>
          <p:cNvPr id="13317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48200" y="1524000"/>
            <a:ext cx="1022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Attacker</a:t>
            </a:r>
            <a:endParaRPr lang="en-US" altLang="en-US"/>
          </a:p>
        </p:txBody>
      </p:sp>
      <p:grpSp>
        <p:nvGrpSpPr>
          <p:cNvPr id="13318" name="Group 8"/>
          <p:cNvGrpSpPr/>
          <p:nvPr>
            <p:custDataLst>
              <p:tags r:id="rId5"/>
            </p:custDataLst>
          </p:nvPr>
        </p:nvGrpSpPr>
        <p:grpSpPr bwMode="auto">
          <a:xfrm>
            <a:off x="4419600" y="1905000"/>
            <a:ext cx="3930650" cy="4449763"/>
            <a:chOff x="2863" y="851"/>
            <a:chExt cx="2465" cy="2941"/>
          </a:xfrm>
        </p:grpSpPr>
        <p:sp>
          <p:nvSpPr>
            <p:cNvPr id="13320" name="Text Box 9"/>
            <p:cNvSpPr txBox="1">
              <a:spLocks noChangeArrowheads="1"/>
            </p:cNvSpPr>
            <p:nvPr/>
          </p:nvSpPr>
          <p:spPr bwMode="auto">
            <a:xfrm>
              <a:off x="4451" y="3561"/>
              <a:ext cx="7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DB Server</a:t>
              </a:r>
              <a:endParaRPr lang="en-US" altLang="en-US"/>
            </a:p>
          </p:txBody>
        </p:sp>
        <p:pic>
          <p:nvPicPr>
            <p:cNvPr id="13321" name="Picture 10" descr="MCj04042610000[1]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3" y="888"/>
              <a:ext cx="916" cy="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2" name="Picture 11" descr="MCj04041590000[1]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5" y="2764"/>
              <a:ext cx="820" cy="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3" name="Picture 12" descr="MCj04041590000[1]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8" y="2753"/>
              <a:ext cx="820" cy="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24" name="Text Box 13"/>
            <p:cNvSpPr txBox="1">
              <a:spLocks noChangeArrowheads="1"/>
            </p:cNvSpPr>
            <p:nvPr/>
          </p:nvSpPr>
          <p:spPr bwMode="auto">
            <a:xfrm>
              <a:off x="4055" y="2192"/>
              <a:ext cx="6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Firewall</a:t>
              </a:r>
              <a:endParaRPr lang="en-US" altLang="en-US"/>
            </a:p>
          </p:txBody>
        </p:sp>
        <p:sp>
          <p:nvSpPr>
            <p:cNvPr id="13325" name="Line 14"/>
            <p:cNvSpPr>
              <a:spLocks noChangeShapeType="1"/>
            </p:cNvSpPr>
            <p:nvPr/>
          </p:nvSpPr>
          <p:spPr bwMode="auto">
            <a:xfrm flipH="1">
              <a:off x="3312" y="1811"/>
              <a:ext cx="7" cy="10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326" name="Line 15"/>
            <p:cNvSpPr>
              <a:spLocks noChangeShapeType="1"/>
            </p:cNvSpPr>
            <p:nvPr/>
          </p:nvSpPr>
          <p:spPr bwMode="auto">
            <a:xfrm flipV="1">
              <a:off x="3738" y="3222"/>
              <a:ext cx="67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327" name="Rectangle 16"/>
            <p:cNvSpPr>
              <a:spLocks noChangeArrowheads="1"/>
            </p:cNvSpPr>
            <p:nvPr/>
          </p:nvSpPr>
          <p:spPr bwMode="auto">
            <a:xfrm>
              <a:off x="3936" y="851"/>
              <a:ext cx="1392" cy="1008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8" name="Rectangle 17"/>
            <p:cNvSpPr>
              <a:spLocks noChangeArrowheads="1"/>
            </p:cNvSpPr>
            <p:nvPr/>
          </p:nvSpPr>
          <p:spPr bwMode="auto">
            <a:xfrm>
              <a:off x="4464" y="1043"/>
              <a:ext cx="720" cy="19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9" name="Text Box 18"/>
            <p:cNvSpPr txBox="1">
              <a:spLocks noChangeArrowheads="1"/>
            </p:cNvSpPr>
            <p:nvPr/>
          </p:nvSpPr>
          <p:spPr bwMode="auto">
            <a:xfrm>
              <a:off x="4032" y="1043"/>
              <a:ext cx="4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User</a:t>
              </a:r>
              <a:endParaRPr lang="en-US" altLang="en-US"/>
            </a:p>
          </p:txBody>
        </p:sp>
        <p:sp>
          <p:nvSpPr>
            <p:cNvPr id="13330" name="Rectangle 19"/>
            <p:cNvSpPr>
              <a:spLocks noChangeArrowheads="1"/>
            </p:cNvSpPr>
            <p:nvPr/>
          </p:nvSpPr>
          <p:spPr bwMode="auto">
            <a:xfrm>
              <a:off x="4464" y="1379"/>
              <a:ext cx="720" cy="19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1" name="Text Box 20"/>
            <p:cNvSpPr txBox="1">
              <a:spLocks noChangeArrowheads="1"/>
            </p:cNvSpPr>
            <p:nvPr/>
          </p:nvSpPr>
          <p:spPr bwMode="auto">
            <a:xfrm>
              <a:off x="4024" y="1379"/>
              <a:ext cx="4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Pass</a:t>
              </a:r>
              <a:endParaRPr lang="en-US" altLang="en-US"/>
            </a:p>
          </p:txBody>
        </p:sp>
        <p:sp>
          <p:nvSpPr>
            <p:cNvPr id="13332" name="Rectangle 21"/>
            <p:cNvSpPr>
              <a:spLocks noChangeArrowheads="1"/>
            </p:cNvSpPr>
            <p:nvPr/>
          </p:nvSpPr>
          <p:spPr bwMode="auto">
            <a:xfrm>
              <a:off x="4467" y="1354"/>
              <a:ext cx="6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altLang="en-US"/>
                <a:t>‘ or 1=1--</a:t>
              </a:r>
              <a:endParaRPr lang="en-US" altLang="en-US"/>
            </a:p>
          </p:txBody>
        </p:sp>
      </p:grpSp>
      <p:sp>
        <p:nvSpPr>
          <p:cNvPr id="13319" name="Rectangle 23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248400" y="1752600"/>
            <a:ext cx="865188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F0000"/>
                </a:solidFill>
              </a:rPr>
              <a:t>Form</a:t>
            </a:r>
            <a:endParaRPr lang="en-US" altLang="en-US" sz="16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Tm="15412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/>
              <a:t>SQL Injection in PHP</a:t>
            </a:r>
            <a:endParaRPr lang="en-US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457200" y="1735138"/>
            <a:ext cx="8229600" cy="439578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100"/>
              <a:t>$link = </a:t>
            </a:r>
            <a:r>
              <a:rPr lang="en-US" altLang="en-US" sz="2100">
                <a:solidFill>
                  <a:srgbClr val="0070C0"/>
                </a:solidFill>
              </a:rPr>
              <a:t>mysql_connect</a:t>
            </a:r>
            <a:r>
              <a:rPr lang="en-US" altLang="en-US" sz="2100"/>
              <a:t>($DB_HOST, $DB_USERNAME, $DB_PASSWORD) or die ("Couldn't connect: " . mysql_error());</a:t>
            </a:r>
            <a:endParaRPr lang="en-US" altLang="en-US" sz="21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100">
                <a:solidFill>
                  <a:srgbClr val="0070C0"/>
                </a:solidFill>
              </a:rPr>
              <a:t>mysql_select_db</a:t>
            </a:r>
            <a:r>
              <a:rPr lang="en-US" altLang="en-US" sz="2100"/>
              <a:t>($DB_DATABASE);</a:t>
            </a:r>
            <a:endParaRPr lang="en-US" altLang="en-US" sz="21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100"/>
              <a:t>$query = "select count(*) from users where username = '$username' and password = '$password‘ ";</a:t>
            </a:r>
            <a:endParaRPr lang="en-US" altLang="en-US" sz="21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100"/>
              <a:t>$result = </a:t>
            </a:r>
            <a:r>
              <a:rPr lang="en-US" altLang="en-US" sz="2100">
                <a:solidFill>
                  <a:srgbClr val="0070C0"/>
                </a:solidFill>
              </a:rPr>
              <a:t>mysql_query</a:t>
            </a:r>
            <a:r>
              <a:rPr lang="en-US" altLang="en-US" sz="2100"/>
              <a:t>($query);</a:t>
            </a:r>
            <a:endParaRPr lang="en-US" altLang="en-US" sz="2100"/>
          </a:p>
        </p:txBody>
      </p:sp>
      <p:sp>
        <p:nvSpPr>
          <p:cNvPr id="1434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477000" y="2971800"/>
            <a:ext cx="1309688" cy="284163"/>
          </a:xfrm>
          <a:prstGeom prst="rect">
            <a:avLst/>
          </a:prstGeom>
          <a:solidFill>
            <a:srgbClr val="FFFF00">
              <a:alpha val="6784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1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flipV="1">
            <a:off x="2209800" y="3276600"/>
            <a:ext cx="1295400" cy="304800"/>
          </a:xfrm>
          <a:prstGeom prst="rect">
            <a:avLst/>
          </a:prstGeom>
          <a:solidFill>
            <a:srgbClr val="FFFF00">
              <a:alpha val="6784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Tm="7436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/>
              <a:t>SQL Injection Attack #1</a:t>
            </a:r>
            <a:endParaRPr lang="en-US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457200" y="1776413"/>
            <a:ext cx="8229600" cy="43545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Unauthorized Access Attempt:</a:t>
            </a:r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password =</a:t>
            </a:r>
            <a:r>
              <a:rPr lang="en-US" altLang="en-US" b="1"/>
              <a:t> ’ or 1=1 --</a:t>
            </a:r>
            <a:endParaRPr lang="en-US" altLang="en-US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SQL statement becomes:</a:t>
            </a:r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b="1"/>
              <a:t>select count(*) from </a:t>
            </a:r>
            <a:r>
              <a:rPr lang="en-US" altLang="en-US" i="1"/>
              <a:t>users </a:t>
            </a:r>
            <a:r>
              <a:rPr lang="en-US" altLang="en-US" b="1"/>
              <a:t>where </a:t>
            </a:r>
            <a:r>
              <a:rPr lang="en-US" altLang="en-US" i="1"/>
              <a:t>username = ‘user’ </a:t>
            </a:r>
            <a:r>
              <a:rPr lang="en-US" altLang="en-US" b="1"/>
              <a:t>and</a:t>
            </a:r>
            <a:r>
              <a:rPr lang="en-US" altLang="en-US" i="1"/>
              <a:t> password = ‘’ </a:t>
            </a:r>
            <a:r>
              <a:rPr lang="en-US" altLang="en-US" b="1"/>
              <a:t>or 1=1 --</a:t>
            </a:r>
            <a:endParaRPr lang="en-US" altLang="en-US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/>
              <a:t>Checks if password is empty OR 1=1, which is always true, permitting access.</a:t>
            </a:r>
            <a:endParaRPr lang="en-US" altLang="en-US"/>
          </a:p>
          <a:p>
            <a:pPr lvl="1" eaLnBrk="1" hangingPunct="1"/>
            <a:endParaRPr lang="en-US" altLang="en-US"/>
          </a:p>
        </p:txBody>
      </p:sp>
      <p:sp>
        <p:nvSpPr>
          <p:cNvPr id="1536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71800" y="2362200"/>
            <a:ext cx="1701800" cy="381000"/>
          </a:xfrm>
          <a:prstGeom prst="rect">
            <a:avLst/>
          </a:prstGeom>
          <a:solidFill>
            <a:srgbClr val="FFFF00">
              <a:alpha val="6784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5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870200" y="3733800"/>
            <a:ext cx="1701800" cy="381000"/>
          </a:xfrm>
          <a:prstGeom prst="rect">
            <a:avLst/>
          </a:prstGeom>
          <a:solidFill>
            <a:srgbClr val="FFFF00">
              <a:alpha val="6784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Tm="78098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/>
              <a:t>SQL Injection Attack #2</a:t>
            </a:r>
            <a:endParaRPr lang="en-US" alt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457200" y="1755775"/>
            <a:ext cx="8229600" cy="43751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Database Modification Attack:</a:t>
            </a:r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>
                <a:latin typeface="Courier New" panose="02070309020205020404" pitchFamily="49" charset="0"/>
              </a:rPr>
              <a:t>password = </a:t>
            </a:r>
            <a:r>
              <a:rPr lang="en-US" altLang="en-US" sz="2200" b="1"/>
              <a:t> </a:t>
            </a:r>
            <a:r>
              <a:rPr lang="en-US" altLang="en-US" sz="2200"/>
              <a:t>foo’; </a:t>
            </a:r>
            <a:r>
              <a:rPr lang="en-US" altLang="en-US" sz="2200" b="1"/>
              <a:t>delete from table</a:t>
            </a:r>
            <a:r>
              <a:rPr lang="en-US" altLang="en-US" sz="2200"/>
              <a:t> </a:t>
            </a:r>
            <a:r>
              <a:rPr lang="en-US" altLang="en-US" sz="2200" i="1"/>
              <a:t>users</a:t>
            </a:r>
            <a:r>
              <a:rPr lang="en-US" altLang="en-US" sz="2200"/>
              <a:t> </a:t>
            </a:r>
            <a:endParaRPr lang="en-US" altLang="en-US" sz="22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b="1"/>
              <a:t>where</a:t>
            </a:r>
            <a:r>
              <a:rPr lang="en-US" altLang="en-US" sz="2200"/>
              <a:t> </a:t>
            </a:r>
            <a:r>
              <a:rPr lang="en-US" altLang="en-US" sz="2200" i="1"/>
              <a:t>username</a:t>
            </a:r>
            <a:r>
              <a:rPr lang="en-US" altLang="en-US" sz="2200"/>
              <a:t> </a:t>
            </a:r>
            <a:r>
              <a:rPr lang="en-US" altLang="en-US" sz="2200" b="1"/>
              <a:t>like</a:t>
            </a:r>
            <a:r>
              <a:rPr lang="en-US" altLang="en-US" sz="2200"/>
              <a:t> ‘%</a:t>
            </a:r>
            <a:endParaRPr lang="en-US" altLang="en-US" sz="22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DB executes </a:t>
            </a:r>
            <a:r>
              <a:rPr lang="en-US" altLang="en-US" b="1" i="1"/>
              <a:t>two</a:t>
            </a:r>
            <a:r>
              <a:rPr lang="en-US" altLang="en-US"/>
              <a:t> SQL statements:</a:t>
            </a:r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b="1"/>
              <a:t>select count(*) from </a:t>
            </a:r>
            <a:r>
              <a:rPr lang="en-US" altLang="en-US" sz="2200" i="1"/>
              <a:t>users </a:t>
            </a:r>
            <a:r>
              <a:rPr lang="en-US" altLang="en-US" sz="2200" b="1"/>
              <a:t>where </a:t>
            </a:r>
            <a:r>
              <a:rPr lang="en-US" altLang="en-US" sz="2200" i="1"/>
              <a:t>username = ‘user’ </a:t>
            </a:r>
            <a:r>
              <a:rPr lang="en-US" altLang="en-US" sz="2200" b="1"/>
              <a:t>and</a:t>
            </a:r>
            <a:r>
              <a:rPr lang="en-US" altLang="en-US" sz="2200" i="1"/>
              <a:t> password = ‘foo’</a:t>
            </a:r>
            <a:endParaRPr lang="en-US" altLang="en-US" sz="2200" i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b="1"/>
              <a:t>delete from table</a:t>
            </a:r>
            <a:r>
              <a:rPr lang="en-US" altLang="en-US" sz="2200"/>
              <a:t> </a:t>
            </a:r>
            <a:r>
              <a:rPr lang="en-US" altLang="en-US" sz="2200" i="1"/>
              <a:t>users</a:t>
            </a:r>
            <a:r>
              <a:rPr lang="en-US" altLang="en-US" sz="2200"/>
              <a:t> </a:t>
            </a:r>
            <a:r>
              <a:rPr lang="en-US" altLang="en-US" sz="2200" b="1"/>
              <a:t>where</a:t>
            </a:r>
            <a:r>
              <a:rPr lang="en-US" altLang="en-US" sz="2200"/>
              <a:t> </a:t>
            </a:r>
            <a:r>
              <a:rPr lang="en-US" altLang="en-US" sz="2200" i="1"/>
              <a:t>username</a:t>
            </a:r>
            <a:r>
              <a:rPr lang="en-US" altLang="en-US" sz="2200"/>
              <a:t> </a:t>
            </a:r>
            <a:r>
              <a:rPr lang="en-US" altLang="en-US" sz="2200" b="1"/>
              <a:t>like</a:t>
            </a:r>
            <a:r>
              <a:rPr lang="en-US" altLang="en-US" sz="2200"/>
              <a:t> ‘%’</a:t>
            </a:r>
            <a:endParaRPr lang="en-US" altLang="en-US" sz="2200"/>
          </a:p>
        </p:txBody>
      </p:sp>
      <p:sp>
        <p:nvSpPr>
          <p:cNvPr id="1638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43200" y="2286000"/>
            <a:ext cx="4740275" cy="347663"/>
          </a:xfrm>
          <a:prstGeom prst="rect">
            <a:avLst/>
          </a:prstGeom>
          <a:solidFill>
            <a:srgbClr val="FFFF00">
              <a:alpha val="6784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89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2743200"/>
            <a:ext cx="2743200" cy="322263"/>
          </a:xfrm>
          <a:prstGeom prst="rect">
            <a:avLst/>
          </a:prstGeom>
          <a:solidFill>
            <a:srgbClr val="FFFF00">
              <a:alpha val="6784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0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304925" y="4038600"/>
            <a:ext cx="523875" cy="328613"/>
          </a:xfrm>
          <a:prstGeom prst="rect">
            <a:avLst/>
          </a:prstGeom>
          <a:solidFill>
            <a:srgbClr val="FFFF00">
              <a:alpha val="6784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1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38200" y="4419600"/>
            <a:ext cx="6332538" cy="357188"/>
          </a:xfrm>
          <a:prstGeom prst="rect">
            <a:avLst/>
          </a:prstGeom>
          <a:solidFill>
            <a:srgbClr val="FFFF00">
              <a:alpha val="6784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Tm="84971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800" dirty="0"/>
              <a:t>Exploits of a Mom</a:t>
            </a:r>
            <a:endParaRPr lang="en-US" altLang="en-US" sz="3800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50" y="2270125"/>
            <a:ext cx="7943850" cy="244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16104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800"/>
              <a:t>Injecting into SELECT</a:t>
            </a:r>
            <a:endParaRPr lang="en-US" altLang="en-US" sz="3800"/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685800" y="1676400"/>
            <a:ext cx="7924800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Most common SQL entry point.</a:t>
            </a:r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SELECT </a:t>
            </a:r>
            <a:r>
              <a:rPr lang="en-US" altLang="en-US" i="1">
                <a:latin typeface="Courier New" panose="02070309020205020404" pitchFamily="49" charset="0"/>
              </a:rPr>
              <a:t>columns</a:t>
            </a:r>
            <a:endParaRPr lang="en-US" altLang="en-US" i="1">
              <a:latin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FROM </a:t>
            </a:r>
            <a:r>
              <a:rPr lang="en-US" altLang="en-US" i="1">
                <a:latin typeface="Courier New" panose="02070309020205020404" pitchFamily="49" charset="0"/>
              </a:rPr>
              <a:t>table</a:t>
            </a:r>
            <a:endParaRPr lang="en-US" altLang="en-US" i="1">
              <a:latin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WHERE </a:t>
            </a:r>
            <a:r>
              <a:rPr lang="en-US" altLang="en-US" i="1">
                <a:latin typeface="Courier New" panose="02070309020205020404" pitchFamily="49" charset="0"/>
              </a:rPr>
              <a:t>expression</a:t>
            </a:r>
            <a:endParaRPr lang="en-US" altLang="en-US" i="1">
              <a:latin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ORDER BY </a:t>
            </a:r>
            <a:r>
              <a:rPr lang="en-US" altLang="en-US" i="1">
                <a:latin typeface="Courier New" panose="02070309020205020404" pitchFamily="49" charset="0"/>
              </a:rPr>
              <a:t>expression</a:t>
            </a:r>
            <a:endParaRPr lang="en-US" altLang="en-US" i="1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Places where user input is inserted:</a:t>
            </a:r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WHERE</a:t>
            </a:r>
            <a:r>
              <a:rPr lang="en-US" altLang="en-US"/>
              <a:t> expression</a:t>
            </a:r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ORDER BY</a:t>
            </a:r>
            <a:r>
              <a:rPr lang="en-US" altLang="en-US"/>
              <a:t> expression</a:t>
            </a:r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/>
              <a:t>Table or column names</a:t>
            </a:r>
            <a:endParaRPr lang="en-US" altLang="en-US"/>
          </a:p>
        </p:txBody>
      </p:sp>
    </p:spTree>
  </p:cSld>
  <p:clrMapOvr>
    <a:masterClrMapping/>
  </p:clrMapOvr>
  <p:transition advTm="81935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800"/>
              <a:t>Injecting into INSERT</a:t>
            </a:r>
            <a:endParaRPr lang="en-US" altLang="en-US" sz="3800"/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/>
              <a:t>Creates a new data row in a table.</a:t>
            </a:r>
            <a:endParaRPr lang="en-US" altLang="en-US" sz="26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>
                <a:latin typeface="Courier New" panose="02070309020205020404" pitchFamily="49" charset="0"/>
              </a:rPr>
              <a:t>INSERT INTO </a:t>
            </a:r>
            <a:r>
              <a:rPr lang="en-US" altLang="en-US" sz="2200" i="1">
                <a:latin typeface="Courier New" panose="02070309020205020404" pitchFamily="49" charset="0"/>
              </a:rPr>
              <a:t>table</a:t>
            </a:r>
            <a:r>
              <a:rPr lang="en-US" altLang="en-US" sz="2200">
                <a:latin typeface="Courier New" panose="02070309020205020404" pitchFamily="49" charset="0"/>
              </a:rPr>
              <a:t> (</a:t>
            </a:r>
            <a:r>
              <a:rPr lang="en-US" altLang="en-US" sz="2200" i="1">
                <a:latin typeface="Courier New" panose="02070309020205020404" pitchFamily="49" charset="0"/>
              </a:rPr>
              <a:t>col1</a:t>
            </a:r>
            <a:r>
              <a:rPr lang="en-US" altLang="en-US" sz="2200">
                <a:latin typeface="Courier New" panose="02070309020205020404" pitchFamily="49" charset="0"/>
              </a:rPr>
              <a:t>, </a:t>
            </a:r>
            <a:r>
              <a:rPr lang="en-US" altLang="en-US" sz="2200" i="1">
                <a:latin typeface="Courier New" panose="02070309020205020404" pitchFamily="49" charset="0"/>
              </a:rPr>
              <a:t>col2</a:t>
            </a:r>
            <a:r>
              <a:rPr lang="en-US" altLang="en-US" sz="2200">
                <a:latin typeface="Courier New" panose="02070309020205020404" pitchFamily="49" charset="0"/>
              </a:rPr>
              <a:t>, ...)</a:t>
            </a:r>
            <a:endParaRPr lang="en-US" altLang="en-US" sz="2200">
              <a:latin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>
                <a:latin typeface="Courier New" panose="02070309020205020404" pitchFamily="49" charset="0"/>
              </a:rPr>
              <a:t>	VALUES (</a:t>
            </a:r>
            <a:r>
              <a:rPr lang="en-US" altLang="en-US" sz="2200" i="1">
                <a:latin typeface="Courier New" panose="02070309020205020404" pitchFamily="49" charset="0"/>
              </a:rPr>
              <a:t>val1</a:t>
            </a:r>
            <a:r>
              <a:rPr lang="en-US" altLang="en-US" sz="2200">
                <a:latin typeface="Courier New" panose="02070309020205020404" pitchFamily="49" charset="0"/>
              </a:rPr>
              <a:t>, </a:t>
            </a:r>
            <a:r>
              <a:rPr lang="en-US" altLang="en-US" sz="2200" i="1">
                <a:latin typeface="Courier New" panose="02070309020205020404" pitchFamily="49" charset="0"/>
              </a:rPr>
              <a:t>val2</a:t>
            </a:r>
            <a:r>
              <a:rPr lang="en-US" altLang="en-US" sz="2200">
                <a:latin typeface="Courier New" panose="02070309020205020404" pitchFamily="49" charset="0"/>
              </a:rPr>
              <a:t>, ...)</a:t>
            </a:r>
            <a:endParaRPr lang="en-US" altLang="en-US" sz="220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/>
              <a:t>Requirements</a:t>
            </a:r>
            <a:endParaRPr lang="en-US" altLang="en-US" sz="26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Number of values must match # columns.</a:t>
            </a:r>
            <a:endParaRPr lang="en-US" altLang="en-US" sz="22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Types of values must match column types.</a:t>
            </a:r>
            <a:endParaRPr lang="en-US" altLang="en-US" sz="22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/>
              <a:t>Technique: add values until no error.</a:t>
            </a:r>
            <a:endParaRPr lang="en-US" altLang="en-US" sz="26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>
                <a:latin typeface="Courier New" panose="02070309020205020404" pitchFamily="49" charset="0"/>
              </a:rPr>
              <a:t>foo’)--</a:t>
            </a:r>
            <a:endParaRPr lang="en-US" altLang="en-US" sz="2200">
              <a:latin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>
                <a:latin typeface="Courier New" panose="02070309020205020404" pitchFamily="49" charset="0"/>
              </a:rPr>
              <a:t>foo’, 1)--</a:t>
            </a:r>
            <a:endParaRPr lang="en-US" altLang="en-US" sz="2200">
              <a:latin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>
                <a:latin typeface="Courier New" panose="02070309020205020404" pitchFamily="49" charset="0"/>
              </a:rPr>
              <a:t>foo’, 1, 1)--</a:t>
            </a:r>
            <a:endParaRPr lang="en-US" altLang="en-US" sz="22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 advTm="12426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800"/>
              <a:t>Injecting into UPDATE</a:t>
            </a:r>
            <a:endParaRPr lang="en-US" altLang="en-US" sz="3800"/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Modifies one or more rows of data.</a:t>
            </a:r>
            <a:endParaRPr lang="en-US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UPDATE </a:t>
            </a:r>
            <a:r>
              <a:rPr lang="en-US" altLang="en-US" i="1">
                <a:latin typeface="Courier New" panose="02070309020205020404" pitchFamily="49" charset="0"/>
              </a:rPr>
              <a:t>table</a:t>
            </a:r>
            <a:endParaRPr lang="en-US" altLang="en-US" i="1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SET </a:t>
            </a:r>
            <a:r>
              <a:rPr lang="en-US" altLang="en-US" i="1">
                <a:latin typeface="Courier New" panose="02070309020205020404" pitchFamily="49" charset="0"/>
              </a:rPr>
              <a:t>col1=val1</a:t>
            </a:r>
            <a:r>
              <a:rPr lang="en-US" altLang="en-US">
                <a:latin typeface="Courier New" panose="02070309020205020404" pitchFamily="49" charset="0"/>
              </a:rPr>
              <a:t>, </a:t>
            </a:r>
            <a:r>
              <a:rPr lang="en-US" altLang="en-US" i="1">
                <a:latin typeface="Courier New" panose="02070309020205020404" pitchFamily="49" charset="0"/>
              </a:rPr>
              <a:t>col2=val2</a:t>
            </a:r>
            <a:r>
              <a:rPr lang="en-US" altLang="en-US">
                <a:latin typeface="Courier New" panose="02070309020205020404" pitchFamily="49" charset="0"/>
              </a:rPr>
              <a:t>, ...</a:t>
            </a:r>
            <a:endParaRPr lang="en-US" altLang="en-US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WHERE </a:t>
            </a:r>
            <a:r>
              <a:rPr lang="en-US" altLang="en-US" i="1">
                <a:latin typeface="Courier New" panose="02070309020205020404" pitchFamily="49" charset="0"/>
              </a:rPr>
              <a:t>expression</a:t>
            </a:r>
            <a:endParaRPr lang="en-US" altLang="en-US" i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Places where input is inserted</a:t>
            </a:r>
            <a:endParaRPr lang="en-US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SET</a:t>
            </a:r>
            <a:r>
              <a:rPr lang="en-US" altLang="en-US"/>
              <a:t> clause</a:t>
            </a:r>
            <a:endParaRPr lang="en-US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WHERE</a:t>
            </a:r>
            <a:r>
              <a:rPr lang="en-US" altLang="en-US"/>
              <a:t> clause</a:t>
            </a: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Be careful with </a:t>
            </a:r>
            <a:r>
              <a:rPr lang="en-US" altLang="en-US">
                <a:latin typeface="Courier New" panose="02070309020205020404" pitchFamily="49" charset="0"/>
              </a:rPr>
              <a:t>WHERE</a:t>
            </a:r>
            <a:r>
              <a:rPr lang="en-US" altLang="en-US"/>
              <a:t> clause</a:t>
            </a:r>
            <a:endParaRPr lang="en-US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’ OR 1=1</a:t>
            </a:r>
            <a:r>
              <a:rPr lang="en-US" altLang="en-US"/>
              <a:t> will change </a:t>
            </a:r>
            <a:r>
              <a:rPr lang="en-US" altLang="en-US" b="1"/>
              <a:t>all</a:t>
            </a:r>
            <a:r>
              <a:rPr lang="en-US" altLang="en-US"/>
              <a:t> rows</a:t>
            </a:r>
            <a:endParaRPr lang="en-US" altLang="en-US"/>
          </a:p>
        </p:txBody>
      </p:sp>
    </p:spTree>
  </p:cSld>
  <p:clrMapOvr>
    <a:masterClrMapping/>
  </p:clrMapOvr>
  <p:transition advTm="71063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800" dirty="0"/>
              <a:t>Inference Attacks</a:t>
            </a:r>
            <a:endParaRPr lang="en-US" altLang="en-US" sz="3800" dirty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381000" y="1676400"/>
            <a:ext cx="8281988" cy="46148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100" dirty="0"/>
              <a:t>Problem: What if app doesn’t print data?</a:t>
            </a:r>
            <a:endParaRPr lang="en-US" altLang="en-US" sz="21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100" dirty="0"/>
              <a:t>Injection can produce detectable behavior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Successful or failed web page.</a:t>
            </a:r>
            <a:endParaRPr lang="en-US" altLang="en-US" sz="20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Noticeable time delay or absence of delay.</a:t>
            </a:r>
            <a:endParaRPr lang="en-US" altLang="en-US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100" dirty="0"/>
              <a:t>Identify an exploitable URL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http://site/blog?message=5 AND 1=1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http://site/blog?message=5 AND 1=2</a:t>
            </a:r>
            <a:endParaRPr lang="en-US" altLang="en-US" sz="20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 advTm="207608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/>
              <a:t>More Examples (1)</a:t>
            </a: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Application authentication bypass using SQL injection.  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Suppose a web form takes </a:t>
            </a:r>
            <a:r>
              <a:rPr lang="en-US" altLang="en-US" sz="2800" dirty="0" err="1">
                <a:solidFill>
                  <a:schemeClr val="accent2"/>
                </a:solidFill>
              </a:rPr>
              <a:t>userID</a:t>
            </a:r>
            <a:r>
              <a:rPr lang="en-US" altLang="en-US" sz="2800" dirty="0"/>
              <a:t> and </a:t>
            </a:r>
            <a:r>
              <a:rPr lang="en-US" altLang="en-US" sz="2800" dirty="0">
                <a:solidFill>
                  <a:schemeClr val="accent2"/>
                </a:solidFill>
              </a:rPr>
              <a:t>password</a:t>
            </a:r>
            <a:r>
              <a:rPr lang="en-US" altLang="en-US" sz="2800" dirty="0"/>
              <a:t> as input. 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The application receives a user ID and a password and authenticates the user by checking the existence of the user in the </a:t>
            </a:r>
            <a:r>
              <a:rPr lang="en-US" altLang="en-US" sz="2800" dirty="0">
                <a:solidFill>
                  <a:schemeClr val="accent2"/>
                </a:solidFill>
              </a:rPr>
              <a:t>USER table</a:t>
            </a:r>
            <a:r>
              <a:rPr lang="en-US" altLang="en-US" sz="2800" dirty="0"/>
              <a:t> and matching the data in the </a:t>
            </a:r>
            <a:r>
              <a:rPr lang="en-US" altLang="en-US" sz="2800" dirty="0">
                <a:solidFill>
                  <a:schemeClr val="accent2"/>
                </a:solidFill>
              </a:rPr>
              <a:t>PWD column</a:t>
            </a:r>
            <a:r>
              <a:rPr lang="en-US" altLang="en-US" sz="2800" dirty="0"/>
              <a:t>.  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Assume that the application is not validating what the user types into these two fields and the SQL statement is created by string concatenation.  </a:t>
            </a:r>
            <a:endParaRPr lang="en-US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6272"/>
    </mc:Choice>
    <mc:Fallback>
      <p:transition spd="slow" advTm="86272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/>
              <a:t>More Example (2)</a:t>
            </a:r>
            <a:endParaRPr lang="en-US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altLang="en-US" sz="2800"/>
              <a:t>The following code could be an example of such bad practice: </a:t>
            </a:r>
            <a:endParaRPr lang="en-US" altLang="en-US" sz="2800"/>
          </a:p>
          <a:p>
            <a:pPr eaLnBrk="1" hangingPunct="1"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sqlString = “</a:t>
            </a:r>
            <a:r>
              <a:rPr lang="en-US" altLang="en-US" sz="2400"/>
              <a:t>select USERID from USER where USERID = `</a:t>
            </a:r>
            <a:r>
              <a:rPr lang="en-US" altLang="en-US" sz="2400">
                <a:solidFill>
                  <a:schemeClr val="accent2"/>
                </a:solidFill>
              </a:rPr>
              <a:t>” &amp; </a:t>
            </a:r>
            <a:r>
              <a:rPr lang="en-US" altLang="en-US" sz="2400"/>
              <a:t>userId</a:t>
            </a:r>
            <a:r>
              <a:rPr lang="en-US" altLang="en-US" sz="2400">
                <a:solidFill>
                  <a:schemeClr val="accent2"/>
                </a:solidFill>
              </a:rPr>
              <a:t> &amp; “</a:t>
            </a:r>
            <a:r>
              <a:rPr lang="en-US" altLang="en-US" sz="2400"/>
              <a:t>` and PWD = `</a:t>
            </a:r>
            <a:r>
              <a:rPr lang="en-US" altLang="en-US" sz="2400">
                <a:solidFill>
                  <a:schemeClr val="accent2"/>
                </a:solidFill>
              </a:rPr>
              <a:t>” </a:t>
            </a:r>
            <a:r>
              <a:rPr lang="en-US" altLang="en-US" sz="2400"/>
              <a:t>&amp; pwd &amp;</a:t>
            </a:r>
            <a:r>
              <a:rPr lang="en-US" altLang="en-US" sz="2400">
                <a:solidFill>
                  <a:schemeClr val="accent2"/>
                </a:solidFill>
              </a:rPr>
              <a:t> “</a:t>
            </a:r>
            <a:r>
              <a:rPr lang="en-US" altLang="en-US" sz="2400"/>
              <a:t>`</a:t>
            </a:r>
            <a:r>
              <a:rPr lang="en-US" altLang="en-US" sz="2400">
                <a:solidFill>
                  <a:schemeClr val="accent2"/>
                </a:solidFill>
              </a:rPr>
              <a:t>”</a:t>
            </a:r>
            <a:endParaRPr lang="en-US" altLang="en-US" sz="240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result = GetQueryResult(sqlString)</a:t>
            </a:r>
            <a:endParaRPr lang="en-US" altLang="en-US" sz="240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If(result = “”) then</a:t>
            </a:r>
            <a:endParaRPr lang="en-US" altLang="en-US" sz="240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	userHasBeenAuthenticated = False</a:t>
            </a:r>
            <a:endParaRPr lang="en-US" altLang="en-US" sz="240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Else</a:t>
            </a:r>
            <a:endParaRPr lang="en-US" altLang="en-US" sz="240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	 userHasBeenAuthenticated = True</a:t>
            </a:r>
            <a:endParaRPr lang="en-US" altLang="en-US" sz="240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End If</a:t>
            </a:r>
            <a:endParaRPr lang="en-US" altLang="en-US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640"/>
    </mc:Choice>
    <mc:Fallback>
      <p:transition spd="slow" advTm="5864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/>
              <a:t>More Example (3)</a:t>
            </a:r>
            <a:endParaRPr lang="en-US" sz="4000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381000" y="1600200"/>
            <a:ext cx="8229600" cy="49831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User ID: </a:t>
            </a:r>
            <a:r>
              <a:rPr lang="en-US" altLang="en-US" sz="2800">
                <a:solidFill>
                  <a:srgbClr val="FF0000"/>
                </a:solidFill>
              </a:rPr>
              <a:t>` OR ``=`</a:t>
            </a:r>
            <a:endParaRPr lang="en-US" altLang="en-US" sz="280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Password: </a:t>
            </a:r>
            <a:r>
              <a:rPr lang="en-US" altLang="en-US" sz="2800">
                <a:solidFill>
                  <a:srgbClr val="FF0000"/>
                </a:solidFill>
              </a:rPr>
              <a:t>`OR ``=`</a:t>
            </a:r>
            <a:endParaRPr lang="en-US" altLang="en-US" sz="280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In this case the sqlString used to create the result set would be as follows:</a:t>
            </a:r>
            <a:endParaRPr lang="en-US" altLang="en-US" sz="2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select  USERID from USER where USERID = `</a:t>
            </a:r>
            <a:r>
              <a:rPr lang="en-US" altLang="en-US" sz="2000" u="sng">
                <a:solidFill>
                  <a:srgbClr val="FF0000"/>
                </a:solidFill>
              </a:rPr>
              <a:t>`OR``=`</a:t>
            </a:r>
            <a:r>
              <a:rPr lang="en-US" altLang="en-US" sz="2000">
                <a:solidFill>
                  <a:schemeClr val="accent2"/>
                </a:solidFill>
              </a:rPr>
              <a:t>`and PWD = `</a:t>
            </a:r>
            <a:r>
              <a:rPr lang="en-US" altLang="en-US" sz="2000" u="sng">
                <a:solidFill>
                  <a:srgbClr val="FF0000"/>
                </a:solidFill>
              </a:rPr>
              <a:t>` OR``=`</a:t>
            </a:r>
            <a:r>
              <a:rPr lang="en-US" altLang="en-US" sz="2000">
                <a:solidFill>
                  <a:schemeClr val="accent2"/>
                </a:solidFill>
              </a:rPr>
              <a:t>`</a:t>
            </a:r>
            <a:endParaRPr lang="en-US" altLang="en-US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select  USERID from USER where USERID = ``OR</a:t>
            </a:r>
            <a:r>
              <a:rPr lang="en-US" altLang="en-US" sz="2000">
                <a:solidFill>
                  <a:srgbClr val="FF0000"/>
                </a:solidFill>
              </a:rPr>
              <a:t>``=``</a:t>
            </a:r>
            <a:r>
              <a:rPr lang="en-US" altLang="en-US" sz="2000">
                <a:solidFill>
                  <a:schemeClr val="accent2"/>
                </a:solidFill>
              </a:rPr>
              <a:t>and PWD = `` OR</a:t>
            </a:r>
            <a:r>
              <a:rPr lang="en-US" altLang="en-US" sz="2000">
                <a:solidFill>
                  <a:srgbClr val="FF0000"/>
                </a:solidFill>
              </a:rPr>
              <a:t>``=``</a:t>
            </a:r>
            <a:r>
              <a:rPr lang="en-US" altLang="en-US" sz="2000">
                <a:solidFill>
                  <a:schemeClr val="accent2"/>
                </a:solidFill>
              </a:rPr>
              <a:t> </a:t>
            </a:r>
            <a:endParaRPr lang="en-US" altLang="en-US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>
                <a:solidFill>
                  <a:schemeClr val="accent2"/>
                </a:solidFill>
              </a:rPr>
              <a:t>	</a:t>
            </a:r>
            <a:r>
              <a:rPr lang="en-US" altLang="en-US" sz="2400">
                <a:solidFill>
                  <a:schemeClr val="accent2"/>
                </a:solidFill>
                <a:latin typeface="Courier New" panose="02070309020205020404" pitchFamily="49" charset="0"/>
              </a:rPr>
              <a:t>    				</a:t>
            </a:r>
            <a:r>
              <a:rPr lang="en-US" alt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TRUE           TRUE</a:t>
            </a:r>
            <a:endParaRPr lang="en-US" altLang="en-US" sz="200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Which would certainly set the userHasBenAuthenticated variable to </a:t>
            </a:r>
            <a:r>
              <a:rPr lang="en-US" altLang="en-US" sz="2800">
                <a:solidFill>
                  <a:srgbClr val="FF0000"/>
                </a:solidFill>
              </a:rPr>
              <a:t>true</a:t>
            </a:r>
            <a:r>
              <a:rPr lang="en-US" altLang="en-US" sz="2800"/>
              <a:t>.</a:t>
            </a:r>
            <a:endParaRPr lang="en-US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861"/>
    </mc:Choice>
    <mc:Fallback>
      <p:transition spd="slow" advTm="6586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/>
              <a:t>More Example (4)</a:t>
            </a:r>
            <a:endParaRPr lang="en-US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User ID: </a:t>
            </a:r>
            <a:r>
              <a:rPr lang="en-US" altLang="en-US">
                <a:solidFill>
                  <a:srgbClr val="FF0000"/>
                </a:solidFill>
              </a:rPr>
              <a:t>`  OR  ``=``  --</a:t>
            </a:r>
            <a:endParaRPr lang="en-US" altLang="en-US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/>
              <a:t>Password: </a:t>
            </a:r>
            <a:r>
              <a:rPr lang="en-US" altLang="en-US">
                <a:solidFill>
                  <a:srgbClr val="FF0000"/>
                </a:solidFill>
              </a:rPr>
              <a:t>abc</a:t>
            </a:r>
            <a:endParaRPr lang="en-US" altLang="en-US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Because anything after the -- will be ignore, the injection will work even without any specific injection into the password predicate.  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177"/>
    </mc:Choice>
    <mc:Fallback>
      <p:transition spd="slow" advTm="72177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/>
              <a:t>More Example (5)</a:t>
            </a:r>
            <a:endParaRPr lang="en-US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User ID:  </a:t>
            </a:r>
            <a:r>
              <a:rPr lang="en-US" altLang="en-US">
                <a:solidFill>
                  <a:srgbClr val="FF0000"/>
                </a:solidFill>
              </a:rPr>
              <a:t>` ; DROP TABLE USER ; --</a:t>
            </a:r>
            <a:endParaRPr lang="en-US" altLang="en-US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/>
              <a:t>Password: </a:t>
            </a:r>
            <a:r>
              <a:rPr lang="en-US" altLang="en-US">
                <a:solidFill>
                  <a:srgbClr val="FF0000"/>
                </a:solidFill>
              </a:rPr>
              <a:t>`OR ``=`</a:t>
            </a:r>
            <a:endParaRPr lang="en-US" altLang="en-US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 sz="2400"/>
              <a:t>select USERID from USER where USERID = `</a:t>
            </a:r>
            <a:r>
              <a:rPr lang="en-US" altLang="en-US" sz="2400">
                <a:solidFill>
                  <a:srgbClr val="FF0000"/>
                </a:solidFill>
              </a:rPr>
              <a:t>` ; DROP TABLE USER ; --</a:t>
            </a:r>
            <a:r>
              <a:rPr lang="en-US" altLang="en-US" sz="2400"/>
              <a:t> `</a:t>
            </a:r>
            <a:r>
              <a:rPr lang="en-US" altLang="en-US" sz="2400">
                <a:solidFill>
                  <a:srgbClr val="FF0000"/>
                </a:solidFill>
              </a:rPr>
              <a:t> and PWD = `</a:t>
            </a:r>
            <a:r>
              <a:rPr lang="en-US" altLang="en-US" sz="2400"/>
              <a:t>`OR ``=`</a:t>
            </a:r>
            <a:r>
              <a:rPr lang="en-US" altLang="en-US" sz="2400">
                <a:solidFill>
                  <a:srgbClr val="FF0000"/>
                </a:solidFill>
              </a:rPr>
              <a:t>`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r>
              <a:rPr lang="en-US" altLang="en-US" sz="2400"/>
              <a:t>I will not try to get any information, I just wan to bring the application down. </a:t>
            </a:r>
            <a:endParaRPr lang="en-US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607"/>
    </mc:Choice>
    <mc:Fallback>
      <p:transition spd="slow" advTm="64607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/>
              <a:t>Impact of SQL Injection</a:t>
            </a:r>
            <a:endParaRPr lang="en-US" alt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52400" y="1600200"/>
            <a:ext cx="5403850" cy="5008563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/>
              <a:t>Leakage of sensitive information.</a:t>
            </a:r>
            <a:endParaRPr lang="en-US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/>
              <a:t>Reputation decline.</a:t>
            </a:r>
            <a:endParaRPr lang="en-US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/>
              <a:t>Modification of sensitive information.</a:t>
            </a:r>
            <a:endParaRPr lang="en-US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/>
              <a:t>Loss of control of db server.</a:t>
            </a:r>
            <a:endParaRPr lang="en-US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/>
              <a:t>Data loss.</a:t>
            </a:r>
            <a:endParaRPr lang="en-US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/>
              <a:t>Denial of service.</a:t>
            </a:r>
            <a:endParaRPr lang="en-US" altLang="en-US" sz="2800"/>
          </a:p>
        </p:txBody>
      </p:sp>
      <p:pic>
        <p:nvPicPr>
          <p:cNvPr id="32772" name="Picture 4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0" y="3884613"/>
            <a:ext cx="4011613" cy="239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57131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536575" y="255588"/>
            <a:ext cx="5791200" cy="533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Mitigating SQL Injection</a:t>
            </a:r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457200" y="1709738"/>
            <a:ext cx="8229600" cy="442118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 dirty="0"/>
              <a:t>Ineffective Mitigations</a:t>
            </a:r>
            <a:endParaRPr lang="en-US" altLang="en-US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Blacklists</a:t>
            </a:r>
            <a:endParaRPr lang="en-US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Stored Procedures</a:t>
            </a:r>
            <a:endParaRPr lang="en-US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 dirty="0"/>
              <a:t>Partially Effective Mitigations</a:t>
            </a:r>
            <a:endParaRPr lang="en-US" altLang="en-US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Whitelists</a:t>
            </a:r>
            <a:endParaRPr lang="en-US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Prepared Queries</a:t>
            </a:r>
            <a:endParaRPr lang="en-US" altLang="en-US" dirty="0"/>
          </a:p>
        </p:txBody>
      </p:sp>
    </p:spTree>
  </p:cSld>
  <p:clrMapOvr>
    <a:masterClrMapping/>
  </p:clrMapOvr>
  <p:transition advTm="40714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93713" y="198438"/>
            <a:ext cx="6256337" cy="61277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Blacklists</a:t>
            </a: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381000" y="1752600"/>
            <a:ext cx="8001000" cy="838200"/>
          </a:xfrm>
        </p:spPr>
        <p:txBody>
          <a:bodyPr/>
          <a:lstStyle/>
          <a:p>
            <a:pPr marL="609600" indent="-609600" eaLnBrk="1" hangingPunct="1">
              <a:lnSpc>
                <a:spcPct val="65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/>
              <a:t>	Filter out or Sanitize known bad SQL meta-characters, such as single quotes.</a:t>
            </a:r>
            <a:endParaRPr lang="en-US" altLang="en-US"/>
          </a:p>
        </p:txBody>
      </p:sp>
      <p:sp>
        <p:nvSpPr>
          <p:cNvPr id="3584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2971800"/>
            <a:ext cx="82296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64643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3000" dirty="0"/>
              <a:t>Problems:</a:t>
            </a:r>
            <a:endParaRPr lang="en-US" altLang="en-US" sz="3000" dirty="0"/>
          </a:p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60000"/>
              <a:buFontTx/>
              <a:buAutoNum type="arabicPeriod"/>
            </a:pPr>
            <a:r>
              <a:rPr lang="en-US" altLang="en-US" sz="2600" dirty="0"/>
              <a:t>Numeric parameters don’t use quotes.</a:t>
            </a:r>
            <a:endParaRPr lang="en-US" altLang="en-US" sz="2600" dirty="0"/>
          </a:p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60000"/>
              <a:buFontTx/>
              <a:buAutoNum type="arabicPeriod"/>
            </a:pPr>
            <a:r>
              <a:rPr lang="en-US" altLang="en-US" sz="2600" dirty="0"/>
              <a:t>URL escaped metacharacters.</a:t>
            </a:r>
            <a:endParaRPr lang="en-US" altLang="en-US" sz="2600" dirty="0"/>
          </a:p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60000"/>
              <a:buFontTx/>
              <a:buAutoNum type="arabicPeriod"/>
            </a:pPr>
            <a:r>
              <a:rPr lang="en-US" altLang="en-US" sz="2600" dirty="0"/>
              <a:t>Unicode encoded metacharacters.</a:t>
            </a:r>
            <a:endParaRPr lang="en-US" altLang="en-US" sz="2600" dirty="0"/>
          </a:p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60000"/>
              <a:buFontTx/>
              <a:buAutoNum type="arabicPeriod"/>
            </a:pPr>
            <a:r>
              <a:rPr lang="en-US" altLang="en-US" sz="2600" dirty="0"/>
              <a:t>Did you miss any metacharacters?</a:t>
            </a:r>
            <a:endParaRPr lang="en-US" altLang="en-US" sz="2600" dirty="0"/>
          </a:p>
        </p:txBody>
      </p:sp>
      <p:sp>
        <p:nvSpPr>
          <p:cNvPr id="35845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5638800"/>
            <a:ext cx="7467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Though it's easy to point out </a:t>
            </a:r>
            <a:r>
              <a:rPr lang="en-US" altLang="en-US" sz="2400" b="1"/>
              <a:t>some</a:t>
            </a:r>
            <a:r>
              <a:rPr lang="en-US" altLang="en-US" sz="2400"/>
              <a:t> dangerous characters, it's harder to point to </a:t>
            </a:r>
            <a:r>
              <a:rPr lang="en-US" altLang="en-US" sz="2400" b="1"/>
              <a:t>all</a:t>
            </a:r>
            <a:r>
              <a:rPr lang="en-US" altLang="en-US" sz="2400"/>
              <a:t> of them. </a:t>
            </a:r>
            <a:endParaRPr lang="en-US" altLang="en-US" sz="2400"/>
          </a:p>
        </p:txBody>
      </p:sp>
    </p:spTree>
  </p:cSld>
  <p:clrMapOvr>
    <a:masterClrMapping/>
  </p:clrMapOvr>
  <p:transition advTm="131342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429000" y="2438400"/>
            <a:ext cx="99377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800"/>
              <a:t>Bypassing Filters</a:t>
            </a:r>
            <a:endParaRPr lang="en-US" altLang="en-US" sz="3800"/>
          </a:p>
        </p:txBody>
      </p:sp>
      <p:sp>
        <p:nvSpPr>
          <p:cNvPr id="36868" name="Rectangle 3"/>
          <p:cNvSpPr>
            <a:spLocks noGrp="1" noChangeArrowheads="1"/>
          </p:cNvSpPr>
          <p:nvPr>
            <p:ph sz="quarter" idx="1"/>
            <p:custDataLst>
              <p:tags r:id="rId3"/>
            </p:custDataLst>
          </p:nvPr>
        </p:nvSpPr>
        <p:spPr>
          <a:xfrm>
            <a:off x="838200" y="1676400"/>
            <a:ext cx="69342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100"/>
              <a:t>Different case</a:t>
            </a:r>
            <a:endParaRPr lang="en-US" altLang="en-US" sz="21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SeLecT instead of SELECT or select</a:t>
            </a:r>
            <a:endParaRPr lang="en-US" altLang="en-US" sz="20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100"/>
              <a:t>Bypass keyword removal filters</a:t>
            </a:r>
            <a:endParaRPr lang="en-US" altLang="en-US" sz="21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SELSELECTECT</a:t>
            </a:r>
            <a:endParaRPr lang="en-US" altLang="en-US" sz="20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100"/>
              <a:t>URL-encoding</a:t>
            </a:r>
            <a:endParaRPr lang="en-US" altLang="en-US" sz="21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%53%45%4C%45%43%54</a:t>
            </a:r>
            <a:endParaRPr lang="en-US" altLang="en-US" sz="20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100"/>
              <a:t>SQL comments</a:t>
            </a:r>
            <a:endParaRPr lang="en-US" altLang="en-US" sz="21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SELECT/*foo*/num/*foo*/FROM/**/cc</a:t>
            </a:r>
            <a:endParaRPr lang="en-US" altLang="en-US" sz="20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SEL/*foo*/ECT</a:t>
            </a:r>
            <a:endParaRPr lang="en-US" altLang="en-US" sz="20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100"/>
              <a:t>String Building</a:t>
            </a:r>
            <a:endParaRPr lang="en-US" altLang="en-US" sz="21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‘us’||’er’</a:t>
            </a:r>
            <a:endParaRPr lang="en-US" altLang="en-US" sz="20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chr(117)||chr(115)||chr(101)||chr(114)</a:t>
            </a:r>
            <a:endParaRPr lang="en-US" altLang="en-US" sz="2000"/>
          </a:p>
        </p:txBody>
      </p:sp>
    </p:spTree>
  </p:cSld>
  <p:clrMapOvr>
    <a:masterClrMapping/>
  </p:clrMapOvr>
  <p:transition advTm="76171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576263" y="280988"/>
            <a:ext cx="5305425" cy="665162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Stored Procedures</a:t>
            </a:r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457200" y="1600200"/>
            <a:ext cx="7981950" cy="38862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/>
              <a:t>Stored Procedures build strings too:</a:t>
            </a:r>
            <a:endParaRPr lang="en-US" altLang="en-US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en-US" sz="70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/>
              <a:t>CREATE PROCEDURE dbo.doQuery</a:t>
            </a:r>
            <a:r>
              <a:rPr lang="en-US" altLang="en-US" sz="2400">
                <a:solidFill>
                  <a:srgbClr val="7030A0"/>
                </a:solidFill>
              </a:rPr>
              <a:t>(@id </a:t>
            </a:r>
            <a:r>
              <a:rPr lang="en-US" altLang="en-US" sz="2400"/>
              <a:t>nchar(128))</a:t>
            </a:r>
            <a:endParaRPr lang="en-US" altLang="en-US" sz="240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/>
              <a:t>AS</a:t>
            </a:r>
            <a:endParaRPr lang="en-US" altLang="en-US" sz="240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/>
              <a:t>    DECLARE @query nchar(256)</a:t>
            </a:r>
            <a:endParaRPr lang="en-US" altLang="en-US" sz="240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/>
              <a:t>    SELECT @query = ‘SELECT cc FROM cust WHERE id=‘’’ + </a:t>
            </a:r>
            <a:r>
              <a:rPr lang="en-US" altLang="en-US" sz="2400">
                <a:solidFill>
                  <a:srgbClr val="7030A0"/>
                </a:solidFill>
              </a:rPr>
              <a:t>@id </a:t>
            </a:r>
            <a:r>
              <a:rPr lang="en-US" altLang="en-US" sz="2400"/>
              <a:t>+ ‘’’’</a:t>
            </a:r>
            <a:endParaRPr lang="en-US" altLang="en-US" sz="240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/>
              <a:t>    EXEC @query</a:t>
            </a:r>
            <a:endParaRPr lang="en-US" altLang="en-US" sz="240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/>
              <a:t>RETURN</a:t>
            </a:r>
            <a:endParaRPr lang="en-US" altLang="en-US" sz="2400"/>
          </a:p>
        </p:txBody>
      </p:sp>
      <p:sp>
        <p:nvSpPr>
          <p:cNvPr id="37892" name="TextBox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71800" y="5105400"/>
            <a:ext cx="57150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it's always possible to write a stored procedure that itself constructs a query dynamically: this provides </a:t>
            </a:r>
            <a:r>
              <a:rPr lang="en-US" altLang="en-US" b="1">
                <a:solidFill>
                  <a:srgbClr val="FF0000"/>
                </a:solidFill>
              </a:rPr>
              <a:t>no</a:t>
            </a:r>
            <a:r>
              <a:rPr lang="en-US" altLang="en-US"/>
              <a:t> protection against SQL Injection. It's only proper binding with prepare/execute or direct SQL statements with </a:t>
            </a:r>
            <a:r>
              <a:rPr lang="en-US" altLang="en-US">
                <a:solidFill>
                  <a:srgbClr val="FF0000"/>
                </a:solidFill>
              </a:rPr>
              <a:t>bound variables </a:t>
            </a:r>
            <a:r>
              <a:rPr lang="en-US" altLang="en-US"/>
              <a:t>that provide protection.</a:t>
            </a:r>
            <a:endParaRPr lang="en-US" altLang="en-US"/>
          </a:p>
        </p:txBody>
      </p:sp>
    </p:spTree>
  </p:cSld>
  <p:clrMapOvr>
    <a:masterClrMapping/>
  </p:clrMapOvr>
  <p:transition advTm="120280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504825" y="306388"/>
            <a:ext cx="5791200" cy="533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Whitelist</a:t>
            </a: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333375" y="1752600"/>
            <a:ext cx="7924800" cy="4140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Reject input that doesn’t match your list of safe characters to accept.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000"/>
          </a:p>
          <a:p>
            <a:pPr lvl="1" eaLnBrk="1" hangingPunct="1"/>
            <a:r>
              <a:rPr lang="en-US" altLang="en-US"/>
              <a:t>	Identify what is good, not what is bad.</a:t>
            </a:r>
            <a:endParaRPr lang="en-US" altLang="en-US"/>
          </a:p>
          <a:p>
            <a:pPr lvl="1" eaLnBrk="1" hangingPunct="1"/>
            <a:r>
              <a:rPr lang="en-US" altLang="en-US"/>
              <a:t>	Reject input instead of attempting to repair.</a:t>
            </a:r>
            <a:endParaRPr lang="en-US" altLang="en-US"/>
          </a:p>
          <a:p>
            <a:pPr lvl="1" eaLnBrk="1" hangingPunct="1"/>
            <a:r>
              <a:rPr lang="en-US" altLang="en-US"/>
              <a:t>	Still have to deal with single quotes when 	required, such as in names.</a:t>
            </a:r>
            <a:endParaRPr lang="en-US" altLang="en-US"/>
          </a:p>
        </p:txBody>
      </p:sp>
    </p:spTree>
  </p:cSld>
  <p:clrMapOvr>
    <a:masterClrMapping/>
  </p:clrMapOvr>
  <p:transition advTm="107284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800"/>
              <a:t>Other Injection Types</a:t>
            </a:r>
            <a:endParaRPr lang="en-US" altLang="en-US" sz="3800"/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altLang="en-US" sz="2600"/>
              <a:t>Shell injection.</a:t>
            </a:r>
            <a:endParaRPr lang="en-US" altLang="en-US" sz="2600"/>
          </a:p>
          <a:p>
            <a:pPr eaLnBrk="1" hangingPunct="1"/>
            <a:r>
              <a:rPr lang="en-US" altLang="en-US" sz="2600"/>
              <a:t>Scripting language injection.</a:t>
            </a:r>
            <a:endParaRPr lang="en-US" altLang="en-US" sz="2600"/>
          </a:p>
          <a:p>
            <a:pPr eaLnBrk="1" hangingPunct="1"/>
            <a:r>
              <a:rPr lang="en-US" altLang="en-US" sz="2600"/>
              <a:t>File inclusion.</a:t>
            </a:r>
            <a:endParaRPr lang="en-US" altLang="en-US" sz="2600"/>
          </a:p>
          <a:p>
            <a:pPr eaLnBrk="1" hangingPunct="1"/>
            <a:r>
              <a:rPr lang="en-US" altLang="en-US" sz="2600"/>
              <a:t>XML injection.</a:t>
            </a:r>
            <a:endParaRPr lang="en-US" altLang="en-US" sz="2600"/>
          </a:p>
          <a:p>
            <a:pPr eaLnBrk="1" hangingPunct="1"/>
            <a:r>
              <a:rPr lang="en-US" altLang="en-US" sz="2600"/>
              <a:t>XPath injection.</a:t>
            </a:r>
            <a:endParaRPr lang="en-US" altLang="en-US" sz="2600"/>
          </a:p>
          <a:p>
            <a:pPr eaLnBrk="1" hangingPunct="1"/>
            <a:r>
              <a:rPr lang="en-US" altLang="en-US" sz="2600"/>
              <a:t>LDAP injection.</a:t>
            </a:r>
            <a:endParaRPr lang="en-US" altLang="en-US" sz="2600"/>
          </a:p>
          <a:p>
            <a:pPr eaLnBrk="1" hangingPunct="1"/>
            <a:r>
              <a:rPr lang="en-US" altLang="en-US" sz="2600"/>
              <a:t>SMTP injection.</a:t>
            </a:r>
            <a:endParaRPr lang="en-US" altLang="en-US" sz="2600"/>
          </a:p>
        </p:txBody>
      </p:sp>
    </p:spTree>
  </p:cSld>
  <p:clrMapOvr>
    <a:masterClrMapping/>
  </p:clrMapOvr>
  <p:transition advTm="23996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4000"/>
              <a:t>SQL injection Conclusion</a:t>
            </a:r>
            <a:endParaRPr lang="en-US" altLang="en-US" sz="4000"/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altLang="en-US" sz="2800"/>
              <a:t>SQL injection is  technique for exploiting applications that use relational databases as their back end. </a:t>
            </a:r>
            <a:endParaRPr lang="en-US" altLang="en-US" sz="2800"/>
          </a:p>
          <a:p>
            <a:pPr eaLnBrk="1" hangingPunct="1"/>
            <a:r>
              <a:rPr lang="en-US" altLang="en-US" sz="2800"/>
              <a:t>Applications compose SQL statements and send to database. </a:t>
            </a:r>
            <a:endParaRPr lang="en-US" altLang="en-US" sz="2800"/>
          </a:p>
          <a:p>
            <a:pPr eaLnBrk="1" hangingPunct="1"/>
            <a:r>
              <a:rPr lang="en-US" altLang="en-US" sz="2800"/>
              <a:t>SQL injection use the fact that many of these applications concatenate the </a:t>
            </a:r>
            <a:r>
              <a:rPr lang="en-US" altLang="en-US" sz="2800">
                <a:solidFill>
                  <a:schemeClr val="accent2"/>
                </a:solidFill>
              </a:rPr>
              <a:t>fixed part of SQL statement</a:t>
            </a:r>
            <a:r>
              <a:rPr lang="en-US" altLang="en-US" sz="2800"/>
              <a:t> with </a:t>
            </a:r>
            <a:r>
              <a:rPr lang="en-US" altLang="en-US" sz="2800">
                <a:solidFill>
                  <a:schemeClr val="accent2"/>
                </a:solidFill>
              </a:rPr>
              <a:t>user-supplied data</a:t>
            </a:r>
            <a:r>
              <a:rPr lang="en-US" altLang="en-US" sz="2800"/>
              <a:t> that forms WHERE predicates or additional sub-queries. </a:t>
            </a:r>
            <a:endParaRPr lang="en-US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724"/>
    </mc:Choice>
    <mc:Fallback>
      <p:transition spd="slow" advTm="52724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/>
              <a:t>Assignment: Due on </a:t>
            </a:r>
            <a:r>
              <a:rPr lang="en-US" sz="4000"/>
              <a:t>March 10,2025</a:t>
            </a:r>
            <a:endParaRPr lang="en-US" sz="4000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381000" y="1676400"/>
            <a:ext cx="8229600" cy="1524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Visit the website for information about webGoat: </a:t>
            </a:r>
            <a:r>
              <a:rPr lang="en-US" altLang="en-US" sz="1800">
                <a:hlinkClick r:id="rId3"/>
              </a:rPr>
              <a:t>http://www.irongeek.com/i.php?page=videos/webgoat-sql-injection</a:t>
            </a: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Read WebGoad User and Install Guide </a:t>
            </a:r>
            <a:r>
              <a:rPr lang="en-US" altLang="en-US" sz="1800">
                <a:hlinkClick r:id="rId4"/>
              </a:rPr>
              <a:t>http://www.owasp.org/index.php/Category:OWASP_WebGoat_Project</a:t>
            </a:r>
            <a:r>
              <a:rPr lang="en-US" altLang="en-US" sz="1800"/>
              <a:t> </a:t>
            </a: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Install WebGoat and play with SQL injection.  </a:t>
            </a:r>
            <a:endParaRPr lang="en-US" altLang="en-US" sz="1800"/>
          </a:p>
        </p:txBody>
      </p:sp>
      <p:pic>
        <p:nvPicPr>
          <p:cNvPr id="46084" name="Picture 5" descr="Image:WebGoat-Bypass-Access-Control-Lesson.JPG">
            <a:hlinkClick r:id="rId5"/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352800"/>
            <a:ext cx="3933825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841"/>
    </mc:Choice>
    <mc:Fallback>
      <p:transition spd="slow" advTm="93841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_INSTRUCTOR VIEW19C14C36-AC8E-43BC-9DB6-C2AAF774C7DC|PANE__TAG" val="_"/>
</p:tagLst>
</file>

<file path=ppt/tags/tag2.xml><?xml version="1.0" encoding="utf-8"?>
<p:tagLst xmlns:p="http://schemas.openxmlformats.org/presentationml/2006/main">
  <p:tag name="_INSTRUCTOR VIEW19C14C36-AC8E-43BC-9DB6-C2AAF774C7DC|PANE__TAG" val="_"/>
</p:tagLst>
</file>

<file path=ppt/tags/tag3.xml><?xml version="1.0" encoding="utf-8"?>
<p:tagLst xmlns:p="http://schemas.openxmlformats.org/presentationml/2006/main">
  <p:tag name="_INSTRUCTOR VIEW19C14C36-AC8E-43BC-9DB6-C2AAF774C7DC|PANE__TAG" val="_"/>
</p:tagLst>
</file>

<file path=ppt/tags/tag4.xml><?xml version="1.0" encoding="utf-8"?>
<p:tagLst xmlns:p="http://schemas.openxmlformats.org/presentationml/2006/main">
  <p:tag name="_INSTRUCTOR VIEW19C14C36-AC8E-43BC-9DB6-C2AAF774C7DC|PANE__TAG" val="_"/>
</p:tagLst>
</file>

<file path=ppt/tags/tag5.xml><?xml version="1.0" encoding="utf-8"?>
<p:tagLst xmlns:p="http://schemas.openxmlformats.org/presentationml/2006/main">
  <p:tag name="_INSTRUCTOR VIEW19C14C36-AC8E-43BC-9DB6-C2AAF774C7DC|PANE__TAG" val="_"/>
</p:tagLst>
</file>

<file path=ppt/tags/tag6.xml><?xml version="1.0" encoding="utf-8"?>
<p:tagLst xmlns:p="http://schemas.openxmlformats.org/presentationml/2006/main">
  <p:tag name="_INSTRUCTOR VIEW19C14C36-AC8E-43BC-9DB6-C2AAF774C7DC|PANE__TAG" val="_"/>
</p:tagLst>
</file>

<file path=ppt/tags/tag7.xml><?xml version="1.0" encoding="utf-8"?>
<p:tagLst xmlns:p="http://schemas.openxmlformats.org/presentationml/2006/main">
  <p:tag name="_INSTRUCTOR VIEW19C14C36-AC8E-43BC-9DB6-C2AAF774C7DC|PANE__TAG" val="_"/>
</p:tagLst>
</file>

<file path=ppt/tags/tag8.xml><?xml version="1.0" encoding="utf-8"?>
<p:tagLst xmlns:p="http://schemas.openxmlformats.org/presentationml/2006/main">
  <p:tag name="_INSTRUCTOR VIEW19C14C36-AC8E-43BC-9DB6-C2AAF774C7DC|PANE__TAG" val="_"/>
</p:tagLst>
</file>

<file path=ppt/tags/tag9.xml><?xml version="1.0" encoding="utf-8"?>
<p:tagLst xmlns:p="http://schemas.openxmlformats.org/presentationml/2006/main">
  <p:tag name="_INSTRUCTOR VIEW19C14C36-AC8E-43BC-9DB6-C2AAF774C7DC|PANE__TAG" val="_"/>
</p:tagLst>
</file>

<file path=ppt/tags/tag10.xml><?xml version="1.0" encoding="utf-8"?>
<p:tagLst xmlns:p="http://schemas.openxmlformats.org/presentationml/2006/main">
  <p:tag name="_INSTRUCTOR VIEW19C14C36-AC8E-43BC-9DB6-C2AAF774C7DC|PANE__TAG" val="_"/>
</p:tagLst>
</file>

<file path=ppt/tags/tag11.xml><?xml version="1.0" encoding="utf-8"?>
<p:tagLst xmlns:p="http://schemas.openxmlformats.org/presentationml/2006/main">
  <p:tag name="_INSTRUCTOR VIEW19C14C36-AC8E-43BC-9DB6-C2AAF774C7DC|PANE__TAG" val="_"/>
</p:tagLst>
</file>

<file path=ppt/tags/tag12.xml><?xml version="1.0" encoding="utf-8"?>
<p:tagLst xmlns:p="http://schemas.openxmlformats.org/presentationml/2006/main">
  <p:tag name="_INSTRUCTOR VIEW19C14C36-AC8E-43BC-9DB6-C2AAF774C7DC|PANE__TAG" val="_"/>
</p:tagLst>
</file>

<file path=ppt/tags/tag13.xml><?xml version="1.0" encoding="utf-8"?>
<p:tagLst xmlns:p="http://schemas.openxmlformats.org/presentationml/2006/main">
  <p:tag name="_INSTRUCTOR VIEW19C14C36-AC8E-43BC-9DB6-C2AAF774C7DC|PANE__TAG" val="_"/>
</p:tagLst>
</file>

<file path=ppt/tags/tag14.xml><?xml version="1.0" encoding="utf-8"?>
<p:tagLst xmlns:p="http://schemas.openxmlformats.org/presentationml/2006/main">
  <p:tag name="_INSTRUCTOR VIEW19C14C36-AC8E-43BC-9DB6-C2AAF774C7DC|PANE__TAG" val="_"/>
</p:tagLst>
</file>

<file path=ppt/tags/tag15.xml><?xml version="1.0" encoding="utf-8"?>
<p:tagLst xmlns:p="http://schemas.openxmlformats.org/presentationml/2006/main">
  <p:tag name="_INSTRUCTOR VIEW19C14C36-AC8E-43BC-9DB6-C2AAF774C7DC|PANE__TAG" val="_"/>
</p:tagLst>
</file>

<file path=ppt/tags/tag16.xml><?xml version="1.0" encoding="utf-8"?>
<p:tagLst xmlns:p="http://schemas.openxmlformats.org/presentationml/2006/main">
  <p:tag name="_INSTRUCTOR VIEW19C14C36-AC8E-43BC-9DB6-C2AAF774C7DC|PANE__TAG" val="_"/>
</p:tagLst>
</file>

<file path=ppt/tags/tag17.xml><?xml version="1.0" encoding="utf-8"?>
<p:tagLst xmlns:p="http://schemas.openxmlformats.org/presentationml/2006/main">
  <p:tag name="_INSTRUCTOR VIEW19C14C36-AC8E-43BC-9DB6-C2AAF774C7DC|PANE__TAG" val="_"/>
</p:tagLst>
</file>

<file path=ppt/tags/tag18.xml><?xml version="1.0" encoding="utf-8"?>
<p:tagLst xmlns:p="http://schemas.openxmlformats.org/presentationml/2006/main">
  <p:tag name="_INSTRUCTOR VIEW19C14C36-AC8E-43BC-9DB6-C2AAF774C7DC|PANE__TAG" val="_"/>
</p:tagLst>
</file>

<file path=ppt/tags/tag19.xml><?xml version="1.0" encoding="utf-8"?>
<p:tagLst xmlns:p="http://schemas.openxmlformats.org/presentationml/2006/main">
  <p:tag name="_INSTRUCTOR VIEW19C14C36-AC8E-43BC-9DB6-C2AAF774C7DC|PANE__TAG" val="_"/>
</p:tagLst>
</file>

<file path=ppt/tags/tag20.xml><?xml version="1.0" encoding="utf-8"?>
<p:tagLst xmlns:p="http://schemas.openxmlformats.org/presentationml/2006/main">
  <p:tag name="_INSTRUCTOR VIEW19C14C36-AC8E-43BC-9DB6-C2AAF774C7DC|PANE__TAG" val="_"/>
</p:tagLst>
</file>

<file path=ppt/tags/tag21.xml><?xml version="1.0" encoding="utf-8"?>
<p:tagLst xmlns:p="http://schemas.openxmlformats.org/presentationml/2006/main">
  <p:tag name="_INSTRUCTOR VIEW19C14C36-AC8E-43BC-9DB6-C2AAF774C7DC|PANE__TAG" val="_"/>
</p:tagLst>
</file>

<file path=ppt/tags/tag22.xml><?xml version="1.0" encoding="utf-8"?>
<p:tagLst xmlns:p="http://schemas.openxmlformats.org/presentationml/2006/main">
  <p:tag name="_INSTRUCTOR VIEW19C14C36-AC8E-43BC-9DB6-C2AAF774C7DC|PANE__TAG" val="_"/>
</p:tagLst>
</file>

<file path=ppt/tags/tag23.xml><?xml version="1.0" encoding="utf-8"?>
<p:tagLst xmlns:p="http://schemas.openxmlformats.org/presentationml/2006/main">
  <p:tag name="_INSTRUCTOR VIEW19C14C36-AC8E-43BC-9DB6-C2AAF774C7DC|PANE__TAG" val="_"/>
</p:tagLst>
</file>

<file path=ppt/tags/tag24.xml><?xml version="1.0" encoding="utf-8"?>
<p:tagLst xmlns:p="http://schemas.openxmlformats.org/presentationml/2006/main">
  <p:tag name="_INSTRUCTOR VIEW19C14C36-AC8E-43BC-9DB6-C2AAF774C7DC|PANE__TAG" val="_"/>
</p:tagLst>
</file>

<file path=ppt/tags/tag25.xml><?xml version="1.0" encoding="utf-8"?>
<p:tagLst xmlns:p="http://schemas.openxmlformats.org/presentationml/2006/main">
  <p:tag name="_INSTRUCTOR VIEW19C14C36-AC8E-43BC-9DB6-C2AAF774C7DC|PANE__TAG" val="_"/>
</p:tagLst>
</file>

<file path=ppt/tags/tag26.xml><?xml version="1.0" encoding="utf-8"?>
<p:tagLst xmlns:p="http://schemas.openxmlformats.org/presentationml/2006/main">
  <p:tag name="_INSTRUCTOR VIEW19C14C36-AC8E-43BC-9DB6-C2AAF774C7DC|PANE__TAG" val="_"/>
</p:tagLst>
</file>

<file path=ppt/tags/tag27.xml><?xml version="1.0" encoding="utf-8"?>
<p:tagLst xmlns:p="http://schemas.openxmlformats.org/presentationml/2006/main">
  <p:tag name="_INSTRUCTOR VIEW19C14C36-AC8E-43BC-9DB6-C2AAF774C7DC|PANE__TAG" val="_"/>
</p:tagLst>
</file>

<file path=ppt/tags/tag28.xml><?xml version="1.0" encoding="utf-8"?>
<p:tagLst xmlns:p="http://schemas.openxmlformats.org/presentationml/2006/main">
  <p:tag name="_INSTRUCTOR VIEW19C14C36-AC8E-43BC-9DB6-C2AAF774C7DC|PANE__TAG" val="_"/>
</p:tagLst>
</file>

<file path=ppt/tags/tag29.xml><?xml version="1.0" encoding="utf-8"?>
<p:tagLst xmlns:p="http://schemas.openxmlformats.org/presentationml/2006/main">
  <p:tag name="_INSTRUCTOR VIEW19C14C36-AC8E-43BC-9DB6-C2AAF774C7DC|PANE__TAG" val="_"/>
</p:tagLst>
</file>

<file path=ppt/tags/tag30.xml><?xml version="1.0" encoding="utf-8"?>
<p:tagLst xmlns:p="http://schemas.openxmlformats.org/presentationml/2006/main">
  <p:tag name="_INSTRUCTOR VIEW19C14C36-AC8E-43BC-9DB6-C2AAF774C7DC|PANE__TAG" val="_"/>
</p:tagLst>
</file>

<file path=ppt/tags/tag31.xml><?xml version="1.0" encoding="utf-8"?>
<p:tagLst xmlns:p="http://schemas.openxmlformats.org/presentationml/2006/main">
  <p:tag name="_INSTRUCTOR VIEW19C14C36-AC8E-43BC-9DB6-C2AAF774C7DC|PANE__TAG" val="_"/>
</p:tagLst>
</file>

<file path=ppt/tags/tag32.xml><?xml version="1.0" encoding="utf-8"?>
<p:tagLst xmlns:p="http://schemas.openxmlformats.org/presentationml/2006/main">
  <p:tag name="_INSTRUCTOR VIEW19C14C36-AC8E-43BC-9DB6-C2AAF774C7DC|PANE__TAG" val="_"/>
</p:tagLst>
</file>

<file path=ppt/tags/tag33.xml><?xml version="1.0" encoding="utf-8"?>
<p:tagLst xmlns:p="http://schemas.openxmlformats.org/presentationml/2006/main">
  <p:tag name="_INSTRUCTOR VIEW19C14C36-AC8E-43BC-9DB6-C2AAF774C7DC|PANE__TAG" val="_"/>
</p:tagLst>
</file>

<file path=ppt/tags/tag34.xml><?xml version="1.0" encoding="utf-8"?>
<p:tagLst xmlns:p="http://schemas.openxmlformats.org/presentationml/2006/main">
  <p:tag name="_INSTRUCTOR VIEW19C14C36-AC8E-43BC-9DB6-C2AAF774C7DC|PANE__TAG" val="_"/>
</p:tagLst>
</file>

<file path=ppt/tags/tag35.xml><?xml version="1.0" encoding="utf-8"?>
<p:tagLst xmlns:p="http://schemas.openxmlformats.org/presentationml/2006/main">
  <p:tag name="_INSTRUCTOR VIEW19C14C36-AC8E-43BC-9DB6-C2AAF774C7DC|PANE__TAG" val="_"/>
</p:tagLst>
</file>

<file path=ppt/tags/tag36.xml><?xml version="1.0" encoding="utf-8"?>
<p:tagLst xmlns:p="http://schemas.openxmlformats.org/presentationml/2006/main">
  <p:tag name="_INSTRUCTOR VIEW19C14C36-AC8E-43BC-9DB6-C2AAF774C7DC|PANE__TAG" val="_"/>
</p:tagLst>
</file>

<file path=ppt/tags/tag37.xml><?xml version="1.0" encoding="utf-8"?>
<p:tagLst xmlns:p="http://schemas.openxmlformats.org/presentationml/2006/main">
  <p:tag name="_INSTRUCTOR VIEW19C14C36-AC8E-43BC-9DB6-C2AAF774C7DC|PANE__TAG" val="_"/>
</p:tagLst>
</file>

<file path=ppt/tags/tag38.xml><?xml version="1.0" encoding="utf-8"?>
<p:tagLst xmlns:p="http://schemas.openxmlformats.org/presentationml/2006/main">
  <p:tag name="_INSTRUCTOR VIEW19C14C36-AC8E-43BC-9DB6-C2AAF774C7DC|PANE__TAG" val="_"/>
</p:tagLst>
</file>

<file path=ppt/tags/tag39.xml><?xml version="1.0" encoding="utf-8"?>
<p:tagLst xmlns:p="http://schemas.openxmlformats.org/presentationml/2006/main">
  <p:tag name="_INSTRUCTOR VIEW19C14C36-AC8E-43BC-9DB6-C2AAF774C7DC|PANE__TAG" val="_"/>
</p:tagLst>
</file>

<file path=ppt/tags/tag40.xml><?xml version="1.0" encoding="utf-8"?>
<p:tagLst xmlns:p="http://schemas.openxmlformats.org/presentationml/2006/main">
  <p:tag name="_INSTRUCTOR VIEW19C14C36-AC8E-43BC-9DB6-C2AAF774C7DC|PANE__TAG" val="_"/>
</p:tagLst>
</file>

<file path=ppt/tags/tag41.xml><?xml version="1.0" encoding="utf-8"?>
<p:tagLst xmlns:p="http://schemas.openxmlformats.org/presentationml/2006/main">
  <p:tag name="_INSTRUCTOR VIEW19C14C36-AC8E-43BC-9DB6-C2AAF774C7DC|PANE__TAG" val="_"/>
</p:tagLst>
</file>

<file path=ppt/tags/tag42.xml><?xml version="1.0" encoding="utf-8"?>
<p:tagLst xmlns:p="http://schemas.openxmlformats.org/presentationml/2006/main">
  <p:tag name="_INSTRUCTOR VIEW19C14C36-AC8E-43BC-9DB6-C2AAF774C7DC|PANE__TAG" val="_"/>
</p:tagLst>
</file>

<file path=ppt/tags/tag43.xml><?xml version="1.0" encoding="utf-8"?>
<p:tagLst xmlns:p="http://schemas.openxmlformats.org/presentationml/2006/main">
  <p:tag name="_INSTRUCTOR VIEW19C14C36-AC8E-43BC-9DB6-C2AAF774C7DC|PANE__TAG" val="_"/>
</p:tagLst>
</file>

<file path=ppt/tags/tag44.xml><?xml version="1.0" encoding="utf-8"?>
<p:tagLst xmlns:p="http://schemas.openxmlformats.org/presentationml/2006/main">
  <p:tag name="_INSTRUCTOR VIEW19C14C36-AC8E-43BC-9DB6-C2AAF774C7DC|PANE__TAG" val="_"/>
</p:tagLst>
</file>

<file path=ppt/tags/tag45.xml><?xml version="1.0" encoding="utf-8"?>
<p:tagLst xmlns:p="http://schemas.openxmlformats.org/presentationml/2006/main">
  <p:tag name="_INSTRUCTOR VIEW19C14C36-AC8E-43BC-9DB6-C2AAF774C7DC|PANE__TAG" val="_"/>
</p:tagLst>
</file>

<file path=ppt/tags/tag46.xml><?xml version="1.0" encoding="utf-8"?>
<p:tagLst xmlns:p="http://schemas.openxmlformats.org/presentationml/2006/main">
  <p:tag name="_INSTRUCTOR VIEW19C14C36-AC8E-43BC-9DB6-C2AAF774C7DC|PANE__TAG" val="_"/>
</p:tagLst>
</file>

<file path=ppt/tags/tag47.xml><?xml version="1.0" encoding="utf-8"?>
<p:tagLst xmlns:p="http://schemas.openxmlformats.org/presentationml/2006/main">
  <p:tag name="_INSTRUCTOR VIEW19C14C36-AC8E-43BC-9DB6-C2AAF774C7DC|PANE__TAG" val="_"/>
</p:tagLst>
</file>

<file path=ppt/tags/tag48.xml><?xml version="1.0" encoding="utf-8"?>
<p:tagLst xmlns:p="http://schemas.openxmlformats.org/presentationml/2006/main">
  <p:tag name="_INSTRUCTOR VIEW19C14C36-AC8E-43BC-9DB6-C2AAF774C7DC|PANE__TAG" val="_"/>
</p:tagLst>
</file>

<file path=ppt/tags/tag49.xml><?xml version="1.0" encoding="utf-8"?>
<p:tagLst xmlns:p="http://schemas.openxmlformats.org/presentationml/2006/main">
  <p:tag name="_INSTRUCTOR VIEW19C14C36-AC8E-43BC-9DB6-C2AAF774C7DC|PANE__TAG" val="_"/>
</p:tagLst>
</file>

<file path=ppt/tags/tag50.xml><?xml version="1.0" encoding="utf-8"?>
<p:tagLst xmlns:p="http://schemas.openxmlformats.org/presentationml/2006/main">
  <p:tag name="_INSTRUCTOR VIEW19C14C36-AC8E-43BC-9DB6-C2AAF774C7DC|PANE__TAG" val="_"/>
</p:tagLst>
</file>

<file path=ppt/tags/tag51.xml><?xml version="1.0" encoding="utf-8"?>
<p:tagLst xmlns:p="http://schemas.openxmlformats.org/presentationml/2006/main">
  <p:tag name="_INSTRUCTOR VIEW19C14C36-AC8E-43BC-9DB6-C2AAF774C7DC|PANE__TAG" val="_"/>
</p:tagLst>
</file>

<file path=ppt/tags/tag52.xml><?xml version="1.0" encoding="utf-8"?>
<p:tagLst xmlns:p="http://schemas.openxmlformats.org/presentationml/2006/main">
  <p:tag name="_INSTRUCTOR VIEW19C14C36-AC8E-43BC-9DB6-C2AAF774C7DC|PANE__TAG" val="_"/>
</p:tagLst>
</file>

<file path=ppt/tags/tag53.xml><?xml version="1.0" encoding="utf-8"?>
<p:tagLst xmlns:p="http://schemas.openxmlformats.org/presentationml/2006/main">
  <p:tag name="_INSTRUCTOR VIEW19C14C36-AC8E-43BC-9DB6-C2AAF774C7DC|PANE__TAG" val="_"/>
</p:tagLst>
</file>

<file path=ppt/tags/tag54.xml><?xml version="1.0" encoding="utf-8"?>
<p:tagLst xmlns:p="http://schemas.openxmlformats.org/presentationml/2006/main">
  <p:tag name="_INSTRUCTOR VIEW19C14C36-AC8E-43BC-9DB6-C2AAF774C7DC|PANE__TAG" val="_"/>
</p:tagLst>
</file>

<file path=ppt/tags/tag55.xml><?xml version="1.0" encoding="utf-8"?>
<p:tagLst xmlns:p="http://schemas.openxmlformats.org/presentationml/2006/main">
  <p:tag name="_INSTRUCTOR VIEW19C14C36-AC8E-43BC-9DB6-C2AAF774C7DC|PANE__TAG" val="_"/>
</p:tagLst>
</file>

<file path=ppt/tags/tag56.xml><?xml version="1.0" encoding="utf-8"?>
<p:tagLst xmlns:p="http://schemas.openxmlformats.org/presentationml/2006/main">
  <p:tag name="_INSTRUCTOR VIEW19C14C36-AC8E-43BC-9DB6-C2AAF774C7DC|PANE__TAG" val="_"/>
</p:tagLst>
</file>

<file path=ppt/tags/tag57.xml><?xml version="1.0" encoding="utf-8"?>
<p:tagLst xmlns:p="http://schemas.openxmlformats.org/presentationml/2006/main">
  <p:tag name="_INSTRUCTOR VIEW19C14C36-AC8E-43BC-9DB6-C2AAF774C7DC|PANE__TAG" val="_"/>
</p:tagLst>
</file>

<file path=ppt/tags/tag58.xml><?xml version="1.0" encoding="utf-8"?>
<p:tagLst xmlns:p="http://schemas.openxmlformats.org/presentationml/2006/main">
  <p:tag name="_INSTRUCTOR VIEW19C14C36-AC8E-43BC-9DB6-C2AAF774C7DC|PANE__TAG" val="_"/>
</p:tagLst>
</file>

<file path=ppt/tags/tag59.xml><?xml version="1.0" encoding="utf-8"?>
<p:tagLst xmlns:p="http://schemas.openxmlformats.org/presentationml/2006/main">
  <p:tag name="_INSTRUCTOR VIEW19C14C36-AC8E-43BC-9DB6-C2AAF774C7DC|PANE__TAG" val="_"/>
</p:tagLst>
</file>

<file path=ppt/tags/tag60.xml><?xml version="1.0" encoding="utf-8"?>
<p:tagLst xmlns:p="http://schemas.openxmlformats.org/presentationml/2006/main">
  <p:tag name="_INSTRUCTOR VIEW19C14C36-AC8E-43BC-9DB6-C2AAF774C7DC|PANE__TAG" val="_"/>
</p:tagLst>
</file>

<file path=ppt/tags/tag61.xml><?xml version="1.0" encoding="utf-8"?>
<p:tagLst xmlns:p="http://schemas.openxmlformats.org/presentationml/2006/main">
  <p:tag name="_INSTRUCTOR VIEW19C14C36-AC8E-43BC-9DB6-C2AAF774C7DC|PANE__TAG" val="_"/>
</p:tagLst>
</file>

<file path=ppt/tags/tag62.xml><?xml version="1.0" encoding="utf-8"?>
<p:tagLst xmlns:p="http://schemas.openxmlformats.org/presentationml/2006/main">
  <p:tag name="_INSTRUCTOR VIEW19C14C36-AC8E-43BC-9DB6-C2AAF774C7DC|PANE__TAG" val="_"/>
</p:tagLst>
</file>

<file path=ppt/tags/tag63.xml><?xml version="1.0" encoding="utf-8"?>
<p:tagLst xmlns:p="http://schemas.openxmlformats.org/presentationml/2006/main">
  <p:tag name="_INSTRUCTOR VIEW19C14C36-AC8E-43BC-9DB6-C2AAF774C7DC|PANE__TAG" val="_"/>
</p:tagLst>
</file>

<file path=ppt/tags/tag64.xml><?xml version="1.0" encoding="utf-8"?>
<p:tagLst xmlns:p="http://schemas.openxmlformats.org/presentationml/2006/main">
  <p:tag name="_INSTRUCTOR VIEW19C14C36-AC8E-43BC-9DB6-C2AAF774C7DC|PANE__TAG" val="_"/>
</p:tagLst>
</file>

<file path=ppt/tags/tag65.xml><?xml version="1.0" encoding="utf-8"?>
<p:tagLst xmlns:p="http://schemas.openxmlformats.org/presentationml/2006/main">
  <p:tag name="_INSTRUCTOR VIEW19C14C36-AC8E-43BC-9DB6-C2AAF774C7DC|PANE__TAG" val="_"/>
</p:tagLst>
</file>

<file path=ppt/tags/tag66.xml><?xml version="1.0" encoding="utf-8"?>
<p:tagLst xmlns:p="http://schemas.openxmlformats.org/presentationml/2006/main">
  <p:tag name="_INSTRUCTOR VIEW19C14C36-AC8E-43BC-9DB6-C2AAF774C7DC|PANE__TAG" val="_"/>
</p:tagLst>
</file>

<file path=ppt/tags/tag67.xml><?xml version="1.0" encoding="utf-8"?>
<p:tagLst xmlns:p="http://schemas.openxmlformats.org/presentationml/2006/main">
  <p:tag name="_INSTRUCTOR VIEW19C14C36-AC8E-43BC-9DB6-C2AAF774C7DC|PANE__TAG" val="_"/>
</p:tagLst>
</file>

<file path=ppt/tags/tag68.xml><?xml version="1.0" encoding="utf-8"?>
<p:tagLst xmlns:p="http://schemas.openxmlformats.org/presentationml/2006/main">
  <p:tag name="_INSTRUCTOR VIEW19C14C36-AC8E-43BC-9DB6-C2AAF774C7DC|PANE__TAG" val="_"/>
</p:tagLst>
</file>

<file path=ppt/tags/tag69.xml><?xml version="1.0" encoding="utf-8"?>
<p:tagLst xmlns:p="http://schemas.openxmlformats.org/presentationml/2006/main">
  <p:tag name="_INSTRUCTOR VIEW19C14C36-AC8E-43BC-9DB6-C2AAF774C7DC|PANE__TAG" val="_"/>
</p:tagLst>
</file>

<file path=ppt/tags/tag70.xml><?xml version="1.0" encoding="utf-8"?>
<p:tagLst xmlns:p="http://schemas.openxmlformats.org/presentationml/2006/main">
  <p:tag name="_INSTRUCTOR VIEW19C14C36-AC8E-43BC-9DB6-C2AAF774C7DC|PANE__TAG" val="_"/>
</p:tagLst>
</file>

<file path=ppt/tags/tag71.xml><?xml version="1.0" encoding="utf-8"?>
<p:tagLst xmlns:p="http://schemas.openxmlformats.org/presentationml/2006/main">
  <p:tag name="_INSTRUCTOR VIEW19C14C36-AC8E-43BC-9DB6-C2AAF774C7DC|PANE__TAG" val="_"/>
</p:tagLst>
</file>

<file path=ppt/tags/tag72.xml><?xml version="1.0" encoding="utf-8"?>
<p:tagLst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0</TotalTime>
  <Words>6470</Words>
  <Application>WPS Presentation</Application>
  <PresentationFormat>On-screen Show (4:3)</PresentationFormat>
  <Paragraphs>255</Paragraphs>
  <Slides>26</Slides>
  <Notes>18</Notes>
  <HiddenSlides>0</HiddenSlides>
  <MMClips>26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Arial</vt:lpstr>
      <vt:lpstr>SimSun</vt:lpstr>
      <vt:lpstr>Wingdings</vt:lpstr>
      <vt:lpstr>Tw Cen MT</vt:lpstr>
      <vt:lpstr>Wingdings 2</vt:lpstr>
      <vt:lpstr>Wingdings</vt:lpstr>
      <vt:lpstr>Courier New</vt:lpstr>
      <vt:lpstr>Microsoft YaHei</vt:lpstr>
      <vt:lpstr>Arial Unicode MS</vt:lpstr>
      <vt:lpstr>Calibri</vt:lpstr>
      <vt:lpstr>Median</vt:lpstr>
      <vt:lpstr>SQL Injection</vt:lpstr>
      <vt:lpstr>Topics</vt:lpstr>
      <vt:lpstr>Injection</vt:lpstr>
      <vt:lpstr>SQL Injection</vt:lpstr>
      <vt:lpstr>SQL Injection in PHP</vt:lpstr>
      <vt:lpstr>SQL Injection Attack #1</vt:lpstr>
      <vt:lpstr>SQL Injection Attack #2</vt:lpstr>
      <vt:lpstr>Exploits of a Mom</vt:lpstr>
      <vt:lpstr>Injecting into SELECT</vt:lpstr>
      <vt:lpstr>Injecting into INSERT</vt:lpstr>
      <vt:lpstr>Injecting into UPDATE</vt:lpstr>
      <vt:lpstr>Inference Attacks</vt:lpstr>
      <vt:lpstr>More Examples (1)</vt:lpstr>
      <vt:lpstr>More Example (2)</vt:lpstr>
      <vt:lpstr>More Example (3)</vt:lpstr>
      <vt:lpstr>More Example (4)</vt:lpstr>
      <vt:lpstr>More Example (5)</vt:lpstr>
      <vt:lpstr>Impact of SQL Injection</vt:lpstr>
      <vt:lpstr>Mitigating SQL Injection</vt:lpstr>
      <vt:lpstr>Blacklists</vt:lpstr>
      <vt:lpstr>Bypassing Filters</vt:lpstr>
      <vt:lpstr>Stored Procedures</vt:lpstr>
      <vt:lpstr>Whitelist</vt:lpstr>
      <vt:lpstr>Other Injection Types</vt:lpstr>
      <vt:lpstr>SQL injection Conclusion</vt:lpstr>
      <vt:lpstr>Assignment: Due on March 10,2025</vt:lpstr>
    </vt:vector>
  </TitlesOfParts>
  <Company>ut chattanooga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Injection</dc:title>
  <dc:creator>Faculty</dc:creator>
  <cp:lastModifiedBy>suhaip ali</cp:lastModifiedBy>
  <cp:revision>101</cp:revision>
  <dcterms:created xsi:type="dcterms:W3CDTF">2008-02-27T20:24:00Z</dcterms:created>
  <dcterms:modified xsi:type="dcterms:W3CDTF">2025-11-13T09:18:46Z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F5E256F5C58C4F2283A518CFA65E8936_12</vt:lpwstr>
  </property>
  <property fmtid="{D5CDD505-2E9C-101B-9397-08002B2CF9AE}" pid="3" name="KSOProductBuildVer">
    <vt:lpwstr>1033-12.2.0.23155</vt:lpwstr>
  </property>
</Properties>
</file>