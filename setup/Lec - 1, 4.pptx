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32" r:id="rId1"/>
  </p:sldMasterIdLst>
  <p:notesMasterIdLst>
    <p:notesMasterId r:id="rId40"/>
  </p:notesMasterIdLst>
  <p:sldIdLst>
    <p:sldId id="299" r:id="rId2"/>
    <p:sldId id="256" r:id="rId3"/>
    <p:sldId id="257" r:id="rId4"/>
    <p:sldId id="258" r:id="rId5"/>
    <p:sldId id="260" r:id="rId6"/>
    <p:sldId id="259" r:id="rId7"/>
    <p:sldId id="261" r:id="rId8"/>
    <p:sldId id="262" r:id="rId9"/>
    <p:sldId id="273" r:id="rId10"/>
    <p:sldId id="275" r:id="rId11"/>
    <p:sldId id="276" r:id="rId12"/>
    <p:sldId id="277" r:id="rId13"/>
    <p:sldId id="278" r:id="rId14"/>
    <p:sldId id="263" r:id="rId15"/>
    <p:sldId id="264" r:id="rId16"/>
    <p:sldId id="279" r:id="rId17"/>
    <p:sldId id="280" r:id="rId18"/>
    <p:sldId id="286" r:id="rId19"/>
    <p:sldId id="287" r:id="rId20"/>
    <p:sldId id="281" r:id="rId21"/>
    <p:sldId id="282" r:id="rId22"/>
    <p:sldId id="283" r:id="rId23"/>
    <p:sldId id="288" r:id="rId24"/>
    <p:sldId id="289" r:id="rId25"/>
    <p:sldId id="284" r:id="rId26"/>
    <p:sldId id="290" r:id="rId27"/>
    <p:sldId id="285" r:id="rId28"/>
    <p:sldId id="291" r:id="rId29"/>
    <p:sldId id="296" r:id="rId30"/>
    <p:sldId id="292" r:id="rId31"/>
    <p:sldId id="297" r:id="rId32"/>
    <p:sldId id="293" r:id="rId33"/>
    <p:sldId id="298" r:id="rId34"/>
    <p:sldId id="294" r:id="rId35"/>
    <p:sldId id="270" r:id="rId36"/>
    <p:sldId id="271" r:id="rId37"/>
    <p:sldId id="295" r:id="rId38"/>
    <p:sldId id="269"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00" autoAdjust="0"/>
    <p:restoredTop sz="93957" autoAdjust="0"/>
  </p:normalViewPr>
  <p:slideViewPr>
    <p:cSldViewPr snapToGrid="0">
      <p:cViewPr varScale="1">
        <p:scale>
          <a:sx n="72" d="100"/>
          <a:sy n="72" d="100"/>
        </p:scale>
        <p:origin x="81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ar-S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B7B3DCEB-F03E-449E-90D4-1C243881D1E2}" type="datetimeFigureOut">
              <a:rPr lang="ar-SD" smtClean="0"/>
              <a:t>09/30/2025</a:t>
            </a:fld>
            <a:endParaRPr lang="ar-S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ar-S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ar-S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1C62863F-230D-4943-95C8-D8B7DAEF5006}" type="slidenum">
              <a:rPr lang="ar-SD" smtClean="0"/>
              <a:t>‹#›</a:t>
            </a:fld>
            <a:endParaRPr lang="ar-SD"/>
          </a:p>
        </p:txBody>
      </p:sp>
    </p:spTree>
    <p:extLst>
      <p:ext uri="{BB962C8B-B14F-4D97-AF65-F5344CB8AC3E}">
        <p14:creationId xmlns:p14="http://schemas.microsoft.com/office/powerpoint/2010/main" val="4107386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D" dirty="0"/>
          </a:p>
        </p:txBody>
      </p:sp>
      <p:sp>
        <p:nvSpPr>
          <p:cNvPr id="4" name="Slide Number Placeholder 3"/>
          <p:cNvSpPr>
            <a:spLocks noGrp="1"/>
          </p:cNvSpPr>
          <p:nvPr>
            <p:ph type="sldNum" sz="quarter" idx="5"/>
          </p:nvPr>
        </p:nvSpPr>
        <p:spPr/>
        <p:txBody>
          <a:bodyPr/>
          <a:lstStyle/>
          <a:p>
            <a:fld id="{1C62863F-230D-4943-95C8-D8B7DAEF5006}" type="slidenum">
              <a:rPr lang="ar-SD" smtClean="0"/>
              <a:t>2</a:t>
            </a:fld>
            <a:endParaRPr lang="ar-SD"/>
          </a:p>
        </p:txBody>
      </p:sp>
    </p:spTree>
    <p:extLst>
      <p:ext uri="{BB962C8B-B14F-4D97-AF65-F5344CB8AC3E}">
        <p14:creationId xmlns:p14="http://schemas.microsoft.com/office/powerpoint/2010/main" val="37400679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53EE5-C8E2-4BB5-8362-838874E7B1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776DC21-BD28-4B12-9038-27E3BF5B62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427572A-C9CD-4094-9E85-E32329F5D447}"/>
              </a:ext>
            </a:extLst>
          </p:cNvPr>
          <p:cNvSpPr>
            <a:spLocks noGrp="1"/>
          </p:cNvSpPr>
          <p:nvPr>
            <p:ph type="dt" sz="half" idx="10"/>
          </p:nvPr>
        </p:nvSpPr>
        <p:spPr/>
        <p:txBody>
          <a:bodyPr/>
          <a:lstStyle/>
          <a:p>
            <a:fld id="{AF624DDA-3863-41B0-A764-1DB791D449BC}" type="datetimeFigureOut">
              <a:rPr lang="ar-SD" smtClean="0"/>
              <a:t>09/30/2025</a:t>
            </a:fld>
            <a:endParaRPr lang="ar-SD"/>
          </a:p>
        </p:txBody>
      </p:sp>
      <p:sp>
        <p:nvSpPr>
          <p:cNvPr id="5" name="Footer Placeholder 4">
            <a:extLst>
              <a:ext uri="{FF2B5EF4-FFF2-40B4-BE49-F238E27FC236}">
                <a16:creationId xmlns:a16="http://schemas.microsoft.com/office/drawing/2014/main" id="{B21C0591-5A8E-4105-863C-49F58C0F5BE2}"/>
              </a:ext>
            </a:extLst>
          </p:cNvPr>
          <p:cNvSpPr>
            <a:spLocks noGrp="1"/>
          </p:cNvSpPr>
          <p:nvPr>
            <p:ph type="ftr" sz="quarter" idx="11"/>
          </p:nvPr>
        </p:nvSpPr>
        <p:spPr/>
        <p:txBody>
          <a:bodyPr/>
          <a:lstStyle/>
          <a:p>
            <a:endParaRPr lang="ar-SD"/>
          </a:p>
        </p:txBody>
      </p:sp>
      <p:sp>
        <p:nvSpPr>
          <p:cNvPr id="6" name="Slide Number Placeholder 5">
            <a:extLst>
              <a:ext uri="{FF2B5EF4-FFF2-40B4-BE49-F238E27FC236}">
                <a16:creationId xmlns:a16="http://schemas.microsoft.com/office/drawing/2014/main" id="{26706E7B-70B8-4533-8796-614102F7A410}"/>
              </a:ext>
            </a:extLst>
          </p:cNvPr>
          <p:cNvSpPr>
            <a:spLocks noGrp="1"/>
          </p:cNvSpPr>
          <p:nvPr>
            <p:ph type="sldNum" sz="quarter" idx="12"/>
          </p:nvPr>
        </p:nvSpPr>
        <p:spPr/>
        <p:txBody>
          <a:bodyPr/>
          <a:lstStyle/>
          <a:p>
            <a:fld id="{D61E481C-8905-45B8-9178-ACAA1C457359}" type="slidenum">
              <a:rPr lang="ar-SD" smtClean="0"/>
              <a:t>‹#›</a:t>
            </a:fld>
            <a:endParaRPr lang="ar-SD"/>
          </a:p>
        </p:txBody>
      </p:sp>
    </p:spTree>
    <p:extLst>
      <p:ext uri="{BB962C8B-B14F-4D97-AF65-F5344CB8AC3E}">
        <p14:creationId xmlns:p14="http://schemas.microsoft.com/office/powerpoint/2010/main" val="1701570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66A1B-CAD9-483C-983B-B1D7A6328C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4C4834-DBF8-402A-937D-1AFAA6992D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72857B-173C-4250-98B8-CB48824F7A88}"/>
              </a:ext>
            </a:extLst>
          </p:cNvPr>
          <p:cNvSpPr>
            <a:spLocks noGrp="1"/>
          </p:cNvSpPr>
          <p:nvPr>
            <p:ph type="dt" sz="half" idx="10"/>
          </p:nvPr>
        </p:nvSpPr>
        <p:spPr/>
        <p:txBody>
          <a:bodyPr/>
          <a:lstStyle/>
          <a:p>
            <a:fld id="{AF624DDA-3863-41B0-A764-1DB791D449BC}" type="datetimeFigureOut">
              <a:rPr lang="ar-SD" smtClean="0"/>
              <a:t>09/30/2025</a:t>
            </a:fld>
            <a:endParaRPr lang="ar-SD"/>
          </a:p>
        </p:txBody>
      </p:sp>
      <p:sp>
        <p:nvSpPr>
          <p:cNvPr id="5" name="Footer Placeholder 4">
            <a:extLst>
              <a:ext uri="{FF2B5EF4-FFF2-40B4-BE49-F238E27FC236}">
                <a16:creationId xmlns:a16="http://schemas.microsoft.com/office/drawing/2014/main" id="{8177F9CD-5F0C-4261-AB8A-A0F05618011F}"/>
              </a:ext>
            </a:extLst>
          </p:cNvPr>
          <p:cNvSpPr>
            <a:spLocks noGrp="1"/>
          </p:cNvSpPr>
          <p:nvPr>
            <p:ph type="ftr" sz="quarter" idx="11"/>
          </p:nvPr>
        </p:nvSpPr>
        <p:spPr/>
        <p:txBody>
          <a:bodyPr/>
          <a:lstStyle/>
          <a:p>
            <a:endParaRPr lang="ar-SD"/>
          </a:p>
        </p:txBody>
      </p:sp>
      <p:sp>
        <p:nvSpPr>
          <p:cNvPr id="6" name="Slide Number Placeholder 5">
            <a:extLst>
              <a:ext uri="{FF2B5EF4-FFF2-40B4-BE49-F238E27FC236}">
                <a16:creationId xmlns:a16="http://schemas.microsoft.com/office/drawing/2014/main" id="{E179891D-DFD2-4D1D-AE0D-04B8B23BD9D6}"/>
              </a:ext>
            </a:extLst>
          </p:cNvPr>
          <p:cNvSpPr>
            <a:spLocks noGrp="1"/>
          </p:cNvSpPr>
          <p:nvPr>
            <p:ph type="sldNum" sz="quarter" idx="12"/>
          </p:nvPr>
        </p:nvSpPr>
        <p:spPr/>
        <p:txBody>
          <a:bodyPr/>
          <a:lstStyle/>
          <a:p>
            <a:fld id="{D61E481C-8905-45B8-9178-ACAA1C457359}" type="slidenum">
              <a:rPr lang="ar-SD" smtClean="0"/>
              <a:t>‹#›</a:t>
            </a:fld>
            <a:endParaRPr lang="ar-SD"/>
          </a:p>
        </p:txBody>
      </p:sp>
    </p:spTree>
    <p:extLst>
      <p:ext uri="{BB962C8B-B14F-4D97-AF65-F5344CB8AC3E}">
        <p14:creationId xmlns:p14="http://schemas.microsoft.com/office/powerpoint/2010/main" val="3754101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B423F-C951-4D1C-B798-87C4CBDCF5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4B8E937-3A93-45BD-B91D-DB667792E9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BC9BFB-DF5D-4029-8FCC-62711D4815A2}"/>
              </a:ext>
            </a:extLst>
          </p:cNvPr>
          <p:cNvSpPr>
            <a:spLocks noGrp="1"/>
          </p:cNvSpPr>
          <p:nvPr>
            <p:ph type="dt" sz="half" idx="10"/>
          </p:nvPr>
        </p:nvSpPr>
        <p:spPr/>
        <p:txBody>
          <a:bodyPr/>
          <a:lstStyle/>
          <a:p>
            <a:fld id="{AF624DDA-3863-41B0-A764-1DB791D449BC}" type="datetimeFigureOut">
              <a:rPr lang="ar-SD" smtClean="0"/>
              <a:t>09/30/2025</a:t>
            </a:fld>
            <a:endParaRPr lang="ar-SD"/>
          </a:p>
        </p:txBody>
      </p:sp>
      <p:sp>
        <p:nvSpPr>
          <p:cNvPr id="5" name="Footer Placeholder 4">
            <a:extLst>
              <a:ext uri="{FF2B5EF4-FFF2-40B4-BE49-F238E27FC236}">
                <a16:creationId xmlns:a16="http://schemas.microsoft.com/office/drawing/2014/main" id="{23934B61-FF98-4838-BB59-3DFADA1EE39D}"/>
              </a:ext>
            </a:extLst>
          </p:cNvPr>
          <p:cNvSpPr>
            <a:spLocks noGrp="1"/>
          </p:cNvSpPr>
          <p:nvPr>
            <p:ph type="ftr" sz="quarter" idx="11"/>
          </p:nvPr>
        </p:nvSpPr>
        <p:spPr/>
        <p:txBody>
          <a:bodyPr/>
          <a:lstStyle/>
          <a:p>
            <a:endParaRPr lang="ar-SD"/>
          </a:p>
        </p:txBody>
      </p:sp>
      <p:sp>
        <p:nvSpPr>
          <p:cNvPr id="6" name="Slide Number Placeholder 5">
            <a:extLst>
              <a:ext uri="{FF2B5EF4-FFF2-40B4-BE49-F238E27FC236}">
                <a16:creationId xmlns:a16="http://schemas.microsoft.com/office/drawing/2014/main" id="{D7043B3F-D2F6-466F-8E8D-492D528A4916}"/>
              </a:ext>
            </a:extLst>
          </p:cNvPr>
          <p:cNvSpPr>
            <a:spLocks noGrp="1"/>
          </p:cNvSpPr>
          <p:nvPr>
            <p:ph type="sldNum" sz="quarter" idx="12"/>
          </p:nvPr>
        </p:nvSpPr>
        <p:spPr/>
        <p:txBody>
          <a:bodyPr/>
          <a:lstStyle/>
          <a:p>
            <a:fld id="{D61E481C-8905-45B8-9178-ACAA1C457359}" type="slidenum">
              <a:rPr lang="ar-SD" smtClean="0"/>
              <a:t>‹#›</a:t>
            </a:fld>
            <a:endParaRPr lang="ar-SD"/>
          </a:p>
        </p:txBody>
      </p:sp>
    </p:spTree>
    <p:extLst>
      <p:ext uri="{BB962C8B-B14F-4D97-AF65-F5344CB8AC3E}">
        <p14:creationId xmlns:p14="http://schemas.microsoft.com/office/powerpoint/2010/main" val="2636827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0867A-59CF-480A-82E4-34DBE9108A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87CF3A-8F46-4654-8B39-41C7560B18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8E6BEE-D8A0-4DC3-BBEF-416837C0EE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AD3347E-96DA-421B-990C-EBECA9B70D2F}"/>
              </a:ext>
            </a:extLst>
          </p:cNvPr>
          <p:cNvSpPr>
            <a:spLocks noGrp="1"/>
          </p:cNvSpPr>
          <p:nvPr>
            <p:ph type="dt" sz="half" idx="10"/>
          </p:nvPr>
        </p:nvSpPr>
        <p:spPr/>
        <p:txBody>
          <a:bodyPr/>
          <a:lstStyle/>
          <a:p>
            <a:fld id="{AF624DDA-3863-41B0-A764-1DB791D449BC}" type="datetimeFigureOut">
              <a:rPr lang="ar-SD" smtClean="0"/>
              <a:t>09/30/2025</a:t>
            </a:fld>
            <a:endParaRPr lang="ar-SD"/>
          </a:p>
        </p:txBody>
      </p:sp>
      <p:sp>
        <p:nvSpPr>
          <p:cNvPr id="6" name="Footer Placeholder 5">
            <a:extLst>
              <a:ext uri="{FF2B5EF4-FFF2-40B4-BE49-F238E27FC236}">
                <a16:creationId xmlns:a16="http://schemas.microsoft.com/office/drawing/2014/main" id="{19796615-EA7F-4881-81FC-0648A10D61C1}"/>
              </a:ext>
            </a:extLst>
          </p:cNvPr>
          <p:cNvSpPr>
            <a:spLocks noGrp="1"/>
          </p:cNvSpPr>
          <p:nvPr>
            <p:ph type="ftr" sz="quarter" idx="11"/>
          </p:nvPr>
        </p:nvSpPr>
        <p:spPr/>
        <p:txBody>
          <a:bodyPr/>
          <a:lstStyle/>
          <a:p>
            <a:endParaRPr lang="ar-SD"/>
          </a:p>
        </p:txBody>
      </p:sp>
      <p:sp>
        <p:nvSpPr>
          <p:cNvPr id="7" name="Slide Number Placeholder 6">
            <a:extLst>
              <a:ext uri="{FF2B5EF4-FFF2-40B4-BE49-F238E27FC236}">
                <a16:creationId xmlns:a16="http://schemas.microsoft.com/office/drawing/2014/main" id="{E52992CA-004D-44CB-8BA3-081998185CBF}"/>
              </a:ext>
            </a:extLst>
          </p:cNvPr>
          <p:cNvSpPr>
            <a:spLocks noGrp="1"/>
          </p:cNvSpPr>
          <p:nvPr>
            <p:ph type="sldNum" sz="quarter" idx="12"/>
          </p:nvPr>
        </p:nvSpPr>
        <p:spPr/>
        <p:txBody>
          <a:bodyPr/>
          <a:lstStyle/>
          <a:p>
            <a:fld id="{D61E481C-8905-45B8-9178-ACAA1C457359}" type="slidenum">
              <a:rPr lang="ar-SD" smtClean="0"/>
              <a:t>‹#›</a:t>
            </a:fld>
            <a:endParaRPr lang="ar-SD"/>
          </a:p>
        </p:txBody>
      </p:sp>
    </p:spTree>
    <p:extLst>
      <p:ext uri="{BB962C8B-B14F-4D97-AF65-F5344CB8AC3E}">
        <p14:creationId xmlns:p14="http://schemas.microsoft.com/office/powerpoint/2010/main" val="2568963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45513-B46E-4AFC-A91A-AFC3C58FC1C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60C463-B16D-4A41-9416-6BD497F743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F8B51D-9C42-40AE-A115-8FC4384FBC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0A0CA51-11EC-4188-A526-3C18B4CA07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264327-B7B7-405C-AE01-8026325000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352263-B999-492E-A705-2CBD0C8EB3B5}"/>
              </a:ext>
            </a:extLst>
          </p:cNvPr>
          <p:cNvSpPr>
            <a:spLocks noGrp="1"/>
          </p:cNvSpPr>
          <p:nvPr>
            <p:ph type="dt" sz="half" idx="10"/>
          </p:nvPr>
        </p:nvSpPr>
        <p:spPr/>
        <p:txBody>
          <a:bodyPr/>
          <a:lstStyle/>
          <a:p>
            <a:fld id="{AF624DDA-3863-41B0-A764-1DB791D449BC}" type="datetimeFigureOut">
              <a:rPr lang="ar-SD" smtClean="0"/>
              <a:t>09/30/2025</a:t>
            </a:fld>
            <a:endParaRPr lang="ar-SD"/>
          </a:p>
        </p:txBody>
      </p:sp>
      <p:sp>
        <p:nvSpPr>
          <p:cNvPr id="8" name="Footer Placeholder 7">
            <a:extLst>
              <a:ext uri="{FF2B5EF4-FFF2-40B4-BE49-F238E27FC236}">
                <a16:creationId xmlns:a16="http://schemas.microsoft.com/office/drawing/2014/main" id="{91B570F5-983C-4B09-8D27-1D35FEBB4FB7}"/>
              </a:ext>
            </a:extLst>
          </p:cNvPr>
          <p:cNvSpPr>
            <a:spLocks noGrp="1"/>
          </p:cNvSpPr>
          <p:nvPr>
            <p:ph type="ftr" sz="quarter" idx="11"/>
          </p:nvPr>
        </p:nvSpPr>
        <p:spPr/>
        <p:txBody>
          <a:bodyPr/>
          <a:lstStyle/>
          <a:p>
            <a:endParaRPr lang="ar-SD"/>
          </a:p>
        </p:txBody>
      </p:sp>
      <p:sp>
        <p:nvSpPr>
          <p:cNvPr id="9" name="Slide Number Placeholder 8">
            <a:extLst>
              <a:ext uri="{FF2B5EF4-FFF2-40B4-BE49-F238E27FC236}">
                <a16:creationId xmlns:a16="http://schemas.microsoft.com/office/drawing/2014/main" id="{1E09D28A-4344-47F4-8E80-430FAA4B5496}"/>
              </a:ext>
            </a:extLst>
          </p:cNvPr>
          <p:cNvSpPr>
            <a:spLocks noGrp="1"/>
          </p:cNvSpPr>
          <p:nvPr>
            <p:ph type="sldNum" sz="quarter" idx="12"/>
          </p:nvPr>
        </p:nvSpPr>
        <p:spPr/>
        <p:txBody>
          <a:bodyPr/>
          <a:lstStyle/>
          <a:p>
            <a:fld id="{D61E481C-8905-45B8-9178-ACAA1C457359}" type="slidenum">
              <a:rPr lang="ar-SD" smtClean="0"/>
              <a:t>‹#›</a:t>
            </a:fld>
            <a:endParaRPr lang="ar-SD"/>
          </a:p>
        </p:txBody>
      </p:sp>
    </p:spTree>
    <p:extLst>
      <p:ext uri="{BB962C8B-B14F-4D97-AF65-F5344CB8AC3E}">
        <p14:creationId xmlns:p14="http://schemas.microsoft.com/office/powerpoint/2010/main" val="23428094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8367B-1873-45BA-9AC9-2AD11526180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FD62645-9F21-439F-AF98-491DE59EB3F2}"/>
              </a:ext>
            </a:extLst>
          </p:cNvPr>
          <p:cNvSpPr>
            <a:spLocks noGrp="1"/>
          </p:cNvSpPr>
          <p:nvPr>
            <p:ph type="dt" sz="half" idx="10"/>
          </p:nvPr>
        </p:nvSpPr>
        <p:spPr/>
        <p:txBody>
          <a:bodyPr/>
          <a:lstStyle/>
          <a:p>
            <a:fld id="{AF624DDA-3863-41B0-A764-1DB791D449BC}" type="datetimeFigureOut">
              <a:rPr lang="ar-SD" smtClean="0"/>
              <a:t>09/30/2025</a:t>
            </a:fld>
            <a:endParaRPr lang="ar-SD"/>
          </a:p>
        </p:txBody>
      </p:sp>
      <p:sp>
        <p:nvSpPr>
          <p:cNvPr id="4" name="Footer Placeholder 3">
            <a:extLst>
              <a:ext uri="{FF2B5EF4-FFF2-40B4-BE49-F238E27FC236}">
                <a16:creationId xmlns:a16="http://schemas.microsoft.com/office/drawing/2014/main" id="{5D90EEAA-31FD-4A8C-95D1-86BFB5518648}"/>
              </a:ext>
            </a:extLst>
          </p:cNvPr>
          <p:cNvSpPr>
            <a:spLocks noGrp="1"/>
          </p:cNvSpPr>
          <p:nvPr>
            <p:ph type="ftr" sz="quarter" idx="11"/>
          </p:nvPr>
        </p:nvSpPr>
        <p:spPr/>
        <p:txBody>
          <a:bodyPr/>
          <a:lstStyle/>
          <a:p>
            <a:endParaRPr lang="ar-SD"/>
          </a:p>
        </p:txBody>
      </p:sp>
      <p:sp>
        <p:nvSpPr>
          <p:cNvPr id="5" name="Slide Number Placeholder 4">
            <a:extLst>
              <a:ext uri="{FF2B5EF4-FFF2-40B4-BE49-F238E27FC236}">
                <a16:creationId xmlns:a16="http://schemas.microsoft.com/office/drawing/2014/main" id="{6871A48C-F891-4453-9D24-53584525FFCE}"/>
              </a:ext>
            </a:extLst>
          </p:cNvPr>
          <p:cNvSpPr>
            <a:spLocks noGrp="1"/>
          </p:cNvSpPr>
          <p:nvPr>
            <p:ph type="sldNum" sz="quarter" idx="12"/>
          </p:nvPr>
        </p:nvSpPr>
        <p:spPr/>
        <p:txBody>
          <a:bodyPr/>
          <a:lstStyle/>
          <a:p>
            <a:fld id="{D61E481C-8905-45B8-9178-ACAA1C457359}" type="slidenum">
              <a:rPr lang="ar-SD" smtClean="0"/>
              <a:t>‹#›</a:t>
            </a:fld>
            <a:endParaRPr lang="ar-SD"/>
          </a:p>
        </p:txBody>
      </p:sp>
    </p:spTree>
    <p:extLst>
      <p:ext uri="{BB962C8B-B14F-4D97-AF65-F5344CB8AC3E}">
        <p14:creationId xmlns:p14="http://schemas.microsoft.com/office/powerpoint/2010/main" val="1100088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5DD27A-1B16-4D37-8324-2C92D46AA95E}"/>
              </a:ext>
            </a:extLst>
          </p:cNvPr>
          <p:cNvSpPr>
            <a:spLocks noGrp="1"/>
          </p:cNvSpPr>
          <p:nvPr>
            <p:ph type="dt" sz="half" idx="10"/>
          </p:nvPr>
        </p:nvSpPr>
        <p:spPr/>
        <p:txBody>
          <a:bodyPr/>
          <a:lstStyle/>
          <a:p>
            <a:fld id="{AF624DDA-3863-41B0-A764-1DB791D449BC}" type="datetimeFigureOut">
              <a:rPr lang="ar-SD" smtClean="0"/>
              <a:t>09/30/2025</a:t>
            </a:fld>
            <a:endParaRPr lang="ar-SD"/>
          </a:p>
        </p:txBody>
      </p:sp>
      <p:sp>
        <p:nvSpPr>
          <p:cNvPr id="3" name="Footer Placeholder 2">
            <a:extLst>
              <a:ext uri="{FF2B5EF4-FFF2-40B4-BE49-F238E27FC236}">
                <a16:creationId xmlns:a16="http://schemas.microsoft.com/office/drawing/2014/main" id="{7D688CC8-2E3E-4AA6-A326-FC5280B73A63}"/>
              </a:ext>
            </a:extLst>
          </p:cNvPr>
          <p:cNvSpPr>
            <a:spLocks noGrp="1"/>
          </p:cNvSpPr>
          <p:nvPr>
            <p:ph type="ftr" sz="quarter" idx="11"/>
          </p:nvPr>
        </p:nvSpPr>
        <p:spPr/>
        <p:txBody>
          <a:bodyPr/>
          <a:lstStyle/>
          <a:p>
            <a:endParaRPr lang="ar-SD"/>
          </a:p>
        </p:txBody>
      </p:sp>
      <p:sp>
        <p:nvSpPr>
          <p:cNvPr id="4" name="Slide Number Placeholder 3">
            <a:extLst>
              <a:ext uri="{FF2B5EF4-FFF2-40B4-BE49-F238E27FC236}">
                <a16:creationId xmlns:a16="http://schemas.microsoft.com/office/drawing/2014/main" id="{E144439E-5E80-4206-8F66-B4BEAC1E7E4E}"/>
              </a:ext>
            </a:extLst>
          </p:cNvPr>
          <p:cNvSpPr>
            <a:spLocks noGrp="1"/>
          </p:cNvSpPr>
          <p:nvPr>
            <p:ph type="sldNum" sz="quarter" idx="12"/>
          </p:nvPr>
        </p:nvSpPr>
        <p:spPr/>
        <p:txBody>
          <a:bodyPr/>
          <a:lstStyle/>
          <a:p>
            <a:fld id="{D61E481C-8905-45B8-9178-ACAA1C457359}" type="slidenum">
              <a:rPr lang="ar-SD" smtClean="0"/>
              <a:t>‹#›</a:t>
            </a:fld>
            <a:endParaRPr lang="ar-SD"/>
          </a:p>
        </p:txBody>
      </p:sp>
    </p:spTree>
    <p:extLst>
      <p:ext uri="{BB962C8B-B14F-4D97-AF65-F5344CB8AC3E}">
        <p14:creationId xmlns:p14="http://schemas.microsoft.com/office/powerpoint/2010/main" val="28487500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A60D8-38A3-4A32-BCDB-0064FBA3DE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E87FB69-5F74-4221-A759-0B1FDD4D1F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D075F3E-4EC0-4F0E-8779-EC069291BF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3B3310-7F00-46DD-9769-1972FC8927B1}"/>
              </a:ext>
            </a:extLst>
          </p:cNvPr>
          <p:cNvSpPr>
            <a:spLocks noGrp="1"/>
          </p:cNvSpPr>
          <p:nvPr>
            <p:ph type="dt" sz="half" idx="10"/>
          </p:nvPr>
        </p:nvSpPr>
        <p:spPr/>
        <p:txBody>
          <a:bodyPr/>
          <a:lstStyle/>
          <a:p>
            <a:fld id="{AF624DDA-3863-41B0-A764-1DB791D449BC}" type="datetimeFigureOut">
              <a:rPr lang="ar-SD" smtClean="0"/>
              <a:t>09/30/2025</a:t>
            </a:fld>
            <a:endParaRPr lang="ar-SD"/>
          </a:p>
        </p:txBody>
      </p:sp>
      <p:sp>
        <p:nvSpPr>
          <p:cNvPr id="6" name="Footer Placeholder 5">
            <a:extLst>
              <a:ext uri="{FF2B5EF4-FFF2-40B4-BE49-F238E27FC236}">
                <a16:creationId xmlns:a16="http://schemas.microsoft.com/office/drawing/2014/main" id="{D42985B4-6175-4D3F-B56E-B78A1D51E90F}"/>
              </a:ext>
            </a:extLst>
          </p:cNvPr>
          <p:cNvSpPr>
            <a:spLocks noGrp="1"/>
          </p:cNvSpPr>
          <p:nvPr>
            <p:ph type="ftr" sz="quarter" idx="11"/>
          </p:nvPr>
        </p:nvSpPr>
        <p:spPr/>
        <p:txBody>
          <a:bodyPr/>
          <a:lstStyle/>
          <a:p>
            <a:endParaRPr lang="ar-SD"/>
          </a:p>
        </p:txBody>
      </p:sp>
      <p:sp>
        <p:nvSpPr>
          <p:cNvPr id="7" name="Slide Number Placeholder 6">
            <a:extLst>
              <a:ext uri="{FF2B5EF4-FFF2-40B4-BE49-F238E27FC236}">
                <a16:creationId xmlns:a16="http://schemas.microsoft.com/office/drawing/2014/main" id="{3B75F005-5039-4945-B388-D65C67CD102D}"/>
              </a:ext>
            </a:extLst>
          </p:cNvPr>
          <p:cNvSpPr>
            <a:spLocks noGrp="1"/>
          </p:cNvSpPr>
          <p:nvPr>
            <p:ph type="sldNum" sz="quarter" idx="12"/>
          </p:nvPr>
        </p:nvSpPr>
        <p:spPr/>
        <p:txBody>
          <a:bodyPr/>
          <a:lstStyle/>
          <a:p>
            <a:fld id="{D61E481C-8905-45B8-9178-ACAA1C457359}" type="slidenum">
              <a:rPr lang="ar-SD" smtClean="0"/>
              <a:t>‹#›</a:t>
            </a:fld>
            <a:endParaRPr lang="ar-SD"/>
          </a:p>
        </p:txBody>
      </p:sp>
    </p:spTree>
    <p:extLst>
      <p:ext uri="{BB962C8B-B14F-4D97-AF65-F5344CB8AC3E}">
        <p14:creationId xmlns:p14="http://schemas.microsoft.com/office/powerpoint/2010/main" val="2673949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00AAC-F369-4A45-BBDE-6ED3D3E193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FC89AFE-4E77-42C5-9995-28C5FDEB7A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4E3C35-5483-45F9-BFD3-F3CE88DDFD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35D886-A4F3-431E-BBCE-A1C7FE5FFDDE}"/>
              </a:ext>
            </a:extLst>
          </p:cNvPr>
          <p:cNvSpPr>
            <a:spLocks noGrp="1"/>
          </p:cNvSpPr>
          <p:nvPr>
            <p:ph type="dt" sz="half" idx="10"/>
          </p:nvPr>
        </p:nvSpPr>
        <p:spPr/>
        <p:txBody>
          <a:bodyPr/>
          <a:lstStyle/>
          <a:p>
            <a:fld id="{AF624DDA-3863-41B0-A764-1DB791D449BC}" type="datetimeFigureOut">
              <a:rPr lang="ar-SD" smtClean="0"/>
              <a:t>09/30/2025</a:t>
            </a:fld>
            <a:endParaRPr lang="ar-SD"/>
          </a:p>
        </p:txBody>
      </p:sp>
      <p:sp>
        <p:nvSpPr>
          <p:cNvPr id="6" name="Footer Placeholder 5">
            <a:extLst>
              <a:ext uri="{FF2B5EF4-FFF2-40B4-BE49-F238E27FC236}">
                <a16:creationId xmlns:a16="http://schemas.microsoft.com/office/drawing/2014/main" id="{4B915022-01D5-489F-9D14-A573BA92551D}"/>
              </a:ext>
            </a:extLst>
          </p:cNvPr>
          <p:cNvSpPr>
            <a:spLocks noGrp="1"/>
          </p:cNvSpPr>
          <p:nvPr>
            <p:ph type="ftr" sz="quarter" idx="11"/>
          </p:nvPr>
        </p:nvSpPr>
        <p:spPr/>
        <p:txBody>
          <a:bodyPr/>
          <a:lstStyle/>
          <a:p>
            <a:endParaRPr lang="ar-SD"/>
          </a:p>
        </p:txBody>
      </p:sp>
      <p:sp>
        <p:nvSpPr>
          <p:cNvPr id="7" name="Slide Number Placeholder 6">
            <a:extLst>
              <a:ext uri="{FF2B5EF4-FFF2-40B4-BE49-F238E27FC236}">
                <a16:creationId xmlns:a16="http://schemas.microsoft.com/office/drawing/2014/main" id="{1529B996-E32C-4CF5-B77F-671D019C62F1}"/>
              </a:ext>
            </a:extLst>
          </p:cNvPr>
          <p:cNvSpPr>
            <a:spLocks noGrp="1"/>
          </p:cNvSpPr>
          <p:nvPr>
            <p:ph type="sldNum" sz="quarter" idx="12"/>
          </p:nvPr>
        </p:nvSpPr>
        <p:spPr/>
        <p:txBody>
          <a:bodyPr/>
          <a:lstStyle/>
          <a:p>
            <a:fld id="{D61E481C-8905-45B8-9178-ACAA1C457359}" type="slidenum">
              <a:rPr lang="ar-SD" smtClean="0"/>
              <a:t>‹#›</a:t>
            </a:fld>
            <a:endParaRPr lang="ar-SD"/>
          </a:p>
        </p:txBody>
      </p:sp>
    </p:spTree>
    <p:extLst>
      <p:ext uri="{BB962C8B-B14F-4D97-AF65-F5344CB8AC3E}">
        <p14:creationId xmlns:p14="http://schemas.microsoft.com/office/powerpoint/2010/main" val="4199689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F6C99-EE60-40A0-BE4A-CDE9D80ACE8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3526EAB-65F1-4BD6-AC06-C8915A3F15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1C6909-DBEA-4B2D-97EC-30B091DE057B}"/>
              </a:ext>
            </a:extLst>
          </p:cNvPr>
          <p:cNvSpPr>
            <a:spLocks noGrp="1"/>
          </p:cNvSpPr>
          <p:nvPr>
            <p:ph type="dt" sz="half" idx="10"/>
          </p:nvPr>
        </p:nvSpPr>
        <p:spPr/>
        <p:txBody>
          <a:bodyPr/>
          <a:lstStyle/>
          <a:p>
            <a:fld id="{AF624DDA-3863-41B0-A764-1DB791D449BC}" type="datetimeFigureOut">
              <a:rPr lang="ar-SD" smtClean="0"/>
              <a:t>09/30/2025</a:t>
            </a:fld>
            <a:endParaRPr lang="ar-SD"/>
          </a:p>
        </p:txBody>
      </p:sp>
      <p:sp>
        <p:nvSpPr>
          <p:cNvPr id="5" name="Footer Placeholder 4">
            <a:extLst>
              <a:ext uri="{FF2B5EF4-FFF2-40B4-BE49-F238E27FC236}">
                <a16:creationId xmlns:a16="http://schemas.microsoft.com/office/drawing/2014/main" id="{71561D28-823C-446A-A89C-10A4D0D16D6D}"/>
              </a:ext>
            </a:extLst>
          </p:cNvPr>
          <p:cNvSpPr>
            <a:spLocks noGrp="1"/>
          </p:cNvSpPr>
          <p:nvPr>
            <p:ph type="ftr" sz="quarter" idx="11"/>
          </p:nvPr>
        </p:nvSpPr>
        <p:spPr/>
        <p:txBody>
          <a:bodyPr/>
          <a:lstStyle/>
          <a:p>
            <a:endParaRPr lang="ar-SD"/>
          </a:p>
        </p:txBody>
      </p:sp>
      <p:sp>
        <p:nvSpPr>
          <p:cNvPr id="6" name="Slide Number Placeholder 5">
            <a:extLst>
              <a:ext uri="{FF2B5EF4-FFF2-40B4-BE49-F238E27FC236}">
                <a16:creationId xmlns:a16="http://schemas.microsoft.com/office/drawing/2014/main" id="{3B181AA5-D0DF-42AC-940A-C037E22E1E81}"/>
              </a:ext>
            </a:extLst>
          </p:cNvPr>
          <p:cNvSpPr>
            <a:spLocks noGrp="1"/>
          </p:cNvSpPr>
          <p:nvPr>
            <p:ph type="sldNum" sz="quarter" idx="12"/>
          </p:nvPr>
        </p:nvSpPr>
        <p:spPr/>
        <p:txBody>
          <a:bodyPr/>
          <a:lstStyle/>
          <a:p>
            <a:fld id="{D61E481C-8905-45B8-9178-ACAA1C457359}" type="slidenum">
              <a:rPr lang="ar-SD" smtClean="0"/>
              <a:t>‹#›</a:t>
            </a:fld>
            <a:endParaRPr lang="ar-SD"/>
          </a:p>
        </p:txBody>
      </p:sp>
    </p:spTree>
    <p:extLst>
      <p:ext uri="{BB962C8B-B14F-4D97-AF65-F5344CB8AC3E}">
        <p14:creationId xmlns:p14="http://schemas.microsoft.com/office/powerpoint/2010/main" val="1070624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245B6F-AEF4-466C-BA0D-DB8B3E24195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3B48A51-7CA4-47D8-936D-DD5C3BB8BE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6D0C02-0F3B-49EA-88BF-8D37B00B4490}"/>
              </a:ext>
            </a:extLst>
          </p:cNvPr>
          <p:cNvSpPr>
            <a:spLocks noGrp="1"/>
          </p:cNvSpPr>
          <p:nvPr>
            <p:ph type="dt" sz="half" idx="10"/>
          </p:nvPr>
        </p:nvSpPr>
        <p:spPr/>
        <p:txBody>
          <a:bodyPr/>
          <a:lstStyle/>
          <a:p>
            <a:fld id="{AF624DDA-3863-41B0-A764-1DB791D449BC}" type="datetimeFigureOut">
              <a:rPr lang="ar-SD" smtClean="0"/>
              <a:t>09/30/2025</a:t>
            </a:fld>
            <a:endParaRPr lang="ar-SD"/>
          </a:p>
        </p:txBody>
      </p:sp>
      <p:sp>
        <p:nvSpPr>
          <p:cNvPr id="5" name="Footer Placeholder 4">
            <a:extLst>
              <a:ext uri="{FF2B5EF4-FFF2-40B4-BE49-F238E27FC236}">
                <a16:creationId xmlns:a16="http://schemas.microsoft.com/office/drawing/2014/main" id="{CF676962-DEE0-45DC-B32D-411D8FE9A621}"/>
              </a:ext>
            </a:extLst>
          </p:cNvPr>
          <p:cNvSpPr>
            <a:spLocks noGrp="1"/>
          </p:cNvSpPr>
          <p:nvPr>
            <p:ph type="ftr" sz="quarter" idx="11"/>
          </p:nvPr>
        </p:nvSpPr>
        <p:spPr/>
        <p:txBody>
          <a:bodyPr/>
          <a:lstStyle/>
          <a:p>
            <a:endParaRPr lang="ar-SD"/>
          </a:p>
        </p:txBody>
      </p:sp>
      <p:sp>
        <p:nvSpPr>
          <p:cNvPr id="6" name="Slide Number Placeholder 5">
            <a:extLst>
              <a:ext uri="{FF2B5EF4-FFF2-40B4-BE49-F238E27FC236}">
                <a16:creationId xmlns:a16="http://schemas.microsoft.com/office/drawing/2014/main" id="{DFDF0B2F-A8C6-4A9D-A83A-EA67F2A888AD}"/>
              </a:ext>
            </a:extLst>
          </p:cNvPr>
          <p:cNvSpPr>
            <a:spLocks noGrp="1"/>
          </p:cNvSpPr>
          <p:nvPr>
            <p:ph type="sldNum" sz="quarter" idx="12"/>
          </p:nvPr>
        </p:nvSpPr>
        <p:spPr/>
        <p:txBody>
          <a:bodyPr/>
          <a:lstStyle/>
          <a:p>
            <a:fld id="{D61E481C-8905-45B8-9178-ACAA1C457359}" type="slidenum">
              <a:rPr lang="ar-SD" smtClean="0"/>
              <a:t>‹#›</a:t>
            </a:fld>
            <a:endParaRPr lang="ar-SD"/>
          </a:p>
        </p:txBody>
      </p:sp>
    </p:spTree>
    <p:extLst>
      <p:ext uri="{BB962C8B-B14F-4D97-AF65-F5344CB8AC3E}">
        <p14:creationId xmlns:p14="http://schemas.microsoft.com/office/powerpoint/2010/main" val="42238737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F624DDA-3863-41B0-A764-1DB791D449BC}" type="datetimeFigureOut">
              <a:rPr lang="ar-SD" smtClean="0"/>
              <a:t>09/30/2025</a:t>
            </a:fld>
            <a:endParaRPr lang="ar-SD"/>
          </a:p>
        </p:txBody>
      </p:sp>
      <p:sp>
        <p:nvSpPr>
          <p:cNvPr id="5" name="Footer Placeholder 4"/>
          <p:cNvSpPr>
            <a:spLocks noGrp="1"/>
          </p:cNvSpPr>
          <p:nvPr>
            <p:ph type="ftr" sz="quarter" idx="11"/>
          </p:nvPr>
        </p:nvSpPr>
        <p:spPr/>
        <p:txBody>
          <a:bodyPr/>
          <a:lstStyle/>
          <a:p>
            <a:endParaRPr lang="ar-SD"/>
          </a:p>
        </p:txBody>
      </p:sp>
      <p:sp>
        <p:nvSpPr>
          <p:cNvPr id="6" name="Slide Number Placeholder 5"/>
          <p:cNvSpPr>
            <a:spLocks noGrp="1"/>
          </p:cNvSpPr>
          <p:nvPr>
            <p:ph type="sldNum" sz="quarter" idx="12"/>
          </p:nvPr>
        </p:nvSpPr>
        <p:spPr/>
        <p:txBody>
          <a:bodyPr/>
          <a:lstStyle/>
          <a:p>
            <a:fld id="{D61E481C-8905-45B8-9178-ACAA1C457359}" type="slidenum">
              <a:rPr lang="ar-SD" smtClean="0"/>
              <a:t>‹#›</a:t>
            </a:fld>
            <a:endParaRPr lang="ar-SD"/>
          </a:p>
        </p:txBody>
      </p:sp>
    </p:spTree>
    <p:extLst>
      <p:ext uri="{BB962C8B-B14F-4D97-AF65-F5344CB8AC3E}">
        <p14:creationId xmlns:p14="http://schemas.microsoft.com/office/powerpoint/2010/main" val="226384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5CE19A-786F-45FF-8306-9140B62CAB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CB0761-C781-4856-A79C-412CF6C337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84E7C4-4A24-4BD6-B3C4-D1D6499887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624DDA-3863-41B0-A764-1DB791D449BC}" type="datetimeFigureOut">
              <a:rPr lang="ar-SD" smtClean="0"/>
              <a:t>09/30/2025</a:t>
            </a:fld>
            <a:endParaRPr lang="ar-SD"/>
          </a:p>
        </p:txBody>
      </p:sp>
      <p:sp>
        <p:nvSpPr>
          <p:cNvPr id="5" name="Footer Placeholder 4">
            <a:extLst>
              <a:ext uri="{FF2B5EF4-FFF2-40B4-BE49-F238E27FC236}">
                <a16:creationId xmlns:a16="http://schemas.microsoft.com/office/drawing/2014/main" id="{9843B9A4-2D74-4BDD-8B54-C2D5B46756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ar-SD"/>
          </a:p>
        </p:txBody>
      </p:sp>
      <p:sp>
        <p:nvSpPr>
          <p:cNvPr id="6" name="Slide Number Placeholder 5">
            <a:extLst>
              <a:ext uri="{FF2B5EF4-FFF2-40B4-BE49-F238E27FC236}">
                <a16:creationId xmlns:a16="http://schemas.microsoft.com/office/drawing/2014/main" id="{833E1EC1-9BC4-48DC-AA70-BD1725EFA7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1E481C-8905-45B8-9178-ACAA1C457359}" type="slidenum">
              <a:rPr lang="ar-SD" smtClean="0"/>
              <a:t>‹#›</a:t>
            </a:fld>
            <a:endParaRPr lang="ar-SD"/>
          </a:p>
        </p:txBody>
      </p:sp>
      <p:sp>
        <p:nvSpPr>
          <p:cNvPr id="7" name="Rectangle 6">
            <a:extLst>
              <a:ext uri="{FF2B5EF4-FFF2-40B4-BE49-F238E27FC236}">
                <a16:creationId xmlns:a16="http://schemas.microsoft.com/office/drawing/2014/main" id="{0D76DC76-FC5C-45C2-BADD-51C3A33EC8E3}"/>
              </a:ext>
            </a:extLst>
          </p:cNvPr>
          <p:cNvSpPr/>
          <p:nvPr userDrawn="1"/>
        </p:nvSpPr>
        <p:spPr>
          <a:xfrm>
            <a:off x="1350434" y="0"/>
            <a:ext cx="1084156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1800"/>
          </a:p>
        </p:txBody>
      </p:sp>
    </p:spTree>
    <p:extLst>
      <p:ext uri="{BB962C8B-B14F-4D97-AF65-F5344CB8AC3E}">
        <p14:creationId xmlns:p14="http://schemas.microsoft.com/office/powerpoint/2010/main" val="1255796273"/>
      </p:ext>
    </p:extLst>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 id="214748404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605ED-6A45-FD63-0158-F8B651776581}"/>
              </a:ext>
            </a:extLst>
          </p:cNvPr>
          <p:cNvSpPr>
            <a:spLocks noGrp="1"/>
          </p:cNvSpPr>
          <p:nvPr>
            <p:ph type="ctrTitle"/>
          </p:nvPr>
        </p:nvSpPr>
        <p:spPr/>
        <p:txBody>
          <a:bodyPr/>
          <a:lstStyle/>
          <a:p>
            <a:r>
              <a:rPr lang="en-US" dirty="0"/>
              <a:t>Software Testing and Quality Assurance </a:t>
            </a:r>
            <a:endParaRPr lang="ar-SD" dirty="0"/>
          </a:p>
        </p:txBody>
      </p:sp>
      <p:sp>
        <p:nvSpPr>
          <p:cNvPr id="3" name="Subtitle 2">
            <a:extLst>
              <a:ext uri="{FF2B5EF4-FFF2-40B4-BE49-F238E27FC236}">
                <a16:creationId xmlns:a16="http://schemas.microsoft.com/office/drawing/2014/main" id="{C51A3B36-BB8C-B5A6-FA27-F318FF9CF668}"/>
              </a:ext>
            </a:extLst>
          </p:cNvPr>
          <p:cNvSpPr>
            <a:spLocks noGrp="1"/>
          </p:cNvSpPr>
          <p:nvPr>
            <p:ph type="subTitle" idx="1"/>
          </p:nvPr>
        </p:nvSpPr>
        <p:spPr/>
        <p:txBody>
          <a:bodyPr/>
          <a:lstStyle/>
          <a:p>
            <a:endParaRPr lang="ar-SD"/>
          </a:p>
        </p:txBody>
      </p:sp>
    </p:spTree>
    <p:extLst>
      <p:ext uri="{BB962C8B-B14F-4D97-AF65-F5344CB8AC3E}">
        <p14:creationId xmlns:p14="http://schemas.microsoft.com/office/powerpoint/2010/main" val="33906699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2268B0C-337B-C876-1B76-112F54B94E84}"/>
              </a:ext>
            </a:extLst>
          </p:cNvPr>
          <p:cNvSpPr txBox="1"/>
          <p:nvPr/>
        </p:nvSpPr>
        <p:spPr>
          <a:xfrm>
            <a:off x="800100" y="483165"/>
            <a:ext cx="10161270" cy="4269246"/>
          </a:xfrm>
          <a:prstGeom prst="rect">
            <a:avLst/>
          </a:prstGeom>
          <a:noFill/>
        </p:spPr>
        <p:txBody>
          <a:bodyPr wrap="square">
            <a:spAutoFit/>
          </a:bodyPr>
          <a:lstStyle/>
          <a:p>
            <a:pPr marL="100965" algn="just">
              <a:lnSpc>
                <a:spcPct val="100000"/>
              </a:lnSpc>
              <a:spcBef>
                <a:spcPts val="880"/>
              </a:spcBef>
            </a:pPr>
            <a:r>
              <a:rPr lang="en-US" sz="1800" b="1" spc="-5" dirty="0">
                <a:latin typeface="Times New Roman"/>
                <a:cs typeface="Times New Roman"/>
              </a:rPr>
              <a:t>Software</a:t>
            </a:r>
            <a:r>
              <a:rPr lang="en-US" sz="1800" b="1" spc="-65" dirty="0">
                <a:latin typeface="Times New Roman"/>
                <a:cs typeface="Times New Roman"/>
              </a:rPr>
              <a:t> </a:t>
            </a:r>
            <a:r>
              <a:rPr lang="en-US" sz="1800" b="1" spc="-5" dirty="0">
                <a:latin typeface="Times New Roman"/>
                <a:cs typeface="Times New Roman"/>
              </a:rPr>
              <a:t>Quality</a:t>
            </a:r>
            <a:endParaRPr lang="en-US" sz="1800" dirty="0">
              <a:latin typeface="Times New Roman"/>
              <a:cs typeface="Times New Roman"/>
            </a:endParaRPr>
          </a:p>
          <a:p>
            <a:pPr marL="100965" marR="5080" algn="just">
              <a:lnSpc>
                <a:spcPct val="143300"/>
              </a:lnSpc>
              <a:spcBef>
                <a:spcPts val="195"/>
              </a:spcBef>
            </a:pPr>
            <a:r>
              <a:rPr lang="en-US" sz="1800" spc="-5" dirty="0">
                <a:latin typeface="Times New Roman"/>
                <a:cs typeface="Times New Roman"/>
              </a:rPr>
              <a:t>Conformance </a:t>
            </a:r>
            <a:r>
              <a:rPr lang="en-US" sz="1800" spc="10" dirty="0">
                <a:latin typeface="Times New Roman"/>
                <a:cs typeface="Times New Roman"/>
              </a:rPr>
              <a:t>to </a:t>
            </a:r>
            <a:r>
              <a:rPr lang="en-US" sz="1800" spc="-10" dirty="0">
                <a:latin typeface="Times New Roman"/>
                <a:cs typeface="Times New Roman"/>
              </a:rPr>
              <a:t>explicitly </a:t>
            </a:r>
            <a:r>
              <a:rPr lang="en-US" sz="1800" dirty="0">
                <a:latin typeface="Times New Roman"/>
                <a:cs typeface="Times New Roman"/>
              </a:rPr>
              <a:t>stated </a:t>
            </a:r>
            <a:r>
              <a:rPr lang="en-US" sz="1800" spc="-5" dirty="0">
                <a:latin typeface="Times New Roman"/>
                <a:cs typeface="Times New Roman"/>
              </a:rPr>
              <a:t>functional and performance requirements, explicitly  documented </a:t>
            </a:r>
            <a:r>
              <a:rPr lang="en-US" sz="1800" spc="-10" dirty="0">
                <a:latin typeface="Times New Roman"/>
                <a:cs typeface="Times New Roman"/>
              </a:rPr>
              <a:t>development </a:t>
            </a:r>
            <a:r>
              <a:rPr lang="en-US" sz="1800" spc="-5" dirty="0">
                <a:latin typeface="Times New Roman"/>
                <a:cs typeface="Times New Roman"/>
              </a:rPr>
              <a:t>standards </a:t>
            </a:r>
            <a:r>
              <a:rPr lang="en-US" sz="1800" spc="-10" dirty="0">
                <a:latin typeface="Times New Roman"/>
                <a:cs typeface="Times New Roman"/>
              </a:rPr>
              <a:t>and </a:t>
            </a:r>
            <a:r>
              <a:rPr lang="en-US" sz="1800" spc="-5" dirty="0">
                <a:latin typeface="Times New Roman"/>
                <a:cs typeface="Times New Roman"/>
              </a:rPr>
              <a:t>implicit characteristics that </a:t>
            </a:r>
            <a:r>
              <a:rPr lang="en-US" sz="1800" dirty="0">
                <a:latin typeface="Times New Roman"/>
                <a:cs typeface="Times New Roman"/>
              </a:rPr>
              <a:t>are </a:t>
            </a:r>
            <a:r>
              <a:rPr lang="en-US" sz="1800" spc="-5" dirty="0">
                <a:latin typeface="Times New Roman"/>
                <a:cs typeface="Times New Roman"/>
              </a:rPr>
              <a:t>expected </a:t>
            </a:r>
            <a:r>
              <a:rPr lang="en-US" sz="1800" spc="10" dirty="0">
                <a:latin typeface="Times New Roman"/>
                <a:cs typeface="Times New Roman"/>
              </a:rPr>
              <a:t>of </a:t>
            </a:r>
            <a:r>
              <a:rPr lang="en-US" sz="1800" spc="5" dirty="0">
                <a:latin typeface="Times New Roman"/>
                <a:cs typeface="Times New Roman"/>
              </a:rPr>
              <a:t>all  </a:t>
            </a:r>
            <a:r>
              <a:rPr lang="en-US" sz="1800" spc="-5" dirty="0">
                <a:latin typeface="Times New Roman"/>
                <a:cs typeface="Times New Roman"/>
              </a:rPr>
              <a:t>professionally develop</a:t>
            </a:r>
            <a:r>
              <a:rPr lang="en-US" sz="1800" spc="-55" dirty="0">
                <a:latin typeface="Times New Roman"/>
                <a:cs typeface="Times New Roman"/>
              </a:rPr>
              <a:t> </a:t>
            </a:r>
            <a:r>
              <a:rPr lang="en-US" sz="1800" dirty="0">
                <a:latin typeface="Times New Roman"/>
                <a:cs typeface="Times New Roman"/>
              </a:rPr>
              <a:t>software</a:t>
            </a:r>
          </a:p>
          <a:p>
            <a:pPr marL="100965" algn="just">
              <a:lnSpc>
                <a:spcPct val="100000"/>
              </a:lnSpc>
              <a:spcBef>
                <a:spcPts val="645"/>
              </a:spcBef>
            </a:pPr>
            <a:r>
              <a:rPr lang="en-US" sz="1800" spc="-5" dirty="0">
                <a:latin typeface="Times New Roman"/>
                <a:cs typeface="Times New Roman"/>
              </a:rPr>
              <a:t>Three </a:t>
            </a:r>
            <a:r>
              <a:rPr lang="en-US" sz="1800" dirty="0">
                <a:latin typeface="Times New Roman"/>
                <a:cs typeface="Times New Roman"/>
              </a:rPr>
              <a:t>(3) </a:t>
            </a:r>
            <a:r>
              <a:rPr lang="en-US" sz="1800" spc="-10" dirty="0">
                <a:latin typeface="Times New Roman"/>
                <a:cs typeface="Times New Roman"/>
              </a:rPr>
              <a:t>important </a:t>
            </a:r>
            <a:r>
              <a:rPr lang="en-US" sz="1800" spc="-5" dirty="0">
                <a:latin typeface="Times New Roman"/>
                <a:cs typeface="Times New Roman"/>
              </a:rPr>
              <a:t>points </a:t>
            </a:r>
            <a:r>
              <a:rPr lang="en-US" sz="1800" dirty="0">
                <a:latin typeface="Times New Roman"/>
                <a:cs typeface="Times New Roman"/>
              </a:rPr>
              <a:t>to </a:t>
            </a:r>
            <a:r>
              <a:rPr lang="en-US" sz="1800" spc="-10" dirty="0">
                <a:latin typeface="Times New Roman"/>
                <a:cs typeface="Times New Roman"/>
              </a:rPr>
              <a:t>remember </a:t>
            </a:r>
            <a:r>
              <a:rPr lang="en-US" sz="1800" spc="10" dirty="0">
                <a:latin typeface="Times New Roman"/>
                <a:cs typeface="Times New Roman"/>
              </a:rPr>
              <a:t>on </a:t>
            </a:r>
            <a:r>
              <a:rPr lang="en-US" sz="1800" spc="-5" dirty="0">
                <a:latin typeface="Times New Roman"/>
                <a:cs typeface="Times New Roman"/>
              </a:rPr>
              <a:t>software</a:t>
            </a:r>
            <a:r>
              <a:rPr lang="en-US" sz="1800" spc="60" dirty="0">
                <a:latin typeface="Times New Roman"/>
                <a:cs typeface="Times New Roman"/>
              </a:rPr>
              <a:t> </a:t>
            </a:r>
            <a:r>
              <a:rPr lang="en-US" sz="1800" spc="-5" dirty="0">
                <a:latin typeface="Times New Roman"/>
                <a:cs typeface="Times New Roman"/>
              </a:rPr>
              <a:t>quality</a:t>
            </a:r>
            <a:endParaRPr lang="en-US" sz="1800" dirty="0">
              <a:latin typeface="Times New Roman"/>
              <a:cs typeface="Times New Roman"/>
            </a:endParaRPr>
          </a:p>
          <a:p>
            <a:pPr marL="558165" marR="10160" indent="-228600" algn="just">
              <a:lnSpc>
                <a:spcPct val="143300"/>
              </a:lnSpc>
              <a:buFont typeface="Arial"/>
              <a:buAutoNum type="arabicPeriod"/>
              <a:tabLst>
                <a:tab pos="558800" algn="l"/>
              </a:tabLst>
            </a:pPr>
            <a:r>
              <a:rPr lang="en-US" sz="1800" dirty="0">
                <a:latin typeface="Times New Roman"/>
                <a:cs typeface="Times New Roman"/>
              </a:rPr>
              <a:t>Software </a:t>
            </a:r>
            <a:r>
              <a:rPr lang="en-US" sz="1800" spc="-5" dirty="0">
                <a:latin typeface="Times New Roman"/>
                <a:cs typeface="Times New Roman"/>
              </a:rPr>
              <a:t>requirements </a:t>
            </a:r>
            <a:r>
              <a:rPr lang="en-US" sz="1800" dirty="0">
                <a:latin typeface="Times New Roman"/>
                <a:cs typeface="Times New Roman"/>
              </a:rPr>
              <a:t>are the </a:t>
            </a:r>
            <a:r>
              <a:rPr lang="en-US" sz="1800" spc="-5" dirty="0">
                <a:latin typeface="Times New Roman"/>
                <a:cs typeface="Times New Roman"/>
              </a:rPr>
              <a:t>foundation </a:t>
            </a:r>
            <a:r>
              <a:rPr lang="en-US" sz="1800" dirty="0">
                <a:latin typeface="Times New Roman"/>
                <a:cs typeface="Times New Roman"/>
              </a:rPr>
              <a:t>from </a:t>
            </a:r>
            <a:r>
              <a:rPr lang="en-US" sz="1800" spc="-5" dirty="0">
                <a:latin typeface="Times New Roman"/>
                <a:cs typeface="Times New Roman"/>
              </a:rPr>
              <a:t>which </a:t>
            </a:r>
            <a:r>
              <a:rPr lang="en-US" sz="1800" dirty="0">
                <a:latin typeface="Times New Roman"/>
                <a:cs typeface="Times New Roman"/>
              </a:rPr>
              <a:t>quality </a:t>
            </a:r>
            <a:r>
              <a:rPr lang="en-US" sz="1800" spc="-15" dirty="0">
                <a:latin typeface="Times New Roman"/>
                <a:cs typeface="Times New Roman"/>
              </a:rPr>
              <a:t>is </a:t>
            </a:r>
            <a:r>
              <a:rPr lang="en-US" sz="1800" spc="-10" dirty="0">
                <a:latin typeface="Times New Roman"/>
                <a:cs typeface="Times New Roman"/>
              </a:rPr>
              <a:t>measured. Lack </a:t>
            </a:r>
            <a:r>
              <a:rPr lang="en-US" sz="1800" spc="20" dirty="0">
                <a:latin typeface="Times New Roman"/>
                <a:cs typeface="Times New Roman"/>
              </a:rPr>
              <a:t>of  </a:t>
            </a:r>
            <a:r>
              <a:rPr lang="en-US" sz="1800" spc="-5" dirty="0">
                <a:latin typeface="Times New Roman"/>
                <a:cs typeface="Times New Roman"/>
              </a:rPr>
              <a:t>conformance </a:t>
            </a:r>
            <a:r>
              <a:rPr lang="en-US" sz="1800" dirty="0">
                <a:latin typeface="Times New Roman"/>
                <a:cs typeface="Times New Roman"/>
              </a:rPr>
              <a:t>to </a:t>
            </a:r>
            <a:r>
              <a:rPr lang="en-US" sz="1800" spc="-5" dirty="0">
                <a:latin typeface="Times New Roman"/>
                <a:cs typeface="Times New Roman"/>
              </a:rPr>
              <a:t>requirements </a:t>
            </a:r>
            <a:r>
              <a:rPr lang="en-US" sz="1800" spc="-15" dirty="0">
                <a:latin typeface="Times New Roman"/>
                <a:cs typeface="Times New Roman"/>
              </a:rPr>
              <a:t>is lack </a:t>
            </a:r>
            <a:r>
              <a:rPr lang="en-US" sz="1800" spc="20" dirty="0">
                <a:latin typeface="Times New Roman"/>
                <a:cs typeface="Times New Roman"/>
              </a:rPr>
              <a:t>of</a:t>
            </a:r>
            <a:r>
              <a:rPr lang="en-US" sz="1800" spc="25" dirty="0">
                <a:latin typeface="Times New Roman"/>
                <a:cs typeface="Times New Roman"/>
              </a:rPr>
              <a:t> </a:t>
            </a:r>
            <a:r>
              <a:rPr lang="en-US" sz="1800" spc="-10" dirty="0">
                <a:latin typeface="Times New Roman"/>
                <a:cs typeface="Times New Roman"/>
              </a:rPr>
              <a:t>quality.</a:t>
            </a:r>
            <a:endParaRPr lang="en-US" sz="1800" dirty="0">
              <a:latin typeface="Times New Roman"/>
              <a:cs typeface="Times New Roman"/>
            </a:endParaRPr>
          </a:p>
          <a:p>
            <a:pPr marL="558165" marR="11430" indent="-228600" algn="just">
              <a:lnSpc>
                <a:spcPct val="143400"/>
              </a:lnSpc>
              <a:spcBef>
                <a:spcPts val="20"/>
              </a:spcBef>
              <a:buFont typeface="Arial"/>
              <a:buAutoNum type="arabicPeriod"/>
              <a:tabLst>
                <a:tab pos="558800" algn="l"/>
              </a:tabLst>
            </a:pPr>
            <a:r>
              <a:rPr lang="en-US" sz="1800" spc="-5" dirty="0">
                <a:latin typeface="Times New Roman"/>
                <a:cs typeface="Times New Roman"/>
              </a:rPr>
              <a:t>Specified standards define </a:t>
            </a:r>
            <a:r>
              <a:rPr lang="en-US" sz="1800" dirty="0">
                <a:latin typeface="Times New Roman"/>
                <a:cs typeface="Times New Roman"/>
              </a:rPr>
              <a:t>a </a:t>
            </a:r>
            <a:r>
              <a:rPr lang="en-US" sz="1800" spc="-10" dirty="0">
                <a:latin typeface="Times New Roman"/>
                <a:cs typeface="Times New Roman"/>
              </a:rPr>
              <a:t>set </a:t>
            </a:r>
            <a:r>
              <a:rPr lang="en-US" sz="1800" spc="10" dirty="0">
                <a:latin typeface="Times New Roman"/>
                <a:cs typeface="Times New Roman"/>
              </a:rPr>
              <a:t>of </a:t>
            </a:r>
            <a:r>
              <a:rPr lang="en-US" sz="1800" spc="-10" dirty="0">
                <a:latin typeface="Times New Roman"/>
                <a:cs typeface="Times New Roman"/>
              </a:rPr>
              <a:t>development criteria </a:t>
            </a:r>
            <a:r>
              <a:rPr lang="en-US" sz="1800" spc="-5" dirty="0">
                <a:latin typeface="Times New Roman"/>
                <a:cs typeface="Times New Roman"/>
              </a:rPr>
              <a:t>that </a:t>
            </a:r>
            <a:r>
              <a:rPr lang="en-US" sz="1800" spc="-10" dirty="0">
                <a:latin typeface="Times New Roman"/>
                <a:cs typeface="Times New Roman"/>
              </a:rPr>
              <a:t>guide </a:t>
            </a:r>
            <a:r>
              <a:rPr lang="en-US" sz="1800" dirty="0">
                <a:latin typeface="Times New Roman"/>
                <a:cs typeface="Times New Roman"/>
              </a:rPr>
              <a:t>the </a:t>
            </a:r>
            <a:r>
              <a:rPr lang="en-US" sz="1800" spc="-15" dirty="0">
                <a:latin typeface="Times New Roman"/>
                <a:cs typeface="Times New Roman"/>
              </a:rPr>
              <a:t>manner in </a:t>
            </a:r>
            <a:r>
              <a:rPr lang="en-US" sz="1800" spc="5" dirty="0">
                <a:latin typeface="Times New Roman"/>
                <a:cs typeface="Times New Roman"/>
              </a:rPr>
              <a:t>which  </a:t>
            </a:r>
            <a:r>
              <a:rPr lang="en-US" sz="1800" spc="-5" dirty="0">
                <a:latin typeface="Times New Roman"/>
                <a:cs typeface="Times New Roman"/>
              </a:rPr>
              <a:t>software </a:t>
            </a:r>
            <a:r>
              <a:rPr lang="en-US" sz="1800" spc="-15" dirty="0">
                <a:latin typeface="Times New Roman"/>
                <a:cs typeface="Times New Roman"/>
              </a:rPr>
              <a:t>is </a:t>
            </a:r>
            <a:r>
              <a:rPr lang="en-US" sz="1800" spc="-5" dirty="0">
                <a:latin typeface="Times New Roman"/>
                <a:cs typeface="Times New Roman"/>
              </a:rPr>
              <a:t>engineered. </a:t>
            </a:r>
            <a:r>
              <a:rPr lang="en-US" sz="1800" dirty="0">
                <a:latin typeface="Times New Roman"/>
                <a:cs typeface="Times New Roman"/>
              </a:rPr>
              <a:t>If the </a:t>
            </a:r>
            <a:r>
              <a:rPr lang="en-US" sz="1800" spc="-5" dirty="0">
                <a:latin typeface="Times New Roman"/>
                <a:cs typeface="Times New Roman"/>
              </a:rPr>
              <a:t>criteria </a:t>
            </a:r>
            <a:r>
              <a:rPr lang="en-US" sz="1800" dirty="0">
                <a:latin typeface="Times New Roman"/>
                <a:cs typeface="Times New Roman"/>
              </a:rPr>
              <a:t>are </a:t>
            </a:r>
            <a:r>
              <a:rPr lang="en-US" sz="1800" spc="-10" dirty="0">
                <a:latin typeface="Times New Roman"/>
                <a:cs typeface="Times New Roman"/>
              </a:rPr>
              <a:t>not followed, </a:t>
            </a:r>
            <a:r>
              <a:rPr lang="en-US" sz="1800" spc="-15" dirty="0">
                <a:latin typeface="Times New Roman"/>
                <a:cs typeface="Times New Roman"/>
              </a:rPr>
              <a:t>lack </a:t>
            </a:r>
            <a:r>
              <a:rPr lang="en-US" sz="1800" spc="10" dirty="0">
                <a:latin typeface="Times New Roman"/>
                <a:cs typeface="Times New Roman"/>
              </a:rPr>
              <a:t>of </a:t>
            </a:r>
            <a:r>
              <a:rPr lang="en-US" sz="1800" dirty="0">
                <a:latin typeface="Times New Roman"/>
                <a:cs typeface="Times New Roman"/>
              </a:rPr>
              <a:t>quality </a:t>
            </a:r>
            <a:r>
              <a:rPr lang="en-US" sz="1800" spc="5" dirty="0">
                <a:latin typeface="Times New Roman"/>
                <a:cs typeface="Times New Roman"/>
              </a:rPr>
              <a:t>will </a:t>
            </a:r>
            <a:r>
              <a:rPr lang="en-US" sz="1800" spc="-5" dirty="0">
                <a:latin typeface="Times New Roman"/>
                <a:cs typeface="Times New Roman"/>
              </a:rPr>
              <a:t>almost  surely</a:t>
            </a:r>
            <a:r>
              <a:rPr lang="en-US" sz="1800" spc="-114" dirty="0">
                <a:latin typeface="Times New Roman"/>
                <a:cs typeface="Times New Roman"/>
              </a:rPr>
              <a:t> </a:t>
            </a:r>
            <a:r>
              <a:rPr lang="en-US" sz="1800" spc="-5" dirty="0">
                <a:latin typeface="Times New Roman"/>
                <a:cs typeface="Times New Roman"/>
              </a:rPr>
              <a:t>result.</a:t>
            </a:r>
            <a:endParaRPr lang="en-US" sz="1800" dirty="0">
              <a:latin typeface="Times New Roman"/>
              <a:cs typeface="Times New Roman"/>
            </a:endParaRPr>
          </a:p>
          <a:p>
            <a:pPr marL="558165" marR="6985" indent="-228600" algn="just">
              <a:lnSpc>
                <a:spcPct val="143300"/>
              </a:lnSpc>
              <a:spcBef>
                <a:spcPts val="45"/>
              </a:spcBef>
              <a:buFont typeface="Arial"/>
              <a:buAutoNum type="arabicPeriod"/>
              <a:tabLst>
                <a:tab pos="558800" algn="l"/>
              </a:tabLst>
            </a:pPr>
            <a:r>
              <a:rPr lang="en-US" sz="1800" spc="-5" dirty="0">
                <a:latin typeface="Times New Roman"/>
                <a:cs typeface="Times New Roman"/>
              </a:rPr>
              <a:t>There </a:t>
            </a:r>
            <a:r>
              <a:rPr lang="en-US" sz="1800" spc="-25" dirty="0">
                <a:latin typeface="Times New Roman"/>
                <a:cs typeface="Times New Roman"/>
              </a:rPr>
              <a:t>is </a:t>
            </a:r>
            <a:r>
              <a:rPr lang="en-US" sz="1800" dirty="0">
                <a:latin typeface="Times New Roman"/>
                <a:cs typeface="Times New Roman"/>
              </a:rPr>
              <a:t>a </a:t>
            </a:r>
            <a:r>
              <a:rPr lang="en-US" sz="1800" spc="-10" dirty="0">
                <a:latin typeface="Times New Roman"/>
                <a:cs typeface="Times New Roman"/>
              </a:rPr>
              <a:t>set </a:t>
            </a:r>
            <a:r>
              <a:rPr lang="en-US" sz="1800" spc="10" dirty="0">
                <a:latin typeface="Times New Roman"/>
                <a:cs typeface="Times New Roman"/>
              </a:rPr>
              <a:t>of </a:t>
            </a:r>
            <a:r>
              <a:rPr lang="en-US" sz="1800" spc="-15" dirty="0">
                <a:latin typeface="Times New Roman"/>
                <a:cs typeface="Times New Roman"/>
              </a:rPr>
              <a:t>implicit </a:t>
            </a:r>
            <a:r>
              <a:rPr lang="en-US" sz="1800" spc="-5" dirty="0">
                <a:latin typeface="Times New Roman"/>
                <a:cs typeface="Times New Roman"/>
              </a:rPr>
              <a:t>requirements that </a:t>
            </a:r>
            <a:r>
              <a:rPr lang="en-US" sz="1800" dirty="0">
                <a:latin typeface="Times New Roman"/>
                <a:cs typeface="Times New Roman"/>
              </a:rPr>
              <a:t>often goes </a:t>
            </a:r>
            <a:r>
              <a:rPr lang="en-US" sz="1800" spc="-10" dirty="0">
                <a:latin typeface="Times New Roman"/>
                <a:cs typeface="Times New Roman"/>
              </a:rPr>
              <a:t>unmentioned </a:t>
            </a:r>
            <a:r>
              <a:rPr lang="en-US" sz="1800" dirty="0">
                <a:latin typeface="Times New Roman"/>
                <a:cs typeface="Times New Roman"/>
              </a:rPr>
              <a:t>(e.g., the </a:t>
            </a:r>
            <a:r>
              <a:rPr lang="en-US" sz="1800" spc="-10" dirty="0">
                <a:latin typeface="Times New Roman"/>
                <a:cs typeface="Times New Roman"/>
              </a:rPr>
              <a:t>desire for  </a:t>
            </a:r>
            <a:r>
              <a:rPr lang="en-US" sz="1800" spc="5" dirty="0">
                <a:latin typeface="Times New Roman"/>
                <a:cs typeface="Times New Roman"/>
              </a:rPr>
              <a:t>good </a:t>
            </a:r>
            <a:r>
              <a:rPr lang="en-US" sz="1800" spc="-10" dirty="0">
                <a:latin typeface="Times New Roman"/>
                <a:cs typeface="Times New Roman"/>
              </a:rPr>
              <a:t>maintainability). </a:t>
            </a:r>
            <a:r>
              <a:rPr lang="en-US" sz="1800" spc="15" dirty="0">
                <a:latin typeface="Times New Roman"/>
                <a:cs typeface="Times New Roman"/>
              </a:rPr>
              <a:t>If </a:t>
            </a:r>
            <a:r>
              <a:rPr lang="en-US" sz="1800" dirty="0">
                <a:latin typeface="Times New Roman"/>
                <a:cs typeface="Times New Roman"/>
              </a:rPr>
              <a:t>software </a:t>
            </a:r>
            <a:r>
              <a:rPr lang="en-US" sz="1800" spc="-10" dirty="0">
                <a:latin typeface="Times New Roman"/>
                <a:cs typeface="Times New Roman"/>
              </a:rPr>
              <a:t>conforms </a:t>
            </a:r>
            <a:r>
              <a:rPr lang="en-US" sz="1800" spc="10" dirty="0">
                <a:latin typeface="Times New Roman"/>
                <a:cs typeface="Times New Roman"/>
              </a:rPr>
              <a:t>to </a:t>
            </a:r>
            <a:r>
              <a:rPr lang="en-US" sz="1800" spc="-10" dirty="0">
                <a:latin typeface="Times New Roman"/>
                <a:cs typeface="Times New Roman"/>
              </a:rPr>
              <a:t>its explicit </a:t>
            </a:r>
            <a:r>
              <a:rPr lang="en-US" sz="1800" spc="-5" dirty="0">
                <a:latin typeface="Times New Roman"/>
                <a:cs typeface="Times New Roman"/>
              </a:rPr>
              <a:t>requirements, </a:t>
            </a:r>
            <a:r>
              <a:rPr lang="en-US" sz="1800" spc="-10" dirty="0">
                <a:latin typeface="Times New Roman"/>
                <a:cs typeface="Times New Roman"/>
              </a:rPr>
              <a:t>but fails </a:t>
            </a:r>
            <a:r>
              <a:rPr lang="en-US" sz="1800" spc="10" dirty="0">
                <a:latin typeface="Times New Roman"/>
                <a:cs typeface="Times New Roman"/>
              </a:rPr>
              <a:t>to  </a:t>
            </a:r>
            <a:r>
              <a:rPr lang="en-US" sz="1800" spc="-10" dirty="0">
                <a:latin typeface="Times New Roman"/>
                <a:cs typeface="Times New Roman"/>
              </a:rPr>
              <a:t>meet </a:t>
            </a:r>
            <a:r>
              <a:rPr lang="en-US" sz="1800" spc="-15" dirty="0">
                <a:latin typeface="Times New Roman"/>
                <a:cs typeface="Times New Roman"/>
              </a:rPr>
              <a:t>implicit</a:t>
            </a:r>
            <a:r>
              <a:rPr lang="en-US" sz="1800" spc="55" dirty="0">
                <a:latin typeface="Times New Roman"/>
                <a:cs typeface="Times New Roman"/>
              </a:rPr>
              <a:t> </a:t>
            </a:r>
            <a:r>
              <a:rPr lang="en-US" sz="1800" spc="-5" dirty="0">
                <a:latin typeface="Times New Roman"/>
                <a:cs typeface="Times New Roman"/>
              </a:rPr>
              <a:t>requirements.</a:t>
            </a:r>
            <a:endParaRPr lang="en-US" sz="1800" dirty="0">
              <a:latin typeface="Times New Roman"/>
              <a:cs typeface="Times New Roman"/>
            </a:endParaRPr>
          </a:p>
        </p:txBody>
      </p:sp>
    </p:spTree>
    <p:extLst>
      <p:ext uri="{BB962C8B-B14F-4D97-AF65-F5344CB8AC3E}">
        <p14:creationId xmlns:p14="http://schemas.microsoft.com/office/powerpoint/2010/main" val="3488064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D84530-357A-F79E-2F7B-A52D324EE1B3}"/>
              </a:ext>
            </a:extLst>
          </p:cNvPr>
          <p:cNvSpPr>
            <a:spLocks noGrp="1"/>
          </p:cNvSpPr>
          <p:nvPr>
            <p:ph idx="4294967295"/>
          </p:nvPr>
        </p:nvSpPr>
        <p:spPr>
          <a:xfrm>
            <a:off x="0" y="2082800"/>
            <a:ext cx="10515600" cy="4351338"/>
          </a:xfrm>
        </p:spPr>
        <p:txBody>
          <a:bodyPr>
            <a:normAutofit fontScale="92500" lnSpcReduction="20000"/>
          </a:bodyPr>
          <a:lstStyle/>
          <a:p>
            <a:pPr marL="143510" algn="just" rtl="0">
              <a:lnSpc>
                <a:spcPct val="100000"/>
              </a:lnSpc>
              <a:spcBef>
                <a:spcPts val="650"/>
              </a:spcBef>
            </a:pPr>
            <a:r>
              <a:rPr lang="en-US" sz="1800" b="1" spc="10" dirty="0">
                <a:latin typeface="Times New Roman"/>
                <a:cs typeface="Times New Roman"/>
              </a:rPr>
              <a:t>Quality Characteristics</a:t>
            </a:r>
          </a:p>
          <a:p>
            <a:pPr marL="558165" marR="13335" algn="l" rtl="0">
              <a:lnSpc>
                <a:spcPts val="2060"/>
              </a:lnSpc>
              <a:spcBef>
                <a:spcPts val="150"/>
              </a:spcBef>
            </a:pPr>
            <a:r>
              <a:rPr lang="en-US" sz="1800" spc="10" dirty="0">
                <a:latin typeface="Times New Roman"/>
                <a:cs typeface="Times New Roman"/>
              </a:rPr>
              <a:t>Is any property or element that can be used to define the nature of a product. Each  characteristic  can  be  physical  or chemical  properties  such as  size,  weight,  volume,</a:t>
            </a:r>
          </a:p>
          <a:p>
            <a:pPr marL="558165" algn="l" rtl="0">
              <a:lnSpc>
                <a:spcPct val="100000"/>
              </a:lnSpc>
              <a:spcBef>
                <a:spcPts val="475"/>
              </a:spcBef>
            </a:pPr>
            <a:r>
              <a:rPr lang="en-US" sz="1800" spc="10" dirty="0">
                <a:latin typeface="Times New Roman"/>
                <a:cs typeface="Times New Roman"/>
              </a:rPr>
              <a:t>color or composition.</a:t>
            </a:r>
          </a:p>
          <a:p>
            <a:pPr algn="l" rtl="0">
              <a:lnSpc>
                <a:spcPct val="100000"/>
              </a:lnSpc>
              <a:spcBef>
                <a:spcPts val="45"/>
              </a:spcBef>
            </a:pPr>
            <a:endParaRPr lang="en-US" sz="1800" spc="10" dirty="0">
              <a:latin typeface="Times New Roman"/>
              <a:cs typeface="Times New Roman"/>
            </a:endParaRPr>
          </a:p>
          <a:p>
            <a:pPr marL="100965" algn="just" rtl="0">
              <a:lnSpc>
                <a:spcPct val="100000"/>
              </a:lnSpc>
            </a:pPr>
            <a:r>
              <a:rPr lang="en-US" sz="1800" b="1" spc="10" dirty="0">
                <a:latin typeface="Times New Roman"/>
                <a:cs typeface="Times New Roman"/>
              </a:rPr>
              <a:t>Software Quality</a:t>
            </a:r>
          </a:p>
          <a:p>
            <a:pPr marL="558165" lvl="1" algn="l" rtl="0">
              <a:lnSpc>
                <a:spcPct val="100000"/>
              </a:lnSpc>
              <a:spcBef>
                <a:spcPts val="600"/>
              </a:spcBef>
              <a:buFont typeface="Arial"/>
              <a:buAutoNum type="arabicPeriod"/>
              <a:tabLst>
                <a:tab pos="787400" algn="l"/>
              </a:tabLst>
            </a:pPr>
            <a:r>
              <a:rPr lang="en-US" sz="1800" spc="10" dirty="0">
                <a:latin typeface="Times New Roman"/>
                <a:cs typeface="Times New Roman"/>
              </a:rPr>
              <a:t>Is achieved through a disciplined approach - called software engineering SE</a:t>
            </a:r>
          </a:p>
          <a:p>
            <a:pPr marL="558165" lvl="1" algn="l" rtl="0">
              <a:lnSpc>
                <a:spcPct val="100000"/>
              </a:lnSpc>
              <a:spcBef>
                <a:spcPts val="600"/>
              </a:spcBef>
              <a:buFont typeface="Arial"/>
              <a:buAutoNum type="arabicPeriod"/>
              <a:tabLst>
                <a:tab pos="787400" algn="l"/>
              </a:tabLst>
            </a:pPr>
            <a:r>
              <a:rPr lang="en-US" sz="1800" spc="10" dirty="0">
                <a:latin typeface="Times New Roman"/>
                <a:cs typeface="Times New Roman"/>
              </a:rPr>
              <a:t>Can be defined, described, and measured</a:t>
            </a:r>
          </a:p>
          <a:p>
            <a:pPr marL="558165" marR="2063750" lvl="1" algn="l" rtl="0">
              <a:lnSpc>
                <a:spcPct val="143300"/>
              </a:lnSpc>
              <a:spcBef>
                <a:spcPts val="25"/>
              </a:spcBef>
              <a:buFont typeface="Arial"/>
              <a:buAutoNum type="arabicPeriod"/>
              <a:tabLst>
                <a:tab pos="787400" algn="l"/>
              </a:tabLst>
            </a:pPr>
            <a:r>
              <a:rPr lang="en-US" sz="1800" spc="10" dirty="0">
                <a:latin typeface="Times New Roman"/>
                <a:cs typeface="Times New Roman"/>
              </a:rPr>
              <a:t>Can be assessed before any code has been </a:t>
            </a:r>
            <a:r>
              <a:rPr lang="en-US" sz="1800" spc="10">
                <a:latin typeface="Times New Roman"/>
                <a:cs typeface="Times New Roman"/>
              </a:rPr>
              <a:t>written  </a:t>
            </a:r>
          </a:p>
          <a:p>
            <a:pPr marL="558165" marR="2063750" lvl="1" algn="l" rtl="0">
              <a:lnSpc>
                <a:spcPct val="143300"/>
              </a:lnSpc>
              <a:spcBef>
                <a:spcPts val="25"/>
              </a:spcBef>
              <a:buFont typeface="Arial"/>
              <a:buAutoNum type="arabicPeriod"/>
              <a:tabLst>
                <a:tab pos="787400" algn="l"/>
              </a:tabLst>
            </a:pPr>
            <a:r>
              <a:rPr lang="en-US" sz="1800" spc="10">
                <a:latin typeface="Times New Roman"/>
                <a:cs typeface="Times New Roman"/>
              </a:rPr>
              <a:t> </a:t>
            </a:r>
            <a:r>
              <a:rPr lang="en-US" sz="1800" spc="10" dirty="0">
                <a:latin typeface="Times New Roman"/>
                <a:cs typeface="Times New Roman"/>
              </a:rPr>
              <a:t>Cannot be tested into a product</a:t>
            </a:r>
          </a:p>
          <a:p>
            <a:pPr marL="100965" algn="just" rtl="0">
              <a:lnSpc>
                <a:spcPct val="100000"/>
              </a:lnSpc>
              <a:spcBef>
                <a:spcPts val="645"/>
              </a:spcBef>
            </a:pPr>
            <a:r>
              <a:rPr lang="en-US" sz="1800" b="1" spc="10" dirty="0">
                <a:latin typeface="Times New Roman"/>
                <a:cs typeface="Times New Roman"/>
              </a:rPr>
              <a:t>Software quality challenges</a:t>
            </a:r>
          </a:p>
          <a:p>
            <a:pPr marL="786765" indent="-228600" algn="l" rtl="0">
              <a:lnSpc>
                <a:spcPct val="100000"/>
              </a:lnSpc>
              <a:spcBef>
                <a:spcPts val="620"/>
              </a:spcBef>
              <a:buFont typeface="Arial"/>
              <a:buAutoNum type="arabicPeriod"/>
              <a:tabLst>
                <a:tab pos="787400" algn="l"/>
              </a:tabLst>
            </a:pPr>
            <a:r>
              <a:rPr lang="en-US" sz="1800" spc="10" dirty="0">
                <a:latin typeface="Times New Roman"/>
                <a:cs typeface="Times New Roman"/>
              </a:rPr>
              <a:t>Defining it</a:t>
            </a:r>
          </a:p>
          <a:p>
            <a:pPr marL="786765" indent="-228600" algn="l" rtl="0">
              <a:lnSpc>
                <a:spcPct val="100000"/>
              </a:lnSpc>
              <a:spcBef>
                <a:spcPts val="625"/>
              </a:spcBef>
              <a:buFont typeface="Arial"/>
              <a:buAutoNum type="arabicPeriod"/>
              <a:tabLst>
                <a:tab pos="787400" algn="l"/>
              </a:tabLst>
            </a:pPr>
            <a:r>
              <a:rPr lang="en-US" sz="1800" spc="10" dirty="0">
                <a:latin typeface="Times New Roman"/>
                <a:cs typeface="Times New Roman"/>
              </a:rPr>
              <a:t>Describing it (qualitatively)</a:t>
            </a:r>
          </a:p>
          <a:p>
            <a:pPr marL="786765" indent="-228600" algn="l" rtl="0">
              <a:lnSpc>
                <a:spcPct val="100000"/>
              </a:lnSpc>
              <a:spcBef>
                <a:spcPts val="645"/>
              </a:spcBef>
              <a:buFont typeface="Arial"/>
              <a:buAutoNum type="arabicPeriod"/>
              <a:tabLst>
                <a:tab pos="787400" algn="l"/>
              </a:tabLst>
            </a:pPr>
            <a:r>
              <a:rPr lang="en-US" sz="1800" spc="10" dirty="0">
                <a:latin typeface="Times New Roman"/>
                <a:cs typeface="Times New Roman"/>
              </a:rPr>
              <a:t>Measuring it (quantitatively)</a:t>
            </a:r>
          </a:p>
          <a:p>
            <a:pPr marL="786765" indent="-228600" algn="l" rtl="0">
              <a:lnSpc>
                <a:spcPct val="100000"/>
              </a:lnSpc>
              <a:spcBef>
                <a:spcPts val="620"/>
              </a:spcBef>
              <a:buFont typeface="Arial"/>
              <a:buAutoNum type="arabicPeriod"/>
              <a:tabLst>
                <a:tab pos="787400" algn="l"/>
              </a:tabLst>
            </a:pPr>
            <a:r>
              <a:rPr lang="en-US" sz="1800" spc="10" dirty="0">
                <a:latin typeface="Times New Roman"/>
                <a:cs typeface="Times New Roman"/>
              </a:rPr>
              <a:t>Achieving it (technically)</a:t>
            </a:r>
          </a:p>
          <a:p>
            <a:pPr algn="l" rtl="0"/>
            <a:endParaRPr lang="ar-SD" dirty="0"/>
          </a:p>
        </p:txBody>
      </p:sp>
    </p:spTree>
    <p:extLst>
      <p:ext uri="{BB962C8B-B14F-4D97-AF65-F5344CB8AC3E}">
        <p14:creationId xmlns:p14="http://schemas.microsoft.com/office/powerpoint/2010/main" val="3779430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21">
            <a:extLst>
              <a:ext uri="{FF2B5EF4-FFF2-40B4-BE49-F238E27FC236}">
                <a16:creationId xmlns:a16="http://schemas.microsoft.com/office/drawing/2014/main" id="{B9155879-8FAA-9680-2E17-3F78750A9325}"/>
              </a:ext>
            </a:extLst>
          </p:cNvPr>
          <p:cNvSpPr txBox="1"/>
          <p:nvPr/>
        </p:nvSpPr>
        <p:spPr>
          <a:xfrm>
            <a:off x="3822700" y="9729492"/>
            <a:ext cx="128905" cy="182245"/>
          </a:xfrm>
          <a:prstGeom prst="rect">
            <a:avLst/>
          </a:prstGeom>
        </p:spPr>
        <p:txBody>
          <a:bodyPr vert="horz" wrap="square" lIns="0" tIns="0" rIns="0" bIns="0" rtlCol="0">
            <a:spAutoFit/>
          </a:bodyPr>
          <a:lstStyle/>
          <a:p>
            <a:pPr marL="25400">
              <a:lnSpc>
                <a:spcPct val="100000"/>
              </a:lnSpc>
            </a:pPr>
            <a:fld id="{81D60167-4931-47E6-BA6A-407CBD079E47}" type="slidenum">
              <a:rPr sz="1100" dirty="0">
                <a:latin typeface="Arial"/>
                <a:cs typeface="Arial"/>
              </a:rPr>
              <a:t>4</a:t>
            </a:fld>
            <a:endParaRPr sz="1100">
              <a:latin typeface="Arial"/>
              <a:cs typeface="Arial"/>
            </a:endParaRPr>
          </a:p>
        </p:txBody>
      </p:sp>
      <p:grpSp>
        <p:nvGrpSpPr>
          <p:cNvPr id="26" name="Group 25">
            <a:extLst>
              <a:ext uri="{FF2B5EF4-FFF2-40B4-BE49-F238E27FC236}">
                <a16:creationId xmlns:a16="http://schemas.microsoft.com/office/drawing/2014/main" id="{811560C9-73E8-6931-BD1F-F532FC774E59}"/>
              </a:ext>
            </a:extLst>
          </p:cNvPr>
          <p:cNvGrpSpPr/>
          <p:nvPr/>
        </p:nvGrpSpPr>
        <p:grpSpPr>
          <a:xfrm>
            <a:off x="3261681" y="4699525"/>
            <a:ext cx="4826000" cy="1227257"/>
            <a:chOff x="2400035" y="3521356"/>
            <a:chExt cx="4826000" cy="1227257"/>
          </a:xfrm>
        </p:grpSpPr>
        <p:sp>
          <p:nvSpPr>
            <p:cNvPr id="4" name="object 2">
              <a:extLst>
                <a:ext uri="{FF2B5EF4-FFF2-40B4-BE49-F238E27FC236}">
                  <a16:creationId xmlns:a16="http://schemas.microsoft.com/office/drawing/2014/main" id="{FFD73ADB-F869-E73A-CE2C-1894992017E7}"/>
                </a:ext>
              </a:extLst>
            </p:cNvPr>
            <p:cNvSpPr/>
            <p:nvPr/>
          </p:nvSpPr>
          <p:spPr>
            <a:xfrm>
              <a:off x="3896730" y="3876124"/>
              <a:ext cx="702945" cy="483234"/>
            </a:xfrm>
            <a:custGeom>
              <a:avLst/>
              <a:gdLst/>
              <a:ahLst/>
              <a:cxnLst/>
              <a:rect l="l" t="t" r="r" b="b"/>
              <a:pathLst>
                <a:path w="702945" h="483235">
                  <a:moveTo>
                    <a:pt x="352425" y="0"/>
                  </a:moveTo>
                  <a:lnTo>
                    <a:pt x="294639" y="3175"/>
                  </a:lnTo>
                  <a:lnTo>
                    <a:pt x="240664" y="12064"/>
                  </a:lnTo>
                  <a:lnTo>
                    <a:pt x="189864" y="27304"/>
                  </a:lnTo>
                  <a:lnTo>
                    <a:pt x="144144" y="46989"/>
                  </a:lnTo>
                  <a:lnTo>
                    <a:pt x="102869" y="71119"/>
                  </a:lnTo>
                  <a:lnTo>
                    <a:pt x="67944" y="99059"/>
                  </a:lnTo>
                  <a:lnTo>
                    <a:pt x="39369" y="130809"/>
                  </a:lnTo>
                  <a:lnTo>
                    <a:pt x="17780" y="165734"/>
                  </a:lnTo>
                  <a:lnTo>
                    <a:pt x="4444" y="203200"/>
                  </a:lnTo>
                  <a:lnTo>
                    <a:pt x="0" y="242569"/>
                  </a:lnTo>
                  <a:lnTo>
                    <a:pt x="4444" y="281304"/>
                  </a:lnTo>
                  <a:lnTo>
                    <a:pt x="17780" y="318134"/>
                  </a:lnTo>
                  <a:lnTo>
                    <a:pt x="39369" y="353059"/>
                  </a:lnTo>
                  <a:lnTo>
                    <a:pt x="67944" y="384174"/>
                  </a:lnTo>
                  <a:lnTo>
                    <a:pt x="102869" y="412749"/>
                  </a:lnTo>
                  <a:lnTo>
                    <a:pt x="144144" y="436879"/>
                  </a:lnTo>
                  <a:lnTo>
                    <a:pt x="189864" y="455929"/>
                  </a:lnTo>
                  <a:lnTo>
                    <a:pt x="240664" y="470534"/>
                  </a:lnTo>
                  <a:lnTo>
                    <a:pt x="294639" y="480059"/>
                  </a:lnTo>
                  <a:lnTo>
                    <a:pt x="352425" y="483234"/>
                  </a:lnTo>
                  <a:lnTo>
                    <a:pt x="408939" y="480059"/>
                  </a:lnTo>
                  <a:lnTo>
                    <a:pt x="462914" y="470534"/>
                  </a:lnTo>
                  <a:lnTo>
                    <a:pt x="513079" y="455929"/>
                  </a:lnTo>
                  <a:lnTo>
                    <a:pt x="559435" y="436879"/>
                  </a:lnTo>
                  <a:lnTo>
                    <a:pt x="600075" y="412749"/>
                  </a:lnTo>
                  <a:lnTo>
                    <a:pt x="635000" y="384174"/>
                  </a:lnTo>
                  <a:lnTo>
                    <a:pt x="663575" y="353059"/>
                  </a:lnTo>
                  <a:lnTo>
                    <a:pt x="684529" y="318134"/>
                  </a:lnTo>
                  <a:lnTo>
                    <a:pt x="697864" y="281304"/>
                  </a:lnTo>
                  <a:lnTo>
                    <a:pt x="702945" y="242569"/>
                  </a:lnTo>
                  <a:lnTo>
                    <a:pt x="697864" y="203200"/>
                  </a:lnTo>
                  <a:lnTo>
                    <a:pt x="684529" y="165734"/>
                  </a:lnTo>
                  <a:lnTo>
                    <a:pt x="663575" y="130809"/>
                  </a:lnTo>
                  <a:lnTo>
                    <a:pt x="635000" y="99059"/>
                  </a:lnTo>
                  <a:lnTo>
                    <a:pt x="600075" y="71119"/>
                  </a:lnTo>
                  <a:lnTo>
                    <a:pt x="559435" y="46989"/>
                  </a:lnTo>
                  <a:lnTo>
                    <a:pt x="513079" y="27304"/>
                  </a:lnTo>
                  <a:lnTo>
                    <a:pt x="462914" y="12064"/>
                  </a:lnTo>
                  <a:lnTo>
                    <a:pt x="408939" y="3175"/>
                  </a:lnTo>
                  <a:lnTo>
                    <a:pt x="352425" y="0"/>
                  </a:lnTo>
                  <a:close/>
                </a:path>
              </a:pathLst>
            </a:custGeom>
            <a:solidFill>
              <a:srgbClr val="00FFFF"/>
            </a:solidFill>
          </p:spPr>
          <p:txBody>
            <a:bodyPr wrap="square" lIns="0" tIns="0" rIns="0" bIns="0" rtlCol="0"/>
            <a:lstStyle/>
            <a:p>
              <a:endParaRPr/>
            </a:p>
          </p:txBody>
        </p:sp>
        <p:sp>
          <p:nvSpPr>
            <p:cNvPr id="5" name="object 3">
              <a:extLst>
                <a:ext uri="{FF2B5EF4-FFF2-40B4-BE49-F238E27FC236}">
                  <a16:creationId xmlns:a16="http://schemas.microsoft.com/office/drawing/2014/main" id="{9E19D158-4C78-9D9D-A74F-B48E6B802642}"/>
                </a:ext>
              </a:extLst>
            </p:cNvPr>
            <p:cNvSpPr/>
            <p:nvPr/>
          </p:nvSpPr>
          <p:spPr>
            <a:xfrm>
              <a:off x="3896730" y="3876124"/>
              <a:ext cx="702945" cy="483234"/>
            </a:xfrm>
            <a:custGeom>
              <a:avLst/>
              <a:gdLst/>
              <a:ahLst/>
              <a:cxnLst/>
              <a:rect l="l" t="t" r="r" b="b"/>
              <a:pathLst>
                <a:path w="702945" h="483235">
                  <a:moveTo>
                    <a:pt x="352425" y="0"/>
                  </a:moveTo>
                  <a:lnTo>
                    <a:pt x="294639" y="3175"/>
                  </a:lnTo>
                  <a:lnTo>
                    <a:pt x="240664" y="12064"/>
                  </a:lnTo>
                  <a:lnTo>
                    <a:pt x="189864" y="27304"/>
                  </a:lnTo>
                  <a:lnTo>
                    <a:pt x="144144" y="46989"/>
                  </a:lnTo>
                  <a:lnTo>
                    <a:pt x="102869" y="71119"/>
                  </a:lnTo>
                  <a:lnTo>
                    <a:pt x="67944" y="99059"/>
                  </a:lnTo>
                  <a:lnTo>
                    <a:pt x="39369" y="130809"/>
                  </a:lnTo>
                  <a:lnTo>
                    <a:pt x="17780" y="165734"/>
                  </a:lnTo>
                  <a:lnTo>
                    <a:pt x="4444" y="203200"/>
                  </a:lnTo>
                  <a:lnTo>
                    <a:pt x="0" y="242569"/>
                  </a:lnTo>
                  <a:lnTo>
                    <a:pt x="4444" y="281304"/>
                  </a:lnTo>
                  <a:lnTo>
                    <a:pt x="17780" y="318134"/>
                  </a:lnTo>
                  <a:lnTo>
                    <a:pt x="39369" y="353059"/>
                  </a:lnTo>
                  <a:lnTo>
                    <a:pt x="67944" y="384174"/>
                  </a:lnTo>
                  <a:lnTo>
                    <a:pt x="102869" y="412749"/>
                  </a:lnTo>
                  <a:lnTo>
                    <a:pt x="144144" y="436879"/>
                  </a:lnTo>
                  <a:lnTo>
                    <a:pt x="189864" y="455929"/>
                  </a:lnTo>
                  <a:lnTo>
                    <a:pt x="240664" y="470534"/>
                  </a:lnTo>
                  <a:lnTo>
                    <a:pt x="294639" y="480059"/>
                  </a:lnTo>
                  <a:lnTo>
                    <a:pt x="352425" y="483234"/>
                  </a:lnTo>
                  <a:lnTo>
                    <a:pt x="408939" y="480059"/>
                  </a:lnTo>
                  <a:lnTo>
                    <a:pt x="462914" y="470534"/>
                  </a:lnTo>
                  <a:lnTo>
                    <a:pt x="513079" y="455929"/>
                  </a:lnTo>
                  <a:lnTo>
                    <a:pt x="559435" y="436879"/>
                  </a:lnTo>
                  <a:lnTo>
                    <a:pt x="600075" y="412749"/>
                  </a:lnTo>
                  <a:lnTo>
                    <a:pt x="635000" y="384174"/>
                  </a:lnTo>
                  <a:lnTo>
                    <a:pt x="663575" y="353059"/>
                  </a:lnTo>
                  <a:lnTo>
                    <a:pt x="684529" y="318134"/>
                  </a:lnTo>
                  <a:lnTo>
                    <a:pt x="697864" y="281304"/>
                  </a:lnTo>
                  <a:lnTo>
                    <a:pt x="702945" y="242569"/>
                  </a:lnTo>
                  <a:lnTo>
                    <a:pt x="697864" y="203200"/>
                  </a:lnTo>
                  <a:lnTo>
                    <a:pt x="684529" y="165734"/>
                  </a:lnTo>
                  <a:lnTo>
                    <a:pt x="663575" y="130809"/>
                  </a:lnTo>
                  <a:lnTo>
                    <a:pt x="635000" y="99059"/>
                  </a:lnTo>
                  <a:lnTo>
                    <a:pt x="600075" y="71119"/>
                  </a:lnTo>
                  <a:lnTo>
                    <a:pt x="559435" y="46989"/>
                  </a:lnTo>
                  <a:lnTo>
                    <a:pt x="513079" y="27304"/>
                  </a:lnTo>
                  <a:lnTo>
                    <a:pt x="462914" y="12064"/>
                  </a:lnTo>
                  <a:lnTo>
                    <a:pt x="408939" y="3175"/>
                  </a:lnTo>
                  <a:lnTo>
                    <a:pt x="352425" y="0"/>
                  </a:lnTo>
                  <a:close/>
                </a:path>
              </a:pathLst>
            </a:custGeom>
            <a:ln w="12700">
              <a:solidFill>
                <a:srgbClr val="000000"/>
              </a:solidFill>
            </a:ln>
          </p:spPr>
          <p:txBody>
            <a:bodyPr wrap="square" lIns="0" tIns="0" rIns="0" bIns="0" rtlCol="0"/>
            <a:lstStyle/>
            <a:p>
              <a:endParaRPr/>
            </a:p>
          </p:txBody>
        </p:sp>
        <p:sp>
          <p:nvSpPr>
            <p:cNvPr id="6" name="object 4">
              <a:extLst>
                <a:ext uri="{FF2B5EF4-FFF2-40B4-BE49-F238E27FC236}">
                  <a16:creationId xmlns:a16="http://schemas.microsoft.com/office/drawing/2014/main" id="{686FC360-4F2A-A196-E856-9B7BB1EC6CD4}"/>
                </a:ext>
              </a:extLst>
            </p:cNvPr>
            <p:cNvSpPr/>
            <p:nvPr/>
          </p:nvSpPr>
          <p:spPr>
            <a:xfrm>
              <a:off x="2400035" y="3876124"/>
              <a:ext cx="1217930" cy="483234"/>
            </a:xfrm>
            <a:custGeom>
              <a:avLst/>
              <a:gdLst/>
              <a:ahLst/>
              <a:cxnLst/>
              <a:rect l="l" t="t" r="r" b="b"/>
              <a:pathLst>
                <a:path w="1217930" h="483235">
                  <a:moveTo>
                    <a:pt x="609600" y="0"/>
                  </a:moveTo>
                  <a:lnTo>
                    <a:pt x="543559" y="1269"/>
                  </a:lnTo>
                  <a:lnTo>
                    <a:pt x="478789" y="5714"/>
                  </a:lnTo>
                  <a:lnTo>
                    <a:pt x="417194" y="12064"/>
                  </a:lnTo>
                  <a:lnTo>
                    <a:pt x="358139" y="21589"/>
                  </a:lnTo>
                  <a:lnTo>
                    <a:pt x="302259" y="33019"/>
                  </a:lnTo>
                  <a:lnTo>
                    <a:pt x="249554" y="46354"/>
                  </a:lnTo>
                  <a:lnTo>
                    <a:pt x="201294" y="62229"/>
                  </a:lnTo>
                  <a:lnTo>
                    <a:pt x="157479" y="79375"/>
                  </a:lnTo>
                  <a:lnTo>
                    <a:pt x="118109" y="99059"/>
                  </a:lnTo>
                  <a:lnTo>
                    <a:pt x="83184" y="119379"/>
                  </a:lnTo>
                  <a:lnTo>
                    <a:pt x="31114" y="165100"/>
                  </a:lnTo>
                  <a:lnTo>
                    <a:pt x="3809" y="214629"/>
                  </a:lnTo>
                  <a:lnTo>
                    <a:pt x="0" y="240664"/>
                  </a:lnTo>
                  <a:lnTo>
                    <a:pt x="3809" y="267334"/>
                  </a:lnTo>
                  <a:lnTo>
                    <a:pt x="31114" y="317499"/>
                  </a:lnTo>
                  <a:lnTo>
                    <a:pt x="83184" y="363219"/>
                  </a:lnTo>
                  <a:lnTo>
                    <a:pt x="118109" y="384174"/>
                  </a:lnTo>
                  <a:lnTo>
                    <a:pt x="157479" y="403224"/>
                  </a:lnTo>
                  <a:lnTo>
                    <a:pt x="201294" y="421004"/>
                  </a:lnTo>
                  <a:lnTo>
                    <a:pt x="249554" y="436244"/>
                  </a:lnTo>
                  <a:lnTo>
                    <a:pt x="302259" y="450214"/>
                  </a:lnTo>
                  <a:lnTo>
                    <a:pt x="358139" y="461644"/>
                  </a:lnTo>
                  <a:lnTo>
                    <a:pt x="417194" y="470534"/>
                  </a:lnTo>
                  <a:lnTo>
                    <a:pt x="478789" y="477519"/>
                  </a:lnTo>
                  <a:lnTo>
                    <a:pt x="543559" y="481964"/>
                  </a:lnTo>
                  <a:lnTo>
                    <a:pt x="609600" y="483234"/>
                  </a:lnTo>
                  <a:lnTo>
                    <a:pt x="676275" y="481964"/>
                  </a:lnTo>
                  <a:lnTo>
                    <a:pt x="740409" y="477519"/>
                  </a:lnTo>
                  <a:lnTo>
                    <a:pt x="802005" y="470534"/>
                  </a:lnTo>
                  <a:lnTo>
                    <a:pt x="861059" y="461644"/>
                  </a:lnTo>
                  <a:lnTo>
                    <a:pt x="916305" y="450214"/>
                  </a:lnTo>
                  <a:lnTo>
                    <a:pt x="969009" y="436244"/>
                  </a:lnTo>
                  <a:lnTo>
                    <a:pt x="1017269" y="421004"/>
                  </a:lnTo>
                  <a:lnTo>
                    <a:pt x="1061084" y="403224"/>
                  </a:lnTo>
                  <a:lnTo>
                    <a:pt x="1100455" y="384174"/>
                  </a:lnTo>
                  <a:lnTo>
                    <a:pt x="1134745" y="363219"/>
                  </a:lnTo>
                  <a:lnTo>
                    <a:pt x="1186814" y="317499"/>
                  </a:lnTo>
                  <a:lnTo>
                    <a:pt x="1214120" y="267334"/>
                  </a:lnTo>
                  <a:lnTo>
                    <a:pt x="1217930" y="240664"/>
                  </a:lnTo>
                  <a:lnTo>
                    <a:pt x="1214120" y="214629"/>
                  </a:lnTo>
                  <a:lnTo>
                    <a:pt x="1186814" y="165100"/>
                  </a:lnTo>
                  <a:lnTo>
                    <a:pt x="1134745" y="119379"/>
                  </a:lnTo>
                  <a:lnTo>
                    <a:pt x="1100455" y="99059"/>
                  </a:lnTo>
                  <a:lnTo>
                    <a:pt x="1061084" y="79375"/>
                  </a:lnTo>
                  <a:lnTo>
                    <a:pt x="1017269" y="62229"/>
                  </a:lnTo>
                  <a:lnTo>
                    <a:pt x="969009" y="46354"/>
                  </a:lnTo>
                  <a:lnTo>
                    <a:pt x="916305" y="33019"/>
                  </a:lnTo>
                  <a:lnTo>
                    <a:pt x="861059" y="21589"/>
                  </a:lnTo>
                  <a:lnTo>
                    <a:pt x="802005" y="12064"/>
                  </a:lnTo>
                  <a:lnTo>
                    <a:pt x="740409" y="5714"/>
                  </a:lnTo>
                  <a:lnTo>
                    <a:pt x="676275" y="1269"/>
                  </a:lnTo>
                  <a:lnTo>
                    <a:pt x="609600" y="0"/>
                  </a:lnTo>
                  <a:close/>
                </a:path>
              </a:pathLst>
            </a:custGeom>
            <a:solidFill>
              <a:srgbClr val="00FFFF"/>
            </a:solidFill>
          </p:spPr>
          <p:txBody>
            <a:bodyPr wrap="square" lIns="0" tIns="0" rIns="0" bIns="0" rtlCol="0"/>
            <a:lstStyle/>
            <a:p>
              <a:endParaRPr/>
            </a:p>
          </p:txBody>
        </p:sp>
        <p:sp>
          <p:nvSpPr>
            <p:cNvPr id="7" name="object 5">
              <a:extLst>
                <a:ext uri="{FF2B5EF4-FFF2-40B4-BE49-F238E27FC236}">
                  <a16:creationId xmlns:a16="http://schemas.microsoft.com/office/drawing/2014/main" id="{46629ABE-2FFC-EC68-ED39-84E57B234C92}"/>
                </a:ext>
              </a:extLst>
            </p:cNvPr>
            <p:cNvSpPr/>
            <p:nvPr/>
          </p:nvSpPr>
          <p:spPr>
            <a:xfrm>
              <a:off x="2400035" y="3876124"/>
              <a:ext cx="1217930" cy="483234"/>
            </a:xfrm>
            <a:custGeom>
              <a:avLst/>
              <a:gdLst/>
              <a:ahLst/>
              <a:cxnLst/>
              <a:rect l="l" t="t" r="r" b="b"/>
              <a:pathLst>
                <a:path w="1217930" h="483235">
                  <a:moveTo>
                    <a:pt x="609600" y="0"/>
                  </a:moveTo>
                  <a:lnTo>
                    <a:pt x="543559" y="1269"/>
                  </a:lnTo>
                  <a:lnTo>
                    <a:pt x="478789" y="5714"/>
                  </a:lnTo>
                  <a:lnTo>
                    <a:pt x="417194" y="12064"/>
                  </a:lnTo>
                  <a:lnTo>
                    <a:pt x="358139" y="21589"/>
                  </a:lnTo>
                  <a:lnTo>
                    <a:pt x="302259" y="33019"/>
                  </a:lnTo>
                  <a:lnTo>
                    <a:pt x="249554" y="46354"/>
                  </a:lnTo>
                  <a:lnTo>
                    <a:pt x="201294" y="62229"/>
                  </a:lnTo>
                  <a:lnTo>
                    <a:pt x="157479" y="79375"/>
                  </a:lnTo>
                  <a:lnTo>
                    <a:pt x="118109" y="99059"/>
                  </a:lnTo>
                  <a:lnTo>
                    <a:pt x="83184" y="119379"/>
                  </a:lnTo>
                  <a:lnTo>
                    <a:pt x="31114" y="165100"/>
                  </a:lnTo>
                  <a:lnTo>
                    <a:pt x="3809" y="214629"/>
                  </a:lnTo>
                  <a:lnTo>
                    <a:pt x="0" y="240664"/>
                  </a:lnTo>
                  <a:lnTo>
                    <a:pt x="3809" y="267334"/>
                  </a:lnTo>
                  <a:lnTo>
                    <a:pt x="31114" y="317499"/>
                  </a:lnTo>
                  <a:lnTo>
                    <a:pt x="83184" y="363219"/>
                  </a:lnTo>
                  <a:lnTo>
                    <a:pt x="118109" y="384174"/>
                  </a:lnTo>
                  <a:lnTo>
                    <a:pt x="157479" y="403224"/>
                  </a:lnTo>
                  <a:lnTo>
                    <a:pt x="201294" y="421004"/>
                  </a:lnTo>
                  <a:lnTo>
                    <a:pt x="249554" y="436244"/>
                  </a:lnTo>
                  <a:lnTo>
                    <a:pt x="302259" y="450214"/>
                  </a:lnTo>
                  <a:lnTo>
                    <a:pt x="358139" y="461644"/>
                  </a:lnTo>
                  <a:lnTo>
                    <a:pt x="417194" y="470534"/>
                  </a:lnTo>
                  <a:lnTo>
                    <a:pt x="478789" y="477519"/>
                  </a:lnTo>
                  <a:lnTo>
                    <a:pt x="543559" y="481964"/>
                  </a:lnTo>
                  <a:lnTo>
                    <a:pt x="609600" y="483234"/>
                  </a:lnTo>
                  <a:lnTo>
                    <a:pt x="676275" y="481964"/>
                  </a:lnTo>
                  <a:lnTo>
                    <a:pt x="740409" y="477519"/>
                  </a:lnTo>
                  <a:lnTo>
                    <a:pt x="802005" y="470534"/>
                  </a:lnTo>
                  <a:lnTo>
                    <a:pt x="861059" y="461644"/>
                  </a:lnTo>
                  <a:lnTo>
                    <a:pt x="916305" y="450214"/>
                  </a:lnTo>
                  <a:lnTo>
                    <a:pt x="969009" y="436244"/>
                  </a:lnTo>
                  <a:lnTo>
                    <a:pt x="1017269" y="421004"/>
                  </a:lnTo>
                  <a:lnTo>
                    <a:pt x="1061084" y="403224"/>
                  </a:lnTo>
                  <a:lnTo>
                    <a:pt x="1100455" y="384174"/>
                  </a:lnTo>
                  <a:lnTo>
                    <a:pt x="1134745" y="363219"/>
                  </a:lnTo>
                  <a:lnTo>
                    <a:pt x="1186814" y="317499"/>
                  </a:lnTo>
                  <a:lnTo>
                    <a:pt x="1214120" y="267334"/>
                  </a:lnTo>
                  <a:lnTo>
                    <a:pt x="1217930" y="240664"/>
                  </a:lnTo>
                  <a:lnTo>
                    <a:pt x="1214120" y="214629"/>
                  </a:lnTo>
                  <a:lnTo>
                    <a:pt x="1186814" y="165100"/>
                  </a:lnTo>
                  <a:lnTo>
                    <a:pt x="1134745" y="119379"/>
                  </a:lnTo>
                  <a:lnTo>
                    <a:pt x="1100455" y="99059"/>
                  </a:lnTo>
                  <a:lnTo>
                    <a:pt x="1061084" y="79375"/>
                  </a:lnTo>
                  <a:lnTo>
                    <a:pt x="1017269" y="62229"/>
                  </a:lnTo>
                  <a:lnTo>
                    <a:pt x="969009" y="46354"/>
                  </a:lnTo>
                  <a:lnTo>
                    <a:pt x="916305" y="33019"/>
                  </a:lnTo>
                  <a:lnTo>
                    <a:pt x="861059" y="21589"/>
                  </a:lnTo>
                  <a:lnTo>
                    <a:pt x="802005" y="12064"/>
                  </a:lnTo>
                  <a:lnTo>
                    <a:pt x="740409" y="5714"/>
                  </a:lnTo>
                  <a:lnTo>
                    <a:pt x="676275" y="1269"/>
                  </a:lnTo>
                  <a:lnTo>
                    <a:pt x="609600" y="0"/>
                  </a:lnTo>
                  <a:close/>
                </a:path>
              </a:pathLst>
            </a:custGeom>
            <a:ln w="12700">
              <a:solidFill>
                <a:srgbClr val="000000"/>
              </a:solidFill>
            </a:ln>
          </p:spPr>
          <p:txBody>
            <a:bodyPr wrap="square" lIns="0" tIns="0" rIns="0" bIns="0" rtlCol="0"/>
            <a:lstStyle/>
            <a:p>
              <a:endParaRPr/>
            </a:p>
          </p:txBody>
        </p:sp>
        <p:sp>
          <p:nvSpPr>
            <p:cNvPr id="8" name="object 6">
              <a:extLst>
                <a:ext uri="{FF2B5EF4-FFF2-40B4-BE49-F238E27FC236}">
                  <a16:creationId xmlns:a16="http://schemas.microsoft.com/office/drawing/2014/main" id="{4F549757-1F15-C3CC-516C-6714459BA1C5}"/>
                </a:ext>
              </a:extLst>
            </p:cNvPr>
            <p:cNvSpPr/>
            <p:nvPr/>
          </p:nvSpPr>
          <p:spPr>
            <a:xfrm>
              <a:off x="3399525" y="3832944"/>
              <a:ext cx="458470" cy="85090"/>
            </a:xfrm>
            <a:custGeom>
              <a:avLst/>
              <a:gdLst/>
              <a:ahLst/>
              <a:cxnLst/>
              <a:rect l="l" t="t" r="r" b="b"/>
              <a:pathLst>
                <a:path w="458469" h="85089">
                  <a:moveTo>
                    <a:pt x="373380" y="0"/>
                  </a:moveTo>
                  <a:lnTo>
                    <a:pt x="373380" y="85090"/>
                  </a:lnTo>
                  <a:lnTo>
                    <a:pt x="431165" y="56515"/>
                  </a:lnTo>
                  <a:lnTo>
                    <a:pt x="386715" y="56515"/>
                  </a:lnTo>
                  <a:lnTo>
                    <a:pt x="386715" y="28575"/>
                  </a:lnTo>
                  <a:lnTo>
                    <a:pt x="431165" y="28575"/>
                  </a:lnTo>
                  <a:lnTo>
                    <a:pt x="373380" y="0"/>
                  </a:lnTo>
                  <a:close/>
                </a:path>
                <a:path w="458469" h="85089">
                  <a:moveTo>
                    <a:pt x="373380" y="28575"/>
                  </a:moveTo>
                  <a:lnTo>
                    <a:pt x="0" y="28575"/>
                  </a:lnTo>
                  <a:lnTo>
                    <a:pt x="0" y="56515"/>
                  </a:lnTo>
                  <a:lnTo>
                    <a:pt x="373380" y="56515"/>
                  </a:lnTo>
                  <a:lnTo>
                    <a:pt x="373380" y="28575"/>
                  </a:lnTo>
                  <a:close/>
                </a:path>
                <a:path w="458469" h="85089">
                  <a:moveTo>
                    <a:pt x="431165" y="28575"/>
                  </a:moveTo>
                  <a:lnTo>
                    <a:pt x="386715" y="28575"/>
                  </a:lnTo>
                  <a:lnTo>
                    <a:pt x="386715" y="56515"/>
                  </a:lnTo>
                  <a:lnTo>
                    <a:pt x="431165" y="56515"/>
                  </a:lnTo>
                  <a:lnTo>
                    <a:pt x="458469" y="42545"/>
                  </a:lnTo>
                  <a:lnTo>
                    <a:pt x="431165" y="28575"/>
                  </a:lnTo>
                  <a:close/>
                </a:path>
              </a:pathLst>
            </a:custGeom>
            <a:solidFill>
              <a:srgbClr val="000000"/>
            </a:solidFill>
          </p:spPr>
          <p:txBody>
            <a:bodyPr wrap="square" lIns="0" tIns="0" rIns="0" bIns="0" rtlCol="0"/>
            <a:lstStyle/>
            <a:p>
              <a:endParaRPr/>
            </a:p>
          </p:txBody>
        </p:sp>
        <p:sp>
          <p:nvSpPr>
            <p:cNvPr id="9" name="object 7">
              <a:extLst>
                <a:ext uri="{FF2B5EF4-FFF2-40B4-BE49-F238E27FC236}">
                  <a16:creationId xmlns:a16="http://schemas.microsoft.com/office/drawing/2014/main" id="{29E9BD16-2B99-3AB3-C458-A4C3EC44DA4B}"/>
                </a:ext>
              </a:extLst>
            </p:cNvPr>
            <p:cNvSpPr txBox="1"/>
            <p:nvPr/>
          </p:nvSpPr>
          <p:spPr>
            <a:xfrm>
              <a:off x="2816468" y="3982550"/>
              <a:ext cx="380365" cy="289560"/>
            </a:xfrm>
            <a:prstGeom prst="rect">
              <a:avLst/>
            </a:prstGeom>
          </p:spPr>
          <p:txBody>
            <a:bodyPr vert="horz" wrap="square" lIns="0" tIns="0" rIns="0" bIns="0" rtlCol="0">
              <a:spAutoFit/>
            </a:bodyPr>
            <a:lstStyle/>
            <a:p>
              <a:pPr marL="21590" marR="5080" indent="-9525">
                <a:lnSpc>
                  <a:spcPct val="100000"/>
                </a:lnSpc>
              </a:pPr>
              <a:r>
                <a:rPr sz="900" spc="-5" dirty="0">
                  <a:latin typeface="Georgia"/>
                  <a:cs typeface="Georgia"/>
                </a:rPr>
                <a:t>q</a:t>
              </a:r>
              <a:r>
                <a:rPr sz="900" spc="5" dirty="0">
                  <a:latin typeface="Georgia"/>
                  <a:cs typeface="Georgia"/>
                </a:rPr>
                <a:t>u</a:t>
              </a:r>
              <a:r>
                <a:rPr sz="900" dirty="0">
                  <a:latin typeface="Georgia"/>
                  <a:cs typeface="Georgia"/>
                </a:rPr>
                <a:t>al</a:t>
              </a:r>
              <a:r>
                <a:rPr sz="900" spc="-5" dirty="0">
                  <a:latin typeface="Georgia"/>
                  <a:cs typeface="Georgia"/>
                </a:rPr>
                <a:t>ity  </a:t>
              </a:r>
              <a:r>
                <a:rPr sz="900" spc="-10" dirty="0">
                  <a:latin typeface="Georgia"/>
                  <a:cs typeface="Georgia"/>
                </a:rPr>
                <a:t>f</a:t>
              </a:r>
              <a:r>
                <a:rPr sz="900" dirty="0">
                  <a:latin typeface="Georgia"/>
                  <a:cs typeface="Georgia"/>
                </a:rPr>
                <a:t>a</a:t>
              </a:r>
              <a:r>
                <a:rPr sz="900" spc="-5" dirty="0">
                  <a:latin typeface="Georgia"/>
                  <a:cs typeface="Georgia"/>
                </a:rPr>
                <a:t>ct</a:t>
              </a:r>
              <a:r>
                <a:rPr sz="900" spc="-10" dirty="0">
                  <a:latin typeface="Georgia"/>
                  <a:cs typeface="Georgia"/>
                </a:rPr>
                <a:t>o</a:t>
              </a:r>
              <a:r>
                <a:rPr sz="900" spc="10" dirty="0">
                  <a:latin typeface="Georgia"/>
                  <a:cs typeface="Georgia"/>
                </a:rPr>
                <a:t>r</a:t>
              </a:r>
              <a:r>
                <a:rPr sz="900" spc="5" dirty="0">
                  <a:latin typeface="Georgia"/>
                  <a:cs typeface="Georgia"/>
                </a:rPr>
                <a:t>s</a:t>
              </a:r>
              <a:endParaRPr sz="900">
                <a:latin typeface="Georgia"/>
                <a:cs typeface="Georgia"/>
              </a:endParaRPr>
            </a:p>
          </p:txBody>
        </p:sp>
        <p:sp>
          <p:nvSpPr>
            <p:cNvPr id="10" name="object 8">
              <a:extLst>
                <a:ext uri="{FF2B5EF4-FFF2-40B4-BE49-F238E27FC236}">
                  <a16:creationId xmlns:a16="http://schemas.microsoft.com/office/drawing/2014/main" id="{52B0E41D-345B-C550-FC07-CC652AA24488}"/>
                </a:ext>
              </a:extLst>
            </p:cNvPr>
            <p:cNvSpPr txBox="1"/>
            <p:nvPr/>
          </p:nvSpPr>
          <p:spPr>
            <a:xfrm>
              <a:off x="4088119" y="3952100"/>
              <a:ext cx="321310" cy="350520"/>
            </a:xfrm>
            <a:prstGeom prst="rect">
              <a:avLst/>
            </a:prstGeom>
          </p:spPr>
          <p:txBody>
            <a:bodyPr vert="horz" wrap="square" lIns="0" tIns="0" rIns="0" bIns="0" rtlCol="0">
              <a:spAutoFit/>
            </a:bodyPr>
            <a:lstStyle/>
            <a:p>
              <a:pPr marL="128270" marR="5080" indent="-116205">
                <a:lnSpc>
                  <a:spcPct val="122200"/>
                </a:lnSpc>
              </a:pPr>
              <a:r>
                <a:rPr sz="900" spc="-5" dirty="0">
                  <a:latin typeface="Georgia"/>
                  <a:cs typeface="Georgia"/>
                </a:rPr>
                <a:t>q</a:t>
              </a:r>
              <a:r>
                <a:rPr sz="900" spc="5" dirty="0">
                  <a:latin typeface="Georgia"/>
                  <a:cs typeface="Georgia"/>
                </a:rPr>
                <a:t>u</a:t>
              </a:r>
              <a:r>
                <a:rPr sz="900" dirty="0">
                  <a:latin typeface="Georgia"/>
                  <a:cs typeface="Georgia"/>
                </a:rPr>
                <a:t>al</a:t>
              </a:r>
              <a:r>
                <a:rPr sz="900" spc="-5" dirty="0">
                  <a:latin typeface="Georgia"/>
                  <a:cs typeface="Georgia"/>
                </a:rPr>
                <a:t>i</a:t>
              </a:r>
              <a:r>
                <a:rPr sz="900" dirty="0">
                  <a:latin typeface="Georgia"/>
                  <a:cs typeface="Georgia"/>
                </a:rPr>
                <a:t>t  </a:t>
              </a:r>
              <a:r>
                <a:rPr sz="900" spc="55" dirty="0">
                  <a:latin typeface="Georgia"/>
                  <a:cs typeface="Georgia"/>
                </a:rPr>
                <a:t>y</a:t>
              </a:r>
              <a:endParaRPr sz="900">
                <a:latin typeface="Georgia"/>
                <a:cs typeface="Georgia"/>
              </a:endParaRPr>
            </a:p>
          </p:txBody>
        </p:sp>
        <p:sp>
          <p:nvSpPr>
            <p:cNvPr id="11" name="object 9">
              <a:extLst>
                <a:ext uri="{FF2B5EF4-FFF2-40B4-BE49-F238E27FC236}">
                  <a16:creationId xmlns:a16="http://schemas.microsoft.com/office/drawing/2014/main" id="{6BF87313-58B6-B7B2-C491-33E56B8B77D5}"/>
                </a:ext>
              </a:extLst>
            </p:cNvPr>
            <p:cNvSpPr/>
            <p:nvPr/>
          </p:nvSpPr>
          <p:spPr>
            <a:xfrm>
              <a:off x="4740645" y="4265379"/>
              <a:ext cx="1024255" cy="483234"/>
            </a:xfrm>
            <a:custGeom>
              <a:avLst/>
              <a:gdLst/>
              <a:ahLst/>
              <a:cxnLst/>
              <a:rect l="l" t="t" r="r" b="b"/>
              <a:pathLst>
                <a:path w="1024254" h="483235">
                  <a:moveTo>
                    <a:pt x="512445" y="0"/>
                  </a:moveTo>
                  <a:lnTo>
                    <a:pt x="448310" y="1904"/>
                  </a:lnTo>
                  <a:lnTo>
                    <a:pt x="386080" y="6984"/>
                  </a:lnTo>
                  <a:lnTo>
                    <a:pt x="327660" y="15875"/>
                  </a:lnTo>
                  <a:lnTo>
                    <a:pt x="271780" y="27939"/>
                  </a:lnTo>
                  <a:lnTo>
                    <a:pt x="219710" y="43179"/>
                  </a:lnTo>
                  <a:lnTo>
                    <a:pt x="172720" y="60959"/>
                  </a:lnTo>
                  <a:lnTo>
                    <a:pt x="129539" y="81279"/>
                  </a:lnTo>
                  <a:lnTo>
                    <a:pt x="92075" y="103504"/>
                  </a:lnTo>
                  <a:lnTo>
                    <a:pt x="60325" y="128269"/>
                  </a:lnTo>
                  <a:lnTo>
                    <a:pt x="15875" y="182244"/>
                  </a:lnTo>
                  <a:lnTo>
                    <a:pt x="0" y="241934"/>
                  </a:lnTo>
                  <a:lnTo>
                    <a:pt x="4445" y="272414"/>
                  </a:lnTo>
                  <a:lnTo>
                    <a:pt x="34925" y="328929"/>
                  </a:lnTo>
                  <a:lnTo>
                    <a:pt x="92075" y="379729"/>
                  </a:lnTo>
                  <a:lnTo>
                    <a:pt x="129539" y="401954"/>
                  </a:lnTo>
                  <a:lnTo>
                    <a:pt x="172720" y="422275"/>
                  </a:lnTo>
                  <a:lnTo>
                    <a:pt x="219710" y="439419"/>
                  </a:lnTo>
                  <a:lnTo>
                    <a:pt x="271780" y="454659"/>
                  </a:lnTo>
                  <a:lnTo>
                    <a:pt x="327660" y="466725"/>
                  </a:lnTo>
                  <a:lnTo>
                    <a:pt x="386080" y="475614"/>
                  </a:lnTo>
                  <a:lnTo>
                    <a:pt x="448310" y="481329"/>
                  </a:lnTo>
                  <a:lnTo>
                    <a:pt x="512445" y="483234"/>
                  </a:lnTo>
                  <a:lnTo>
                    <a:pt x="576580" y="481329"/>
                  </a:lnTo>
                  <a:lnTo>
                    <a:pt x="638175" y="475614"/>
                  </a:lnTo>
                  <a:lnTo>
                    <a:pt x="697230" y="466725"/>
                  </a:lnTo>
                  <a:lnTo>
                    <a:pt x="753110" y="454659"/>
                  </a:lnTo>
                  <a:lnTo>
                    <a:pt x="805180" y="439419"/>
                  </a:lnTo>
                  <a:lnTo>
                    <a:pt x="852805" y="422275"/>
                  </a:lnTo>
                  <a:lnTo>
                    <a:pt x="895350" y="401954"/>
                  </a:lnTo>
                  <a:lnTo>
                    <a:pt x="932814" y="379729"/>
                  </a:lnTo>
                  <a:lnTo>
                    <a:pt x="964564" y="354964"/>
                  </a:lnTo>
                  <a:lnTo>
                    <a:pt x="1008380" y="300989"/>
                  </a:lnTo>
                  <a:lnTo>
                    <a:pt x="1024255" y="241934"/>
                  </a:lnTo>
                  <a:lnTo>
                    <a:pt x="1020445" y="211454"/>
                  </a:lnTo>
                  <a:lnTo>
                    <a:pt x="989964" y="154304"/>
                  </a:lnTo>
                  <a:lnTo>
                    <a:pt x="932814" y="103504"/>
                  </a:lnTo>
                  <a:lnTo>
                    <a:pt x="895350" y="81279"/>
                  </a:lnTo>
                  <a:lnTo>
                    <a:pt x="852805" y="60959"/>
                  </a:lnTo>
                  <a:lnTo>
                    <a:pt x="805180" y="43179"/>
                  </a:lnTo>
                  <a:lnTo>
                    <a:pt x="753110" y="27939"/>
                  </a:lnTo>
                  <a:lnTo>
                    <a:pt x="697230" y="15875"/>
                  </a:lnTo>
                  <a:lnTo>
                    <a:pt x="638175" y="6984"/>
                  </a:lnTo>
                  <a:lnTo>
                    <a:pt x="576580" y="1904"/>
                  </a:lnTo>
                  <a:lnTo>
                    <a:pt x="512445" y="0"/>
                  </a:lnTo>
                  <a:close/>
                </a:path>
              </a:pathLst>
            </a:custGeom>
            <a:solidFill>
              <a:srgbClr val="00FFFF"/>
            </a:solidFill>
          </p:spPr>
          <p:txBody>
            <a:bodyPr wrap="square" lIns="0" tIns="0" rIns="0" bIns="0" rtlCol="0"/>
            <a:lstStyle/>
            <a:p>
              <a:endParaRPr/>
            </a:p>
          </p:txBody>
        </p:sp>
        <p:sp>
          <p:nvSpPr>
            <p:cNvPr id="12" name="object 10">
              <a:extLst>
                <a:ext uri="{FF2B5EF4-FFF2-40B4-BE49-F238E27FC236}">
                  <a16:creationId xmlns:a16="http://schemas.microsoft.com/office/drawing/2014/main" id="{DF5ACDA4-091D-F8C4-B863-61E967A8CA5B}"/>
                </a:ext>
              </a:extLst>
            </p:cNvPr>
            <p:cNvSpPr/>
            <p:nvPr/>
          </p:nvSpPr>
          <p:spPr>
            <a:xfrm>
              <a:off x="4740645" y="4265379"/>
              <a:ext cx="1024255" cy="483234"/>
            </a:xfrm>
            <a:custGeom>
              <a:avLst/>
              <a:gdLst/>
              <a:ahLst/>
              <a:cxnLst/>
              <a:rect l="l" t="t" r="r" b="b"/>
              <a:pathLst>
                <a:path w="1024254" h="483235">
                  <a:moveTo>
                    <a:pt x="512445" y="0"/>
                  </a:moveTo>
                  <a:lnTo>
                    <a:pt x="448310" y="1904"/>
                  </a:lnTo>
                  <a:lnTo>
                    <a:pt x="386080" y="6984"/>
                  </a:lnTo>
                  <a:lnTo>
                    <a:pt x="327660" y="15875"/>
                  </a:lnTo>
                  <a:lnTo>
                    <a:pt x="271780" y="27939"/>
                  </a:lnTo>
                  <a:lnTo>
                    <a:pt x="219710" y="43179"/>
                  </a:lnTo>
                  <a:lnTo>
                    <a:pt x="172720" y="60959"/>
                  </a:lnTo>
                  <a:lnTo>
                    <a:pt x="129539" y="81279"/>
                  </a:lnTo>
                  <a:lnTo>
                    <a:pt x="92075" y="103504"/>
                  </a:lnTo>
                  <a:lnTo>
                    <a:pt x="60325" y="128269"/>
                  </a:lnTo>
                  <a:lnTo>
                    <a:pt x="15875" y="182244"/>
                  </a:lnTo>
                  <a:lnTo>
                    <a:pt x="0" y="241934"/>
                  </a:lnTo>
                  <a:lnTo>
                    <a:pt x="4445" y="272414"/>
                  </a:lnTo>
                  <a:lnTo>
                    <a:pt x="34925" y="328929"/>
                  </a:lnTo>
                  <a:lnTo>
                    <a:pt x="92075" y="379729"/>
                  </a:lnTo>
                  <a:lnTo>
                    <a:pt x="129539" y="401954"/>
                  </a:lnTo>
                  <a:lnTo>
                    <a:pt x="172720" y="422275"/>
                  </a:lnTo>
                  <a:lnTo>
                    <a:pt x="219710" y="439419"/>
                  </a:lnTo>
                  <a:lnTo>
                    <a:pt x="271780" y="454659"/>
                  </a:lnTo>
                  <a:lnTo>
                    <a:pt x="327660" y="466725"/>
                  </a:lnTo>
                  <a:lnTo>
                    <a:pt x="386080" y="475614"/>
                  </a:lnTo>
                  <a:lnTo>
                    <a:pt x="448310" y="481329"/>
                  </a:lnTo>
                  <a:lnTo>
                    <a:pt x="512445" y="483234"/>
                  </a:lnTo>
                  <a:lnTo>
                    <a:pt x="576580" y="481329"/>
                  </a:lnTo>
                  <a:lnTo>
                    <a:pt x="638175" y="475614"/>
                  </a:lnTo>
                  <a:lnTo>
                    <a:pt x="697230" y="466725"/>
                  </a:lnTo>
                  <a:lnTo>
                    <a:pt x="753110" y="454659"/>
                  </a:lnTo>
                  <a:lnTo>
                    <a:pt x="805180" y="439419"/>
                  </a:lnTo>
                  <a:lnTo>
                    <a:pt x="852805" y="422275"/>
                  </a:lnTo>
                  <a:lnTo>
                    <a:pt x="895350" y="401954"/>
                  </a:lnTo>
                  <a:lnTo>
                    <a:pt x="932814" y="379729"/>
                  </a:lnTo>
                  <a:lnTo>
                    <a:pt x="964564" y="354964"/>
                  </a:lnTo>
                  <a:lnTo>
                    <a:pt x="1008380" y="300989"/>
                  </a:lnTo>
                  <a:lnTo>
                    <a:pt x="1024255" y="241934"/>
                  </a:lnTo>
                  <a:lnTo>
                    <a:pt x="1020445" y="211454"/>
                  </a:lnTo>
                  <a:lnTo>
                    <a:pt x="989964" y="154304"/>
                  </a:lnTo>
                  <a:lnTo>
                    <a:pt x="932814" y="103504"/>
                  </a:lnTo>
                  <a:lnTo>
                    <a:pt x="895350" y="81279"/>
                  </a:lnTo>
                  <a:lnTo>
                    <a:pt x="852805" y="60959"/>
                  </a:lnTo>
                  <a:lnTo>
                    <a:pt x="805180" y="43179"/>
                  </a:lnTo>
                  <a:lnTo>
                    <a:pt x="753110" y="27939"/>
                  </a:lnTo>
                  <a:lnTo>
                    <a:pt x="697230" y="15875"/>
                  </a:lnTo>
                  <a:lnTo>
                    <a:pt x="638175" y="6984"/>
                  </a:lnTo>
                  <a:lnTo>
                    <a:pt x="576580" y="1904"/>
                  </a:lnTo>
                  <a:lnTo>
                    <a:pt x="512445" y="0"/>
                  </a:lnTo>
                  <a:close/>
                </a:path>
              </a:pathLst>
            </a:custGeom>
            <a:ln w="12700">
              <a:solidFill>
                <a:srgbClr val="000000"/>
              </a:solidFill>
            </a:ln>
          </p:spPr>
          <p:txBody>
            <a:bodyPr wrap="square" lIns="0" tIns="0" rIns="0" bIns="0" rtlCol="0"/>
            <a:lstStyle/>
            <a:p>
              <a:endParaRPr/>
            </a:p>
          </p:txBody>
        </p:sp>
        <p:sp>
          <p:nvSpPr>
            <p:cNvPr id="13" name="object 11">
              <a:extLst>
                <a:ext uri="{FF2B5EF4-FFF2-40B4-BE49-F238E27FC236}">
                  <a16:creationId xmlns:a16="http://schemas.microsoft.com/office/drawing/2014/main" id="{1A1E9395-9B6B-14A6-E930-358FC0C6C77F}"/>
                </a:ext>
              </a:extLst>
            </p:cNvPr>
            <p:cNvSpPr/>
            <p:nvPr/>
          </p:nvSpPr>
          <p:spPr>
            <a:xfrm>
              <a:off x="4408539" y="4222834"/>
              <a:ext cx="458470" cy="85090"/>
            </a:xfrm>
            <a:custGeom>
              <a:avLst/>
              <a:gdLst/>
              <a:ahLst/>
              <a:cxnLst/>
              <a:rect l="l" t="t" r="r" b="b"/>
              <a:pathLst>
                <a:path w="458470" h="85089">
                  <a:moveTo>
                    <a:pt x="373379" y="0"/>
                  </a:moveTo>
                  <a:lnTo>
                    <a:pt x="373379" y="85089"/>
                  </a:lnTo>
                  <a:lnTo>
                    <a:pt x="431164" y="55879"/>
                  </a:lnTo>
                  <a:lnTo>
                    <a:pt x="387350" y="55879"/>
                  </a:lnTo>
                  <a:lnTo>
                    <a:pt x="387350" y="28575"/>
                  </a:lnTo>
                  <a:lnTo>
                    <a:pt x="431164" y="28575"/>
                  </a:lnTo>
                  <a:lnTo>
                    <a:pt x="373379" y="0"/>
                  </a:lnTo>
                  <a:close/>
                </a:path>
                <a:path w="458470" h="85089">
                  <a:moveTo>
                    <a:pt x="373379" y="28575"/>
                  </a:moveTo>
                  <a:lnTo>
                    <a:pt x="0" y="28575"/>
                  </a:lnTo>
                  <a:lnTo>
                    <a:pt x="0" y="55879"/>
                  </a:lnTo>
                  <a:lnTo>
                    <a:pt x="373379" y="55879"/>
                  </a:lnTo>
                  <a:lnTo>
                    <a:pt x="373379" y="28575"/>
                  </a:lnTo>
                  <a:close/>
                </a:path>
                <a:path w="458470" h="85089">
                  <a:moveTo>
                    <a:pt x="431164" y="28575"/>
                  </a:moveTo>
                  <a:lnTo>
                    <a:pt x="387350" y="28575"/>
                  </a:lnTo>
                  <a:lnTo>
                    <a:pt x="387350" y="55879"/>
                  </a:lnTo>
                  <a:lnTo>
                    <a:pt x="431164" y="55879"/>
                  </a:lnTo>
                  <a:lnTo>
                    <a:pt x="458469" y="42545"/>
                  </a:lnTo>
                  <a:lnTo>
                    <a:pt x="431164" y="28575"/>
                  </a:lnTo>
                  <a:close/>
                </a:path>
              </a:pathLst>
            </a:custGeom>
            <a:solidFill>
              <a:srgbClr val="000000"/>
            </a:solidFill>
          </p:spPr>
          <p:txBody>
            <a:bodyPr wrap="square" lIns="0" tIns="0" rIns="0" bIns="0" rtlCol="0"/>
            <a:lstStyle/>
            <a:p>
              <a:endParaRPr/>
            </a:p>
          </p:txBody>
        </p:sp>
        <p:sp>
          <p:nvSpPr>
            <p:cNvPr id="14" name="object 12">
              <a:extLst>
                <a:ext uri="{FF2B5EF4-FFF2-40B4-BE49-F238E27FC236}">
                  <a16:creationId xmlns:a16="http://schemas.microsoft.com/office/drawing/2014/main" id="{C65BE5C4-2F02-2458-BDFF-E4F9EB9277A3}"/>
                </a:ext>
              </a:extLst>
            </p:cNvPr>
            <p:cNvSpPr/>
            <p:nvPr/>
          </p:nvSpPr>
          <p:spPr>
            <a:xfrm>
              <a:off x="6163680" y="4265379"/>
              <a:ext cx="1062355" cy="483234"/>
            </a:xfrm>
            <a:custGeom>
              <a:avLst/>
              <a:gdLst/>
              <a:ahLst/>
              <a:cxnLst/>
              <a:rect l="l" t="t" r="r" b="b"/>
              <a:pathLst>
                <a:path w="1062354" h="483235">
                  <a:moveTo>
                    <a:pt x="531495" y="0"/>
                  </a:moveTo>
                  <a:lnTo>
                    <a:pt x="469900" y="1269"/>
                  </a:lnTo>
                  <a:lnTo>
                    <a:pt x="409575" y="6350"/>
                  </a:lnTo>
                  <a:lnTo>
                    <a:pt x="352425" y="13969"/>
                  </a:lnTo>
                  <a:lnTo>
                    <a:pt x="297814" y="24129"/>
                  </a:lnTo>
                  <a:lnTo>
                    <a:pt x="246379" y="37464"/>
                  </a:lnTo>
                  <a:lnTo>
                    <a:pt x="198754" y="52704"/>
                  </a:lnTo>
                  <a:lnTo>
                    <a:pt x="155575" y="70484"/>
                  </a:lnTo>
                  <a:lnTo>
                    <a:pt x="116839" y="90169"/>
                  </a:lnTo>
                  <a:lnTo>
                    <a:pt x="82550" y="111759"/>
                  </a:lnTo>
                  <a:lnTo>
                    <a:pt x="31114" y="159384"/>
                  </a:lnTo>
                  <a:lnTo>
                    <a:pt x="3175" y="212725"/>
                  </a:lnTo>
                  <a:lnTo>
                    <a:pt x="0" y="240664"/>
                  </a:lnTo>
                  <a:lnTo>
                    <a:pt x="3175" y="268604"/>
                  </a:lnTo>
                  <a:lnTo>
                    <a:pt x="31114" y="322579"/>
                  </a:lnTo>
                  <a:lnTo>
                    <a:pt x="82550" y="370839"/>
                  </a:lnTo>
                  <a:lnTo>
                    <a:pt x="116839" y="392429"/>
                  </a:lnTo>
                  <a:lnTo>
                    <a:pt x="155575" y="412114"/>
                  </a:lnTo>
                  <a:lnTo>
                    <a:pt x="198754" y="429894"/>
                  </a:lnTo>
                  <a:lnTo>
                    <a:pt x="246379" y="445134"/>
                  </a:lnTo>
                  <a:lnTo>
                    <a:pt x="297814" y="458469"/>
                  </a:lnTo>
                  <a:lnTo>
                    <a:pt x="352425" y="468629"/>
                  </a:lnTo>
                  <a:lnTo>
                    <a:pt x="409575" y="476250"/>
                  </a:lnTo>
                  <a:lnTo>
                    <a:pt x="469900" y="481329"/>
                  </a:lnTo>
                  <a:lnTo>
                    <a:pt x="531495" y="483234"/>
                  </a:lnTo>
                  <a:lnTo>
                    <a:pt x="593725" y="481329"/>
                  </a:lnTo>
                  <a:lnTo>
                    <a:pt x="653414" y="476250"/>
                  </a:lnTo>
                  <a:lnTo>
                    <a:pt x="710564" y="468629"/>
                  </a:lnTo>
                  <a:lnTo>
                    <a:pt x="764539" y="458469"/>
                  </a:lnTo>
                  <a:lnTo>
                    <a:pt x="815975" y="445134"/>
                  </a:lnTo>
                  <a:lnTo>
                    <a:pt x="863600" y="429894"/>
                  </a:lnTo>
                  <a:lnTo>
                    <a:pt x="906779" y="412114"/>
                  </a:lnTo>
                  <a:lnTo>
                    <a:pt x="945514" y="392429"/>
                  </a:lnTo>
                  <a:lnTo>
                    <a:pt x="979170" y="370839"/>
                  </a:lnTo>
                  <a:lnTo>
                    <a:pt x="1031239" y="322579"/>
                  </a:lnTo>
                  <a:lnTo>
                    <a:pt x="1058545" y="268604"/>
                  </a:lnTo>
                  <a:lnTo>
                    <a:pt x="1062354" y="240664"/>
                  </a:lnTo>
                  <a:lnTo>
                    <a:pt x="1058545" y="212725"/>
                  </a:lnTo>
                  <a:lnTo>
                    <a:pt x="1031239" y="159384"/>
                  </a:lnTo>
                  <a:lnTo>
                    <a:pt x="979170" y="111759"/>
                  </a:lnTo>
                  <a:lnTo>
                    <a:pt x="945514" y="90169"/>
                  </a:lnTo>
                  <a:lnTo>
                    <a:pt x="906779" y="70484"/>
                  </a:lnTo>
                  <a:lnTo>
                    <a:pt x="863600" y="52704"/>
                  </a:lnTo>
                  <a:lnTo>
                    <a:pt x="815975" y="37464"/>
                  </a:lnTo>
                  <a:lnTo>
                    <a:pt x="764539" y="24129"/>
                  </a:lnTo>
                  <a:lnTo>
                    <a:pt x="710564" y="13969"/>
                  </a:lnTo>
                  <a:lnTo>
                    <a:pt x="653414" y="6350"/>
                  </a:lnTo>
                  <a:lnTo>
                    <a:pt x="593725" y="1269"/>
                  </a:lnTo>
                  <a:lnTo>
                    <a:pt x="531495" y="0"/>
                  </a:lnTo>
                  <a:close/>
                </a:path>
              </a:pathLst>
            </a:custGeom>
            <a:solidFill>
              <a:srgbClr val="00FFFF"/>
            </a:solidFill>
          </p:spPr>
          <p:txBody>
            <a:bodyPr wrap="square" lIns="0" tIns="0" rIns="0" bIns="0" rtlCol="0"/>
            <a:lstStyle/>
            <a:p>
              <a:endParaRPr/>
            </a:p>
          </p:txBody>
        </p:sp>
        <p:sp>
          <p:nvSpPr>
            <p:cNvPr id="15" name="object 13">
              <a:extLst>
                <a:ext uri="{FF2B5EF4-FFF2-40B4-BE49-F238E27FC236}">
                  <a16:creationId xmlns:a16="http://schemas.microsoft.com/office/drawing/2014/main" id="{0776CC8A-4645-58C3-2DC1-6540D31D98B1}"/>
                </a:ext>
              </a:extLst>
            </p:cNvPr>
            <p:cNvSpPr/>
            <p:nvPr/>
          </p:nvSpPr>
          <p:spPr>
            <a:xfrm>
              <a:off x="6163680" y="4265379"/>
              <a:ext cx="1062355" cy="483234"/>
            </a:xfrm>
            <a:custGeom>
              <a:avLst/>
              <a:gdLst/>
              <a:ahLst/>
              <a:cxnLst/>
              <a:rect l="l" t="t" r="r" b="b"/>
              <a:pathLst>
                <a:path w="1062354" h="483235">
                  <a:moveTo>
                    <a:pt x="531495" y="0"/>
                  </a:moveTo>
                  <a:lnTo>
                    <a:pt x="469900" y="1269"/>
                  </a:lnTo>
                  <a:lnTo>
                    <a:pt x="409575" y="6350"/>
                  </a:lnTo>
                  <a:lnTo>
                    <a:pt x="352425" y="13969"/>
                  </a:lnTo>
                  <a:lnTo>
                    <a:pt x="297814" y="24129"/>
                  </a:lnTo>
                  <a:lnTo>
                    <a:pt x="246379" y="37464"/>
                  </a:lnTo>
                  <a:lnTo>
                    <a:pt x="198754" y="52704"/>
                  </a:lnTo>
                  <a:lnTo>
                    <a:pt x="155575" y="70484"/>
                  </a:lnTo>
                  <a:lnTo>
                    <a:pt x="116839" y="90169"/>
                  </a:lnTo>
                  <a:lnTo>
                    <a:pt x="82550" y="111759"/>
                  </a:lnTo>
                  <a:lnTo>
                    <a:pt x="31114" y="159384"/>
                  </a:lnTo>
                  <a:lnTo>
                    <a:pt x="3175" y="212725"/>
                  </a:lnTo>
                  <a:lnTo>
                    <a:pt x="0" y="240664"/>
                  </a:lnTo>
                  <a:lnTo>
                    <a:pt x="3175" y="268604"/>
                  </a:lnTo>
                  <a:lnTo>
                    <a:pt x="31114" y="322579"/>
                  </a:lnTo>
                  <a:lnTo>
                    <a:pt x="82550" y="370839"/>
                  </a:lnTo>
                  <a:lnTo>
                    <a:pt x="116839" y="392429"/>
                  </a:lnTo>
                  <a:lnTo>
                    <a:pt x="155575" y="412114"/>
                  </a:lnTo>
                  <a:lnTo>
                    <a:pt x="198754" y="429894"/>
                  </a:lnTo>
                  <a:lnTo>
                    <a:pt x="246379" y="445134"/>
                  </a:lnTo>
                  <a:lnTo>
                    <a:pt x="297814" y="458469"/>
                  </a:lnTo>
                  <a:lnTo>
                    <a:pt x="352425" y="468629"/>
                  </a:lnTo>
                  <a:lnTo>
                    <a:pt x="409575" y="476250"/>
                  </a:lnTo>
                  <a:lnTo>
                    <a:pt x="469900" y="481329"/>
                  </a:lnTo>
                  <a:lnTo>
                    <a:pt x="531495" y="483234"/>
                  </a:lnTo>
                  <a:lnTo>
                    <a:pt x="593725" y="481329"/>
                  </a:lnTo>
                  <a:lnTo>
                    <a:pt x="653414" y="476250"/>
                  </a:lnTo>
                  <a:lnTo>
                    <a:pt x="710564" y="468629"/>
                  </a:lnTo>
                  <a:lnTo>
                    <a:pt x="764539" y="458469"/>
                  </a:lnTo>
                  <a:lnTo>
                    <a:pt x="815975" y="445134"/>
                  </a:lnTo>
                  <a:lnTo>
                    <a:pt x="863600" y="429894"/>
                  </a:lnTo>
                  <a:lnTo>
                    <a:pt x="906779" y="412114"/>
                  </a:lnTo>
                  <a:lnTo>
                    <a:pt x="945514" y="392429"/>
                  </a:lnTo>
                  <a:lnTo>
                    <a:pt x="979170" y="370839"/>
                  </a:lnTo>
                  <a:lnTo>
                    <a:pt x="1031239" y="322579"/>
                  </a:lnTo>
                  <a:lnTo>
                    <a:pt x="1058545" y="268604"/>
                  </a:lnTo>
                  <a:lnTo>
                    <a:pt x="1062354" y="240664"/>
                  </a:lnTo>
                  <a:lnTo>
                    <a:pt x="1058545" y="212725"/>
                  </a:lnTo>
                  <a:lnTo>
                    <a:pt x="1031239" y="159384"/>
                  </a:lnTo>
                  <a:lnTo>
                    <a:pt x="979170" y="111759"/>
                  </a:lnTo>
                  <a:lnTo>
                    <a:pt x="945514" y="90169"/>
                  </a:lnTo>
                  <a:lnTo>
                    <a:pt x="906779" y="70484"/>
                  </a:lnTo>
                  <a:lnTo>
                    <a:pt x="863600" y="52704"/>
                  </a:lnTo>
                  <a:lnTo>
                    <a:pt x="815975" y="37464"/>
                  </a:lnTo>
                  <a:lnTo>
                    <a:pt x="764539" y="24129"/>
                  </a:lnTo>
                  <a:lnTo>
                    <a:pt x="710564" y="13969"/>
                  </a:lnTo>
                  <a:lnTo>
                    <a:pt x="653414" y="6350"/>
                  </a:lnTo>
                  <a:lnTo>
                    <a:pt x="593725" y="1269"/>
                  </a:lnTo>
                  <a:lnTo>
                    <a:pt x="531495" y="0"/>
                  </a:lnTo>
                  <a:close/>
                </a:path>
              </a:pathLst>
            </a:custGeom>
            <a:ln w="12700">
              <a:solidFill>
                <a:srgbClr val="000000"/>
              </a:solidFill>
            </a:ln>
          </p:spPr>
          <p:txBody>
            <a:bodyPr wrap="square" lIns="0" tIns="0" rIns="0" bIns="0" rtlCol="0"/>
            <a:lstStyle/>
            <a:p>
              <a:endParaRPr/>
            </a:p>
          </p:txBody>
        </p:sp>
        <p:sp>
          <p:nvSpPr>
            <p:cNvPr id="16" name="object 14">
              <a:extLst>
                <a:ext uri="{FF2B5EF4-FFF2-40B4-BE49-F238E27FC236}">
                  <a16:creationId xmlns:a16="http://schemas.microsoft.com/office/drawing/2014/main" id="{5315EB79-8D37-07F6-0C08-BD5835402679}"/>
                </a:ext>
              </a:extLst>
            </p:cNvPr>
            <p:cNvSpPr/>
            <p:nvPr/>
          </p:nvSpPr>
          <p:spPr>
            <a:xfrm>
              <a:off x="5784584" y="4222834"/>
              <a:ext cx="460375" cy="85090"/>
            </a:xfrm>
            <a:custGeom>
              <a:avLst/>
              <a:gdLst/>
              <a:ahLst/>
              <a:cxnLst/>
              <a:rect l="l" t="t" r="r" b="b"/>
              <a:pathLst>
                <a:path w="460375" h="85089">
                  <a:moveTo>
                    <a:pt x="373380" y="0"/>
                  </a:moveTo>
                  <a:lnTo>
                    <a:pt x="373380" y="85089"/>
                  </a:lnTo>
                  <a:lnTo>
                    <a:pt x="432435" y="55879"/>
                  </a:lnTo>
                  <a:lnTo>
                    <a:pt x="388620" y="55879"/>
                  </a:lnTo>
                  <a:lnTo>
                    <a:pt x="388620" y="28575"/>
                  </a:lnTo>
                  <a:lnTo>
                    <a:pt x="432435" y="28575"/>
                  </a:lnTo>
                  <a:lnTo>
                    <a:pt x="373380" y="0"/>
                  </a:lnTo>
                  <a:close/>
                </a:path>
                <a:path w="460375" h="85089">
                  <a:moveTo>
                    <a:pt x="373380" y="28575"/>
                  </a:moveTo>
                  <a:lnTo>
                    <a:pt x="0" y="28575"/>
                  </a:lnTo>
                  <a:lnTo>
                    <a:pt x="0" y="55879"/>
                  </a:lnTo>
                  <a:lnTo>
                    <a:pt x="373380" y="55879"/>
                  </a:lnTo>
                  <a:lnTo>
                    <a:pt x="373380" y="28575"/>
                  </a:lnTo>
                  <a:close/>
                </a:path>
                <a:path w="460375" h="85089">
                  <a:moveTo>
                    <a:pt x="432435" y="28575"/>
                  </a:moveTo>
                  <a:lnTo>
                    <a:pt x="388620" y="28575"/>
                  </a:lnTo>
                  <a:lnTo>
                    <a:pt x="388620" y="55879"/>
                  </a:lnTo>
                  <a:lnTo>
                    <a:pt x="432435" y="55879"/>
                  </a:lnTo>
                  <a:lnTo>
                    <a:pt x="460375" y="42545"/>
                  </a:lnTo>
                  <a:lnTo>
                    <a:pt x="432435" y="28575"/>
                  </a:lnTo>
                  <a:close/>
                </a:path>
              </a:pathLst>
            </a:custGeom>
            <a:solidFill>
              <a:srgbClr val="000000"/>
            </a:solidFill>
          </p:spPr>
          <p:txBody>
            <a:bodyPr wrap="square" lIns="0" tIns="0" rIns="0" bIns="0" rtlCol="0"/>
            <a:lstStyle/>
            <a:p>
              <a:endParaRPr/>
            </a:p>
          </p:txBody>
        </p:sp>
        <p:sp>
          <p:nvSpPr>
            <p:cNvPr id="17" name="object 15">
              <a:extLst>
                <a:ext uri="{FF2B5EF4-FFF2-40B4-BE49-F238E27FC236}">
                  <a16:creationId xmlns:a16="http://schemas.microsoft.com/office/drawing/2014/main" id="{CFC3BD3F-4307-FF2E-D963-EDA297998777}"/>
                </a:ext>
              </a:extLst>
            </p:cNvPr>
            <p:cNvSpPr txBox="1"/>
            <p:nvPr/>
          </p:nvSpPr>
          <p:spPr>
            <a:xfrm>
              <a:off x="4950957" y="4367009"/>
              <a:ext cx="614680" cy="295910"/>
            </a:xfrm>
            <a:prstGeom prst="rect">
              <a:avLst/>
            </a:prstGeom>
          </p:spPr>
          <p:txBody>
            <a:bodyPr vert="horz" wrap="square" lIns="0" tIns="0" rIns="0" bIns="0" rtlCol="0">
              <a:spAutoFit/>
            </a:bodyPr>
            <a:lstStyle/>
            <a:p>
              <a:pPr marL="88900" marR="5080" indent="-76200">
                <a:lnSpc>
                  <a:spcPct val="102200"/>
                </a:lnSpc>
              </a:pPr>
              <a:r>
                <a:rPr sz="900" spc="-5" dirty="0">
                  <a:latin typeface="Georgia"/>
                  <a:cs typeface="Georgia"/>
                </a:rPr>
                <a:t>me</a:t>
              </a:r>
              <a:r>
                <a:rPr sz="900" dirty="0">
                  <a:latin typeface="Georgia"/>
                  <a:cs typeface="Georgia"/>
                </a:rPr>
                <a:t>a</a:t>
              </a:r>
              <a:r>
                <a:rPr sz="900" spc="-10" dirty="0">
                  <a:latin typeface="Georgia"/>
                  <a:cs typeface="Georgia"/>
                </a:rPr>
                <a:t>s</a:t>
              </a:r>
              <a:r>
                <a:rPr sz="900" spc="5" dirty="0">
                  <a:latin typeface="Georgia"/>
                  <a:cs typeface="Georgia"/>
                </a:rPr>
                <a:t>u</a:t>
              </a:r>
              <a:r>
                <a:rPr sz="900" spc="10" dirty="0">
                  <a:latin typeface="Georgia"/>
                  <a:cs typeface="Georgia"/>
                </a:rPr>
                <a:t>r</a:t>
              </a:r>
              <a:r>
                <a:rPr sz="900" dirty="0">
                  <a:latin typeface="Georgia"/>
                  <a:cs typeface="Georgia"/>
                </a:rPr>
                <a:t>a</a:t>
              </a:r>
              <a:r>
                <a:rPr sz="900" spc="-5" dirty="0">
                  <a:latin typeface="Georgia"/>
                  <a:cs typeface="Georgia"/>
                </a:rPr>
                <a:t>b</a:t>
              </a:r>
              <a:r>
                <a:rPr sz="900" dirty="0">
                  <a:latin typeface="Georgia"/>
                  <a:cs typeface="Georgia"/>
                </a:rPr>
                <a:t>le  </a:t>
              </a:r>
              <a:r>
                <a:rPr sz="900" spc="-5" dirty="0">
                  <a:latin typeface="Georgia"/>
                  <a:cs typeface="Georgia"/>
                </a:rPr>
                <a:t>quantity</a:t>
              </a:r>
              <a:endParaRPr sz="900">
                <a:latin typeface="Georgia"/>
                <a:cs typeface="Georgia"/>
              </a:endParaRPr>
            </a:p>
          </p:txBody>
        </p:sp>
        <p:sp>
          <p:nvSpPr>
            <p:cNvPr id="19" name="object 16">
              <a:extLst>
                <a:ext uri="{FF2B5EF4-FFF2-40B4-BE49-F238E27FC236}">
                  <a16:creationId xmlns:a16="http://schemas.microsoft.com/office/drawing/2014/main" id="{05B08238-4285-65E9-576E-2523FFD29C59}"/>
                </a:ext>
              </a:extLst>
            </p:cNvPr>
            <p:cNvSpPr txBox="1"/>
            <p:nvPr/>
          </p:nvSpPr>
          <p:spPr>
            <a:xfrm>
              <a:off x="6378056" y="4370026"/>
              <a:ext cx="636270" cy="152400"/>
            </a:xfrm>
            <a:prstGeom prst="rect">
              <a:avLst/>
            </a:prstGeom>
          </p:spPr>
          <p:txBody>
            <a:bodyPr vert="horz" wrap="square" lIns="0" tIns="0" rIns="0" bIns="0" rtlCol="0">
              <a:spAutoFit/>
            </a:bodyPr>
            <a:lstStyle/>
            <a:p>
              <a:pPr marL="12700">
                <a:lnSpc>
                  <a:spcPct val="100000"/>
                </a:lnSpc>
              </a:pPr>
              <a:r>
                <a:rPr sz="900" spc="-5" dirty="0">
                  <a:latin typeface="Georgia"/>
                  <a:cs typeface="Georgia"/>
                </a:rPr>
                <a:t>counts</a:t>
              </a:r>
              <a:r>
                <a:rPr sz="900" spc="-90" dirty="0">
                  <a:latin typeface="Georgia"/>
                  <a:cs typeface="Georgia"/>
                </a:rPr>
                <a:t> </a:t>
              </a:r>
              <a:r>
                <a:rPr sz="900" dirty="0">
                  <a:latin typeface="Georgia"/>
                  <a:cs typeface="Georgia"/>
                </a:rPr>
                <a:t>from</a:t>
              </a:r>
              <a:endParaRPr sz="900">
                <a:latin typeface="Georgia"/>
                <a:cs typeface="Georgia"/>
              </a:endParaRPr>
            </a:p>
          </p:txBody>
        </p:sp>
        <p:sp>
          <p:nvSpPr>
            <p:cNvPr id="21" name="object 18">
              <a:extLst>
                <a:ext uri="{FF2B5EF4-FFF2-40B4-BE49-F238E27FC236}">
                  <a16:creationId xmlns:a16="http://schemas.microsoft.com/office/drawing/2014/main" id="{0E4F9F1B-963E-601D-46A8-B70D4A35F373}"/>
                </a:ext>
              </a:extLst>
            </p:cNvPr>
            <p:cNvSpPr txBox="1"/>
            <p:nvPr/>
          </p:nvSpPr>
          <p:spPr>
            <a:xfrm>
              <a:off x="3279921" y="3521356"/>
              <a:ext cx="742570" cy="176651"/>
            </a:xfrm>
            <a:prstGeom prst="rect">
              <a:avLst/>
            </a:prstGeom>
          </p:spPr>
          <p:txBody>
            <a:bodyPr vert="horz" wrap="square" lIns="0" tIns="0" rIns="0" bIns="0" rtlCol="0">
              <a:spAutoFit/>
            </a:bodyPr>
            <a:lstStyle/>
            <a:p>
              <a:pPr marL="91440" marR="5080" indent="-79375" algn="just">
                <a:lnSpc>
                  <a:spcPct val="144400"/>
                </a:lnSpc>
              </a:pPr>
              <a:r>
                <a:rPr sz="900" dirty="0">
                  <a:latin typeface="Times New Roman"/>
                  <a:cs typeface="Times New Roman"/>
                </a:rPr>
                <a:t>mappe  </a:t>
              </a:r>
              <a:r>
                <a:rPr sz="900" spc="5" dirty="0">
                  <a:latin typeface="Times New Roman"/>
                  <a:cs typeface="Times New Roman"/>
                </a:rPr>
                <a:t>d </a:t>
              </a:r>
              <a:r>
                <a:rPr sz="900" spc="-10" dirty="0">
                  <a:latin typeface="Times New Roman"/>
                  <a:cs typeface="Times New Roman"/>
                </a:rPr>
                <a:t>on  </a:t>
              </a:r>
              <a:r>
                <a:rPr sz="900" spc="10" dirty="0">
                  <a:latin typeface="Times New Roman"/>
                  <a:cs typeface="Times New Roman"/>
                </a:rPr>
                <a:t>to</a:t>
              </a:r>
              <a:endParaRPr sz="900" dirty="0">
                <a:latin typeface="Times New Roman"/>
                <a:cs typeface="Times New Roman"/>
              </a:endParaRPr>
            </a:p>
          </p:txBody>
        </p:sp>
        <p:sp>
          <p:nvSpPr>
            <p:cNvPr id="22" name="object 19">
              <a:extLst>
                <a:ext uri="{FF2B5EF4-FFF2-40B4-BE49-F238E27FC236}">
                  <a16:creationId xmlns:a16="http://schemas.microsoft.com/office/drawing/2014/main" id="{156231B2-93B5-E6F6-3A85-8FABCF5EE23A}"/>
                </a:ext>
              </a:extLst>
            </p:cNvPr>
            <p:cNvSpPr txBox="1"/>
            <p:nvPr/>
          </p:nvSpPr>
          <p:spPr>
            <a:xfrm>
              <a:off x="4929557" y="3620224"/>
              <a:ext cx="709168" cy="376065"/>
            </a:xfrm>
            <a:prstGeom prst="rect">
              <a:avLst/>
            </a:prstGeom>
          </p:spPr>
          <p:txBody>
            <a:bodyPr vert="horz" wrap="square" lIns="0" tIns="0" rIns="0" bIns="0" rtlCol="0">
              <a:spAutoFit/>
            </a:bodyPr>
            <a:lstStyle/>
            <a:p>
              <a:pPr marL="12700" marR="5080">
                <a:lnSpc>
                  <a:spcPct val="144400"/>
                </a:lnSpc>
              </a:pPr>
              <a:r>
                <a:rPr sz="900" spc="5" dirty="0">
                  <a:latin typeface="Times New Roman"/>
                  <a:cs typeface="Times New Roman"/>
                </a:rPr>
                <a:t>reali</a:t>
              </a:r>
              <a:r>
                <a:rPr sz="900" spc="25" dirty="0">
                  <a:latin typeface="Times New Roman"/>
                  <a:cs typeface="Times New Roman"/>
                </a:rPr>
                <a:t>s</a:t>
              </a:r>
              <a:r>
                <a:rPr sz="900" dirty="0">
                  <a:latin typeface="Times New Roman"/>
                  <a:cs typeface="Times New Roman"/>
                </a:rPr>
                <a:t>ed  </a:t>
              </a:r>
              <a:r>
                <a:rPr sz="900" spc="-5" dirty="0">
                  <a:latin typeface="Times New Roman"/>
                  <a:cs typeface="Times New Roman"/>
                </a:rPr>
                <a:t>through</a:t>
              </a:r>
              <a:endParaRPr sz="900" dirty="0">
                <a:latin typeface="Times New Roman"/>
                <a:cs typeface="Times New Roman"/>
              </a:endParaRPr>
            </a:p>
          </p:txBody>
        </p:sp>
        <p:sp>
          <p:nvSpPr>
            <p:cNvPr id="23" name="object 20">
              <a:extLst>
                <a:ext uri="{FF2B5EF4-FFF2-40B4-BE49-F238E27FC236}">
                  <a16:creationId xmlns:a16="http://schemas.microsoft.com/office/drawing/2014/main" id="{16D35D43-EC62-0ACC-F8F9-4218791C5175}"/>
                </a:ext>
              </a:extLst>
            </p:cNvPr>
            <p:cNvSpPr txBox="1"/>
            <p:nvPr/>
          </p:nvSpPr>
          <p:spPr>
            <a:xfrm>
              <a:off x="5914950" y="3851298"/>
              <a:ext cx="779907" cy="176651"/>
            </a:xfrm>
            <a:prstGeom prst="rect">
              <a:avLst/>
            </a:prstGeom>
          </p:spPr>
          <p:txBody>
            <a:bodyPr vert="horz" wrap="square" lIns="0" tIns="0" rIns="0" bIns="0" rtlCol="0">
              <a:spAutoFit/>
            </a:bodyPr>
            <a:lstStyle/>
            <a:p>
              <a:pPr marL="12700" marR="5080">
                <a:lnSpc>
                  <a:spcPct val="144400"/>
                </a:lnSpc>
              </a:pPr>
              <a:r>
                <a:rPr sz="900" spc="-10" dirty="0">
                  <a:latin typeface="Times New Roman"/>
                  <a:cs typeface="Times New Roman"/>
                </a:rPr>
                <a:t>m</a:t>
              </a:r>
              <a:r>
                <a:rPr sz="900" spc="5" dirty="0">
                  <a:latin typeface="Times New Roman"/>
                  <a:cs typeface="Times New Roman"/>
                </a:rPr>
                <a:t>ea</a:t>
              </a:r>
              <a:r>
                <a:rPr sz="900" dirty="0">
                  <a:latin typeface="Times New Roman"/>
                  <a:cs typeface="Times New Roman"/>
                </a:rPr>
                <a:t>s</a:t>
              </a:r>
              <a:r>
                <a:rPr sz="900" spc="-20" dirty="0">
                  <a:latin typeface="Times New Roman"/>
                  <a:cs typeface="Times New Roman"/>
                </a:rPr>
                <a:t>u</a:t>
              </a:r>
              <a:r>
                <a:rPr sz="900" spc="5" dirty="0">
                  <a:latin typeface="Times New Roman"/>
                  <a:cs typeface="Times New Roman"/>
                </a:rPr>
                <a:t>r</a:t>
              </a:r>
              <a:r>
                <a:rPr sz="900" dirty="0">
                  <a:latin typeface="Times New Roman"/>
                  <a:cs typeface="Times New Roman"/>
                </a:rPr>
                <a:t>e  </a:t>
              </a:r>
              <a:r>
                <a:rPr sz="900" spc="5" dirty="0">
                  <a:latin typeface="Times New Roman"/>
                  <a:cs typeface="Times New Roman"/>
                </a:rPr>
                <a:t>d</a:t>
              </a:r>
              <a:r>
                <a:rPr sz="900" spc="-85" dirty="0">
                  <a:latin typeface="Times New Roman"/>
                  <a:cs typeface="Times New Roman"/>
                </a:rPr>
                <a:t> </a:t>
              </a:r>
              <a:r>
                <a:rPr sz="900" spc="25" dirty="0">
                  <a:latin typeface="Times New Roman"/>
                  <a:cs typeface="Times New Roman"/>
                </a:rPr>
                <a:t>by</a:t>
              </a:r>
              <a:endParaRPr sz="900" dirty="0">
                <a:latin typeface="Times New Roman"/>
                <a:cs typeface="Times New Roman"/>
              </a:endParaRPr>
            </a:p>
          </p:txBody>
        </p:sp>
      </p:grpSp>
      <p:sp>
        <p:nvSpPr>
          <p:cNvPr id="27" name="Content Placeholder 2">
            <a:extLst>
              <a:ext uri="{FF2B5EF4-FFF2-40B4-BE49-F238E27FC236}">
                <a16:creationId xmlns:a16="http://schemas.microsoft.com/office/drawing/2014/main" id="{F5F60298-6123-5A46-80F3-411EBAB1C684}"/>
              </a:ext>
            </a:extLst>
          </p:cNvPr>
          <p:cNvSpPr>
            <a:spLocks noGrp="1"/>
          </p:cNvSpPr>
          <p:nvPr>
            <p:ph idx="4294967295"/>
          </p:nvPr>
        </p:nvSpPr>
        <p:spPr>
          <a:xfrm>
            <a:off x="1676400" y="1143000"/>
            <a:ext cx="10515600" cy="4351338"/>
          </a:xfrm>
        </p:spPr>
        <p:txBody>
          <a:bodyPr>
            <a:normAutofit/>
          </a:bodyPr>
          <a:lstStyle/>
          <a:p>
            <a:pPr algn="just" rtl="0"/>
            <a:r>
              <a:rPr lang="en-US" sz="2000" b="0" i="0" dirty="0">
                <a:solidFill>
                  <a:srgbClr val="000000"/>
                </a:solidFill>
                <a:effectLst/>
                <a:latin typeface="Times New Roman" panose="02020603050405020304" pitchFamily="18" charset="0"/>
                <a:cs typeface="+mj-cs"/>
              </a:rPr>
              <a:t>Designing software is a </a:t>
            </a:r>
            <a:r>
              <a:rPr lang="en-US" sz="2000" b="0" i="1" dirty="0">
                <a:solidFill>
                  <a:srgbClr val="000000"/>
                </a:solidFill>
                <a:effectLst/>
                <a:latin typeface="Times New Roman" panose="02020603050405020304" pitchFamily="18" charset="0"/>
                <a:cs typeface="+mj-cs"/>
              </a:rPr>
              <a:t>creative </a:t>
            </a:r>
            <a:r>
              <a:rPr lang="en-US" sz="2000" b="0" i="0" dirty="0">
                <a:solidFill>
                  <a:srgbClr val="000000"/>
                </a:solidFill>
                <a:effectLst/>
                <a:latin typeface="Times New Roman" panose="02020603050405020304" pitchFamily="18" charset="0"/>
                <a:cs typeface="+mj-cs"/>
              </a:rPr>
              <a:t>task, and like most such tasks, success is more likely if the designer follows what might be termed a set of </a:t>
            </a:r>
            <a:r>
              <a:rPr lang="en-US" sz="2000" b="0" i="1" dirty="0">
                <a:solidFill>
                  <a:srgbClr val="000000"/>
                </a:solidFill>
                <a:effectLst/>
                <a:latin typeface="Times New Roman" panose="02020603050405020304" pitchFamily="18" charset="0"/>
                <a:cs typeface="+mj-cs"/>
              </a:rPr>
              <a:t>rules of form. </a:t>
            </a:r>
            <a:r>
              <a:rPr lang="en-US" sz="2000" b="0" i="0" dirty="0">
                <a:solidFill>
                  <a:srgbClr val="000000"/>
                </a:solidFill>
                <a:effectLst/>
                <a:latin typeface="Times New Roman" panose="02020603050405020304" pitchFamily="18" charset="0"/>
                <a:cs typeface="+mj-cs"/>
              </a:rPr>
              <a:t>The rules of form also provide some way of assessing the </a:t>
            </a:r>
            <a:r>
              <a:rPr lang="en-US" sz="2000" b="0" i="1" dirty="0">
                <a:solidFill>
                  <a:srgbClr val="000000"/>
                </a:solidFill>
                <a:effectLst/>
                <a:latin typeface="Times New Roman" panose="02020603050405020304" pitchFamily="18" charset="0"/>
                <a:cs typeface="+mj-cs"/>
              </a:rPr>
              <a:t>quality </a:t>
            </a:r>
            <a:r>
              <a:rPr lang="en-US" sz="2000" b="0" i="0" dirty="0">
                <a:solidFill>
                  <a:srgbClr val="000000"/>
                </a:solidFill>
                <a:effectLst/>
                <a:latin typeface="Times New Roman" panose="02020603050405020304" pitchFamily="18" charset="0"/>
                <a:cs typeface="+mj-cs"/>
              </a:rPr>
              <a:t>of the eventual product, and possibly of the processes that led to it</a:t>
            </a:r>
          </a:p>
          <a:p>
            <a:pPr marL="12700" algn="l" rtl="0">
              <a:lnSpc>
                <a:spcPct val="100000"/>
              </a:lnSpc>
            </a:pPr>
            <a:r>
              <a:rPr lang="en-US" sz="2800" b="1" spc="-5" dirty="0">
                <a:latin typeface="Times New Roman"/>
                <a:cs typeface="Times New Roman"/>
              </a:rPr>
              <a:t>REALISING</a:t>
            </a:r>
            <a:r>
              <a:rPr lang="en-US" sz="2800" b="1" spc="-55" dirty="0">
                <a:latin typeface="Times New Roman"/>
                <a:cs typeface="Times New Roman"/>
              </a:rPr>
              <a:t> </a:t>
            </a:r>
            <a:r>
              <a:rPr lang="en-US" sz="2800" b="1" spc="-10" dirty="0">
                <a:latin typeface="Times New Roman"/>
                <a:cs typeface="Times New Roman"/>
              </a:rPr>
              <a:t>QUALITY</a:t>
            </a:r>
            <a:endParaRPr lang="en-US" sz="2800" dirty="0">
              <a:latin typeface="Times New Roman"/>
              <a:cs typeface="Times New Roman"/>
            </a:endParaRPr>
          </a:p>
          <a:p>
            <a:pPr marL="241300" marR="388620" algn="l" rtl="0">
              <a:lnSpc>
                <a:spcPts val="2060"/>
              </a:lnSpc>
              <a:spcBef>
                <a:spcPts val="150"/>
              </a:spcBef>
            </a:pPr>
            <a:r>
              <a:rPr lang="en-US" sz="2000" dirty="0">
                <a:solidFill>
                  <a:srgbClr val="000000"/>
                </a:solidFill>
                <a:latin typeface="Times New Roman" panose="02020603050405020304" pitchFamily="18" charset="0"/>
                <a:cs typeface="+mj-cs"/>
              </a:rPr>
              <a:t>A set of abstract quality factors (‘the </a:t>
            </a:r>
            <a:r>
              <a:rPr lang="en-US" sz="2000" dirty="0" err="1">
                <a:solidFill>
                  <a:srgbClr val="000000"/>
                </a:solidFill>
                <a:latin typeface="Times New Roman" panose="02020603050405020304" pitchFamily="18" charset="0"/>
                <a:cs typeface="+mj-cs"/>
              </a:rPr>
              <a:t>ilities</a:t>
            </a:r>
            <a:r>
              <a:rPr lang="en-US" sz="2000" dirty="0">
                <a:solidFill>
                  <a:srgbClr val="000000"/>
                </a:solidFill>
                <a:latin typeface="Times New Roman" panose="02020603050405020304" pitchFamily="18" charset="0"/>
                <a:cs typeface="+mj-cs"/>
              </a:rPr>
              <a:t>’) has been defined. These cannot be  measured directly but do relate to the ultimate goal.</a:t>
            </a:r>
            <a:br>
              <a:rPr lang="en-US" sz="4800" dirty="0"/>
            </a:br>
            <a:endParaRPr lang="ar-SD" sz="4800" dirty="0"/>
          </a:p>
        </p:txBody>
      </p:sp>
    </p:spTree>
    <p:extLst>
      <p:ext uri="{BB962C8B-B14F-4D97-AF65-F5344CB8AC3E}">
        <p14:creationId xmlns:p14="http://schemas.microsoft.com/office/powerpoint/2010/main" val="3184730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91716-0790-D8A7-5C6D-A7E18E5198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D748DB-90CE-7211-A939-64696CD1D9CA}"/>
              </a:ext>
            </a:extLst>
          </p:cNvPr>
          <p:cNvSpPr>
            <a:spLocks noGrp="1"/>
          </p:cNvSpPr>
          <p:nvPr>
            <p:ph type="title" idx="4294967295"/>
          </p:nvPr>
        </p:nvSpPr>
        <p:spPr>
          <a:xfrm>
            <a:off x="2192338" y="274638"/>
            <a:ext cx="9999662" cy="1143000"/>
          </a:xfrm>
          <a:prstGeom prst="rect">
            <a:avLst/>
          </a:prstGeom>
        </p:spPr>
        <p:txBody>
          <a:bodyPr>
            <a:normAutofit fontScale="90000"/>
          </a:bodyPr>
          <a:lstStyle/>
          <a:p>
            <a:r>
              <a:rPr lang="en-US" sz="4400" b="1" spc="-5" dirty="0">
                <a:latin typeface="Times New Roman"/>
                <a:cs typeface="Times New Roman"/>
              </a:rPr>
              <a:t>Software Quality Factors </a:t>
            </a:r>
            <a:r>
              <a:rPr lang="en-US" sz="4400" b="1" dirty="0">
                <a:latin typeface="Times New Roman"/>
                <a:cs typeface="Times New Roman"/>
              </a:rPr>
              <a:t>(by</a:t>
            </a:r>
            <a:r>
              <a:rPr lang="en-US" sz="4400" b="1" spc="-5" dirty="0">
                <a:latin typeface="Times New Roman"/>
                <a:cs typeface="Times New Roman"/>
              </a:rPr>
              <a:t> </a:t>
            </a:r>
            <a:r>
              <a:rPr lang="en-US" sz="4400" b="1" spc="-10" dirty="0">
                <a:latin typeface="Times New Roman"/>
                <a:cs typeface="Times New Roman"/>
              </a:rPr>
              <a:t>McCall)</a:t>
            </a:r>
            <a:br>
              <a:rPr lang="en-US" sz="4400" dirty="0">
                <a:latin typeface="Times New Roman"/>
                <a:cs typeface="Times New Roman"/>
              </a:rPr>
            </a:br>
            <a:endParaRPr lang="ar-SD" dirty="0"/>
          </a:p>
        </p:txBody>
      </p:sp>
      <p:sp>
        <p:nvSpPr>
          <p:cNvPr id="3" name="Content Placeholder 2">
            <a:extLst>
              <a:ext uri="{FF2B5EF4-FFF2-40B4-BE49-F238E27FC236}">
                <a16:creationId xmlns:a16="http://schemas.microsoft.com/office/drawing/2014/main" id="{082E10AD-4A0F-31F1-BD8D-99E774E2D543}"/>
              </a:ext>
            </a:extLst>
          </p:cNvPr>
          <p:cNvSpPr>
            <a:spLocks noGrp="1"/>
          </p:cNvSpPr>
          <p:nvPr>
            <p:ph idx="4294967295"/>
          </p:nvPr>
        </p:nvSpPr>
        <p:spPr>
          <a:xfrm>
            <a:off x="0" y="1160463"/>
            <a:ext cx="11001375" cy="5016500"/>
          </a:xfrm>
        </p:spPr>
        <p:txBody>
          <a:bodyPr>
            <a:normAutofit/>
          </a:bodyPr>
          <a:lstStyle/>
          <a:p>
            <a:pPr algn="l" rtl="0">
              <a:lnSpc>
                <a:spcPct val="100000"/>
              </a:lnSpc>
            </a:pPr>
            <a:endParaRPr lang="en-US" sz="1200" dirty="0">
              <a:latin typeface="Times New Roman"/>
              <a:cs typeface="Times New Roman"/>
            </a:endParaRPr>
          </a:p>
          <a:p>
            <a:pPr marL="552450" indent="-222885" algn="l" rtl="0">
              <a:lnSpc>
                <a:spcPct val="100000"/>
              </a:lnSpc>
              <a:spcBef>
                <a:spcPts val="905"/>
              </a:spcBef>
              <a:buAutoNum type="arabicParenR"/>
              <a:tabLst>
                <a:tab pos="553085" algn="l"/>
              </a:tabLst>
            </a:pPr>
            <a:r>
              <a:rPr lang="en-US" sz="2000" b="1" spc="-5" dirty="0">
                <a:latin typeface="Times New Roman"/>
                <a:cs typeface="Times New Roman"/>
              </a:rPr>
              <a:t>Product Revision </a:t>
            </a:r>
            <a:r>
              <a:rPr lang="en-US" sz="2000" b="1" dirty="0">
                <a:latin typeface="Times New Roman"/>
                <a:cs typeface="Times New Roman"/>
              </a:rPr>
              <a:t>(changing</a:t>
            </a:r>
            <a:r>
              <a:rPr lang="en-US" sz="2000" b="1" spc="-20" dirty="0">
                <a:latin typeface="Times New Roman"/>
                <a:cs typeface="Times New Roman"/>
              </a:rPr>
              <a:t> </a:t>
            </a:r>
            <a:r>
              <a:rPr lang="en-US" sz="2000" b="1" spc="-10" dirty="0">
                <a:latin typeface="Times New Roman"/>
                <a:cs typeface="Times New Roman"/>
              </a:rPr>
              <a:t>it)</a:t>
            </a:r>
            <a:endParaRPr lang="en-US" sz="2000" dirty="0">
              <a:latin typeface="Times New Roman"/>
              <a:cs typeface="Times New Roman"/>
            </a:endParaRPr>
          </a:p>
          <a:p>
            <a:pPr marL="901065" lvl="1" indent="-342900" algn="l" rtl="0">
              <a:spcBef>
                <a:spcPts val="880"/>
              </a:spcBef>
              <a:tabLst>
                <a:tab pos="786765" algn="l"/>
                <a:tab pos="787400" algn="l"/>
              </a:tabLst>
            </a:pPr>
            <a:r>
              <a:rPr lang="en-US" sz="2000" spc="10" dirty="0">
                <a:latin typeface="Times New Roman"/>
                <a:cs typeface="Times New Roman"/>
              </a:rPr>
              <a:t>Flexibility (can I change it?)</a:t>
            </a:r>
          </a:p>
          <a:p>
            <a:pPr marL="786765" marR="15240" indent="0" algn="just" rtl="0">
              <a:lnSpc>
                <a:spcPts val="2090"/>
              </a:lnSpc>
              <a:spcBef>
                <a:spcPts val="175"/>
              </a:spcBef>
              <a:buNone/>
            </a:pPr>
            <a:r>
              <a:rPr lang="en-US" sz="2000" spc="10" dirty="0">
                <a:latin typeface="Times New Roman"/>
                <a:cs typeface="Times New Roman"/>
              </a:rPr>
              <a:t>The effort required to modify an operational program. Change and enhancement  of the system should be easily implementable.</a:t>
            </a:r>
          </a:p>
          <a:p>
            <a:pPr marL="901065" lvl="1" indent="-342900" algn="l" rtl="0">
              <a:tabLst>
                <a:tab pos="786765" algn="l"/>
                <a:tab pos="787400" algn="l"/>
              </a:tabLst>
            </a:pPr>
            <a:r>
              <a:rPr lang="en-US" sz="2000" spc="10" dirty="0">
                <a:latin typeface="Times New Roman"/>
                <a:cs typeface="Times New Roman"/>
              </a:rPr>
              <a:t>Maintainability (can I fix it?)</a:t>
            </a:r>
          </a:p>
          <a:p>
            <a:pPr marL="558165" marR="11430" indent="0" algn="just" rtl="0">
              <a:lnSpc>
                <a:spcPct val="144000"/>
              </a:lnSpc>
              <a:spcBef>
                <a:spcPts val="15"/>
              </a:spcBef>
              <a:buNone/>
            </a:pPr>
            <a:r>
              <a:rPr lang="en-US" sz="2000" spc="10" dirty="0">
                <a:latin typeface="Times New Roman"/>
                <a:cs typeface="Times New Roman"/>
              </a:rPr>
              <a:t>The effort required to locate and fix an error in a program. The system should be  easy to keep up for its intended use. Changes for improving operational efficiency  should be easy to implement. Failed operations should be easy to restore to  satisfactory condition.</a:t>
            </a:r>
          </a:p>
          <a:p>
            <a:pPr marL="901065" lvl="1" indent="-342900" algn="l" rtl="0">
              <a:tabLst>
                <a:tab pos="786765" algn="l"/>
                <a:tab pos="787400" algn="l"/>
              </a:tabLst>
            </a:pPr>
            <a:r>
              <a:rPr lang="en-US" sz="2000" spc="10" dirty="0">
                <a:latin typeface="Times New Roman"/>
                <a:cs typeface="Times New Roman"/>
              </a:rPr>
              <a:t>Testability (can I test it?)</a:t>
            </a:r>
          </a:p>
          <a:p>
            <a:pPr marL="558165" marR="9525" indent="0" algn="just" rtl="0">
              <a:lnSpc>
                <a:spcPct val="143900"/>
              </a:lnSpc>
              <a:spcBef>
                <a:spcPts val="15"/>
              </a:spcBef>
              <a:buNone/>
            </a:pPr>
            <a:r>
              <a:rPr lang="en-US" sz="2000" spc="10" dirty="0">
                <a:latin typeface="Times New Roman"/>
                <a:cs typeface="Times New Roman"/>
              </a:rPr>
              <a:t>The effort required to test a program to ensure that it performs its intended  function . The ability of the system to produce quality product units should be  easily testable. Useful messages should be generated for testing and debugging  purposes.</a:t>
            </a:r>
          </a:p>
          <a:p>
            <a:pPr algn="l" rtl="0"/>
            <a:endParaRPr lang="ar-SD" dirty="0"/>
          </a:p>
        </p:txBody>
      </p:sp>
    </p:spTree>
    <p:extLst>
      <p:ext uri="{BB962C8B-B14F-4D97-AF65-F5344CB8AC3E}">
        <p14:creationId xmlns:p14="http://schemas.microsoft.com/office/powerpoint/2010/main" val="1888211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C0A5C2-4C0A-A22C-24E9-1DDD4443B078}"/>
              </a:ext>
            </a:extLst>
          </p:cNvPr>
          <p:cNvSpPr>
            <a:spLocks noGrp="1"/>
          </p:cNvSpPr>
          <p:nvPr>
            <p:ph idx="4294967295"/>
          </p:nvPr>
        </p:nvSpPr>
        <p:spPr>
          <a:xfrm>
            <a:off x="0" y="841375"/>
            <a:ext cx="10279063" cy="5514975"/>
          </a:xfrm>
        </p:spPr>
        <p:txBody>
          <a:bodyPr>
            <a:normAutofit/>
          </a:bodyPr>
          <a:lstStyle/>
          <a:p>
            <a:pPr marL="558165" indent="-186055" algn="l" rtl="0">
              <a:lnSpc>
                <a:spcPct val="100000"/>
              </a:lnSpc>
              <a:spcBef>
                <a:spcPts val="5"/>
              </a:spcBef>
              <a:buFont typeface="Times New Roman"/>
              <a:buAutoNum type="arabicParenR" startAt="2"/>
              <a:tabLst>
                <a:tab pos="558800" algn="l"/>
              </a:tabLst>
            </a:pPr>
            <a:r>
              <a:rPr lang="en-US" sz="2800" spc="10" dirty="0">
                <a:latin typeface="Times New Roman"/>
                <a:cs typeface="Times New Roman"/>
              </a:rPr>
              <a:t>Product Transition (modifying it to work in a different environment)</a:t>
            </a:r>
          </a:p>
          <a:p>
            <a:pPr marL="558165" algn="l" rtl="0">
              <a:spcBef>
                <a:spcPts val="905"/>
              </a:spcBef>
            </a:pPr>
            <a:r>
              <a:rPr lang="en-US" sz="2200" spc="10" dirty="0">
                <a:latin typeface="Times New Roman"/>
                <a:cs typeface="Times New Roman"/>
              </a:rPr>
              <a:t>Interoperability (Will I be able to interface it with another system?)</a:t>
            </a:r>
          </a:p>
          <a:p>
            <a:pPr marL="215265" indent="0" algn="l" rtl="0">
              <a:lnSpc>
                <a:spcPct val="100000"/>
              </a:lnSpc>
              <a:spcBef>
                <a:spcPts val="905"/>
              </a:spcBef>
              <a:buNone/>
            </a:pPr>
            <a:r>
              <a:rPr lang="en-US" sz="2200" spc="10" dirty="0">
                <a:latin typeface="Times New Roman"/>
                <a:cs typeface="Times New Roman"/>
              </a:rPr>
              <a:t>The effort required to couple one system to another.</a:t>
            </a:r>
          </a:p>
          <a:p>
            <a:pPr marL="558165" algn="l" rtl="0">
              <a:spcBef>
                <a:spcPts val="905"/>
              </a:spcBef>
            </a:pPr>
            <a:r>
              <a:rPr lang="en-US" sz="2200" spc="10" dirty="0">
                <a:latin typeface="Times New Roman"/>
                <a:cs typeface="Times New Roman"/>
              </a:rPr>
              <a:t>Portability (Will I be able to use it on another machine?)The effort required to transfer the program from one hardware and/or software  system environment to another. The system should be portable among people and  among machines. Attainment of the other quality characteristics greatly facilitates  portability.</a:t>
            </a:r>
          </a:p>
          <a:p>
            <a:pPr marL="558165" algn="l" rtl="0">
              <a:spcBef>
                <a:spcPts val="905"/>
              </a:spcBef>
            </a:pPr>
            <a:r>
              <a:rPr lang="en-US" sz="2200" spc="10" dirty="0">
                <a:latin typeface="Times New Roman"/>
                <a:cs typeface="Times New Roman"/>
              </a:rPr>
              <a:t>Reusability (Will I be able to reuse some of the software?)</a:t>
            </a:r>
          </a:p>
          <a:p>
            <a:pPr marL="215265" indent="0" algn="l" rtl="0">
              <a:spcBef>
                <a:spcPts val="905"/>
              </a:spcBef>
              <a:buNone/>
            </a:pPr>
            <a:r>
              <a:rPr lang="en-US" sz="2200" spc="10" dirty="0">
                <a:latin typeface="Times New Roman"/>
                <a:cs typeface="Times New Roman"/>
              </a:rPr>
              <a:t>The extent to which a program (or part of a program) can be reused in other  applications-related to the packaging and scope of the functions that the program  performs.</a:t>
            </a:r>
          </a:p>
          <a:p>
            <a:pPr marL="558165" algn="l" rtl="0">
              <a:spcBef>
                <a:spcPts val="905"/>
              </a:spcBef>
            </a:pPr>
            <a:endParaRPr lang="en-US" sz="2200" spc="10" dirty="0">
              <a:latin typeface="Times New Roman"/>
              <a:cs typeface="Times New Roman"/>
            </a:endParaRPr>
          </a:p>
          <a:p>
            <a:pPr algn="l" rtl="0"/>
            <a:endParaRPr lang="ar-SD" sz="4000" dirty="0"/>
          </a:p>
        </p:txBody>
      </p:sp>
    </p:spTree>
    <p:extLst>
      <p:ext uri="{BB962C8B-B14F-4D97-AF65-F5344CB8AC3E}">
        <p14:creationId xmlns:p14="http://schemas.microsoft.com/office/powerpoint/2010/main" val="2727726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61428" y="1023726"/>
            <a:ext cx="10054637" cy="4810548"/>
          </a:xfrm>
          <a:prstGeom prst="rect">
            <a:avLst/>
          </a:prstGeom>
          <a:ln>
            <a:solidFill>
              <a:schemeClr val="accent1"/>
            </a:solidFill>
          </a:ln>
        </p:spPr>
        <p:txBody>
          <a:bodyPr vert="horz" wrap="square" lIns="0" tIns="0" rIns="0" bIns="0" rtlCol="0">
            <a:spAutoFit/>
          </a:bodyPr>
          <a:lstStyle/>
          <a:p>
            <a:pPr algn="justLow">
              <a:spcBef>
                <a:spcPts val="29"/>
              </a:spcBef>
            </a:pPr>
            <a:endParaRPr sz="2400" dirty="0">
              <a:latin typeface="Times New Roman"/>
              <a:cs typeface="Times New Roman"/>
            </a:endParaRPr>
          </a:p>
          <a:p>
            <a:pPr marL="372110">
              <a:spcBef>
                <a:spcPts val="5"/>
              </a:spcBef>
              <a:buClr>
                <a:schemeClr val="accent1"/>
              </a:buClr>
              <a:buSzPct val="80000"/>
              <a:tabLst>
                <a:tab pos="558800" algn="l"/>
              </a:tabLst>
            </a:pPr>
            <a:r>
              <a:rPr lang="en-US" sz="2800" spc="10">
                <a:solidFill>
                  <a:schemeClr val="tx1">
                    <a:lumMod val="75000"/>
                    <a:lumOff val="25000"/>
                  </a:schemeClr>
                </a:solidFill>
                <a:latin typeface="Times New Roman"/>
                <a:cs typeface="Times New Roman"/>
              </a:rPr>
              <a:t>3) </a:t>
            </a:r>
            <a:r>
              <a:rPr sz="2800" spc="10">
                <a:solidFill>
                  <a:schemeClr val="tx1">
                    <a:lumMod val="75000"/>
                    <a:lumOff val="25000"/>
                  </a:schemeClr>
                </a:solidFill>
                <a:latin typeface="Times New Roman"/>
                <a:cs typeface="Times New Roman"/>
              </a:rPr>
              <a:t>Product </a:t>
            </a:r>
            <a:r>
              <a:rPr sz="2800" spc="10" dirty="0">
                <a:solidFill>
                  <a:schemeClr val="tx1">
                    <a:lumMod val="75000"/>
                    <a:lumOff val="25000"/>
                  </a:schemeClr>
                </a:solidFill>
                <a:latin typeface="Times New Roman"/>
                <a:cs typeface="Times New Roman"/>
              </a:rPr>
              <a:t>Operations (using it)</a:t>
            </a:r>
          </a:p>
          <a:p>
            <a:pPr algn="justLow">
              <a:lnSpc>
                <a:spcPct val="100000"/>
              </a:lnSpc>
              <a:buFont typeface="Times New Roman"/>
              <a:buAutoNum type="arabicParenR" startAt="2"/>
            </a:pPr>
            <a:endParaRPr sz="2400" dirty="0">
              <a:latin typeface="Times New Roman"/>
              <a:cs typeface="Times New Roman"/>
            </a:endParaRPr>
          </a:p>
          <a:p>
            <a:pPr marL="644247" lvl="1" indent="-342900" algn="justLow">
              <a:spcBef>
                <a:spcPts val="564"/>
              </a:spcBef>
              <a:buFont typeface="Arial" panose="020B0604020202020204" pitchFamily="34" charset="0"/>
              <a:buChar char="•"/>
              <a:tabLst>
                <a:tab pos="447948" algn="l"/>
                <a:tab pos="448355" algn="l"/>
              </a:tabLst>
            </a:pPr>
            <a:r>
              <a:rPr sz="2200" spc="10" dirty="0">
                <a:solidFill>
                  <a:schemeClr val="tx1">
                    <a:lumMod val="75000"/>
                    <a:lumOff val="25000"/>
                  </a:schemeClr>
                </a:solidFill>
                <a:latin typeface="Times New Roman"/>
                <a:cs typeface="Times New Roman"/>
              </a:rPr>
              <a:t>Correctness</a:t>
            </a:r>
            <a:r>
              <a:rPr sz="2000" i="1" spc="-3" dirty="0">
                <a:latin typeface="Times New Roman"/>
                <a:cs typeface="Times New Roman"/>
              </a:rPr>
              <a:t> (Does </a:t>
            </a:r>
            <a:r>
              <a:rPr sz="2000" i="1" dirty="0">
                <a:latin typeface="Times New Roman"/>
                <a:cs typeface="Times New Roman"/>
              </a:rPr>
              <a:t>it do </a:t>
            </a:r>
            <a:r>
              <a:rPr sz="2000" i="1" spc="-10" dirty="0">
                <a:latin typeface="Times New Roman"/>
                <a:cs typeface="Times New Roman"/>
              </a:rPr>
              <a:t>what </a:t>
            </a:r>
            <a:r>
              <a:rPr sz="2000" i="1" dirty="0">
                <a:latin typeface="Times New Roman"/>
                <a:cs typeface="Times New Roman"/>
              </a:rPr>
              <a:t>I</a:t>
            </a:r>
            <a:r>
              <a:rPr sz="2000" i="1" spc="22" dirty="0">
                <a:latin typeface="Times New Roman"/>
                <a:cs typeface="Times New Roman"/>
              </a:rPr>
              <a:t> </a:t>
            </a:r>
            <a:r>
              <a:rPr sz="2000" i="1" spc="-6" dirty="0">
                <a:latin typeface="Times New Roman"/>
                <a:cs typeface="Times New Roman"/>
              </a:rPr>
              <a:t>want?)</a:t>
            </a:r>
            <a:endParaRPr sz="2000" dirty="0">
              <a:latin typeface="Times New Roman"/>
              <a:cs typeface="Times New Roman"/>
            </a:endParaRPr>
          </a:p>
          <a:p>
            <a:pPr marL="447948" marR="4887" algn="justLow">
              <a:lnSpc>
                <a:spcPct val="144200"/>
              </a:lnSpc>
              <a:spcBef>
                <a:spcPts val="6"/>
              </a:spcBef>
            </a:pPr>
            <a:r>
              <a:rPr sz="2000" spc="-6" dirty="0">
                <a:latin typeface="Times New Roman"/>
                <a:cs typeface="Times New Roman"/>
              </a:rPr>
              <a:t>The </a:t>
            </a:r>
            <a:r>
              <a:rPr sz="2000" spc="-3" dirty="0">
                <a:latin typeface="Times New Roman"/>
                <a:cs typeface="Times New Roman"/>
              </a:rPr>
              <a:t>extent </a:t>
            </a:r>
            <a:r>
              <a:rPr sz="2000" dirty="0">
                <a:latin typeface="Times New Roman"/>
                <a:cs typeface="Times New Roman"/>
              </a:rPr>
              <a:t>to </a:t>
            </a:r>
            <a:r>
              <a:rPr sz="2000" spc="-6" dirty="0">
                <a:latin typeface="Times New Roman"/>
                <a:cs typeface="Times New Roman"/>
              </a:rPr>
              <a:t>which </a:t>
            </a:r>
            <a:r>
              <a:rPr sz="2000" dirty="0">
                <a:latin typeface="Times New Roman"/>
                <a:cs typeface="Times New Roman"/>
              </a:rPr>
              <a:t>a </a:t>
            </a:r>
            <a:r>
              <a:rPr sz="2000" spc="3" dirty="0">
                <a:latin typeface="Times New Roman"/>
                <a:cs typeface="Times New Roman"/>
              </a:rPr>
              <a:t>program </a:t>
            </a:r>
            <a:r>
              <a:rPr sz="2000" spc="-3" dirty="0">
                <a:latin typeface="Times New Roman"/>
                <a:cs typeface="Times New Roman"/>
              </a:rPr>
              <a:t>satisfies </a:t>
            </a:r>
            <a:r>
              <a:rPr sz="2000" spc="-6" dirty="0">
                <a:latin typeface="Times New Roman"/>
                <a:cs typeface="Times New Roman"/>
              </a:rPr>
              <a:t>its </a:t>
            </a:r>
            <a:r>
              <a:rPr sz="2000" spc="-3" dirty="0">
                <a:latin typeface="Times New Roman"/>
                <a:cs typeface="Times New Roman"/>
              </a:rPr>
              <a:t>specification and fulfills </a:t>
            </a:r>
            <a:r>
              <a:rPr sz="2000" dirty="0">
                <a:latin typeface="Times New Roman"/>
                <a:cs typeface="Times New Roman"/>
              </a:rPr>
              <a:t>the customer’s  </a:t>
            </a:r>
            <a:r>
              <a:rPr sz="2000" spc="-3" dirty="0">
                <a:latin typeface="Times New Roman"/>
                <a:cs typeface="Times New Roman"/>
              </a:rPr>
              <a:t>mission objectives. </a:t>
            </a:r>
            <a:r>
              <a:rPr sz="2000" spc="-6" dirty="0">
                <a:latin typeface="Times New Roman"/>
                <a:cs typeface="Times New Roman"/>
              </a:rPr>
              <a:t>The extent </a:t>
            </a:r>
            <a:r>
              <a:rPr sz="2000" dirty="0">
                <a:latin typeface="Times New Roman"/>
                <a:cs typeface="Times New Roman"/>
              </a:rPr>
              <a:t>to </a:t>
            </a:r>
            <a:r>
              <a:rPr sz="2000" spc="-3" dirty="0">
                <a:latin typeface="Times New Roman"/>
                <a:cs typeface="Times New Roman"/>
              </a:rPr>
              <a:t>which software </a:t>
            </a:r>
            <a:r>
              <a:rPr sz="2000" spc="-10" dirty="0">
                <a:latin typeface="Times New Roman"/>
                <a:cs typeface="Times New Roman"/>
              </a:rPr>
              <a:t>is </a:t>
            </a:r>
            <a:r>
              <a:rPr sz="2000" spc="-6" dirty="0">
                <a:latin typeface="Times New Roman"/>
                <a:cs typeface="Times New Roman"/>
              </a:rPr>
              <a:t>free </a:t>
            </a:r>
            <a:r>
              <a:rPr sz="2000" dirty="0">
                <a:latin typeface="Times New Roman"/>
                <a:cs typeface="Times New Roman"/>
              </a:rPr>
              <a:t>from design defects </a:t>
            </a:r>
            <a:r>
              <a:rPr sz="2000" spc="-3" dirty="0">
                <a:latin typeface="Times New Roman"/>
                <a:cs typeface="Times New Roman"/>
              </a:rPr>
              <a:t>and  </a:t>
            </a:r>
            <a:r>
              <a:rPr sz="2000" dirty="0">
                <a:latin typeface="Times New Roman"/>
                <a:cs typeface="Times New Roman"/>
              </a:rPr>
              <a:t>from </a:t>
            </a:r>
            <a:r>
              <a:rPr sz="2000" spc="-3" dirty="0">
                <a:latin typeface="Times New Roman"/>
                <a:cs typeface="Times New Roman"/>
              </a:rPr>
              <a:t>coding defects.; that </a:t>
            </a:r>
            <a:r>
              <a:rPr sz="2000" spc="-16" dirty="0">
                <a:latin typeface="Times New Roman"/>
                <a:cs typeface="Times New Roman"/>
              </a:rPr>
              <a:t>is</a:t>
            </a:r>
            <a:r>
              <a:rPr sz="2000" spc="19" dirty="0">
                <a:latin typeface="Times New Roman"/>
                <a:cs typeface="Times New Roman"/>
              </a:rPr>
              <a:t> </a:t>
            </a:r>
            <a:r>
              <a:rPr sz="2000" spc="-3" dirty="0">
                <a:latin typeface="Times New Roman"/>
                <a:cs typeface="Times New Roman"/>
              </a:rPr>
              <a:t>fault-free.</a:t>
            </a:r>
            <a:endParaRPr sz="2000" dirty="0">
              <a:latin typeface="Times New Roman"/>
              <a:cs typeface="Times New Roman"/>
            </a:endParaRPr>
          </a:p>
          <a:p>
            <a:pPr algn="justLow">
              <a:spcBef>
                <a:spcPts val="35"/>
              </a:spcBef>
            </a:pPr>
            <a:endParaRPr sz="2400" dirty="0">
              <a:latin typeface="Times New Roman"/>
              <a:cs typeface="Times New Roman"/>
            </a:endParaRPr>
          </a:p>
          <a:p>
            <a:pPr marL="644247" lvl="1" indent="-342900" algn="justLow">
              <a:buFont typeface="Arial" panose="020B0604020202020204" pitchFamily="34" charset="0"/>
              <a:buChar char="•"/>
              <a:tabLst>
                <a:tab pos="447948" algn="l"/>
                <a:tab pos="448355" algn="l"/>
              </a:tabLst>
            </a:pPr>
            <a:r>
              <a:rPr sz="2000" i="1" dirty="0">
                <a:latin typeface="Times New Roman"/>
                <a:cs typeface="Times New Roman"/>
              </a:rPr>
              <a:t>Reliability </a:t>
            </a:r>
            <a:r>
              <a:rPr sz="2000" i="1" spc="-6" dirty="0">
                <a:latin typeface="Times New Roman"/>
                <a:cs typeface="Times New Roman"/>
              </a:rPr>
              <a:t>(Does </a:t>
            </a:r>
            <a:r>
              <a:rPr sz="2000" i="1" dirty="0">
                <a:latin typeface="Times New Roman"/>
                <a:cs typeface="Times New Roman"/>
              </a:rPr>
              <a:t>it do it </a:t>
            </a:r>
            <a:r>
              <a:rPr sz="2000" i="1" spc="-3" dirty="0">
                <a:latin typeface="Times New Roman"/>
                <a:cs typeface="Times New Roman"/>
              </a:rPr>
              <a:t>accurately </a:t>
            </a:r>
            <a:r>
              <a:rPr sz="2000" i="1" dirty="0">
                <a:latin typeface="Times New Roman"/>
                <a:cs typeface="Times New Roman"/>
              </a:rPr>
              <a:t>all </a:t>
            </a:r>
            <a:r>
              <a:rPr sz="2000" i="1" spc="-10" dirty="0">
                <a:latin typeface="Times New Roman"/>
                <a:cs typeface="Times New Roman"/>
              </a:rPr>
              <a:t>of </a:t>
            </a:r>
            <a:r>
              <a:rPr sz="2000" i="1" dirty="0">
                <a:latin typeface="Times New Roman"/>
                <a:cs typeface="Times New Roman"/>
              </a:rPr>
              <a:t>the</a:t>
            </a:r>
            <a:r>
              <a:rPr sz="2000" i="1" spc="16" dirty="0">
                <a:latin typeface="Times New Roman"/>
                <a:cs typeface="Times New Roman"/>
              </a:rPr>
              <a:t> </a:t>
            </a:r>
            <a:r>
              <a:rPr sz="2000" i="1" spc="-6" dirty="0">
                <a:latin typeface="Times New Roman"/>
                <a:cs typeface="Times New Roman"/>
              </a:rPr>
              <a:t>time?)</a:t>
            </a:r>
            <a:endParaRPr sz="2000" dirty="0">
              <a:latin typeface="Times New Roman"/>
              <a:cs typeface="Times New Roman"/>
            </a:endParaRPr>
          </a:p>
          <a:p>
            <a:pPr marL="447948" marR="4072" algn="justLow">
              <a:lnSpc>
                <a:spcPct val="143300"/>
              </a:lnSpc>
              <a:spcBef>
                <a:spcPts val="16"/>
              </a:spcBef>
            </a:pPr>
            <a:r>
              <a:rPr sz="2000" spc="-6" dirty="0">
                <a:latin typeface="Times New Roman"/>
                <a:cs typeface="Times New Roman"/>
              </a:rPr>
              <a:t>The extent </a:t>
            </a:r>
            <a:r>
              <a:rPr sz="2000" dirty="0">
                <a:latin typeface="Times New Roman"/>
                <a:cs typeface="Times New Roman"/>
              </a:rPr>
              <a:t>to </a:t>
            </a:r>
            <a:r>
              <a:rPr sz="2000" spc="-6" dirty="0">
                <a:latin typeface="Times New Roman"/>
                <a:cs typeface="Times New Roman"/>
              </a:rPr>
              <a:t>which </a:t>
            </a:r>
            <a:r>
              <a:rPr sz="2000" dirty="0">
                <a:latin typeface="Times New Roman"/>
                <a:cs typeface="Times New Roman"/>
              </a:rPr>
              <a:t>a program </a:t>
            </a:r>
            <a:r>
              <a:rPr sz="2000" spc="-3" dirty="0">
                <a:latin typeface="Times New Roman"/>
                <a:cs typeface="Times New Roman"/>
              </a:rPr>
              <a:t>can </a:t>
            </a:r>
            <a:r>
              <a:rPr sz="2000" spc="-10" dirty="0">
                <a:latin typeface="Times New Roman"/>
                <a:cs typeface="Times New Roman"/>
              </a:rPr>
              <a:t>be </a:t>
            </a:r>
            <a:r>
              <a:rPr sz="2000" dirty="0">
                <a:latin typeface="Times New Roman"/>
                <a:cs typeface="Times New Roman"/>
              </a:rPr>
              <a:t>expected to </a:t>
            </a:r>
            <a:r>
              <a:rPr sz="2000" spc="-3" dirty="0">
                <a:latin typeface="Times New Roman"/>
                <a:cs typeface="Times New Roman"/>
              </a:rPr>
              <a:t>perform </a:t>
            </a:r>
            <a:r>
              <a:rPr sz="2000" spc="-6" dirty="0">
                <a:latin typeface="Times New Roman"/>
                <a:cs typeface="Times New Roman"/>
              </a:rPr>
              <a:t>its </a:t>
            </a:r>
            <a:r>
              <a:rPr sz="2000" spc="-3" dirty="0">
                <a:latin typeface="Times New Roman"/>
                <a:cs typeface="Times New Roman"/>
              </a:rPr>
              <a:t>intended function  with required precisions under </a:t>
            </a:r>
            <a:r>
              <a:rPr sz="2000" dirty="0">
                <a:latin typeface="Times New Roman"/>
                <a:cs typeface="Times New Roman"/>
              </a:rPr>
              <a:t>stated </a:t>
            </a:r>
            <a:r>
              <a:rPr sz="2000" spc="-6" dirty="0">
                <a:latin typeface="Times New Roman"/>
                <a:cs typeface="Times New Roman"/>
              </a:rPr>
              <a:t>conditions for </a:t>
            </a:r>
            <a:r>
              <a:rPr sz="2000" dirty="0">
                <a:latin typeface="Times New Roman"/>
                <a:cs typeface="Times New Roman"/>
              </a:rPr>
              <a:t>a </a:t>
            </a:r>
            <a:r>
              <a:rPr sz="2000" spc="-3" dirty="0">
                <a:latin typeface="Times New Roman"/>
                <a:cs typeface="Times New Roman"/>
              </a:rPr>
              <a:t>stated period  </a:t>
            </a:r>
            <a:r>
              <a:rPr sz="2000" spc="6" dirty="0">
                <a:latin typeface="Times New Roman"/>
                <a:cs typeface="Times New Roman"/>
              </a:rPr>
              <a:t>of</a:t>
            </a:r>
            <a:r>
              <a:rPr sz="2000" spc="106" dirty="0">
                <a:latin typeface="Times New Roman"/>
                <a:cs typeface="Times New Roman"/>
              </a:rPr>
              <a:t> </a:t>
            </a:r>
            <a:r>
              <a:rPr sz="2000" spc="-6" dirty="0">
                <a:latin typeface="Times New Roman"/>
                <a:cs typeface="Times New Roman"/>
              </a:rPr>
              <a:t>time.</a:t>
            </a:r>
            <a:endParaRPr sz="2000" dirty="0">
              <a:latin typeface="Times New Roman"/>
              <a:cs typeface="Times New Roman"/>
            </a:endParaRPr>
          </a:p>
          <a:p>
            <a:pPr algn="justLow">
              <a:spcBef>
                <a:spcPts val="13"/>
              </a:spcBef>
            </a:pPr>
            <a:endParaRPr sz="2400" dirty="0">
              <a:latin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E03D5-D5F7-AC91-08B0-1BCB48EBFBC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32DAB26-2385-F02C-B37B-BA8D8649D40F}"/>
              </a:ext>
            </a:extLst>
          </p:cNvPr>
          <p:cNvSpPr txBox="1"/>
          <p:nvPr/>
        </p:nvSpPr>
        <p:spPr>
          <a:xfrm>
            <a:off x="665018" y="195719"/>
            <a:ext cx="11055927" cy="6369821"/>
          </a:xfrm>
          <a:prstGeom prst="rect">
            <a:avLst/>
          </a:prstGeom>
        </p:spPr>
        <p:txBody>
          <a:bodyPr vert="horz" wrap="square" lIns="0" tIns="0" rIns="0" bIns="0" rtlCol="0">
            <a:spAutoFit/>
          </a:bodyPr>
          <a:lstStyle/>
          <a:p>
            <a:pPr>
              <a:spcBef>
                <a:spcPts val="13"/>
              </a:spcBef>
            </a:pPr>
            <a:endParaRPr sz="2800" dirty="0">
              <a:latin typeface="Times New Roman"/>
              <a:cs typeface="Times New Roman"/>
            </a:endParaRPr>
          </a:p>
          <a:p>
            <a:pPr marL="447948" lvl="1" indent="-146601">
              <a:buFont typeface="Arial"/>
              <a:buChar char="▪"/>
              <a:tabLst>
                <a:tab pos="447948" algn="l"/>
                <a:tab pos="448355" algn="l"/>
              </a:tabLst>
            </a:pPr>
            <a:r>
              <a:rPr sz="2400" i="1" dirty="0">
                <a:latin typeface="Times New Roman"/>
                <a:cs typeface="Times New Roman"/>
              </a:rPr>
              <a:t>Efficiency </a:t>
            </a:r>
            <a:r>
              <a:rPr sz="2400" i="1" spc="-6" dirty="0">
                <a:latin typeface="Times New Roman"/>
                <a:cs typeface="Times New Roman"/>
              </a:rPr>
              <a:t>(Will </a:t>
            </a:r>
            <a:r>
              <a:rPr sz="2400" i="1" dirty="0">
                <a:latin typeface="Times New Roman"/>
                <a:cs typeface="Times New Roman"/>
              </a:rPr>
              <a:t>it </a:t>
            </a:r>
            <a:r>
              <a:rPr sz="2400" i="1" spc="-3" dirty="0">
                <a:latin typeface="Times New Roman"/>
                <a:cs typeface="Times New Roman"/>
              </a:rPr>
              <a:t>run </a:t>
            </a:r>
            <a:r>
              <a:rPr sz="2400" i="1" dirty="0">
                <a:latin typeface="Times New Roman"/>
                <a:cs typeface="Times New Roman"/>
              </a:rPr>
              <a:t>on </a:t>
            </a:r>
            <a:r>
              <a:rPr sz="2400" i="1" spc="-3" dirty="0">
                <a:latin typeface="Times New Roman"/>
                <a:cs typeface="Times New Roman"/>
              </a:rPr>
              <a:t>my </a:t>
            </a:r>
            <a:r>
              <a:rPr sz="2400" i="1" spc="-6" dirty="0">
                <a:latin typeface="Times New Roman"/>
                <a:cs typeface="Times New Roman"/>
              </a:rPr>
              <a:t>hardware </a:t>
            </a:r>
            <a:r>
              <a:rPr sz="2400" i="1" dirty="0">
                <a:latin typeface="Times New Roman"/>
                <a:cs typeface="Times New Roman"/>
              </a:rPr>
              <a:t>as </a:t>
            </a:r>
            <a:r>
              <a:rPr sz="2400" i="1" spc="-6" dirty="0">
                <a:latin typeface="Times New Roman"/>
                <a:cs typeface="Times New Roman"/>
              </a:rPr>
              <a:t>well </a:t>
            </a:r>
            <a:r>
              <a:rPr sz="2400" i="1" dirty="0">
                <a:latin typeface="Times New Roman"/>
                <a:cs typeface="Times New Roman"/>
              </a:rPr>
              <a:t>as it</a:t>
            </a:r>
            <a:r>
              <a:rPr sz="2400" i="1" spc="67" dirty="0">
                <a:latin typeface="Times New Roman"/>
                <a:cs typeface="Times New Roman"/>
              </a:rPr>
              <a:t> </a:t>
            </a:r>
            <a:r>
              <a:rPr sz="2400" i="1" spc="-3" dirty="0">
                <a:latin typeface="Times New Roman"/>
                <a:cs typeface="Times New Roman"/>
              </a:rPr>
              <a:t>can?)</a:t>
            </a:r>
            <a:endParaRPr sz="2400" dirty="0">
              <a:latin typeface="Times New Roman"/>
              <a:cs typeface="Times New Roman"/>
            </a:endParaRPr>
          </a:p>
          <a:p>
            <a:pPr marL="447948" marR="4072" algn="just">
              <a:lnSpc>
                <a:spcPct val="143300"/>
              </a:lnSpc>
              <a:spcBef>
                <a:spcPts val="16"/>
              </a:spcBef>
            </a:pPr>
            <a:r>
              <a:rPr sz="2400" spc="-6" dirty="0">
                <a:latin typeface="Times New Roman"/>
                <a:cs typeface="Times New Roman"/>
              </a:rPr>
              <a:t>The </a:t>
            </a:r>
            <a:r>
              <a:rPr sz="2400" spc="-3" dirty="0">
                <a:latin typeface="Times New Roman"/>
                <a:cs typeface="Times New Roman"/>
              </a:rPr>
              <a:t>extent </a:t>
            </a:r>
            <a:r>
              <a:rPr sz="2400" dirty="0">
                <a:latin typeface="Times New Roman"/>
                <a:cs typeface="Times New Roman"/>
              </a:rPr>
              <a:t>to </a:t>
            </a:r>
            <a:r>
              <a:rPr sz="2400" spc="-6" dirty="0">
                <a:latin typeface="Times New Roman"/>
                <a:cs typeface="Times New Roman"/>
              </a:rPr>
              <a:t>which </a:t>
            </a:r>
            <a:r>
              <a:rPr sz="2400" dirty="0">
                <a:latin typeface="Times New Roman"/>
                <a:cs typeface="Times New Roman"/>
              </a:rPr>
              <a:t>a </a:t>
            </a:r>
            <a:r>
              <a:rPr sz="2400" spc="-3" dirty="0">
                <a:latin typeface="Times New Roman"/>
                <a:cs typeface="Times New Roman"/>
              </a:rPr>
              <a:t>software performs </a:t>
            </a:r>
            <a:r>
              <a:rPr sz="2400" spc="-6" dirty="0">
                <a:latin typeface="Times New Roman"/>
                <a:cs typeface="Times New Roman"/>
              </a:rPr>
              <a:t>its </a:t>
            </a:r>
            <a:r>
              <a:rPr sz="2400" spc="-3" dirty="0">
                <a:latin typeface="Times New Roman"/>
                <a:cs typeface="Times New Roman"/>
              </a:rPr>
              <a:t>function.with </a:t>
            </a:r>
            <a:r>
              <a:rPr sz="2400" dirty="0">
                <a:latin typeface="Times New Roman"/>
                <a:cs typeface="Times New Roman"/>
              </a:rPr>
              <a:t>a minimum </a:t>
            </a:r>
            <a:r>
              <a:rPr sz="2400" spc="-3" dirty="0">
                <a:latin typeface="Times New Roman"/>
                <a:cs typeface="Times New Roman"/>
              </a:rPr>
              <a:t>consumption  </a:t>
            </a:r>
            <a:r>
              <a:rPr sz="2400" spc="6" dirty="0">
                <a:latin typeface="Times New Roman"/>
                <a:cs typeface="Times New Roman"/>
              </a:rPr>
              <a:t>of </a:t>
            </a:r>
            <a:r>
              <a:rPr sz="2400" spc="-3" dirty="0">
                <a:latin typeface="Times New Roman"/>
                <a:cs typeface="Times New Roman"/>
              </a:rPr>
              <a:t>computing resources. </a:t>
            </a:r>
            <a:r>
              <a:rPr sz="2400" spc="-6" dirty="0">
                <a:latin typeface="Times New Roman"/>
                <a:cs typeface="Times New Roman"/>
              </a:rPr>
              <a:t>It </a:t>
            </a:r>
            <a:r>
              <a:rPr sz="2400" spc="-10" dirty="0">
                <a:latin typeface="Times New Roman"/>
                <a:cs typeface="Times New Roman"/>
              </a:rPr>
              <a:t>should </a:t>
            </a:r>
            <a:r>
              <a:rPr sz="2400" spc="-3" dirty="0">
                <a:latin typeface="Times New Roman"/>
                <a:cs typeface="Times New Roman"/>
              </a:rPr>
              <a:t>not use any hardware components </a:t>
            </a:r>
            <a:r>
              <a:rPr sz="2400" spc="6" dirty="0">
                <a:latin typeface="Times New Roman"/>
                <a:cs typeface="Times New Roman"/>
              </a:rPr>
              <a:t>or </a:t>
            </a:r>
            <a:r>
              <a:rPr sz="2400" spc="-3" dirty="0">
                <a:latin typeface="Times New Roman"/>
                <a:cs typeface="Times New Roman"/>
              </a:rPr>
              <a:t>peripheral  </a:t>
            </a:r>
            <a:r>
              <a:rPr sz="2400" spc="-6" dirty="0">
                <a:latin typeface="Times New Roman"/>
                <a:cs typeface="Times New Roman"/>
              </a:rPr>
              <a:t>equipment</a:t>
            </a:r>
            <a:r>
              <a:rPr sz="2400" spc="22" dirty="0">
                <a:latin typeface="Times New Roman"/>
                <a:cs typeface="Times New Roman"/>
              </a:rPr>
              <a:t> </a:t>
            </a:r>
            <a:r>
              <a:rPr sz="2400" spc="-6" dirty="0">
                <a:latin typeface="Times New Roman"/>
                <a:cs typeface="Times New Roman"/>
              </a:rPr>
              <a:t>unnecessarily.</a:t>
            </a:r>
            <a:endParaRPr sz="2400" dirty="0">
              <a:latin typeface="Times New Roman"/>
              <a:cs typeface="Times New Roman"/>
            </a:endParaRPr>
          </a:p>
          <a:p>
            <a:pPr>
              <a:spcBef>
                <a:spcPts val="13"/>
              </a:spcBef>
            </a:pPr>
            <a:endParaRPr sz="2800" dirty="0">
              <a:latin typeface="Times New Roman"/>
              <a:cs typeface="Times New Roman"/>
            </a:endParaRPr>
          </a:p>
          <a:p>
            <a:pPr marL="447948" lvl="1" indent="-146601">
              <a:buFont typeface="Arial"/>
              <a:buChar char="▪"/>
              <a:tabLst>
                <a:tab pos="447948" algn="l"/>
                <a:tab pos="448355" algn="l"/>
              </a:tabLst>
            </a:pPr>
            <a:r>
              <a:rPr sz="2400" i="1" spc="-3" dirty="0">
                <a:latin typeface="Times New Roman"/>
                <a:cs typeface="Times New Roman"/>
              </a:rPr>
              <a:t>Integrity (Is </a:t>
            </a:r>
            <a:r>
              <a:rPr sz="2400" i="1" dirty="0">
                <a:latin typeface="Times New Roman"/>
                <a:cs typeface="Times New Roman"/>
              </a:rPr>
              <a:t>it</a:t>
            </a:r>
            <a:r>
              <a:rPr sz="2400" i="1" spc="-6" dirty="0">
                <a:latin typeface="Times New Roman"/>
                <a:cs typeface="Times New Roman"/>
              </a:rPr>
              <a:t> secure?)</a:t>
            </a:r>
            <a:endParaRPr sz="2400" dirty="0">
              <a:latin typeface="Times New Roman"/>
              <a:cs typeface="Times New Roman"/>
            </a:endParaRPr>
          </a:p>
          <a:p>
            <a:pPr marL="447948" marR="6516" algn="just">
              <a:lnSpc>
                <a:spcPct val="143300"/>
              </a:lnSpc>
              <a:spcBef>
                <a:spcPts val="16"/>
              </a:spcBef>
            </a:pPr>
            <a:r>
              <a:rPr sz="2400" spc="-6" dirty="0">
                <a:latin typeface="Times New Roman"/>
                <a:cs typeface="Times New Roman"/>
              </a:rPr>
              <a:t>The extent </a:t>
            </a:r>
            <a:r>
              <a:rPr sz="2400" dirty="0">
                <a:latin typeface="Times New Roman"/>
                <a:cs typeface="Times New Roman"/>
              </a:rPr>
              <a:t>to </a:t>
            </a:r>
            <a:r>
              <a:rPr sz="2400" spc="-3" dirty="0">
                <a:latin typeface="Times New Roman"/>
                <a:cs typeface="Times New Roman"/>
              </a:rPr>
              <a:t>which </a:t>
            </a:r>
            <a:r>
              <a:rPr sz="2400" spc="-6" dirty="0">
                <a:latin typeface="Times New Roman"/>
                <a:cs typeface="Times New Roman"/>
              </a:rPr>
              <a:t>access </a:t>
            </a:r>
            <a:r>
              <a:rPr sz="2400" dirty="0">
                <a:latin typeface="Times New Roman"/>
                <a:cs typeface="Times New Roman"/>
              </a:rPr>
              <a:t>to </a:t>
            </a:r>
            <a:r>
              <a:rPr sz="2400" spc="-3" dirty="0">
                <a:latin typeface="Times New Roman"/>
                <a:cs typeface="Times New Roman"/>
              </a:rPr>
              <a:t>software </a:t>
            </a:r>
            <a:r>
              <a:rPr sz="2400" spc="6" dirty="0">
                <a:latin typeface="Times New Roman"/>
                <a:cs typeface="Times New Roman"/>
              </a:rPr>
              <a:t>or </a:t>
            </a:r>
            <a:r>
              <a:rPr sz="2400" spc="-3" dirty="0">
                <a:latin typeface="Times New Roman"/>
                <a:cs typeface="Times New Roman"/>
              </a:rPr>
              <a:t>data </a:t>
            </a:r>
            <a:r>
              <a:rPr sz="2400" dirty="0">
                <a:latin typeface="Times New Roman"/>
                <a:cs typeface="Times New Roman"/>
              </a:rPr>
              <a:t>by </a:t>
            </a:r>
            <a:r>
              <a:rPr sz="2400" spc="-3" dirty="0">
                <a:latin typeface="Times New Roman"/>
                <a:cs typeface="Times New Roman"/>
              </a:rPr>
              <a:t>unauthorized persons </a:t>
            </a:r>
            <a:r>
              <a:rPr sz="2400" dirty="0">
                <a:latin typeface="Times New Roman"/>
                <a:cs typeface="Times New Roman"/>
              </a:rPr>
              <a:t>can be  </a:t>
            </a:r>
            <a:r>
              <a:rPr sz="2400" spc="-3" dirty="0">
                <a:latin typeface="Times New Roman"/>
                <a:cs typeface="Times New Roman"/>
              </a:rPr>
              <a:t>controlled.</a:t>
            </a:r>
            <a:endParaRPr sz="2400" dirty="0">
              <a:latin typeface="Times New Roman"/>
              <a:cs typeface="Times New Roman"/>
            </a:endParaRPr>
          </a:p>
          <a:p>
            <a:pPr>
              <a:spcBef>
                <a:spcPts val="35"/>
              </a:spcBef>
            </a:pPr>
            <a:endParaRPr sz="2800" dirty="0">
              <a:latin typeface="Times New Roman"/>
              <a:cs typeface="Times New Roman"/>
            </a:endParaRPr>
          </a:p>
          <a:p>
            <a:pPr marL="447948" lvl="1" indent="-146601">
              <a:buFont typeface="Arial"/>
              <a:buChar char="▪"/>
              <a:tabLst>
                <a:tab pos="447948" algn="l"/>
                <a:tab pos="448355" algn="l"/>
              </a:tabLst>
            </a:pPr>
            <a:r>
              <a:rPr sz="2400" i="1" spc="-3" dirty="0">
                <a:latin typeface="Times New Roman"/>
                <a:cs typeface="Times New Roman"/>
              </a:rPr>
              <a:t>Usability (Is </a:t>
            </a:r>
            <a:r>
              <a:rPr sz="2400" i="1" dirty="0">
                <a:latin typeface="Times New Roman"/>
                <a:cs typeface="Times New Roman"/>
              </a:rPr>
              <a:t>it </a:t>
            </a:r>
            <a:r>
              <a:rPr sz="2400" i="1" spc="-3" dirty="0">
                <a:latin typeface="Times New Roman"/>
                <a:cs typeface="Times New Roman"/>
              </a:rPr>
              <a:t>designed </a:t>
            </a:r>
            <a:r>
              <a:rPr sz="2400" i="1" spc="3" dirty="0">
                <a:latin typeface="Times New Roman"/>
                <a:cs typeface="Times New Roman"/>
              </a:rPr>
              <a:t>for </a:t>
            </a:r>
            <a:r>
              <a:rPr sz="2400" i="1" dirty="0">
                <a:latin typeface="Times New Roman"/>
                <a:cs typeface="Times New Roman"/>
              </a:rPr>
              <a:t>the</a:t>
            </a:r>
            <a:r>
              <a:rPr sz="2400" i="1" spc="-3" dirty="0">
                <a:latin typeface="Times New Roman"/>
                <a:cs typeface="Times New Roman"/>
              </a:rPr>
              <a:t> use?)</a:t>
            </a:r>
            <a:endParaRPr sz="2400" dirty="0">
              <a:latin typeface="Times New Roman"/>
              <a:cs typeface="Times New Roman"/>
            </a:endParaRPr>
          </a:p>
          <a:p>
            <a:pPr marL="447948" marR="8552" algn="just">
              <a:lnSpc>
                <a:spcPct val="143300"/>
              </a:lnSpc>
              <a:spcBef>
                <a:spcPts val="16"/>
              </a:spcBef>
            </a:pPr>
            <a:r>
              <a:rPr sz="2400" spc="-6" dirty="0">
                <a:latin typeface="Times New Roman"/>
                <a:cs typeface="Times New Roman"/>
              </a:rPr>
              <a:t>The </a:t>
            </a:r>
            <a:r>
              <a:rPr sz="2400" spc="-3" dirty="0">
                <a:latin typeface="Times New Roman"/>
                <a:cs typeface="Times New Roman"/>
              </a:rPr>
              <a:t>effort </a:t>
            </a:r>
            <a:r>
              <a:rPr sz="2400" spc="-6" dirty="0">
                <a:latin typeface="Times New Roman"/>
                <a:cs typeface="Times New Roman"/>
              </a:rPr>
              <a:t>required </a:t>
            </a:r>
            <a:r>
              <a:rPr sz="2400" dirty="0">
                <a:latin typeface="Times New Roman"/>
                <a:cs typeface="Times New Roman"/>
              </a:rPr>
              <a:t>to </a:t>
            </a:r>
            <a:r>
              <a:rPr sz="2400" spc="-6" dirty="0">
                <a:latin typeface="Times New Roman"/>
                <a:cs typeface="Times New Roman"/>
              </a:rPr>
              <a:t>learn, </a:t>
            </a:r>
            <a:r>
              <a:rPr sz="2400" spc="-3" dirty="0">
                <a:latin typeface="Times New Roman"/>
                <a:cs typeface="Times New Roman"/>
              </a:rPr>
              <a:t>operate, </a:t>
            </a:r>
            <a:r>
              <a:rPr sz="2400" dirty="0">
                <a:latin typeface="Times New Roman"/>
                <a:cs typeface="Times New Roman"/>
              </a:rPr>
              <a:t>prepare </a:t>
            </a:r>
            <a:r>
              <a:rPr sz="2400" spc="-3" dirty="0">
                <a:latin typeface="Times New Roman"/>
                <a:cs typeface="Times New Roman"/>
              </a:rPr>
              <a:t>input, </a:t>
            </a:r>
            <a:r>
              <a:rPr sz="2400" spc="-6" dirty="0">
                <a:latin typeface="Times New Roman"/>
                <a:cs typeface="Times New Roman"/>
              </a:rPr>
              <a:t>and interpret </a:t>
            </a:r>
            <a:r>
              <a:rPr sz="2400" spc="-3" dirty="0">
                <a:latin typeface="Times New Roman"/>
                <a:cs typeface="Times New Roman"/>
              </a:rPr>
              <a:t>output </a:t>
            </a:r>
            <a:r>
              <a:rPr sz="2400" spc="6" dirty="0">
                <a:latin typeface="Times New Roman"/>
                <a:cs typeface="Times New Roman"/>
              </a:rPr>
              <a:t>of </a:t>
            </a:r>
            <a:r>
              <a:rPr sz="2400" dirty="0">
                <a:latin typeface="Times New Roman"/>
                <a:cs typeface="Times New Roman"/>
              </a:rPr>
              <a:t>a  </a:t>
            </a:r>
            <a:r>
              <a:rPr sz="2400" spc="-6" dirty="0">
                <a:latin typeface="Times New Roman"/>
                <a:cs typeface="Times New Roman"/>
              </a:rPr>
              <a:t>program.</a:t>
            </a:r>
            <a:endParaRPr sz="2400" dirty="0">
              <a:latin typeface="Times New Roman"/>
              <a:cs typeface="Times New Roman"/>
            </a:endParaRPr>
          </a:p>
          <a:p>
            <a:pPr>
              <a:lnSpc>
                <a:spcPct val="100000"/>
              </a:lnSpc>
            </a:pPr>
            <a:endParaRPr sz="2800" dirty="0">
              <a:latin typeface="Times New Roman"/>
              <a:cs typeface="Times New Roman"/>
            </a:endParaRPr>
          </a:p>
          <a:p>
            <a:pPr>
              <a:lnSpc>
                <a:spcPct val="100000"/>
              </a:lnSpc>
            </a:pPr>
            <a:endParaRPr sz="2400" dirty="0">
              <a:latin typeface="Times New Roman"/>
              <a:cs typeface="Times New Roman"/>
            </a:endParaRPr>
          </a:p>
        </p:txBody>
      </p:sp>
    </p:spTree>
    <p:extLst>
      <p:ext uri="{BB962C8B-B14F-4D97-AF65-F5344CB8AC3E}">
        <p14:creationId xmlns:p14="http://schemas.microsoft.com/office/powerpoint/2010/main" val="2684845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724E7-3BF6-B586-07A5-BE490B16E606}"/>
              </a:ext>
            </a:extLst>
          </p:cNvPr>
          <p:cNvSpPr>
            <a:spLocks noGrp="1"/>
          </p:cNvSpPr>
          <p:nvPr>
            <p:ph type="title" idx="4294967295"/>
          </p:nvPr>
        </p:nvSpPr>
        <p:spPr>
          <a:xfrm>
            <a:off x="2192338" y="274638"/>
            <a:ext cx="9999662" cy="1143000"/>
          </a:xfrm>
          <a:prstGeom prst="rect">
            <a:avLst/>
          </a:prstGeom>
        </p:spPr>
        <p:txBody>
          <a:bodyPr>
            <a:normAutofit/>
          </a:bodyPr>
          <a:lstStyle/>
          <a:p>
            <a:r>
              <a:rPr lang="en-US" sz="2400" b="1" spc="-3" dirty="0">
                <a:latin typeface="Times New Roman"/>
                <a:cs typeface="Times New Roman"/>
              </a:rPr>
              <a:t>Software Quality Assurance</a:t>
            </a:r>
            <a:r>
              <a:rPr lang="en-US" sz="2400" b="1" spc="-19" dirty="0">
                <a:latin typeface="Times New Roman"/>
                <a:cs typeface="Times New Roman"/>
              </a:rPr>
              <a:t> </a:t>
            </a:r>
            <a:r>
              <a:rPr lang="en-US" sz="2400" b="1" dirty="0">
                <a:latin typeface="Times New Roman"/>
                <a:cs typeface="Times New Roman"/>
              </a:rPr>
              <a:t>(SQA</a:t>
            </a:r>
            <a:endParaRPr lang="ar-SD" sz="13800" dirty="0"/>
          </a:p>
        </p:txBody>
      </p:sp>
      <p:sp>
        <p:nvSpPr>
          <p:cNvPr id="3" name="Content Placeholder 2">
            <a:extLst>
              <a:ext uri="{FF2B5EF4-FFF2-40B4-BE49-F238E27FC236}">
                <a16:creationId xmlns:a16="http://schemas.microsoft.com/office/drawing/2014/main" id="{E9AF05BC-542F-5DAF-CAAB-78ADF870ED72}"/>
              </a:ext>
            </a:extLst>
          </p:cNvPr>
          <p:cNvSpPr>
            <a:spLocks noGrp="1"/>
          </p:cNvSpPr>
          <p:nvPr>
            <p:ph idx="4294967295"/>
          </p:nvPr>
        </p:nvSpPr>
        <p:spPr>
          <a:xfrm>
            <a:off x="0" y="1258888"/>
            <a:ext cx="10669588" cy="5441950"/>
          </a:xfrm>
        </p:spPr>
        <p:txBody>
          <a:bodyPr>
            <a:normAutofit/>
          </a:bodyPr>
          <a:lstStyle/>
          <a:p>
            <a:pPr marL="100965" marR="204470" algn="just" rtl="0">
              <a:lnSpc>
                <a:spcPct val="143400"/>
              </a:lnSpc>
            </a:pPr>
            <a:r>
              <a:rPr lang="en-US" sz="2000" dirty="0">
                <a:latin typeface="Times New Roman"/>
                <a:cs typeface="Times New Roman"/>
              </a:rPr>
              <a:t>Software </a:t>
            </a:r>
            <a:r>
              <a:rPr lang="en-US" sz="2000" spc="-3" dirty="0">
                <a:latin typeface="Times New Roman"/>
                <a:cs typeface="Times New Roman"/>
              </a:rPr>
              <a:t>quality assurance </a:t>
            </a:r>
            <a:r>
              <a:rPr lang="en-US" sz="2000" spc="-10" dirty="0">
                <a:latin typeface="Times New Roman"/>
                <a:cs typeface="Times New Roman"/>
              </a:rPr>
              <a:t>is </a:t>
            </a:r>
            <a:r>
              <a:rPr lang="en-US" sz="2000" dirty="0">
                <a:latin typeface="Times New Roman"/>
                <a:cs typeface="Times New Roman"/>
              </a:rPr>
              <a:t>a </a:t>
            </a:r>
            <a:r>
              <a:rPr lang="en-US" sz="2000" spc="-3" dirty="0">
                <a:latin typeface="Times New Roman"/>
                <a:cs typeface="Times New Roman"/>
              </a:rPr>
              <a:t>planned effort </a:t>
            </a:r>
            <a:r>
              <a:rPr lang="en-US" sz="2000" dirty="0">
                <a:latin typeface="Times New Roman"/>
                <a:cs typeface="Times New Roman"/>
              </a:rPr>
              <a:t>to </a:t>
            </a:r>
            <a:r>
              <a:rPr lang="en-US" sz="2000" spc="-6" dirty="0">
                <a:latin typeface="Times New Roman"/>
                <a:cs typeface="Times New Roman"/>
              </a:rPr>
              <a:t>ensure </a:t>
            </a:r>
            <a:r>
              <a:rPr lang="en-US" sz="2000" spc="-3" dirty="0">
                <a:latin typeface="Times New Roman"/>
                <a:cs typeface="Times New Roman"/>
              </a:rPr>
              <a:t>that </a:t>
            </a:r>
            <a:r>
              <a:rPr lang="en-US" sz="2000" dirty="0">
                <a:latin typeface="Times New Roman"/>
                <a:cs typeface="Times New Roman"/>
              </a:rPr>
              <a:t>a </a:t>
            </a:r>
            <a:r>
              <a:rPr lang="en-US" sz="2000" spc="-3" dirty="0">
                <a:latin typeface="Times New Roman"/>
                <a:cs typeface="Times New Roman"/>
              </a:rPr>
              <a:t>software product  </a:t>
            </a:r>
            <a:r>
              <a:rPr lang="en-US" sz="2000" spc="-6" dirty="0">
                <a:latin typeface="Times New Roman"/>
                <a:cs typeface="Times New Roman"/>
              </a:rPr>
              <a:t>fulfills </a:t>
            </a:r>
            <a:r>
              <a:rPr lang="en-US" sz="2000" spc="-3" dirty="0">
                <a:latin typeface="Times New Roman"/>
                <a:cs typeface="Times New Roman"/>
              </a:rPr>
              <a:t>these criteria </a:t>
            </a:r>
            <a:r>
              <a:rPr lang="en-US" sz="2000" spc="-6" dirty="0">
                <a:latin typeface="Times New Roman"/>
                <a:cs typeface="Times New Roman"/>
              </a:rPr>
              <a:t>and has </a:t>
            </a:r>
            <a:r>
              <a:rPr lang="en-US" sz="2000" spc="-3" dirty="0">
                <a:latin typeface="Times New Roman"/>
                <a:cs typeface="Times New Roman"/>
              </a:rPr>
              <a:t>additional attributes </a:t>
            </a:r>
            <a:r>
              <a:rPr lang="en-US" sz="2000" spc="-6" dirty="0">
                <a:latin typeface="Times New Roman"/>
                <a:cs typeface="Times New Roman"/>
              </a:rPr>
              <a:t>specific </a:t>
            </a:r>
            <a:r>
              <a:rPr lang="en-US" sz="2000" dirty="0">
                <a:latin typeface="Times New Roman"/>
                <a:cs typeface="Times New Roman"/>
              </a:rPr>
              <a:t>to the </a:t>
            </a:r>
            <a:r>
              <a:rPr lang="en-US" sz="2000" spc="-3" dirty="0">
                <a:latin typeface="Times New Roman"/>
                <a:cs typeface="Times New Roman"/>
              </a:rPr>
              <a:t>project, e.g., portability,  </a:t>
            </a:r>
            <a:r>
              <a:rPr lang="en-US" sz="2000" spc="-6" dirty="0">
                <a:latin typeface="Times New Roman"/>
                <a:cs typeface="Times New Roman"/>
              </a:rPr>
              <a:t>efficiency, </a:t>
            </a:r>
            <a:r>
              <a:rPr lang="en-US" sz="2000" spc="-3" dirty="0">
                <a:latin typeface="Times New Roman"/>
                <a:cs typeface="Times New Roman"/>
              </a:rPr>
              <a:t>reusability, and </a:t>
            </a:r>
            <a:r>
              <a:rPr lang="en-US" sz="2000" spc="-6" dirty="0">
                <a:latin typeface="Times New Roman"/>
                <a:cs typeface="Times New Roman"/>
              </a:rPr>
              <a:t>flexibility. </a:t>
            </a:r>
            <a:r>
              <a:rPr lang="en-US" sz="2000" dirty="0">
                <a:latin typeface="Times New Roman"/>
                <a:cs typeface="Times New Roman"/>
              </a:rPr>
              <a:t>It </a:t>
            </a:r>
            <a:r>
              <a:rPr lang="en-US" sz="2000" spc="-16" dirty="0">
                <a:latin typeface="Times New Roman"/>
                <a:cs typeface="Times New Roman"/>
              </a:rPr>
              <a:t>is </a:t>
            </a:r>
            <a:r>
              <a:rPr lang="en-US" sz="2000" dirty="0">
                <a:latin typeface="Times New Roman"/>
                <a:cs typeface="Times New Roman"/>
              </a:rPr>
              <a:t>the </a:t>
            </a:r>
            <a:r>
              <a:rPr lang="en-US" sz="2000" spc="-3" dirty="0">
                <a:latin typeface="Times New Roman"/>
                <a:cs typeface="Times New Roman"/>
              </a:rPr>
              <a:t>collection </a:t>
            </a:r>
            <a:r>
              <a:rPr lang="en-US" sz="2000" spc="6" dirty="0">
                <a:latin typeface="Times New Roman"/>
                <a:cs typeface="Times New Roman"/>
              </a:rPr>
              <a:t>of </a:t>
            </a:r>
            <a:r>
              <a:rPr lang="en-US" sz="2000" spc="-3" dirty="0">
                <a:latin typeface="Times New Roman"/>
                <a:cs typeface="Times New Roman"/>
              </a:rPr>
              <a:t>activities and </a:t>
            </a:r>
            <a:r>
              <a:rPr lang="en-US" sz="2000" spc="-6" dirty="0">
                <a:latin typeface="Times New Roman"/>
                <a:cs typeface="Times New Roman"/>
              </a:rPr>
              <a:t>functions </a:t>
            </a:r>
            <a:r>
              <a:rPr lang="en-US" sz="2000" dirty="0">
                <a:latin typeface="Times New Roman"/>
                <a:cs typeface="Times New Roman"/>
              </a:rPr>
              <a:t>used  to</a:t>
            </a:r>
            <a:r>
              <a:rPr lang="en-US" sz="2000" spc="83" dirty="0">
                <a:latin typeface="Times New Roman"/>
                <a:cs typeface="Times New Roman"/>
              </a:rPr>
              <a:t> </a:t>
            </a:r>
            <a:r>
              <a:rPr lang="en-US" sz="2000" spc="-3" dirty="0">
                <a:latin typeface="Times New Roman"/>
                <a:cs typeface="Times New Roman"/>
              </a:rPr>
              <a:t>monitor</a:t>
            </a:r>
            <a:r>
              <a:rPr lang="en-US" sz="2000" spc="87" dirty="0">
                <a:latin typeface="Times New Roman"/>
                <a:cs typeface="Times New Roman"/>
              </a:rPr>
              <a:t> </a:t>
            </a:r>
            <a:r>
              <a:rPr lang="en-US" sz="2000" spc="-6" dirty="0">
                <a:latin typeface="Times New Roman"/>
                <a:cs typeface="Times New Roman"/>
              </a:rPr>
              <a:t>and</a:t>
            </a:r>
            <a:r>
              <a:rPr lang="en-US" sz="2000" spc="83" dirty="0">
                <a:latin typeface="Times New Roman"/>
                <a:cs typeface="Times New Roman"/>
              </a:rPr>
              <a:t> </a:t>
            </a:r>
            <a:r>
              <a:rPr lang="en-US" sz="2000" spc="-3" dirty="0">
                <a:latin typeface="Times New Roman"/>
                <a:cs typeface="Times New Roman"/>
              </a:rPr>
              <a:t>control</a:t>
            </a:r>
            <a:r>
              <a:rPr lang="en-US" sz="2000" spc="55" dirty="0">
                <a:latin typeface="Times New Roman"/>
                <a:cs typeface="Times New Roman"/>
              </a:rPr>
              <a:t> </a:t>
            </a:r>
            <a:r>
              <a:rPr lang="en-US" sz="2000" dirty="0">
                <a:latin typeface="Times New Roman"/>
                <a:cs typeface="Times New Roman"/>
              </a:rPr>
              <a:t>a</a:t>
            </a:r>
            <a:r>
              <a:rPr lang="en-US" sz="2000" spc="80" dirty="0">
                <a:latin typeface="Times New Roman"/>
                <a:cs typeface="Times New Roman"/>
              </a:rPr>
              <a:t> </a:t>
            </a:r>
            <a:r>
              <a:rPr lang="en-US" sz="2000" spc="-3" dirty="0">
                <a:latin typeface="Times New Roman"/>
                <a:cs typeface="Times New Roman"/>
              </a:rPr>
              <a:t>software</a:t>
            </a:r>
            <a:r>
              <a:rPr lang="en-US" sz="2000" spc="80" dirty="0">
                <a:latin typeface="Times New Roman"/>
                <a:cs typeface="Times New Roman"/>
              </a:rPr>
              <a:t> </a:t>
            </a:r>
            <a:r>
              <a:rPr lang="en-US" sz="2000" spc="-6" dirty="0">
                <a:latin typeface="Times New Roman"/>
                <a:cs typeface="Times New Roman"/>
              </a:rPr>
              <a:t>project</a:t>
            </a:r>
            <a:r>
              <a:rPr lang="en-US" sz="2000" spc="99" dirty="0">
                <a:latin typeface="Times New Roman"/>
                <a:cs typeface="Times New Roman"/>
              </a:rPr>
              <a:t> </a:t>
            </a:r>
            <a:r>
              <a:rPr lang="en-US" sz="2000" spc="-13" dirty="0">
                <a:latin typeface="Times New Roman"/>
                <a:cs typeface="Times New Roman"/>
              </a:rPr>
              <a:t>so</a:t>
            </a:r>
            <a:r>
              <a:rPr lang="en-US" sz="2000" spc="67" dirty="0">
                <a:latin typeface="Times New Roman"/>
                <a:cs typeface="Times New Roman"/>
              </a:rPr>
              <a:t> </a:t>
            </a:r>
            <a:r>
              <a:rPr lang="en-US" sz="2000" spc="-3" dirty="0">
                <a:latin typeface="Times New Roman"/>
                <a:cs typeface="Times New Roman"/>
              </a:rPr>
              <a:t>that</a:t>
            </a:r>
            <a:r>
              <a:rPr lang="en-US" sz="2000" spc="83" dirty="0">
                <a:latin typeface="Times New Roman"/>
                <a:cs typeface="Times New Roman"/>
              </a:rPr>
              <a:t> </a:t>
            </a:r>
            <a:r>
              <a:rPr lang="en-US" sz="2000" spc="-6" dirty="0">
                <a:latin typeface="Times New Roman"/>
                <a:cs typeface="Times New Roman"/>
              </a:rPr>
              <a:t>specific</a:t>
            </a:r>
            <a:r>
              <a:rPr lang="en-US" sz="2000" spc="80" dirty="0">
                <a:latin typeface="Times New Roman"/>
                <a:cs typeface="Times New Roman"/>
              </a:rPr>
              <a:t> </a:t>
            </a:r>
            <a:r>
              <a:rPr lang="en-US" sz="2000" spc="-3" dirty="0">
                <a:latin typeface="Times New Roman"/>
                <a:cs typeface="Times New Roman"/>
              </a:rPr>
              <a:t>objectives</a:t>
            </a:r>
            <a:r>
              <a:rPr lang="en-US" sz="2000" spc="77" dirty="0">
                <a:latin typeface="Times New Roman"/>
                <a:cs typeface="Times New Roman"/>
              </a:rPr>
              <a:t> </a:t>
            </a:r>
            <a:r>
              <a:rPr lang="en-US" sz="2000" dirty="0">
                <a:latin typeface="Times New Roman"/>
                <a:cs typeface="Times New Roman"/>
              </a:rPr>
              <a:t>are</a:t>
            </a:r>
            <a:r>
              <a:rPr lang="en-US" sz="2000" spc="80" dirty="0">
                <a:latin typeface="Times New Roman"/>
                <a:cs typeface="Times New Roman"/>
              </a:rPr>
              <a:t> </a:t>
            </a:r>
            <a:r>
              <a:rPr lang="en-US" sz="2000" spc="-3" dirty="0">
                <a:latin typeface="Times New Roman"/>
                <a:cs typeface="Times New Roman"/>
              </a:rPr>
              <a:t>achieved</a:t>
            </a:r>
            <a:r>
              <a:rPr lang="en-US" sz="2000" spc="83" dirty="0">
                <a:latin typeface="Times New Roman"/>
                <a:cs typeface="Times New Roman"/>
              </a:rPr>
              <a:t> </a:t>
            </a:r>
            <a:r>
              <a:rPr lang="en-US" sz="2000" spc="6" dirty="0">
                <a:latin typeface="Times New Roman"/>
                <a:cs typeface="Times New Roman"/>
              </a:rPr>
              <a:t>with </a:t>
            </a:r>
            <a:r>
              <a:rPr lang="en-US" sz="2000" dirty="0">
                <a:latin typeface="Times New Roman"/>
                <a:cs typeface="Times New Roman"/>
              </a:rPr>
              <a:t>the </a:t>
            </a:r>
            <a:r>
              <a:rPr lang="en-US" sz="2000" spc="-10" dirty="0">
                <a:latin typeface="Times New Roman"/>
                <a:cs typeface="Times New Roman"/>
              </a:rPr>
              <a:t>desired level </a:t>
            </a:r>
            <a:r>
              <a:rPr lang="en-US" sz="2000" spc="20" dirty="0">
                <a:latin typeface="Times New Roman"/>
                <a:cs typeface="Times New Roman"/>
              </a:rPr>
              <a:t>of </a:t>
            </a:r>
            <a:r>
              <a:rPr lang="en-US" sz="2000" spc="-5" dirty="0">
                <a:latin typeface="Times New Roman"/>
                <a:cs typeface="Times New Roman"/>
              </a:rPr>
              <a:t>confidence. </a:t>
            </a:r>
            <a:r>
              <a:rPr lang="en-US" sz="2000" spc="-10" dirty="0">
                <a:latin typeface="Times New Roman"/>
                <a:cs typeface="Times New Roman"/>
              </a:rPr>
              <a:t>It </a:t>
            </a:r>
            <a:r>
              <a:rPr lang="en-US" sz="2000" spc="-15" dirty="0">
                <a:latin typeface="Times New Roman"/>
                <a:cs typeface="Times New Roman"/>
              </a:rPr>
              <a:t>is </a:t>
            </a:r>
            <a:r>
              <a:rPr lang="en-US" sz="2000" spc="-5" dirty="0">
                <a:latin typeface="Times New Roman"/>
                <a:cs typeface="Times New Roman"/>
              </a:rPr>
              <a:t>not </a:t>
            </a:r>
            <a:r>
              <a:rPr lang="en-US" sz="2000" dirty="0">
                <a:latin typeface="Times New Roman"/>
                <a:cs typeface="Times New Roman"/>
              </a:rPr>
              <a:t>the </a:t>
            </a:r>
            <a:r>
              <a:rPr lang="en-US" sz="2000" spc="-15" dirty="0">
                <a:latin typeface="Times New Roman"/>
                <a:cs typeface="Times New Roman"/>
              </a:rPr>
              <a:t>sole </a:t>
            </a:r>
            <a:r>
              <a:rPr lang="en-US" sz="2000" spc="-5" dirty="0">
                <a:latin typeface="Times New Roman"/>
                <a:cs typeface="Times New Roman"/>
              </a:rPr>
              <a:t>responsibility </a:t>
            </a:r>
            <a:r>
              <a:rPr lang="en-US" sz="2000" spc="20" dirty="0">
                <a:latin typeface="Times New Roman"/>
                <a:cs typeface="Times New Roman"/>
              </a:rPr>
              <a:t>of </a:t>
            </a:r>
            <a:r>
              <a:rPr lang="en-US" sz="2000" dirty="0">
                <a:latin typeface="Times New Roman"/>
                <a:cs typeface="Times New Roman"/>
              </a:rPr>
              <a:t>the </a:t>
            </a:r>
            <a:r>
              <a:rPr lang="en-US" sz="2000" spc="-5" dirty="0">
                <a:latin typeface="Times New Roman"/>
                <a:cs typeface="Times New Roman"/>
              </a:rPr>
              <a:t>software quality  assurance </a:t>
            </a:r>
            <a:r>
              <a:rPr lang="en-US" sz="2000" spc="5" dirty="0">
                <a:latin typeface="Times New Roman"/>
                <a:cs typeface="Times New Roman"/>
              </a:rPr>
              <a:t>group </a:t>
            </a:r>
            <a:r>
              <a:rPr lang="en-US" sz="2000" spc="-10" dirty="0">
                <a:latin typeface="Times New Roman"/>
                <a:cs typeface="Times New Roman"/>
              </a:rPr>
              <a:t>but </a:t>
            </a:r>
            <a:r>
              <a:rPr lang="en-US" sz="2000" spc="-15" dirty="0">
                <a:latin typeface="Times New Roman"/>
                <a:cs typeface="Times New Roman"/>
              </a:rPr>
              <a:t>is </a:t>
            </a:r>
            <a:r>
              <a:rPr lang="en-US" sz="2000" spc="-5" dirty="0">
                <a:latin typeface="Times New Roman"/>
                <a:cs typeface="Times New Roman"/>
              </a:rPr>
              <a:t>determined </a:t>
            </a:r>
            <a:r>
              <a:rPr lang="en-US" sz="2000" dirty="0">
                <a:latin typeface="Times New Roman"/>
                <a:cs typeface="Times New Roman"/>
              </a:rPr>
              <a:t>by the </a:t>
            </a:r>
            <a:r>
              <a:rPr lang="en-US" sz="2000" spc="-5" dirty="0">
                <a:latin typeface="Times New Roman"/>
                <a:cs typeface="Times New Roman"/>
              </a:rPr>
              <a:t>consensus </a:t>
            </a:r>
            <a:r>
              <a:rPr lang="en-US" sz="2000" spc="10" dirty="0">
                <a:latin typeface="Times New Roman"/>
                <a:cs typeface="Times New Roman"/>
              </a:rPr>
              <a:t>of </a:t>
            </a:r>
            <a:r>
              <a:rPr lang="en-US" sz="2000" dirty="0">
                <a:latin typeface="Times New Roman"/>
                <a:cs typeface="Times New Roman"/>
              </a:rPr>
              <a:t>the </a:t>
            </a:r>
            <a:r>
              <a:rPr lang="en-US" sz="2000" spc="-5" dirty="0">
                <a:latin typeface="Times New Roman"/>
                <a:cs typeface="Times New Roman"/>
              </a:rPr>
              <a:t>project manager, project  leader, project </a:t>
            </a:r>
            <a:r>
              <a:rPr lang="en-US" sz="2000" spc="-10" dirty="0">
                <a:latin typeface="Times New Roman"/>
                <a:cs typeface="Times New Roman"/>
              </a:rPr>
              <a:t>personnel, </a:t>
            </a:r>
            <a:r>
              <a:rPr lang="en-US" sz="2000" spc="-5" dirty="0">
                <a:latin typeface="Times New Roman"/>
                <a:cs typeface="Times New Roman"/>
              </a:rPr>
              <a:t>and</a:t>
            </a:r>
            <a:r>
              <a:rPr lang="en-US" sz="2000" spc="25" dirty="0">
                <a:latin typeface="Times New Roman"/>
                <a:cs typeface="Times New Roman"/>
              </a:rPr>
              <a:t> </a:t>
            </a:r>
            <a:r>
              <a:rPr lang="en-US" sz="2000" spc="-5" dirty="0">
                <a:latin typeface="Times New Roman"/>
                <a:cs typeface="Times New Roman"/>
              </a:rPr>
              <a:t>users.</a:t>
            </a:r>
            <a:endParaRPr lang="en-US" sz="2000" dirty="0">
              <a:latin typeface="Times New Roman"/>
              <a:cs typeface="Times New Roman"/>
            </a:endParaRPr>
          </a:p>
          <a:p>
            <a:pPr marL="100965" marR="186055" indent="280670" algn="just" rtl="0">
              <a:lnSpc>
                <a:spcPct val="143800"/>
              </a:lnSpc>
              <a:spcBef>
                <a:spcPts val="15"/>
              </a:spcBef>
            </a:pPr>
            <a:r>
              <a:rPr lang="en-US" sz="2000" spc="-5" dirty="0">
                <a:latin typeface="Times New Roman"/>
                <a:cs typeface="Times New Roman"/>
              </a:rPr>
              <a:t>A formal definition </a:t>
            </a:r>
            <a:r>
              <a:rPr lang="en-US" sz="2000" spc="20" dirty="0">
                <a:latin typeface="Times New Roman"/>
                <a:cs typeface="Times New Roman"/>
              </a:rPr>
              <a:t>of </a:t>
            </a:r>
            <a:r>
              <a:rPr lang="en-US" sz="2000" spc="-5" dirty="0">
                <a:latin typeface="Times New Roman"/>
                <a:cs typeface="Times New Roman"/>
              </a:rPr>
              <a:t>software quality assurance </a:t>
            </a:r>
            <a:r>
              <a:rPr lang="en-US" sz="2000" dirty="0">
                <a:latin typeface="Times New Roman"/>
                <a:cs typeface="Times New Roman"/>
              </a:rPr>
              <a:t>is </a:t>
            </a:r>
            <a:r>
              <a:rPr lang="en-US" sz="2000" spc="-5" dirty="0">
                <a:latin typeface="Times New Roman"/>
                <a:cs typeface="Times New Roman"/>
              </a:rPr>
              <a:t>that </a:t>
            </a:r>
            <a:r>
              <a:rPr lang="en-US" sz="2000" spc="-25" dirty="0">
                <a:latin typeface="Times New Roman"/>
                <a:cs typeface="Times New Roman"/>
              </a:rPr>
              <a:t>is </a:t>
            </a:r>
            <a:r>
              <a:rPr lang="en-US" sz="2000" spc="-5" dirty="0">
                <a:latin typeface="Times New Roman"/>
                <a:cs typeface="Times New Roman"/>
              </a:rPr>
              <a:t>‘the systematic activities  </a:t>
            </a:r>
            <a:r>
              <a:rPr lang="en-US" sz="2000" spc="-10" dirty="0">
                <a:latin typeface="Times New Roman"/>
                <a:cs typeface="Times New Roman"/>
              </a:rPr>
              <a:t>providing </a:t>
            </a:r>
            <a:r>
              <a:rPr lang="en-US" sz="2000" spc="-5" dirty="0">
                <a:latin typeface="Times New Roman"/>
                <a:cs typeface="Times New Roman"/>
              </a:rPr>
              <a:t>evidence </a:t>
            </a:r>
            <a:r>
              <a:rPr lang="en-US" sz="2000" spc="10" dirty="0">
                <a:latin typeface="Times New Roman"/>
                <a:cs typeface="Times New Roman"/>
              </a:rPr>
              <a:t>of </a:t>
            </a:r>
            <a:r>
              <a:rPr lang="en-US" sz="2000" dirty="0">
                <a:latin typeface="Times New Roman"/>
                <a:cs typeface="Times New Roman"/>
              </a:rPr>
              <a:t>the </a:t>
            </a:r>
            <a:r>
              <a:rPr lang="en-US" sz="2000" spc="-10" dirty="0">
                <a:latin typeface="Times New Roman"/>
                <a:cs typeface="Times New Roman"/>
              </a:rPr>
              <a:t>fitness for </a:t>
            </a:r>
            <a:r>
              <a:rPr lang="en-US" sz="2000" spc="-5" dirty="0">
                <a:latin typeface="Times New Roman"/>
                <a:cs typeface="Times New Roman"/>
              </a:rPr>
              <a:t>use </a:t>
            </a:r>
            <a:r>
              <a:rPr lang="en-US" sz="2000" spc="10" dirty="0">
                <a:latin typeface="Times New Roman"/>
                <a:cs typeface="Times New Roman"/>
              </a:rPr>
              <a:t>of </a:t>
            </a:r>
            <a:r>
              <a:rPr lang="en-US" sz="2000" dirty="0">
                <a:latin typeface="Times New Roman"/>
                <a:cs typeface="Times New Roman"/>
              </a:rPr>
              <a:t>the </a:t>
            </a:r>
            <a:r>
              <a:rPr lang="en-US" sz="2000" spc="-5" dirty="0">
                <a:latin typeface="Times New Roman"/>
                <a:cs typeface="Times New Roman"/>
              </a:rPr>
              <a:t>total </a:t>
            </a:r>
            <a:r>
              <a:rPr lang="en-US" sz="2000" dirty="0">
                <a:latin typeface="Times New Roman"/>
                <a:cs typeface="Times New Roman"/>
              </a:rPr>
              <a:t>software product.” </a:t>
            </a:r>
            <a:r>
              <a:rPr lang="en-US" sz="2000" spc="-5" dirty="0">
                <a:latin typeface="Times New Roman"/>
                <a:cs typeface="Times New Roman"/>
              </a:rPr>
              <a:t>Software </a:t>
            </a:r>
            <a:r>
              <a:rPr lang="en-US" sz="2000" dirty="0">
                <a:latin typeface="Times New Roman"/>
                <a:cs typeface="Times New Roman"/>
              </a:rPr>
              <a:t>quality  </a:t>
            </a:r>
            <a:r>
              <a:rPr lang="en-US" sz="2000" spc="-5" dirty="0">
                <a:latin typeface="Times New Roman"/>
                <a:cs typeface="Times New Roman"/>
              </a:rPr>
              <a:t>assurance </a:t>
            </a:r>
            <a:r>
              <a:rPr lang="en-US" sz="2000" spc="-15" dirty="0">
                <a:latin typeface="Times New Roman"/>
                <a:cs typeface="Times New Roman"/>
              </a:rPr>
              <a:t>is </a:t>
            </a:r>
            <a:r>
              <a:rPr lang="en-US" sz="2000" spc="-5" dirty="0">
                <a:latin typeface="Times New Roman"/>
                <a:cs typeface="Times New Roman"/>
              </a:rPr>
              <a:t>achieved </a:t>
            </a:r>
            <a:r>
              <a:rPr lang="en-US" sz="2000" dirty="0">
                <a:latin typeface="Times New Roman"/>
                <a:cs typeface="Times New Roman"/>
              </a:rPr>
              <a:t>through the </a:t>
            </a:r>
            <a:r>
              <a:rPr lang="en-US" sz="2000" spc="-5" dirty="0">
                <a:latin typeface="Times New Roman"/>
                <a:cs typeface="Times New Roman"/>
              </a:rPr>
              <a:t>use </a:t>
            </a:r>
            <a:r>
              <a:rPr lang="en-US" sz="2000" spc="20" dirty="0">
                <a:latin typeface="Times New Roman"/>
                <a:cs typeface="Times New Roman"/>
              </a:rPr>
              <a:t>of </a:t>
            </a:r>
            <a:r>
              <a:rPr lang="en-US" sz="2000" spc="-5" dirty="0">
                <a:latin typeface="Times New Roman"/>
                <a:cs typeface="Times New Roman"/>
              </a:rPr>
              <a:t>established </a:t>
            </a:r>
            <a:r>
              <a:rPr lang="en-US" sz="2000" spc="-5" dirty="0" err="1">
                <a:latin typeface="Times New Roman"/>
                <a:cs typeface="Times New Roman"/>
              </a:rPr>
              <a:t>guidelines.for</a:t>
            </a:r>
            <a:r>
              <a:rPr lang="en-US" sz="2000" spc="-5" dirty="0">
                <a:latin typeface="Times New Roman"/>
                <a:cs typeface="Times New Roman"/>
              </a:rPr>
              <a:t> quality </a:t>
            </a:r>
            <a:r>
              <a:rPr lang="en-US" sz="2000" dirty="0">
                <a:latin typeface="Times New Roman"/>
                <a:cs typeface="Times New Roman"/>
              </a:rPr>
              <a:t>control </a:t>
            </a:r>
            <a:r>
              <a:rPr lang="en-US" sz="2000" spc="10" dirty="0">
                <a:latin typeface="Times New Roman"/>
                <a:cs typeface="Times New Roman"/>
              </a:rPr>
              <a:t>to  </a:t>
            </a:r>
            <a:r>
              <a:rPr lang="en-US" sz="2000" spc="-5" dirty="0">
                <a:latin typeface="Times New Roman"/>
                <a:cs typeface="Times New Roman"/>
              </a:rPr>
              <a:t>ensure </a:t>
            </a:r>
            <a:r>
              <a:rPr lang="en-US" sz="2000" dirty="0">
                <a:latin typeface="Times New Roman"/>
                <a:cs typeface="Times New Roman"/>
              </a:rPr>
              <a:t>the Integrity </a:t>
            </a:r>
            <a:r>
              <a:rPr lang="en-US" sz="2000" spc="-5" dirty="0">
                <a:latin typeface="Times New Roman"/>
                <a:cs typeface="Times New Roman"/>
              </a:rPr>
              <a:t>and prolonged </a:t>
            </a:r>
            <a:r>
              <a:rPr lang="en-US" sz="2000" spc="-10" dirty="0">
                <a:latin typeface="Times New Roman"/>
                <a:cs typeface="Times New Roman"/>
              </a:rPr>
              <a:t>life </a:t>
            </a:r>
            <a:r>
              <a:rPr lang="en-US" sz="2000" spc="10" dirty="0">
                <a:latin typeface="Times New Roman"/>
                <a:cs typeface="Times New Roman"/>
              </a:rPr>
              <a:t>of </a:t>
            </a:r>
            <a:r>
              <a:rPr lang="en-US" sz="2000" spc="-5" dirty="0">
                <a:latin typeface="Times New Roman"/>
                <a:cs typeface="Times New Roman"/>
              </a:rPr>
              <a:t>software. </a:t>
            </a:r>
            <a:r>
              <a:rPr lang="en-US" sz="2000" spc="-10" dirty="0">
                <a:latin typeface="Times New Roman"/>
                <a:cs typeface="Times New Roman"/>
              </a:rPr>
              <a:t>The </a:t>
            </a:r>
            <a:r>
              <a:rPr lang="en-US" sz="2000" spc="-5" dirty="0">
                <a:latin typeface="Times New Roman"/>
                <a:cs typeface="Times New Roman"/>
              </a:rPr>
              <a:t>relationships </a:t>
            </a:r>
            <a:r>
              <a:rPr lang="en-US" sz="2000" dirty="0">
                <a:latin typeface="Times New Roman"/>
                <a:cs typeface="Times New Roman"/>
              </a:rPr>
              <a:t>between </a:t>
            </a:r>
            <a:r>
              <a:rPr lang="en-US" sz="2000" spc="5" dirty="0">
                <a:latin typeface="Times New Roman"/>
                <a:cs typeface="Times New Roman"/>
              </a:rPr>
              <a:t>quality  </a:t>
            </a:r>
            <a:r>
              <a:rPr lang="en-US" sz="2000" spc="-5" dirty="0">
                <a:latin typeface="Times New Roman"/>
                <a:cs typeface="Times New Roman"/>
              </a:rPr>
              <a:t>assurance, quality control, </a:t>
            </a:r>
            <a:r>
              <a:rPr lang="en-US" sz="2000" dirty="0">
                <a:latin typeface="Times New Roman"/>
                <a:cs typeface="Times New Roman"/>
              </a:rPr>
              <a:t>the </a:t>
            </a:r>
            <a:r>
              <a:rPr lang="en-US" sz="2000" spc="-5" dirty="0">
                <a:latin typeface="Times New Roman"/>
                <a:cs typeface="Times New Roman"/>
              </a:rPr>
              <a:t>auditing </a:t>
            </a:r>
            <a:r>
              <a:rPr lang="en-US" sz="2000" spc="-10" dirty="0">
                <a:latin typeface="Times New Roman"/>
                <a:cs typeface="Times New Roman"/>
              </a:rPr>
              <a:t>function, and </a:t>
            </a:r>
            <a:r>
              <a:rPr lang="en-US" sz="2000" dirty="0">
                <a:latin typeface="Times New Roman"/>
                <a:cs typeface="Times New Roman"/>
              </a:rPr>
              <a:t>software </a:t>
            </a:r>
            <a:r>
              <a:rPr lang="en-US" sz="2000" spc="-10" dirty="0">
                <a:latin typeface="Times New Roman"/>
                <a:cs typeface="Times New Roman"/>
              </a:rPr>
              <a:t>testing </a:t>
            </a:r>
            <a:r>
              <a:rPr lang="en-US" sz="2000" dirty="0">
                <a:latin typeface="Times New Roman"/>
                <a:cs typeface="Times New Roman"/>
              </a:rPr>
              <a:t>are often</a:t>
            </a:r>
            <a:r>
              <a:rPr lang="en-US" sz="2000" spc="125" dirty="0">
                <a:latin typeface="Times New Roman"/>
                <a:cs typeface="Times New Roman"/>
              </a:rPr>
              <a:t> </a:t>
            </a:r>
            <a:r>
              <a:rPr lang="en-US" sz="2000" spc="-5" dirty="0">
                <a:latin typeface="Times New Roman"/>
                <a:cs typeface="Times New Roman"/>
              </a:rPr>
              <a:t>confused.</a:t>
            </a:r>
            <a:endParaRPr lang="en-US" sz="2000" dirty="0">
              <a:latin typeface="Times New Roman"/>
              <a:cs typeface="Times New Roman"/>
            </a:endParaRPr>
          </a:p>
          <a:p>
            <a:pPr marL="64749" marR="176736" indent="179994" algn="just" rtl="0">
              <a:lnSpc>
                <a:spcPct val="143900"/>
              </a:lnSpc>
            </a:pPr>
            <a:endParaRPr lang="en-US" sz="2000" dirty="0">
              <a:latin typeface="Times New Roman"/>
              <a:cs typeface="Times New Roman"/>
            </a:endParaRPr>
          </a:p>
          <a:p>
            <a:pPr algn="l" rtl="0"/>
            <a:endParaRPr lang="ar-SD" sz="2000" dirty="0"/>
          </a:p>
        </p:txBody>
      </p:sp>
    </p:spTree>
    <p:extLst>
      <p:ext uri="{BB962C8B-B14F-4D97-AF65-F5344CB8AC3E}">
        <p14:creationId xmlns:p14="http://schemas.microsoft.com/office/powerpoint/2010/main" val="2061129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2951" y="172312"/>
            <a:ext cx="10772566" cy="6289158"/>
          </a:xfrm>
          <a:prstGeom prst="rect">
            <a:avLst/>
          </a:prstGeom>
        </p:spPr>
        <p:txBody>
          <a:bodyPr vert="horz" wrap="square" lIns="0" tIns="0" rIns="0" bIns="0" rtlCol="0">
            <a:spAutoFit/>
          </a:bodyPr>
          <a:lstStyle/>
          <a:p>
            <a:pPr>
              <a:lnSpc>
                <a:spcPct val="100000"/>
              </a:lnSpc>
            </a:pPr>
            <a:endParaRPr dirty="0">
              <a:latin typeface="Times New Roman"/>
              <a:cs typeface="Times New Roman"/>
            </a:endParaRPr>
          </a:p>
          <a:p>
            <a:pPr marL="8145"/>
            <a:r>
              <a:rPr b="1" dirty="0">
                <a:latin typeface="Times New Roman"/>
                <a:cs typeface="Times New Roman"/>
              </a:rPr>
              <a:t>SQAActivities</a:t>
            </a:r>
            <a:endParaRPr dirty="0">
              <a:latin typeface="Times New Roman"/>
              <a:cs typeface="Times New Roman"/>
            </a:endParaRPr>
          </a:p>
          <a:p>
            <a:pPr>
              <a:spcBef>
                <a:spcPts val="13"/>
              </a:spcBef>
            </a:pPr>
            <a:endParaRPr sz="2000" dirty="0">
              <a:latin typeface="Times New Roman"/>
              <a:cs typeface="Times New Roman"/>
            </a:endParaRPr>
          </a:p>
          <a:p>
            <a:pPr marL="64749" marR="39500" indent="179994" algn="just">
              <a:lnSpc>
                <a:spcPct val="143400"/>
              </a:lnSpc>
            </a:pPr>
            <a:r>
              <a:rPr spc="-3" dirty="0">
                <a:latin typeface="Times New Roman"/>
                <a:cs typeface="Times New Roman"/>
              </a:rPr>
              <a:t>SQA </a:t>
            </a:r>
            <a:r>
              <a:rPr spc="-10" dirty="0">
                <a:latin typeface="Times New Roman"/>
                <a:cs typeface="Times New Roman"/>
              </a:rPr>
              <a:t>is </a:t>
            </a:r>
            <a:r>
              <a:rPr spc="-3" dirty="0">
                <a:latin typeface="Times New Roman"/>
                <a:cs typeface="Times New Roman"/>
              </a:rPr>
              <a:t>ensured </a:t>
            </a:r>
            <a:r>
              <a:rPr dirty="0">
                <a:latin typeface="Times New Roman"/>
                <a:cs typeface="Times New Roman"/>
              </a:rPr>
              <a:t>through a </a:t>
            </a:r>
            <a:r>
              <a:rPr spc="-3" dirty="0">
                <a:latin typeface="Times New Roman"/>
                <a:cs typeface="Times New Roman"/>
              </a:rPr>
              <a:t>Quality Management </a:t>
            </a:r>
            <a:r>
              <a:rPr dirty="0">
                <a:latin typeface="Times New Roman"/>
                <a:cs typeface="Times New Roman"/>
              </a:rPr>
              <a:t>System </a:t>
            </a:r>
            <a:r>
              <a:rPr spc="-3" dirty="0">
                <a:latin typeface="Times New Roman"/>
                <a:cs typeface="Times New Roman"/>
              </a:rPr>
              <a:t>(QMS), </a:t>
            </a:r>
            <a:r>
              <a:rPr spc="-6" dirty="0">
                <a:latin typeface="Times New Roman"/>
                <a:cs typeface="Times New Roman"/>
              </a:rPr>
              <a:t>QMS </a:t>
            </a:r>
            <a:r>
              <a:rPr spc="-10" dirty="0">
                <a:latin typeface="Times New Roman"/>
                <a:cs typeface="Times New Roman"/>
              </a:rPr>
              <a:t>is made </a:t>
            </a:r>
            <a:r>
              <a:rPr spc="6" dirty="0">
                <a:latin typeface="Times New Roman"/>
                <a:cs typeface="Times New Roman"/>
              </a:rPr>
              <a:t>of  </a:t>
            </a:r>
            <a:r>
              <a:rPr spc="-3" dirty="0">
                <a:latin typeface="Times New Roman"/>
                <a:cs typeface="Times New Roman"/>
              </a:rPr>
              <a:t>several components; </a:t>
            </a:r>
            <a:r>
              <a:rPr spc="-16" dirty="0">
                <a:latin typeface="Times New Roman"/>
                <a:cs typeface="Times New Roman"/>
              </a:rPr>
              <a:t>it </a:t>
            </a:r>
            <a:r>
              <a:rPr spc="-10" dirty="0">
                <a:latin typeface="Times New Roman"/>
                <a:cs typeface="Times New Roman"/>
              </a:rPr>
              <a:t>is </a:t>
            </a:r>
            <a:r>
              <a:rPr dirty="0">
                <a:latin typeface="Times New Roman"/>
                <a:cs typeface="Times New Roman"/>
              </a:rPr>
              <a:t>a system </a:t>
            </a:r>
            <a:r>
              <a:rPr spc="-3" dirty="0">
                <a:latin typeface="Times New Roman"/>
                <a:cs typeface="Times New Roman"/>
              </a:rPr>
              <a:t>integrated </a:t>
            </a:r>
            <a:r>
              <a:rPr spc="-10" dirty="0">
                <a:latin typeface="Times New Roman"/>
                <a:cs typeface="Times New Roman"/>
              </a:rPr>
              <a:t>in </a:t>
            </a:r>
            <a:r>
              <a:rPr dirty="0">
                <a:latin typeface="Times New Roman"/>
                <a:cs typeface="Times New Roman"/>
              </a:rPr>
              <a:t>the bigger system </a:t>
            </a:r>
            <a:r>
              <a:rPr spc="13" dirty="0">
                <a:latin typeface="Times New Roman"/>
                <a:cs typeface="Times New Roman"/>
              </a:rPr>
              <a:t>of </a:t>
            </a:r>
            <a:r>
              <a:rPr dirty="0">
                <a:latin typeface="Times New Roman"/>
                <a:cs typeface="Times New Roman"/>
              </a:rPr>
              <a:t>software  </a:t>
            </a:r>
            <a:r>
              <a:rPr spc="-3" dirty="0">
                <a:latin typeface="Times New Roman"/>
                <a:cs typeface="Times New Roman"/>
              </a:rPr>
              <a:t>development, </a:t>
            </a:r>
            <a:r>
              <a:rPr spc="-6" dirty="0">
                <a:latin typeface="Times New Roman"/>
                <a:cs typeface="Times New Roman"/>
              </a:rPr>
              <a:t>which </a:t>
            </a:r>
            <a:r>
              <a:rPr spc="-3" dirty="0">
                <a:latin typeface="Times New Roman"/>
                <a:cs typeface="Times New Roman"/>
              </a:rPr>
              <a:t>comprises project, process </a:t>
            </a:r>
            <a:r>
              <a:rPr spc="-6" dirty="0">
                <a:latin typeface="Times New Roman"/>
                <a:cs typeface="Times New Roman"/>
              </a:rPr>
              <a:t>and </a:t>
            </a:r>
            <a:r>
              <a:rPr spc="-3" dirty="0">
                <a:latin typeface="Times New Roman"/>
                <a:cs typeface="Times New Roman"/>
              </a:rPr>
              <a:t>product </a:t>
            </a:r>
            <a:r>
              <a:rPr spc="-6" dirty="0">
                <a:latin typeface="Times New Roman"/>
                <a:cs typeface="Times New Roman"/>
              </a:rPr>
              <a:t>management</a:t>
            </a:r>
            <a:r>
              <a:rPr spc="138" dirty="0">
                <a:latin typeface="Times New Roman"/>
                <a:cs typeface="Times New Roman"/>
              </a:rPr>
              <a:t> </a:t>
            </a:r>
            <a:r>
              <a:rPr spc="-6" dirty="0">
                <a:latin typeface="Times New Roman"/>
                <a:cs typeface="Times New Roman"/>
              </a:rPr>
              <a:t>systems.</a:t>
            </a:r>
            <a:endParaRPr dirty="0">
              <a:latin typeface="Times New Roman"/>
              <a:cs typeface="Times New Roman"/>
            </a:endParaRPr>
          </a:p>
          <a:p>
            <a:pPr>
              <a:spcBef>
                <a:spcPts val="6"/>
              </a:spcBef>
            </a:pPr>
            <a:endParaRPr sz="2400" dirty="0">
              <a:latin typeface="Times New Roman"/>
              <a:cs typeface="Times New Roman"/>
            </a:endParaRPr>
          </a:p>
          <a:p>
            <a:pPr marL="64749" marR="43166" indent="179994" algn="just">
              <a:lnSpc>
                <a:spcPct val="143300"/>
              </a:lnSpc>
            </a:pPr>
            <a:r>
              <a:rPr spc="-6" dirty="0">
                <a:latin typeface="Times New Roman"/>
                <a:cs typeface="Times New Roman"/>
              </a:rPr>
              <a:t>The </a:t>
            </a:r>
            <a:r>
              <a:rPr dirty="0">
                <a:latin typeface="Times New Roman"/>
                <a:cs typeface="Times New Roman"/>
              </a:rPr>
              <a:t>Software </a:t>
            </a:r>
            <a:r>
              <a:rPr spc="-3" dirty="0">
                <a:latin typeface="Times New Roman"/>
                <a:cs typeface="Times New Roman"/>
              </a:rPr>
              <a:t>Engineering </a:t>
            </a:r>
            <a:r>
              <a:rPr dirty="0">
                <a:latin typeface="Times New Roman"/>
                <a:cs typeface="Times New Roman"/>
              </a:rPr>
              <a:t>Institute </a:t>
            </a:r>
            <a:r>
              <a:rPr spc="-6" dirty="0">
                <a:latin typeface="Times New Roman"/>
                <a:cs typeface="Times New Roman"/>
              </a:rPr>
              <a:t>(SEI) </a:t>
            </a:r>
            <a:r>
              <a:rPr spc="-3" dirty="0">
                <a:latin typeface="Times New Roman"/>
                <a:cs typeface="Times New Roman"/>
              </a:rPr>
              <a:t>recommends </a:t>
            </a:r>
            <a:r>
              <a:rPr dirty="0">
                <a:latin typeface="Times New Roman"/>
                <a:cs typeface="Times New Roman"/>
              </a:rPr>
              <a:t>a </a:t>
            </a:r>
            <a:r>
              <a:rPr spc="-6" dirty="0">
                <a:latin typeface="Times New Roman"/>
                <a:cs typeface="Times New Roman"/>
              </a:rPr>
              <a:t>set </a:t>
            </a:r>
            <a:r>
              <a:rPr spc="6" dirty="0">
                <a:latin typeface="Times New Roman"/>
                <a:cs typeface="Times New Roman"/>
              </a:rPr>
              <a:t>of </a:t>
            </a:r>
            <a:r>
              <a:rPr spc="-3" dirty="0">
                <a:latin typeface="Times New Roman"/>
                <a:cs typeface="Times New Roman"/>
              </a:rPr>
              <a:t>activities, </a:t>
            </a:r>
            <a:r>
              <a:rPr spc="-6" dirty="0">
                <a:latin typeface="Times New Roman"/>
                <a:cs typeface="Times New Roman"/>
              </a:rPr>
              <a:t>which, </a:t>
            </a:r>
            <a:r>
              <a:rPr dirty="0">
                <a:latin typeface="Times New Roman"/>
                <a:cs typeface="Times New Roman"/>
              </a:rPr>
              <a:t>when  </a:t>
            </a:r>
            <a:r>
              <a:rPr spc="-3" dirty="0">
                <a:latin typeface="Times New Roman"/>
                <a:cs typeface="Times New Roman"/>
              </a:rPr>
              <a:t>implemented </a:t>
            </a:r>
            <a:r>
              <a:rPr spc="-6" dirty="0">
                <a:latin typeface="Times New Roman"/>
                <a:cs typeface="Times New Roman"/>
              </a:rPr>
              <a:t>effectively, </a:t>
            </a:r>
            <a:r>
              <a:rPr spc="-3" dirty="0">
                <a:latin typeface="Times New Roman"/>
                <a:cs typeface="Times New Roman"/>
              </a:rPr>
              <a:t>assures </a:t>
            </a:r>
            <a:r>
              <a:rPr dirty="0">
                <a:latin typeface="Times New Roman"/>
                <a:cs typeface="Times New Roman"/>
              </a:rPr>
              <a:t>the </a:t>
            </a:r>
            <a:r>
              <a:rPr spc="-6" dirty="0">
                <a:latin typeface="Times New Roman"/>
                <a:cs typeface="Times New Roman"/>
              </a:rPr>
              <a:t>designed </a:t>
            </a:r>
            <a:r>
              <a:rPr spc="-3" dirty="0">
                <a:latin typeface="Times New Roman"/>
                <a:cs typeface="Times New Roman"/>
              </a:rPr>
              <a:t>quality. These activities</a:t>
            </a:r>
            <a:r>
              <a:rPr spc="151" dirty="0">
                <a:latin typeface="Times New Roman"/>
                <a:cs typeface="Times New Roman"/>
              </a:rPr>
              <a:t> </a:t>
            </a:r>
            <a:r>
              <a:rPr spc="-3" dirty="0">
                <a:latin typeface="Times New Roman"/>
                <a:cs typeface="Times New Roman"/>
              </a:rPr>
              <a:t>include:</a:t>
            </a:r>
            <a:endParaRPr dirty="0">
              <a:latin typeface="Times New Roman"/>
              <a:cs typeface="Times New Roman"/>
            </a:endParaRPr>
          </a:p>
          <a:p>
            <a:pPr marL="131127" indent="-66378" algn="just">
              <a:spcBef>
                <a:spcPts val="398"/>
              </a:spcBef>
              <a:buChar char="•"/>
              <a:tabLst>
                <a:tab pos="131533" algn="l"/>
              </a:tabLst>
            </a:pPr>
            <a:r>
              <a:rPr sz="2000" spc="-3" dirty="0">
                <a:latin typeface="Times New Roman"/>
                <a:cs typeface="Times New Roman"/>
              </a:rPr>
              <a:t>Quality assurance</a:t>
            </a:r>
            <a:r>
              <a:rPr sz="2000" spc="-10" dirty="0">
                <a:latin typeface="Times New Roman"/>
                <a:cs typeface="Times New Roman"/>
              </a:rPr>
              <a:t> </a:t>
            </a:r>
            <a:r>
              <a:rPr sz="2000" spc="-3" dirty="0">
                <a:latin typeface="Times New Roman"/>
                <a:cs typeface="Times New Roman"/>
              </a:rPr>
              <a:t>planning</a:t>
            </a:r>
            <a:endParaRPr sz="2000" dirty="0">
              <a:latin typeface="Times New Roman"/>
              <a:cs typeface="Times New Roman"/>
            </a:endParaRPr>
          </a:p>
          <a:p>
            <a:pPr marL="131127" indent="-66378" algn="just">
              <a:spcBef>
                <a:spcPts val="529"/>
              </a:spcBef>
              <a:buChar char="•"/>
              <a:tabLst>
                <a:tab pos="131533" algn="l"/>
              </a:tabLst>
            </a:pPr>
            <a:r>
              <a:rPr sz="2000" spc="-3" dirty="0">
                <a:latin typeface="Times New Roman"/>
                <a:cs typeface="Times New Roman"/>
              </a:rPr>
              <a:t>Data gathering on key </a:t>
            </a:r>
            <a:r>
              <a:rPr sz="2000" dirty="0">
                <a:latin typeface="Times New Roman"/>
                <a:cs typeface="Times New Roman"/>
              </a:rPr>
              <a:t>quality defining</a:t>
            </a:r>
            <a:r>
              <a:rPr sz="2000" spc="-67" dirty="0">
                <a:latin typeface="Times New Roman"/>
                <a:cs typeface="Times New Roman"/>
              </a:rPr>
              <a:t> </a:t>
            </a:r>
            <a:r>
              <a:rPr sz="2000" dirty="0">
                <a:latin typeface="Times New Roman"/>
                <a:cs typeface="Times New Roman"/>
              </a:rPr>
              <a:t>parameters</a:t>
            </a:r>
          </a:p>
          <a:p>
            <a:pPr marL="131127" indent="-66378" algn="just">
              <a:spcBef>
                <a:spcPts val="529"/>
              </a:spcBef>
              <a:buChar char="•"/>
              <a:tabLst>
                <a:tab pos="131533" algn="l"/>
              </a:tabLst>
            </a:pPr>
            <a:r>
              <a:rPr sz="2000" spc="-3" dirty="0">
                <a:latin typeface="Times New Roman"/>
                <a:cs typeface="Times New Roman"/>
              </a:rPr>
              <a:t>Data analysis and</a:t>
            </a:r>
            <a:r>
              <a:rPr sz="2000" spc="-35" dirty="0">
                <a:latin typeface="Times New Roman"/>
                <a:cs typeface="Times New Roman"/>
              </a:rPr>
              <a:t> </a:t>
            </a:r>
            <a:r>
              <a:rPr sz="2000" dirty="0">
                <a:latin typeface="Times New Roman"/>
                <a:cs typeface="Times New Roman"/>
              </a:rPr>
              <a:t>reporting</a:t>
            </a:r>
          </a:p>
          <a:p>
            <a:pPr marL="131127" indent="-66378" algn="just">
              <a:spcBef>
                <a:spcPts val="548"/>
              </a:spcBef>
              <a:buChar char="•"/>
              <a:tabLst>
                <a:tab pos="131533" algn="l"/>
              </a:tabLst>
            </a:pPr>
            <a:r>
              <a:rPr sz="2000" spc="-3" dirty="0">
                <a:latin typeface="Times New Roman"/>
                <a:cs typeface="Times New Roman"/>
              </a:rPr>
              <a:t>Quality control</a:t>
            </a:r>
            <a:r>
              <a:rPr sz="2000" spc="-32" dirty="0">
                <a:latin typeface="Times New Roman"/>
                <a:cs typeface="Times New Roman"/>
              </a:rPr>
              <a:t> </a:t>
            </a:r>
            <a:r>
              <a:rPr sz="2000" spc="-3" dirty="0">
                <a:latin typeface="Times New Roman"/>
                <a:cs typeface="Times New Roman"/>
              </a:rPr>
              <a:t>mechanisms</a:t>
            </a:r>
            <a:endParaRPr sz="2000" dirty="0">
              <a:latin typeface="Times New Roman"/>
              <a:cs typeface="Times New Roman"/>
            </a:endParaRPr>
          </a:p>
          <a:p>
            <a:pPr>
              <a:lnSpc>
                <a:spcPct val="100000"/>
              </a:lnSpc>
            </a:pPr>
            <a:endParaRPr sz="2400" dirty="0">
              <a:latin typeface="Times New Roman"/>
              <a:cs typeface="Times New Roman"/>
            </a:endParaRPr>
          </a:p>
          <a:p>
            <a:pPr marL="64749" marR="10588" indent="179994" algn="just">
              <a:lnSpc>
                <a:spcPct val="143400"/>
              </a:lnSpc>
              <a:spcBef>
                <a:spcPts val="673"/>
              </a:spcBef>
            </a:pPr>
            <a:r>
              <a:rPr spc="-6" dirty="0">
                <a:latin typeface="Times New Roman"/>
                <a:cs typeface="Times New Roman"/>
              </a:rPr>
              <a:t>The </a:t>
            </a:r>
            <a:r>
              <a:rPr spc="-10" dirty="0">
                <a:latin typeface="Times New Roman"/>
                <a:cs typeface="Times New Roman"/>
              </a:rPr>
              <a:t>first </a:t>
            </a:r>
            <a:r>
              <a:rPr spc="-6" dirty="0">
                <a:latin typeface="Times New Roman"/>
                <a:cs typeface="Times New Roman"/>
              </a:rPr>
              <a:t>and foremost requirement </a:t>
            </a:r>
            <a:r>
              <a:rPr spc="-10" dirty="0">
                <a:latin typeface="Times New Roman"/>
                <a:cs typeface="Times New Roman"/>
              </a:rPr>
              <a:t>in </a:t>
            </a:r>
            <a:r>
              <a:rPr spc="3" dirty="0">
                <a:latin typeface="Times New Roman"/>
                <a:cs typeface="Times New Roman"/>
              </a:rPr>
              <a:t>SQA </a:t>
            </a:r>
            <a:r>
              <a:rPr spc="-16" dirty="0">
                <a:latin typeface="Times New Roman"/>
                <a:cs typeface="Times New Roman"/>
              </a:rPr>
              <a:t>is </a:t>
            </a:r>
            <a:r>
              <a:rPr spc="-3" dirty="0">
                <a:latin typeface="Times New Roman"/>
                <a:cs typeface="Times New Roman"/>
              </a:rPr>
              <a:t>that </a:t>
            </a:r>
            <a:r>
              <a:rPr spc="-16" dirty="0">
                <a:latin typeface="Times New Roman"/>
                <a:cs typeface="Times New Roman"/>
              </a:rPr>
              <a:t>it is </a:t>
            </a:r>
            <a:r>
              <a:rPr dirty="0">
                <a:latin typeface="Times New Roman"/>
                <a:cs typeface="Times New Roman"/>
              </a:rPr>
              <a:t>a separate </a:t>
            </a:r>
            <a:r>
              <a:rPr spc="-3" dirty="0">
                <a:latin typeface="Times New Roman"/>
                <a:cs typeface="Times New Roman"/>
              </a:rPr>
              <a:t>group </a:t>
            </a:r>
            <a:r>
              <a:rPr spc="-6" dirty="0">
                <a:latin typeface="Times New Roman"/>
                <a:cs typeface="Times New Roman"/>
              </a:rPr>
              <a:t>responsible for  </a:t>
            </a:r>
            <a:r>
              <a:rPr spc="-3" dirty="0">
                <a:latin typeface="Times New Roman"/>
                <a:cs typeface="Times New Roman"/>
              </a:rPr>
              <a:t>quality </a:t>
            </a:r>
            <a:r>
              <a:rPr spc="-10" dirty="0">
                <a:latin typeface="Times New Roman"/>
                <a:cs typeface="Times New Roman"/>
              </a:rPr>
              <a:t>in </a:t>
            </a:r>
            <a:r>
              <a:rPr dirty="0">
                <a:latin typeface="Times New Roman"/>
                <a:cs typeface="Times New Roman"/>
              </a:rPr>
              <a:t>the </a:t>
            </a:r>
            <a:r>
              <a:rPr spc="-3" dirty="0">
                <a:latin typeface="Times New Roman"/>
                <a:cs typeface="Times New Roman"/>
              </a:rPr>
              <a:t>organization. </a:t>
            </a:r>
            <a:r>
              <a:rPr spc="3" dirty="0">
                <a:latin typeface="Times New Roman"/>
                <a:cs typeface="Times New Roman"/>
              </a:rPr>
              <a:t>They </a:t>
            </a:r>
            <a:r>
              <a:rPr spc="-6" dirty="0">
                <a:latin typeface="Times New Roman"/>
                <a:cs typeface="Times New Roman"/>
              </a:rPr>
              <a:t>set </a:t>
            </a:r>
            <a:r>
              <a:rPr dirty="0">
                <a:latin typeface="Times New Roman"/>
                <a:cs typeface="Times New Roman"/>
              </a:rPr>
              <a:t>the </a:t>
            </a:r>
            <a:r>
              <a:rPr spc="-3" dirty="0">
                <a:latin typeface="Times New Roman"/>
                <a:cs typeface="Times New Roman"/>
              </a:rPr>
              <a:t>goals, standards </a:t>
            </a:r>
            <a:r>
              <a:rPr spc="-6" dirty="0">
                <a:latin typeface="Times New Roman"/>
                <a:cs typeface="Times New Roman"/>
              </a:rPr>
              <a:t>and </a:t>
            </a:r>
            <a:r>
              <a:rPr spc="-3" dirty="0">
                <a:latin typeface="Times New Roman"/>
                <a:cs typeface="Times New Roman"/>
              </a:rPr>
              <a:t>mechanisms (systems) </a:t>
            </a:r>
            <a:r>
              <a:rPr spc="-6" dirty="0">
                <a:latin typeface="Times New Roman"/>
                <a:cs typeface="Times New Roman"/>
              </a:rPr>
              <a:t>for  SQA.</a:t>
            </a:r>
            <a:r>
              <a:rPr spc="77" dirty="0">
                <a:latin typeface="Times New Roman"/>
                <a:cs typeface="Times New Roman"/>
              </a:rPr>
              <a:t> </a:t>
            </a:r>
            <a:r>
              <a:rPr spc="-6" dirty="0">
                <a:latin typeface="Times New Roman"/>
                <a:cs typeface="Times New Roman"/>
              </a:rPr>
              <a:t>The</a:t>
            </a:r>
            <a:r>
              <a:rPr spc="67" dirty="0">
                <a:latin typeface="Times New Roman"/>
                <a:cs typeface="Times New Roman"/>
              </a:rPr>
              <a:t> </a:t>
            </a:r>
            <a:r>
              <a:rPr spc="-10" dirty="0">
                <a:latin typeface="Times New Roman"/>
                <a:cs typeface="Times New Roman"/>
              </a:rPr>
              <a:t>role</a:t>
            </a:r>
            <a:r>
              <a:rPr spc="67" dirty="0">
                <a:latin typeface="Times New Roman"/>
                <a:cs typeface="Times New Roman"/>
              </a:rPr>
              <a:t> </a:t>
            </a:r>
            <a:r>
              <a:rPr spc="6" dirty="0">
                <a:latin typeface="Times New Roman"/>
                <a:cs typeface="Times New Roman"/>
              </a:rPr>
              <a:t>of</a:t>
            </a:r>
            <a:r>
              <a:rPr spc="45" dirty="0">
                <a:latin typeface="Times New Roman"/>
                <a:cs typeface="Times New Roman"/>
              </a:rPr>
              <a:t> </a:t>
            </a:r>
            <a:r>
              <a:rPr dirty="0">
                <a:latin typeface="Times New Roman"/>
                <a:cs typeface="Times New Roman"/>
              </a:rPr>
              <a:t>the</a:t>
            </a:r>
            <a:r>
              <a:rPr spc="67" dirty="0">
                <a:latin typeface="Times New Roman"/>
                <a:cs typeface="Times New Roman"/>
              </a:rPr>
              <a:t> </a:t>
            </a:r>
            <a:r>
              <a:rPr spc="-3" dirty="0">
                <a:latin typeface="Times New Roman"/>
                <a:cs typeface="Times New Roman"/>
              </a:rPr>
              <a:t>SQA</a:t>
            </a:r>
            <a:r>
              <a:rPr spc="51" dirty="0">
                <a:latin typeface="Times New Roman"/>
                <a:cs typeface="Times New Roman"/>
              </a:rPr>
              <a:t> </a:t>
            </a:r>
            <a:r>
              <a:rPr spc="3" dirty="0">
                <a:latin typeface="Times New Roman"/>
                <a:cs typeface="Times New Roman"/>
              </a:rPr>
              <a:t>group</a:t>
            </a:r>
            <a:r>
              <a:rPr spc="55" dirty="0">
                <a:latin typeface="Times New Roman"/>
                <a:cs typeface="Times New Roman"/>
              </a:rPr>
              <a:t> </a:t>
            </a:r>
            <a:r>
              <a:rPr spc="-16" dirty="0">
                <a:latin typeface="Times New Roman"/>
                <a:cs typeface="Times New Roman"/>
              </a:rPr>
              <a:t>is</a:t>
            </a:r>
            <a:r>
              <a:rPr spc="64" dirty="0">
                <a:latin typeface="Times New Roman"/>
                <a:cs typeface="Times New Roman"/>
              </a:rPr>
              <a:t> </a:t>
            </a:r>
            <a:r>
              <a:rPr dirty="0">
                <a:latin typeface="Times New Roman"/>
                <a:cs typeface="Times New Roman"/>
              </a:rPr>
              <a:t>to</a:t>
            </a:r>
            <a:r>
              <a:rPr spc="87" dirty="0">
                <a:latin typeface="Times New Roman"/>
                <a:cs typeface="Times New Roman"/>
              </a:rPr>
              <a:t> </a:t>
            </a:r>
            <a:r>
              <a:rPr spc="-10" dirty="0">
                <a:latin typeface="Times New Roman"/>
                <a:cs typeface="Times New Roman"/>
              </a:rPr>
              <a:t>assist</a:t>
            </a:r>
            <a:r>
              <a:rPr spc="71" dirty="0">
                <a:latin typeface="Times New Roman"/>
                <a:cs typeface="Times New Roman"/>
              </a:rPr>
              <a:t> </a:t>
            </a:r>
            <a:r>
              <a:rPr dirty="0">
                <a:latin typeface="Times New Roman"/>
                <a:cs typeface="Times New Roman"/>
              </a:rPr>
              <a:t>the</a:t>
            </a:r>
            <a:r>
              <a:rPr spc="51" dirty="0">
                <a:latin typeface="Times New Roman"/>
                <a:cs typeface="Times New Roman"/>
              </a:rPr>
              <a:t> </a:t>
            </a:r>
            <a:r>
              <a:rPr spc="-3" dirty="0">
                <a:latin typeface="Times New Roman"/>
                <a:cs typeface="Times New Roman"/>
              </a:rPr>
              <a:t>software</a:t>
            </a:r>
            <a:r>
              <a:rPr spc="67" dirty="0">
                <a:latin typeface="Times New Roman"/>
                <a:cs typeface="Times New Roman"/>
              </a:rPr>
              <a:t> </a:t>
            </a:r>
            <a:r>
              <a:rPr spc="-6" dirty="0">
                <a:latin typeface="Times New Roman"/>
                <a:cs typeface="Times New Roman"/>
              </a:rPr>
              <a:t>development</a:t>
            </a:r>
            <a:r>
              <a:rPr spc="71" dirty="0">
                <a:latin typeface="Times New Roman"/>
                <a:cs typeface="Times New Roman"/>
              </a:rPr>
              <a:t> </a:t>
            </a:r>
            <a:r>
              <a:rPr dirty="0">
                <a:latin typeface="Times New Roman"/>
                <a:cs typeface="Times New Roman"/>
              </a:rPr>
              <a:t>team</a:t>
            </a:r>
            <a:r>
              <a:rPr spc="58" dirty="0">
                <a:latin typeface="Times New Roman"/>
                <a:cs typeface="Times New Roman"/>
              </a:rPr>
              <a:t> </a:t>
            </a:r>
            <a:r>
              <a:rPr spc="-10" dirty="0">
                <a:latin typeface="Times New Roman"/>
                <a:cs typeface="Times New Roman"/>
              </a:rPr>
              <a:t>in</a:t>
            </a:r>
            <a:r>
              <a:rPr spc="71" dirty="0">
                <a:latin typeface="Times New Roman"/>
                <a:cs typeface="Times New Roman"/>
              </a:rPr>
              <a:t> </a:t>
            </a:r>
            <a:r>
              <a:rPr spc="-6" dirty="0">
                <a:latin typeface="Times New Roman"/>
                <a:cs typeface="Times New Roman"/>
              </a:rPr>
              <a:t>managing</a:t>
            </a:r>
            <a:endParaRPr dirty="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73872" y="379828"/>
            <a:ext cx="11380764" cy="5246373"/>
          </a:xfrm>
          <a:prstGeom prst="rect">
            <a:avLst/>
          </a:prstGeom>
        </p:spPr>
        <p:txBody>
          <a:bodyPr vert="horz" wrap="square" lIns="0" tIns="0" rIns="0" bIns="0" rtlCol="0">
            <a:spAutoFit/>
          </a:bodyPr>
          <a:lstStyle/>
          <a:p>
            <a:pPr marL="64749" marR="8145" algn="just">
              <a:lnSpc>
                <a:spcPct val="143400"/>
              </a:lnSpc>
            </a:pPr>
            <a:r>
              <a:rPr sz="2400" dirty="0">
                <a:latin typeface="Times New Roman"/>
                <a:cs typeface="Times New Roman"/>
              </a:rPr>
              <a:t>the </a:t>
            </a:r>
            <a:r>
              <a:rPr sz="2400" spc="-3" dirty="0">
                <a:latin typeface="Times New Roman"/>
                <a:cs typeface="Times New Roman"/>
              </a:rPr>
              <a:t>quality </a:t>
            </a:r>
            <a:r>
              <a:rPr sz="2400" dirty="0">
                <a:latin typeface="Times New Roman"/>
                <a:cs typeface="Times New Roman"/>
              </a:rPr>
              <a:t>requirements </a:t>
            </a:r>
            <a:r>
              <a:rPr sz="2400" spc="6" dirty="0">
                <a:latin typeface="Times New Roman"/>
                <a:cs typeface="Times New Roman"/>
              </a:rPr>
              <a:t>of </a:t>
            </a:r>
            <a:r>
              <a:rPr sz="2400" dirty="0">
                <a:latin typeface="Times New Roman"/>
                <a:cs typeface="Times New Roman"/>
              </a:rPr>
              <a:t>the </a:t>
            </a:r>
            <a:r>
              <a:rPr sz="2400" spc="-3" dirty="0">
                <a:latin typeface="Times New Roman"/>
                <a:cs typeface="Times New Roman"/>
              </a:rPr>
              <a:t>software. </a:t>
            </a:r>
            <a:r>
              <a:rPr sz="2400" dirty="0">
                <a:latin typeface="Times New Roman"/>
                <a:cs typeface="Times New Roman"/>
              </a:rPr>
              <a:t>Every </a:t>
            </a:r>
            <a:r>
              <a:rPr sz="2400" spc="-3" dirty="0">
                <a:latin typeface="Times New Roman"/>
                <a:cs typeface="Times New Roman"/>
              </a:rPr>
              <a:t>software </a:t>
            </a:r>
            <a:r>
              <a:rPr sz="2400" spc="-6" dirty="0">
                <a:latin typeface="Times New Roman"/>
                <a:cs typeface="Times New Roman"/>
              </a:rPr>
              <a:t>has </a:t>
            </a:r>
            <a:r>
              <a:rPr sz="2400" spc="-3" dirty="0">
                <a:latin typeface="Times New Roman"/>
                <a:cs typeface="Times New Roman"/>
              </a:rPr>
              <a:t>certain quality </a:t>
            </a:r>
            <a:r>
              <a:rPr sz="2400" dirty="0">
                <a:latin typeface="Times New Roman"/>
                <a:cs typeface="Times New Roman"/>
              </a:rPr>
              <a:t>goals </a:t>
            </a:r>
            <a:r>
              <a:rPr sz="2400" spc="-3" dirty="0">
                <a:latin typeface="Times New Roman"/>
                <a:cs typeface="Times New Roman"/>
              </a:rPr>
              <a:t>specified  </a:t>
            </a:r>
            <a:r>
              <a:rPr sz="2400" dirty="0">
                <a:latin typeface="Times New Roman"/>
                <a:cs typeface="Times New Roman"/>
              </a:rPr>
              <a:t>by the </a:t>
            </a:r>
            <a:r>
              <a:rPr sz="2400" spc="-3" dirty="0">
                <a:latin typeface="Times New Roman"/>
                <a:cs typeface="Times New Roman"/>
              </a:rPr>
              <a:t>customer. </a:t>
            </a:r>
            <a:r>
              <a:rPr sz="2400" spc="-6" dirty="0">
                <a:latin typeface="Times New Roman"/>
                <a:cs typeface="Times New Roman"/>
              </a:rPr>
              <a:t>These </a:t>
            </a:r>
            <a:r>
              <a:rPr sz="2400" spc="-3" dirty="0">
                <a:latin typeface="Times New Roman"/>
                <a:cs typeface="Times New Roman"/>
              </a:rPr>
              <a:t>quality goals </a:t>
            </a:r>
            <a:r>
              <a:rPr sz="2400" dirty="0">
                <a:latin typeface="Times New Roman"/>
                <a:cs typeface="Times New Roman"/>
              </a:rPr>
              <a:t>are to </a:t>
            </a:r>
            <a:r>
              <a:rPr sz="2400" spc="-10" dirty="0">
                <a:latin typeface="Times New Roman"/>
                <a:cs typeface="Times New Roman"/>
              </a:rPr>
              <a:t>be </a:t>
            </a:r>
            <a:r>
              <a:rPr sz="2400" spc="-6" dirty="0">
                <a:latin typeface="Times New Roman"/>
                <a:cs typeface="Times New Roman"/>
              </a:rPr>
              <a:t>achieved </a:t>
            </a:r>
            <a:r>
              <a:rPr sz="2400" dirty="0">
                <a:latin typeface="Times New Roman"/>
                <a:cs typeface="Times New Roman"/>
              </a:rPr>
              <a:t>by the </a:t>
            </a:r>
            <a:r>
              <a:rPr sz="2400" spc="-3" dirty="0">
                <a:latin typeface="Times New Roman"/>
                <a:cs typeface="Times New Roman"/>
              </a:rPr>
              <a:t>development </a:t>
            </a:r>
            <a:r>
              <a:rPr sz="2400" dirty="0">
                <a:latin typeface="Times New Roman"/>
                <a:cs typeface="Times New Roman"/>
              </a:rPr>
              <a:t>team </a:t>
            </a:r>
            <a:r>
              <a:rPr sz="2400" spc="6" dirty="0">
                <a:latin typeface="Times New Roman"/>
                <a:cs typeface="Times New Roman"/>
              </a:rPr>
              <a:t>by  </a:t>
            </a:r>
            <a:r>
              <a:rPr sz="2400" spc="-3" dirty="0">
                <a:latin typeface="Times New Roman"/>
                <a:cs typeface="Times New Roman"/>
              </a:rPr>
              <a:t>introducing </a:t>
            </a:r>
            <a:r>
              <a:rPr sz="2400" dirty="0">
                <a:latin typeface="Times New Roman"/>
                <a:cs typeface="Times New Roman"/>
              </a:rPr>
              <a:t>a </a:t>
            </a:r>
            <a:r>
              <a:rPr sz="2400" spc="-6" dirty="0">
                <a:latin typeface="Times New Roman"/>
                <a:cs typeface="Times New Roman"/>
              </a:rPr>
              <a:t>set </a:t>
            </a:r>
            <a:r>
              <a:rPr sz="2400" spc="6" dirty="0">
                <a:latin typeface="Times New Roman"/>
                <a:cs typeface="Times New Roman"/>
              </a:rPr>
              <a:t>of </a:t>
            </a:r>
            <a:r>
              <a:rPr sz="2400" spc="-3" dirty="0">
                <a:latin typeface="Times New Roman"/>
                <a:cs typeface="Times New Roman"/>
              </a:rPr>
              <a:t>activities </a:t>
            </a:r>
            <a:r>
              <a:rPr sz="2400" spc="6" dirty="0">
                <a:latin typeface="Times New Roman"/>
                <a:cs typeface="Times New Roman"/>
              </a:rPr>
              <a:t>or </a:t>
            </a:r>
            <a:r>
              <a:rPr sz="2400" spc="-6" dirty="0">
                <a:latin typeface="Times New Roman"/>
                <a:cs typeface="Times New Roman"/>
              </a:rPr>
              <a:t>ensuring </a:t>
            </a:r>
            <a:r>
              <a:rPr sz="2400" dirty="0">
                <a:latin typeface="Times New Roman"/>
                <a:cs typeface="Times New Roman"/>
              </a:rPr>
              <a:t>the delivery </a:t>
            </a:r>
            <a:r>
              <a:rPr sz="2400" spc="6" dirty="0">
                <a:latin typeface="Times New Roman"/>
                <a:cs typeface="Times New Roman"/>
              </a:rPr>
              <a:t>of </a:t>
            </a:r>
            <a:r>
              <a:rPr sz="2400" spc="-3" dirty="0">
                <a:latin typeface="Times New Roman"/>
                <a:cs typeface="Times New Roman"/>
              </a:rPr>
              <a:t>quality </a:t>
            </a:r>
            <a:r>
              <a:rPr sz="2400" spc="6" dirty="0">
                <a:latin typeface="Times New Roman"/>
                <a:cs typeface="Times New Roman"/>
              </a:rPr>
              <a:t>to </a:t>
            </a:r>
            <a:r>
              <a:rPr sz="2400" dirty="0">
                <a:latin typeface="Times New Roman"/>
                <a:cs typeface="Times New Roman"/>
              </a:rPr>
              <a:t>the</a:t>
            </a:r>
            <a:r>
              <a:rPr sz="2400" spc="-58" dirty="0">
                <a:latin typeface="Times New Roman"/>
                <a:cs typeface="Times New Roman"/>
              </a:rPr>
              <a:t> </a:t>
            </a:r>
            <a:r>
              <a:rPr sz="2400" spc="-3" dirty="0">
                <a:latin typeface="Times New Roman"/>
                <a:cs typeface="Times New Roman"/>
              </a:rPr>
              <a:t>customer.</a:t>
            </a:r>
            <a:endParaRPr sz="2400" dirty="0">
              <a:latin typeface="Times New Roman"/>
              <a:cs typeface="Times New Roman"/>
            </a:endParaRPr>
          </a:p>
          <a:p>
            <a:pPr marL="64749" marR="3258" indent="179994" algn="just">
              <a:lnSpc>
                <a:spcPct val="143700"/>
              </a:lnSpc>
              <a:spcBef>
                <a:spcPts val="10"/>
              </a:spcBef>
            </a:pPr>
            <a:r>
              <a:rPr sz="2400" spc="-3" dirty="0">
                <a:latin typeface="Times New Roman"/>
                <a:cs typeface="Times New Roman"/>
              </a:rPr>
              <a:t>SQA activities </a:t>
            </a:r>
            <a:r>
              <a:rPr sz="2400" spc="3" dirty="0">
                <a:latin typeface="Times New Roman"/>
                <a:cs typeface="Times New Roman"/>
              </a:rPr>
              <a:t>operate </a:t>
            </a:r>
            <a:r>
              <a:rPr sz="2400" spc="6" dirty="0">
                <a:latin typeface="Times New Roman"/>
                <a:cs typeface="Times New Roman"/>
              </a:rPr>
              <a:t>on </a:t>
            </a:r>
            <a:r>
              <a:rPr sz="2400" dirty="0">
                <a:latin typeface="Times New Roman"/>
                <a:cs typeface="Times New Roman"/>
              </a:rPr>
              <a:t>the </a:t>
            </a:r>
            <a:r>
              <a:rPr sz="2400" spc="-6" dirty="0">
                <a:latin typeface="Times New Roman"/>
                <a:cs typeface="Times New Roman"/>
              </a:rPr>
              <a:t>normal </a:t>
            </a:r>
            <a:r>
              <a:rPr sz="2400" spc="-3" dirty="0">
                <a:latin typeface="Times New Roman"/>
                <a:cs typeface="Times New Roman"/>
              </a:rPr>
              <a:t>activities </a:t>
            </a:r>
            <a:r>
              <a:rPr sz="2400" spc="6" dirty="0">
                <a:latin typeface="Times New Roman"/>
                <a:cs typeface="Times New Roman"/>
              </a:rPr>
              <a:t>of </a:t>
            </a:r>
            <a:r>
              <a:rPr sz="2400" spc="-3" dirty="0">
                <a:latin typeface="Times New Roman"/>
                <a:cs typeface="Times New Roman"/>
              </a:rPr>
              <a:t>quality management. </a:t>
            </a:r>
            <a:r>
              <a:rPr sz="2400" spc="-6" dirty="0">
                <a:latin typeface="Times New Roman"/>
                <a:cs typeface="Times New Roman"/>
              </a:rPr>
              <a:t>These </a:t>
            </a:r>
            <a:r>
              <a:rPr sz="2400" spc="-3" dirty="0">
                <a:latin typeface="Times New Roman"/>
                <a:cs typeface="Times New Roman"/>
              </a:rPr>
              <a:t>activities  play </a:t>
            </a:r>
            <a:r>
              <a:rPr sz="2400" dirty="0">
                <a:latin typeface="Times New Roman"/>
                <a:cs typeface="Times New Roman"/>
              </a:rPr>
              <a:t>the </a:t>
            </a:r>
            <a:r>
              <a:rPr sz="2400" spc="-6" dirty="0">
                <a:latin typeface="Times New Roman"/>
                <a:cs typeface="Times New Roman"/>
              </a:rPr>
              <a:t>role </a:t>
            </a:r>
            <a:r>
              <a:rPr sz="2400" spc="6" dirty="0">
                <a:latin typeface="Times New Roman"/>
                <a:cs typeface="Times New Roman"/>
              </a:rPr>
              <a:t>of </a:t>
            </a:r>
            <a:r>
              <a:rPr sz="2400" spc="-3" dirty="0">
                <a:latin typeface="Times New Roman"/>
                <a:cs typeface="Times New Roman"/>
              </a:rPr>
              <a:t>monitoring, tracking, evaluations, </a:t>
            </a:r>
            <a:r>
              <a:rPr sz="2400" spc="-6" dirty="0">
                <a:latin typeface="Times New Roman"/>
                <a:cs typeface="Times New Roman"/>
              </a:rPr>
              <a:t>auditing </a:t>
            </a:r>
            <a:r>
              <a:rPr sz="2400" spc="-3" dirty="0">
                <a:latin typeface="Times New Roman"/>
                <a:cs typeface="Times New Roman"/>
              </a:rPr>
              <a:t>and reviews </a:t>
            </a:r>
            <a:r>
              <a:rPr sz="2400" dirty="0">
                <a:latin typeface="Times New Roman"/>
                <a:cs typeface="Times New Roman"/>
              </a:rPr>
              <a:t>to </a:t>
            </a:r>
            <a:r>
              <a:rPr sz="2400" spc="-6" dirty="0">
                <a:latin typeface="Times New Roman"/>
                <a:cs typeface="Times New Roman"/>
              </a:rPr>
              <a:t>ensure </a:t>
            </a:r>
            <a:r>
              <a:rPr sz="2400" spc="-3" dirty="0">
                <a:latin typeface="Times New Roman"/>
                <a:cs typeface="Times New Roman"/>
              </a:rPr>
              <a:t>that </a:t>
            </a:r>
            <a:r>
              <a:rPr sz="2400" dirty="0">
                <a:latin typeface="Times New Roman"/>
                <a:cs typeface="Times New Roman"/>
              </a:rPr>
              <a:t>the  </a:t>
            </a:r>
            <a:r>
              <a:rPr sz="2400" spc="-3" dirty="0">
                <a:latin typeface="Times New Roman"/>
                <a:cs typeface="Times New Roman"/>
              </a:rPr>
              <a:t>quality </a:t>
            </a:r>
            <a:r>
              <a:rPr sz="2400" dirty="0">
                <a:latin typeface="Times New Roman"/>
                <a:cs typeface="Times New Roman"/>
              </a:rPr>
              <a:t>policy </a:t>
            </a:r>
            <a:r>
              <a:rPr sz="2400" spc="13" dirty="0">
                <a:latin typeface="Times New Roman"/>
                <a:cs typeface="Times New Roman"/>
              </a:rPr>
              <a:t>of </a:t>
            </a:r>
            <a:r>
              <a:rPr sz="2400" dirty="0">
                <a:latin typeface="Times New Roman"/>
                <a:cs typeface="Times New Roman"/>
              </a:rPr>
              <a:t>the </a:t>
            </a:r>
            <a:r>
              <a:rPr sz="2400" spc="-3" dirty="0">
                <a:latin typeface="Times New Roman"/>
                <a:cs typeface="Times New Roman"/>
              </a:rPr>
              <a:t>organization </a:t>
            </a:r>
            <a:r>
              <a:rPr sz="2400" spc="-10" dirty="0">
                <a:latin typeface="Times New Roman"/>
                <a:cs typeface="Times New Roman"/>
              </a:rPr>
              <a:t>is </a:t>
            </a:r>
            <a:r>
              <a:rPr sz="2400" spc="-3" dirty="0">
                <a:latin typeface="Times New Roman"/>
                <a:cs typeface="Times New Roman"/>
              </a:rPr>
              <a:t>implemented. </a:t>
            </a:r>
            <a:r>
              <a:rPr sz="2400" spc="-6" dirty="0">
                <a:latin typeface="Times New Roman"/>
                <a:cs typeface="Times New Roman"/>
              </a:rPr>
              <a:t>These </a:t>
            </a:r>
            <a:r>
              <a:rPr sz="2400" spc="-3" dirty="0">
                <a:latin typeface="Times New Roman"/>
                <a:cs typeface="Times New Roman"/>
              </a:rPr>
              <a:t>activities </a:t>
            </a:r>
            <a:r>
              <a:rPr sz="2400" dirty="0">
                <a:latin typeface="Times New Roman"/>
                <a:cs typeface="Times New Roman"/>
              </a:rPr>
              <a:t>are </a:t>
            </a:r>
            <a:r>
              <a:rPr sz="2400" spc="-3" dirty="0">
                <a:latin typeface="Times New Roman"/>
                <a:cs typeface="Times New Roman"/>
              </a:rPr>
              <a:t>independently  carried </a:t>
            </a:r>
            <a:r>
              <a:rPr sz="2400" spc="3" dirty="0">
                <a:latin typeface="Times New Roman"/>
                <a:cs typeface="Times New Roman"/>
              </a:rPr>
              <a:t>out, </a:t>
            </a:r>
            <a:r>
              <a:rPr sz="2400" spc="-6" dirty="0">
                <a:latin typeface="Times New Roman"/>
                <a:cs typeface="Times New Roman"/>
              </a:rPr>
              <a:t>and </a:t>
            </a:r>
            <a:r>
              <a:rPr sz="2400" spc="-3" dirty="0">
                <a:latin typeface="Times New Roman"/>
                <a:cs typeface="Times New Roman"/>
              </a:rPr>
              <a:t>feedback </a:t>
            </a:r>
            <a:r>
              <a:rPr sz="2400" spc="-10" dirty="0">
                <a:latin typeface="Times New Roman"/>
                <a:cs typeface="Times New Roman"/>
              </a:rPr>
              <a:t>is </a:t>
            </a:r>
            <a:r>
              <a:rPr sz="2400" spc="-3" dirty="0">
                <a:latin typeface="Times New Roman"/>
                <a:cs typeface="Times New Roman"/>
              </a:rPr>
              <a:t>given </a:t>
            </a:r>
            <a:r>
              <a:rPr sz="2400" spc="6" dirty="0">
                <a:latin typeface="Times New Roman"/>
                <a:cs typeface="Times New Roman"/>
              </a:rPr>
              <a:t>to </a:t>
            </a:r>
            <a:r>
              <a:rPr sz="2400" dirty="0">
                <a:latin typeface="Times New Roman"/>
                <a:cs typeface="Times New Roman"/>
              </a:rPr>
              <a:t>the </a:t>
            </a:r>
            <a:r>
              <a:rPr sz="2400" spc="-3" dirty="0">
                <a:latin typeface="Times New Roman"/>
                <a:cs typeface="Times New Roman"/>
              </a:rPr>
              <a:t>development </a:t>
            </a:r>
            <a:r>
              <a:rPr sz="2400" spc="-6" dirty="0">
                <a:latin typeface="Times New Roman"/>
                <a:cs typeface="Times New Roman"/>
              </a:rPr>
              <a:t>team. The </a:t>
            </a:r>
            <a:r>
              <a:rPr sz="2400" spc="-3" dirty="0">
                <a:latin typeface="Times New Roman"/>
                <a:cs typeface="Times New Roman"/>
              </a:rPr>
              <a:t>responsibility </a:t>
            </a:r>
            <a:r>
              <a:rPr sz="2400" spc="13" dirty="0">
                <a:latin typeface="Times New Roman"/>
                <a:cs typeface="Times New Roman"/>
              </a:rPr>
              <a:t>of </a:t>
            </a:r>
            <a:r>
              <a:rPr sz="2400" spc="-3" dirty="0">
                <a:latin typeface="Times New Roman"/>
                <a:cs typeface="Times New Roman"/>
              </a:rPr>
              <a:t>delivering  </a:t>
            </a:r>
            <a:r>
              <a:rPr sz="2400" dirty="0">
                <a:latin typeface="Times New Roman"/>
                <a:cs typeface="Times New Roman"/>
              </a:rPr>
              <a:t>the </a:t>
            </a:r>
            <a:r>
              <a:rPr sz="2400" spc="-6" dirty="0">
                <a:latin typeface="Times New Roman"/>
                <a:cs typeface="Times New Roman"/>
              </a:rPr>
              <a:t>required </a:t>
            </a:r>
            <a:r>
              <a:rPr sz="2400" spc="-3" dirty="0">
                <a:latin typeface="Times New Roman"/>
                <a:cs typeface="Times New Roman"/>
              </a:rPr>
              <a:t>quality </a:t>
            </a:r>
            <a:r>
              <a:rPr sz="2400" spc="6" dirty="0">
                <a:latin typeface="Times New Roman"/>
                <a:cs typeface="Times New Roman"/>
              </a:rPr>
              <a:t>to </a:t>
            </a:r>
            <a:r>
              <a:rPr sz="2400" dirty="0">
                <a:latin typeface="Times New Roman"/>
                <a:cs typeface="Times New Roman"/>
              </a:rPr>
              <a:t>the </a:t>
            </a:r>
            <a:r>
              <a:rPr sz="2400" spc="-6" dirty="0">
                <a:latin typeface="Times New Roman"/>
                <a:cs typeface="Times New Roman"/>
              </a:rPr>
              <a:t>customer </a:t>
            </a:r>
            <a:r>
              <a:rPr sz="2400" dirty="0">
                <a:latin typeface="Times New Roman"/>
                <a:cs typeface="Times New Roman"/>
              </a:rPr>
              <a:t>rests </a:t>
            </a:r>
            <a:r>
              <a:rPr sz="2400" spc="-6" dirty="0">
                <a:latin typeface="Times New Roman"/>
                <a:cs typeface="Times New Roman"/>
              </a:rPr>
              <a:t>with the </a:t>
            </a:r>
            <a:r>
              <a:rPr sz="2400" spc="-3" dirty="0">
                <a:latin typeface="Times New Roman"/>
                <a:cs typeface="Times New Roman"/>
              </a:rPr>
              <a:t>development </a:t>
            </a:r>
            <a:r>
              <a:rPr sz="2400" spc="-6" dirty="0">
                <a:latin typeface="Times New Roman"/>
                <a:cs typeface="Times New Roman"/>
              </a:rPr>
              <a:t>team. The development  </a:t>
            </a:r>
            <a:r>
              <a:rPr sz="2400" dirty="0">
                <a:latin typeface="Times New Roman"/>
                <a:cs typeface="Times New Roman"/>
              </a:rPr>
              <a:t>team </a:t>
            </a:r>
            <a:r>
              <a:rPr sz="2400" spc="-3" dirty="0">
                <a:latin typeface="Times New Roman"/>
                <a:cs typeface="Times New Roman"/>
              </a:rPr>
              <a:t>has </a:t>
            </a:r>
            <a:r>
              <a:rPr sz="2400" spc="3" dirty="0">
                <a:latin typeface="Times New Roman"/>
                <a:cs typeface="Times New Roman"/>
              </a:rPr>
              <a:t>an </a:t>
            </a:r>
            <a:r>
              <a:rPr sz="2400" dirty="0">
                <a:latin typeface="Times New Roman"/>
                <a:cs typeface="Times New Roman"/>
              </a:rPr>
              <a:t>obligation </a:t>
            </a:r>
            <a:r>
              <a:rPr sz="2400" spc="6" dirty="0">
                <a:latin typeface="Times New Roman"/>
                <a:cs typeface="Times New Roman"/>
              </a:rPr>
              <a:t>to </a:t>
            </a:r>
            <a:r>
              <a:rPr sz="2400" spc="-10" dirty="0">
                <a:latin typeface="Times New Roman"/>
                <a:cs typeface="Times New Roman"/>
              </a:rPr>
              <a:t>implement </a:t>
            </a:r>
            <a:r>
              <a:rPr sz="2400" spc="-3" dirty="0">
                <a:latin typeface="Times New Roman"/>
                <a:cs typeface="Times New Roman"/>
              </a:rPr>
              <a:t>quality policy </a:t>
            </a:r>
            <a:r>
              <a:rPr sz="2400" spc="-10" dirty="0">
                <a:latin typeface="Times New Roman"/>
                <a:cs typeface="Times New Roman"/>
              </a:rPr>
              <a:t>in </a:t>
            </a:r>
            <a:r>
              <a:rPr sz="2400" dirty="0">
                <a:latin typeface="Times New Roman"/>
                <a:cs typeface="Times New Roman"/>
              </a:rPr>
              <a:t>terms </a:t>
            </a:r>
            <a:r>
              <a:rPr sz="2400" spc="13" dirty="0">
                <a:latin typeface="Times New Roman"/>
                <a:cs typeface="Times New Roman"/>
              </a:rPr>
              <a:t>of </a:t>
            </a:r>
            <a:r>
              <a:rPr sz="2400" spc="-3" dirty="0">
                <a:latin typeface="Times New Roman"/>
                <a:cs typeface="Times New Roman"/>
              </a:rPr>
              <a:t>goals, objectives,  </a:t>
            </a:r>
            <a:r>
              <a:rPr sz="2400" dirty="0">
                <a:latin typeface="Times New Roman"/>
                <a:cs typeface="Times New Roman"/>
              </a:rPr>
              <a:t>procedures, </a:t>
            </a:r>
            <a:r>
              <a:rPr sz="2400" spc="-6" dirty="0">
                <a:latin typeface="Times New Roman"/>
                <a:cs typeface="Times New Roman"/>
              </a:rPr>
              <a:t>checks </a:t>
            </a:r>
            <a:r>
              <a:rPr sz="2400" spc="-3" dirty="0">
                <a:latin typeface="Times New Roman"/>
                <a:cs typeface="Times New Roman"/>
              </a:rPr>
              <a:t>and </a:t>
            </a:r>
            <a:r>
              <a:rPr sz="2400" spc="-6" dirty="0">
                <a:latin typeface="Times New Roman"/>
                <a:cs typeface="Times New Roman"/>
              </a:rPr>
              <a:t>controls, </a:t>
            </a:r>
            <a:r>
              <a:rPr sz="2400" spc="-3" dirty="0">
                <a:latin typeface="Times New Roman"/>
                <a:cs typeface="Times New Roman"/>
              </a:rPr>
              <a:t>documentation </a:t>
            </a:r>
            <a:r>
              <a:rPr sz="2400" spc="-6" dirty="0">
                <a:latin typeface="Times New Roman"/>
                <a:cs typeface="Times New Roman"/>
              </a:rPr>
              <a:t>and feedback </a:t>
            </a:r>
            <a:r>
              <a:rPr sz="2400" dirty="0">
                <a:latin typeface="Times New Roman"/>
                <a:cs typeface="Times New Roman"/>
              </a:rPr>
              <a:t>to </a:t>
            </a:r>
            <a:r>
              <a:rPr sz="2400" spc="-6" dirty="0">
                <a:latin typeface="Times New Roman"/>
                <a:cs typeface="Times New Roman"/>
              </a:rPr>
              <a:t>management. </a:t>
            </a:r>
            <a:endParaRPr sz="2400" dirty="0">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A69D8-CA6A-DC85-1D47-6268A869043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58BE584-DE4C-EA54-9D8E-996E67359E51}"/>
              </a:ext>
            </a:extLst>
          </p:cNvPr>
          <p:cNvSpPr txBox="1"/>
          <p:nvPr/>
        </p:nvSpPr>
        <p:spPr>
          <a:xfrm>
            <a:off x="6029863" y="5946601"/>
            <a:ext cx="134391" cy="108491"/>
          </a:xfrm>
          <a:prstGeom prst="rect">
            <a:avLst/>
          </a:prstGeom>
        </p:spPr>
        <p:txBody>
          <a:bodyPr vert="horz" wrap="square" lIns="0" tIns="0" rIns="0" bIns="0" rtlCol="0">
            <a:spAutoFit/>
          </a:bodyPr>
          <a:lstStyle/>
          <a:p>
            <a:pPr marL="16289"/>
            <a:fld id="{81D60167-4931-47E6-BA6A-407CBD079E47}" type="slidenum">
              <a:rPr sz="705" dirty="0">
                <a:latin typeface="Arial"/>
                <a:cs typeface="Arial"/>
              </a:rPr>
              <a:pPr marL="16289"/>
              <a:t>12</a:t>
            </a:fld>
            <a:endParaRPr sz="705">
              <a:latin typeface="Arial"/>
              <a:cs typeface="Arial"/>
            </a:endParaRPr>
          </a:p>
        </p:txBody>
      </p:sp>
      <p:sp>
        <p:nvSpPr>
          <p:cNvPr id="2" name="object 2">
            <a:extLst>
              <a:ext uri="{FF2B5EF4-FFF2-40B4-BE49-F238E27FC236}">
                <a16:creationId xmlns:a16="http://schemas.microsoft.com/office/drawing/2014/main" id="{83C7E0F3-766B-60FA-2D7C-8EE64336E400}"/>
              </a:ext>
            </a:extLst>
          </p:cNvPr>
          <p:cNvSpPr txBox="1"/>
          <p:nvPr/>
        </p:nvSpPr>
        <p:spPr>
          <a:xfrm>
            <a:off x="365761" y="525919"/>
            <a:ext cx="10142805" cy="6078844"/>
          </a:xfrm>
          <a:prstGeom prst="rect">
            <a:avLst/>
          </a:prstGeom>
        </p:spPr>
        <p:txBody>
          <a:bodyPr vert="horz" wrap="square" lIns="0" tIns="0" rIns="0" bIns="0" rtlCol="0">
            <a:spAutoFit/>
          </a:bodyPr>
          <a:lstStyle/>
          <a:p>
            <a:pPr marL="64749" algn="just">
              <a:spcBef>
                <a:spcPts val="401"/>
              </a:spcBef>
            </a:pPr>
            <a:r>
              <a:rPr lang="en-US" sz="2400" spc="-6" dirty="0">
                <a:latin typeface="Times New Roman"/>
                <a:cs typeface="Times New Roman"/>
              </a:rPr>
              <a:t>For  example, </a:t>
            </a:r>
            <a:r>
              <a:rPr lang="en-US" sz="2400" dirty="0">
                <a:latin typeface="Times New Roman"/>
                <a:cs typeface="Times New Roman"/>
              </a:rPr>
              <a:t>the </a:t>
            </a:r>
            <a:r>
              <a:rPr lang="en-US" sz="2400" spc="-3" dirty="0">
                <a:latin typeface="Times New Roman"/>
                <a:cs typeface="Times New Roman"/>
              </a:rPr>
              <a:t>quality </a:t>
            </a:r>
            <a:r>
              <a:rPr lang="en-US" sz="2400" dirty="0">
                <a:latin typeface="Times New Roman"/>
                <a:cs typeface="Times New Roman"/>
              </a:rPr>
              <a:t>policy </a:t>
            </a:r>
            <a:r>
              <a:rPr lang="en-US" sz="2400" spc="-3" dirty="0">
                <a:latin typeface="Times New Roman"/>
                <a:cs typeface="Times New Roman"/>
              </a:rPr>
              <a:t>stipulates preparation </a:t>
            </a:r>
            <a:r>
              <a:rPr lang="en-US" sz="2400" spc="6" dirty="0">
                <a:latin typeface="Times New Roman"/>
                <a:cs typeface="Times New Roman"/>
              </a:rPr>
              <a:t>of </a:t>
            </a:r>
            <a:r>
              <a:rPr lang="en-US" sz="2400" dirty="0">
                <a:latin typeface="Times New Roman"/>
                <a:cs typeface="Times New Roman"/>
              </a:rPr>
              <a:t>a test </a:t>
            </a:r>
            <a:r>
              <a:rPr lang="en-US" sz="2400" spc="-6" dirty="0">
                <a:latin typeface="Times New Roman"/>
                <a:cs typeface="Times New Roman"/>
              </a:rPr>
              <a:t>plan for </a:t>
            </a:r>
            <a:r>
              <a:rPr lang="en-US" sz="2400" dirty="0">
                <a:latin typeface="Times New Roman"/>
                <a:cs typeface="Times New Roman"/>
              </a:rPr>
              <a:t>stages </a:t>
            </a:r>
            <a:r>
              <a:rPr lang="en-US" sz="2400" spc="-6" dirty="0">
                <a:latin typeface="Times New Roman"/>
                <a:cs typeface="Times New Roman"/>
              </a:rPr>
              <a:t>for development  </a:t>
            </a:r>
            <a:r>
              <a:rPr lang="en-US" sz="2400" spc="-3" dirty="0">
                <a:latin typeface="Times New Roman"/>
                <a:cs typeface="Times New Roman"/>
              </a:rPr>
              <a:t>as well </a:t>
            </a:r>
            <a:r>
              <a:rPr lang="en-US" sz="2400" spc="3" dirty="0">
                <a:latin typeface="Times New Roman"/>
                <a:cs typeface="Times New Roman"/>
              </a:rPr>
              <a:t>as </a:t>
            </a:r>
            <a:r>
              <a:rPr lang="en-US" sz="2400" spc="-3" dirty="0">
                <a:latin typeface="Times New Roman"/>
                <a:cs typeface="Times New Roman"/>
              </a:rPr>
              <a:t>at </a:t>
            </a:r>
            <a:r>
              <a:rPr lang="en-US" sz="2400" dirty="0">
                <a:latin typeface="Times New Roman"/>
                <a:cs typeface="Times New Roman"/>
              </a:rPr>
              <a:t>the </a:t>
            </a:r>
            <a:r>
              <a:rPr lang="en-US" sz="2400" spc="-6" dirty="0">
                <a:latin typeface="Times New Roman"/>
                <a:cs typeface="Times New Roman"/>
              </a:rPr>
              <a:t>end </a:t>
            </a:r>
            <a:r>
              <a:rPr lang="en-US" sz="2400" spc="6" dirty="0">
                <a:latin typeface="Times New Roman"/>
                <a:cs typeface="Times New Roman"/>
              </a:rPr>
              <a:t>of </a:t>
            </a:r>
            <a:r>
              <a:rPr lang="en-US" sz="2400" dirty="0">
                <a:latin typeface="Times New Roman"/>
                <a:cs typeface="Times New Roman"/>
              </a:rPr>
              <a:t>the </a:t>
            </a:r>
            <a:r>
              <a:rPr lang="en-US" sz="2400" spc="-6" dirty="0">
                <a:latin typeface="Times New Roman"/>
                <a:cs typeface="Times New Roman"/>
              </a:rPr>
              <a:t>development </a:t>
            </a:r>
            <a:r>
              <a:rPr lang="en-US" sz="2400" spc="-3" dirty="0">
                <a:latin typeface="Times New Roman"/>
                <a:cs typeface="Times New Roman"/>
              </a:rPr>
              <a:t>process. SQA has </a:t>
            </a:r>
            <a:r>
              <a:rPr lang="en-US" sz="2400" dirty="0">
                <a:latin typeface="Times New Roman"/>
                <a:cs typeface="Times New Roman"/>
              </a:rPr>
              <a:t>a </a:t>
            </a:r>
            <a:r>
              <a:rPr lang="en-US" sz="2400" spc="-3" dirty="0">
                <a:latin typeface="Times New Roman"/>
                <a:cs typeface="Times New Roman"/>
              </a:rPr>
              <a:t>variety </a:t>
            </a:r>
            <a:r>
              <a:rPr lang="en-US" sz="2400" spc="6" dirty="0">
                <a:latin typeface="Times New Roman"/>
                <a:cs typeface="Times New Roman"/>
              </a:rPr>
              <a:t>of </a:t>
            </a:r>
            <a:r>
              <a:rPr lang="en-US" sz="2400" spc="-3" dirty="0">
                <a:latin typeface="Times New Roman"/>
                <a:cs typeface="Times New Roman"/>
              </a:rPr>
              <a:t>tools </a:t>
            </a:r>
            <a:r>
              <a:rPr lang="en-US" sz="2400" dirty="0">
                <a:latin typeface="Times New Roman"/>
                <a:cs typeface="Times New Roman"/>
              </a:rPr>
              <a:t>to </a:t>
            </a:r>
            <a:r>
              <a:rPr lang="en-US" sz="2400" spc="-6" dirty="0">
                <a:latin typeface="Times New Roman"/>
                <a:cs typeface="Times New Roman"/>
              </a:rPr>
              <a:t>implement  </a:t>
            </a:r>
            <a:r>
              <a:rPr lang="en-US" sz="2400" dirty="0">
                <a:latin typeface="Times New Roman"/>
                <a:cs typeface="Times New Roman"/>
              </a:rPr>
              <a:t>the</a:t>
            </a:r>
            <a:r>
              <a:rPr lang="en-US" sz="2400" spc="-61" dirty="0">
                <a:latin typeface="Times New Roman"/>
                <a:cs typeface="Times New Roman"/>
              </a:rPr>
              <a:t> </a:t>
            </a:r>
            <a:r>
              <a:rPr lang="en-US" sz="2400" spc="-6" dirty="0">
                <a:latin typeface="Times New Roman"/>
                <a:cs typeface="Times New Roman"/>
              </a:rPr>
              <a:t>policy.</a:t>
            </a:r>
            <a:endParaRPr lang="en-US" sz="2400" dirty="0">
              <a:latin typeface="Times New Roman"/>
              <a:cs typeface="Times New Roman"/>
            </a:endParaRPr>
          </a:p>
          <a:p>
            <a:pPr marL="64749" algn="just">
              <a:spcBef>
                <a:spcPts val="401"/>
              </a:spcBef>
            </a:pPr>
            <a:r>
              <a:rPr sz="2400" spc="-3" dirty="0">
                <a:latin typeface="Times New Roman"/>
                <a:cs typeface="Times New Roman"/>
              </a:rPr>
              <a:t>They</a:t>
            </a:r>
            <a:r>
              <a:rPr sz="2400" spc="-80" dirty="0">
                <a:latin typeface="Times New Roman"/>
                <a:cs typeface="Times New Roman"/>
              </a:rPr>
              <a:t> </a:t>
            </a:r>
            <a:r>
              <a:rPr sz="2400" dirty="0">
                <a:latin typeface="Times New Roman"/>
                <a:cs typeface="Times New Roman"/>
              </a:rPr>
              <a:t>are</a:t>
            </a:r>
          </a:p>
          <a:p>
            <a:pPr marL="131127" indent="-66378" algn="just">
              <a:spcBef>
                <a:spcPts val="410"/>
              </a:spcBef>
              <a:buChar char="•"/>
              <a:tabLst>
                <a:tab pos="131533" algn="l"/>
              </a:tabLst>
            </a:pPr>
            <a:r>
              <a:rPr sz="2800" spc="-3" dirty="0">
                <a:latin typeface="Times New Roman"/>
                <a:cs typeface="Times New Roman"/>
              </a:rPr>
              <a:t>Auditing</a:t>
            </a:r>
            <a:endParaRPr sz="2800" dirty="0">
              <a:latin typeface="Times New Roman"/>
              <a:cs typeface="Times New Roman"/>
            </a:endParaRPr>
          </a:p>
          <a:p>
            <a:pPr marL="131127" indent="-66378" algn="just">
              <a:spcBef>
                <a:spcPts val="529"/>
              </a:spcBef>
              <a:buChar char="•"/>
              <a:tabLst>
                <a:tab pos="131533" algn="l"/>
              </a:tabLst>
            </a:pPr>
            <a:r>
              <a:rPr sz="2800" spc="-3" dirty="0">
                <a:latin typeface="Times New Roman"/>
                <a:cs typeface="Times New Roman"/>
              </a:rPr>
              <a:t>Inspection</a:t>
            </a:r>
            <a:endParaRPr sz="2800" dirty="0">
              <a:latin typeface="Times New Roman"/>
              <a:cs typeface="Times New Roman"/>
            </a:endParaRPr>
          </a:p>
          <a:p>
            <a:pPr marL="64749" marR="111987" indent="179994" algn="just">
              <a:lnSpc>
                <a:spcPct val="143700"/>
              </a:lnSpc>
              <a:spcBef>
                <a:spcPts val="55"/>
              </a:spcBef>
            </a:pPr>
            <a:r>
              <a:rPr sz="2400" spc="-3" dirty="0">
                <a:latin typeface="Times New Roman"/>
                <a:cs typeface="Times New Roman"/>
              </a:rPr>
              <a:t>Verify compliance with </a:t>
            </a:r>
            <a:r>
              <a:rPr sz="2400" dirty="0">
                <a:latin typeface="Times New Roman"/>
                <a:cs typeface="Times New Roman"/>
              </a:rPr>
              <a:t>those </a:t>
            </a:r>
            <a:r>
              <a:rPr sz="2400" spc="-6" dirty="0">
                <a:latin typeface="Times New Roman"/>
                <a:cs typeface="Times New Roman"/>
              </a:rPr>
              <a:t>norms </a:t>
            </a:r>
            <a:r>
              <a:rPr sz="2400" spc="-3" dirty="0">
                <a:latin typeface="Times New Roman"/>
                <a:cs typeface="Times New Roman"/>
              </a:rPr>
              <a:t>and </a:t>
            </a:r>
            <a:r>
              <a:rPr sz="2400" dirty="0">
                <a:latin typeface="Times New Roman"/>
                <a:cs typeface="Times New Roman"/>
              </a:rPr>
              <a:t>practices </a:t>
            </a:r>
            <a:r>
              <a:rPr sz="2400" spc="-6" dirty="0">
                <a:latin typeface="Times New Roman"/>
                <a:cs typeface="Times New Roman"/>
              </a:rPr>
              <a:t>specified </a:t>
            </a:r>
            <a:r>
              <a:rPr sz="2400" spc="-10" dirty="0">
                <a:latin typeface="Times New Roman"/>
                <a:cs typeface="Times New Roman"/>
              </a:rPr>
              <a:t>in </a:t>
            </a:r>
            <a:r>
              <a:rPr sz="2400" spc="-3" dirty="0">
                <a:latin typeface="Times New Roman"/>
                <a:cs typeface="Times New Roman"/>
              </a:rPr>
              <a:t>QA </a:t>
            </a:r>
            <a:r>
              <a:rPr sz="2400" spc="-6" dirty="0">
                <a:latin typeface="Times New Roman"/>
                <a:cs typeface="Times New Roman"/>
              </a:rPr>
              <a:t>policy;  </a:t>
            </a:r>
            <a:r>
              <a:rPr sz="2400" spc="-3" dirty="0">
                <a:latin typeface="Times New Roman"/>
                <a:cs typeface="Times New Roman"/>
              </a:rPr>
              <a:t>deviations </a:t>
            </a:r>
            <a:r>
              <a:rPr sz="2400" dirty="0">
                <a:latin typeface="Times New Roman"/>
                <a:cs typeface="Times New Roman"/>
              </a:rPr>
              <a:t>are </a:t>
            </a:r>
            <a:r>
              <a:rPr sz="2400" spc="-6" dirty="0">
                <a:latin typeface="Times New Roman"/>
                <a:cs typeface="Times New Roman"/>
              </a:rPr>
              <a:t>set </a:t>
            </a:r>
            <a:r>
              <a:rPr sz="2400" spc="-3" dirty="0">
                <a:latin typeface="Times New Roman"/>
                <a:cs typeface="Times New Roman"/>
              </a:rPr>
              <a:t>right. Ensure that deviations </a:t>
            </a:r>
            <a:r>
              <a:rPr sz="2400" dirty="0">
                <a:latin typeface="Times New Roman"/>
                <a:cs typeface="Times New Roman"/>
              </a:rPr>
              <a:t>are </a:t>
            </a:r>
            <a:r>
              <a:rPr sz="2400" spc="-3" dirty="0">
                <a:latin typeface="Times New Roman"/>
                <a:cs typeface="Times New Roman"/>
              </a:rPr>
              <a:t>documented </a:t>
            </a:r>
            <a:r>
              <a:rPr sz="2400" spc="-6" dirty="0">
                <a:latin typeface="Times New Roman"/>
                <a:cs typeface="Times New Roman"/>
              </a:rPr>
              <a:t>and </a:t>
            </a:r>
            <a:r>
              <a:rPr sz="2400" dirty="0">
                <a:latin typeface="Times New Roman"/>
                <a:cs typeface="Times New Roman"/>
              </a:rPr>
              <a:t>reported </a:t>
            </a:r>
            <a:r>
              <a:rPr sz="2400" spc="-6" dirty="0">
                <a:latin typeface="Times New Roman"/>
                <a:cs typeface="Times New Roman"/>
              </a:rPr>
              <a:t>and put into  </a:t>
            </a:r>
            <a:r>
              <a:rPr sz="2400" dirty="0">
                <a:latin typeface="Times New Roman"/>
                <a:cs typeface="Times New Roman"/>
              </a:rPr>
              <a:t>the </a:t>
            </a:r>
            <a:r>
              <a:rPr sz="2400" spc="-3" dirty="0">
                <a:latin typeface="Times New Roman"/>
                <a:cs typeface="Times New Roman"/>
              </a:rPr>
              <a:t>QA database </a:t>
            </a:r>
            <a:r>
              <a:rPr sz="2400" spc="-6" dirty="0">
                <a:latin typeface="Times New Roman"/>
                <a:cs typeface="Times New Roman"/>
              </a:rPr>
              <a:t>for guidance. </a:t>
            </a:r>
            <a:r>
              <a:rPr sz="2400" spc="-3" dirty="0">
                <a:latin typeface="Times New Roman"/>
                <a:cs typeface="Times New Roman"/>
              </a:rPr>
              <a:t>Design </a:t>
            </a:r>
            <a:r>
              <a:rPr sz="2400" spc="-6" dirty="0">
                <a:latin typeface="Times New Roman"/>
                <a:cs typeface="Times New Roman"/>
              </a:rPr>
              <a:t>and </a:t>
            </a:r>
            <a:r>
              <a:rPr sz="2400" spc="-3" dirty="0">
                <a:latin typeface="Times New Roman"/>
                <a:cs typeface="Times New Roman"/>
              </a:rPr>
              <a:t>architecture </a:t>
            </a:r>
            <a:r>
              <a:rPr sz="2400" spc="-10" dirty="0">
                <a:latin typeface="Times New Roman"/>
                <a:cs typeface="Times New Roman"/>
              </a:rPr>
              <a:t>is </a:t>
            </a:r>
            <a:r>
              <a:rPr sz="2400" spc="-3" dirty="0">
                <a:latin typeface="Times New Roman"/>
                <a:cs typeface="Times New Roman"/>
              </a:rPr>
              <a:t>reviewed </a:t>
            </a:r>
            <a:r>
              <a:rPr sz="2400" dirty="0">
                <a:latin typeface="Times New Roman"/>
                <a:cs typeface="Times New Roman"/>
              </a:rPr>
              <a:t>to </a:t>
            </a:r>
            <a:r>
              <a:rPr sz="2400" spc="-6" dirty="0">
                <a:latin typeface="Times New Roman"/>
                <a:cs typeface="Times New Roman"/>
              </a:rPr>
              <a:t>ensure </a:t>
            </a:r>
            <a:r>
              <a:rPr sz="2400" spc="-3" dirty="0">
                <a:latin typeface="Times New Roman"/>
                <a:cs typeface="Times New Roman"/>
              </a:rPr>
              <a:t>that  standards </a:t>
            </a:r>
            <a:r>
              <a:rPr sz="2400" dirty="0">
                <a:latin typeface="Times New Roman"/>
                <a:cs typeface="Times New Roman"/>
              </a:rPr>
              <a:t>are </a:t>
            </a:r>
            <a:r>
              <a:rPr sz="2400" spc="-13" dirty="0">
                <a:latin typeface="Times New Roman"/>
                <a:cs typeface="Times New Roman"/>
              </a:rPr>
              <a:t>met </a:t>
            </a:r>
            <a:r>
              <a:rPr sz="2400" spc="-6" dirty="0">
                <a:latin typeface="Times New Roman"/>
                <a:cs typeface="Times New Roman"/>
              </a:rPr>
              <a:t>and customer </a:t>
            </a:r>
            <a:r>
              <a:rPr sz="2400" spc="-3" dirty="0">
                <a:latin typeface="Times New Roman"/>
                <a:cs typeface="Times New Roman"/>
              </a:rPr>
              <a:t>quality </a:t>
            </a:r>
            <a:r>
              <a:rPr sz="2400" spc="-10" dirty="0">
                <a:latin typeface="Times New Roman"/>
                <a:cs typeface="Times New Roman"/>
              </a:rPr>
              <a:t>is </a:t>
            </a:r>
            <a:r>
              <a:rPr sz="2400" dirty="0">
                <a:latin typeface="Times New Roman"/>
                <a:cs typeface="Times New Roman"/>
              </a:rPr>
              <a:t>assured. </a:t>
            </a:r>
            <a:r>
              <a:rPr sz="2400" spc="-3" dirty="0">
                <a:latin typeface="Times New Roman"/>
                <a:cs typeface="Times New Roman"/>
              </a:rPr>
              <a:t>Implement </a:t>
            </a:r>
            <a:r>
              <a:rPr sz="2400" spc="-6" dirty="0">
                <a:latin typeface="Times New Roman"/>
                <a:cs typeface="Times New Roman"/>
              </a:rPr>
              <a:t>change management.  Collect </a:t>
            </a:r>
            <a:r>
              <a:rPr sz="2400" spc="3" dirty="0">
                <a:latin typeface="Times New Roman"/>
                <a:cs typeface="Times New Roman"/>
              </a:rPr>
              <a:t>data </a:t>
            </a:r>
            <a:r>
              <a:rPr sz="2400" spc="6" dirty="0">
                <a:latin typeface="Times New Roman"/>
                <a:cs typeface="Times New Roman"/>
              </a:rPr>
              <a:t>on </a:t>
            </a:r>
            <a:r>
              <a:rPr sz="2400" spc="-3" dirty="0">
                <a:latin typeface="Times New Roman"/>
                <a:cs typeface="Times New Roman"/>
              </a:rPr>
              <a:t>various observations </a:t>
            </a:r>
            <a:r>
              <a:rPr sz="2400" spc="-10" dirty="0">
                <a:latin typeface="Times New Roman"/>
                <a:cs typeface="Times New Roman"/>
              </a:rPr>
              <a:t>in </a:t>
            </a:r>
            <a:r>
              <a:rPr sz="2400" dirty="0">
                <a:latin typeface="Times New Roman"/>
                <a:cs typeface="Times New Roman"/>
              </a:rPr>
              <a:t>the process </a:t>
            </a:r>
            <a:r>
              <a:rPr sz="2400" spc="6" dirty="0">
                <a:latin typeface="Times New Roman"/>
                <a:cs typeface="Times New Roman"/>
              </a:rPr>
              <a:t>of </a:t>
            </a:r>
            <a:r>
              <a:rPr sz="2400" spc="-3" dirty="0">
                <a:latin typeface="Times New Roman"/>
                <a:cs typeface="Times New Roman"/>
              </a:rPr>
              <a:t>auditing, inspection </a:t>
            </a:r>
            <a:r>
              <a:rPr sz="2400" spc="-6" dirty="0">
                <a:latin typeface="Times New Roman"/>
                <a:cs typeface="Times New Roman"/>
              </a:rPr>
              <a:t>and </a:t>
            </a:r>
            <a:r>
              <a:rPr sz="2400" dirty="0">
                <a:latin typeface="Times New Roman"/>
                <a:cs typeface="Times New Roman"/>
              </a:rPr>
              <a:t>reviews to  </a:t>
            </a:r>
            <a:r>
              <a:rPr sz="2400" spc="-3" dirty="0">
                <a:latin typeface="Times New Roman"/>
                <a:cs typeface="Times New Roman"/>
              </a:rPr>
              <a:t>build QA database and </a:t>
            </a:r>
            <a:r>
              <a:rPr sz="2400" dirty="0">
                <a:latin typeface="Times New Roman"/>
                <a:cs typeface="Times New Roman"/>
              </a:rPr>
              <a:t>to </a:t>
            </a:r>
            <a:r>
              <a:rPr sz="2400" spc="-10" dirty="0">
                <a:latin typeface="Times New Roman"/>
                <a:cs typeface="Times New Roman"/>
              </a:rPr>
              <a:t>improve </a:t>
            </a:r>
            <a:r>
              <a:rPr sz="2400" spc="-3" dirty="0">
                <a:latin typeface="Times New Roman"/>
                <a:cs typeface="Times New Roman"/>
              </a:rPr>
              <a:t>various</a:t>
            </a:r>
            <a:r>
              <a:rPr sz="2400" spc="77" dirty="0">
                <a:latin typeface="Times New Roman"/>
                <a:cs typeface="Times New Roman"/>
              </a:rPr>
              <a:t> </a:t>
            </a:r>
            <a:r>
              <a:rPr sz="2400" spc="-3" dirty="0">
                <a:latin typeface="Times New Roman"/>
                <a:cs typeface="Times New Roman"/>
              </a:rPr>
              <a:t>standards.</a:t>
            </a:r>
            <a:endParaRPr sz="2400" dirty="0">
              <a:latin typeface="Times New Roman"/>
              <a:cs typeface="Times New Roman"/>
            </a:endParaRPr>
          </a:p>
          <a:p>
            <a:pPr>
              <a:lnSpc>
                <a:spcPct val="100000"/>
              </a:lnSpc>
            </a:pPr>
            <a:endParaRPr sz="2400" dirty="0">
              <a:latin typeface="Times New Roman"/>
              <a:cs typeface="Times New Roman"/>
            </a:endParaRPr>
          </a:p>
        </p:txBody>
      </p:sp>
    </p:spTree>
    <p:extLst>
      <p:ext uri="{BB962C8B-B14F-4D97-AF65-F5344CB8AC3E}">
        <p14:creationId xmlns:p14="http://schemas.microsoft.com/office/powerpoint/2010/main" val="1991159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09B9C-860A-99F4-A4CF-DD43ABEA4AA8}"/>
              </a:ext>
            </a:extLst>
          </p:cNvPr>
          <p:cNvSpPr>
            <a:spLocks noGrp="1"/>
          </p:cNvSpPr>
          <p:nvPr>
            <p:ph type="title" idx="4294967295"/>
          </p:nvPr>
        </p:nvSpPr>
        <p:spPr>
          <a:xfrm>
            <a:off x="2192338" y="274638"/>
            <a:ext cx="9999662" cy="1143000"/>
          </a:xfrm>
          <a:prstGeom prst="rect">
            <a:avLst/>
          </a:prstGeom>
        </p:spPr>
        <p:txBody>
          <a:bodyPr>
            <a:normAutofit fontScale="90000"/>
          </a:bodyPr>
          <a:lstStyle/>
          <a:p>
            <a:r>
              <a:rPr lang="en-US" sz="4400" b="1" spc="-3" dirty="0">
                <a:latin typeface="Times New Roman"/>
                <a:cs typeface="Times New Roman"/>
              </a:rPr>
              <a:t>Software</a:t>
            </a:r>
            <a:r>
              <a:rPr lang="en-US" sz="4400" b="1" spc="-55" dirty="0">
                <a:latin typeface="Times New Roman"/>
                <a:cs typeface="Times New Roman"/>
              </a:rPr>
              <a:t> </a:t>
            </a:r>
            <a:r>
              <a:rPr lang="en-US" sz="4400" b="1" spc="-3" dirty="0">
                <a:latin typeface="Times New Roman"/>
                <a:cs typeface="Times New Roman"/>
              </a:rPr>
              <a:t>Defects</a:t>
            </a:r>
            <a:br>
              <a:rPr lang="en-US" sz="4400" dirty="0">
                <a:latin typeface="Times New Roman"/>
                <a:cs typeface="Times New Roman"/>
              </a:rPr>
            </a:br>
            <a:endParaRPr lang="ar-SD" dirty="0"/>
          </a:p>
        </p:txBody>
      </p:sp>
      <p:sp>
        <p:nvSpPr>
          <p:cNvPr id="3" name="Content Placeholder 2">
            <a:extLst>
              <a:ext uri="{FF2B5EF4-FFF2-40B4-BE49-F238E27FC236}">
                <a16:creationId xmlns:a16="http://schemas.microsoft.com/office/drawing/2014/main" id="{CC3EB116-B839-A8AD-799B-97E18CA194E6}"/>
              </a:ext>
            </a:extLst>
          </p:cNvPr>
          <p:cNvSpPr>
            <a:spLocks noGrp="1"/>
          </p:cNvSpPr>
          <p:nvPr>
            <p:ph idx="4294967295"/>
          </p:nvPr>
        </p:nvSpPr>
        <p:spPr>
          <a:xfrm>
            <a:off x="0" y="1644650"/>
            <a:ext cx="8637588" cy="5213350"/>
          </a:xfrm>
        </p:spPr>
        <p:txBody>
          <a:bodyPr>
            <a:normAutofit fontScale="92500" lnSpcReduction="10000"/>
          </a:bodyPr>
          <a:lstStyle/>
          <a:p>
            <a:pPr marL="0" indent="0" algn="just" rtl="0">
              <a:spcBef>
                <a:spcPts val="487"/>
              </a:spcBef>
              <a:buNone/>
            </a:pPr>
            <a:r>
              <a:rPr lang="en-US" sz="2800" b="1" spc="-6" dirty="0">
                <a:latin typeface="Times New Roman"/>
                <a:cs typeface="Times New Roman"/>
              </a:rPr>
              <a:t>The </a:t>
            </a:r>
            <a:r>
              <a:rPr lang="en-US" sz="2800" b="1" spc="-3" dirty="0">
                <a:latin typeface="Times New Roman"/>
                <a:cs typeface="Times New Roman"/>
              </a:rPr>
              <a:t>causes </a:t>
            </a:r>
            <a:r>
              <a:rPr lang="en-US" sz="2800" b="1" spc="-6" dirty="0">
                <a:latin typeface="Times New Roman"/>
                <a:cs typeface="Times New Roman"/>
              </a:rPr>
              <a:t>for not meeting </a:t>
            </a:r>
            <a:r>
              <a:rPr lang="en-US" sz="2800" b="1" dirty="0">
                <a:latin typeface="Times New Roman"/>
                <a:cs typeface="Times New Roman"/>
              </a:rPr>
              <a:t>the </a:t>
            </a:r>
            <a:r>
              <a:rPr lang="en-US" sz="2800" b="1" spc="-3" dirty="0">
                <a:latin typeface="Times New Roman"/>
                <a:cs typeface="Times New Roman"/>
              </a:rPr>
              <a:t>quality </a:t>
            </a:r>
            <a:r>
              <a:rPr lang="en-US" sz="2800" b="1" dirty="0">
                <a:latin typeface="Times New Roman"/>
                <a:cs typeface="Times New Roman"/>
              </a:rPr>
              <a:t>commonly</a:t>
            </a:r>
            <a:r>
              <a:rPr lang="en-US" sz="2800" b="1" spc="38" dirty="0">
                <a:latin typeface="Times New Roman"/>
                <a:cs typeface="Times New Roman"/>
              </a:rPr>
              <a:t> </a:t>
            </a:r>
            <a:r>
              <a:rPr lang="en-US" sz="2800" b="1" dirty="0">
                <a:latin typeface="Times New Roman"/>
                <a:cs typeface="Times New Roman"/>
              </a:rPr>
              <a:t>are</a:t>
            </a:r>
          </a:p>
          <a:p>
            <a:pPr marL="131127" indent="-66378" algn="just" rtl="0">
              <a:spcBef>
                <a:spcPts val="507"/>
              </a:spcBef>
              <a:buSzPct val="112500"/>
              <a:buChar char="•"/>
              <a:tabLst>
                <a:tab pos="131533" algn="l"/>
              </a:tabLst>
            </a:pPr>
            <a:r>
              <a:rPr lang="en-US" sz="2800" spc="-3" dirty="0">
                <a:latin typeface="Times New Roman"/>
                <a:cs typeface="Times New Roman"/>
              </a:rPr>
              <a:t>Imprecise requirement </a:t>
            </a:r>
            <a:r>
              <a:rPr lang="en-US" sz="2800" spc="-6" dirty="0">
                <a:latin typeface="Times New Roman"/>
                <a:cs typeface="Times New Roman"/>
              </a:rPr>
              <a:t>and </a:t>
            </a:r>
            <a:r>
              <a:rPr lang="en-US" sz="2800" spc="-3" dirty="0">
                <a:latin typeface="Times New Roman"/>
                <a:cs typeface="Times New Roman"/>
              </a:rPr>
              <a:t>software</a:t>
            </a:r>
            <a:r>
              <a:rPr lang="en-US" sz="2800" spc="22" dirty="0">
                <a:latin typeface="Times New Roman"/>
                <a:cs typeface="Times New Roman"/>
              </a:rPr>
              <a:t> </a:t>
            </a:r>
            <a:r>
              <a:rPr lang="en-US" sz="2800" spc="-3" dirty="0">
                <a:latin typeface="Times New Roman"/>
                <a:cs typeface="Times New Roman"/>
              </a:rPr>
              <a:t>specifications</a:t>
            </a:r>
            <a:endParaRPr lang="en-US" sz="2800" dirty="0">
              <a:latin typeface="Times New Roman"/>
              <a:cs typeface="Times New Roman"/>
            </a:endParaRPr>
          </a:p>
          <a:p>
            <a:pPr marL="131127" indent="-66378" algn="just" rtl="0">
              <a:spcBef>
                <a:spcPts val="571"/>
              </a:spcBef>
              <a:buSzPct val="112500"/>
              <a:buChar char="•"/>
              <a:tabLst>
                <a:tab pos="131533" algn="l"/>
              </a:tabLst>
            </a:pPr>
            <a:r>
              <a:rPr lang="en-US" sz="2800" spc="-6" dirty="0">
                <a:latin typeface="Times New Roman"/>
                <a:cs typeface="Times New Roman"/>
              </a:rPr>
              <a:t>Lack </a:t>
            </a:r>
            <a:r>
              <a:rPr lang="en-US" sz="2800" spc="6" dirty="0">
                <a:latin typeface="Times New Roman"/>
                <a:cs typeface="Times New Roman"/>
              </a:rPr>
              <a:t>of </a:t>
            </a:r>
            <a:r>
              <a:rPr lang="en-US" sz="2800" spc="-3" dirty="0">
                <a:latin typeface="Times New Roman"/>
                <a:cs typeface="Times New Roman"/>
              </a:rPr>
              <a:t>understanding </a:t>
            </a:r>
            <a:r>
              <a:rPr lang="en-US" sz="2800" spc="6" dirty="0">
                <a:latin typeface="Times New Roman"/>
                <a:cs typeface="Times New Roman"/>
              </a:rPr>
              <a:t>of </a:t>
            </a:r>
            <a:r>
              <a:rPr lang="en-US" sz="2800" spc="-3" dirty="0">
                <a:latin typeface="Times New Roman"/>
                <a:cs typeface="Times New Roman"/>
              </a:rPr>
              <a:t>customer</a:t>
            </a:r>
            <a:r>
              <a:rPr lang="en-US" sz="2800" spc="-38" dirty="0">
                <a:latin typeface="Times New Roman"/>
                <a:cs typeface="Times New Roman"/>
              </a:rPr>
              <a:t> </a:t>
            </a:r>
            <a:r>
              <a:rPr lang="en-US" sz="2800" spc="-3" dirty="0">
                <a:latin typeface="Times New Roman"/>
                <a:cs typeface="Times New Roman"/>
              </a:rPr>
              <a:t>requirements</a:t>
            </a:r>
            <a:endParaRPr lang="en-US" sz="2800" dirty="0">
              <a:latin typeface="Times New Roman"/>
              <a:cs typeface="Times New Roman"/>
            </a:endParaRPr>
          </a:p>
          <a:p>
            <a:pPr marL="131127" indent="-66378" algn="just" rtl="0">
              <a:spcBef>
                <a:spcPts val="568"/>
              </a:spcBef>
              <a:buSzPct val="112500"/>
              <a:buChar char="•"/>
              <a:tabLst>
                <a:tab pos="131533" algn="l"/>
              </a:tabLst>
            </a:pPr>
            <a:r>
              <a:rPr lang="en-US" sz="2800" spc="-3" dirty="0">
                <a:latin typeface="Times New Roman"/>
                <a:cs typeface="Times New Roman"/>
              </a:rPr>
              <a:t>International</a:t>
            </a:r>
            <a:r>
              <a:rPr lang="en-US" sz="2800" spc="-67" dirty="0">
                <a:latin typeface="Times New Roman"/>
                <a:cs typeface="Times New Roman"/>
              </a:rPr>
              <a:t> </a:t>
            </a:r>
            <a:r>
              <a:rPr lang="en-US" sz="2800" dirty="0">
                <a:latin typeface="Times New Roman"/>
                <a:cs typeface="Times New Roman"/>
              </a:rPr>
              <a:t>deviations</a:t>
            </a:r>
          </a:p>
          <a:p>
            <a:pPr marL="131127" indent="-66378" algn="just" rtl="0">
              <a:spcBef>
                <a:spcPts val="568"/>
              </a:spcBef>
              <a:buSzPct val="112500"/>
              <a:buChar char="•"/>
              <a:tabLst>
                <a:tab pos="131533" algn="l"/>
              </a:tabLst>
            </a:pPr>
            <a:r>
              <a:rPr lang="en-US" sz="2800" spc="-3" dirty="0">
                <a:latin typeface="Times New Roman"/>
                <a:cs typeface="Times New Roman"/>
              </a:rPr>
              <a:t>Violation </a:t>
            </a:r>
            <a:r>
              <a:rPr lang="en-US" sz="2800" spc="6" dirty="0">
                <a:latin typeface="Times New Roman"/>
                <a:cs typeface="Times New Roman"/>
              </a:rPr>
              <a:t>of </a:t>
            </a:r>
            <a:r>
              <a:rPr lang="en-US" sz="2800" spc="-3" dirty="0">
                <a:latin typeface="Times New Roman"/>
                <a:cs typeface="Times New Roman"/>
              </a:rPr>
              <a:t>standards (Design,</a:t>
            </a:r>
            <a:r>
              <a:rPr lang="en-US" sz="2800" spc="-35" dirty="0">
                <a:latin typeface="Times New Roman"/>
                <a:cs typeface="Times New Roman"/>
              </a:rPr>
              <a:t> </a:t>
            </a:r>
            <a:r>
              <a:rPr lang="en-US" sz="2800" spc="-3" dirty="0">
                <a:latin typeface="Times New Roman"/>
                <a:cs typeface="Times New Roman"/>
              </a:rPr>
              <a:t>Programming)</a:t>
            </a:r>
            <a:endParaRPr lang="en-US" sz="2800" dirty="0">
              <a:latin typeface="Times New Roman"/>
              <a:cs typeface="Times New Roman"/>
            </a:endParaRPr>
          </a:p>
          <a:p>
            <a:pPr marL="131127" indent="-66378" algn="just" rtl="0">
              <a:spcBef>
                <a:spcPts val="568"/>
              </a:spcBef>
              <a:buSzPct val="112500"/>
              <a:buChar char="•"/>
              <a:tabLst>
                <a:tab pos="131533" algn="l"/>
              </a:tabLst>
            </a:pPr>
            <a:r>
              <a:rPr lang="en-US" sz="2800" dirty="0">
                <a:latin typeface="Times New Roman"/>
                <a:cs typeface="Times New Roman"/>
              </a:rPr>
              <a:t>Erroneous </a:t>
            </a:r>
            <a:r>
              <a:rPr lang="en-US" sz="2800" spc="-3" dirty="0">
                <a:latin typeface="Times New Roman"/>
                <a:cs typeface="Times New Roman"/>
              </a:rPr>
              <a:t>data</a:t>
            </a:r>
            <a:r>
              <a:rPr lang="en-US" sz="2800" spc="-51" dirty="0">
                <a:latin typeface="Times New Roman"/>
                <a:cs typeface="Times New Roman"/>
              </a:rPr>
              <a:t> </a:t>
            </a:r>
            <a:r>
              <a:rPr lang="en-US" sz="2800" spc="-3" dirty="0">
                <a:latin typeface="Times New Roman"/>
                <a:cs typeface="Times New Roman"/>
              </a:rPr>
              <a:t>representation</a:t>
            </a:r>
          </a:p>
          <a:p>
            <a:pPr marL="116205" indent="-103505" algn="l" rtl="0">
              <a:lnSpc>
                <a:spcPct val="100000"/>
              </a:lnSpc>
              <a:buSzPct val="112500"/>
              <a:buChar char="•"/>
              <a:tabLst>
                <a:tab pos="116839" algn="l"/>
              </a:tabLst>
            </a:pPr>
            <a:r>
              <a:rPr lang="en-US" sz="2800" dirty="0">
                <a:latin typeface="Times New Roman"/>
                <a:cs typeface="Times New Roman"/>
              </a:rPr>
              <a:t>Improper</a:t>
            </a:r>
            <a:r>
              <a:rPr lang="en-US" sz="2800" spc="-60" dirty="0">
                <a:latin typeface="Times New Roman"/>
                <a:cs typeface="Times New Roman"/>
              </a:rPr>
              <a:t> </a:t>
            </a:r>
            <a:r>
              <a:rPr lang="en-US" sz="2800" spc="-10" dirty="0">
                <a:latin typeface="Times New Roman"/>
                <a:cs typeface="Times New Roman"/>
              </a:rPr>
              <a:t>interface</a:t>
            </a:r>
            <a:endParaRPr lang="en-US" sz="2800" dirty="0">
              <a:latin typeface="Times New Roman"/>
              <a:cs typeface="Times New Roman"/>
            </a:endParaRPr>
          </a:p>
          <a:p>
            <a:pPr marL="116205" indent="-103505" algn="l" rtl="0">
              <a:lnSpc>
                <a:spcPct val="100000"/>
              </a:lnSpc>
              <a:spcBef>
                <a:spcPts val="885"/>
              </a:spcBef>
              <a:buSzPct val="112500"/>
              <a:buChar char="•"/>
              <a:tabLst>
                <a:tab pos="116839" algn="l"/>
              </a:tabLst>
            </a:pPr>
            <a:r>
              <a:rPr lang="en-US" sz="2800" spc="-5" dirty="0">
                <a:latin typeface="Times New Roman"/>
                <a:cs typeface="Times New Roman"/>
              </a:rPr>
              <a:t>Faulty </a:t>
            </a:r>
            <a:r>
              <a:rPr lang="en-US" sz="2800" spc="-10" dirty="0">
                <a:latin typeface="Times New Roman"/>
                <a:cs typeface="Times New Roman"/>
              </a:rPr>
              <a:t>logic </a:t>
            </a:r>
            <a:r>
              <a:rPr lang="en-US" sz="2800" spc="-15" dirty="0">
                <a:latin typeface="Times New Roman"/>
                <a:cs typeface="Times New Roman"/>
              </a:rPr>
              <a:t>in </a:t>
            </a:r>
            <a:r>
              <a:rPr lang="en-US" sz="2800" spc="-5" dirty="0">
                <a:latin typeface="Times New Roman"/>
                <a:cs typeface="Times New Roman"/>
              </a:rPr>
              <a:t>rules and</a:t>
            </a:r>
            <a:r>
              <a:rPr lang="en-US" sz="2800" spc="25" dirty="0">
                <a:latin typeface="Times New Roman"/>
                <a:cs typeface="Times New Roman"/>
              </a:rPr>
              <a:t> </a:t>
            </a:r>
            <a:r>
              <a:rPr lang="en-US" sz="2800" spc="-5" dirty="0">
                <a:latin typeface="Times New Roman"/>
                <a:cs typeface="Times New Roman"/>
              </a:rPr>
              <a:t>processes</a:t>
            </a:r>
            <a:endParaRPr lang="en-US" sz="2800" dirty="0">
              <a:latin typeface="Times New Roman"/>
              <a:cs typeface="Times New Roman"/>
            </a:endParaRPr>
          </a:p>
          <a:p>
            <a:pPr marL="116205" indent="-103505" algn="l" rtl="0">
              <a:lnSpc>
                <a:spcPct val="100000"/>
              </a:lnSpc>
              <a:spcBef>
                <a:spcPts val="890"/>
              </a:spcBef>
              <a:buSzPct val="112500"/>
              <a:buChar char="•"/>
              <a:tabLst>
                <a:tab pos="116839" algn="l"/>
              </a:tabLst>
            </a:pPr>
            <a:r>
              <a:rPr lang="en-US" sz="2800" dirty="0">
                <a:latin typeface="Times New Roman"/>
                <a:cs typeface="Times New Roman"/>
              </a:rPr>
              <a:t>Erroneous</a:t>
            </a:r>
            <a:r>
              <a:rPr lang="en-US" sz="2800" spc="-95" dirty="0">
                <a:latin typeface="Times New Roman"/>
                <a:cs typeface="Times New Roman"/>
              </a:rPr>
              <a:t> </a:t>
            </a:r>
            <a:r>
              <a:rPr lang="en-US" sz="2800" spc="-10" dirty="0">
                <a:latin typeface="Times New Roman"/>
                <a:cs typeface="Times New Roman"/>
              </a:rPr>
              <a:t>testing</a:t>
            </a:r>
            <a:endParaRPr lang="en-US" sz="2800" dirty="0">
              <a:latin typeface="Times New Roman"/>
              <a:cs typeface="Times New Roman"/>
            </a:endParaRPr>
          </a:p>
          <a:p>
            <a:pPr marL="116205" indent="-103505" algn="l" rtl="0">
              <a:lnSpc>
                <a:spcPct val="100000"/>
              </a:lnSpc>
              <a:spcBef>
                <a:spcPts val="885"/>
              </a:spcBef>
              <a:buSzPct val="112500"/>
              <a:buChar char="•"/>
              <a:tabLst>
                <a:tab pos="116839" algn="l"/>
              </a:tabLst>
            </a:pPr>
            <a:r>
              <a:rPr lang="en-US" sz="2800" spc="-5" dirty="0">
                <a:latin typeface="Times New Roman"/>
                <a:cs typeface="Times New Roman"/>
              </a:rPr>
              <a:t>Incomplete </a:t>
            </a:r>
            <a:r>
              <a:rPr lang="en-US" sz="2800" spc="-10" dirty="0">
                <a:latin typeface="Times New Roman"/>
                <a:cs typeface="Times New Roman"/>
              </a:rPr>
              <a:t>and </a:t>
            </a:r>
            <a:r>
              <a:rPr lang="en-US" sz="2800" spc="-5" dirty="0">
                <a:latin typeface="Times New Roman"/>
                <a:cs typeface="Times New Roman"/>
              </a:rPr>
              <a:t>defective</a:t>
            </a:r>
            <a:r>
              <a:rPr lang="en-US" sz="2800" spc="40" dirty="0">
                <a:latin typeface="Times New Roman"/>
                <a:cs typeface="Times New Roman"/>
              </a:rPr>
              <a:t> </a:t>
            </a:r>
            <a:r>
              <a:rPr lang="en-US" sz="2800" spc="-5" dirty="0">
                <a:latin typeface="Times New Roman"/>
                <a:cs typeface="Times New Roman"/>
              </a:rPr>
              <a:t>documentation</a:t>
            </a:r>
            <a:endParaRPr lang="en-US" sz="2800" dirty="0">
              <a:latin typeface="Times New Roman"/>
              <a:cs typeface="Times New Roman"/>
            </a:endParaRPr>
          </a:p>
          <a:p>
            <a:pPr marL="116205" indent="-103505" algn="l" rtl="0">
              <a:lnSpc>
                <a:spcPct val="100000"/>
              </a:lnSpc>
              <a:spcBef>
                <a:spcPts val="910"/>
              </a:spcBef>
              <a:buSzPct val="112500"/>
              <a:buChar char="•"/>
              <a:tabLst>
                <a:tab pos="116839" algn="l"/>
              </a:tabLst>
            </a:pPr>
            <a:r>
              <a:rPr lang="en-US" sz="2800" spc="-10" dirty="0">
                <a:latin typeface="Times New Roman"/>
                <a:cs typeface="Times New Roman"/>
              </a:rPr>
              <a:t>H&amp;S </a:t>
            </a:r>
            <a:r>
              <a:rPr lang="en-US" sz="2800" spc="-5" dirty="0">
                <a:latin typeface="Times New Roman"/>
                <a:cs typeface="Times New Roman"/>
              </a:rPr>
              <a:t>platforms not </a:t>
            </a:r>
            <a:r>
              <a:rPr lang="en-US" sz="2800" spc="-10" dirty="0">
                <a:latin typeface="Times New Roman"/>
                <a:cs typeface="Times New Roman"/>
              </a:rPr>
              <a:t>coping </a:t>
            </a:r>
            <a:r>
              <a:rPr lang="en-US" sz="2800" dirty="0">
                <a:latin typeface="Times New Roman"/>
                <a:cs typeface="Times New Roman"/>
              </a:rPr>
              <a:t>up to </a:t>
            </a:r>
            <a:r>
              <a:rPr lang="en-US" sz="2800" spc="-10" dirty="0">
                <a:latin typeface="Times New Roman"/>
                <a:cs typeface="Times New Roman"/>
              </a:rPr>
              <a:t>required</a:t>
            </a:r>
            <a:r>
              <a:rPr lang="en-US" sz="2800" spc="50" dirty="0">
                <a:latin typeface="Times New Roman"/>
                <a:cs typeface="Times New Roman"/>
              </a:rPr>
              <a:t> </a:t>
            </a:r>
            <a:r>
              <a:rPr lang="en-US" sz="2800" dirty="0">
                <a:latin typeface="Times New Roman"/>
                <a:cs typeface="Times New Roman"/>
              </a:rPr>
              <a:t>standards</a:t>
            </a:r>
          </a:p>
          <a:p>
            <a:pPr marL="116205" indent="-103505" algn="l" rtl="0">
              <a:lnSpc>
                <a:spcPct val="100000"/>
              </a:lnSpc>
              <a:spcBef>
                <a:spcPts val="885"/>
              </a:spcBef>
              <a:buSzPct val="112500"/>
              <a:buChar char="•"/>
              <a:tabLst>
                <a:tab pos="116839" algn="l"/>
              </a:tabLst>
            </a:pPr>
            <a:r>
              <a:rPr lang="en-US" sz="2800" spc="-10" dirty="0">
                <a:latin typeface="Times New Roman"/>
                <a:cs typeface="Times New Roman"/>
              </a:rPr>
              <a:t>Lack </a:t>
            </a:r>
            <a:r>
              <a:rPr lang="en-US" sz="2800" spc="10" dirty="0">
                <a:latin typeface="Times New Roman"/>
                <a:cs typeface="Times New Roman"/>
              </a:rPr>
              <a:t>of </a:t>
            </a:r>
            <a:r>
              <a:rPr lang="en-US" sz="2800" spc="-5" dirty="0">
                <a:latin typeface="Times New Roman"/>
                <a:cs typeface="Times New Roman"/>
              </a:rPr>
              <a:t>domain</a:t>
            </a:r>
            <a:r>
              <a:rPr lang="en-US" sz="2800" spc="-100" dirty="0">
                <a:latin typeface="Times New Roman"/>
                <a:cs typeface="Times New Roman"/>
              </a:rPr>
              <a:t> </a:t>
            </a:r>
            <a:r>
              <a:rPr lang="en-US" sz="2800" spc="-5" dirty="0">
                <a:latin typeface="Times New Roman"/>
                <a:cs typeface="Times New Roman"/>
              </a:rPr>
              <a:t>knowledge</a:t>
            </a:r>
            <a:endParaRPr lang="en-US" sz="2800" dirty="0">
              <a:latin typeface="Times New Roman"/>
              <a:cs typeface="Times New Roman"/>
            </a:endParaRPr>
          </a:p>
          <a:p>
            <a:pPr marL="131127" indent="-66378" algn="just" rtl="0">
              <a:spcBef>
                <a:spcPts val="568"/>
              </a:spcBef>
              <a:buSzPct val="112500"/>
              <a:buChar char="•"/>
              <a:tabLst>
                <a:tab pos="131533" algn="l"/>
              </a:tabLst>
            </a:pPr>
            <a:endParaRPr lang="en-US" sz="2800" dirty="0">
              <a:latin typeface="Times New Roman"/>
              <a:cs typeface="Times New Roman"/>
            </a:endParaRPr>
          </a:p>
          <a:p>
            <a:pPr algn="l" rtl="0"/>
            <a:endParaRPr lang="ar-SD" dirty="0"/>
          </a:p>
        </p:txBody>
      </p:sp>
    </p:spTree>
    <p:extLst>
      <p:ext uri="{BB962C8B-B14F-4D97-AF65-F5344CB8AC3E}">
        <p14:creationId xmlns:p14="http://schemas.microsoft.com/office/powerpoint/2010/main" val="3632568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029863" y="5946601"/>
            <a:ext cx="134391" cy="108491"/>
          </a:xfrm>
          <a:prstGeom prst="rect">
            <a:avLst/>
          </a:prstGeom>
        </p:spPr>
        <p:txBody>
          <a:bodyPr vert="horz" wrap="square" lIns="0" tIns="0" rIns="0" bIns="0" rtlCol="0">
            <a:spAutoFit/>
          </a:bodyPr>
          <a:lstStyle/>
          <a:p>
            <a:pPr marL="16289"/>
            <a:fld id="{81D60167-4931-47E6-BA6A-407CBD079E47}" type="slidenum">
              <a:rPr sz="705" dirty="0">
                <a:latin typeface="Arial"/>
                <a:cs typeface="Arial"/>
              </a:rPr>
              <a:pPr marL="16289"/>
              <a:t>14</a:t>
            </a:fld>
            <a:endParaRPr sz="705">
              <a:latin typeface="Arial"/>
              <a:cs typeface="Arial"/>
            </a:endParaRPr>
          </a:p>
        </p:txBody>
      </p:sp>
      <p:sp>
        <p:nvSpPr>
          <p:cNvPr id="2" name="object 2"/>
          <p:cNvSpPr txBox="1"/>
          <p:nvPr/>
        </p:nvSpPr>
        <p:spPr>
          <a:xfrm>
            <a:off x="640081" y="525919"/>
            <a:ext cx="11338560" cy="6143348"/>
          </a:xfrm>
          <a:prstGeom prst="rect">
            <a:avLst/>
          </a:prstGeom>
        </p:spPr>
        <p:txBody>
          <a:bodyPr vert="horz" wrap="square" lIns="0" tIns="0" rIns="0" bIns="0" rtlCol="0">
            <a:spAutoFit/>
          </a:bodyPr>
          <a:lstStyle/>
          <a:p>
            <a:pPr marL="469900" marR="292100" indent="-457200">
              <a:lnSpc>
                <a:spcPct val="143300"/>
              </a:lnSpc>
              <a:spcBef>
                <a:spcPts val="965"/>
              </a:spcBef>
              <a:buFont typeface="Arial" panose="020B0604020202020204" pitchFamily="34" charset="0"/>
              <a:buChar char="•"/>
            </a:pPr>
            <a:r>
              <a:rPr lang="en-US" sz="2800" spc="-5" dirty="0">
                <a:latin typeface="Times New Roman"/>
                <a:cs typeface="Times New Roman"/>
              </a:rPr>
              <a:t>Statistical analysis </a:t>
            </a:r>
            <a:r>
              <a:rPr lang="en-US" sz="2800" spc="10" dirty="0">
                <a:latin typeface="Times New Roman"/>
                <a:cs typeface="Times New Roman"/>
              </a:rPr>
              <a:t>of </a:t>
            </a:r>
            <a:r>
              <a:rPr lang="en-US" sz="2800" dirty="0">
                <a:latin typeface="Times New Roman"/>
                <a:cs typeface="Times New Roman"/>
              </a:rPr>
              <a:t>errors or </a:t>
            </a:r>
            <a:r>
              <a:rPr lang="en-US" sz="2800" spc="-5" dirty="0">
                <a:latin typeface="Times New Roman"/>
                <a:cs typeface="Times New Roman"/>
              </a:rPr>
              <a:t>defects </a:t>
            </a:r>
            <a:r>
              <a:rPr lang="en-US" sz="2800" spc="-10" dirty="0">
                <a:latin typeface="Times New Roman"/>
                <a:cs typeface="Times New Roman"/>
              </a:rPr>
              <a:t>helps </a:t>
            </a:r>
            <a:r>
              <a:rPr lang="en-US" sz="2800" dirty="0">
                <a:latin typeface="Times New Roman"/>
                <a:cs typeface="Times New Roman"/>
              </a:rPr>
              <a:t>to </a:t>
            </a:r>
            <a:r>
              <a:rPr lang="en-US" sz="2800" spc="-5" dirty="0">
                <a:latin typeface="Times New Roman"/>
                <a:cs typeface="Times New Roman"/>
              </a:rPr>
              <a:t>focus </a:t>
            </a:r>
            <a:r>
              <a:rPr lang="en-US" sz="2800" spc="-10" dirty="0">
                <a:latin typeface="Times New Roman"/>
                <a:cs typeface="Times New Roman"/>
              </a:rPr>
              <a:t>and </a:t>
            </a:r>
            <a:r>
              <a:rPr lang="en-US" sz="2800" dirty="0">
                <a:latin typeface="Times New Roman"/>
                <a:cs typeface="Times New Roman"/>
              </a:rPr>
              <a:t>concentrate </a:t>
            </a:r>
            <a:r>
              <a:rPr lang="en-US" sz="2800" spc="10" dirty="0">
                <a:latin typeface="Times New Roman"/>
                <a:cs typeface="Times New Roman"/>
              </a:rPr>
              <a:t>on </a:t>
            </a:r>
            <a:r>
              <a:rPr lang="en-US" sz="2800" spc="-10" dirty="0">
                <a:latin typeface="Times New Roman"/>
                <a:cs typeface="Times New Roman"/>
              </a:rPr>
              <a:t>probable </a:t>
            </a:r>
            <a:r>
              <a:rPr lang="en-US" sz="2800" spc="-5" dirty="0">
                <a:latin typeface="Times New Roman"/>
                <a:cs typeface="Times New Roman"/>
              </a:rPr>
              <a:t>areas  </a:t>
            </a:r>
            <a:r>
              <a:rPr lang="en-US" sz="2800" spc="-10" dirty="0">
                <a:latin typeface="Times New Roman"/>
                <a:cs typeface="Times New Roman"/>
              </a:rPr>
              <a:t>where </a:t>
            </a:r>
            <a:r>
              <a:rPr lang="en-US" sz="2800" spc="5" dirty="0">
                <a:latin typeface="Times New Roman"/>
                <a:cs typeface="Times New Roman"/>
              </a:rPr>
              <a:t>SQA </a:t>
            </a:r>
            <a:r>
              <a:rPr lang="en-US" sz="2800" dirty="0">
                <a:latin typeface="Times New Roman"/>
                <a:cs typeface="Times New Roman"/>
              </a:rPr>
              <a:t>efforts are</a:t>
            </a:r>
            <a:r>
              <a:rPr lang="en-US" sz="2800" spc="-75" dirty="0">
                <a:latin typeface="Times New Roman"/>
                <a:cs typeface="Times New Roman"/>
              </a:rPr>
              <a:t> </a:t>
            </a:r>
            <a:r>
              <a:rPr lang="en-US" sz="2800" spc="-10" dirty="0">
                <a:latin typeface="Times New Roman"/>
                <a:cs typeface="Times New Roman"/>
              </a:rPr>
              <a:t>necessary.</a:t>
            </a:r>
            <a:endParaRPr lang="en-US" sz="2800" dirty="0">
              <a:latin typeface="Times New Roman"/>
              <a:cs typeface="Times New Roman"/>
            </a:endParaRPr>
          </a:p>
          <a:p>
            <a:pPr marL="469900" marR="5080" indent="-457200" algn="just">
              <a:lnSpc>
                <a:spcPct val="143400"/>
              </a:lnSpc>
              <a:spcBef>
                <a:spcPts val="20"/>
              </a:spcBef>
              <a:buFont typeface="Arial" panose="020B0604020202020204" pitchFamily="34" charset="0"/>
              <a:buChar char="•"/>
            </a:pPr>
            <a:r>
              <a:rPr lang="en-US" sz="2800" spc="-5" dirty="0">
                <a:latin typeface="Times New Roman"/>
                <a:cs typeface="Times New Roman"/>
              </a:rPr>
              <a:t>SQA </a:t>
            </a:r>
            <a:r>
              <a:rPr lang="en-US" sz="2800" spc="-15" dirty="0">
                <a:latin typeface="Times New Roman"/>
                <a:cs typeface="Times New Roman"/>
              </a:rPr>
              <a:t>is </a:t>
            </a:r>
            <a:r>
              <a:rPr lang="en-US" sz="2800" spc="-10" dirty="0">
                <a:latin typeface="Times New Roman"/>
                <a:cs typeface="Times New Roman"/>
              </a:rPr>
              <a:t>also </a:t>
            </a:r>
            <a:r>
              <a:rPr lang="en-US" sz="2800" spc="-5" dirty="0">
                <a:latin typeface="Times New Roman"/>
                <a:cs typeface="Times New Roman"/>
              </a:rPr>
              <a:t>concerned with two other aspects </a:t>
            </a:r>
            <a:r>
              <a:rPr lang="en-US" sz="2800" spc="-10" dirty="0">
                <a:latin typeface="Times New Roman"/>
                <a:cs typeface="Times New Roman"/>
              </a:rPr>
              <a:t>namely, </a:t>
            </a:r>
            <a:r>
              <a:rPr lang="en-US" sz="2800" spc="-5" dirty="0">
                <a:latin typeface="Times New Roman"/>
                <a:cs typeface="Times New Roman"/>
              </a:rPr>
              <a:t>software reliability and software  </a:t>
            </a:r>
            <a:r>
              <a:rPr lang="en-US" sz="2800" spc="-10" dirty="0">
                <a:latin typeface="Times New Roman"/>
                <a:cs typeface="Times New Roman"/>
              </a:rPr>
              <a:t>safety. </a:t>
            </a:r>
            <a:r>
              <a:rPr lang="en-US" sz="2800" dirty="0">
                <a:latin typeface="Times New Roman"/>
                <a:cs typeface="Times New Roman"/>
              </a:rPr>
              <a:t>Software </a:t>
            </a:r>
            <a:r>
              <a:rPr lang="en-US" sz="2800" spc="-5" dirty="0">
                <a:latin typeface="Times New Roman"/>
                <a:cs typeface="Times New Roman"/>
              </a:rPr>
              <a:t>reliability </a:t>
            </a:r>
            <a:r>
              <a:rPr lang="en-US" sz="2800" spc="-15" dirty="0">
                <a:latin typeface="Times New Roman"/>
                <a:cs typeface="Times New Roman"/>
              </a:rPr>
              <a:t>is </a:t>
            </a:r>
            <a:r>
              <a:rPr lang="en-US" sz="2800" spc="-5" dirty="0">
                <a:latin typeface="Times New Roman"/>
                <a:cs typeface="Times New Roman"/>
              </a:rPr>
              <a:t>defined as </a:t>
            </a:r>
            <a:r>
              <a:rPr lang="en-US" sz="2800" dirty="0">
                <a:latin typeface="Times New Roman"/>
                <a:cs typeface="Times New Roman"/>
              </a:rPr>
              <a:t>the </a:t>
            </a:r>
            <a:r>
              <a:rPr lang="en-US" sz="2800" spc="-5" dirty="0">
                <a:latin typeface="Times New Roman"/>
                <a:cs typeface="Times New Roman"/>
              </a:rPr>
              <a:t>probability </a:t>
            </a:r>
            <a:r>
              <a:rPr lang="en-US" sz="2800" spc="20" dirty="0">
                <a:latin typeface="Times New Roman"/>
                <a:cs typeface="Times New Roman"/>
              </a:rPr>
              <a:t>of </a:t>
            </a:r>
            <a:r>
              <a:rPr lang="en-US" sz="2800" spc="-10" dirty="0">
                <a:latin typeface="Times New Roman"/>
                <a:cs typeface="Times New Roman"/>
              </a:rPr>
              <a:t>failure free </a:t>
            </a:r>
            <a:r>
              <a:rPr lang="en-US" sz="2800" spc="-5" dirty="0">
                <a:latin typeface="Times New Roman"/>
                <a:cs typeface="Times New Roman"/>
              </a:rPr>
              <a:t>operation </a:t>
            </a:r>
            <a:r>
              <a:rPr lang="en-US" sz="2800" spc="10" dirty="0">
                <a:latin typeface="Times New Roman"/>
                <a:cs typeface="Times New Roman"/>
              </a:rPr>
              <a:t>of </a:t>
            </a:r>
            <a:r>
              <a:rPr lang="en-US" sz="2800" dirty="0">
                <a:latin typeface="Times New Roman"/>
                <a:cs typeface="Times New Roman"/>
              </a:rPr>
              <a:t>a </a:t>
            </a:r>
            <a:r>
              <a:rPr lang="en-US" sz="2800" spc="-5" dirty="0">
                <a:latin typeface="Times New Roman"/>
                <a:cs typeface="Times New Roman"/>
              </a:rPr>
              <a:t>computer  </a:t>
            </a:r>
            <a:r>
              <a:rPr lang="en-US" sz="2800" dirty="0">
                <a:latin typeface="Times New Roman"/>
                <a:cs typeface="Times New Roman"/>
              </a:rPr>
              <a:t>program </a:t>
            </a:r>
            <a:r>
              <a:rPr lang="en-US" sz="2800" spc="-15" dirty="0">
                <a:latin typeface="Times New Roman"/>
                <a:cs typeface="Times New Roman"/>
              </a:rPr>
              <a:t>in </a:t>
            </a:r>
            <a:r>
              <a:rPr lang="en-US" sz="2800" dirty="0">
                <a:latin typeface="Times New Roman"/>
                <a:cs typeface="Times New Roman"/>
              </a:rPr>
              <a:t>a </a:t>
            </a:r>
            <a:r>
              <a:rPr lang="en-US" sz="2800" spc="-5" dirty="0">
                <a:latin typeface="Times New Roman"/>
                <a:cs typeface="Times New Roman"/>
              </a:rPr>
              <a:t>specified environment </a:t>
            </a:r>
            <a:r>
              <a:rPr lang="en-US" sz="2800" spc="-10" dirty="0">
                <a:latin typeface="Times New Roman"/>
                <a:cs typeface="Times New Roman"/>
              </a:rPr>
              <a:t>for </a:t>
            </a:r>
            <a:r>
              <a:rPr lang="en-US" sz="2800" dirty="0">
                <a:latin typeface="Times New Roman"/>
                <a:cs typeface="Times New Roman"/>
              </a:rPr>
              <a:t>a </a:t>
            </a:r>
            <a:r>
              <a:rPr lang="en-US" sz="2800" spc="-10" dirty="0">
                <a:latin typeface="Times New Roman"/>
                <a:cs typeface="Times New Roman"/>
              </a:rPr>
              <a:t>specified</a:t>
            </a:r>
            <a:r>
              <a:rPr lang="en-US" sz="2800" spc="75" dirty="0">
                <a:latin typeface="Times New Roman"/>
                <a:cs typeface="Times New Roman"/>
              </a:rPr>
              <a:t> </a:t>
            </a:r>
            <a:r>
              <a:rPr lang="en-US" sz="2800" spc="-10" dirty="0">
                <a:latin typeface="Times New Roman"/>
                <a:cs typeface="Times New Roman"/>
              </a:rPr>
              <a:t>time.</a:t>
            </a:r>
            <a:endParaRPr lang="en-US" sz="2800" dirty="0">
              <a:latin typeface="Times New Roman"/>
              <a:cs typeface="Times New Roman"/>
            </a:endParaRPr>
          </a:p>
          <a:p>
            <a:pPr marL="469900" marR="203200" indent="-457200" algn="just">
              <a:lnSpc>
                <a:spcPct val="143400"/>
              </a:lnSpc>
              <a:spcBef>
                <a:spcPts val="380"/>
              </a:spcBef>
              <a:buFont typeface="Arial" panose="020B0604020202020204" pitchFamily="34" charset="0"/>
              <a:buChar char="•"/>
            </a:pPr>
            <a:r>
              <a:rPr lang="en-US" sz="2800" spc="-10" dirty="0">
                <a:latin typeface="Times New Roman"/>
                <a:cs typeface="Times New Roman"/>
              </a:rPr>
              <a:t>The </a:t>
            </a:r>
            <a:r>
              <a:rPr lang="en-US" sz="2800" dirty="0">
                <a:latin typeface="Times New Roman"/>
                <a:cs typeface="Times New Roman"/>
              </a:rPr>
              <a:t>nature </a:t>
            </a:r>
            <a:r>
              <a:rPr lang="en-US" sz="2800" spc="10" dirty="0">
                <a:latin typeface="Times New Roman"/>
                <a:cs typeface="Times New Roman"/>
              </a:rPr>
              <a:t>of </a:t>
            </a:r>
            <a:r>
              <a:rPr lang="en-US" sz="2800" spc="-10" dirty="0">
                <a:latin typeface="Times New Roman"/>
                <a:cs typeface="Times New Roman"/>
              </a:rPr>
              <a:t>failure </a:t>
            </a:r>
            <a:r>
              <a:rPr lang="en-US" sz="2800" spc="-15" dirty="0">
                <a:latin typeface="Times New Roman"/>
                <a:cs typeface="Times New Roman"/>
              </a:rPr>
              <a:t>may be </a:t>
            </a:r>
            <a:r>
              <a:rPr lang="en-US" sz="2800" spc="10" dirty="0">
                <a:latin typeface="Times New Roman"/>
                <a:cs typeface="Times New Roman"/>
              </a:rPr>
              <a:t>such </a:t>
            </a:r>
            <a:r>
              <a:rPr lang="en-US" sz="2800" spc="-5" dirty="0">
                <a:latin typeface="Times New Roman"/>
                <a:cs typeface="Times New Roman"/>
              </a:rPr>
              <a:t>that one </a:t>
            </a:r>
            <a:r>
              <a:rPr lang="en-US" sz="2800" dirty="0">
                <a:latin typeface="Times New Roman"/>
                <a:cs typeface="Times New Roman"/>
              </a:rPr>
              <a:t>error </a:t>
            </a:r>
            <a:r>
              <a:rPr lang="en-US" sz="2800" spc="-5" dirty="0">
                <a:latin typeface="Times New Roman"/>
                <a:cs typeface="Times New Roman"/>
              </a:rPr>
              <a:t>may require </a:t>
            </a:r>
            <a:r>
              <a:rPr lang="en-US" sz="2800" spc="5" dirty="0">
                <a:latin typeface="Times New Roman"/>
                <a:cs typeface="Times New Roman"/>
              </a:rPr>
              <a:t>only </a:t>
            </a:r>
            <a:r>
              <a:rPr lang="en-US" sz="2800" dirty="0">
                <a:latin typeface="Times New Roman"/>
                <a:cs typeface="Times New Roman"/>
              </a:rPr>
              <a:t>a </a:t>
            </a:r>
            <a:r>
              <a:rPr lang="en-US" sz="2800" spc="-15" dirty="0">
                <a:latin typeface="Times New Roman"/>
                <a:cs typeface="Times New Roman"/>
              </a:rPr>
              <a:t>few </a:t>
            </a:r>
            <a:r>
              <a:rPr lang="en-US" sz="2800" spc="-5" dirty="0">
                <a:latin typeface="Times New Roman"/>
                <a:cs typeface="Times New Roman"/>
              </a:rPr>
              <a:t>repair, </a:t>
            </a:r>
            <a:r>
              <a:rPr lang="en-US" sz="2800" spc="-10" dirty="0">
                <a:latin typeface="Times New Roman"/>
                <a:cs typeface="Times New Roman"/>
              </a:rPr>
              <a:t>and </a:t>
            </a:r>
            <a:r>
              <a:rPr lang="en-US" sz="2800" spc="-5" dirty="0">
                <a:latin typeface="Times New Roman"/>
                <a:cs typeface="Times New Roman"/>
              </a:rPr>
              <a:t>other  may </a:t>
            </a:r>
            <a:r>
              <a:rPr lang="en-US" sz="2800" spc="-10" dirty="0">
                <a:latin typeface="Times New Roman"/>
                <a:cs typeface="Times New Roman"/>
              </a:rPr>
              <a:t>need </a:t>
            </a:r>
            <a:r>
              <a:rPr lang="en-US" sz="2800" spc="-5" dirty="0">
                <a:latin typeface="Times New Roman"/>
                <a:cs typeface="Times New Roman"/>
              </a:rPr>
              <a:t>hours. SQA </a:t>
            </a:r>
            <a:r>
              <a:rPr lang="en-US" sz="2800" dirty="0">
                <a:latin typeface="Times New Roman"/>
                <a:cs typeface="Times New Roman"/>
              </a:rPr>
              <a:t>collects </a:t>
            </a:r>
            <a:r>
              <a:rPr lang="en-US" sz="2800" spc="5" dirty="0">
                <a:latin typeface="Times New Roman"/>
                <a:cs typeface="Times New Roman"/>
              </a:rPr>
              <a:t>data </a:t>
            </a:r>
            <a:r>
              <a:rPr lang="en-US" sz="2800" spc="10" dirty="0">
                <a:latin typeface="Times New Roman"/>
                <a:cs typeface="Times New Roman"/>
              </a:rPr>
              <a:t>on </a:t>
            </a:r>
            <a:r>
              <a:rPr lang="en-US" sz="2800" spc="-5" dirty="0">
                <a:latin typeface="Times New Roman"/>
                <a:cs typeface="Times New Roman"/>
              </a:rPr>
              <a:t>these failures and examines </a:t>
            </a:r>
            <a:r>
              <a:rPr lang="en-US" sz="2800" spc="5" dirty="0">
                <a:latin typeface="Times New Roman"/>
                <a:cs typeface="Times New Roman"/>
              </a:rPr>
              <a:t>why </a:t>
            </a:r>
            <a:r>
              <a:rPr lang="en-US" sz="2800" dirty="0">
                <a:latin typeface="Times New Roman"/>
                <a:cs typeface="Times New Roman"/>
              </a:rPr>
              <a:t>these </a:t>
            </a:r>
            <a:r>
              <a:rPr lang="en-US" sz="2800" spc="-5" dirty="0">
                <a:latin typeface="Times New Roman"/>
                <a:cs typeface="Times New Roman"/>
              </a:rPr>
              <a:t>failures  </a:t>
            </a:r>
            <a:r>
              <a:rPr lang="en-US" sz="2800" spc="-10" dirty="0">
                <a:latin typeface="Times New Roman"/>
                <a:cs typeface="Times New Roman"/>
              </a:rPr>
              <a:t>could not </a:t>
            </a:r>
            <a:r>
              <a:rPr lang="en-US" sz="2800" spc="-15" dirty="0">
                <a:latin typeface="Times New Roman"/>
                <a:cs typeface="Times New Roman"/>
              </a:rPr>
              <a:t>be </a:t>
            </a:r>
            <a:r>
              <a:rPr lang="en-US" sz="2800" spc="-5" dirty="0">
                <a:latin typeface="Times New Roman"/>
                <a:cs typeface="Times New Roman"/>
              </a:rPr>
              <a:t>prevented </a:t>
            </a:r>
            <a:r>
              <a:rPr lang="en-US" sz="2800" dirty="0">
                <a:latin typeface="Times New Roman"/>
                <a:cs typeface="Times New Roman"/>
              </a:rPr>
              <a:t>through </a:t>
            </a:r>
            <a:r>
              <a:rPr lang="en-US" sz="2800" spc="-10" dirty="0">
                <a:latin typeface="Times New Roman"/>
                <a:cs typeface="Times New Roman"/>
              </a:rPr>
              <a:t>earlier </a:t>
            </a:r>
            <a:r>
              <a:rPr lang="en-US" sz="2800" spc="-5" dirty="0">
                <a:latin typeface="Times New Roman"/>
                <a:cs typeface="Times New Roman"/>
              </a:rPr>
              <a:t>SQA</a:t>
            </a:r>
            <a:r>
              <a:rPr lang="en-US" sz="2800" spc="120" dirty="0">
                <a:latin typeface="Times New Roman"/>
                <a:cs typeface="Times New Roman"/>
              </a:rPr>
              <a:t> </a:t>
            </a:r>
            <a:r>
              <a:rPr lang="en-US" sz="2800" spc="-5" dirty="0">
                <a:latin typeface="Times New Roman"/>
                <a:cs typeface="Times New Roman"/>
              </a:rPr>
              <a:t>activities.</a:t>
            </a:r>
            <a:endParaRPr lang="en-US" sz="2800" dirty="0">
              <a:latin typeface="Times New Roman"/>
              <a:cs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F15ED-2A32-9100-8230-45D8C8077E5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0807155-45EC-BDCC-FF09-74057E2FA8ED}"/>
              </a:ext>
            </a:extLst>
          </p:cNvPr>
          <p:cNvSpPr txBox="1"/>
          <p:nvPr/>
        </p:nvSpPr>
        <p:spPr>
          <a:xfrm>
            <a:off x="6029863" y="5946601"/>
            <a:ext cx="134391" cy="108491"/>
          </a:xfrm>
          <a:prstGeom prst="rect">
            <a:avLst/>
          </a:prstGeom>
        </p:spPr>
        <p:txBody>
          <a:bodyPr vert="horz" wrap="square" lIns="0" tIns="0" rIns="0" bIns="0" rtlCol="0">
            <a:spAutoFit/>
          </a:bodyPr>
          <a:lstStyle/>
          <a:p>
            <a:pPr marL="16289"/>
            <a:fld id="{81D60167-4931-47E6-BA6A-407CBD079E47}" type="slidenum">
              <a:rPr sz="705" dirty="0">
                <a:latin typeface="Arial"/>
                <a:cs typeface="Arial"/>
              </a:rPr>
              <a:pPr marL="16289"/>
              <a:t>15</a:t>
            </a:fld>
            <a:endParaRPr sz="705">
              <a:latin typeface="Arial"/>
              <a:cs typeface="Arial"/>
            </a:endParaRPr>
          </a:p>
        </p:txBody>
      </p:sp>
      <p:sp>
        <p:nvSpPr>
          <p:cNvPr id="2" name="object 2">
            <a:extLst>
              <a:ext uri="{FF2B5EF4-FFF2-40B4-BE49-F238E27FC236}">
                <a16:creationId xmlns:a16="http://schemas.microsoft.com/office/drawing/2014/main" id="{AFA7D5F4-54B5-DB05-D5AE-D2833F9C250F}"/>
              </a:ext>
            </a:extLst>
          </p:cNvPr>
          <p:cNvSpPr txBox="1"/>
          <p:nvPr/>
        </p:nvSpPr>
        <p:spPr>
          <a:xfrm>
            <a:off x="634221" y="498974"/>
            <a:ext cx="10460182" cy="6954020"/>
          </a:xfrm>
          <a:prstGeom prst="rect">
            <a:avLst/>
          </a:prstGeom>
        </p:spPr>
        <p:txBody>
          <a:bodyPr vert="horz" wrap="square" lIns="0" tIns="0" rIns="0" bIns="0" rtlCol="0">
            <a:spAutoFit/>
          </a:bodyPr>
          <a:lstStyle/>
          <a:p>
            <a:pPr marL="12700" marR="941069">
              <a:lnSpc>
                <a:spcPct val="143500"/>
              </a:lnSpc>
              <a:spcBef>
                <a:spcPts val="1019"/>
              </a:spcBef>
            </a:pPr>
            <a:r>
              <a:rPr lang="en-US" sz="2800" spc="-5" dirty="0">
                <a:latin typeface="Times New Roman"/>
                <a:cs typeface="Times New Roman"/>
              </a:rPr>
              <a:t>A </a:t>
            </a:r>
            <a:r>
              <a:rPr lang="en-US" sz="2800" spc="-10" dirty="0">
                <a:latin typeface="Times New Roman"/>
                <a:cs typeface="Times New Roman"/>
              </a:rPr>
              <a:t>simple </a:t>
            </a:r>
            <a:r>
              <a:rPr lang="en-US" sz="2800" spc="-5" dirty="0">
                <a:latin typeface="Times New Roman"/>
                <a:cs typeface="Times New Roman"/>
              </a:rPr>
              <a:t>measure </a:t>
            </a:r>
            <a:r>
              <a:rPr lang="en-US" sz="2800" spc="10" dirty="0">
                <a:latin typeface="Times New Roman"/>
                <a:cs typeface="Times New Roman"/>
              </a:rPr>
              <a:t>of </a:t>
            </a:r>
            <a:r>
              <a:rPr lang="en-US" sz="2800" dirty="0">
                <a:latin typeface="Times New Roman"/>
                <a:cs typeface="Times New Roman"/>
              </a:rPr>
              <a:t>reliability </a:t>
            </a:r>
            <a:r>
              <a:rPr lang="en-US" sz="2800" spc="-15" dirty="0">
                <a:latin typeface="Times New Roman"/>
                <a:cs typeface="Times New Roman"/>
              </a:rPr>
              <a:t>is </a:t>
            </a:r>
            <a:r>
              <a:rPr lang="en-US" sz="2800" spc="-5" dirty="0">
                <a:latin typeface="Times New Roman"/>
                <a:cs typeface="Times New Roman"/>
              </a:rPr>
              <a:t>Mean Time </a:t>
            </a:r>
            <a:r>
              <a:rPr lang="en-US" sz="2800" dirty="0">
                <a:latin typeface="Times New Roman"/>
                <a:cs typeface="Times New Roman"/>
              </a:rPr>
              <a:t>between Failure </a:t>
            </a:r>
            <a:r>
              <a:rPr lang="en-US" sz="2800" spc="-5" dirty="0">
                <a:latin typeface="Times New Roman"/>
                <a:cs typeface="Times New Roman"/>
              </a:rPr>
              <a:t>(MTBF).  MTBF </a:t>
            </a:r>
            <a:r>
              <a:rPr lang="en-US" sz="2800" dirty="0">
                <a:latin typeface="Times New Roman"/>
                <a:cs typeface="Times New Roman"/>
              </a:rPr>
              <a:t>= </a:t>
            </a:r>
            <a:r>
              <a:rPr lang="en-US" sz="2800" spc="-5" dirty="0">
                <a:latin typeface="Times New Roman"/>
                <a:cs typeface="Times New Roman"/>
              </a:rPr>
              <a:t>MTTF </a:t>
            </a:r>
            <a:r>
              <a:rPr lang="en-US" sz="2800" dirty="0">
                <a:latin typeface="Times New Roman"/>
                <a:cs typeface="Times New Roman"/>
              </a:rPr>
              <a:t>+</a:t>
            </a:r>
            <a:r>
              <a:rPr lang="en-US" sz="2800" spc="-75" dirty="0">
                <a:latin typeface="Times New Roman"/>
                <a:cs typeface="Times New Roman"/>
              </a:rPr>
              <a:t> </a:t>
            </a:r>
            <a:r>
              <a:rPr lang="en-US" sz="2800" spc="-5" dirty="0">
                <a:latin typeface="Times New Roman"/>
                <a:cs typeface="Times New Roman"/>
              </a:rPr>
              <a:t>MTTR</a:t>
            </a:r>
            <a:endParaRPr lang="en-US" sz="2800" dirty="0">
              <a:latin typeface="Times New Roman"/>
              <a:cs typeface="Times New Roman"/>
            </a:endParaRPr>
          </a:p>
          <a:p>
            <a:pPr marL="12700">
              <a:lnSpc>
                <a:spcPct val="100000"/>
              </a:lnSpc>
              <a:spcBef>
                <a:spcPts val="625"/>
              </a:spcBef>
            </a:pPr>
            <a:r>
              <a:rPr lang="en-US" sz="2800" spc="-10" dirty="0">
                <a:latin typeface="Times New Roman"/>
                <a:cs typeface="Times New Roman"/>
              </a:rPr>
              <a:t>Where </a:t>
            </a:r>
            <a:r>
              <a:rPr lang="en-US" sz="2800" spc="-5" dirty="0">
                <a:latin typeface="Times New Roman"/>
                <a:cs typeface="Times New Roman"/>
              </a:rPr>
              <a:t>MTTF </a:t>
            </a:r>
            <a:r>
              <a:rPr lang="en-US" sz="2800" spc="-15" dirty="0">
                <a:latin typeface="Times New Roman"/>
                <a:cs typeface="Times New Roman"/>
              </a:rPr>
              <a:t>is </a:t>
            </a:r>
            <a:r>
              <a:rPr lang="en-US" sz="2800" spc="-5" dirty="0">
                <a:latin typeface="Times New Roman"/>
                <a:cs typeface="Times New Roman"/>
              </a:rPr>
              <a:t>Mean Time </a:t>
            </a:r>
            <a:r>
              <a:rPr lang="en-US" sz="2800" spc="10" dirty="0">
                <a:latin typeface="Times New Roman"/>
                <a:cs typeface="Times New Roman"/>
              </a:rPr>
              <a:t>to </a:t>
            </a:r>
            <a:r>
              <a:rPr lang="en-US" sz="2800" spc="-10" dirty="0">
                <a:latin typeface="Times New Roman"/>
                <a:cs typeface="Times New Roman"/>
              </a:rPr>
              <a:t>Failure and </a:t>
            </a:r>
            <a:r>
              <a:rPr lang="en-US" sz="2800" spc="-5" dirty="0">
                <a:latin typeface="Times New Roman"/>
                <a:cs typeface="Times New Roman"/>
              </a:rPr>
              <a:t>MTTR </a:t>
            </a:r>
            <a:r>
              <a:rPr lang="en-US" sz="2800" spc="-15" dirty="0">
                <a:latin typeface="Times New Roman"/>
                <a:cs typeface="Times New Roman"/>
              </a:rPr>
              <a:t>is </a:t>
            </a:r>
            <a:r>
              <a:rPr lang="en-US" sz="2800" dirty="0">
                <a:latin typeface="Times New Roman"/>
                <a:cs typeface="Times New Roman"/>
              </a:rPr>
              <a:t>Mean </a:t>
            </a:r>
            <a:r>
              <a:rPr lang="en-US" sz="2800" spc="-5" dirty="0">
                <a:latin typeface="Times New Roman"/>
                <a:cs typeface="Times New Roman"/>
              </a:rPr>
              <a:t>Time </a:t>
            </a:r>
            <a:r>
              <a:rPr lang="en-US" sz="2800" dirty="0">
                <a:latin typeface="Times New Roman"/>
                <a:cs typeface="Times New Roman"/>
              </a:rPr>
              <a:t>to</a:t>
            </a:r>
            <a:r>
              <a:rPr lang="en-US" sz="2800" spc="150" dirty="0">
                <a:latin typeface="Times New Roman"/>
                <a:cs typeface="Times New Roman"/>
              </a:rPr>
              <a:t> </a:t>
            </a:r>
            <a:r>
              <a:rPr lang="en-US" sz="2800" spc="-10" dirty="0">
                <a:latin typeface="Times New Roman"/>
                <a:cs typeface="Times New Roman"/>
              </a:rPr>
              <a:t>Repair.</a:t>
            </a:r>
            <a:endParaRPr lang="en-US" sz="2800" dirty="0">
              <a:latin typeface="Times New Roman"/>
              <a:cs typeface="Times New Roman"/>
            </a:endParaRPr>
          </a:p>
          <a:p>
            <a:pPr marL="12700" marR="205740" indent="280670" algn="just">
              <a:lnSpc>
                <a:spcPct val="143700"/>
              </a:lnSpc>
              <a:spcBef>
                <a:spcPts val="15"/>
              </a:spcBef>
            </a:pPr>
            <a:r>
              <a:rPr lang="en-US" sz="2800" dirty="0">
                <a:latin typeface="Times New Roman"/>
                <a:cs typeface="Times New Roman"/>
              </a:rPr>
              <a:t>Software safety </a:t>
            </a:r>
            <a:r>
              <a:rPr lang="en-US" sz="2800" spc="-5" dirty="0">
                <a:latin typeface="Times New Roman"/>
                <a:cs typeface="Times New Roman"/>
              </a:rPr>
              <a:t>deals with identification and assessment </a:t>
            </a:r>
            <a:r>
              <a:rPr lang="en-US" sz="2800" spc="10" dirty="0">
                <a:latin typeface="Times New Roman"/>
                <a:cs typeface="Times New Roman"/>
              </a:rPr>
              <a:t>of </a:t>
            </a:r>
            <a:r>
              <a:rPr lang="en-US" sz="2800" dirty="0">
                <a:latin typeface="Times New Roman"/>
                <a:cs typeface="Times New Roman"/>
              </a:rPr>
              <a:t>potential </a:t>
            </a:r>
            <a:r>
              <a:rPr lang="en-US" sz="2800" spc="-5" dirty="0">
                <a:latin typeface="Times New Roman"/>
                <a:cs typeface="Times New Roman"/>
              </a:rPr>
              <a:t>hazards </a:t>
            </a:r>
            <a:r>
              <a:rPr lang="en-US" sz="2800" spc="20" dirty="0">
                <a:latin typeface="Times New Roman"/>
                <a:cs typeface="Times New Roman"/>
              </a:rPr>
              <a:t>of  </a:t>
            </a:r>
            <a:r>
              <a:rPr lang="en-US" sz="2800" spc="-5" dirty="0">
                <a:latin typeface="Times New Roman"/>
                <a:cs typeface="Times New Roman"/>
              </a:rPr>
              <a:t>software </a:t>
            </a:r>
            <a:r>
              <a:rPr lang="en-US" sz="2800" spc="-10" dirty="0">
                <a:latin typeface="Times New Roman"/>
                <a:cs typeface="Times New Roman"/>
              </a:rPr>
              <a:t>failing, and its impact </a:t>
            </a:r>
            <a:r>
              <a:rPr lang="en-US" sz="2800" spc="10" dirty="0">
                <a:latin typeface="Times New Roman"/>
                <a:cs typeface="Times New Roman"/>
              </a:rPr>
              <a:t>on </a:t>
            </a:r>
            <a:r>
              <a:rPr lang="en-US" sz="2800" dirty="0">
                <a:latin typeface="Times New Roman"/>
                <a:cs typeface="Times New Roman"/>
              </a:rPr>
              <a:t>the </a:t>
            </a:r>
            <a:r>
              <a:rPr lang="en-US" sz="2800" spc="-5" dirty="0">
                <a:latin typeface="Times New Roman"/>
                <a:cs typeface="Times New Roman"/>
              </a:rPr>
              <a:t>system </a:t>
            </a:r>
            <a:r>
              <a:rPr lang="en-US" sz="2800" spc="10" dirty="0">
                <a:latin typeface="Times New Roman"/>
                <a:cs typeface="Times New Roman"/>
              </a:rPr>
              <a:t>or </a:t>
            </a:r>
            <a:r>
              <a:rPr lang="en-US" sz="2800" spc="-15" dirty="0">
                <a:latin typeface="Times New Roman"/>
                <a:cs typeface="Times New Roman"/>
              </a:rPr>
              <a:t>in </a:t>
            </a:r>
            <a:r>
              <a:rPr lang="en-US" sz="2800" dirty="0">
                <a:latin typeface="Times New Roman"/>
                <a:cs typeface="Times New Roman"/>
              </a:rPr>
              <a:t>the </a:t>
            </a:r>
            <a:r>
              <a:rPr lang="en-US" sz="2800" spc="-10" dirty="0">
                <a:latin typeface="Times New Roman"/>
                <a:cs typeface="Times New Roman"/>
              </a:rPr>
              <a:t>environment </a:t>
            </a:r>
            <a:r>
              <a:rPr lang="en-US" sz="2800" spc="-15" dirty="0">
                <a:latin typeface="Times New Roman"/>
                <a:cs typeface="Times New Roman"/>
              </a:rPr>
              <a:t>in </a:t>
            </a:r>
            <a:r>
              <a:rPr lang="en-US" sz="2800" spc="-5" dirty="0">
                <a:latin typeface="Times New Roman"/>
                <a:cs typeface="Times New Roman"/>
              </a:rPr>
              <a:t>which </a:t>
            </a:r>
            <a:r>
              <a:rPr lang="en-US" sz="2800" spc="-25" dirty="0">
                <a:latin typeface="Times New Roman"/>
                <a:cs typeface="Times New Roman"/>
              </a:rPr>
              <a:t>it </a:t>
            </a:r>
            <a:r>
              <a:rPr lang="en-US" sz="2800" spc="-5" dirty="0">
                <a:latin typeface="Times New Roman"/>
                <a:cs typeface="Times New Roman"/>
              </a:rPr>
              <a:t>operates.  </a:t>
            </a:r>
            <a:r>
              <a:rPr lang="en-US" sz="2800" dirty="0">
                <a:latin typeface="Times New Roman"/>
                <a:cs typeface="Times New Roman"/>
              </a:rPr>
              <a:t>Software </a:t>
            </a:r>
            <a:r>
              <a:rPr lang="en-US" sz="2800" spc="-5" dirty="0">
                <a:latin typeface="Times New Roman"/>
                <a:cs typeface="Times New Roman"/>
              </a:rPr>
              <a:t>safety needs </a:t>
            </a:r>
            <a:r>
              <a:rPr lang="en-US" sz="2800" dirty="0">
                <a:latin typeface="Times New Roman"/>
                <a:cs typeface="Times New Roman"/>
              </a:rPr>
              <a:t>are </a:t>
            </a:r>
            <a:r>
              <a:rPr lang="en-US" sz="2800" spc="-10" dirty="0">
                <a:latin typeface="Times New Roman"/>
                <a:cs typeface="Times New Roman"/>
              </a:rPr>
              <a:t>more crucial </a:t>
            </a:r>
            <a:r>
              <a:rPr lang="en-US" sz="2800" spc="-15" dirty="0">
                <a:latin typeface="Times New Roman"/>
                <a:cs typeface="Times New Roman"/>
              </a:rPr>
              <a:t>in </a:t>
            </a:r>
            <a:r>
              <a:rPr lang="en-US" sz="2800" dirty="0">
                <a:latin typeface="Times New Roman"/>
                <a:cs typeface="Times New Roman"/>
              </a:rPr>
              <a:t>process control </a:t>
            </a:r>
            <a:r>
              <a:rPr lang="en-US" sz="2800" spc="-10" dirty="0">
                <a:latin typeface="Times New Roman"/>
                <a:cs typeface="Times New Roman"/>
              </a:rPr>
              <a:t>systems, </a:t>
            </a:r>
            <a:r>
              <a:rPr lang="en-US" sz="2800" dirty="0">
                <a:latin typeface="Times New Roman"/>
                <a:cs typeface="Times New Roman"/>
              </a:rPr>
              <a:t>health </a:t>
            </a:r>
            <a:r>
              <a:rPr lang="en-US" sz="2800" spc="-5" dirty="0">
                <a:latin typeface="Times New Roman"/>
                <a:cs typeface="Times New Roman"/>
              </a:rPr>
              <a:t>care </a:t>
            </a:r>
            <a:r>
              <a:rPr lang="en-US" sz="2800" spc="-10" dirty="0">
                <a:latin typeface="Times New Roman"/>
                <a:cs typeface="Times New Roman"/>
              </a:rPr>
              <a:t>systems,  </a:t>
            </a:r>
            <a:r>
              <a:rPr lang="en-US" sz="2800" spc="-5" dirty="0">
                <a:latin typeface="Times New Roman"/>
                <a:cs typeface="Times New Roman"/>
              </a:rPr>
              <a:t>defense and </a:t>
            </a:r>
            <a:r>
              <a:rPr lang="en-US" sz="2800" spc="-10" dirty="0">
                <a:latin typeface="Times New Roman"/>
                <a:cs typeface="Times New Roman"/>
              </a:rPr>
              <a:t>so </a:t>
            </a:r>
            <a:r>
              <a:rPr lang="en-US" sz="2800" spc="-5" dirty="0">
                <a:latin typeface="Times New Roman"/>
                <a:cs typeface="Times New Roman"/>
              </a:rPr>
              <a:t>on. SQA activities </a:t>
            </a:r>
            <a:r>
              <a:rPr lang="en-US" sz="2800" dirty="0">
                <a:latin typeface="Times New Roman"/>
                <a:cs typeface="Times New Roman"/>
              </a:rPr>
              <a:t>concentrate on </a:t>
            </a:r>
            <a:r>
              <a:rPr lang="en-US" sz="2800" spc="5" dirty="0">
                <a:latin typeface="Times New Roman"/>
                <a:cs typeface="Times New Roman"/>
              </a:rPr>
              <a:t>such </a:t>
            </a:r>
            <a:r>
              <a:rPr lang="en-US" sz="2800" spc="-5" dirty="0">
                <a:latin typeface="Times New Roman"/>
                <a:cs typeface="Times New Roman"/>
              </a:rPr>
              <a:t>areas </a:t>
            </a:r>
            <a:r>
              <a:rPr lang="en-US" sz="2800" spc="20" dirty="0">
                <a:latin typeface="Times New Roman"/>
                <a:cs typeface="Times New Roman"/>
              </a:rPr>
              <a:t>of </a:t>
            </a:r>
            <a:r>
              <a:rPr lang="en-US" sz="2800" dirty="0">
                <a:latin typeface="Times New Roman"/>
                <a:cs typeface="Times New Roman"/>
              </a:rPr>
              <a:t>software </a:t>
            </a:r>
            <a:r>
              <a:rPr lang="en-US" sz="2800" spc="-10" dirty="0">
                <a:latin typeface="Times New Roman"/>
                <a:cs typeface="Times New Roman"/>
              </a:rPr>
              <a:t>where failure  </a:t>
            </a:r>
            <a:r>
              <a:rPr lang="en-US" sz="2800" spc="-5" dirty="0">
                <a:latin typeface="Times New Roman"/>
                <a:cs typeface="Times New Roman"/>
              </a:rPr>
              <a:t>affects </a:t>
            </a:r>
            <a:r>
              <a:rPr lang="en-US" sz="2800" dirty="0">
                <a:latin typeface="Times New Roman"/>
                <a:cs typeface="Times New Roman"/>
              </a:rPr>
              <a:t>the </a:t>
            </a:r>
            <a:r>
              <a:rPr lang="en-US" sz="2800" spc="-10" dirty="0">
                <a:latin typeface="Times New Roman"/>
                <a:cs typeface="Times New Roman"/>
              </a:rPr>
              <a:t>customer </a:t>
            </a:r>
            <a:r>
              <a:rPr lang="en-US" sz="2800" dirty="0">
                <a:latin typeface="Times New Roman"/>
                <a:cs typeface="Times New Roman"/>
              </a:rPr>
              <a:t>system </a:t>
            </a:r>
            <a:r>
              <a:rPr lang="en-US" sz="2800" spc="-5" dirty="0">
                <a:latin typeface="Times New Roman"/>
                <a:cs typeface="Times New Roman"/>
              </a:rPr>
              <a:t>adversely. </a:t>
            </a:r>
            <a:r>
              <a:rPr lang="en-US" sz="2800" dirty="0">
                <a:latin typeface="Times New Roman"/>
                <a:cs typeface="Times New Roman"/>
              </a:rPr>
              <a:t>In short, </a:t>
            </a:r>
            <a:r>
              <a:rPr lang="en-US" sz="2800" spc="-5" dirty="0">
                <a:latin typeface="Times New Roman"/>
                <a:cs typeface="Times New Roman"/>
              </a:rPr>
              <a:t>SQA </a:t>
            </a:r>
            <a:r>
              <a:rPr lang="en-US" sz="2800" dirty="0">
                <a:latin typeface="Times New Roman"/>
                <a:cs typeface="Times New Roman"/>
              </a:rPr>
              <a:t>efforts </a:t>
            </a:r>
            <a:r>
              <a:rPr lang="en-US" sz="2800" spc="-5" dirty="0">
                <a:latin typeface="Times New Roman"/>
                <a:cs typeface="Times New Roman"/>
              </a:rPr>
              <a:t>assure software </a:t>
            </a:r>
            <a:r>
              <a:rPr lang="en-US" sz="2800" spc="-10" dirty="0">
                <a:latin typeface="Times New Roman"/>
                <a:cs typeface="Times New Roman"/>
              </a:rPr>
              <a:t>quality,  reliability, </a:t>
            </a:r>
            <a:r>
              <a:rPr lang="en-US" sz="2800" spc="-5" dirty="0">
                <a:latin typeface="Times New Roman"/>
                <a:cs typeface="Times New Roman"/>
              </a:rPr>
              <a:t>availability and</a:t>
            </a:r>
            <a:r>
              <a:rPr lang="en-US" sz="2800" spc="25" dirty="0">
                <a:latin typeface="Times New Roman"/>
                <a:cs typeface="Times New Roman"/>
              </a:rPr>
              <a:t> </a:t>
            </a:r>
            <a:r>
              <a:rPr lang="en-US" sz="2800" spc="-5" dirty="0">
                <a:latin typeface="Times New Roman"/>
                <a:cs typeface="Times New Roman"/>
              </a:rPr>
              <a:t>safety.</a:t>
            </a:r>
            <a:endParaRPr lang="en-US" sz="2800" dirty="0">
              <a:latin typeface="Times New Roman"/>
              <a:cs typeface="Times New Roman"/>
            </a:endParaRPr>
          </a:p>
          <a:p>
            <a:pPr>
              <a:lnSpc>
                <a:spcPct val="100000"/>
              </a:lnSpc>
            </a:pPr>
            <a:endParaRPr lang="en-US" sz="2800" dirty="0">
              <a:latin typeface="Times New Roman"/>
              <a:cs typeface="Times New Roman"/>
            </a:endParaRPr>
          </a:p>
        </p:txBody>
      </p:sp>
    </p:spTree>
    <p:extLst>
      <p:ext uri="{BB962C8B-B14F-4D97-AF65-F5344CB8AC3E}">
        <p14:creationId xmlns:p14="http://schemas.microsoft.com/office/powerpoint/2010/main" val="1416601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BF94E-6301-3A88-1DD3-720B14AA5769}"/>
              </a:ext>
            </a:extLst>
          </p:cNvPr>
          <p:cNvSpPr>
            <a:spLocks noGrp="1"/>
          </p:cNvSpPr>
          <p:nvPr>
            <p:ph type="title" idx="4294967295"/>
          </p:nvPr>
        </p:nvSpPr>
        <p:spPr>
          <a:xfrm>
            <a:off x="0" y="146050"/>
            <a:ext cx="8596313" cy="1320800"/>
          </a:xfrm>
          <a:prstGeom prst="rect">
            <a:avLst/>
          </a:prstGeom>
        </p:spPr>
        <p:txBody>
          <a:bodyPr>
            <a:normAutofit fontScale="90000"/>
          </a:bodyPr>
          <a:lstStyle/>
          <a:p>
            <a:r>
              <a:rPr lang="en-US" sz="4400" b="1" spc="-5" dirty="0">
                <a:latin typeface="Times New Roman"/>
                <a:cs typeface="Times New Roman"/>
              </a:rPr>
              <a:t>Software Quality Assurance Components</a:t>
            </a:r>
            <a:br>
              <a:rPr lang="en-US" sz="4400" dirty="0">
                <a:latin typeface="Times New Roman"/>
                <a:cs typeface="Times New Roman"/>
              </a:rPr>
            </a:br>
            <a:endParaRPr lang="ar-SD" dirty="0"/>
          </a:p>
        </p:txBody>
      </p:sp>
      <p:sp>
        <p:nvSpPr>
          <p:cNvPr id="3" name="Content Placeholder 2">
            <a:extLst>
              <a:ext uri="{FF2B5EF4-FFF2-40B4-BE49-F238E27FC236}">
                <a16:creationId xmlns:a16="http://schemas.microsoft.com/office/drawing/2014/main" id="{91C30C82-F09F-25FD-CB1F-F62EB0EAA944}"/>
              </a:ext>
            </a:extLst>
          </p:cNvPr>
          <p:cNvSpPr>
            <a:spLocks noGrp="1"/>
          </p:cNvSpPr>
          <p:nvPr>
            <p:ph idx="4294967295"/>
          </p:nvPr>
        </p:nvSpPr>
        <p:spPr>
          <a:xfrm>
            <a:off x="0" y="1466850"/>
            <a:ext cx="11041063" cy="4697413"/>
          </a:xfrm>
        </p:spPr>
        <p:txBody>
          <a:bodyPr>
            <a:normAutofit fontScale="92500"/>
          </a:bodyPr>
          <a:lstStyle/>
          <a:p>
            <a:pPr marL="12700" marR="5080" algn="just" rtl="0">
              <a:lnSpc>
                <a:spcPct val="143600"/>
              </a:lnSpc>
            </a:pPr>
            <a:r>
              <a:rPr lang="en-US" sz="2000" spc="-5" dirty="0">
                <a:latin typeface="Times New Roman"/>
                <a:cs typeface="Times New Roman"/>
              </a:rPr>
              <a:t>The SQA Components that are used by the Software Quality Assurance System can be classified into </a:t>
            </a:r>
            <a:br>
              <a:rPr lang="en-US" sz="2000" spc="-5" dirty="0">
                <a:latin typeface="Times New Roman"/>
                <a:cs typeface="Times New Roman"/>
              </a:rPr>
            </a:br>
            <a:r>
              <a:rPr lang="en-US" sz="2000" spc="-5" dirty="0">
                <a:latin typeface="Times New Roman"/>
                <a:cs typeface="Times New Roman"/>
              </a:rPr>
              <a:t>six different categories</a:t>
            </a:r>
            <a:r>
              <a:rPr lang="en-US" sz="2800" spc="-5" dirty="0">
                <a:latin typeface="Times New Roman"/>
                <a:cs typeface="Times New Roman"/>
              </a:rPr>
              <a:t>;</a:t>
            </a:r>
            <a:r>
              <a:rPr lang="en-US" sz="2000" spc="-5" dirty="0">
                <a:latin typeface="Times New Roman"/>
                <a:cs typeface="Times New Roman"/>
              </a:rPr>
              <a:t> each of which is necessary to guarantee maximum quality and to ensure the  compliance with the standards and procedures.</a:t>
            </a:r>
          </a:p>
          <a:p>
            <a:pPr marL="12700" marR="5080" algn="just" rtl="0">
              <a:lnSpc>
                <a:spcPct val="143700"/>
              </a:lnSpc>
            </a:pPr>
            <a:r>
              <a:rPr lang="en-US" sz="2800" i="1" dirty="0">
                <a:latin typeface="Times New Roman"/>
                <a:cs typeface="Times New Roman"/>
              </a:rPr>
              <a:t>“The </a:t>
            </a:r>
            <a:r>
              <a:rPr lang="en-US" sz="2800" i="1" spc="-5" dirty="0">
                <a:latin typeface="Times New Roman"/>
                <a:cs typeface="Times New Roman"/>
              </a:rPr>
              <a:t>environment </a:t>
            </a:r>
            <a:r>
              <a:rPr lang="en-US" sz="2800" i="1" dirty="0">
                <a:latin typeface="Times New Roman"/>
                <a:cs typeface="Times New Roman"/>
              </a:rPr>
              <a:t>in </a:t>
            </a:r>
            <a:r>
              <a:rPr lang="en-US" sz="2800" i="1" spc="-10" dirty="0">
                <a:latin typeface="Times New Roman"/>
                <a:cs typeface="Times New Roman"/>
              </a:rPr>
              <a:t>which software </a:t>
            </a:r>
            <a:r>
              <a:rPr lang="en-US" sz="2800" i="1" spc="-5" dirty="0">
                <a:latin typeface="Times New Roman"/>
                <a:cs typeface="Times New Roman"/>
              </a:rPr>
              <a:t>development </a:t>
            </a:r>
            <a:r>
              <a:rPr lang="en-US" sz="2800" i="1" dirty="0">
                <a:latin typeface="Times New Roman"/>
                <a:cs typeface="Times New Roman"/>
              </a:rPr>
              <a:t>and </a:t>
            </a:r>
            <a:r>
              <a:rPr lang="en-US" sz="2800" i="1" spc="-5" dirty="0">
                <a:latin typeface="Times New Roman"/>
                <a:cs typeface="Times New Roman"/>
              </a:rPr>
              <a:t>maintenance </a:t>
            </a:r>
            <a:r>
              <a:rPr lang="en-US" sz="2800" i="1" dirty="0">
                <a:latin typeface="Times New Roman"/>
                <a:cs typeface="Times New Roman"/>
              </a:rPr>
              <a:t>is </a:t>
            </a:r>
            <a:r>
              <a:rPr lang="en-US" sz="2800" i="1" spc="-5" dirty="0">
                <a:latin typeface="Times New Roman"/>
                <a:cs typeface="Times New Roman"/>
              </a:rPr>
              <a:t>undertaken directly influences </a:t>
            </a:r>
            <a:r>
              <a:rPr lang="en-US" sz="2800" i="1" dirty="0">
                <a:latin typeface="Times New Roman"/>
                <a:cs typeface="Times New Roman"/>
              </a:rPr>
              <a:t>the  </a:t>
            </a:r>
            <a:r>
              <a:rPr lang="en-US" sz="2800" i="1" spc="-5" dirty="0">
                <a:latin typeface="Times New Roman"/>
                <a:cs typeface="Times New Roman"/>
              </a:rPr>
              <a:t>SQA components. Alongside </a:t>
            </a:r>
            <a:r>
              <a:rPr lang="en-US" sz="2800" i="1" dirty="0">
                <a:latin typeface="Times New Roman"/>
                <a:cs typeface="Times New Roman"/>
              </a:rPr>
              <a:t>this various </a:t>
            </a:r>
            <a:r>
              <a:rPr lang="en-US" sz="2800" i="1" spc="-5" dirty="0">
                <a:latin typeface="Times New Roman"/>
                <a:cs typeface="Times New Roman"/>
              </a:rPr>
              <a:t>errors </a:t>
            </a:r>
            <a:r>
              <a:rPr lang="en-US" sz="2800" i="1" spc="-10" dirty="0">
                <a:latin typeface="Times New Roman"/>
                <a:cs typeface="Times New Roman"/>
              </a:rPr>
              <a:t>will </a:t>
            </a:r>
            <a:r>
              <a:rPr lang="en-US" sz="2800" i="1" dirty="0">
                <a:latin typeface="Times New Roman"/>
                <a:cs typeface="Times New Roman"/>
              </a:rPr>
              <a:t>also </a:t>
            </a:r>
            <a:r>
              <a:rPr lang="en-US" sz="2800" i="1" spc="-10" dirty="0">
                <a:latin typeface="Times New Roman"/>
                <a:cs typeface="Times New Roman"/>
              </a:rPr>
              <a:t>affect </a:t>
            </a:r>
            <a:r>
              <a:rPr lang="en-US" sz="2800" i="1" dirty="0">
                <a:latin typeface="Times New Roman"/>
                <a:cs typeface="Times New Roman"/>
              </a:rPr>
              <a:t>the </a:t>
            </a:r>
            <a:r>
              <a:rPr lang="en-US" sz="2800" i="1" spc="-5" dirty="0">
                <a:latin typeface="Times New Roman"/>
                <a:cs typeface="Times New Roman"/>
              </a:rPr>
              <a:t>SQA components; therefore </a:t>
            </a:r>
            <a:r>
              <a:rPr lang="en-US" sz="2800" i="1" dirty="0">
                <a:latin typeface="Times New Roman"/>
                <a:cs typeface="Times New Roman"/>
              </a:rPr>
              <a:t>it is  usually </a:t>
            </a:r>
            <a:r>
              <a:rPr lang="en-US" sz="2800" i="1" spc="-5" dirty="0">
                <a:latin typeface="Times New Roman"/>
                <a:cs typeface="Times New Roman"/>
              </a:rPr>
              <a:t>necessary </a:t>
            </a:r>
            <a:r>
              <a:rPr lang="en-US" sz="2800" i="1" dirty="0">
                <a:latin typeface="Times New Roman"/>
                <a:cs typeface="Times New Roman"/>
              </a:rPr>
              <a:t>to include all of the</a:t>
            </a:r>
            <a:r>
              <a:rPr lang="en-US" sz="2800" i="1" spc="-55" dirty="0">
                <a:latin typeface="Times New Roman"/>
                <a:cs typeface="Times New Roman"/>
              </a:rPr>
              <a:t> </a:t>
            </a:r>
            <a:r>
              <a:rPr lang="en-US" sz="2800" i="1" spc="-5" dirty="0">
                <a:latin typeface="Times New Roman"/>
                <a:cs typeface="Times New Roman"/>
              </a:rPr>
              <a:t>components.”</a:t>
            </a:r>
            <a:endParaRPr lang="en-US" sz="2800" dirty="0">
              <a:latin typeface="Times New Roman"/>
              <a:cs typeface="Times New Roman"/>
            </a:endParaRPr>
          </a:p>
          <a:p>
            <a:pPr marL="12700" algn="just" rtl="0">
              <a:lnSpc>
                <a:spcPct val="100000"/>
              </a:lnSpc>
              <a:spcBef>
                <a:spcPts val="575"/>
              </a:spcBef>
            </a:pPr>
            <a:r>
              <a:rPr lang="en-US" sz="2800" dirty="0">
                <a:latin typeface="Times New Roman"/>
                <a:cs typeface="Times New Roman"/>
              </a:rPr>
              <a:t>The </a:t>
            </a:r>
            <a:r>
              <a:rPr lang="en-US" sz="2800" spc="-10" dirty="0">
                <a:latin typeface="Times New Roman"/>
                <a:cs typeface="Times New Roman"/>
              </a:rPr>
              <a:t>six </a:t>
            </a:r>
            <a:r>
              <a:rPr lang="en-US" sz="2800" spc="-5" dirty="0">
                <a:latin typeface="Times New Roman"/>
                <a:cs typeface="Times New Roman"/>
              </a:rPr>
              <a:t>different components </a:t>
            </a:r>
            <a:r>
              <a:rPr lang="en-US" sz="2800" spc="10" dirty="0">
                <a:latin typeface="Times New Roman"/>
                <a:cs typeface="Times New Roman"/>
              </a:rPr>
              <a:t>are </a:t>
            </a:r>
            <a:r>
              <a:rPr lang="en-US" sz="2800" spc="-5" dirty="0">
                <a:latin typeface="Times New Roman"/>
                <a:cs typeface="Times New Roman"/>
              </a:rPr>
              <a:t>broken down into </a:t>
            </a:r>
            <a:r>
              <a:rPr lang="en-US" sz="2800" spc="10" dirty="0">
                <a:latin typeface="Times New Roman"/>
                <a:cs typeface="Times New Roman"/>
              </a:rPr>
              <a:t>the </a:t>
            </a:r>
            <a:r>
              <a:rPr lang="en-US" sz="2800" spc="-5" dirty="0">
                <a:latin typeface="Times New Roman"/>
                <a:cs typeface="Times New Roman"/>
              </a:rPr>
              <a:t>following</a:t>
            </a:r>
            <a:r>
              <a:rPr lang="en-US" sz="2800" spc="-45" dirty="0">
                <a:latin typeface="Times New Roman"/>
                <a:cs typeface="Times New Roman"/>
              </a:rPr>
              <a:t> </a:t>
            </a:r>
            <a:r>
              <a:rPr lang="en-US" sz="2800" spc="-5" dirty="0">
                <a:latin typeface="Times New Roman"/>
                <a:cs typeface="Times New Roman"/>
              </a:rPr>
              <a:t>categories</a:t>
            </a:r>
            <a:endParaRPr lang="en-US" sz="2800" dirty="0">
              <a:latin typeface="Times New Roman"/>
              <a:cs typeface="Times New Roman"/>
            </a:endParaRPr>
          </a:p>
          <a:p>
            <a:pPr algn="l" rtl="0"/>
            <a:endParaRPr lang="ar-SD" sz="1600" dirty="0"/>
          </a:p>
        </p:txBody>
      </p:sp>
    </p:spTree>
    <p:extLst>
      <p:ext uri="{BB962C8B-B14F-4D97-AF65-F5344CB8AC3E}">
        <p14:creationId xmlns:p14="http://schemas.microsoft.com/office/powerpoint/2010/main" val="5510069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FC1B41D7-BA6E-9C61-DBD5-EDBEC7395F3A}"/>
              </a:ext>
            </a:extLst>
          </p:cNvPr>
          <p:cNvSpPr/>
          <p:nvPr/>
        </p:nvSpPr>
        <p:spPr>
          <a:xfrm>
            <a:off x="1030514" y="275771"/>
            <a:ext cx="9027886" cy="5452927"/>
          </a:xfrm>
          <a:prstGeom prst="rect">
            <a:avLst/>
          </a:prstGeom>
          <a:blipFill>
            <a:blip r:embed="rId2" cstate="print"/>
            <a:stretch>
              <a:fillRect/>
            </a:stretch>
          </a:blipFill>
        </p:spPr>
        <p:txBody>
          <a:bodyPr wrap="square" lIns="0" tIns="0" rIns="0" bIns="0" rtlCol="0"/>
          <a:lstStyle/>
          <a:p>
            <a:endParaRPr/>
          </a:p>
        </p:txBody>
      </p:sp>
      <p:sp>
        <p:nvSpPr>
          <p:cNvPr id="4" name="TextBox 3">
            <a:extLst>
              <a:ext uri="{FF2B5EF4-FFF2-40B4-BE49-F238E27FC236}">
                <a16:creationId xmlns:a16="http://schemas.microsoft.com/office/drawing/2014/main" id="{FB45A59C-5851-E3CE-0BCC-CA5581209A4C}"/>
              </a:ext>
            </a:extLst>
          </p:cNvPr>
          <p:cNvSpPr txBox="1"/>
          <p:nvPr/>
        </p:nvSpPr>
        <p:spPr>
          <a:xfrm>
            <a:off x="3643086" y="5846019"/>
            <a:ext cx="6096000" cy="369332"/>
          </a:xfrm>
          <a:prstGeom prst="rect">
            <a:avLst/>
          </a:prstGeom>
          <a:noFill/>
        </p:spPr>
        <p:txBody>
          <a:bodyPr wrap="square">
            <a:spAutoFit/>
          </a:bodyPr>
          <a:lstStyle/>
          <a:p>
            <a:pPr marL="12700">
              <a:lnSpc>
                <a:spcPct val="100000"/>
              </a:lnSpc>
            </a:pPr>
            <a:r>
              <a:rPr lang="en-US" sz="1800" spc="-5" dirty="0">
                <a:latin typeface="Times New Roman"/>
                <a:cs typeface="Times New Roman"/>
              </a:rPr>
              <a:t>Figure </a:t>
            </a:r>
            <a:r>
              <a:rPr lang="en-US" sz="1800" dirty="0">
                <a:latin typeface="Times New Roman"/>
                <a:cs typeface="Times New Roman"/>
              </a:rPr>
              <a:t>1: </a:t>
            </a:r>
            <a:r>
              <a:rPr lang="en-US" sz="1800" spc="-5" dirty="0">
                <a:latin typeface="Times New Roman"/>
                <a:cs typeface="Times New Roman"/>
              </a:rPr>
              <a:t>The SQA </a:t>
            </a:r>
            <a:r>
              <a:rPr lang="en-US" sz="1800" dirty="0">
                <a:latin typeface="Times New Roman"/>
                <a:cs typeface="Times New Roman"/>
              </a:rPr>
              <a:t>System</a:t>
            </a:r>
            <a:r>
              <a:rPr lang="en-US" sz="1800" spc="-105" dirty="0">
                <a:latin typeface="Times New Roman"/>
                <a:cs typeface="Times New Roman"/>
              </a:rPr>
              <a:t> </a:t>
            </a:r>
            <a:r>
              <a:rPr lang="en-US" sz="1800" dirty="0">
                <a:latin typeface="Times New Roman"/>
                <a:cs typeface="Times New Roman"/>
              </a:rPr>
              <a:t>Overview</a:t>
            </a:r>
          </a:p>
        </p:txBody>
      </p:sp>
    </p:spTree>
    <p:extLst>
      <p:ext uri="{BB962C8B-B14F-4D97-AF65-F5344CB8AC3E}">
        <p14:creationId xmlns:p14="http://schemas.microsoft.com/office/powerpoint/2010/main" val="1768903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366F5D-4DDA-0467-0BE8-0167B17F396C}"/>
              </a:ext>
            </a:extLst>
          </p:cNvPr>
          <p:cNvSpPr txBox="1"/>
          <p:nvPr/>
        </p:nvSpPr>
        <p:spPr>
          <a:xfrm>
            <a:off x="304800" y="0"/>
            <a:ext cx="11887200" cy="7081682"/>
          </a:xfrm>
          <a:prstGeom prst="rect">
            <a:avLst/>
          </a:prstGeom>
          <a:noFill/>
        </p:spPr>
        <p:txBody>
          <a:bodyPr wrap="square">
            <a:spAutoFit/>
          </a:bodyPr>
          <a:lstStyle/>
          <a:p>
            <a:pPr>
              <a:lnSpc>
                <a:spcPct val="100000"/>
              </a:lnSpc>
            </a:pPr>
            <a:endParaRPr lang="en-US" sz="1600" dirty="0">
              <a:latin typeface="Times New Roman"/>
              <a:cs typeface="Times New Roman"/>
            </a:endParaRPr>
          </a:p>
          <a:p>
            <a:pPr marL="12700">
              <a:lnSpc>
                <a:spcPct val="100000"/>
              </a:lnSpc>
              <a:spcBef>
                <a:spcPts val="560"/>
              </a:spcBef>
            </a:pPr>
            <a:r>
              <a:rPr lang="en-US" sz="2800" b="1" i="1" dirty="0">
                <a:latin typeface="Times New Roman"/>
                <a:cs typeface="Times New Roman"/>
              </a:rPr>
              <a:t>1. </a:t>
            </a:r>
            <a:r>
              <a:rPr lang="en-US" sz="2800" b="1" i="1" spc="-5" dirty="0">
                <a:latin typeface="Times New Roman"/>
                <a:cs typeface="Times New Roman"/>
              </a:rPr>
              <a:t>Pre-project</a:t>
            </a:r>
            <a:r>
              <a:rPr lang="en-US" sz="2800" b="1" i="1" spc="-15" dirty="0">
                <a:latin typeface="Times New Roman"/>
                <a:cs typeface="Times New Roman"/>
              </a:rPr>
              <a:t> </a:t>
            </a:r>
            <a:r>
              <a:rPr lang="en-US" sz="2800" b="1" i="1" spc="-5" dirty="0">
                <a:latin typeface="Times New Roman"/>
                <a:cs typeface="Times New Roman"/>
              </a:rPr>
              <a:t>Components</a:t>
            </a:r>
            <a:endParaRPr lang="en-US" sz="2800" dirty="0">
              <a:latin typeface="Times New Roman"/>
              <a:cs typeface="Times New Roman"/>
            </a:endParaRPr>
          </a:p>
          <a:p>
            <a:pPr marL="12700" marR="5715" indent="457200" algn="just">
              <a:lnSpc>
                <a:spcPct val="143700"/>
              </a:lnSpc>
              <a:spcBef>
                <a:spcPts val="360"/>
              </a:spcBef>
            </a:pPr>
            <a:r>
              <a:rPr lang="en-US" sz="2400" dirty="0">
                <a:latin typeface="Times New Roman"/>
                <a:cs typeface="Times New Roman"/>
              </a:rPr>
              <a:t>The </a:t>
            </a:r>
            <a:r>
              <a:rPr lang="en-US" sz="2400" spc="-5" dirty="0">
                <a:latin typeface="Times New Roman"/>
                <a:cs typeface="Times New Roman"/>
              </a:rPr>
              <a:t>Pre-Project component </a:t>
            </a:r>
            <a:r>
              <a:rPr lang="en-US" sz="2400" spc="-10" dirty="0">
                <a:latin typeface="Times New Roman"/>
                <a:cs typeface="Times New Roman"/>
              </a:rPr>
              <a:t>ensures </a:t>
            </a:r>
            <a:r>
              <a:rPr lang="en-US" sz="2400" spc="-5" dirty="0">
                <a:latin typeface="Times New Roman"/>
                <a:cs typeface="Times New Roman"/>
              </a:rPr>
              <a:t>that </a:t>
            </a:r>
            <a:r>
              <a:rPr lang="en-US" sz="2400" dirty="0">
                <a:latin typeface="Times New Roman"/>
                <a:cs typeface="Times New Roman"/>
              </a:rPr>
              <a:t>the </a:t>
            </a:r>
            <a:r>
              <a:rPr lang="en-US" sz="2400" spc="-5" dirty="0">
                <a:latin typeface="Times New Roman"/>
                <a:cs typeface="Times New Roman"/>
              </a:rPr>
              <a:t>project has been adequately defined ensuring </a:t>
            </a:r>
            <a:r>
              <a:rPr lang="en-US" sz="2400" dirty="0">
                <a:latin typeface="Times New Roman"/>
                <a:cs typeface="Times New Roman"/>
              </a:rPr>
              <a:t>that the  </a:t>
            </a:r>
            <a:r>
              <a:rPr lang="en-US" sz="2400" spc="-5" dirty="0">
                <a:latin typeface="Times New Roman"/>
                <a:cs typeface="Times New Roman"/>
              </a:rPr>
              <a:t>resources available, budget and </a:t>
            </a:r>
            <a:r>
              <a:rPr lang="en-US" sz="2400" dirty="0">
                <a:latin typeface="Times New Roman"/>
                <a:cs typeface="Times New Roman"/>
              </a:rPr>
              <a:t>so forth have </a:t>
            </a:r>
            <a:r>
              <a:rPr lang="en-US" sz="2400" spc="-10" dirty="0">
                <a:latin typeface="Times New Roman"/>
                <a:cs typeface="Times New Roman"/>
              </a:rPr>
              <a:t>not </a:t>
            </a:r>
            <a:r>
              <a:rPr lang="en-US" sz="2400" dirty="0">
                <a:latin typeface="Times New Roman"/>
                <a:cs typeface="Times New Roman"/>
              </a:rPr>
              <a:t>been </a:t>
            </a:r>
            <a:r>
              <a:rPr lang="en-US" sz="2400" spc="-5" dirty="0">
                <a:latin typeface="Times New Roman"/>
                <a:cs typeface="Times New Roman"/>
              </a:rPr>
              <a:t>misinterpreted </a:t>
            </a:r>
            <a:r>
              <a:rPr lang="en-US" sz="2400" dirty="0">
                <a:latin typeface="Times New Roman"/>
                <a:cs typeface="Times New Roman"/>
              </a:rPr>
              <a:t>by the </a:t>
            </a:r>
            <a:r>
              <a:rPr lang="en-US" sz="2400" spc="-10" dirty="0">
                <a:latin typeface="Times New Roman"/>
                <a:cs typeface="Times New Roman"/>
              </a:rPr>
              <a:t>client </a:t>
            </a:r>
            <a:r>
              <a:rPr lang="en-US" sz="2400" spc="-15" dirty="0">
                <a:latin typeface="Times New Roman"/>
                <a:cs typeface="Times New Roman"/>
              </a:rPr>
              <a:t>or </a:t>
            </a:r>
            <a:r>
              <a:rPr lang="en-US" sz="2400" dirty="0">
                <a:latin typeface="Times New Roman"/>
                <a:cs typeface="Times New Roman"/>
              </a:rPr>
              <a:t>the </a:t>
            </a:r>
            <a:r>
              <a:rPr lang="en-US" sz="2400" spc="-5" dirty="0">
                <a:latin typeface="Times New Roman"/>
                <a:cs typeface="Times New Roman"/>
              </a:rPr>
              <a:t>organization.  This </a:t>
            </a:r>
            <a:r>
              <a:rPr lang="en-US" sz="2400" spc="-10" dirty="0">
                <a:latin typeface="Times New Roman"/>
                <a:cs typeface="Times New Roman"/>
              </a:rPr>
              <a:t>improves </a:t>
            </a:r>
            <a:r>
              <a:rPr lang="en-US" sz="2400" dirty="0">
                <a:latin typeface="Times New Roman"/>
                <a:cs typeface="Times New Roman"/>
              </a:rPr>
              <a:t>the </a:t>
            </a:r>
            <a:r>
              <a:rPr lang="en-US" sz="2400" spc="-5" dirty="0">
                <a:latin typeface="Times New Roman"/>
                <a:cs typeface="Times New Roman"/>
              </a:rPr>
              <a:t>preliminary steps taken prior </a:t>
            </a:r>
            <a:r>
              <a:rPr lang="en-US" sz="2400" dirty="0">
                <a:latin typeface="Times New Roman"/>
                <a:cs typeface="Times New Roman"/>
              </a:rPr>
              <a:t>to </a:t>
            </a:r>
            <a:r>
              <a:rPr lang="en-US" sz="2400" spc="-5" dirty="0">
                <a:latin typeface="Times New Roman"/>
                <a:cs typeface="Times New Roman"/>
              </a:rPr>
              <a:t>initiating work </a:t>
            </a:r>
            <a:r>
              <a:rPr lang="en-US" sz="2400" dirty="0">
                <a:latin typeface="Times New Roman"/>
                <a:cs typeface="Times New Roman"/>
              </a:rPr>
              <a:t>on the </a:t>
            </a:r>
            <a:r>
              <a:rPr lang="en-US" sz="2400" spc="-5" dirty="0">
                <a:latin typeface="Times New Roman"/>
                <a:cs typeface="Times New Roman"/>
              </a:rPr>
              <a:t>project </a:t>
            </a:r>
            <a:r>
              <a:rPr lang="en-US" sz="2400" spc="-10" dirty="0">
                <a:latin typeface="Times New Roman"/>
                <a:cs typeface="Times New Roman"/>
              </a:rPr>
              <a:t>itself, </a:t>
            </a:r>
            <a:r>
              <a:rPr lang="en-US" sz="2400" spc="-5" dirty="0">
                <a:latin typeface="Times New Roman"/>
                <a:cs typeface="Times New Roman"/>
              </a:rPr>
              <a:t>thus leading </a:t>
            </a:r>
            <a:r>
              <a:rPr lang="en-US" sz="2400" dirty="0">
                <a:latin typeface="Times New Roman"/>
                <a:cs typeface="Times New Roman"/>
              </a:rPr>
              <a:t>to  </a:t>
            </a:r>
            <a:r>
              <a:rPr lang="en-US" sz="2400" spc="-10" dirty="0">
                <a:latin typeface="Times New Roman"/>
                <a:cs typeface="Times New Roman"/>
              </a:rPr>
              <a:t>fewer </a:t>
            </a:r>
            <a:r>
              <a:rPr lang="en-US" sz="2400" spc="-5" dirty="0">
                <a:latin typeface="Times New Roman"/>
                <a:cs typeface="Times New Roman"/>
              </a:rPr>
              <a:t>errors </a:t>
            </a:r>
            <a:r>
              <a:rPr lang="en-US" sz="2400" spc="-10" dirty="0">
                <a:latin typeface="Times New Roman"/>
                <a:cs typeface="Times New Roman"/>
              </a:rPr>
              <a:t>later in </a:t>
            </a:r>
            <a:r>
              <a:rPr lang="en-US" sz="2400" dirty="0">
                <a:latin typeface="Times New Roman"/>
                <a:cs typeface="Times New Roman"/>
              </a:rPr>
              <a:t>the </a:t>
            </a:r>
            <a:r>
              <a:rPr lang="en-US" sz="2400" spc="-5" dirty="0">
                <a:latin typeface="Times New Roman"/>
                <a:cs typeface="Times New Roman"/>
              </a:rPr>
              <a:t>development</a:t>
            </a:r>
            <a:r>
              <a:rPr lang="en-US" sz="2400" spc="65" dirty="0">
                <a:latin typeface="Times New Roman"/>
                <a:cs typeface="Times New Roman"/>
              </a:rPr>
              <a:t> </a:t>
            </a:r>
            <a:r>
              <a:rPr lang="en-US" sz="2400" spc="-5" dirty="0">
                <a:latin typeface="Times New Roman"/>
                <a:cs typeface="Times New Roman"/>
              </a:rPr>
              <a:t>phase.</a:t>
            </a:r>
            <a:endParaRPr lang="en-US" sz="2400" dirty="0">
              <a:latin typeface="Times New Roman"/>
              <a:cs typeface="Times New Roman"/>
            </a:endParaRPr>
          </a:p>
          <a:p>
            <a:pPr marL="12700">
              <a:lnSpc>
                <a:spcPct val="100000"/>
              </a:lnSpc>
              <a:spcBef>
                <a:spcPts val="575"/>
              </a:spcBef>
            </a:pPr>
            <a:r>
              <a:rPr lang="en-US" sz="2400" dirty="0">
                <a:latin typeface="Times New Roman"/>
                <a:cs typeface="Times New Roman"/>
              </a:rPr>
              <a:t>There </a:t>
            </a:r>
            <a:r>
              <a:rPr lang="en-US" sz="2400" spc="10" dirty="0">
                <a:latin typeface="Times New Roman"/>
                <a:cs typeface="Times New Roman"/>
              </a:rPr>
              <a:t>are </a:t>
            </a:r>
            <a:r>
              <a:rPr lang="en-US" sz="2400" spc="-10" dirty="0">
                <a:latin typeface="Times New Roman"/>
                <a:cs typeface="Times New Roman"/>
              </a:rPr>
              <a:t>two </a:t>
            </a:r>
            <a:r>
              <a:rPr lang="en-US" sz="2400" spc="-5" dirty="0">
                <a:latin typeface="Times New Roman"/>
                <a:cs typeface="Times New Roman"/>
              </a:rPr>
              <a:t>key concepts </a:t>
            </a:r>
            <a:r>
              <a:rPr lang="en-US" sz="2400" dirty="0">
                <a:latin typeface="Times New Roman"/>
                <a:cs typeface="Times New Roman"/>
              </a:rPr>
              <a:t>to </a:t>
            </a:r>
            <a:r>
              <a:rPr lang="en-US" sz="2400" spc="-5" dirty="0">
                <a:latin typeface="Times New Roman"/>
                <a:cs typeface="Times New Roman"/>
              </a:rPr>
              <a:t>this</a:t>
            </a:r>
            <a:r>
              <a:rPr lang="en-US" sz="2400" spc="-75" dirty="0">
                <a:latin typeface="Times New Roman"/>
                <a:cs typeface="Times New Roman"/>
              </a:rPr>
              <a:t> </a:t>
            </a:r>
            <a:r>
              <a:rPr lang="en-US" sz="2400" spc="-5" dirty="0">
                <a:latin typeface="Times New Roman"/>
                <a:cs typeface="Times New Roman"/>
              </a:rPr>
              <a:t>component;</a:t>
            </a:r>
            <a:endParaRPr lang="en-US" sz="2400" dirty="0">
              <a:latin typeface="Times New Roman"/>
              <a:cs typeface="Times New Roman"/>
            </a:endParaRPr>
          </a:p>
          <a:p>
            <a:pPr marL="12700">
              <a:lnSpc>
                <a:spcPct val="100000"/>
              </a:lnSpc>
            </a:pPr>
            <a:r>
              <a:rPr lang="en-US" sz="2800" b="1" dirty="0">
                <a:latin typeface="Times New Roman"/>
                <a:cs typeface="Times New Roman"/>
              </a:rPr>
              <a:t>1.1 </a:t>
            </a:r>
            <a:r>
              <a:rPr lang="en-US" sz="2800" b="1" spc="-5" dirty="0">
                <a:latin typeface="Times New Roman"/>
                <a:cs typeface="Times New Roman"/>
              </a:rPr>
              <a:t>Contract</a:t>
            </a:r>
            <a:r>
              <a:rPr lang="en-US" sz="2800" b="1" spc="-75" dirty="0">
                <a:latin typeface="Times New Roman"/>
                <a:cs typeface="Times New Roman"/>
              </a:rPr>
              <a:t> </a:t>
            </a:r>
            <a:r>
              <a:rPr lang="en-US" sz="2800" b="1" spc="-5" dirty="0">
                <a:latin typeface="Times New Roman"/>
                <a:cs typeface="Times New Roman"/>
              </a:rPr>
              <a:t>Review</a:t>
            </a:r>
            <a:endParaRPr lang="en-US" sz="2800" dirty="0">
              <a:latin typeface="Times New Roman"/>
              <a:cs typeface="Times New Roman"/>
            </a:endParaRPr>
          </a:p>
          <a:p>
            <a:pPr marL="469900">
              <a:lnSpc>
                <a:spcPct val="100000"/>
              </a:lnSpc>
              <a:spcBef>
                <a:spcPts val="925"/>
              </a:spcBef>
            </a:pPr>
            <a:r>
              <a:rPr lang="en-US" sz="2400" dirty="0">
                <a:latin typeface="Times New Roman"/>
                <a:cs typeface="Times New Roman"/>
              </a:rPr>
              <a:t>The</a:t>
            </a:r>
            <a:r>
              <a:rPr lang="en-US" sz="2400" spc="65" dirty="0">
                <a:latin typeface="Times New Roman"/>
                <a:cs typeface="Times New Roman"/>
              </a:rPr>
              <a:t> </a:t>
            </a:r>
            <a:r>
              <a:rPr lang="en-US" sz="2400" dirty="0">
                <a:latin typeface="Times New Roman"/>
                <a:cs typeface="Times New Roman"/>
              </a:rPr>
              <a:t>Contract</a:t>
            </a:r>
            <a:r>
              <a:rPr lang="en-US" sz="2400" spc="80" dirty="0">
                <a:latin typeface="Times New Roman"/>
                <a:cs typeface="Times New Roman"/>
              </a:rPr>
              <a:t> </a:t>
            </a:r>
            <a:r>
              <a:rPr lang="en-US" sz="2400" spc="-5" dirty="0">
                <a:latin typeface="Times New Roman"/>
                <a:cs typeface="Times New Roman"/>
              </a:rPr>
              <a:t>Review</a:t>
            </a:r>
            <a:r>
              <a:rPr lang="en-US" sz="2400" spc="70" dirty="0">
                <a:latin typeface="Times New Roman"/>
                <a:cs typeface="Times New Roman"/>
              </a:rPr>
              <a:t> </a:t>
            </a:r>
            <a:r>
              <a:rPr lang="en-US" sz="2400" spc="-5" dirty="0">
                <a:latin typeface="Times New Roman"/>
                <a:cs typeface="Times New Roman"/>
              </a:rPr>
              <a:t>begins</a:t>
            </a:r>
            <a:r>
              <a:rPr lang="en-US" sz="2400" spc="105" dirty="0">
                <a:latin typeface="Times New Roman"/>
                <a:cs typeface="Times New Roman"/>
              </a:rPr>
              <a:t> </a:t>
            </a:r>
            <a:r>
              <a:rPr lang="en-US" sz="2400" dirty="0">
                <a:latin typeface="Times New Roman"/>
                <a:cs typeface="Times New Roman"/>
              </a:rPr>
              <a:t>the</a:t>
            </a:r>
            <a:r>
              <a:rPr lang="en-US" sz="2400" spc="90" dirty="0">
                <a:latin typeface="Times New Roman"/>
                <a:cs typeface="Times New Roman"/>
              </a:rPr>
              <a:t> </a:t>
            </a:r>
            <a:r>
              <a:rPr lang="en-US" sz="2400" spc="-5" dirty="0">
                <a:latin typeface="Times New Roman"/>
                <a:cs typeface="Times New Roman"/>
              </a:rPr>
              <a:t>negotiations</a:t>
            </a:r>
            <a:r>
              <a:rPr lang="en-US" sz="2400" spc="105" dirty="0">
                <a:latin typeface="Times New Roman"/>
                <a:cs typeface="Times New Roman"/>
              </a:rPr>
              <a:t> </a:t>
            </a:r>
            <a:r>
              <a:rPr lang="en-US" sz="2400" spc="-15" dirty="0">
                <a:latin typeface="Times New Roman"/>
                <a:cs typeface="Times New Roman"/>
              </a:rPr>
              <a:t>of</a:t>
            </a:r>
            <a:r>
              <a:rPr lang="en-US" sz="2400" spc="95" dirty="0">
                <a:latin typeface="Times New Roman"/>
                <a:cs typeface="Times New Roman"/>
              </a:rPr>
              <a:t> </a:t>
            </a:r>
            <a:r>
              <a:rPr lang="en-US" sz="2400" dirty="0">
                <a:latin typeface="Times New Roman"/>
                <a:cs typeface="Times New Roman"/>
              </a:rPr>
              <a:t>a</a:t>
            </a:r>
            <a:r>
              <a:rPr lang="en-US" sz="2400" spc="114" dirty="0">
                <a:latin typeface="Times New Roman"/>
                <a:cs typeface="Times New Roman"/>
              </a:rPr>
              <a:t> </a:t>
            </a:r>
            <a:r>
              <a:rPr lang="en-US" sz="2400" spc="-5" dirty="0">
                <a:latin typeface="Times New Roman"/>
                <a:cs typeface="Times New Roman"/>
              </a:rPr>
              <a:t>contract</a:t>
            </a:r>
            <a:r>
              <a:rPr lang="en-US" sz="2400" spc="105" dirty="0">
                <a:latin typeface="Times New Roman"/>
                <a:cs typeface="Times New Roman"/>
              </a:rPr>
              <a:t> </a:t>
            </a:r>
            <a:r>
              <a:rPr lang="en-US" sz="2400" spc="-10" dirty="0">
                <a:latin typeface="Times New Roman"/>
                <a:cs typeface="Times New Roman"/>
              </a:rPr>
              <a:t>between</a:t>
            </a:r>
            <a:r>
              <a:rPr lang="en-US" sz="2400" spc="75" dirty="0">
                <a:latin typeface="Times New Roman"/>
                <a:cs typeface="Times New Roman"/>
              </a:rPr>
              <a:t> </a:t>
            </a:r>
            <a:r>
              <a:rPr lang="en-US" sz="2400" dirty="0">
                <a:latin typeface="Times New Roman"/>
                <a:cs typeface="Times New Roman"/>
              </a:rPr>
              <a:t>the</a:t>
            </a:r>
            <a:r>
              <a:rPr lang="en-US" sz="2400" spc="65" dirty="0">
                <a:latin typeface="Times New Roman"/>
                <a:cs typeface="Times New Roman"/>
              </a:rPr>
              <a:t> </a:t>
            </a:r>
            <a:r>
              <a:rPr lang="en-US" sz="2400" dirty="0">
                <a:latin typeface="Times New Roman"/>
                <a:cs typeface="Times New Roman"/>
              </a:rPr>
              <a:t>company</a:t>
            </a:r>
            <a:r>
              <a:rPr lang="en-US" sz="2400" spc="75" dirty="0">
                <a:latin typeface="Times New Roman"/>
                <a:cs typeface="Times New Roman"/>
              </a:rPr>
              <a:t> </a:t>
            </a:r>
            <a:r>
              <a:rPr lang="en-US" sz="2400" spc="-5" dirty="0">
                <a:latin typeface="Times New Roman"/>
                <a:cs typeface="Times New Roman"/>
              </a:rPr>
              <a:t>and</a:t>
            </a:r>
            <a:r>
              <a:rPr lang="en-US" sz="2400" spc="75" dirty="0">
                <a:latin typeface="Times New Roman"/>
                <a:cs typeface="Times New Roman"/>
              </a:rPr>
              <a:t> </a:t>
            </a:r>
            <a:r>
              <a:rPr lang="en-US" sz="2400" dirty="0">
                <a:latin typeface="Times New Roman"/>
                <a:cs typeface="Times New Roman"/>
              </a:rPr>
              <a:t>the</a:t>
            </a:r>
            <a:r>
              <a:rPr lang="en-US" sz="2400" spc="65" dirty="0">
                <a:latin typeface="Times New Roman"/>
                <a:cs typeface="Times New Roman"/>
              </a:rPr>
              <a:t> </a:t>
            </a:r>
            <a:r>
              <a:rPr lang="en-US" sz="2400" spc="-5" dirty="0">
                <a:latin typeface="Times New Roman"/>
                <a:cs typeface="Times New Roman"/>
              </a:rPr>
              <a:t>client.</a:t>
            </a:r>
            <a:endParaRPr lang="en-US" sz="2400" dirty="0">
              <a:latin typeface="Times New Roman"/>
              <a:cs typeface="Times New Roman"/>
            </a:endParaRPr>
          </a:p>
          <a:p>
            <a:pPr marL="12700">
              <a:lnSpc>
                <a:spcPct val="100000"/>
              </a:lnSpc>
              <a:spcBef>
                <a:spcPts val="575"/>
              </a:spcBef>
            </a:pPr>
            <a:r>
              <a:rPr lang="en-US" sz="2400" dirty="0">
                <a:latin typeface="Times New Roman"/>
                <a:cs typeface="Times New Roman"/>
              </a:rPr>
              <a:t>One </a:t>
            </a:r>
            <a:r>
              <a:rPr lang="en-US" sz="2400" spc="-15" dirty="0">
                <a:latin typeface="Times New Roman"/>
                <a:cs typeface="Times New Roman"/>
              </a:rPr>
              <a:t>of </a:t>
            </a:r>
            <a:r>
              <a:rPr lang="en-US" sz="2400" dirty="0">
                <a:latin typeface="Times New Roman"/>
                <a:cs typeface="Times New Roman"/>
              </a:rPr>
              <a:t>the </a:t>
            </a:r>
            <a:r>
              <a:rPr lang="en-US" sz="2400" spc="-5" dirty="0">
                <a:latin typeface="Times New Roman"/>
                <a:cs typeface="Times New Roman"/>
              </a:rPr>
              <a:t>key focuses </a:t>
            </a:r>
            <a:r>
              <a:rPr lang="en-US" sz="2400" spc="-10" dirty="0">
                <a:latin typeface="Times New Roman"/>
                <a:cs typeface="Times New Roman"/>
              </a:rPr>
              <a:t>is </a:t>
            </a:r>
            <a:r>
              <a:rPr lang="en-US" sz="2400" dirty="0">
                <a:latin typeface="Times New Roman"/>
                <a:cs typeface="Times New Roman"/>
              </a:rPr>
              <a:t>on the areas </a:t>
            </a:r>
            <a:r>
              <a:rPr lang="en-US" sz="2400" spc="-15" dirty="0">
                <a:latin typeface="Times New Roman"/>
                <a:cs typeface="Times New Roman"/>
              </a:rPr>
              <a:t>or </a:t>
            </a:r>
            <a:r>
              <a:rPr lang="en-US" sz="2400" spc="-10" dirty="0">
                <a:latin typeface="Times New Roman"/>
                <a:cs typeface="Times New Roman"/>
              </a:rPr>
              <a:t>points </a:t>
            </a:r>
            <a:r>
              <a:rPr lang="en-US" sz="2400" spc="-5" dirty="0">
                <a:latin typeface="Times New Roman"/>
                <a:cs typeface="Times New Roman"/>
              </a:rPr>
              <a:t>that </a:t>
            </a:r>
            <a:r>
              <a:rPr lang="en-US" sz="2400" spc="-10" dirty="0">
                <a:latin typeface="Times New Roman"/>
                <a:cs typeface="Times New Roman"/>
              </a:rPr>
              <a:t>could </a:t>
            </a:r>
            <a:r>
              <a:rPr lang="en-US" sz="2400" dirty="0">
                <a:latin typeface="Times New Roman"/>
                <a:cs typeface="Times New Roman"/>
              </a:rPr>
              <a:t>go </a:t>
            </a:r>
            <a:r>
              <a:rPr lang="en-US" sz="2400" spc="-10" dirty="0">
                <a:latin typeface="Times New Roman"/>
                <a:cs typeface="Times New Roman"/>
              </a:rPr>
              <a:t>wrong, </a:t>
            </a:r>
            <a:r>
              <a:rPr lang="en-US" sz="2400" dirty="0">
                <a:latin typeface="Times New Roman"/>
                <a:cs typeface="Times New Roman"/>
              </a:rPr>
              <a:t>known </a:t>
            </a:r>
            <a:r>
              <a:rPr lang="en-US" sz="2400" spc="5" dirty="0">
                <a:latin typeface="Times New Roman"/>
                <a:cs typeface="Times New Roman"/>
              </a:rPr>
              <a:t>as </a:t>
            </a:r>
            <a:r>
              <a:rPr lang="en-US" sz="2400" spc="-10" dirty="0">
                <a:latin typeface="Times New Roman"/>
                <a:cs typeface="Times New Roman"/>
              </a:rPr>
              <a:t>development</a:t>
            </a:r>
            <a:r>
              <a:rPr lang="en-US" sz="2400" spc="220" dirty="0">
                <a:latin typeface="Times New Roman"/>
                <a:cs typeface="Times New Roman"/>
              </a:rPr>
              <a:t> </a:t>
            </a:r>
            <a:r>
              <a:rPr lang="en-US" sz="2400" spc="-5" dirty="0">
                <a:latin typeface="Times New Roman"/>
                <a:cs typeface="Times New Roman"/>
              </a:rPr>
              <a:t>risks.</a:t>
            </a:r>
            <a:endParaRPr lang="en-US" sz="2400" dirty="0">
              <a:latin typeface="Times New Roman"/>
              <a:cs typeface="Times New Roman"/>
            </a:endParaRPr>
          </a:p>
          <a:p>
            <a:pPr marL="12700" marR="7620">
              <a:lnSpc>
                <a:spcPct val="143700"/>
              </a:lnSpc>
            </a:pPr>
            <a:r>
              <a:rPr lang="en-US" sz="2400" dirty="0">
                <a:latin typeface="Times New Roman"/>
                <a:cs typeface="Times New Roman"/>
              </a:rPr>
              <a:t>The </a:t>
            </a:r>
            <a:r>
              <a:rPr lang="en-US" sz="2400" spc="-5" dirty="0">
                <a:latin typeface="Times New Roman"/>
                <a:cs typeface="Times New Roman"/>
              </a:rPr>
              <a:t>contract </a:t>
            </a:r>
            <a:r>
              <a:rPr lang="en-US" sz="2400" spc="-10" dirty="0">
                <a:latin typeface="Times New Roman"/>
                <a:cs typeface="Times New Roman"/>
              </a:rPr>
              <a:t>ensures </a:t>
            </a:r>
            <a:r>
              <a:rPr lang="en-US" sz="2400" dirty="0">
                <a:latin typeface="Times New Roman"/>
                <a:cs typeface="Times New Roman"/>
              </a:rPr>
              <a:t>that </a:t>
            </a:r>
            <a:r>
              <a:rPr lang="en-US" sz="2400" spc="-10" dirty="0">
                <a:latin typeface="Times New Roman"/>
                <a:cs typeface="Times New Roman"/>
              </a:rPr>
              <a:t>commitments </a:t>
            </a:r>
            <a:r>
              <a:rPr lang="en-US" sz="2400" spc="-5" dirty="0">
                <a:latin typeface="Times New Roman"/>
                <a:cs typeface="Times New Roman"/>
              </a:rPr>
              <a:t>have </a:t>
            </a:r>
            <a:r>
              <a:rPr lang="en-US" sz="2400" dirty="0">
                <a:latin typeface="Times New Roman"/>
                <a:cs typeface="Times New Roman"/>
              </a:rPr>
              <a:t>been </a:t>
            </a:r>
            <a:r>
              <a:rPr lang="en-US" sz="2400" spc="-5" dirty="0">
                <a:latin typeface="Times New Roman"/>
                <a:cs typeface="Times New Roman"/>
              </a:rPr>
              <a:t>documented including </a:t>
            </a:r>
            <a:r>
              <a:rPr lang="en-US" sz="2400" spc="5" dirty="0">
                <a:latin typeface="Times New Roman"/>
                <a:cs typeface="Times New Roman"/>
              </a:rPr>
              <a:t>an </a:t>
            </a:r>
            <a:r>
              <a:rPr lang="en-US" sz="2400" spc="-5" dirty="0">
                <a:latin typeface="Times New Roman"/>
                <a:cs typeface="Times New Roman"/>
              </a:rPr>
              <a:t>agreement </a:t>
            </a:r>
            <a:r>
              <a:rPr lang="en-US" sz="2400" spc="5" dirty="0">
                <a:latin typeface="Times New Roman"/>
                <a:cs typeface="Times New Roman"/>
              </a:rPr>
              <a:t>upon the  </a:t>
            </a:r>
            <a:r>
              <a:rPr lang="en-US" sz="2400" spc="-5" dirty="0">
                <a:latin typeface="Times New Roman"/>
                <a:cs typeface="Times New Roman"/>
              </a:rPr>
              <a:t>functional specification, budget </a:t>
            </a:r>
            <a:r>
              <a:rPr lang="en-US" sz="2400" spc="5" dirty="0">
                <a:latin typeface="Times New Roman"/>
                <a:cs typeface="Times New Roman"/>
              </a:rPr>
              <a:t>and </a:t>
            </a:r>
            <a:r>
              <a:rPr lang="en-US" sz="2400" dirty="0">
                <a:latin typeface="Times New Roman"/>
                <a:cs typeface="Times New Roman"/>
              </a:rPr>
              <a:t>the</a:t>
            </a:r>
            <a:r>
              <a:rPr lang="en-US" sz="2400" spc="-25" dirty="0">
                <a:latin typeface="Times New Roman"/>
                <a:cs typeface="Times New Roman"/>
              </a:rPr>
              <a:t> </a:t>
            </a:r>
            <a:r>
              <a:rPr lang="en-US" sz="2400" spc="-5" dirty="0">
                <a:latin typeface="Times New Roman"/>
                <a:cs typeface="Times New Roman"/>
              </a:rPr>
              <a:t>schedule.</a:t>
            </a:r>
            <a:endParaRPr lang="en-US" sz="2400" dirty="0">
              <a:latin typeface="Times New Roman"/>
              <a:cs typeface="Times New Roman"/>
            </a:endParaRPr>
          </a:p>
          <a:p>
            <a:pPr marL="469900">
              <a:lnSpc>
                <a:spcPct val="100000"/>
              </a:lnSpc>
              <a:spcBef>
                <a:spcPts val="600"/>
              </a:spcBef>
            </a:pPr>
            <a:endParaRPr lang="en-US" sz="2400" dirty="0">
              <a:latin typeface="Times New Roman"/>
              <a:cs typeface="Times New Roman"/>
            </a:endParaRPr>
          </a:p>
        </p:txBody>
      </p:sp>
    </p:spTree>
    <p:extLst>
      <p:ext uri="{BB962C8B-B14F-4D97-AF65-F5344CB8AC3E}">
        <p14:creationId xmlns:p14="http://schemas.microsoft.com/office/powerpoint/2010/main" val="31331210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029863" y="5946601"/>
            <a:ext cx="134391" cy="108491"/>
          </a:xfrm>
          <a:prstGeom prst="rect">
            <a:avLst/>
          </a:prstGeom>
        </p:spPr>
        <p:txBody>
          <a:bodyPr vert="horz" wrap="square" lIns="0" tIns="0" rIns="0" bIns="0" rtlCol="0">
            <a:spAutoFit/>
          </a:bodyPr>
          <a:lstStyle/>
          <a:p>
            <a:pPr marL="16289"/>
            <a:fld id="{81D60167-4931-47E6-BA6A-407CBD079E47}" type="slidenum">
              <a:rPr sz="705" dirty="0">
                <a:latin typeface="Arial"/>
                <a:cs typeface="Arial"/>
              </a:rPr>
              <a:pPr marL="16289"/>
              <a:t>19</a:t>
            </a:fld>
            <a:endParaRPr sz="705">
              <a:latin typeface="Arial"/>
              <a:cs typeface="Arial"/>
            </a:endParaRPr>
          </a:p>
        </p:txBody>
      </p:sp>
      <p:sp>
        <p:nvSpPr>
          <p:cNvPr id="5" name="TextBox 4">
            <a:extLst>
              <a:ext uri="{FF2B5EF4-FFF2-40B4-BE49-F238E27FC236}">
                <a16:creationId xmlns:a16="http://schemas.microsoft.com/office/drawing/2014/main" id="{2EB55E0E-F406-CE80-C1B1-86B1AE31DE5D}"/>
              </a:ext>
            </a:extLst>
          </p:cNvPr>
          <p:cNvSpPr txBox="1"/>
          <p:nvPr/>
        </p:nvSpPr>
        <p:spPr>
          <a:xfrm>
            <a:off x="737936" y="631744"/>
            <a:ext cx="10571747" cy="6226256"/>
          </a:xfrm>
          <a:prstGeom prst="rect">
            <a:avLst/>
          </a:prstGeom>
          <a:noFill/>
        </p:spPr>
        <p:txBody>
          <a:bodyPr wrap="square">
            <a:spAutoFit/>
          </a:bodyPr>
          <a:lstStyle/>
          <a:p>
            <a:pPr marL="465345" marR="7330" indent="-457200" algn="just">
              <a:lnSpc>
                <a:spcPct val="143600"/>
              </a:lnSpc>
              <a:buFont typeface="Arial" panose="020B0604020202020204" pitchFamily="34" charset="0"/>
              <a:buChar char="•"/>
            </a:pPr>
            <a:r>
              <a:rPr lang="en-US" sz="2800" dirty="0">
                <a:latin typeface="Times New Roman"/>
                <a:cs typeface="Times New Roman"/>
              </a:rPr>
              <a:t>The contract </a:t>
            </a:r>
            <a:r>
              <a:rPr lang="en-US" sz="2800" spc="-5" dirty="0">
                <a:latin typeface="Times New Roman"/>
                <a:cs typeface="Times New Roman"/>
              </a:rPr>
              <a:t>review activities  </a:t>
            </a:r>
            <a:r>
              <a:rPr lang="en-US" sz="2800" spc="-10" dirty="0">
                <a:latin typeface="Times New Roman"/>
                <a:cs typeface="Times New Roman"/>
              </a:rPr>
              <a:t>must  </a:t>
            </a:r>
            <a:r>
              <a:rPr lang="en-US" sz="2800" spc="-5" dirty="0">
                <a:latin typeface="Times New Roman"/>
                <a:cs typeface="Times New Roman"/>
              </a:rPr>
              <a:t>include </a:t>
            </a:r>
            <a:r>
              <a:rPr lang="en-US" sz="2800" dirty="0">
                <a:latin typeface="Times New Roman"/>
                <a:cs typeface="Times New Roman"/>
              </a:rPr>
              <a:t>a  </a:t>
            </a:r>
            <a:r>
              <a:rPr lang="en-US" sz="2800" spc="-10" dirty="0">
                <a:latin typeface="Times New Roman"/>
                <a:cs typeface="Times New Roman"/>
              </a:rPr>
              <a:t>detailed  </a:t>
            </a:r>
            <a:r>
              <a:rPr lang="en-US" sz="2800" spc="-5" dirty="0">
                <a:latin typeface="Times New Roman"/>
                <a:cs typeface="Times New Roman"/>
              </a:rPr>
              <a:t>examination </a:t>
            </a:r>
            <a:r>
              <a:rPr lang="en-US" sz="2800" spc="-15" dirty="0">
                <a:latin typeface="Times New Roman"/>
                <a:cs typeface="Times New Roman"/>
              </a:rPr>
              <a:t>of  </a:t>
            </a:r>
            <a:r>
              <a:rPr lang="en-US" sz="2800" dirty="0">
                <a:latin typeface="Times New Roman"/>
                <a:cs typeface="Times New Roman"/>
              </a:rPr>
              <a:t>the </a:t>
            </a:r>
            <a:r>
              <a:rPr lang="en-US" sz="2800" spc="-5" dirty="0">
                <a:latin typeface="Times New Roman"/>
                <a:cs typeface="Times New Roman"/>
              </a:rPr>
              <a:t>project  proposal</a:t>
            </a:r>
            <a:r>
              <a:rPr lang="en-US" sz="2800" spc="45" dirty="0">
                <a:latin typeface="Times New Roman"/>
                <a:cs typeface="Times New Roman"/>
              </a:rPr>
              <a:t> </a:t>
            </a:r>
            <a:r>
              <a:rPr lang="en-US" sz="2800" spc="-5" dirty="0">
                <a:latin typeface="Times New Roman"/>
                <a:cs typeface="Times New Roman"/>
              </a:rPr>
              <a:t>draft </a:t>
            </a:r>
            <a:r>
              <a:rPr lang="en-US" sz="2800" spc="-3" dirty="0">
                <a:latin typeface="Times New Roman"/>
                <a:cs typeface="Times New Roman"/>
              </a:rPr>
              <a:t>and </a:t>
            </a:r>
            <a:r>
              <a:rPr lang="en-US" sz="2800" spc="6" dirty="0">
                <a:latin typeface="Times New Roman"/>
                <a:cs typeface="Times New Roman"/>
              </a:rPr>
              <a:t>the </a:t>
            </a:r>
            <a:r>
              <a:rPr lang="en-US" sz="2800" dirty="0">
                <a:latin typeface="Times New Roman"/>
                <a:cs typeface="Times New Roman"/>
              </a:rPr>
              <a:t>contract </a:t>
            </a:r>
            <a:r>
              <a:rPr lang="en-US" sz="2800" spc="-3" dirty="0">
                <a:latin typeface="Times New Roman"/>
                <a:cs typeface="Times New Roman"/>
              </a:rPr>
              <a:t>draft, </a:t>
            </a:r>
            <a:r>
              <a:rPr lang="en-US" sz="2800" spc="-6" dirty="0">
                <a:latin typeface="Times New Roman"/>
                <a:cs typeface="Times New Roman"/>
              </a:rPr>
              <a:t>each </a:t>
            </a:r>
            <a:r>
              <a:rPr lang="en-US" sz="2800" dirty="0">
                <a:latin typeface="Times New Roman"/>
                <a:cs typeface="Times New Roman"/>
              </a:rPr>
              <a:t>of </a:t>
            </a:r>
            <a:r>
              <a:rPr lang="en-US" sz="2800" spc="-3" dirty="0">
                <a:latin typeface="Times New Roman"/>
                <a:cs typeface="Times New Roman"/>
              </a:rPr>
              <a:t>which have different </a:t>
            </a:r>
            <a:r>
              <a:rPr lang="en-US" sz="2800" spc="-6" dirty="0">
                <a:latin typeface="Times New Roman"/>
                <a:cs typeface="Times New Roman"/>
              </a:rPr>
              <a:t>objectives, </a:t>
            </a:r>
            <a:r>
              <a:rPr lang="en-US" sz="2800" dirty="0">
                <a:latin typeface="Times New Roman"/>
                <a:cs typeface="Times New Roman"/>
              </a:rPr>
              <a:t>to </a:t>
            </a:r>
            <a:r>
              <a:rPr lang="en-US" sz="2800" spc="-3" dirty="0">
                <a:latin typeface="Times New Roman"/>
                <a:cs typeface="Times New Roman"/>
              </a:rPr>
              <a:t>ensure </a:t>
            </a:r>
            <a:r>
              <a:rPr lang="en-US" sz="2800" dirty="0">
                <a:latin typeface="Times New Roman"/>
                <a:cs typeface="Times New Roman"/>
              </a:rPr>
              <a:t>that the </a:t>
            </a:r>
            <a:r>
              <a:rPr lang="en-US" sz="2800" spc="-3" dirty="0">
                <a:latin typeface="Times New Roman"/>
                <a:cs typeface="Times New Roman"/>
              </a:rPr>
              <a:t>commitments have </a:t>
            </a:r>
            <a:r>
              <a:rPr lang="en-US" sz="2800" spc="3" dirty="0">
                <a:latin typeface="Times New Roman"/>
                <a:cs typeface="Times New Roman"/>
              </a:rPr>
              <a:t>been </a:t>
            </a:r>
            <a:r>
              <a:rPr lang="en-US" sz="2800" spc="183" dirty="0">
                <a:latin typeface="Times New Roman"/>
                <a:cs typeface="Times New Roman"/>
              </a:rPr>
              <a:t> </a:t>
            </a:r>
            <a:r>
              <a:rPr lang="en-US" sz="2800" spc="-3" dirty="0">
                <a:latin typeface="Times New Roman"/>
                <a:cs typeface="Times New Roman"/>
              </a:rPr>
              <a:t>properly </a:t>
            </a:r>
            <a:r>
              <a:rPr lang="en-US" sz="2800" spc="3" dirty="0">
                <a:latin typeface="Times New Roman"/>
                <a:cs typeface="Times New Roman"/>
              </a:rPr>
              <a:t>and </a:t>
            </a:r>
            <a:r>
              <a:rPr lang="en-US" sz="2800" dirty="0">
                <a:latin typeface="Times New Roman"/>
                <a:cs typeface="Times New Roman"/>
              </a:rPr>
              <a:t>clearly </a:t>
            </a:r>
            <a:r>
              <a:rPr lang="en-US" sz="2800" spc="-3" dirty="0">
                <a:latin typeface="Times New Roman"/>
                <a:cs typeface="Times New Roman"/>
              </a:rPr>
              <a:t>defined. </a:t>
            </a:r>
            <a:r>
              <a:rPr lang="en-US" sz="2800" dirty="0">
                <a:latin typeface="Times New Roman"/>
                <a:cs typeface="Times New Roman"/>
              </a:rPr>
              <a:t>A </a:t>
            </a:r>
            <a:r>
              <a:rPr lang="en-US" sz="2800" spc="-3" dirty="0">
                <a:latin typeface="Times New Roman"/>
                <a:cs typeface="Times New Roman"/>
              </a:rPr>
              <a:t>checklist </a:t>
            </a:r>
            <a:r>
              <a:rPr lang="en-US" sz="2800" spc="-6" dirty="0">
                <a:latin typeface="Times New Roman"/>
                <a:cs typeface="Times New Roman"/>
              </a:rPr>
              <a:t>is </a:t>
            </a:r>
            <a:r>
              <a:rPr lang="en-US" sz="2800" spc="-3" dirty="0">
                <a:latin typeface="Times New Roman"/>
                <a:cs typeface="Times New Roman"/>
              </a:rPr>
              <a:t>often </a:t>
            </a:r>
            <a:r>
              <a:rPr lang="en-US" sz="2800" spc="3" dirty="0">
                <a:latin typeface="Times New Roman"/>
                <a:cs typeface="Times New Roman"/>
              </a:rPr>
              <a:t>used </a:t>
            </a:r>
            <a:r>
              <a:rPr lang="en-US" sz="2800" spc="6" dirty="0">
                <a:latin typeface="Times New Roman"/>
                <a:cs typeface="Times New Roman"/>
              </a:rPr>
              <a:t>by </a:t>
            </a:r>
            <a:r>
              <a:rPr lang="en-US" sz="2800" spc="-3" dirty="0">
                <a:latin typeface="Times New Roman"/>
                <a:cs typeface="Times New Roman"/>
              </a:rPr>
              <a:t>reviewers </a:t>
            </a:r>
            <a:r>
              <a:rPr lang="en-US" sz="2800" dirty="0">
                <a:latin typeface="Times New Roman"/>
                <a:cs typeface="Times New Roman"/>
              </a:rPr>
              <a:t>to </a:t>
            </a:r>
            <a:r>
              <a:rPr lang="en-US" sz="2800" spc="-6" dirty="0">
                <a:latin typeface="Times New Roman"/>
                <a:cs typeface="Times New Roman"/>
              </a:rPr>
              <a:t>make </a:t>
            </a:r>
            <a:r>
              <a:rPr lang="en-US" sz="2800" spc="-3" dirty="0">
                <a:latin typeface="Times New Roman"/>
                <a:cs typeface="Times New Roman"/>
              </a:rPr>
              <a:t>this </a:t>
            </a:r>
            <a:r>
              <a:rPr lang="en-US" sz="2800" dirty="0">
                <a:latin typeface="Times New Roman"/>
                <a:cs typeface="Times New Roman"/>
              </a:rPr>
              <a:t>stage </a:t>
            </a:r>
            <a:r>
              <a:rPr lang="en-US" sz="2800" spc="-6" dirty="0">
                <a:latin typeface="Times New Roman"/>
                <a:cs typeface="Times New Roman"/>
              </a:rPr>
              <a:t>easier </a:t>
            </a:r>
            <a:r>
              <a:rPr lang="en-US" sz="2800" spc="-3" dirty="0">
                <a:latin typeface="Times New Roman"/>
                <a:cs typeface="Times New Roman"/>
              </a:rPr>
              <a:t>and </a:t>
            </a:r>
            <a:r>
              <a:rPr lang="en-US" sz="2800" spc="-6" dirty="0">
                <a:latin typeface="Times New Roman"/>
                <a:cs typeface="Times New Roman"/>
              </a:rPr>
              <a:t>it is  </a:t>
            </a:r>
            <a:r>
              <a:rPr lang="en-US" sz="2800" spc="-3" dirty="0">
                <a:latin typeface="Times New Roman"/>
                <a:cs typeface="Times New Roman"/>
              </a:rPr>
              <a:t>expected that </a:t>
            </a:r>
            <a:r>
              <a:rPr lang="en-US" sz="2800" spc="-6" dirty="0">
                <a:latin typeface="Times New Roman"/>
                <a:cs typeface="Times New Roman"/>
              </a:rPr>
              <a:t>the </a:t>
            </a:r>
            <a:r>
              <a:rPr lang="en-US" sz="2800" dirty="0">
                <a:latin typeface="Times New Roman"/>
                <a:cs typeface="Times New Roman"/>
              </a:rPr>
              <a:t>review stage </a:t>
            </a:r>
            <a:r>
              <a:rPr lang="en-US" sz="2800" spc="-6" dirty="0">
                <a:latin typeface="Times New Roman"/>
                <a:cs typeface="Times New Roman"/>
              </a:rPr>
              <a:t>will </a:t>
            </a:r>
            <a:r>
              <a:rPr lang="en-US" sz="2800" spc="-3" dirty="0">
                <a:latin typeface="Times New Roman"/>
                <a:cs typeface="Times New Roman"/>
              </a:rPr>
              <a:t>occur more than</a:t>
            </a:r>
            <a:r>
              <a:rPr lang="en-US" sz="2800" spc="26" dirty="0">
                <a:latin typeface="Times New Roman"/>
                <a:cs typeface="Times New Roman"/>
              </a:rPr>
              <a:t> </a:t>
            </a:r>
            <a:r>
              <a:rPr lang="en-US" sz="2800" spc="-6" dirty="0">
                <a:latin typeface="Times New Roman"/>
                <a:cs typeface="Times New Roman"/>
              </a:rPr>
              <a:t>once.</a:t>
            </a:r>
            <a:endParaRPr lang="en-US" sz="2800" dirty="0">
              <a:latin typeface="Times New Roman"/>
              <a:cs typeface="Times New Roman"/>
            </a:endParaRPr>
          </a:p>
          <a:p>
            <a:pPr marL="465345" marR="3665" indent="-457200" algn="just">
              <a:lnSpc>
                <a:spcPct val="143600"/>
              </a:lnSpc>
              <a:buFont typeface="Arial" panose="020B0604020202020204" pitchFamily="34" charset="0"/>
              <a:buChar char="•"/>
            </a:pPr>
            <a:r>
              <a:rPr lang="en-US" sz="2800" dirty="0">
                <a:latin typeface="Times New Roman"/>
                <a:cs typeface="Times New Roman"/>
              </a:rPr>
              <a:t>The </a:t>
            </a:r>
            <a:r>
              <a:rPr lang="en-US" sz="2800" spc="-3" dirty="0">
                <a:latin typeface="Times New Roman"/>
                <a:cs typeface="Times New Roman"/>
              </a:rPr>
              <a:t>outcome </a:t>
            </a:r>
            <a:r>
              <a:rPr lang="en-US" sz="2800" dirty="0">
                <a:latin typeface="Times New Roman"/>
                <a:cs typeface="Times New Roman"/>
              </a:rPr>
              <a:t>from </a:t>
            </a:r>
            <a:r>
              <a:rPr lang="en-US" sz="2800" spc="-3" dirty="0">
                <a:latin typeface="Times New Roman"/>
                <a:cs typeface="Times New Roman"/>
              </a:rPr>
              <a:t>this stage </a:t>
            </a:r>
            <a:r>
              <a:rPr lang="en-US" sz="2800" spc="-6" dirty="0">
                <a:latin typeface="Times New Roman"/>
                <a:cs typeface="Times New Roman"/>
              </a:rPr>
              <a:t>is </a:t>
            </a:r>
            <a:r>
              <a:rPr lang="en-US" sz="2800" dirty="0">
                <a:latin typeface="Times New Roman"/>
                <a:cs typeface="Times New Roman"/>
              </a:rPr>
              <a:t>a </a:t>
            </a:r>
            <a:r>
              <a:rPr lang="en-US" sz="2800" spc="-6" dirty="0">
                <a:latin typeface="Times New Roman"/>
                <a:cs typeface="Times New Roman"/>
              </a:rPr>
              <a:t>documented </a:t>
            </a:r>
            <a:r>
              <a:rPr lang="en-US" sz="2800" spc="-3" dirty="0">
                <a:latin typeface="Times New Roman"/>
                <a:cs typeface="Times New Roman"/>
              </a:rPr>
              <a:t>agreement between </a:t>
            </a:r>
            <a:r>
              <a:rPr lang="en-US" sz="2800" spc="6" dirty="0">
                <a:latin typeface="Times New Roman"/>
                <a:cs typeface="Times New Roman"/>
              </a:rPr>
              <a:t>the </a:t>
            </a:r>
            <a:r>
              <a:rPr lang="en-US" sz="2800" dirty="0">
                <a:latin typeface="Times New Roman"/>
                <a:cs typeface="Times New Roman"/>
              </a:rPr>
              <a:t>company </a:t>
            </a:r>
            <a:r>
              <a:rPr lang="en-US" sz="2800" spc="-3" dirty="0">
                <a:latin typeface="Times New Roman"/>
                <a:cs typeface="Times New Roman"/>
              </a:rPr>
              <a:t>and client </a:t>
            </a:r>
            <a:r>
              <a:rPr lang="en-US" sz="2800" dirty="0">
                <a:latin typeface="Times New Roman"/>
                <a:cs typeface="Times New Roman"/>
              </a:rPr>
              <a:t>stating  the </a:t>
            </a:r>
            <a:r>
              <a:rPr lang="en-US" sz="2800" spc="-3" dirty="0">
                <a:latin typeface="Times New Roman"/>
                <a:cs typeface="Times New Roman"/>
              </a:rPr>
              <a:t>projects requirements, budgets </a:t>
            </a:r>
            <a:r>
              <a:rPr lang="en-US" sz="2800" spc="3" dirty="0">
                <a:latin typeface="Times New Roman"/>
                <a:cs typeface="Times New Roman"/>
              </a:rPr>
              <a:t>and </a:t>
            </a:r>
            <a:r>
              <a:rPr lang="en-US" sz="2800" dirty="0">
                <a:latin typeface="Times New Roman"/>
                <a:cs typeface="Times New Roman"/>
              </a:rPr>
              <a:t>so on </a:t>
            </a:r>
            <a:r>
              <a:rPr lang="en-US" sz="2800" spc="-3" dirty="0">
                <a:latin typeface="Times New Roman"/>
                <a:cs typeface="Times New Roman"/>
              </a:rPr>
              <a:t>ensuring that </a:t>
            </a:r>
            <a:r>
              <a:rPr lang="en-US" sz="2800" dirty="0">
                <a:latin typeface="Times New Roman"/>
                <a:cs typeface="Times New Roman"/>
              </a:rPr>
              <a:t>no </a:t>
            </a:r>
            <a:r>
              <a:rPr lang="en-US" sz="2800" spc="-3" dirty="0">
                <a:latin typeface="Times New Roman"/>
                <a:cs typeface="Times New Roman"/>
              </a:rPr>
              <a:t>new </a:t>
            </a:r>
            <a:r>
              <a:rPr lang="en-US" sz="2800" dirty="0">
                <a:latin typeface="Times New Roman"/>
                <a:cs typeface="Times New Roman"/>
              </a:rPr>
              <a:t>changes </a:t>
            </a:r>
            <a:r>
              <a:rPr lang="en-US" sz="2800" spc="-3" dirty="0">
                <a:latin typeface="Times New Roman"/>
                <a:cs typeface="Times New Roman"/>
              </a:rPr>
              <a:t>have </a:t>
            </a:r>
            <a:r>
              <a:rPr lang="en-US" sz="2800" dirty="0">
                <a:latin typeface="Times New Roman"/>
                <a:cs typeface="Times New Roman"/>
              </a:rPr>
              <a:t>been added </a:t>
            </a:r>
            <a:r>
              <a:rPr lang="en-US" sz="2800" spc="6" dirty="0">
                <a:latin typeface="Times New Roman"/>
                <a:cs typeface="Times New Roman"/>
              </a:rPr>
              <a:t>to </a:t>
            </a:r>
            <a:r>
              <a:rPr lang="en-US" sz="2800" spc="3" dirty="0">
                <a:latin typeface="Times New Roman"/>
                <a:cs typeface="Times New Roman"/>
              </a:rPr>
              <a:t>the  </a:t>
            </a:r>
            <a:r>
              <a:rPr lang="en-US" sz="2800" spc="-3" dirty="0">
                <a:latin typeface="Times New Roman"/>
                <a:cs typeface="Times New Roman"/>
              </a:rPr>
              <a:t>contract</a:t>
            </a:r>
            <a:r>
              <a:rPr lang="en-US" sz="2800" spc="-29" dirty="0">
                <a:latin typeface="Times New Roman"/>
                <a:cs typeface="Times New Roman"/>
              </a:rPr>
              <a:t> </a:t>
            </a:r>
            <a:r>
              <a:rPr lang="en-US" sz="2800" spc="-3" dirty="0">
                <a:latin typeface="Times New Roman"/>
                <a:cs typeface="Times New Roman"/>
              </a:rPr>
              <a:t>draft.</a:t>
            </a:r>
            <a:endParaRPr lang="en-US" sz="2800" dirty="0">
              <a:latin typeface="Times New Roman"/>
              <a:cs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CB13CA-9D4D-9D77-A017-9F757F96A13A}"/>
              </a:ext>
            </a:extLst>
          </p:cNvPr>
          <p:cNvSpPr txBox="1"/>
          <p:nvPr/>
        </p:nvSpPr>
        <p:spPr>
          <a:xfrm>
            <a:off x="800100" y="242486"/>
            <a:ext cx="10114547" cy="6373027"/>
          </a:xfrm>
          <a:prstGeom prst="rect">
            <a:avLst/>
          </a:prstGeom>
          <a:noFill/>
        </p:spPr>
        <p:txBody>
          <a:bodyPr wrap="square">
            <a:spAutoFit/>
          </a:bodyPr>
          <a:lstStyle/>
          <a:p>
            <a:pPr>
              <a:lnSpc>
                <a:spcPct val="100000"/>
              </a:lnSpc>
              <a:spcBef>
                <a:spcPts val="25"/>
              </a:spcBef>
            </a:pPr>
            <a:endParaRPr lang="en-US" sz="3600" dirty="0">
              <a:latin typeface="Times New Roman"/>
              <a:cs typeface="Times New Roman"/>
            </a:endParaRPr>
          </a:p>
          <a:p>
            <a:pPr marL="12700" algn="just">
              <a:lnSpc>
                <a:spcPct val="100000"/>
              </a:lnSpc>
            </a:pPr>
            <a:r>
              <a:rPr lang="en-US" sz="2800" b="1" dirty="0">
                <a:latin typeface="Times New Roman"/>
                <a:cs typeface="Times New Roman"/>
              </a:rPr>
              <a:t>1.2 </a:t>
            </a:r>
            <a:r>
              <a:rPr lang="en-US" sz="2800" b="1" spc="-5" dirty="0">
                <a:latin typeface="Times New Roman"/>
                <a:cs typeface="Times New Roman"/>
              </a:rPr>
              <a:t>Development </a:t>
            </a:r>
            <a:r>
              <a:rPr lang="en-US" sz="2800" b="1" spc="-10" dirty="0">
                <a:latin typeface="Times New Roman"/>
                <a:cs typeface="Times New Roman"/>
              </a:rPr>
              <a:t>and </a:t>
            </a:r>
            <a:r>
              <a:rPr lang="en-US" sz="2800" b="1" spc="-5" dirty="0">
                <a:latin typeface="Times New Roman"/>
                <a:cs typeface="Times New Roman"/>
              </a:rPr>
              <a:t>Quality</a:t>
            </a:r>
            <a:r>
              <a:rPr lang="en-US" sz="2800" b="1" dirty="0">
                <a:latin typeface="Times New Roman"/>
                <a:cs typeface="Times New Roman"/>
              </a:rPr>
              <a:t> </a:t>
            </a:r>
            <a:r>
              <a:rPr lang="en-US" sz="2800" b="1" spc="-10" dirty="0">
                <a:latin typeface="Times New Roman"/>
                <a:cs typeface="Times New Roman"/>
              </a:rPr>
              <a:t>Plans</a:t>
            </a:r>
            <a:endParaRPr lang="en-US" sz="2800" dirty="0">
              <a:latin typeface="Times New Roman"/>
              <a:cs typeface="Times New Roman"/>
            </a:endParaRPr>
          </a:p>
          <a:p>
            <a:pPr marL="12700" marR="5080" indent="457200" algn="just">
              <a:lnSpc>
                <a:spcPct val="144200"/>
              </a:lnSpc>
              <a:spcBef>
                <a:spcPts val="340"/>
              </a:spcBef>
            </a:pPr>
            <a:r>
              <a:rPr lang="en-US" sz="2400" dirty="0">
                <a:latin typeface="Times New Roman"/>
                <a:cs typeface="Times New Roman"/>
              </a:rPr>
              <a:t>The </a:t>
            </a:r>
            <a:r>
              <a:rPr lang="en-US" sz="2400" spc="-5" dirty="0">
                <a:latin typeface="Times New Roman"/>
                <a:cs typeface="Times New Roman"/>
              </a:rPr>
              <a:t>development </a:t>
            </a:r>
            <a:r>
              <a:rPr lang="en-US" sz="2400" spc="5" dirty="0">
                <a:latin typeface="Times New Roman"/>
                <a:cs typeface="Times New Roman"/>
              </a:rPr>
              <a:t>and </a:t>
            </a:r>
            <a:r>
              <a:rPr lang="en-US" sz="2400" spc="-5" dirty="0">
                <a:latin typeface="Times New Roman"/>
                <a:cs typeface="Times New Roman"/>
              </a:rPr>
              <a:t>Quality </a:t>
            </a:r>
            <a:r>
              <a:rPr lang="en-US" sz="2400" dirty="0">
                <a:latin typeface="Times New Roman"/>
                <a:cs typeface="Times New Roman"/>
              </a:rPr>
              <a:t>Plans stage </a:t>
            </a:r>
            <a:r>
              <a:rPr lang="en-US" sz="2400" spc="-5" dirty="0">
                <a:latin typeface="Times New Roman"/>
                <a:cs typeface="Times New Roman"/>
              </a:rPr>
              <a:t>occurs once </a:t>
            </a:r>
            <a:r>
              <a:rPr lang="en-US" sz="2400" spc="5" dirty="0">
                <a:latin typeface="Times New Roman"/>
                <a:cs typeface="Times New Roman"/>
              </a:rPr>
              <a:t>an </a:t>
            </a:r>
            <a:r>
              <a:rPr lang="en-US" sz="2400" spc="-5" dirty="0">
                <a:latin typeface="Times New Roman"/>
                <a:cs typeface="Times New Roman"/>
              </a:rPr>
              <a:t>agreement has </a:t>
            </a:r>
            <a:r>
              <a:rPr lang="en-US" sz="2400" dirty="0">
                <a:latin typeface="Times New Roman"/>
                <a:cs typeface="Times New Roman"/>
              </a:rPr>
              <a:t>been </a:t>
            </a:r>
            <a:r>
              <a:rPr lang="en-US" sz="2400" spc="-5" dirty="0">
                <a:latin typeface="Times New Roman"/>
                <a:cs typeface="Times New Roman"/>
              </a:rPr>
              <a:t>made </a:t>
            </a:r>
            <a:r>
              <a:rPr lang="en-US" sz="2400" spc="5" dirty="0">
                <a:latin typeface="Times New Roman"/>
                <a:cs typeface="Times New Roman"/>
              </a:rPr>
              <a:t>and </a:t>
            </a:r>
            <a:r>
              <a:rPr lang="en-US" sz="2400" dirty="0">
                <a:latin typeface="Times New Roman"/>
                <a:cs typeface="Times New Roman"/>
              </a:rPr>
              <a:t>a  </a:t>
            </a:r>
            <a:r>
              <a:rPr lang="en-US" sz="2400" spc="-5" dirty="0">
                <a:latin typeface="Times New Roman"/>
                <a:cs typeface="Times New Roman"/>
              </a:rPr>
              <a:t>software development contract has been </a:t>
            </a:r>
            <a:r>
              <a:rPr lang="en-US" sz="2400" spc="-10" dirty="0">
                <a:latin typeface="Times New Roman"/>
                <a:cs typeface="Times New Roman"/>
              </a:rPr>
              <a:t>signed. </a:t>
            </a:r>
            <a:r>
              <a:rPr lang="en-US" sz="2400" dirty="0">
                <a:latin typeface="Times New Roman"/>
                <a:cs typeface="Times New Roman"/>
              </a:rPr>
              <a:t>The </a:t>
            </a:r>
            <a:r>
              <a:rPr lang="en-US" sz="2400" spc="-5" dirty="0">
                <a:latin typeface="Times New Roman"/>
                <a:cs typeface="Times New Roman"/>
              </a:rPr>
              <a:t>time between </a:t>
            </a:r>
            <a:r>
              <a:rPr lang="en-US" sz="2400" dirty="0">
                <a:latin typeface="Times New Roman"/>
                <a:cs typeface="Times New Roman"/>
              </a:rPr>
              <a:t>a </a:t>
            </a:r>
            <a:r>
              <a:rPr lang="en-US" sz="2400" spc="-5" dirty="0">
                <a:latin typeface="Times New Roman"/>
                <a:cs typeface="Times New Roman"/>
              </a:rPr>
              <a:t>proposal, </a:t>
            </a:r>
            <a:r>
              <a:rPr lang="en-US" sz="2400" spc="-10" dirty="0">
                <a:latin typeface="Times New Roman"/>
                <a:cs typeface="Times New Roman"/>
              </a:rPr>
              <a:t>the </a:t>
            </a:r>
            <a:r>
              <a:rPr lang="en-US" sz="2400" dirty="0">
                <a:latin typeface="Times New Roman"/>
                <a:cs typeface="Times New Roman"/>
              </a:rPr>
              <a:t>contract </a:t>
            </a:r>
            <a:r>
              <a:rPr lang="en-US" sz="2400" spc="5" dirty="0">
                <a:latin typeface="Times New Roman"/>
                <a:cs typeface="Times New Roman"/>
              </a:rPr>
              <a:t>review </a:t>
            </a:r>
            <a:r>
              <a:rPr lang="en-US" sz="2400" spc="-5" dirty="0">
                <a:latin typeface="Times New Roman"/>
                <a:cs typeface="Times New Roman"/>
              </a:rPr>
              <a:t>and </a:t>
            </a:r>
            <a:r>
              <a:rPr lang="en-US" sz="2400" spc="5" dirty="0">
                <a:latin typeface="Times New Roman"/>
                <a:cs typeface="Times New Roman"/>
              </a:rPr>
              <a:t>the  </a:t>
            </a:r>
            <a:r>
              <a:rPr lang="en-US" sz="2400" spc="-5" dirty="0">
                <a:latin typeface="Times New Roman"/>
                <a:cs typeface="Times New Roman"/>
              </a:rPr>
              <a:t>signing </a:t>
            </a:r>
            <a:r>
              <a:rPr lang="en-US" sz="2400" spc="-15" dirty="0">
                <a:latin typeface="Times New Roman"/>
                <a:cs typeface="Times New Roman"/>
              </a:rPr>
              <a:t>of </a:t>
            </a:r>
            <a:r>
              <a:rPr lang="en-US" sz="2400" dirty="0">
                <a:latin typeface="Times New Roman"/>
                <a:cs typeface="Times New Roman"/>
              </a:rPr>
              <a:t>the contract </a:t>
            </a:r>
            <a:r>
              <a:rPr lang="en-US" sz="2400" spc="-10" dirty="0">
                <a:latin typeface="Times New Roman"/>
                <a:cs typeface="Times New Roman"/>
              </a:rPr>
              <a:t>could </a:t>
            </a:r>
            <a:r>
              <a:rPr lang="en-US" sz="2400" spc="10" dirty="0">
                <a:latin typeface="Times New Roman"/>
                <a:cs typeface="Times New Roman"/>
              </a:rPr>
              <a:t>be </a:t>
            </a:r>
            <a:r>
              <a:rPr lang="en-US" sz="2400" spc="-5" dirty="0">
                <a:latin typeface="Times New Roman"/>
                <a:cs typeface="Times New Roman"/>
              </a:rPr>
              <a:t>prolonged </a:t>
            </a:r>
            <a:r>
              <a:rPr lang="en-US" sz="2400" spc="5" dirty="0">
                <a:latin typeface="Times New Roman"/>
                <a:cs typeface="Times New Roman"/>
              </a:rPr>
              <a:t>and </a:t>
            </a:r>
            <a:r>
              <a:rPr lang="en-US" sz="2400" dirty="0">
                <a:latin typeface="Times New Roman"/>
                <a:cs typeface="Times New Roman"/>
              </a:rPr>
              <a:t>during </a:t>
            </a:r>
            <a:r>
              <a:rPr lang="en-US" sz="2400" spc="-5" dirty="0">
                <a:latin typeface="Times New Roman"/>
                <a:cs typeface="Times New Roman"/>
              </a:rPr>
              <a:t>this time changes </a:t>
            </a:r>
            <a:r>
              <a:rPr lang="en-US" sz="2400" spc="-10" dirty="0">
                <a:latin typeface="Times New Roman"/>
                <a:cs typeface="Times New Roman"/>
              </a:rPr>
              <a:t>may </a:t>
            </a:r>
            <a:r>
              <a:rPr lang="en-US" sz="2400" spc="-5" dirty="0">
                <a:latin typeface="Times New Roman"/>
                <a:cs typeface="Times New Roman"/>
              </a:rPr>
              <a:t>occur. Consequently  proposal </a:t>
            </a:r>
            <a:r>
              <a:rPr lang="en-US" sz="2400" spc="-10" dirty="0">
                <a:latin typeface="Times New Roman"/>
                <a:cs typeface="Times New Roman"/>
              </a:rPr>
              <a:t>materials </a:t>
            </a:r>
            <a:r>
              <a:rPr lang="en-US" sz="2400" spc="-5" dirty="0">
                <a:latin typeface="Times New Roman"/>
                <a:cs typeface="Times New Roman"/>
              </a:rPr>
              <a:t>need </a:t>
            </a:r>
            <a:r>
              <a:rPr lang="en-US" sz="2400" dirty="0">
                <a:latin typeface="Times New Roman"/>
                <a:cs typeface="Times New Roman"/>
              </a:rPr>
              <a:t>to </a:t>
            </a:r>
            <a:r>
              <a:rPr lang="en-US" sz="2400" spc="10" dirty="0">
                <a:latin typeface="Times New Roman"/>
                <a:cs typeface="Times New Roman"/>
              </a:rPr>
              <a:t>be </a:t>
            </a:r>
            <a:r>
              <a:rPr lang="en-US" sz="2400" dirty="0">
                <a:latin typeface="Times New Roman"/>
                <a:cs typeface="Times New Roman"/>
              </a:rPr>
              <a:t>revised </a:t>
            </a:r>
            <a:r>
              <a:rPr lang="en-US" sz="2400" spc="-5" dirty="0">
                <a:latin typeface="Times New Roman"/>
                <a:cs typeface="Times New Roman"/>
              </a:rPr>
              <a:t>and new plans </a:t>
            </a:r>
            <a:r>
              <a:rPr lang="en-US" sz="2400" dirty="0">
                <a:latin typeface="Times New Roman"/>
                <a:cs typeface="Times New Roman"/>
              </a:rPr>
              <a:t>are </a:t>
            </a:r>
            <a:r>
              <a:rPr lang="en-US" sz="2400" spc="-10" dirty="0">
                <a:latin typeface="Times New Roman"/>
                <a:cs typeface="Times New Roman"/>
              </a:rPr>
              <a:t>required; </a:t>
            </a:r>
            <a:r>
              <a:rPr lang="en-US" sz="2400" dirty="0">
                <a:latin typeface="Times New Roman"/>
                <a:cs typeface="Times New Roman"/>
              </a:rPr>
              <a:t>a </a:t>
            </a:r>
            <a:r>
              <a:rPr lang="en-US" sz="2400" spc="-10" dirty="0">
                <a:latin typeface="Times New Roman"/>
                <a:cs typeface="Times New Roman"/>
              </a:rPr>
              <a:t>development </a:t>
            </a:r>
            <a:r>
              <a:rPr lang="en-US" sz="2400" spc="-5" dirty="0">
                <a:latin typeface="Times New Roman"/>
                <a:cs typeface="Times New Roman"/>
              </a:rPr>
              <a:t>plan </a:t>
            </a:r>
            <a:r>
              <a:rPr lang="en-US" sz="2400" spc="5" dirty="0">
                <a:latin typeface="Times New Roman"/>
                <a:cs typeface="Times New Roman"/>
              </a:rPr>
              <a:t>and </a:t>
            </a:r>
            <a:r>
              <a:rPr lang="en-US" sz="2400" dirty="0">
                <a:latin typeface="Times New Roman"/>
                <a:cs typeface="Times New Roman"/>
              </a:rPr>
              <a:t>a </a:t>
            </a:r>
            <a:r>
              <a:rPr lang="en-US" sz="2400" spc="-10" dirty="0">
                <a:latin typeface="Times New Roman"/>
                <a:cs typeface="Times New Roman"/>
              </a:rPr>
              <a:t>quality</a:t>
            </a:r>
            <a:r>
              <a:rPr lang="en-US" sz="2400" spc="245" dirty="0">
                <a:latin typeface="Times New Roman"/>
                <a:cs typeface="Times New Roman"/>
              </a:rPr>
              <a:t> </a:t>
            </a:r>
            <a:r>
              <a:rPr lang="en-US" sz="2400" spc="-5" dirty="0">
                <a:latin typeface="Times New Roman"/>
                <a:cs typeface="Times New Roman"/>
              </a:rPr>
              <a:t>plan.</a:t>
            </a:r>
            <a:endParaRPr lang="en-US" sz="2400" dirty="0">
              <a:latin typeface="Times New Roman"/>
              <a:cs typeface="Times New Roman"/>
            </a:endParaRPr>
          </a:p>
          <a:p>
            <a:pPr marL="12700" marR="10160" indent="457200" algn="just">
              <a:lnSpc>
                <a:spcPct val="143600"/>
              </a:lnSpc>
            </a:pPr>
            <a:r>
              <a:rPr lang="en-US" sz="2400" b="1" dirty="0">
                <a:latin typeface="Times New Roman"/>
                <a:cs typeface="Times New Roman"/>
              </a:rPr>
              <a:t>The </a:t>
            </a:r>
            <a:r>
              <a:rPr lang="en-US" sz="2400" b="1" spc="-5" dirty="0">
                <a:latin typeface="Times New Roman"/>
                <a:cs typeface="Times New Roman"/>
              </a:rPr>
              <a:t>development plan </a:t>
            </a:r>
            <a:r>
              <a:rPr lang="en-US" sz="2400" spc="-5" dirty="0">
                <a:latin typeface="Times New Roman"/>
                <a:cs typeface="Times New Roman"/>
              </a:rPr>
              <a:t>focuses </a:t>
            </a:r>
            <a:r>
              <a:rPr lang="en-US" sz="2400" dirty="0">
                <a:latin typeface="Times New Roman"/>
                <a:cs typeface="Times New Roman"/>
              </a:rPr>
              <a:t>on </a:t>
            </a:r>
            <a:r>
              <a:rPr lang="en-US" sz="2400" spc="-5" dirty="0">
                <a:latin typeface="Times New Roman"/>
                <a:cs typeface="Times New Roman"/>
              </a:rPr>
              <a:t>eleven </a:t>
            </a:r>
            <a:r>
              <a:rPr lang="en-US" sz="2400" dirty="0">
                <a:latin typeface="Times New Roman"/>
                <a:cs typeface="Times New Roman"/>
              </a:rPr>
              <a:t>specific </a:t>
            </a:r>
            <a:r>
              <a:rPr lang="en-US" sz="2400" spc="-5" dirty="0">
                <a:latin typeface="Times New Roman"/>
                <a:cs typeface="Times New Roman"/>
              </a:rPr>
              <a:t>elements, </a:t>
            </a:r>
            <a:r>
              <a:rPr lang="en-US" sz="2400" spc="-10" dirty="0">
                <a:latin typeface="Times New Roman"/>
                <a:cs typeface="Times New Roman"/>
              </a:rPr>
              <a:t>some </a:t>
            </a:r>
            <a:r>
              <a:rPr lang="en-US" sz="2400" spc="-15" dirty="0">
                <a:latin typeface="Times New Roman"/>
                <a:cs typeface="Times New Roman"/>
              </a:rPr>
              <a:t>of </a:t>
            </a:r>
            <a:r>
              <a:rPr lang="en-US" sz="2400" spc="-5" dirty="0">
                <a:latin typeface="Times New Roman"/>
                <a:cs typeface="Times New Roman"/>
              </a:rPr>
              <a:t>which are; </a:t>
            </a:r>
            <a:r>
              <a:rPr lang="en-US" sz="2400" spc="-10" dirty="0">
                <a:latin typeface="Times New Roman"/>
                <a:cs typeface="Times New Roman"/>
              </a:rPr>
              <a:t>the </a:t>
            </a:r>
            <a:r>
              <a:rPr lang="en-US" sz="2400" spc="-5" dirty="0">
                <a:latin typeface="Times New Roman"/>
                <a:cs typeface="Times New Roman"/>
              </a:rPr>
              <a:t>products </a:t>
            </a:r>
            <a:r>
              <a:rPr lang="en-US" sz="2400" dirty="0">
                <a:latin typeface="Times New Roman"/>
                <a:cs typeface="Times New Roman"/>
              </a:rPr>
              <a:t>of  the </a:t>
            </a:r>
            <a:r>
              <a:rPr lang="en-US" sz="2400" spc="-5" dirty="0">
                <a:latin typeface="Times New Roman"/>
                <a:cs typeface="Times New Roman"/>
              </a:rPr>
              <a:t>project </a:t>
            </a:r>
            <a:r>
              <a:rPr lang="en-US" sz="2400" spc="-10" dirty="0">
                <a:latin typeface="Times New Roman"/>
                <a:cs typeface="Times New Roman"/>
              </a:rPr>
              <a:t>i.e. </a:t>
            </a:r>
            <a:r>
              <a:rPr lang="en-US" sz="2400" spc="-5" dirty="0">
                <a:latin typeface="Times New Roman"/>
                <a:cs typeface="Times New Roman"/>
              </a:rPr>
              <a:t>software products and </a:t>
            </a:r>
            <a:r>
              <a:rPr lang="en-US" sz="2400" dirty="0">
                <a:latin typeface="Times New Roman"/>
                <a:cs typeface="Times New Roman"/>
              </a:rPr>
              <a:t>design </a:t>
            </a:r>
            <a:r>
              <a:rPr lang="en-US" sz="2400" spc="-5" dirty="0">
                <a:latin typeface="Times New Roman"/>
                <a:cs typeface="Times New Roman"/>
              </a:rPr>
              <a:t>documents specifying deliverables. </a:t>
            </a:r>
            <a:r>
              <a:rPr lang="en-US" sz="2400" spc="-10" dirty="0">
                <a:latin typeface="Times New Roman"/>
                <a:cs typeface="Times New Roman"/>
              </a:rPr>
              <a:t>Project </a:t>
            </a:r>
            <a:r>
              <a:rPr lang="en-US" sz="2400" spc="-5" dirty="0">
                <a:latin typeface="Times New Roman"/>
                <a:cs typeface="Times New Roman"/>
              </a:rPr>
              <a:t>interfaces  detailing what, </a:t>
            </a:r>
            <a:r>
              <a:rPr lang="en-US" sz="2400" spc="-10" dirty="0">
                <a:latin typeface="Times New Roman"/>
                <a:cs typeface="Times New Roman"/>
              </a:rPr>
              <a:t>if any, </a:t>
            </a:r>
            <a:r>
              <a:rPr lang="en-US" sz="2400" spc="-5" dirty="0">
                <a:latin typeface="Times New Roman"/>
                <a:cs typeface="Times New Roman"/>
              </a:rPr>
              <a:t>interfaces </a:t>
            </a:r>
            <a:r>
              <a:rPr lang="en-US" sz="2400" dirty="0">
                <a:latin typeface="Times New Roman"/>
                <a:cs typeface="Times New Roman"/>
              </a:rPr>
              <a:t>the </a:t>
            </a:r>
            <a:r>
              <a:rPr lang="en-US" sz="2400" spc="-5" dirty="0">
                <a:latin typeface="Times New Roman"/>
                <a:cs typeface="Times New Roman"/>
              </a:rPr>
              <a:t>product </a:t>
            </a:r>
            <a:r>
              <a:rPr lang="en-US" sz="2400" spc="-10" dirty="0">
                <a:latin typeface="Times New Roman"/>
                <a:cs typeface="Times New Roman"/>
              </a:rPr>
              <a:t>will </a:t>
            </a:r>
            <a:r>
              <a:rPr lang="en-US" sz="2400" dirty="0">
                <a:latin typeface="Times New Roman"/>
                <a:cs typeface="Times New Roman"/>
              </a:rPr>
              <a:t>have </a:t>
            </a:r>
            <a:r>
              <a:rPr lang="en-US" sz="2400" spc="-10" dirty="0">
                <a:latin typeface="Times New Roman"/>
                <a:cs typeface="Times New Roman"/>
              </a:rPr>
              <a:t>with </a:t>
            </a:r>
            <a:r>
              <a:rPr lang="en-US" sz="2400" spc="-5" dirty="0">
                <a:latin typeface="Times New Roman"/>
                <a:cs typeface="Times New Roman"/>
              </a:rPr>
              <a:t>existing software packages. </a:t>
            </a:r>
            <a:r>
              <a:rPr lang="en-US" sz="2400" dirty="0">
                <a:latin typeface="Times New Roman"/>
                <a:cs typeface="Times New Roman"/>
              </a:rPr>
              <a:t>The </a:t>
            </a:r>
            <a:r>
              <a:rPr lang="en-US" sz="2400" spc="-5" dirty="0">
                <a:latin typeface="Times New Roman"/>
                <a:cs typeface="Times New Roman"/>
              </a:rPr>
              <a:t>methodology  clearly states </a:t>
            </a:r>
            <a:r>
              <a:rPr lang="en-US" sz="2400" spc="-10" dirty="0">
                <a:latin typeface="Times New Roman"/>
                <a:cs typeface="Times New Roman"/>
              </a:rPr>
              <a:t>which </a:t>
            </a:r>
            <a:r>
              <a:rPr lang="en-US" sz="2400" spc="-5" dirty="0">
                <a:latin typeface="Times New Roman"/>
                <a:cs typeface="Times New Roman"/>
              </a:rPr>
              <a:t>methodology should </a:t>
            </a:r>
            <a:r>
              <a:rPr lang="en-US" sz="2400" spc="10" dirty="0">
                <a:latin typeface="Times New Roman"/>
                <a:cs typeface="Times New Roman"/>
              </a:rPr>
              <a:t>be </a:t>
            </a:r>
            <a:r>
              <a:rPr lang="en-US" sz="2400" spc="5" dirty="0">
                <a:latin typeface="Times New Roman"/>
                <a:cs typeface="Times New Roman"/>
              </a:rPr>
              <a:t>used at </a:t>
            </a:r>
            <a:r>
              <a:rPr lang="en-US" sz="2400" spc="-5" dirty="0">
                <a:latin typeface="Times New Roman"/>
                <a:cs typeface="Times New Roman"/>
              </a:rPr>
              <a:t>each </a:t>
            </a:r>
            <a:r>
              <a:rPr lang="en-US" sz="2400" dirty="0">
                <a:latin typeface="Times New Roman"/>
                <a:cs typeface="Times New Roman"/>
              </a:rPr>
              <a:t>phase </a:t>
            </a:r>
            <a:r>
              <a:rPr lang="en-US" sz="2400" spc="-15" dirty="0">
                <a:latin typeface="Times New Roman"/>
                <a:cs typeface="Times New Roman"/>
              </a:rPr>
              <a:t>of </a:t>
            </a:r>
            <a:r>
              <a:rPr lang="en-US" sz="2400" dirty="0">
                <a:latin typeface="Times New Roman"/>
                <a:cs typeface="Times New Roman"/>
              </a:rPr>
              <a:t>the</a:t>
            </a:r>
            <a:r>
              <a:rPr lang="en-US" sz="2400" spc="-25" dirty="0">
                <a:latin typeface="Times New Roman"/>
                <a:cs typeface="Times New Roman"/>
              </a:rPr>
              <a:t> </a:t>
            </a:r>
            <a:r>
              <a:rPr lang="en-US" sz="2400" dirty="0">
                <a:latin typeface="Times New Roman"/>
                <a:cs typeface="Times New Roman"/>
              </a:rPr>
              <a:t>project.</a:t>
            </a:r>
          </a:p>
        </p:txBody>
      </p:sp>
    </p:spTree>
    <p:extLst>
      <p:ext uri="{BB962C8B-B14F-4D97-AF65-F5344CB8AC3E}">
        <p14:creationId xmlns:p14="http://schemas.microsoft.com/office/powerpoint/2010/main" val="22081442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7C21B4-231F-5450-A744-136091A7BFED}"/>
              </a:ext>
            </a:extLst>
          </p:cNvPr>
          <p:cNvSpPr txBox="1"/>
          <p:nvPr/>
        </p:nvSpPr>
        <p:spPr>
          <a:xfrm>
            <a:off x="466724" y="569090"/>
            <a:ext cx="11725275" cy="5349670"/>
          </a:xfrm>
          <a:prstGeom prst="rect">
            <a:avLst/>
          </a:prstGeom>
          <a:noFill/>
        </p:spPr>
        <p:txBody>
          <a:bodyPr wrap="square">
            <a:spAutoFit/>
          </a:bodyPr>
          <a:lstStyle/>
          <a:p>
            <a:pPr marL="12700" marR="7620" indent="457200" algn="just">
              <a:lnSpc>
                <a:spcPct val="143700"/>
              </a:lnSpc>
            </a:pPr>
            <a:r>
              <a:rPr lang="en-US" sz="2400" b="1" dirty="0">
                <a:latin typeface="Times New Roman"/>
                <a:cs typeface="Times New Roman"/>
              </a:rPr>
              <a:t>The </a:t>
            </a:r>
            <a:r>
              <a:rPr lang="en-US" sz="2400" b="1" spc="-5" dirty="0">
                <a:latin typeface="Times New Roman"/>
                <a:cs typeface="Times New Roman"/>
              </a:rPr>
              <a:t>quality </a:t>
            </a:r>
            <a:r>
              <a:rPr lang="en-US" sz="2400" b="1" spc="5" dirty="0">
                <a:latin typeface="Times New Roman"/>
                <a:cs typeface="Times New Roman"/>
              </a:rPr>
              <a:t>plan </a:t>
            </a:r>
            <a:r>
              <a:rPr lang="en-US" sz="2400" spc="-5" dirty="0">
                <a:latin typeface="Times New Roman"/>
                <a:cs typeface="Times New Roman"/>
              </a:rPr>
              <a:t>has </a:t>
            </a:r>
            <a:r>
              <a:rPr lang="en-US" sz="2400" spc="-10" dirty="0">
                <a:latin typeface="Times New Roman"/>
                <a:cs typeface="Times New Roman"/>
              </a:rPr>
              <a:t>four main </a:t>
            </a:r>
            <a:r>
              <a:rPr lang="en-US" sz="2400" spc="-5" dirty="0">
                <a:latin typeface="Times New Roman"/>
                <a:cs typeface="Times New Roman"/>
              </a:rPr>
              <a:t>elements; however, </a:t>
            </a:r>
            <a:r>
              <a:rPr lang="en-US" sz="2400" dirty="0">
                <a:latin typeface="Times New Roman"/>
                <a:cs typeface="Times New Roman"/>
              </a:rPr>
              <a:t>how </a:t>
            </a:r>
            <a:r>
              <a:rPr lang="en-US" sz="2400" spc="-10" dirty="0">
                <a:latin typeface="Times New Roman"/>
                <a:cs typeface="Times New Roman"/>
              </a:rPr>
              <a:t>many </a:t>
            </a:r>
            <a:r>
              <a:rPr lang="en-US" sz="2400" spc="-15" dirty="0">
                <a:latin typeface="Times New Roman"/>
                <a:cs typeface="Times New Roman"/>
              </a:rPr>
              <a:t>of </a:t>
            </a:r>
            <a:r>
              <a:rPr lang="en-US" sz="2400" spc="-5" dirty="0">
                <a:latin typeface="Times New Roman"/>
                <a:cs typeface="Times New Roman"/>
              </a:rPr>
              <a:t>these </a:t>
            </a:r>
            <a:r>
              <a:rPr lang="en-US" sz="2400" spc="10" dirty="0">
                <a:latin typeface="Times New Roman"/>
                <a:cs typeface="Times New Roman"/>
              </a:rPr>
              <a:t>are </a:t>
            </a:r>
            <a:r>
              <a:rPr lang="en-US" sz="2400" spc="5" dirty="0">
                <a:latin typeface="Times New Roman"/>
                <a:cs typeface="Times New Roman"/>
              </a:rPr>
              <a:t>used </a:t>
            </a:r>
            <a:r>
              <a:rPr lang="en-US" sz="2400" spc="-10" dirty="0">
                <a:latin typeface="Times New Roman"/>
                <a:cs typeface="Times New Roman"/>
              </a:rPr>
              <a:t>is </a:t>
            </a:r>
            <a:r>
              <a:rPr lang="en-US" sz="2400" spc="-5" dirty="0">
                <a:latin typeface="Times New Roman"/>
                <a:cs typeface="Times New Roman"/>
              </a:rPr>
              <a:t>dependent </a:t>
            </a:r>
            <a:r>
              <a:rPr lang="en-US" sz="2400" dirty="0">
                <a:latin typeface="Times New Roman"/>
                <a:cs typeface="Times New Roman"/>
              </a:rPr>
              <a:t>upon  the </a:t>
            </a:r>
            <a:r>
              <a:rPr lang="en-US" sz="2400" spc="-5" dirty="0">
                <a:latin typeface="Times New Roman"/>
                <a:cs typeface="Times New Roman"/>
              </a:rPr>
              <a:t>project. </a:t>
            </a:r>
          </a:p>
          <a:p>
            <a:pPr marL="12700" marR="7620" indent="457200" algn="just">
              <a:lnSpc>
                <a:spcPct val="143700"/>
              </a:lnSpc>
            </a:pPr>
            <a:r>
              <a:rPr lang="en-US" sz="2400" spc="-5" dirty="0">
                <a:latin typeface="Times New Roman"/>
                <a:cs typeface="Times New Roman"/>
              </a:rPr>
              <a:t>Quality </a:t>
            </a:r>
            <a:r>
              <a:rPr lang="en-US" sz="2400" spc="-10" dirty="0">
                <a:latin typeface="Times New Roman"/>
                <a:cs typeface="Times New Roman"/>
              </a:rPr>
              <a:t>Goals </a:t>
            </a:r>
            <a:r>
              <a:rPr lang="en-US" sz="2400" spc="-5" dirty="0">
                <a:latin typeface="Times New Roman"/>
                <a:cs typeface="Times New Roman"/>
              </a:rPr>
              <a:t>refers </a:t>
            </a:r>
            <a:r>
              <a:rPr lang="en-US" sz="2400" dirty="0">
                <a:latin typeface="Times New Roman"/>
                <a:cs typeface="Times New Roman"/>
              </a:rPr>
              <a:t>to </a:t>
            </a:r>
            <a:r>
              <a:rPr lang="en-US" sz="2400" spc="-10" dirty="0">
                <a:latin typeface="Times New Roman"/>
                <a:cs typeface="Times New Roman"/>
              </a:rPr>
              <a:t>the goals </a:t>
            </a:r>
            <a:r>
              <a:rPr lang="en-US" sz="2400" dirty="0">
                <a:latin typeface="Times New Roman"/>
                <a:cs typeface="Times New Roman"/>
              </a:rPr>
              <a:t>of the </a:t>
            </a:r>
            <a:r>
              <a:rPr lang="en-US" sz="2400" spc="-5" dirty="0">
                <a:latin typeface="Times New Roman"/>
                <a:cs typeface="Times New Roman"/>
              </a:rPr>
              <a:t>product, </a:t>
            </a:r>
            <a:r>
              <a:rPr lang="en-US" sz="2400" spc="-10" dirty="0">
                <a:latin typeface="Times New Roman"/>
                <a:cs typeface="Times New Roman"/>
              </a:rPr>
              <a:t>it is always </a:t>
            </a:r>
            <a:r>
              <a:rPr lang="en-US" sz="2400" spc="-5" dirty="0">
                <a:latin typeface="Times New Roman"/>
                <a:cs typeface="Times New Roman"/>
              </a:rPr>
              <a:t>better </a:t>
            </a:r>
            <a:r>
              <a:rPr lang="en-US" sz="2400" dirty="0">
                <a:latin typeface="Times New Roman"/>
                <a:cs typeface="Times New Roman"/>
              </a:rPr>
              <a:t>to </a:t>
            </a:r>
            <a:r>
              <a:rPr lang="en-US" sz="2400" spc="-10" dirty="0">
                <a:latin typeface="Times New Roman"/>
                <a:cs typeface="Times New Roman"/>
              </a:rPr>
              <a:t>have </a:t>
            </a:r>
            <a:r>
              <a:rPr lang="en-US" sz="2400" spc="-5" dirty="0">
                <a:latin typeface="Times New Roman"/>
                <a:cs typeface="Times New Roman"/>
              </a:rPr>
              <a:t>more </a:t>
            </a:r>
            <a:r>
              <a:rPr lang="en-US" sz="2400" spc="-10" dirty="0">
                <a:latin typeface="Times New Roman"/>
                <a:cs typeface="Times New Roman"/>
              </a:rPr>
              <a:t>goals </a:t>
            </a:r>
            <a:r>
              <a:rPr lang="en-US" sz="2400" spc="5" dirty="0">
                <a:latin typeface="Times New Roman"/>
                <a:cs typeface="Times New Roman"/>
              </a:rPr>
              <a:t>as </a:t>
            </a:r>
            <a:r>
              <a:rPr lang="en-US" sz="2400" spc="-10" dirty="0">
                <a:latin typeface="Times New Roman"/>
                <a:cs typeface="Times New Roman"/>
              </a:rPr>
              <a:t>it is  easier </a:t>
            </a:r>
            <a:r>
              <a:rPr lang="en-US" sz="2400" dirty="0">
                <a:latin typeface="Times New Roman"/>
                <a:cs typeface="Times New Roman"/>
              </a:rPr>
              <a:t>to </a:t>
            </a:r>
            <a:r>
              <a:rPr lang="en-US" sz="2400" spc="5" dirty="0">
                <a:latin typeface="Times New Roman"/>
                <a:cs typeface="Times New Roman"/>
              </a:rPr>
              <a:t>see </a:t>
            </a:r>
            <a:r>
              <a:rPr lang="en-US" sz="2400" dirty="0">
                <a:latin typeface="Times New Roman"/>
                <a:cs typeface="Times New Roman"/>
              </a:rPr>
              <a:t>how </a:t>
            </a:r>
            <a:r>
              <a:rPr lang="en-US" sz="2400" spc="-10" dirty="0">
                <a:latin typeface="Times New Roman"/>
                <a:cs typeface="Times New Roman"/>
              </a:rPr>
              <a:t>well </a:t>
            </a:r>
            <a:r>
              <a:rPr lang="en-US" sz="2400" spc="10" dirty="0">
                <a:latin typeface="Times New Roman"/>
                <a:cs typeface="Times New Roman"/>
              </a:rPr>
              <a:t>the </a:t>
            </a:r>
            <a:r>
              <a:rPr lang="en-US" sz="2400" dirty="0">
                <a:latin typeface="Times New Roman"/>
                <a:cs typeface="Times New Roman"/>
              </a:rPr>
              <a:t>system </a:t>
            </a:r>
            <a:r>
              <a:rPr lang="en-US" sz="2400" spc="-5" dirty="0">
                <a:latin typeface="Times New Roman"/>
                <a:cs typeface="Times New Roman"/>
              </a:rPr>
              <a:t>performs. </a:t>
            </a:r>
          </a:p>
          <a:p>
            <a:pPr marL="12700" marR="7620" indent="457200" algn="just">
              <a:lnSpc>
                <a:spcPct val="143700"/>
              </a:lnSpc>
            </a:pPr>
            <a:r>
              <a:rPr lang="en-US" sz="2400" spc="-5" dirty="0">
                <a:latin typeface="Times New Roman"/>
                <a:cs typeface="Times New Roman"/>
              </a:rPr>
              <a:t>Planned review activities </a:t>
            </a:r>
            <a:r>
              <a:rPr lang="en-US" sz="2400" spc="10" dirty="0">
                <a:latin typeface="Times New Roman"/>
                <a:cs typeface="Times New Roman"/>
              </a:rPr>
              <a:t>are </a:t>
            </a:r>
            <a:r>
              <a:rPr lang="en-US" sz="2400" dirty="0">
                <a:latin typeface="Times New Roman"/>
                <a:cs typeface="Times New Roman"/>
              </a:rPr>
              <a:t>a </a:t>
            </a:r>
            <a:r>
              <a:rPr lang="en-US" sz="2400" spc="-5" dirty="0">
                <a:latin typeface="Times New Roman"/>
                <a:cs typeface="Times New Roman"/>
              </a:rPr>
              <a:t>listing </a:t>
            </a:r>
            <a:r>
              <a:rPr lang="en-US" sz="2400" spc="-15" dirty="0">
                <a:latin typeface="Times New Roman"/>
                <a:cs typeface="Times New Roman"/>
              </a:rPr>
              <a:t>of </a:t>
            </a:r>
            <a:r>
              <a:rPr lang="en-US" sz="2400" dirty="0">
                <a:latin typeface="Times New Roman"/>
                <a:cs typeface="Times New Roman"/>
              </a:rPr>
              <a:t>all the planned  </a:t>
            </a:r>
            <a:r>
              <a:rPr lang="en-US" sz="2400" spc="-5" dirty="0">
                <a:latin typeface="Times New Roman"/>
                <a:cs typeface="Times New Roman"/>
              </a:rPr>
              <a:t>reviews such </a:t>
            </a:r>
            <a:r>
              <a:rPr lang="en-US" sz="2400" spc="5" dirty="0">
                <a:latin typeface="Times New Roman"/>
                <a:cs typeface="Times New Roman"/>
              </a:rPr>
              <a:t>as </a:t>
            </a:r>
            <a:r>
              <a:rPr lang="en-US" sz="2400" spc="-10" dirty="0">
                <a:latin typeface="Times New Roman"/>
                <a:cs typeface="Times New Roman"/>
              </a:rPr>
              <a:t>Design </a:t>
            </a:r>
            <a:r>
              <a:rPr lang="en-US" sz="2400" spc="-5" dirty="0">
                <a:latin typeface="Times New Roman"/>
                <a:cs typeface="Times New Roman"/>
              </a:rPr>
              <a:t>Reviews (DR) and </a:t>
            </a:r>
            <a:r>
              <a:rPr lang="en-US" sz="2400" dirty="0">
                <a:latin typeface="Times New Roman"/>
                <a:cs typeface="Times New Roman"/>
              </a:rPr>
              <a:t>Code </a:t>
            </a:r>
            <a:r>
              <a:rPr lang="en-US" sz="2400" spc="-5" dirty="0">
                <a:latin typeface="Times New Roman"/>
                <a:cs typeface="Times New Roman"/>
              </a:rPr>
              <a:t>Inspections. </a:t>
            </a:r>
          </a:p>
          <a:p>
            <a:pPr marL="12700" marR="7620" indent="457200" algn="just">
              <a:lnSpc>
                <a:spcPct val="143700"/>
              </a:lnSpc>
            </a:pPr>
            <a:r>
              <a:rPr lang="en-US" sz="2400" spc="-5" dirty="0">
                <a:latin typeface="Times New Roman"/>
                <a:cs typeface="Times New Roman"/>
              </a:rPr>
              <a:t>Planned software tests details all </a:t>
            </a:r>
            <a:r>
              <a:rPr lang="en-US" sz="2400" dirty="0">
                <a:latin typeface="Times New Roman"/>
                <a:cs typeface="Times New Roman"/>
              </a:rPr>
              <a:t>the  </a:t>
            </a:r>
            <a:r>
              <a:rPr lang="en-US" sz="2400" spc="-5" dirty="0">
                <a:latin typeface="Times New Roman"/>
                <a:cs typeface="Times New Roman"/>
              </a:rPr>
              <a:t>software tests that </a:t>
            </a:r>
            <a:r>
              <a:rPr lang="en-US" sz="2400" dirty="0">
                <a:latin typeface="Times New Roman"/>
                <a:cs typeface="Times New Roman"/>
              </a:rPr>
              <a:t>are to </a:t>
            </a:r>
            <a:r>
              <a:rPr lang="en-US" sz="2400" spc="5" dirty="0">
                <a:latin typeface="Times New Roman"/>
                <a:cs typeface="Times New Roman"/>
              </a:rPr>
              <a:t>be </a:t>
            </a:r>
            <a:r>
              <a:rPr lang="en-US" sz="2400" spc="-5" dirty="0">
                <a:latin typeface="Times New Roman"/>
                <a:cs typeface="Times New Roman"/>
              </a:rPr>
              <a:t>performed </a:t>
            </a:r>
            <a:r>
              <a:rPr lang="en-US" sz="2400" dirty="0">
                <a:latin typeface="Times New Roman"/>
                <a:cs typeface="Times New Roman"/>
              </a:rPr>
              <a:t>with </a:t>
            </a:r>
            <a:r>
              <a:rPr lang="en-US" sz="2400" spc="-5" dirty="0">
                <a:latin typeface="Times New Roman"/>
                <a:cs typeface="Times New Roman"/>
              </a:rPr>
              <a:t>details such </a:t>
            </a:r>
            <a:r>
              <a:rPr lang="en-US" sz="2400" spc="5" dirty="0">
                <a:latin typeface="Times New Roman"/>
                <a:cs typeface="Times New Roman"/>
              </a:rPr>
              <a:t>as </a:t>
            </a:r>
            <a:r>
              <a:rPr lang="en-US" sz="2400" spc="-10" dirty="0">
                <a:latin typeface="Times New Roman"/>
                <a:cs typeface="Times New Roman"/>
              </a:rPr>
              <a:t>the </a:t>
            </a:r>
            <a:r>
              <a:rPr lang="en-US" sz="2400" spc="-5" dirty="0">
                <a:latin typeface="Times New Roman"/>
                <a:cs typeface="Times New Roman"/>
              </a:rPr>
              <a:t>unit, integration </a:t>
            </a:r>
            <a:r>
              <a:rPr lang="en-US" sz="2400" spc="-15" dirty="0">
                <a:latin typeface="Times New Roman"/>
                <a:cs typeface="Times New Roman"/>
              </a:rPr>
              <a:t>or </a:t>
            </a:r>
            <a:r>
              <a:rPr lang="en-US" sz="2400" spc="-5" dirty="0">
                <a:latin typeface="Times New Roman"/>
                <a:cs typeface="Times New Roman"/>
              </a:rPr>
              <a:t>complete </a:t>
            </a:r>
            <a:r>
              <a:rPr lang="en-US" sz="2400" spc="5" dirty="0">
                <a:latin typeface="Times New Roman"/>
                <a:cs typeface="Times New Roman"/>
              </a:rPr>
              <a:t>system </a:t>
            </a:r>
            <a:r>
              <a:rPr lang="en-US" sz="2400" dirty="0">
                <a:latin typeface="Times New Roman"/>
                <a:cs typeface="Times New Roman"/>
              </a:rPr>
              <a:t>to </a:t>
            </a:r>
            <a:r>
              <a:rPr lang="en-US" sz="2400" spc="20" dirty="0">
                <a:latin typeface="Times New Roman"/>
                <a:cs typeface="Times New Roman"/>
              </a:rPr>
              <a:t>be  </a:t>
            </a:r>
            <a:r>
              <a:rPr lang="en-US" sz="2400" spc="-5" dirty="0">
                <a:latin typeface="Times New Roman"/>
                <a:cs typeface="Times New Roman"/>
              </a:rPr>
              <a:t>tested. </a:t>
            </a:r>
            <a:r>
              <a:rPr lang="en-US" sz="2400" spc="-10" dirty="0">
                <a:latin typeface="Times New Roman"/>
                <a:cs typeface="Times New Roman"/>
              </a:rPr>
              <a:t>Finally, </a:t>
            </a:r>
            <a:r>
              <a:rPr lang="en-US" sz="2400" spc="-5" dirty="0">
                <a:latin typeface="Times New Roman"/>
                <a:cs typeface="Times New Roman"/>
              </a:rPr>
              <a:t>planned </a:t>
            </a:r>
            <a:r>
              <a:rPr lang="en-US" sz="2400" dirty="0">
                <a:latin typeface="Times New Roman"/>
                <a:cs typeface="Times New Roman"/>
              </a:rPr>
              <a:t>acceptance tests </a:t>
            </a:r>
            <a:r>
              <a:rPr lang="en-US" sz="2400" spc="-15" dirty="0">
                <a:latin typeface="Times New Roman"/>
                <a:cs typeface="Times New Roman"/>
              </a:rPr>
              <a:t>for </a:t>
            </a:r>
            <a:r>
              <a:rPr lang="en-US" sz="2400" spc="-5" dirty="0">
                <a:latin typeface="Times New Roman"/>
                <a:cs typeface="Times New Roman"/>
              </a:rPr>
              <a:t>externally developed software; </a:t>
            </a:r>
            <a:r>
              <a:rPr lang="en-US" sz="2400" spc="-10" dirty="0">
                <a:latin typeface="Times New Roman"/>
                <a:cs typeface="Times New Roman"/>
              </a:rPr>
              <a:t>this is </a:t>
            </a:r>
            <a:r>
              <a:rPr lang="en-US" sz="2400" dirty="0">
                <a:latin typeface="Times New Roman"/>
                <a:cs typeface="Times New Roman"/>
              </a:rPr>
              <a:t>only necessary </a:t>
            </a:r>
            <a:r>
              <a:rPr lang="en-US" sz="2400" spc="-15" dirty="0">
                <a:latin typeface="Times New Roman"/>
                <a:cs typeface="Times New Roman"/>
              </a:rPr>
              <a:t>for  </a:t>
            </a:r>
            <a:r>
              <a:rPr lang="en-US" sz="2400" spc="-5" dirty="0">
                <a:latin typeface="Times New Roman"/>
                <a:cs typeface="Times New Roman"/>
              </a:rPr>
              <a:t>products </a:t>
            </a:r>
            <a:r>
              <a:rPr lang="en-US" sz="2400" spc="-10" dirty="0">
                <a:latin typeface="Times New Roman"/>
                <a:cs typeface="Times New Roman"/>
              </a:rPr>
              <a:t>not </a:t>
            </a:r>
            <a:r>
              <a:rPr lang="en-US" sz="2400" spc="-5" dirty="0">
                <a:latin typeface="Times New Roman"/>
                <a:cs typeface="Times New Roman"/>
              </a:rPr>
              <a:t>developed</a:t>
            </a:r>
            <a:r>
              <a:rPr lang="en-US" sz="2400" spc="15" dirty="0">
                <a:latin typeface="Times New Roman"/>
                <a:cs typeface="Times New Roman"/>
              </a:rPr>
              <a:t> </a:t>
            </a:r>
            <a:r>
              <a:rPr lang="en-US" sz="2400" spc="-5" dirty="0">
                <a:latin typeface="Times New Roman"/>
                <a:cs typeface="Times New Roman"/>
              </a:rPr>
              <a:t>in-house.</a:t>
            </a:r>
            <a:endParaRPr lang="en-US" sz="2400" dirty="0">
              <a:latin typeface="Times New Roman"/>
              <a:cs typeface="Times New Roman"/>
            </a:endParaRPr>
          </a:p>
        </p:txBody>
      </p:sp>
    </p:spTree>
    <p:extLst>
      <p:ext uri="{BB962C8B-B14F-4D97-AF65-F5344CB8AC3E}">
        <p14:creationId xmlns:p14="http://schemas.microsoft.com/office/powerpoint/2010/main" val="17950864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532275-9A28-2256-F249-E1E8A8637F16}"/>
              </a:ext>
            </a:extLst>
          </p:cNvPr>
          <p:cNvSpPr txBox="1"/>
          <p:nvPr/>
        </p:nvSpPr>
        <p:spPr>
          <a:xfrm>
            <a:off x="1295400" y="851138"/>
            <a:ext cx="9029700" cy="3809954"/>
          </a:xfrm>
          <a:prstGeom prst="rect">
            <a:avLst/>
          </a:prstGeom>
          <a:noFill/>
        </p:spPr>
        <p:txBody>
          <a:bodyPr wrap="square">
            <a:spAutoFit/>
          </a:bodyPr>
          <a:lstStyle/>
          <a:p>
            <a:pPr marL="12700" algn="just">
              <a:lnSpc>
                <a:spcPct val="100000"/>
              </a:lnSpc>
            </a:pPr>
            <a:r>
              <a:rPr lang="en-US" sz="2800" b="1" dirty="0">
                <a:latin typeface="Times New Roman"/>
                <a:cs typeface="Times New Roman"/>
              </a:rPr>
              <a:t>2. </a:t>
            </a:r>
            <a:r>
              <a:rPr lang="en-US" sz="2800" b="1" i="1" spc="-5" dirty="0">
                <a:latin typeface="Times New Roman"/>
                <a:cs typeface="Times New Roman"/>
              </a:rPr>
              <a:t>Project Lifecycle Activities </a:t>
            </a:r>
            <a:r>
              <a:rPr lang="en-US" sz="2800" b="1" i="1" dirty="0">
                <a:latin typeface="Times New Roman"/>
                <a:cs typeface="Times New Roman"/>
              </a:rPr>
              <a:t>and</a:t>
            </a:r>
            <a:r>
              <a:rPr lang="en-US" sz="2800" b="1" i="1" spc="55" dirty="0">
                <a:latin typeface="Times New Roman"/>
                <a:cs typeface="Times New Roman"/>
              </a:rPr>
              <a:t> </a:t>
            </a:r>
            <a:r>
              <a:rPr lang="en-US" sz="2800" b="1" i="1" spc="-10" dirty="0">
                <a:latin typeface="Times New Roman"/>
                <a:cs typeface="Times New Roman"/>
              </a:rPr>
              <a:t>Assessment</a:t>
            </a:r>
            <a:endParaRPr lang="en-US" sz="2800" dirty="0">
              <a:latin typeface="Times New Roman"/>
              <a:cs typeface="Times New Roman"/>
            </a:endParaRPr>
          </a:p>
          <a:p>
            <a:pPr marL="12700" marR="8255" indent="457200" algn="just">
              <a:lnSpc>
                <a:spcPct val="143700"/>
              </a:lnSpc>
              <a:spcBef>
                <a:spcPts val="360"/>
              </a:spcBef>
              <a:tabLst>
                <a:tab pos="5210810" algn="l"/>
              </a:tabLst>
            </a:pPr>
            <a:r>
              <a:rPr lang="en-US" sz="2400" spc="-5" dirty="0">
                <a:latin typeface="Times New Roman"/>
                <a:cs typeface="Times New Roman"/>
              </a:rPr>
              <a:t>This component has two </a:t>
            </a:r>
            <a:r>
              <a:rPr lang="en-US" sz="2400" spc="-10" dirty="0">
                <a:latin typeface="Times New Roman"/>
                <a:cs typeface="Times New Roman"/>
              </a:rPr>
              <a:t>main </a:t>
            </a:r>
            <a:r>
              <a:rPr lang="en-US" sz="2400" spc="-5" dirty="0">
                <a:latin typeface="Times New Roman"/>
                <a:cs typeface="Times New Roman"/>
              </a:rPr>
              <a:t>stages;</a:t>
            </a:r>
          </a:p>
          <a:p>
            <a:pPr marL="12700" marR="8255" indent="457200" algn="just">
              <a:lnSpc>
                <a:spcPct val="143700"/>
              </a:lnSpc>
              <a:spcBef>
                <a:spcPts val="360"/>
              </a:spcBef>
              <a:tabLst>
                <a:tab pos="5210810" algn="l"/>
              </a:tabLst>
            </a:pPr>
            <a:r>
              <a:rPr lang="en-US" sz="2400" spc="-5" dirty="0">
                <a:latin typeface="Times New Roman"/>
                <a:cs typeface="Times New Roman"/>
              </a:rPr>
              <a:t> </a:t>
            </a:r>
            <a:r>
              <a:rPr lang="en-US" sz="2400" dirty="0">
                <a:latin typeface="Times New Roman"/>
                <a:cs typeface="Times New Roman"/>
              </a:rPr>
              <a:t>1. </a:t>
            </a:r>
            <a:r>
              <a:rPr lang="en-US" sz="2400" spc="5" dirty="0">
                <a:latin typeface="Times New Roman"/>
                <a:cs typeface="Times New Roman"/>
              </a:rPr>
              <a:t>The </a:t>
            </a:r>
            <a:r>
              <a:rPr lang="en-US" sz="2400" spc="-5" dirty="0">
                <a:latin typeface="Times New Roman"/>
                <a:cs typeface="Times New Roman"/>
              </a:rPr>
              <a:t>Development Lifecycle </a:t>
            </a:r>
            <a:r>
              <a:rPr lang="en-US" sz="2400" dirty="0">
                <a:latin typeface="Times New Roman"/>
                <a:cs typeface="Times New Roman"/>
              </a:rPr>
              <a:t>stage </a:t>
            </a:r>
            <a:r>
              <a:rPr lang="en-US" sz="2400" spc="-5" dirty="0">
                <a:latin typeface="Times New Roman"/>
                <a:cs typeface="Times New Roman"/>
              </a:rPr>
              <a:t>which </a:t>
            </a:r>
            <a:r>
              <a:rPr lang="en-US" sz="2400" spc="-10" dirty="0">
                <a:latin typeface="Times New Roman"/>
                <a:cs typeface="Times New Roman"/>
              </a:rPr>
              <a:t>aims </a:t>
            </a:r>
            <a:r>
              <a:rPr lang="en-US" sz="2400" dirty="0">
                <a:latin typeface="Times New Roman"/>
                <a:cs typeface="Times New Roman"/>
              </a:rPr>
              <a:t>to </a:t>
            </a:r>
            <a:r>
              <a:rPr lang="en-US" sz="2400" spc="-5" dirty="0">
                <a:latin typeface="Times New Roman"/>
                <a:cs typeface="Times New Roman"/>
              </a:rPr>
              <a:t>detect  </a:t>
            </a:r>
            <a:r>
              <a:rPr lang="en-US" sz="2400" dirty="0">
                <a:latin typeface="Times New Roman"/>
                <a:cs typeface="Times New Roman"/>
              </a:rPr>
              <a:t>design </a:t>
            </a:r>
            <a:r>
              <a:rPr lang="en-US" sz="2400" spc="-5" dirty="0">
                <a:latin typeface="Times New Roman"/>
                <a:cs typeface="Times New Roman"/>
              </a:rPr>
              <a:t>and programming errors. </a:t>
            </a:r>
          </a:p>
          <a:p>
            <a:pPr marL="12700" marR="8255" indent="457200" algn="just">
              <a:lnSpc>
                <a:spcPct val="143700"/>
              </a:lnSpc>
              <a:spcBef>
                <a:spcPts val="360"/>
              </a:spcBef>
              <a:tabLst>
                <a:tab pos="5210810" algn="l"/>
              </a:tabLst>
            </a:pPr>
            <a:r>
              <a:rPr lang="en-US" sz="2400" spc="-15" dirty="0">
                <a:latin typeface="Times New Roman"/>
                <a:cs typeface="Times New Roman"/>
              </a:rPr>
              <a:t>2. </a:t>
            </a:r>
            <a:r>
              <a:rPr lang="en-US" sz="2400" spc="15" dirty="0">
                <a:latin typeface="Times New Roman"/>
                <a:cs typeface="Times New Roman"/>
              </a:rPr>
              <a:t>The </a:t>
            </a:r>
            <a:r>
              <a:rPr lang="en-US" sz="2400" spc="-5" dirty="0">
                <a:latin typeface="Times New Roman"/>
                <a:cs typeface="Times New Roman"/>
              </a:rPr>
              <a:t>Operation-Maintenance </a:t>
            </a:r>
            <a:r>
              <a:rPr lang="en-US" sz="2400" dirty="0">
                <a:latin typeface="Times New Roman"/>
                <a:cs typeface="Times New Roman"/>
              </a:rPr>
              <a:t>stage </a:t>
            </a:r>
            <a:r>
              <a:rPr lang="en-US" sz="2400" spc="-5" dirty="0">
                <a:latin typeface="Times New Roman"/>
                <a:cs typeface="Times New Roman"/>
              </a:rPr>
              <a:t>focuses </a:t>
            </a:r>
            <a:r>
              <a:rPr lang="en-US" sz="2400" spc="-15" dirty="0">
                <a:latin typeface="Times New Roman"/>
                <a:cs typeface="Times New Roman"/>
              </a:rPr>
              <a:t>on </a:t>
            </a:r>
            <a:r>
              <a:rPr lang="en-US" sz="2400" spc="-5" dirty="0">
                <a:latin typeface="Times New Roman"/>
                <a:cs typeface="Times New Roman"/>
              </a:rPr>
              <a:t>maintenance tasks that  </a:t>
            </a:r>
            <a:r>
              <a:rPr lang="en-US" sz="2400" dirty="0">
                <a:latin typeface="Times New Roman"/>
                <a:cs typeface="Times New Roman"/>
              </a:rPr>
              <a:t>i</a:t>
            </a:r>
            <a:r>
              <a:rPr lang="en-US" sz="2400" spc="-45" dirty="0">
                <a:latin typeface="Times New Roman"/>
                <a:cs typeface="Times New Roman"/>
              </a:rPr>
              <a:t>m</a:t>
            </a:r>
            <a:r>
              <a:rPr lang="en-US" sz="2400" dirty="0">
                <a:latin typeface="Times New Roman"/>
                <a:cs typeface="Times New Roman"/>
              </a:rPr>
              <a:t>p</a:t>
            </a:r>
            <a:r>
              <a:rPr lang="en-US" sz="2400" spc="15" dirty="0">
                <a:latin typeface="Times New Roman"/>
                <a:cs typeface="Times New Roman"/>
              </a:rPr>
              <a:t>r</a:t>
            </a:r>
            <a:r>
              <a:rPr lang="en-US" sz="2400" dirty="0">
                <a:latin typeface="Times New Roman"/>
                <a:cs typeface="Times New Roman"/>
              </a:rPr>
              <a:t>ove </a:t>
            </a:r>
            <a:r>
              <a:rPr lang="en-US" sz="2400" spc="-10" dirty="0">
                <a:latin typeface="Times New Roman"/>
                <a:cs typeface="Times New Roman"/>
              </a:rPr>
              <a:t>f</a:t>
            </a:r>
            <a:r>
              <a:rPr lang="en-US" sz="2400" dirty="0">
                <a:latin typeface="Times New Roman"/>
                <a:cs typeface="Times New Roman"/>
              </a:rPr>
              <a:t>u</a:t>
            </a:r>
            <a:r>
              <a:rPr lang="en-US" sz="2400" spc="-25" dirty="0">
                <a:latin typeface="Times New Roman"/>
                <a:cs typeface="Times New Roman"/>
              </a:rPr>
              <a:t>n</a:t>
            </a:r>
            <a:r>
              <a:rPr lang="en-US" sz="2400" spc="-10" dirty="0">
                <a:latin typeface="Times New Roman"/>
                <a:cs typeface="Times New Roman"/>
              </a:rPr>
              <a:t>c</a:t>
            </a:r>
            <a:r>
              <a:rPr lang="en-US" sz="2400" spc="25" dirty="0">
                <a:latin typeface="Times New Roman"/>
                <a:cs typeface="Times New Roman"/>
              </a:rPr>
              <a:t>t</a:t>
            </a:r>
            <a:r>
              <a:rPr lang="en-US" sz="2400" dirty="0">
                <a:latin typeface="Times New Roman"/>
                <a:cs typeface="Times New Roman"/>
              </a:rPr>
              <a:t>io</a:t>
            </a:r>
            <a:r>
              <a:rPr lang="en-US" sz="2400" spc="-25" dirty="0">
                <a:latin typeface="Times New Roman"/>
                <a:cs typeface="Times New Roman"/>
              </a:rPr>
              <a:t>n</a:t>
            </a:r>
            <a:r>
              <a:rPr lang="en-US" sz="2400" spc="10" dirty="0">
                <a:latin typeface="Times New Roman"/>
                <a:cs typeface="Times New Roman"/>
              </a:rPr>
              <a:t>a</a:t>
            </a:r>
            <a:r>
              <a:rPr lang="en-US" sz="2400" dirty="0">
                <a:latin typeface="Times New Roman"/>
                <a:cs typeface="Times New Roman"/>
              </a:rPr>
              <a:t>l</a:t>
            </a:r>
            <a:r>
              <a:rPr lang="en-US" sz="2400" spc="-20" dirty="0">
                <a:latin typeface="Times New Roman"/>
                <a:cs typeface="Times New Roman"/>
              </a:rPr>
              <a:t>i</a:t>
            </a:r>
            <a:r>
              <a:rPr lang="en-US" sz="2400" dirty="0">
                <a:latin typeface="Times New Roman"/>
                <a:cs typeface="Times New Roman"/>
              </a:rPr>
              <a:t>t</a:t>
            </a:r>
            <a:r>
              <a:rPr lang="en-US" sz="2400" spc="-25" dirty="0">
                <a:latin typeface="Times New Roman"/>
                <a:cs typeface="Times New Roman"/>
              </a:rPr>
              <a:t>y</a:t>
            </a:r>
            <a:r>
              <a:rPr lang="en-US" sz="2400" dirty="0">
                <a:latin typeface="Times New Roman"/>
                <a:cs typeface="Times New Roman"/>
              </a:rPr>
              <a:t>.</a:t>
            </a:r>
          </a:p>
          <a:p>
            <a:pPr marL="12700" marR="8255" algn="just">
              <a:lnSpc>
                <a:spcPct val="144600"/>
              </a:lnSpc>
            </a:pPr>
            <a:endParaRPr lang="en-US" sz="2400" dirty="0">
              <a:latin typeface="Times New Roman"/>
              <a:cs typeface="Times New Roman"/>
            </a:endParaRPr>
          </a:p>
        </p:txBody>
      </p:sp>
    </p:spTree>
    <p:extLst>
      <p:ext uri="{BB962C8B-B14F-4D97-AF65-F5344CB8AC3E}">
        <p14:creationId xmlns:p14="http://schemas.microsoft.com/office/powerpoint/2010/main" val="35577136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029863" y="5946601"/>
            <a:ext cx="134391" cy="108491"/>
          </a:xfrm>
          <a:prstGeom prst="rect">
            <a:avLst/>
          </a:prstGeom>
        </p:spPr>
        <p:txBody>
          <a:bodyPr vert="horz" wrap="square" lIns="0" tIns="0" rIns="0" bIns="0" rtlCol="0">
            <a:spAutoFit/>
          </a:bodyPr>
          <a:lstStyle/>
          <a:p>
            <a:pPr marL="16289"/>
            <a:endParaRPr sz="705" dirty="0">
              <a:latin typeface="Arial"/>
              <a:cs typeface="Arial"/>
            </a:endParaRPr>
          </a:p>
        </p:txBody>
      </p:sp>
      <p:sp>
        <p:nvSpPr>
          <p:cNvPr id="2" name="object 2"/>
          <p:cNvSpPr txBox="1"/>
          <p:nvPr/>
        </p:nvSpPr>
        <p:spPr>
          <a:xfrm>
            <a:off x="-47380" y="431117"/>
            <a:ext cx="12154486" cy="6579109"/>
          </a:xfrm>
          <a:prstGeom prst="rect">
            <a:avLst/>
          </a:prstGeom>
        </p:spPr>
        <p:txBody>
          <a:bodyPr vert="horz" wrap="square" lIns="0" tIns="0" rIns="0" bIns="0" rtlCol="0">
            <a:spAutoFit/>
          </a:bodyPr>
          <a:lstStyle/>
          <a:p>
            <a:pPr marL="351045" marR="6516" indent="-342900" algn="just">
              <a:lnSpc>
                <a:spcPct val="143700"/>
              </a:lnSpc>
              <a:buFont typeface="Arial" panose="020B0604020202020204" pitchFamily="34" charset="0"/>
              <a:buChar char="•"/>
            </a:pPr>
            <a:r>
              <a:rPr sz="2400" spc="-10" dirty="0">
                <a:latin typeface="Times New Roman"/>
                <a:cs typeface="Times New Roman"/>
              </a:rPr>
              <a:t>The reviews occur during the design phase of the development process and should be conducted  at any milestone.</a:t>
            </a:r>
            <a:endParaRPr lang="en-US" sz="2400" spc="-10" dirty="0">
              <a:latin typeface="Times New Roman"/>
              <a:cs typeface="Times New Roman"/>
            </a:endParaRPr>
          </a:p>
          <a:p>
            <a:pPr marL="351045" marR="6516" indent="-342900" algn="just">
              <a:lnSpc>
                <a:spcPct val="143700"/>
              </a:lnSpc>
              <a:buFont typeface="Arial" panose="020B0604020202020204" pitchFamily="34" charset="0"/>
              <a:buChar char="•"/>
            </a:pPr>
            <a:r>
              <a:rPr sz="2400" spc="-10" dirty="0">
                <a:latin typeface="Times New Roman"/>
                <a:cs typeface="Times New Roman"/>
              </a:rPr>
              <a:t> The formal Design Review (DR) is a very important document as the project cannot  continue until a formal approval by the DR committee has been received. The document itself includes a  list of action items (corrections) that are required. </a:t>
            </a:r>
            <a:endParaRPr lang="en-US" sz="2400" spc="-10" dirty="0">
              <a:latin typeface="Times New Roman"/>
              <a:cs typeface="Times New Roman"/>
            </a:endParaRPr>
          </a:p>
          <a:p>
            <a:pPr marL="351045" marR="6516" indent="-342900" algn="just">
              <a:lnSpc>
                <a:spcPct val="143700"/>
              </a:lnSpc>
              <a:buFont typeface="Arial" panose="020B0604020202020204" pitchFamily="34" charset="0"/>
              <a:buChar char="•"/>
            </a:pPr>
            <a:r>
              <a:rPr sz="2400" spc="-10" dirty="0">
                <a:latin typeface="Times New Roman"/>
                <a:cs typeface="Times New Roman"/>
              </a:rPr>
              <a:t>The peer review, guided by checklists, standards and  past problems, is a document that reviews short documents or sections to attempt to detect design and  programming faults documenting a list of its findings.</a:t>
            </a:r>
          </a:p>
          <a:p>
            <a:pPr marL="8145" algn="just">
              <a:spcBef>
                <a:spcPts val="369"/>
              </a:spcBef>
            </a:pPr>
            <a:r>
              <a:rPr sz="2400" spc="-10" dirty="0">
                <a:latin typeface="Times New Roman"/>
                <a:cs typeface="Times New Roman"/>
              </a:rPr>
              <a:t>‘Expert Opinions’ is the use of an external member    to review in-house work; it can reinforce the internal</a:t>
            </a:r>
          </a:p>
          <a:p>
            <a:pPr marL="8145" marR="4479" algn="just">
              <a:lnSpc>
                <a:spcPct val="143700"/>
              </a:lnSpc>
              <a:spcBef>
                <a:spcPts val="13"/>
              </a:spcBef>
            </a:pPr>
            <a:r>
              <a:rPr sz="2400" spc="-10" dirty="0">
                <a:latin typeface="Times New Roman"/>
                <a:cs typeface="Times New Roman"/>
              </a:rPr>
              <a:t>(in-house) quality assurance activities. Although not all organisations may use this approach it is useful  for small organisations which may not have sufficient professional capabilities in-house or for a  replacement to the regular in-house professional for whatever reasons. </a:t>
            </a:r>
            <a:endParaRPr sz="2000" dirty="0">
              <a:latin typeface="Times New Roman"/>
              <a:cs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029863" y="5946601"/>
            <a:ext cx="134391" cy="108491"/>
          </a:xfrm>
          <a:prstGeom prst="rect">
            <a:avLst/>
          </a:prstGeom>
        </p:spPr>
        <p:txBody>
          <a:bodyPr vert="horz" wrap="square" lIns="0" tIns="0" rIns="0" bIns="0" rtlCol="0">
            <a:spAutoFit/>
          </a:bodyPr>
          <a:lstStyle/>
          <a:p>
            <a:pPr marL="16289"/>
            <a:fld id="{81D60167-4931-47E6-BA6A-407CBD079E47}" type="slidenum">
              <a:rPr sz="705" dirty="0">
                <a:latin typeface="Arial"/>
                <a:cs typeface="Arial"/>
              </a:rPr>
              <a:pPr marL="16289"/>
              <a:t>24</a:t>
            </a:fld>
            <a:endParaRPr sz="705">
              <a:latin typeface="Arial"/>
              <a:cs typeface="Arial"/>
            </a:endParaRPr>
          </a:p>
        </p:txBody>
      </p:sp>
      <p:sp>
        <p:nvSpPr>
          <p:cNvPr id="2" name="object 2"/>
          <p:cNvSpPr txBox="1"/>
          <p:nvPr/>
        </p:nvSpPr>
        <p:spPr>
          <a:xfrm>
            <a:off x="554181" y="621083"/>
            <a:ext cx="11083638" cy="7156639"/>
          </a:xfrm>
          <a:prstGeom prst="rect">
            <a:avLst/>
          </a:prstGeom>
        </p:spPr>
        <p:txBody>
          <a:bodyPr vert="horz" wrap="square" lIns="0" tIns="0" rIns="0" bIns="0" rtlCol="0">
            <a:spAutoFit/>
          </a:bodyPr>
          <a:lstStyle/>
          <a:p>
            <a:pPr marL="8145" marR="8145" indent="293202" algn="just">
              <a:lnSpc>
                <a:spcPct val="143800"/>
              </a:lnSpc>
            </a:pPr>
            <a:r>
              <a:rPr spc="-3" dirty="0">
                <a:latin typeface="Times New Roman"/>
                <a:cs typeface="Times New Roman"/>
              </a:rPr>
              <a:t>In general, Software </a:t>
            </a:r>
            <a:r>
              <a:rPr dirty="0">
                <a:latin typeface="Times New Roman"/>
                <a:cs typeface="Times New Roman"/>
              </a:rPr>
              <a:t>Testing </a:t>
            </a:r>
            <a:r>
              <a:rPr spc="-6" dirty="0">
                <a:latin typeface="Times New Roman"/>
                <a:cs typeface="Times New Roman"/>
              </a:rPr>
              <a:t>is </a:t>
            </a:r>
            <a:r>
              <a:rPr spc="-3" dirty="0">
                <a:latin typeface="Times New Roman"/>
                <a:cs typeface="Times New Roman"/>
              </a:rPr>
              <a:t>aimed </a:t>
            </a:r>
            <a:r>
              <a:rPr spc="3" dirty="0">
                <a:latin typeface="Times New Roman"/>
                <a:cs typeface="Times New Roman"/>
              </a:rPr>
              <a:t>at </a:t>
            </a:r>
            <a:r>
              <a:rPr spc="-3" dirty="0">
                <a:latin typeface="Times New Roman"/>
                <a:cs typeface="Times New Roman"/>
              </a:rPr>
              <a:t>reviewing </a:t>
            </a:r>
            <a:r>
              <a:rPr dirty="0">
                <a:latin typeface="Times New Roman"/>
                <a:cs typeface="Times New Roman"/>
              </a:rPr>
              <a:t>the </a:t>
            </a:r>
            <a:r>
              <a:rPr spc="-3" dirty="0">
                <a:latin typeface="Times New Roman"/>
                <a:cs typeface="Times New Roman"/>
              </a:rPr>
              <a:t>running </a:t>
            </a:r>
            <a:r>
              <a:rPr spc="3" dirty="0">
                <a:latin typeface="Times New Roman"/>
                <a:cs typeface="Times New Roman"/>
              </a:rPr>
              <a:t>and </a:t>
            </a:r>
            <a:r>
              <a:rPr spc="-3" dirty="0">
                <a:latin typeface="Times New Roman"/>
                <a:cs typeface="Times New Roman"/>
              </a:rPr>
              <a:t>functionality </a:t>
            </a:r>
            <a:r>
              <a:rPr spc="-10" dirty="0">
                <a:latin typeface="Times New Roman"/>
                <a:cs typeface="Times New Roman"/>
              </a:rPr>
              <a:t>of </a:t>
            </a:r>
            <a:r>
              <a:rPr dirty="0">
                <a:latin typeface="Times New Roman"/>
                <a:cs typeface="Times New Roman"/>
              </a:rPr>
              <a:t>the software  in </a:t>
            </a:r>
            <a:r>
              <a:rPr spc="-3" dirty="0">
                <a:latin typeface="Times New Roman"/>
                <a:cs typeface="Times New Roman"/>
              </a:rPr>
              <a:t>which </a:t>
            </a:r>
            <a:r>
              <a:rPr dirty="0">
                <a:latin typeface="Times New Roman"/>
                <a:cs typeface="Times New Roman"/>
              </a:rPr>
              <a:t>the testing </a:t>
            </a:r>
            <a:r>
              <a:rPr spc="-6" dirty="0">
                <a:latin typeface="Times New Roman"/>
                <a:cs typeface="Times New Roman"/>
              </a:rPr>
              <a:t>is </a:t>
            </a:r>
            <a:r>
              <a:rPr dirty="0">
                <a:latin typeface="Times New Roman"/>
                <a:cs typeface="Times New Roman"/>
              </a:rPr>
              <a:t>based on a </a:t>
            </a:r>
            <a:r>
              <a:rPr spc="-3" dirty="0">
                <a:latin typeface="Times New Roman"/>
                <a:cs typeface="Times New Roman"/>
              </a:rPr>
              <a:t>prepared list </a:t>
            </a:r>
            <a:r>
              <a:rPr spc="-10" dirty="0">
                <a:latin typeface="Times New Roman"/>
                <a:cs typeface="Times New Roman"/>
              </a:rPr>
              <a:t>of </a:t>
            </a:r>
            <a:r>
              <a:rPr spc="-6" dirty="0">
                <a:latin typeface="Times New Roman"/>
                <a:cs typeface="Times New Roman"/>
              </a:rPr>
              <a:t>test</a:t>
            </a:r>
            <a:r>
              <a:rPr spc="-10" dirty="0">
                <a:latin typeface="Times New Roman"/>
                <a:cs typeface="Times New Roman"/>
              </a:rPr>
              <a:t> </a:t>
            </a:r>
            <a:r>
              <a:rPr spc="-3" dirty="0">
                <a:latin typeface="Times New Roman"/>
                <a:cs typeface="Times New Roman"/>
              </a:rPr>
              <a:t>cases.</a:t>
            </a:r>
            <a:endParaRPr dirty="0">
              <a:latin typeface="Times New Roman"/>
              <a:cs typeface="Times New Roman"/>
            </a:endParaRPr>
          </a:p>
          <a:p>
            <a:pPr marL="8145" marR="7737" indent="293202" algn="just">
              <a:lnSpc>
                <a:spcPct val="143700"/>
              </a:lnSpc>
            </a:pPr>
            <a:r>
              <a:rPr spc="-3" dirty="0">
                <a:latin typeface="Times New Roman"/>
                <a:cs typeface="Times New Roman"/>
              </a:rPr>
              <a:t>Software </a:t>
            </a:r>
            <a:r>
              <a:rPr dirty="0">
                <a:latin typeface="Times New Roman"/>
                <a:cs typeface="Times New Roman"/>
              </a:rPr>
              <a:t>Maintenance </a:t>
            </a:r>
            <a:r>
              <a:rPr spc="-3" dirty="0">
                <a:latin typeface="Times New Roman"/>
                <a:cs typeface="Times New Roman"/>
              </a:rPr>
              <a:t>specifies three categories </a:t>
            </a:r>
            <a:r>
              <a:rPr dirty="0">
                <a:latin typeface="Times New Roman"/>
                <a:cs typeface="Times New Roman"/>
              </a:rPr>
              <a:t>in </a:t>
            </a:r>
            <a:r>
              <a:rPr spc="-3" dirty="0">
                <a:latin typeface="Times New Roman"/>
                <a:cs typeface="Times New Roman"/>
              </a:rPr>
              <a:t>which maintenance for </a:t>
            </a:r>
            <a:r>
              <a:rPr dirty="0">
                <a:latin typeface="Times New Roman"/>
                <a:cs typeface="Times New Roman"/>
              </a:rPr>
              <a:t>a </a:t>
            </a:r>
            <a:r>
              <a:rPr spc="-3" dirty="0">
                <a:latin typeface="Times New Roman"/>
                <a:cs typeface="Times New Roman"/>
              </a:rPr>
              <a:t>system </a:t>
            </a:r>
            <a:r>
              <a:rPr dirty="0">
                <a:latin typeface="Times New Roman"/>
                <a:cs typeface="Times New Roman"/>
              </a:rPr>
              <a:t>can fall </a:t>
            </a:r>
            <a:r>
              <a:rPr spc="-6" dirty="0">
                <a:latin typeface="Times New Roman"/>
                <a:cs typeface="Times New Roman"/>
              </a:rPr>
              <a:t>into.  </a:t>
            </a:r>
            <a:r>
              <a:rPr dirty="0">
                <a:latin typeface="Times New Roman"/>
                <a:cs typeface="Times New Roman"/>
              </a:rPr>
              <a:t>The first </a:t>
            </a:r>
            <a:r>
              <a:rPr spc="-6" dirty="0">
                <a:latin typeface="Times New Roman"/>
                <a:cs typeface="Times New Roman"/>
              </a:rPr>
              <a:t>is </a:t>
            </a:r>
            <a:r>
              <a:rPr spc="-3" dirty="0">
                <a:latin typeface="Times New Roman"/>
                <a:cs typeface="Times New Roman"/>
              </a:rPr>
              <a:t>corrective maintenance </a:t>
            </a:r>
            <a:r>
              <a:rPr dirty="0">
                <a:latin typeface="Times New Roman"/>
                <a:cs typeface="Times New Roman"/>
              </a:rPr>
              <a:t>in </a:t>
            </a:r>
            <a:r>
              <a:rPr spc="-3" dirty="0">
                <a:latin typeface="Times New Roman"/>
                <a:cs typeface="Times New Roman"/>
              </a:rPr>
              <a:t>which </a:t>
            </a:r>
            <a:r>
              <a:rPr dirty="0">
                <a:latin typeface="Times New Roman"/>
                <a:cs typeface="Times New Roman"/>
              </a:rPr>
              <a:t>the </a:t>
            </a:r>
            <a:r>
              <a:rPr spc="-3" dirty="0">
                <a:latin typeface="Times New Roman"/>
                <a:cs typeface="Times New Roman"/>
              </a:rPr>
              <a:t>correction </a:t>
            </a:r>
            <a:r>
              <a:rPr spc="-10" dirty="0">
                <a:latin typeface="Times New Roman"/>
                <a:cs typeface="Times New Roman"/>
              </a:rPr>
              <a:t>of </a:t>
            </a:r>
            <a:r>
              <a:rPr spc="-3" dirty="0">
                <a:latin typeface="Times New Roman"/>
                <a:cs typeface="Times New Roman"/>
              </a:rPr>
              <a:t>failed software, </a:t>
            </a:r>
            <a:r>
              <a:rPr spc="-10" dirty="0">
                <a:latin typeface="Times New Roman"/>
                <a:cs typeface="Times New Roman"/>
              </a:rPr>
              <a:t>for </a:t>
            </a:r>
            <a:r>
              <a:rPr spc="-6" dirty="0">
                <a:latin typeface="Times New Roman"/>
                <a:cs typeface="Times New Roman"/>
              </a:rPr>
              <a:t>whatever </a:t>
            </a:r>
            <a:r>
              <a:rPr spc="-3" dirty="0">
                <a:latin typeface="Times New Roman"/>
                <a:cs typeface="Times New Roman"/>
              </a:rPr>
              <a:t>reason, </a:t>
            </a:r>
            <a:r>
              <a:rPr dirty="0">
                <a:latin typeface="Times New Roman"/>
                <a:cs typeface="Times New Roman"/>
              </a:rPr>
              <a:t>occurs.  The second </a:t>
            </a:r>
            <a:r>
              <a:rPr spc="-6" dirty="0">
                <a:latin typeface="Times New Roman"/>
                <a:cs typeface="Times New Roman"/>
              </a:rPr>
              <a:t>is </a:t>
            </a:r>
            <a:r>
              <a:rPr spc="-3" dirty="0">
                <a:latin typeface="Times New Roman"/>
                <a:cs typeface="Times New Roman"/>
              </a:rPr>
              <a:t>adaptive maintenance </a:t>
            </a:r>
            <a:r>
              <a:rPr dirty="0">
                <a:latin typeface="Times New Roman"/>
                <a:cs typeface="Times New Roman"/>
              </a:rPr>
              <a:t>in </a:t>
            </a:r>
            <a:r>
              <a:rPr spc="-3" dirty="0">
                <a:latin typeface="Times New Roman"/>
                <a:cs typeface="Times New Roman"/>
              </a:rPr>
              <a:t>which maintenance occurs </a:t>
            </a:r>
            <a:r>
              <a:rPr dirty="0">
                <a:latin typeface="Times New Roman"/>
                <a:cs typeface="Times New Roman"/>
              </a:rPr>
              <a:t>to the </a:t>
            </a:r>
            <a:r>
              <a:rPr spc="3" dirty="0">
                <a:latin typeface="Times New Roman"/>
                <a:cs typeface="Times New Roman"/>
              </a:rPr>
              <a:t>system </a:t>
            </a:r>
            <a:r>
              <a:rPr spc="-6" dirty="0">
                <a:latin typeface="Times New Roman"/>
                <a:cs typeface="Times New Roman"/>
              </a:rPr>
              <a:t>it </a:t>
            </a:r>
            <a:r>
              <a:rPr spc="-3" dirty="0">
                <a:latin typeface="Times New Roman"/>
                <a:cs typeface="Times New Roman"/>
              </a:rPr>
              <a:t>needs </a:t>
            </a:r>
            <a:r>
              <a:rPr dirty="0">
                <a:latin typeface="Times New Roman"/>
                <a:cs typeface="Times New Roman"/>
              </a:rPr>
              <a:t>to </a:t>
            </a:r>
            <a:r>
              <a:rPr spc="6" dirty="0">
                <a:latin typeface="Times New Roman"/>
                <a:cs typeface="Times New Roman"/>
              </a:rPr>
              <a:t>be </a:t>
            </a:r>
            <a:r>
              <a:rPr spc="-3" dirty="0">
                <a:latin typeface="Times New Roman"/>
                <a:cs typeface="Times New Roman"/>
              </a:rPr>
              <a:t>adapted;  </a:t>
            </a:r>
            <a:r>
              <a:rPr spc="-6" dirty="0">
                <a:latin typeface="Times New Roman"/>
                <a:cs typeface="Times New Roman"/>
              </a:rPr>
              <a:t>however </a:t>
            </a:r>
            <a:r>
              <a:rPr dirty="0">
                <a:latin typeface="Times New Roman"/>
                <a:cs typeface="Times New Roman"/>
              </a:rPr>
              <a:t>the basic </a:t>
            </a:r>
            <a:r>
              <a:rPr spc="-3" dirty="0">
                <a:latin typeface="Times New Roman"/>
                <a:cs typeface="Times New Roman"/>
              </a:rPr>
              <a:t>functionality </a:t>
            </a:r>
            <a:r>
              <a:rPr spc="-10" dirty="0">
                <a:latin typeface="Times New Roman"/>
                <a:cs typeface="Times New Roman"/>
              </a:rPr>
              <a:t>of </a:t>
            </a:r>
            <a:r>
              <a:rPr spc="6" dirty="0">
                <a:latin typeface="Times New Roman"/>
                <a:cs typeface="Times New Roman"/>
              </a:rPr>
              <a:t>the </a:t>
            </a:r>
            <a:r>
              <a:rPr dirty="0">
                <a:latin typeface="Times New Roman"/>
                <a:cs typeface="Times New Roman"/>
              </a:rPr>
              <a:t>system </a:t>
            </a:r>
            <a:r>
              <a:rPr spc="-6" dirty="0">
                <a:latin typeface="Times New Roman"/>
                <a:cs typeface="Times New Roman"/>
              </a:rPr>
              <a:t>is </a:t>
            </a:r>
            <a:r>
              <a:rPr spc="-3" dirty="0">
                <a:latin typeface="Times New Roman"/>
                <a:cs typeface="Times New Roman"/>
              </a:rPr>
              <a:t>left untouched. </a:t>
            </a:r>
            <a:r>
              <a:rPr spc="-6" dirty="0">
                <a:latin typeface="Times New Roman"/>
                <a:cs typeface="Times New Roman"/>
              </a:rPr>
              <a:t>Finally, </a:t>
            </a:r>
            <a:r>
              <a:rPr dirty="0">
                <a:latin typeface="Times New Roman"/>
                <a:cs typeface="Times New Roman"/>
              </a:rPr>
              <a:t>the third </a:t>
            </a:r>
            <a:r>
              <a:rPr spc="-6" dirty="0">
                <a:latin typeface="Times New Roman"/>
                <a:cs typeface="Times New Roman"/>
              </a:rPr>
              <a:t>is </a:t>
            </a:r>
            <a:r>
              <a:rPr spc="-3" dirty="0">
                <a:latin typeface="Times New Roman"/>
                <a:cs typeface="Times New Roman"/>
              </a:rPr>
              <a:t>functionality  improvement </a:t>
            </a:r>
            <a:r>
              <a:rPr dirty="0">
                <a:latin typeface="Times New Roman"/>
                <a:cs typeface="Times New Roman"/>
              </a:rPr>
              <a:t>where the </a:t>
            </a:r>
            <a:r>
              <a:rPr spc="3" dirty="0">
                <a:latin typeface="Times New Roman"/>
                <a:cs typeface="Times New Roman"/>
              </a:rPr>
              <a:t>system </a:t>
            </a:r>
            <a:r>
              <a:rPr spc="-6" dirty="0">
                <a:latin typeface="Times New Roman"/>
                <a:cs typeface="Times New Roman"/>
              </a:rPr>
              <a:t>is </a:t>
            </a:r>
            <a:r>
              <a:rPr spc="-3" dirty="0">
                <a:latin typeface="Times New Roman"/>
                <a:cs typeface="Times New Roman"/>
              </a:rPr>
              <a:t>modified </a:t>
            </a:r>
            <a:r>
              <a:rPr dirty="0">
                <a:latin typeface="Times New Roman"/>
                <a:cs typeface="Times New Roman"/>
              </a:rPr>
              <a:t>to </a:t>
            </a:r>
            <a:r>
              <a:rPr spc="3" dirty="0">
                <a:latin typeface="Times New Roman"/>
                <a:cs typeface="Times New Roman"/>
              </a:rPr>
              <a:t>add </a:t>
            </a:r>
            <a:r>
              <a:rPr spc="-3" dirty="0">
                <a:latin typeface="Times New Roman"/>
                <a:cs typeface="Times New Roman"/>
              </a:rPr>
              <a:t>improvements, </a:t>
            </a:r>
            <a:r>
              <a:rPr spc="-6" dirty="0">
                <a:latin typeface="Times New Roman"/>
                <a:cs typeface="Times New Roman"/>
              </a:rPr>
              <a:t>this </a:t>
            </a:r>
            <a:r>
              <a:rPr spc="-3" dirty="0">
                <a:latin typeface="Times New Roman"/>
                <a:cs typeface="Times New Roman"/>
              </a:rPr>
              <a:t>could </a:t>
            </a:r>
            <a:r>
              <a:rPr dirty="0">
                <a:latin typeface="Times New Roman"/>
                <a:cs typeface="Times New Roman"/>
              </a:rPr>
              <a:t>significantly change </a:t>
            </a:r>
            <a:r>
              <a:rPr spc="6" dirty="0">
                <a:latin typeface="Times New Roman"/>
                <a:cs typeface="Times New Roman"/>
              </a:rPr>
              <a:t>the  </a:t>
            </a:r>
            <a:r>
              <a:rPr dirty="0">
                <a:latin typeface="Times New Roman"/>
                <a:cs typeface="Times New Roman"/>
              </a:rPr>
              <a:t>system </a:t>
            </a:r>
            <a:r>
              <a:rPr spc="-3" dirty="0">
                <a:latin typeface="Times New Roman"/>
                <a:cs typeface="Times New Roman"/>
              </a:rPr>
              <a:t>compared </a:t>
            </a:r>
            <a:r>
              <a:rPr spc="6" dirty="0">
                <a:latin typeface="Times New Roman"/>
                <a:cs typeface="Times New Roman"/>
              </a:rPr>
              <a:t>to </a:t>
            </a:r>
            <a:r>
              <a:rPr dirty="0">
                <a:latin typeface="Times New Roman"/>
                <a:cs typeface="Times New Roman"/>
              </a:rPr>
              <a:t>the </a:t>
            </a:r>
            <a:r>
              <a:rPr spc="-6" dirty="0">
                <a:latin typeface="Times New Roman"/>
                <a:cs typeface="Times New Roman"/>
              </a:rPr>
              <a:t>other </a:t>
            </a:r>
            <a:r>
              <a:rPr spc="-3" dirty="0">
                <a:latin typeface="Times New Roman"/>
                <a:cs typeface="Times New Roman"/>
              </a:rPr>
              <a:t>two</a:t>
            </a:r>
            <a:r>
              <a:rPr spc="-45" dirty="0">
                <a:latin typeface="Times New Roman"/>
                <a:cs typeface="Times New Roman"/>
              </a:rPr>
              <a:t> </a:t>
            </a:r>
            <a:r>
              <a:rPr spc="-3" dirty="0">
                <a:latin typeface="Times New Roman"/>
                <a:cs typeface="Times New Roman"/>
              </a:rPr>
              <a:t>points.</a:t>
            </a:r>
            <a:endParaRPr lang="en-US" spc="-3" dirty="0">
              <a:latin typeface="Times New Roman"/>
              <a:cs typeface="Times New Roman"/>
            </a:endParaRPr>
          </a:p>
          <a:p>
            <a:pPr marL="8145" algn="just"/>
            <a:r>
              <a:rPr lang="en-US" sz="2400" b="1" i="1" dirty="0">
                <a:latin typeface="Times New Roman"/>
                <a:cs typeface="Times New Roman"/>
              </a:rPr>
              <a:t>3. </a:t>
            </a:r>
            <a:r>
              <a:rPr lang="en-US" sz="2400" b="1" i="1" spc="-3" dirty="0">
                <a:latin typeface="Times New Roman"/>
                <a:cs typeface="Times New Roman"/>
              </a:rPr>
              <a:t>Infrastructure </a:t>
            </a:r>
            <a:r>
              <a:rPr lang="en-US" sz="2400" b="1" i="1" dirty="0">
                <a:latin typeface="Times New Roman"/>
                <a:cs typeface="Times New Roman"/>
              </a:rPr>
              <a:t>components for </a:t>
            </a:r>
            <a:r>
              <a:rPr lang="en-US" sz="2400" b="1" i="1" spc="-6" dirty="0">
                <a:latin typeface="Times New Roman"/>
                <a:cs typeface="Times New Roman"/>
              </a:rPr>
              <a:t>error </a:t>
            </a:r>
            <a:r>
              <a:rPr lang="en-US" sz="2400" b="1" i="1" spc="-3" dirty="0">
                <a:latin typeface="Times New Roman"/>
                <a:cs typeface="Times New Roman"/>
              </a:rPr>
              <a:t>prevention </a:t>
            </a:r>
            <a:r>
              <a:rPr lang="en-US" sz="2400" b="1" i="1" dirty="0">
                <a:latin typeface="Times New Roman"/>
                <a:cs typeface="Times New Roman"/>
              </a:rPr>
              <a:t>and</a:t>
            </a:r>
            <a:r>
              <a:rPr lang="en-US" sz="2400" b="1" i="1" spc="48" dirty="0">
                <a:latin typeface="Times New Roman"/>
                <a:cs typeface="Times New Roman"/>
              </a:rPr>
              <a:t> </a:t>
            </a:r>
            <a:r>
              <a:rPr lang="en-US" sz="2400" b="1" i="1" spc="-3" dirty="0">
                <a:latin typeface="Times New Roman"/>
                <a:cs typeface="Times New Roman"/>
              </a:rPr>
              <a:t>Improvement</a:t>
            </a:r>
            <a:endParaRPr lang="en-US" sz="2400" dirty="0">
              <a:latin typeface="Times New Roman"/>
              <a:cs typeface="Times New Roman"/>
            </a:endParaRPr>
          </a:p>
          <a:p>
            <a:pPr marL="8145" marR="7737" indent="293202" algn="just">
              <a:lnSpc>
                <a:spcPct val="143600"/>
              </a:lnSpc>
              <a:spcBef>
                <a:spcPts val="218"/>
              </a:spcBef>
            </a:pPr>
            <a:r>
              <a:rPr lang="en-US" sz="2000" dirty="0">
                <a:latin typeface="Times New Roman"/>
                <a:cs typeface="Times New Roman"/>
              </a:rPr>
              <a:t>The </a:t>
            </a:r>
            <a:r>
              <a:rPr lang="en-US" sz="2000" spc="-3" dirty="0">
                <a:latin typeface="Times New Roman"/>
                <a:cs typeface="Times New Roman"/>
              </a:rPr>
              <a:t>main goal </a:t>
            </a:r>
            <a:r>
              <a:rPr lang="en-US" sz="2000" spc="-10" dirty="0">
                <a:latin typeface="Times New Roman"/>
                <a:cs typeface="Times New Roman"/>
              </a:rPr>
              <a:t>of </a:t>
            </a:r>
            <a:r>
              <a:rPr lang="en-US" sz="2000" spc="-3" dirty="0">
                <a:latin typeface="Times New Roman"/>
                <a:cs typeface="Times New Roman"/>
              </a:rPr>
              <a:t>this component </a:t>
            </a:r>
            <a:r>
              <a:rPr lang="en-US" sz="2000" spc="-6" dirty="0">
                <a:latin typeface="Times New Roman"/>
                <a:cs typeface="Times New Roman"/>
              </a:rPr>
              <a:t>is </a:t>
            </a:r>
            <a:r>
              <a:rPr lang="en-US" sz="2000" dirty="0">
                <a:latin typeface="Times New Roman"/>
                <a:cs typeface="Times New Roman"/>
              </a:rPr>
              <a:t>to reduce the </a:t>
            </a:r>
            <a:r>
              <a:rPr lang="en-US" sz="2000" spc="-3" dirty="0">
                <a:latin typeface="Times New Roman"/>
                <a:cs typeface="Times New Roman"/>
              </a:rPr>
              <a:t>number </a:t>
            </a:r>
            <a:r>
              <a:rPr lang="en-US" sz="2000" spc="-10" dirty="0">
                <a:latin typeface="Times New Roman"/>
                <a:cs typeface="Times New Roman"/>
              </a:rPr>
              <a:t>of </a:t>
            </a:r>
            <a:r>
              <a:rPr lang="en-US" sz="2000" spc="-3" dirty="0">
                <a:latin typeface="Times New Roman"/>
                <a:cs typeface="Times New Roman"/>
              </a:rPr>
              <a:t>errors </a:t>
            </a:r>
            <a:r>
              <a:rPr lang="en-US" sz="2000" spc="-6" dirty="0">
                <a:latin typeface="Times New Roman"/>
                <a:cs typeface="Times New Roman"/>
              </a:rPr>
              <a:t>in </a:t>
            </a:r>
            <a:r>
              <a:rPr lang="en-US" sz="2000" dirty="0">
                <a:latin typeface="Times New Roman"/>
                <a:cs typeface="Times New Roman"/>
              </a:rPr>
              <a:t>the </a:t>
            </a:r>
            <a:r>
              <a:rPr lang="en-US" sz="2000" spc="3" dirty="0">
                <a:latin typeface="Times New Roman"/>
                <a:cs typeface="Times New Roman"/>
              </a:rPr>
              <a:t>system and </a:t>
            </a:r>
            <a:r>
              <a:rPr lang="en-US" sz="2000" dirty="0">
                <a:latin typeface="Times New Roman"/>
                <a:cs typeface="Times New Roman"/>
              </a:rPr>
              <a:t>improve  </a:t>
            </a:r>
            <a:r>
              <a:rPr lang="en-US" sz="2000" spc="-3" dirty="0">
                <a:latin typeface="Times New Roman"/>
                <a:cs typeface="Times New Roman"/>
              </a:rPr>
              <a:t>productivity. This </a:t>
            </a:r>
            <a:r>
              <a:rPr lang="en-US" sz="2000" spc="-6" dirty="0">
                <a:latin typeface="Times New Roman"/>
                <a:cs typeface="Times New Roman"/>
              </a:rPr>
              <a:t>is </a:t>
            </a:r>
            <a:r>
              <a:rPr lang="en-US" sz="2000" spc="-3" dirty="0">
                <a:latin typeface="Times New Roman"/>
                <a:cs typeface="Times New Roman"/>
              </a:rPr>
              <a:t>achieved </a:t>
            </a:r>
            <a:r>
              <a:rPr lang="en-US" sz="2000" dirty="0">
                <a:latin typeface="Times New Roman"/>
                <a:cs typeface="Times New Roman"/>
              </a:rPr>
              <a:t>through the </a:t>
            </a:r>
            <a:r>
              <a:rPr lang="en-US" sz="2000" spc="6" dirty="0">
                <a:latin typeface="Times New Roman"/>
                <a:cs typeface="Times New Roman"/>
              </a:rPr>
              <a:t>use </a:t>
            </a:r>
            <a:r>
              <a:rPr lang="en-US" sz="2000" spc="-10" dirty="0">
                <a:latin typeface="Times New Roman"/>
                <a:cs typeface="Times New Roman"/>
              </a:rPr>
              <a:t>of </a:t>
            </a:r>
            <a:r>
              <a:rPr lang="en-US" sz="2000" dirty="0">
                <a:latin typeface="Times New Roman"/>
                <a:cs typeface="Times New Roman"/>
              </a:rPr>
              <a:t>a </a:t>
            </a:r>
            <a:r>
              <a:rPr lang="en-US" sz="2000" spc="-6" dirty="0">
                <a:latin typeface="Times New Roman"/>
                <a:cs typeface="Times New Roman"/>
              </a:rPr>
              <a:t>number </a:t>
            </a:r>
            <a:r>
              <a:rPr lang="en-US" sz="2000" spc="-10" dirty="0">
                <a:latin typeface="Times New Roman"/>
                <a:cs typeface="Times New Roman"/>
              </a:rPr>
              <a:t>of</a:t>
            </a:r>
            <a:r>
              <a:rPr lang="en-US" sz="2000" spc="29" dirty="0">
                <a:latin typeface="Times New Roman"/>
                <a:cs typeface="Times New Roman"/>
              </a:rPr>
              <a:t> </a:t>
            </a:r>
            <a:r>
              <a:rPr lang="en-US" sz="2000" dirty="0">
                <a:latin typeface="Times New Roman"/>
                <a:cs typeface="Times New Roman"/>
              </a:rPr>
              <a:t>sub-components.</a:t>
            </a:r>
          </a:p>
          <a:p>
            <a:pPr marL="8145" algn="just">
              <a:spcBef>
                <a:spcPts val="369"/>
              </a:spcBef>
            </a:pPr>
            <a:r>
              <a:rPr lang="en-US" sz="2000" dirty="0">
                <a:latin typeface="Times New Roman"/>
                <a:cs typeface="Times New Roman"/>
              </a:rPr>
              <a:t>1. </a:t>
            </a:r>
            <a:r>
              <a:rPr lang="en-US" sz="2000" spc="-3" dirty="0">
                <a:latin typeface="Times New Roman"/>
                <a:cs typeface="Times New Roman"/>
              </a:rPr>
              <a:t>Procedures and </a:t>
            </a:r>
            <a:r>
              <a:rPr lang="en-US" sz="2000" dirty="0">
                <a:latin typeface="Times New Roman"/>
                <a:cs typeface="Times New Roman"/>
              </a:rPr>
              <a:t>Work</a:t>
            </a:r>
            <a:r>
              <a:rPr lang="en-US" sz="2000" spc="-35" dirty="0">
                <a:latin typeface="Times New Roman"/>
                <a:cs typeface="Times New Roman"/>
              </a:rPr>
              <a:t> </a:t>
            </a:r>
            <a:r>
              <a:rPr lang="en-US" sz="2000" spc="-3" dirty="0">
                <a:latin typeface="Times New Roman"/>
                <a:cs typeface="Times New Roman"/>
              </a:rPr>
              <a:t>Instructions</a:t>
            </a:r>
            <a:endParaRPr lang="en-US" sz="2000" dirty="0">
              <a:latin typeface="Times New Roman"/>
              <a:cs typeface="Times New Roman"/>
            </a:endParaRPr>
          </a:p>
          <a:p>
            <a:pPr marL="12700" algn="just">
              <a:lnSpc>
                <a:spcPct val="100000"/>
              </a:lnSpc>
            </a:pPr>
            <a:r>
              <a:rPr lang="en-US" sz="2000" dirty="0">
                <a:latin typeface="Times New Roman"/>
                <a:cs typeface="Times New Roman"/>
              </a:rPr>
              <a:t>A procedure </a:t>
            </a:r>
            <a:r>
              <a:rPr lang="en-US" sz="2000" spc="-3" dirty="0">
                <a:latin typeface="Times New Roman"/>
                <a:cs typeface="Times New Roman"/>
              </a:rPr>
              <a:t>describes </a:t>
            </a:r>
            <a:r>
              <a:rPr lang="en-US" sz="2000" dirty="0">
                <a:latin typeface="Times New Roman"/>
                <a:cs typeface="Times New Roman"/>
              </a:rPr>
              <a:t>how the process, a </a:t>
            </a:r>
            <a:r>
              <a:rPr lang="en-US" sz="2000" spc="-6" dirty="0">
                <a:latin typeface="Times New Roman"/>
                <a:cs typeface="Times New Roman"/>
              </a:rPr>
              <a:t>specific development </a:t>
            </a:r>
            <a:r>
              <a:rPr lang="en-US" sz="2000" spc="-3" dirty="0">
                <a:latin typeface="Times New Roman"/>
                <a:cs typeface="Times New Roman"/>
              </a:rPr>
              <a:t>activity, </a:t>
            </a:r>
            <a:r>
              <a:rPr lang="en-US" sz="2000" spc="-6" dirty="0">
                <a:latin typeface="Times New Roman"/>
                <a:cs typeface="Times New Roman"/>
              </a:rPr>
              <a:t>is </a:t>
            </a:r>
            <a:r>
              <a:rPr lang="en-US" sz="2000" spc="-3" dirty="0">
                <a:latin typeface="Times New Roman"/>
                <a:cs typeface="Times New Roman"/>
              </a:rPr>
              <a:t>performed </a:t>
            </a:r>
            <a:r>
              <a:rPr lang="en-US" sz="2000" spc="-6" dirty="0">
                <a:latin typeface="Times New Roman"/>
                <a:cs typeface="Times New Roman"/>
              </a:rPr>
              <a:t>whilst </a:t>
            </a:r>
            <a:r>
              <a:rPr lang="en-US" sz="2000" dirty="0">
                <a:latin typeface="Times New Roman"/>
                <a:cs typeface="Times New Roman"/>
              </a:rPr>
              <a:t>a  </a:t>
            </a:r>
            <a:r>
              <a:rPr lang="en-US" sz="2000" spc="-3" dirty="0">
                <a:latin typeface="Times New Roman"/>
                <a:cs typeface="Times New Roman"/>
              </a:rPr>
              <a:t>work  instruction  </a:t>
            </a:r>
            <a:r>
              <a:rPr lang="en-US" sz="2000" spc="-6" dirty="0">
                <a:latin typeface="Times New Roman"/>
                <a:cs typeface="Times New Roman"/>
              </a:rPr>
              <a:t>is  more </a:t>
            </a:r>
            <a:r>
              <a:rPr lang="en-US" sz="2000" dirty="0">
                <a:latin typeface="Times New Roman"/>
                <a:cs typeface="Times New Roman"/>
              </a:rPr>
              <a:t>specific  </a:t>
            </a:r>
            <a:r>
              <a:rPr lang="en-US" sz="2000" spc="3" dirty="0">
                <a:latin typeface="Times New Roman"/>
                <a:cs typeface="Times New Roman"/>
              </a:rPr>
              <a:t>and </a:t>
            </a:r>
            <a:r>
              <a:rPr lang="en-US" sz="2000" spc="-3" dirty="0">
                <a:latin typeface="Times New Roman"/>
                <a:cs typeface="Times New Roman"/>
              </a:rPr>
              <a:t>provides  detailed  directions  </a:t>
            </a:r>
            <a:r>
              <a:rPr lang="en-US" sz="2000" spc="-10" dirty="0">
                <a:latin typeface="Times New Roman"/>
                <a:cs typeface="Times New Roman"/>
              </a:rPr>
              <a:t>for  </a:t>
            </a:r>
            <a:r>
              <a:rPr lang="en-US" sz="2000" dirty="0">
                <a:latin typeface="Times New Roman"/>
                <a:cs typeface="Times New Roman"/>
              </a:rPr>
              <a:t>the </a:t>
            </a:r>
            <a:r>
              <a:rPr lang="en-US" sz="2000" spc="6" dirty="0">
                <a:latin typeface="Times New Roman"/>
                <a:cs typeface="Times New Roman"/>
              </a:rPr>
              <a:t>use </a:t>
            </a:r>
            <a:r>
              <a:rPr lang="en-US" sz="2000" spc="-10" dirty="0">
                <a:latin typeface="Times New Roman"/>
                <a:cs typeface="Times New Roman"/>
              </a:rPr>
              <a:t>of  </a:t>
            </a:r>
            <a:r>
              <a:rPr lang="en-US" sz="2000" spc="-3" dirty="0">
                <a:latin typeface="Times New Roman"/>
                <a:cs typeface="Times New Roman"/>
              </a:rPr>
              <a:t>methods.  Having   </a:t>
            </a:r>
            <a:r>
              <a:rPr lang="en-US" sz="2000" dirty="0">
                <a:latin typeface="Times New Roman"/>
                <a:cs typeface="Times New Roman"/>
              </a:rPr>
              <a:t> a </a:t>
            </a:r>
            <a:r>
              <a:rPr lang="en-US" sz="2000" spc="-5" dirty="0">
                <a:latin typeface="Times New Roman"/>
                <a:cs typeface="Times New Roman"/>
              </a:rPr>
              <a:t>detailed </a:t>
            </a:r>
            <a:r>
              <a:rPr lang="en-US" sz="2000" dirty="0">
                <a:latin typeface="Times New Roman"/>
                <a:cs typeface="Times New Roman"/>
              </a:rPr>
              <a:t>guideline </a:t>
            </a:r>
            <a:r>
              <a:rPr lang="en-US" sz="2000" spc="-10" dirty="0">
                <a:latin typeface="Times New Roman"/>
                <a:cs typeface="Times New Roman"/>
              </a:rPr>
              <a:t>ensures </a:t>
            </a:r>
            <a:r>
              <a:rPr lang="en-US" sz="2000" spc="-5" dirty="0">
                <a:latin typeface="Times New Roman"/>
                <a:cs typeface="Times New Roman"/>
              </a:rPr>
              <a:t>that all members </a:t>
            </a:r>
            <a:r>
              <a:rPr lang="en-US" sz="2000" dirty="0">
                <a:latin typeface="Times New Roman"/>
                <a:cs typeface="Times New Roman"/>
              </a:rPr>
              <a:t>know how </a:t>
            </a:r>
            <a:r>
              <a:rPr lang="en-US" sz="2000" spc="10" dirty="0">
                <a:latin typeface="Times New Roman"/>
                <a:cs typeface="Times New Roman"/>
              </a:rPr>
              <a:t>to </a:t>
            </a:r>
            <a:r>
              <a:rPr lang="en-US" sz="2000" dirty="0">
                <a:latin typeface="Times New Roman"/>
                <a:cs typeface="Times New Roman"/>
              </a:rPr>
              <a:t>achieve </a:t>
            </a:r>
            <a:r>
              <a:rPr lang="en-US" sz="2000" spc="-5" dirty="0">
                <a:latin typeface="Times New Roman"/>
                <a:cs typeface="Times New Roman"/>
              </a:rPr>
              <a:t>some </a:t>
            </a:r>
            <a:r>
              <a:rPr lang="en-US" sz="2000" spc="-10" dirty="0">
                <a:latin typeface="Times New Roman"/>
                <a:cs typeface="Times New Roman"/>
              </a:rPr>
              <a:t>goal.</a:t>
            </a:r>
            <a:endParaRPr lang="en-US" sz="2000" dirty="0">
              <a:latin typeface="Times New Roman"/>
              <a:cs typeface="Times New Roman"/>
            </a:endParaRPr>
          </a:p>
          <a:p>
            <a:pPr marL="12700" marR="7620">
              <a:lnSpc>
                <a:spcPct val="143600"/>
              </a:lnSpc>
            </a:pPr>
            <a:r>
              <a:rPr lang="en-US" sz="2000" i="1" dirty="0">
                <a:latin typeface="Times New Roman"/>
                <a:cs typeface="Times New Roman"/>
              </a:rPr>
              <a:t>“Work </a:t>
            </a:r>
            <a:r>
              <a:rPr lang="en-US" sz="2000" i="1" spc="-5" dirty="0">
                <a:latin typeface="Times New Roman"/>
                <a:cs typeface="Times New Roman"/>
              </a:rPr>
              <a:t>instructions </a:t>
            </a:r>
            <a:r>
              <a:rPr lang="en-US" sz="2000" i="1" dirty="0">
                <a:latin typeface="Times New Roman"/>
                <a:cs typeface="Times New Roman"/>
              </a:rPr>
              <a:t>and </a:t>
            </a:r>
            <a:r>
              <a:rPr lang="en-US" sz="2000" i="1" spc="-5" dirty="0">
                <a:latin typeface="Times New Roman"/>
                <a:cs typeface="Times New Roman"/>
              </a:rPr>
              <a:t>procedures contribute </a:t>
            </a:r>
            <a:r>
              <a:rPr lang="en-US" sz="2000" i="1" dirty="0">
                <a:latin typeface="Times New Roman"/>
                <a:cs typeface="Times New Roman"/>
              </a:rPr>
              <a:t>to the </a:t>
            </a:r>
            <a:r>
              <a:rPr lang="en-US" sz="2000" i="1" spc="-5" dirty="0">
                <a:latin typeface="Times New Roman"/>
                <a:cs typeface="Times New Roman"/>
              </a:rPr>
              <a:t>correct </a:t>
            </a:r>
            <a:r>
              <a:rPr lang="en-US" sz="2000" i="1" dirty="0">
                <a:latin typeface="Times New Roman"/>
                <a:cs typeface="Times New Roman"/>
              </a:rPr>
              <a:t>and </a:t>
            </a:r>
            <a:r>
              <a:rPr lang="en-US" sz="2000" i="1" spc="-5" dirty="0">
                <a:latin typeface="Times New Roman"/>
                <a:cs typeface="Times New Roman"/>
              </a:rPr>
              <a:t>effective </a:t>
            </a:r>
            <a:r>
              <a:rPr lang="en-US" sz="2000" i="1" dirty="0">
                <a:latin typeface="Times New Roman"/>
                <a:cs typeface="Times New Roman"/>
              </a:rPr>
              <a:t>performance of </a:t>
            </a:r>
            <a:r>
              <a:rPr lang="en-US" sz="2000" i="1" spc="-5" dirty="0">
                <a:latin typeface="Times New Roman"/>
                <a:cs typeface="Times New Roman"/>
              </a:rPr>
              <a:t>established  technologies </a:t>
            </a:r>
            <a:r>
              <a:rPr lang="en-US" sz="2000" i="1" dirty="0">
                <a:latin typeface="Times New Roman"/>
                <a:cs typeface="Times New Roman"/>
              </a:rPr>
              <a:t>and</a:t>
            </a:r>
            <a:r>
              <a:rPr lang="en-US" sz="2000" i="1" spc="-15" dirty="0">
                <a:latin typeface="Times New Roman"/>
                <a:cs typeface="Times New Roman"/>
              </a:rPr>
              <a:t> </a:t>
            </a:r>
            <a:r>
              <a:rPr lang="en-US" sz="2000" i="1" spc="-5" dirty="0">
                <a:latin typeface="Times New Roman"/>
                <a:cs typeface="Times New Roman"/>
              </a:rPr>
              <a:t>routines”</a:t>
            </a:r>
            <a:endParaRPr lang="en-US" sz="2000" dirty="0">
              <a:latin typeface="Times New Roman"/>
              <a:cs typeface="Times New Roman"/>
            </a:endParaRPr>
          </a:p>
          <a:p>
            <a:pPr marL="8145" marR="8959" indent="293202" algn="just">
              <a:lnSpc>
                <a:spcPct val="143700"/>
              </a:lnSpc>
            </a:pPr>
            <a:endParaRPr lang="en-US" sz="2000" dirty="0">
              <a:latin typeface="Times New Roman"/>
              <a:cs typeface="Times New Roman"/>
            </a:endParaRPr>
          </a:p>
          <a:p>
            <a:pPr marL="8145" marR="7737" indent="293202" algn="just">
              <a:lnSpc>
                <a:spcPct val="143700"/>
              </a:lnSpc>
            </a:pPr>
            <a:endParaRPr sz="2400" dirty="0">
              <a:latin typeface="Times New Roman"/>
              <a:cs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4E0BBB-E370-C206-38A5-D00C5E148021}"/>
              </a:ext>
            </a:extLst>
          </p:cNvPr>
          <p:cNvSpPr txBox="1"/>
          <p:nvPr/>
        </p:nvSpPr>
        <p:spPr>
          <a:xfrm>
            <a:off x="353956" y="0"/>
            <a:ext cx="11838044" cy="6408934"/>
          </a:xfrm>
          <a:prstGeom prst="rect">
            <a:avLst/>
          </a:prstGeom>
          <a:noFill/>
        </p:spPr>
        <p:txBody>
          <a:bodyPr wrap="square">
            <a:spAutoFit/>
          </a:bodyPr>
          <a:lstStyle/>
          <a:p>
            <a:pPr marL="152400" indent="-139700" algn="just">
              <a:lnSpc>
                <a:spcPct val="100000"/>
              </a:lnSpc>
              <a:spcBef>
                <a:spcPts val="575"/>
              </a:spcBef>
              <a:buAutoNum type="arabicPeriod" startAt="2"/>
              <a:tabLst>
                <a:tab pos="153035" algn="l"/>
              </a:tabLst>
            </a:pPr>
            <a:r>
              <a:rPr lang="en-US" sz="2400" spc="-5" dirty="0">
                <a:latin typeface="Times New Roman"/>
                <a:cs typeface="Times New Roman"/>
              </a:rPr>
              <a:t>Supporting Quality</a:t>
            </a:r>
            <a:r>
              <a:rPr lang="en-US" sz="2400" spc="-70" dirty="0">
                <a:latin typeface="Times New Roman"/>
                <a:cs typeface="Times New Roman"/>
              </a:rPr>
              <a:t> </a:t>
            </a:r>
            <a:r>
              <a:rPr lang="en-US" sz="2400" spc="-5" dirty="0">
                <a:latin typeface="Times New Roman"/>
                <a:cs typeface="Times New Roman"/>
              </a:rPr>
              <a:t>Devices</a:t>
            </a:r>
            <a:endParaRPr lang="en-US" sz="2400" dirty="0">
              <a:latin typeface="Times New Roman"/>
              <a:cs typeface="Times New Roman"/>
            </a:endParaRPr>
          </a:p>
          <a:p>
            <a:pPr marL="12700" marR="7620" indent="457200" algn="just">
              <a:lnSpc>
                <a:spcPct val="143700"/>
              </a:lnSpc>
            </a:pPr>
            <a:r>
              <a:rPr lang="en-US" sz="2400" dirty="0">
                <a:latin typeface="Times New Roman"/>
                <a:cs typeface="Times New Roman"/>
              </a:rPr>
              <a:t>‘Quality Devices’ are used to </a:t>
            </a:r>
            <a:r>
              <a:rPr lang="en-US" sz="2400" dirty="0" err="1">
                <a:latin typeface="Times New Roman"/>
                <a:cs typeface="Times New Roman"/>
              </a:rPr>
              <a:t>maximise</a:t>
            </a:r>
            <a:r>
              <a:rPr lang="en-US" sz="2400" dirty="0">
                <a:latin typeface="Times New Roman"/>
                <a:cs typeface="Times New Roman"/>
              </a:rPr>
              <a:t> efficiency and quality. A quality device could be a  template or a checklist which saves time as the document will be complete and will not have to be  developed, from scratch each time.</a:t>
            </a:r>
          </a:p>
          <a:p>
            <a:pPr marL="12700" marR="7620" indent="457200" algn="just">
              <a:lnSpc>
                <a:spcPct val="143700"/>
              </a:lnSpc>
              <a:spcBef>
                <a:spcPts val="140"/>
              </a:spcBef>
            </a:pPr>
            <a:r>
              <a:rPr lang="en-US" sz="2400" dirty="0">
                <a:latin typeface="Times New Roman"/>
                <a:cs typeface="Times New Roman"/>
              </a:rPr>
              <a:t>Using Quality Devices offers an improved form of communication and provides </a:t>
            </a:r>
            <a:r>
              <a:rPr lang="en-US" sz="2400" dirty="0" err="1">
                <a:latin typeface="Times New Roman"/>
                <a:cs typeface="Times New Roman"/>
              </a:rPr>
              <a:t>standardisation</a:t>
            </a:r>
            <a:r>
              <a:rPr lang="en-US" sz="2400" dirty="0">
                <a:latin typeface="Times New Roman"/>
                <a:cs typeface="Times New Roman"/>
              </a:rPr>
              <a:t> within  the </a:t>
            </a:r>
            <a:r>
              <a:rPr lang="en-US" sz="2400" dirty="0" err="1">
                <a:latin typeface="Times New Roman"/>
                <a:cs typeface="Times New Roman"/>
              </a:rPr>
              <a:t>organisation</a:t>
            </a:r>
            <a:r>
              <a:rPr lang="en-US" sz="2400" dirty="0">
                <a:latin typeface="Times New Roman"/>
                <a:cs typeface="Times New Roman"/>
              </a:rPr>
              <a:t> as each document will be of the same nature.</a:t>
            </a:r>
          </a:p>
          <a:p>
            <a:pPr marL="12700" marR="5080">
              <a:lnSpc>
                <a:spcPts val="1920"/>
              </a:lnSpc>
              <a:spcBef>
                <a:spcPts val="140"/>
              </a:spcBef>
            </a:pPr>
            <a:endParaRPr lang="en-US" sz="2400" dirty="0">
              <a:latin typeface="Times New Roman"/>
              <a:cs typeface="Times New Roman"/>
            </a:endParaRPr>
          </a:p>
          <a:p>
            <a:pPr marL="152400" indent="-139700" algn="just">
              <a:lnSpc>
                <a:spcPct val="100000"/>
              </a:lnSpc>
              <a:spcBef>
                <a:spcPts val="409"/>
              </a:spcBef>
              <a:buAutoNum type="arabicPeriod" startAt="3"/>
              <a:tabLst>
                <a:tab pos="153035" algn="l"/>
              </a:tabLst>
            </a:pPr>
            <a:r>
              <a:rPr lang="en-US" sz="2400" spc="-5" dirty="0">
                <a:latin typeface="Times New Roman"/>
                <a:cs typeface="Times New Roman"/>
              </a:rPr>
              <a:t>Staff Training, Instruction and</a:t>
            </a:r>
            <a:r>
              <a:rPr lang="en-US" sz="2400" spc="10" dirty="0">
                <a:latin typeface="Times New Roman"/>
                <a:cs typeface="Times New Roman"/>
              </a:rPr>
              <a:t> </a:t>
            </a:r>
            <a:r>
              <a:rPr lang="en-US" sz="2400" spc="-5" dirty="0">
                <a:latin typeface="Times New Roman"/>
                <a:cs typeface="Times New Roman"/>
              </a:rPr>
              <a:t>Certification</a:t>
            </a:r>
            <a:endParaRPr lang="en-US" sz="2400" dirty="0">
              <a:latin typeface="Times New Roman"/>
              <a:cs typeface="Times New Roman"/>
            </a:endParaRPr>
          </a:p>
          <a:p>
            <a:pPr marL="12700" marR="7620" indent="457200" algn="just">
              <a:lnSpc>
                <a:spcPct val="143700"/>
              </a:lnSpc>
            </a:pPr>
            <a:r>
              <a:rPr lang="en-US" sz="2400" dirty="0">
                <a:latin typeface="Times New Roman"/>
                <a:cs typeface="Times New Roman"/>
              </a:rPr>
              <a:t>Staff training is a vital element to avoiding errors throughout the development of the system.  Having well trained professional staff enables efficient and high quality performance from each member.  New staff have to be trained in respect to the standards and procedures of the </a:t>
            </a:r>
            <a:r>
              <a:rPr lang="en-US" sz="2400" dirty="0" err="1">
                <a:latin typeface="Times New Roman"/>
                <a:cs typeface="Times New Roman"/>
              </a:rPr>
              <a:t>organisation</a:t>
            </a:r>
            <a:r>
              <a:rPr lang="en-US" sz="2400" dirty="0">
                <a:latin typeface="Times New Roman"/>
                <a:cs typeface="Times New Roman"/>
              </a:rPr>
              <a:t> and existing  staff should be re-trained when assignments change.</a:t>
            </a:r>
          </a:p>
        </p:txBody>
      </p:sp>
    </p:spTree>
    <p:extLst>
      <p:ext uri="{BB962C8B-B14F-4D97-AF65-F5344CB8AC3E}">
        <p14:creationId xmlns:p14="http://schemas.microsoft.com/office/powerpoint/2010/main" val="26127441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029863" y="5946601"/>
            <a:ext cx="134391" cy="108491"/>
          </a:xfrm>
          <a:prstGeom prst="rect">
            <a:avLst/>
          </a:prstGeom>
        </p:spPr>
        <p:txBody>
          <a:bodyPr vert="horz" wrap="square" lIns="0" tIns="0" rIns="0" bIns="0" rtlCol="0">
            <a:spAutoFit/>
          </a:bodyPr>
          <a:lstStyle/>
          <a:p>
            <a:pPr marL="16289"/>
            <a:fld id="{81D60167-4931-47E6-BA6A-407CBD079E47}" type="slidenum">
              <a:rPr sz="705" dirty="0">
                <a:latin typeface="Arial"/>
                <a:cs typeface="Arial"/>
              </a:rPr>
              <a:pPr marL="16289"/>
              <a:t>26</a:t>
            </a:fld>
            <a:endParaRPr sz="705">
              <a:latin typeface="Arial"/>
              <a:cs typeface="Arial"/>
            </a:endParaRPr>
          </a:p>
        </p:txBody>
      </p:sp>
      <p:sp>
        <p:nvSpPr>
          <p:cNvPr id="2" name="object 2"/>
          <p:cNvSpPr txBox="1"/>
          <p:nvPr/>
        </p:nvSpPr>
        <p:spPr>
          <a:xfrm>
            <a:off x="500440" y="625707"/>
            <a:ext cx="11327627" cy="3520836"/>
          </a:xfrm>
          <a:prstGeom prst="rect">
            <a:avLst/>
          </a:prstGeom>
        </p:spPr>
        <p:txBody>
          <a:bodyPr vert="horz" wrap="square" lIns="0" tIns="0" rIns="0" bIns="0" rtlCol="0">
            <a:spAutoFit/>
          </a:bodyPr>
          <a:lstStyle/>
          <a:p>
            <a:pPr marL="97734" indent="-89590" algn="just">
              <a:spcBef>
                <a:spcPts val="369"/>
              </a:spcBef>
              <a:buAutoNum type="arabicPeriod" startAt="4"/>
              <a:tabLst>
                <a:tab pos="98141" algn="l"/>
              </a:tabLst>
            </a:pPr>
            <a:r>
              <a:rPr sz="2400" spc="-3" dirty="0">
                <a:latin typeface="Times New Roman"/>
                <a:cs typeface="Times New Roman"/>
              </a:rPr>
              <a:t>Preventive </a:t>
            </a:r>
            <a:r>
              <a:rPr sz="2400" spc="3" dirty="0">
                <a:latin typeface="Times New Roman"/>
                <a:cs typeface="Times New Roman"/>
              </a:rPr>
              <a:t>and </a:t>
            </a:r>
            <a:r>
              <a:rPr sz="2400" dirty="0">
                <a:latin typeface="Times New Roman"/>
                <a:cs typeface="Times New Roman"/>
              </a:rPr>
              <a:t>Corrective</a:t>
            </a:r>
            <a:r>
              <a:rPr sz="2400" spc="-58" dirty="0">
                <a:latin typeface="Times New Roman"/>
                <a:cs typeface="Times New Roman"/>
              </a:rPr>
              <a:t> </a:t>
            </a:r>
            <a:r>
              <a:rPr sz="2400" spc="-6" dirty="0">
                <a:latin typeface="Times New Roman"/>
                <a:cs typeface="Times New Roman"/>
              </a:rPr>
              <a:t>Actions</a:t>
            </a:r>
            <a:endParaRPr sz="2400" dirty="0">
              <a:latin typeface="Times New Roman"/>
              <a:cs typeface="Times New Roman"/>
            </a:endParaRPr>
          </a:p>
          <a:p>
            <a:pPr marL="8145" marR="5294" indent="293202" algn="just">
              <a:lnSpc>
                <a:spcPct val="143600"/>
              </a:lnSpc>
            </a:pPr>
            <a:r>
              <a:rPr sz="2400" spc="-3" dirty="0">
                <a:latin typeface="Times New Roman"/>
                <a:cs typeface="Times New Roman"/>
              </a:rPr>
              <a:t>Studying existing data </a:t>
            </a:r>
            <a:r>
              <a:rPr sz="2400" spc="-10" dirty="0">
                <a:latin typeface="Times New Roman"/>
                <a:cs typeface="Times New Roman"/>
              </a:rPr>
              <a:t>for </a:t>
            </a:r>
            <a:r>
              <a:rPr sz="2400" spc="-3" dirty="0">
                <a:latin typeface="Times New Roman"/>
                <a:cs typeface="Times New Roman"/>
              </a:rPr>
              <a:t>similar faults and </a:t>
            </a:r>
            <a:r>
              <a:rPr sz="2400" spc="-6" dirty="0">
                <a:latin typeface="Times New Roman"/>
                <a:cs typeface="Times New Roman"/>
              </a:rPr>
              <a:t>failures </a:t>
            </a:r>
            <a:r>
              <a:rPr sz="2400" dirty="0">
                <a:latin typeface="Times New Roman"/>
                <a:cs typeface="Times New Roman"/>
              </a:rPr>
              <a:t>can </a:t>
            </a:r>
            <a:r>
              <a:rPr sz="2400" spc="-3" dirty="0">
                <a:latin typeface="Times New Roman"/>
                <a:cs typeface="Times New Roman"/>
              </a:rPr>
              <a:t>enable </a:t>
            </a:r>
            <a:r>
              <a:rPr sz="2400" dirty="0">
                <a:latin typeface="Times New Roman"/>
                <a:cs typeface="Times New Roman"/>
              </a:rPr>
              <a:t>future </a:t>
            </a:r>
            <a:r>
              <a:rPr sz="2400" spc="-3" dirty="0">
                <a:latin typeface="Times New Roman"/>
                <a:cs typeface="Times New Roman"/>
              </a:rPr>
              <a:t>ones </a:t>
            </a:r>
            <a:r>
              <a:rPr sz="2400" dirty="0">
                <a:latin typeface="Times New Roman"/>
                <a:cs typeface="Times New Roman"/>
              </a:rPr>
              <a:t>to be solved </a:t>
            </a:r>
            <a:r>
              <a:rPr sz="2400" spc="-6" dirty="0">
                <a:latin typeface="Times New Roman"/>
                <a:cs typeface="Times New Roman"/>
              </a:rPr>
              <a:t>easily  either </a:t>
            </a:r>
            <a:r>
              <a:rPr sz="2400" dirty="0">
                <a:latin typeface="Times New Roman"/>
                <a:cs typeface="Times New Roman"/>
              </a:rPr>
              <a:t>by </a:t>
            </a:r>
            <a:r>
              <a:rPr sz="2400" spc="-3" dirty="0">
                <a:latin typeface="Times New Roman"/>
                <a:cs typeface="Times New Roman"/>
              </a:rPr>
              <a:t>correcting </a:t>
            </a:r>
            <a:r>
              <a:rPr sz="2400" spc="-6" dirty="0">
                <a:latin typeface="Times New Roman"/>
                <a:cs typeface="Times New Roman"/>
              </a:rPr>
              <a:t>it </a:t>
            </a:r>
            <a:r>
              <a:rPr sz="2400" spc="-3" dirty="0">
                <a:latin typeface="Times New Roman"/>
                <a:cs typeface="Times New Roman"/>
              </a:rPr>
              <a:t>once </a:t>
            </a:r>
            <a:r>
              <a:rPr sz="2400" spc="-6" dirty="0">
                <a:latin typeface="Times New Roman"/>
                <a:cs typeface="Times New Roman"/>
              </a:rPr>
              <a:t>it </a:t>
            </a:r>
            <a:r>
              <a:rPr sz="2400" spc="-3" dirty="0">
                <a:latin typeface="Times New Roman"/>
                <a:cs typeface="Times New Roman"/>
              </a:rPr>
              <a:t>has occurred </a:t>
            </a:r>
            <a:r>
              <a:rPr sz="2400" spc="-10" dirty="0">
                <a:latin typeface="Times New Roman"/>
                <a:cs typeface="Times New Roman"/>
              </a:rPr>
              <a:t>or </a:t>
            </a:r>
            <a:r>
              <a:rPr sz="2400" dirty="0">
                <a:latin typeface="Times New Roman"/>
                <a:cs typeface="Times New Roman"/>
              </a:rPr>
              <a:t>by </a:t>
            </a:r>
            <a:r>
              <a:rPr sz="2400" spc="-3" dirty="0">
                <a:latin typeface="Times New Roman"/>
                <a:cs typeface="Times New Roman"/>
              </a:rPr>
              <a:t>preventing </a:t>
            </a:r>
            <a:r>
              <a:rPr sz="2400" spc="-6" dirty="0">
                <a:latin typeface="Times New Roman"/>
                <a:cs typeface="Times New Roman"/>
              </a:rPr>
              <a:t>it </a:t>
            </a:r>
            <a:r>
              <a:rPr sz="2400" dirty="0">
                <a:latin typeface="Times New Roman"/>
                <a:cs typeface="Times New Roman"/>
              </a:rPr>
              <a:t>from</a:t>
            </a:r>
            <a:r>
              <a:rPr sz="2400" spc="131" dirty="0">
                <a:latin typeface="Times New Roman"/>
                <a:cs typeface="Times New Roman"/>
              </a:rPr>
              <a:t> </a:t>
            </a:r>
            <a:r>
              <a:rPr sz="2400" spc="-3" dirty="0">
                <a:latin typeface="Times New Roman"/>
                <a:cs typeface="Times New Roman"/>
              </a:rPr>
              <a:t>happening.</a:t>
            </a:r>
            <a:endParaRPr sz="2400" dirty="0">
              <a:latin typeface="Times New Roman"/>
              <a:cs typeface="Times New Roman"/>
            </a:endParaRPr>
          </a:p>
          <a:p>
            <a:pPr marL="8145" marR="6923" algn="just">
              <a:lnSpc>
                <a:spcPct val="143700"/>
              </a:lnSpc>
            </a:pPr>
            <a:r>
              <a:rPr sz="2400" dirty="0">
                <a:latin typeface="Times New Roman"/>
                <a:cs typeface="Times New Roman"/>
              </a:rPr>
              <a:t>The </a:t>
            </a:r>
            <a:r>
              <a:rPr sz="2400" spc="-3" dirty="0">
                <a:latin typeface="Times New Roman"/>
                <a:cs typeface="Times New Roman"/>
              </a:rPr>
              <a:t>data </a:t>
            </a:r>
            <a:r>
              <a:rPr sz="2400" spc="-6" dirty="0">
                <a:latin typeface="Times New Roman"/>
                <a:cs typeface="Times New Roman"/>
              </a:rPr>
              <a:t>should </a:t>
            </a:r>
            <a:r>
              <a:rPr sz="2400" spc="6" dirty="0">
                <a:latin typeface="Times New Roman"/>
                <a:cs typeface="Times New Roman"/>
              </a:rPr>
              <a:t>be </a:t>
            </a:r>
            <a:r>
              <a:rPr sz="2400" spc="-3" dirty="0">
                <a:latin typeface="Times New Roman"/>
                <a:cs typeface="Times New Roman"/>
              </a:rPr>
              <a:t>recorded, </a:t>
            </a:r>
            <a:r>
              <a:rPr sz="2400" spc="-10" dirty="0">
                <a:latin typeface="Times New Roman"/>
                <a:cs typeface="Times New Roman"/>
              </a:rPr>
              <a:t>or </a:t>
            </a:r>
            <a:r>
              <a:rPr sz="2400" spc="-3" dirty="0">
                <a:latin typeface="Times New Roman"/>
                <a:cs typeface="Times New Roman"/>
              </a:rPr>
              <a:t>found, </a:t>
            </a:r>
            <a:r>
              <a:rPr sz="2400" spc="-6" dirty="0">
                <a:latin typeface="Times New Roman"/>
                <a:cs typeface="Times New Roman"/>
              </a:rPr>
              <a:t>in </a:t>
            </a:r>
            <a:r>
              <a:rPr sz="2400" dirty="0">
                <a:latin typeface="Times New Roman"/>
                <a:cs typeface="Times New Roman"/>
              </a:rPr>
              <a:t>design </a:t>
            </a:r>
            <a:r>
              <a:rPr sz="2400" spc="3" dirty="0">
                <a:latin typeface="Times New Roman"/>
                <a:cs typeface="Times New Roman"/>
              </a:rPr>
              <a:t>review </a:t>
            </a:r>
            <a:r>
              <a:rPr sz="2400" dirty="0">
                <a:latin typeface="Times New Roman"/>
                <a:cs typeface="Times New Roman"/>
              </a:rPr>
              <a:t>reports, </a:t>
            </a:r>
            <a:r>
              <a:rPr sz="2400" spc="-3" dirty="0">
                <a:latin typeface="Times New Roman"/>
                <a:cs typeface="Times New Roman"/>
              </a:rPr>
              <a:t>software </a:t>
            </a:r>
            <a:r>
              <a:rPr sz="2400" spc="-6" dirty="0">
                <a:latin typeface="Times New Roman"/>
                <a:cs typeface="Times New Roman"/>
              </a:rPr>
              <a:t>test </a:t>
            </a:r>
            <a:r>
              <a:rPr sz="2400" spc="-3" dirty="0">
                <a:latin typeface="Times New Roman"/>
                <a:cs typeface="Times New Roman"/>
              </a:rPr>
              <a:t>reports </a:t>
            </a:r>
            <a:r>
              <a:rPr sz="2400" spc="-10" dirty="0">
                <a:latin typeface="Times New Roman"/>
                <a:cs typeface="Times New Roman"/>
              </a:rPr>
              <a:t>or </a:t>
            </a:r>
            <a:r>
              <a:rPr sz="2400" spc="-6" dirty="0">
                <a:latin typeface="Times New Roman"/>
                <a:cs typeface="Times New Roman"/>
              </a:rPr>
              <a:t>customer  </a:t>
            </a:r>
            <a:r>
              <a:rPr sz="2400" spc="-3" dirty="0">
                <a:latin typeface="Times New Roman"/>
                <a:cs typeface="Times New Roman"/>
              </a:rPr>
              <a:t>complaints. It </a:t>
            </a:r>
            <a:r>
              <a:rPr sz="2400" spc="-6" dirty="0">
                <a:latin typeface="Times New Roman"/>
                <a:cs typeface="Times New Roman"/>
              </a:rPr>
              <a:t>should </a:t>
            </a:r>
            <a:r>
              <a:rPr sz="2400" spc="6" dirty="0">
                <a:latin typeface="Times New Roman"/>
                <a:cs typeface="Times New Roman"/>
              </a:rPr>
              <a:t>be </a:t>
            </a:r>
            <a:r>
              <a:rPr sz="2400" spc="-3" dirty="0">
                <a:latin typeface="Times New Roman"/>
                <a:cs typeface="Times New Roman"/>
              </a:rPr>
              <a:t>managed effectively </a:t>
            </a:r>
            <a:r>
              <a:rPr sz="2400" dirty="0">
                <a:latin typeface="Times New Roman"/>
                <a:cs typeface="Times New Roman"/>
              </a:rPr>
              <a:t>so </a:t>
            </a:r>
            <a:r>
              <a:rPr sz="2400" spc="-3" dirty="0">
                <a:latin typeface="Times New Roman"/>
                <a:cs typeface="Times New Roman"/>
              </a:rPr>
              <a:t>that </a:t>
            </a:r>
            <a:r>
              <a:rPr sz="2400" spc="-6" dirty="0">
                <a:latin typeface="Times New Roman"/>
                <a:cs typeface="Times New Roman"/>
              </a:rPr>
              <a:t>if it </a:t>
            </a:r>
            <a:r>
              <a:rPr sz="2400" spc="-3" dirty="0">
                <a:latin typeface="Times New Roman"/>
                <a:cs typeface="Times New Roman"/>
              </a:rPr>
              <a:t>occurs </a:t>
            </a:r>
            <a:r>
              <a:rPr sz="2400" dirty="0">
                <a:latin typeface="Times New Roman"/>
                <a:cs typeface="Times New Roman"/>
              </a:rPr>
              <a:t>in the </a:t>
            </a:r>
            <a:r>
              <a:rPr sz="2400" spc="3" dirty="0">
                <a:latin typeface="Times New Roman"/>
                <a:cs typeface="Times New Roman"/>
              </a:rPr>
              <a:t>future </a:t>
            </a:r>
            <a:r>
              <a:rPr sz="2400" dirty="0">
                <a:latin typeface="Times New Roman"/>
                <a:cs typeface="Times New Roman"/>
              </a:rPr>
              <a:t>the </a:t>
            </a:r>
            <a:r>
              <a:rPr sz="2400" spc="-3" dirty="0">
                <a:latin typeface="Times New Roman"/>
                <a:cs typeface="Times New Roman"/>
              </a:rPr>
              <a:t>solution, </a:t>
            </a:r>
            <a:r>
              <a:rPr sz="2400" spc="-6" dirty="0">
                <a:latin typeface="Times New Roman"/>
                <a:cs typeface="Times New Roman"/>
              </a:rPr>
              <a:t>if </a:t>
            </a:r>
            <a:r>
              <a:rPr sz="2400" dirty="0">
                <a:latin typeface="Times New Roman"/>
                <a:cs typeface="Times New Roman"/>
              </a:rPr>
              <a:t>one </a:t>
            </a:r>
            <a:r>
              <a:rPr sz="2400" spc="-3" dirty="0">
                <a:latin typeface="Times New Roman"/>
                <a:cs typeface="Times New Roman"/>
              </a:rPr>
              <a:t>was  found, </a:t>
            </a:r>
            <a:r>
              <a:rPr sz="2400" dirty="0">
                <a:latin typeface="Times New Roman"/>
                <a:cs typeface="Times New Roman"/>
              </a:rPr>
              <a:t>can be </a:t>
            </a:r>
            <a:r>
              <a:rPr sz="2400" spc="-6" dirty="0">
                <a:latin typeface="Times New Roman"/>
                <a:cs typeface="Times New Roman"/>
              </a:rPr>
              <a:t>easily</a:t>
            </a:r>
            <a:r>
              <a:rPr sz="2400" spc="-32" dirty="0">
                <a:latin typeface="Times New Roman"/>
                <a:cs typeface="Times New Roman"/>
              </a:rPr>
              <a:t> </a:t>
            </a:r>
            <a:r>
              <a:rPr sz="2400" spc="-3" dirty="0">
                <a:latin typeface="Times New Roman"/>
                <a:cs typeface="Times New Roman"/>
              </a:rPr>
              <a:t>accessible.</a:t>
            </a:r>
            <a:endParaRPr sz="2400" dirty="0">
              <a:latin typeface="Times New Roman"/>
              <a:cs typeface="Times New Roman"/>
            </a:endParaRPr>
          </a:p>
          <a:p>
            <a:pPr>
              <a:spcBef>
                <a:spcPts val="29"/>
              </a:spcBef>
            </a:pPr>
            <a:endParaRPr sz="3200" dirty="0">
              <a:latin typeface="Times New Roman"/>
              <a:cs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353238-0EAD-B2DB-73E9-4BB52A5A26CA}"/>
              </a:ext>
            </a:extLst>
          </p:cNvPr>
          <p:cNvSpPr txBox="1"/>
          <p:nvPr/>
        </p:nvSpPr>
        <p:spPr>
          <a:xfrm>
            <a:off x="241851" y="649127"/>
            <a:ext cx="11800093" cy="5633465"/>
          </a:xfrm>
          <a:prstGeom prst="rect">
            <a:avLst/>
          </a:prstGeom>
          <a:noFill/>
        </p:spPr>
        <p:txBody>
          <a:bodyPr wrap="square">
            <a:spAutoFit/>
          </a:bodyPr>
          <a:lstStyle/>
          <a:p>
            <a:pPr marL="152400" indent="-139700" algn="just">
              <a:lnSpc>
                <a:spcPct val="100000"/>
              </a:lnSpc>
              <a:spcBef>
                <a:spcPts val="575"/>
              </a:spcBef>
              <a:buAutoNum type="arabicPeriod" startAt="5"/>
              <a:tabLst>
                <a:tab pos="153035" algn="l"/>
              </a:tabLst>
            </a:pPr>
            <a:r>
              <a:rPr lang="en-US" sz="2400" spc="-5" dirty="0">
                <a:latin typeface="Times New Roman"/>
                <a:cs typeface="Times New Roman"/>
              </a:rPr>
              <a:t> Configuration</a:t>
            </a:r>
            <a:r>
              <a:rPr lang="en-US" sz="2400" spc="-50" dirty="0">
                <a:latin typeface="Times New Roman"/>
                <a:cs typeface="Times New Roman"/>
              </a:rPr>
              <a:t> </a:t>
            </a:r>
            <a:r>
              <a:rPr lang="en-US" sz="2400" spc="-5" dirty="0">
                <a:latin typeface="Times New Roman"/>
                <a:cs typeface="Times New Roman"/>
              </a:rPr>
              <a:t>Management</a:t>
            </a:r>
            <a:endParaRPr lang="en-US" sz="2400" dirty="0">
              <a:latin typeface="Times New Roman"/>
              <a:cs typeface="Times New Roman"/>
            </a:endParaRPr>
          </a:p>
          <a:p>
            <a:pPr marL="12700" marR="6350" indent="457200" algn="just">
              <a:lnSpc>
                <a:spcPct val="143600"/>
              </a:lnSpc>
            </a:pPr>
            <a:r>
              <a:rPr lang="en-US" sz="2400" spc="-5" dirty="0">
                <a:latin typeface="Times New Roman"/>
                <a:cs typeface="Times New Roman"/>
              </a:rPr>
              <a:t>This </a:t>
            </a:r>
            <a:r>
              <a:rPr lang="en-US" sz="2400" spc="-10" dirty="0">
                <a:latin typeface="Times New Roman"/>
                <a:cs typeface="Times New Roman"/>
              </a:rPr>
              <a:t>deals </a:t>
            </a:r>
            <a:r>
              <a:rPr lang="en-US" sz="2400" dirty="0">
                <a:latin typeface="Times New Roman"/>
                <a:cs typeface="Times New Roman"/>
              </a:rPr>
              <a:t>with the dangers </a:t>
            </a:r>
            <a:r>
              <a:rPr lang="en-US" sz="2400" spc="-15" dirty="0">
                <a:latin typeface="Times New Roman"/>
                <a:cs typeface="Times New Roman"/>
              </a:rPr>
              <a:t>of </a:t>
            </a:r>
            <a:r>
              <a:rPr lang="en-US" sz="2400" spc="-5" dirty="0">
                <a:latin typeface="Times New Roman"/>
                <a:cs typeface="Times New Roman"/>
              </a:rPr>
              <a:t>version releases. </a:t>
            </a:r>
            <a:r>
              <a:rPr lang="en-US" sz="2400" spc="-10" dirty="0">
                <a:latin typeface="Times New Roman"/>
                <a:cs typeface="Times New Roman"/>
              </a:rPr>
              <a:t>With </a:t>
            </a:r>
            <a:r>
              <a:rPr lang="en-US" sz="2400" dirty="0">
                <a:latin typeface="Times New Roman"/>
                <a:cs typeface="Times New Roman"/>
              </a:rPr>
              <a:t>intense </a:t>
            </a:r>
            <a:r>
              <a:rPr lang="en-US" sz="2400" spc="-5" dirty="0">
                <a:latin typeface="Times New Roman"/>
                <a:cs typeface="Times New Roman"/>
              </a:rPr>
              <a:t>work focusing </a:t>
            </a:r>
            <a:r>
              <a:rPr lang="en-US" sz="2400" dirty="0">
                <a:latin typeface="Times New Roman"/>
                <a:cs typeface="Times New Roman"/>
              </a:rPr>
              <a:t>on </a:t>
            </a:r>
            <a:r>
              <a:rPr lang="en-US" sz="2400" spc="-5" dirty="0">
                <a:latin typeface="Times New Roman"/>
                <a:cs typeface="Times New Roman"/>
              </a:rPr>
              <a:t>new versions and  new </a:t>
            </a:r>
            <a:r>
              <a:rPr lang="en-US" sz="2400" dirty="0">
                <a:latin typeface="Times New Roman"/>
                <a:cs typeface="Times New Roman"/>
              </a:rPr>
              <a:t>software </a:t>
            </a:r>
            <a:r>
              <a:rPr lang="en-US" sz="2400" spc="-5" dirty="0">
                <a:latin typeface="Times New Roman"/>
                <a:cs typeface="Times New Roman"/>
              </a:rPr>
              <a:t>releases dangers </a:t>
            </a:r>
            <a:r>
              <a:rPr lang="en-US" sz="2400" dirty="0">
                <a:latin typeface="Times New Roman"/>
                <a:cs typeface="Times New Roman"/>
              </a:rPr>
              <a:t>arise </a:t>
            </a:r>
            <a:r>
              <a:rPr lang="en-US" sz="2400" spc="-5" dirty="0">
                <a:latin typeface="Times New Roman"/>
                <a:cs typeface="Times New Roman"/>
              </a:rPr>
              <a:t>when different members </a:t>
            </a:r>
            <a:r>
              <a:rPr lang="en-US" sz="2400" dirty="0">
                <a:latin typeface="Times New Roman"/>
                <a:cs typeface="Times New Roman"/>
              </a:rPr>
              <a:t>carry </a:t>
            </a:r>
            <a:r>
              <a:rPr lang="en-US" sz="2400" spc="-10" dirty="0">
                <a:latin typeface="Times New Roman"/>
                <a:cs typeface="Times New Roman"/>
              </a:rPr>
              <a:t>out </a:t>
            </a:r>
            <a:r>
              <a:rPr lang="en-US" sz="2400" dirty="0">
                <a:latin typeface="Times New Roman"/>
                <a:cs typeface="Times New Roman"/>
              </a:rPr>
              <a:t>the </a:t>
            </a:r>
            <a:r>
              <a:rPr lang="en-US" sz="2400" spc="5" dirty="0">
                <a:latin typeface="Times New Roman"/>
                <a:cs typeface="Times New Roman"/>
              </a:rPr>
              <a:t>same </a:t>
            </a:r>
            <a:r>
              <a:rPr lang="en-US" sz="2400" spc="-5" dirty="0">
                <a:latin typeface="Times New Roman"/>
                <a:cs typeface="Times New Roman"/>
              </a:rPr>
              <a:t>tasks. This </a:t>
            </a:r>
            <a:r>
              <a:rPr lang="en-US" sz="2400" dirty="0">
                <a:latin typeface="Times New Roman"/>
                <a:cs typeface="Times New Roman"/>
              </a:rPr>
              <a:t>can </a:t>
            </a:r>
            <a:r>
              <a:rPr lang="en-US" sz="2400" spc="-5" dirty="0">
                <a:latin typeface="Times New Roman"/>
                <a:cs typeface="Times New Roman"/>
              </a:rPr>
              <a:t>lead </a:t>
            </a:r>
            <a:r>
              <a:rPr lang="en-US" sz="2400" spc="10" dirty="0">
                <a:latin typeface="Times New Roman"/>
                <a:cs typeface="Times New Roman"/>
              </a:rPr>
              <a:t>to  </a:t>
            </a:r>
            <a:r>
              <a:rPr lang="en-US" sz="2400" spc="-5" dirty="0">
                <a:latin typeface="Times New Roman"/>
                <a:cs typeface="Times New Roman"/>
              </a:rPr>
              <a:t>misidentification </a:t>
            </a:r>
            <a:r>
              <a:rPr lang="en-US" sz="2400" spc="-15" dirty="0">
                <a:latin typeface="Times New Roman"/>
                <a:cs typeface="Times New Roman"/>
              </a:rPr>
              <a:t>or </a:t>
            </a:r>
            <a:r>
              <a:rPr lang="en-US" sz="2400" dirty="0">
                <a:latin typeface="Times New Roman"/>
                <a:cs typeface="Times New Roman"/>
              </a:rPr>
              <a:t>the </a:t>
            </a:r>
            <a:r>
              <a:rPr lang="en-US" sz="2400" spc="-5" dirty="0">
                <a:latin typeface="Times New Roman"/>
                <a:cs typeface="Times New Roman"/>
              </a:rPr>
              <a:t>versions </a:t>
            </a:r>
            <a:r>
              <a:rPr lang="en-US" sz="2400" spc="-15" dirty="0">
                <a:latin typeface="Times New Roman"/>
                <a:cs typeface="Times New Roman"/>
              </a:rPr>
              <a:t>or </a:t>
            </a:r>
            <a:r>
              <a:rPr lang="en-US" sz="2400" spc="-10" dirty="0">
                <a:latin typeface="Times New Roman"/>
                <a:cs typeface="Times New Roman"/>
              </a:rPr>
              <a:t>releases </a:t>
            </a:r>
            <a:r>
              <a:rPr lang="en-US" sz="2400" spc="-15" dirty="0">
                <a:latin typeface="Times New Roman"/>
                <a:cs typeface="Times New Roman"/>
              </a:rPr>
              <a:t>or </a:t>
            </a:r>
            <a:r>
              <a:rPr lang="en-US" sz="2400" spc="-5" dirty="0">
                <a:latin typeface="Times New Roman"/>
                <a:cs typeface="Times New Roman"/>
              </a:rPr>
              <a:t>loss </a:t>
            </a:r>
            <a:r>
              <a:rPr lang="en-US" sz="2400" spc="-15" dirty="0">
                <a:latin typeface="Times New Roman"/>
                <a:cs typeface="Times New Roman"/>
              </a:rPr>
              <a:t>of </a:t>
            </a:r>
            <a:r>
              <a:rPr lang="en-US" sz="2400" spc="-5" dirty="0">
                <a:latin typeface="Times New Roman"/>
                <a:cs typeface="Times New Roman"/>
              </a:rPr>
              <a:t>records </a:t>
            </a:r>
            <a:r>
              <a:rPr lang="en-US" sz="2400" spc="-15" dirty="0">
                <a:latin typeface="Times New Roman"/>
                <a:cs typeface="Times New Roman"/>
              </a:rPr>
              <a:t>or </a:t>
            </a:r>
            <a:r>
              <a:rPr lang="en-US" sz="2400" spc="-10" dirty="0">
                <a:latin typeface="Times New Roman"/>
                <a:cs typeface="Times New Roman"/>
              </a:rPr>
              <a:t>development </a:t>
            </a:r>
            <a:r>
              <a:rPr lang="en-US" sz="2400" spc="110" dirty="0">
                <a:latin typeface="Times New Roman"/>
                <a:cs typeface="Times New Roman"/>
              </a:rPr>
              <a:t> </a:t>
            </a:r>
            <a:r>
              <a:rPr lang="en-US" sz="2400" spc="-5" dirty="0">
                <a:latin typeface="Times New Roman"/>
                <a:cs typeface="Times New Roman"/>
              </a:rPr>
              <a:t>activities.</a:t>
            </a:r>
            <a:endParaRPr lang="en-US" sz="2400" dirty="0">
              <a:latin typeface="Times New Roman"/>
              <a:cs typeface="Times New Roman"/>
            </a:endParaRPr>
          </a:p>
          <a:p>
            <a:pPr marL="12700" marR="10795">
              <a:lnSpc>
                <a:spcPct val="143600"/>
              </a:lnSpc>
            </a:pPr>
            <a:r>
              <a:rPr lang="en-US" sz="2400" spc="-5" dirty="0">
                <a:latin typeface="Times New Roman"/>
                <a:cs typeface="Times New Roman"/>
              </a:rPr>
              <a:t>Configuration </a:t>
            </a:r>
            <a:r>
              <a:rPr lang="en-US" sz="2400" spc="-10" dirty="0">
                <a:latin typeface="Times New Roman"/>
                <a:cs typeface="Times New Roman"/>
              </a:rPr>
              <a:t>management </a:t>
            </a:r>
            <a:r>
              <a:rPr lang="en-US" sz="2400" spc="-5" dirty="0">
                <a:latin typeface="Times New Roman"/>
                <a:cs typeface="Times New Roman"/>
              </a:rPr>
              <a:t>introduces procedures that </a:t>
            </a:r>
            <a:r>
              <a:rPr lang="en-US" sz="2400" spc="10" dirty="0">
                <a:latin typeface="Times New Roman"/>
                <a:cs typeface="Times New Roman"/>
              </a:rPr>
              <a:t>are </a:t>
            </a:r>
            <a:r>
              <a:rPr lang="en-US" sz="2400" spc="-10" dirty="0">
                <a:latin typeface="Times New Roman"/>
                <a:cs typeface="Times New Roman"/>
              </a:rPr>
              <a:t>used </a:t>
            </a:r>
            <a:r>
              <a:rPr lang="en-US" sz="2400" dirty="0">
                <a:latin typeface="Times New Roman"/>
                <a:cs typeface="Times New Roman"/>
              </a:rPr>
              <a:t>to </a:t>
            </a:r>
            <a:r>
              <a:rPr lang="en-US" sz="2400" spc="-5" dirty="0">
                <a:latin typeface="Times New Roman"/>
                <a:cs typeface="Times New Roman"/>
              </a:rPr>
              <a:t>control </a:t>
            </a:r>
            <a:r>
              <a:rPr lang="en-US" sz="2400" dirty="0">
                <a:latin typeface="Times New Roman"/>
                <a:cs typeface="Times New Roman"/>
              </a:rPr>
              <a:t>the change </a:t>
            </a:r>
            <a:r>
              <a:rPr lang="en-US" sz="2400" spc="-5" dirty="0">
                <a:latin typeface="Times New Roman"/>
                <a:cs typeface="Times New Roman"/>
              </a:rPr>
              <a:t>process and </a:t>
            </a:r>
            <a:r>
              <a:rPr lang="en-US" sz="2400" spc="-10" dirty="0">
                <a:latin typeface="Times New Roman"/>
                <a:cs typeface="Times New Roman"/>
              </a:rPr>
              <a:t>monitor  it.</a:t>
            </a:r>
            <a:endParaRPr lang="en-US" sz="2400" dirty="0">
              <a:latin typeface="Times New Roman"/>
              <a:cs typeface="Times New Roman"/>
            </a:endParaRPr>
          </a:p>
          <a:p>
            <a:pPr marL="155575" indent="-142875" algn="just">
              <a:lnSpc>
                <a:spcPct val="100000"/>
              </a:lnSpc>
              <a:spcBef>
                <a:spcPts val="600"/>
              </a:spcBef>
              <a:buAutoNum type="arabicPeriod" startAt="6"/>
              <a:tabLst>
                <a:tab pos="156210" algn="l"/>
              </a:tabLst>
            </a:pPr>
            <a:r>
              <a:rPr lang="en-US" sz="2400" spc="-5" dirty="0">
                <a:latin typeface="Times New Roman"/>
                <a:cs typeface="Times New Roman"/>
              </a:rPr>
              <a:t>  Documentation</a:t>
            </a:r>
            <a:r>
              <a:rPr lang="en-US" sz="2400" spc="-110" dirty="0">
                <a:latin typeface="Times New Roman"/>
                <a:cs typeface="Times New Roman"/>
              </a:rPr>
              <a:t> </a:t>
            </a:r>
            <a:r>
              <a:rPr lang="en-US" sz="2400" dirty="0">
                <a:latin typeface="Times New Roman"/>
                <a:cs typeface="Times New Roman"/>
              </a:rPr>
              <a:t>Control</a:t>
            </a:r>
          </a:p>
          <a:p>
            <a:pPr marL="12700" marR="8890" indent="457200" algn="just">
              <a:lnSpc>
                <a:spcPct val="143700"/>
              </a:lnSpc>
            </a:pPr>
            <a:r>
              <a:rPr lang="en-US" sz="2400" spc="-5" dirty="0">
                <a:latin typeface="Times New Roman"/>
                <a:cs typeface="Times New Roman"/>
              </a:rPr>
              <a:t>Document Control </a:t>
            </a:r>
            <a:r>
              <a:rPr lang="en-US" sz="2400" spc="-10" dirty="0">
                <a:latin typeface="Times New Roman"/>
                <a:cs typeface="Times New Roman"/>
              </a:rPr>
              <a:t>is </a:t>
            </a:r>
            <a:r>
              <a:rPr lang="en-US" sz="2400" dirty="0">
                <a:latin typeface="Times New Roman"/>
                <a:cs typeface="Times New Roman"/>
              </a:rPr>
              <a:t>necessary to </a:t>
            </a:r>
            <a:r>
              <a:rPr lang="en-US" sz="2400" spc="-5" dirty="0">
                <a:latin typeface="Times New Roman"/>
                <a:cs typeface="Times New Roman"/>
              </a:rPr>
              <a:t>ensure </a:t>
            </a:r>
            <a:r>
              <a:rPr lang="en-US" sz="2400" dirty="0">
                <a:latin typeface="Times New Roman"/>
                <a:cs typeface="Times New Roman"/>
              </a:rPr>
              <a:t>long </a:t>
            </a:r>
            <a:r>
              <a:rPr lang="en-US" sz="2400" spc="-5" dirty="0">
                <a:latin typeface="Times New Roman"/>
                <a:cs typeface="Times New Roman"/>
              </a:rPr>
              <a:t>term availability </a:t>
            </a:r>
            <a:r>
              <a:rPr lang="en-US" sz="2400" spc="-15" dirty="0">
                <a:latin typeface="Times New Roman"/>
                <a:cs typeface="Times New Roman"/>
              </a:rPr>
              <a:t>of </a:t>
            </a:r>
            <a:r>
              <a:rPr lang="en-US" sz="2400" spc="-5" dirty="0">
                <a:latin typeface="Times New Roman"/>
                <a:cs typeface="Times New Roman"/>
              </a:rPr>
              <a:t>controlled </a:t>
            </a:r>
            <a:r>
              <a:rPr lang="en-US" sz="2400" spc="-10" dirty="0">
                <a:latin typeface="Times New Roman"/>
                <a:cs typeface="Times New Roman"/>
              </a:rPr>
              <a:t>documents.  </a:t>
            </a:r>
            <a:r>
              <a:rPr lang="en-US" sz="2400" spc="-5" dirty="0">
                <a:latin typeface="Times New Roman"/>
                <a:cs typeface="Times New Roman"/>
              </a:rPr>
              <a:t>Controlled documents </a:t>
            </a:r>
            <a:r>
              <a:rPr lang="en-US" sz="2400" spc="10" dirty="0">
                <a:latin typeface="Times New Roman"/>
                <a:cs typeface="Times New Roman"/>
              </a:rPr>
              <a:t>are </a:t>
            </a:r>
            <a:r>
              <a:rPr lang="en-US" sz="2400" spc="-10" dirty="0">
                <a:latin typeface="Times New Roman"/>
                <a:cs typeface="Times New Roman"/>
              </a:rPr>
              <a:t>maintained </a:t>
            </a:r>
            <a:r>
              <a:rPr lang="en-US" sz="2400" spc="5" dirty="0">
                <a:latin typeface="Times New Roman"/>
                <a:cs typeface="Times New Roman"/>
              </a:rPr>
              <a:t>and </a:t>
            </a:r>
            <a:r>
              <a:rPr lang="en-US" sz="2400" dirty="0">
                <a:latin typeface="Times New Roman"/>
                <a:cs typeface="Times New Roman"/>
              </a:rPr>
              <a:t>updated. They </a:t>
            </a:r>
            <a:r>
              <a:rPr lang="en-US" sz="2400" spc="10" dirty="0">
                <a:latin typeface="Times New Roman"/>
                <a:cs typeface="Times New Roman"/>
              </a:rPr>
              <a:t>are </a:t>
            </a:r>
            <a:r>
              <a:rPr lang="en-US" sz="2400" dirty="0">
                <a:latin typeface="Times New Roman"/>
                <a:cs typeface="Times New Roman"/>
              </a:rPr>
              <a:t>formally approved </a:t>
            </a:r>
            <a:r>
              <a:rPr lang="en-US" sz="2400" spc="5" dirty="0">
                <a:latin typeface="Times New Roman"/>
                <a:cs typeface="Times New Roman"/>
              </a:rPr>
              <a:t>and </a:t>
            </a:r>
            <a:r>
              <a:rPr lang="en-US" sz="2400" dirty="0">
                <a:latin typeface="Times New Roman"/>
                <a:cs typeface="Times New Roman"/>
              </a:rPr>
              <a:t>contain </a:t>
            </a:r>
            <a:r>
              <a:rPr lang="en-US" sz="2400" spc="-5" dirty="0">
                <a:latin typeface="Times New Roman"/>
                <a:cs typeface="Times New Roman"/>
              </a:rPr>
              <a:t>evidence </a:t>
            </a:r>
            <a:r>
              <a:rPr lang="en-US" sz="2400" spc="-15" dirty="0">
                <a:latin typeface="Times New Roman"/>
                <a:cs typeface="Times New Roman"/>
              </a:rPr>
              <a:t>of  </a:t>
            </a:r>
            <a:r>
              <a:rPr lang="en-US" sz="2400" dirty="0">
                <a:latin typeface="Times New Roman"/>
                <a:cs typeface="Times New Roman"/>
              </a:rPr>
              <a:t>the </a:t>
            </a:r>
            <a:r>
              <a:rPr lang="en-US" sz="2400" spc="-5" dirty="0">
                <a:latin typeface="Times New Roman"/>
                <a:cs typeface="Times New Roman"/>
              </a:rPr>
              <a:t>systems</a:t>
            </a:r>
            <a:r>
              <a:rPr lang="en-US" sz="2400" spc="-90" dirty="0">
                <a:latin typeface="Times New Roman"/>
                <a:cs typeface="Times New Roman"/>
              </a:rPr>
              <a:t> </a:t>
            </a:r>
            <a:r>
              <a:rPr lang="en-US" sz="2400" spc="-5" dirty="0">
                <a:latin typeface="Times New Roman"/>
                <a:cs typeface="Times New Roman"/>
              </a:rPr>
              <a:t>performance.</a:t>
            </a:r>
            <a:endParaRPr lang="en-US" sz="2400" dirty="0">
              <a:latin typeface="Times New Roman"/>
              <a:cs typeface="Times New Roman"/>
            </a:endParaRPr>
          </a:p>
        </p:txBody>
      </p:sp>
    </p:spTree>
    <p:extLst>
      <p:ext uri="{BB962C8B-B14F-4D97-AF65-F5344CB8AC3E}">
        <p14:creationId xmlns:p14="http://schemas.microsoft.com/office/powerpoint/2010/main" val="2781819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D81A8B-7204-A9C8-8D22-8ECC1695CC5A}"/>
              </a:ext>
            </a:extLst>
          </p:cNvPr>
          <p:cNvSpPr txBox="1"/>
          <p:nvPr/>
        </p:nvSpPr>
        <p:spPr>
          <a:xfrm>
            <a:off x="340517" y="1097856"/>
            <a:ext cx="11285883" cy="4572085"/>
          </a:xfrm>
          <a:prstGeom prst="rect">
            <a:avLst/>
          </a:prstGeom>
          <a:noFill/>
        </p:spPr>
        <p:txBody>
          <a:bodyPr wrap="square">
            <a:spAutoFit/>
          </a:bodyPr>
          <a:lstStyle/>
          <a:p>
            <a:pPr marL="12700" algn="just">
              <a:lnSpc>
                <a:spcPct val="100000"/>
              </a:lnSpc>
            </a:pPr>
            <a:r>
              <a:rPr lang="en-US" sz="2400" b="1" i="1" dirty="0">
                <a:latin typeface="Times New Roman"/>
                <a:cs typeface="Times New Roman"/>
              </a:rPr>
              <a:t>4. </a:t>
            </a:r>
            <a:r>
              <a:rPr lang="en-US" sz="2400" b="1" i="1" spc="-10" dirty="0">
                <a:latin typeface="Times New Roman"/>
                <a:cs typeface="Times New Roman"/>
              </a:rPr>
              <a:t>Software </a:t>
            </a:r>
            <a:r>
              <a:rPr lang="en-US" sz="2400" b="1" i="1" dirty="0">
                <a:latin typeface="Times New Roman"/>
                <a:cs typeface="Times New Roman"/>
              </a:rPr>
              <a:t>Quality</a:t>
            </a:r>
            <a:r>
              <a:rPr lang="en-US" sz="2400" b="1" i="1" spc="-5" dirty="0">
                <a:latin typeface="Times New Roman"/>
                <a:cs typeface="Times New Roman"/>
              </a:rPr>
              <a:t> Management</a:t>
            </a:r>
            <a:endParaRPr lang="en-US" sz="2400" dirty="0">
              <a:latin typeface="Times New Roman"/>
              <a:cs typeface="Times New Roman"/>
            </a:endParaRPr>
          </a:p>
          <a:p>
            <a:pPr marL="12700" algn="just">
              <a:lnSpc>
                <a:spcPct val="100000"/>
              </a:lnSpc>
            </a:pPr>
            <a:endParaRPr lang="en-US" sz="2000" spc="-5" dirty="0">
              <a:latin typeface="Times New Roman"/>
              <a:cs typeface="Times New Roman"/>
            </a:endParaRPr>
          </a:p>
          <a:p>
            <a:pPr marL="12700" algn="just">
              <a:lnSpc>
                <a:spcPct val="100000"/>
              </a:lnSpc>
            </a:pPr>
            <a:r>
              <a:rPr lang="en-US" sz="2000" spc="-5" dirty="0">
                <a:latin typeface="Times New Roman"/>
                <a:cs typeface="Times New Roman"/>
              </a:rPr>
              <a:t>Quality</a:t>
            </a:r>
            <a:r>
              <a:rPr lang="en-US" sz="2000" spc="105" dirty="0">
                <a:latin typeface="Times New Roman"/>
                <a:cs typeface="Times New Roman"/>
              </a:rPr>
              <a:t> </a:t>
            </a:r>
            <a:r>
              <a:rPr lang="en-US" sz="2000" spc="-5" dirty="0">
                <a:latin typeface="Times New Roman"/>
                <a:cs typeface="Times New Roman"/>
              </a:rPr>
              <a:t>management</a:t>
            </a:r>
            <a:r>
              <a:rPr lang="en-US" sz="2000" spc="135" dirty="0">
                <a:latin typeface="Times New Roman"/>
                <a:cs typeface="Times New Roman"/>
              </a:rPr>
              <a:t> </a:t>
            </a:r>
            <a:r>
              <a:rPr lang="en-US" sz="2000" spc="-10" dirty="0">
                <a:latin typeface="Times New Roman"/>
                <a:cs typeface="Times New Roman"/>
              </a:rPr>
              <a:t>not</a:t>
            </a:r>
            <a:r>
              <a:rPr lang="en-US" sz="2000" spc="110" dirty="0">
                <a:latin typeface="Times New Roman"/>
                <a:cs typeface="Times New Roman"/>
              </a:rPr>
              <a:t> </a:t>
            </a:r>
            <a:r>
              <a:rPr lang="en-US" sz="2000" dirty="0">
                <a:latin typeface="Times New Roman"/>
                <a:cs typeface="Times New Roman"/>
              </a:rPr>
              <a:t>only</a:t>
            </a:r>
            <a:r>
              <a:rPr lang="en-US" sz="2000" spc="80" dirty="0">
                <a:latin typeface="Times New Roman"/>
                <a:cs typeface="Times New Roman"/>
              </a:rPr>
              <a:t> </a:t>
            </a:r>
            <a:r>
              <a:rPr lang="en-US" sz="2000" spc="-5" dirty="0">
                <a:latin typeface="Times New Roman"/>
                <a:cs typeface="Times New Roman"/>
              </a:rPr>
              <a:t>focuses</a:t>
            </a:r>
            <a:r>
              <a:rPr lang="en-US" sz="2000" spc="130" dirty="0">
                <a:latin typeface="Times New Roman"/>
                <a:cs typeface="Times New Roman"/>
              </a:rPr>
              <a:t> </a:t>
            </a:r>
            <a:r>
              <a:rPr lang="en-US" sz="2000" dirty="0">
                <a:latin typeface="Times New Roman"/>
                <a:cs typeface="Times New Roman"/>
              </a:rPr>
              <a:t>on</a:t>
            </a:r>
            <a:r>
              <a:rPr lang="en-US" sz="2000" spc="80" dirty="0">
                <a:latin typeface="Times New Roman"/>
                <a:cs typeface="Times New Roman"/>
              </a:rPr>
              <a:t> </a:t>
            </a:r>
            <a:r>
              <a:rPr lang="en-US" sz="2000" spc="-5" dirty="0">
                <a:latin typeface="Times New Roman"/>
                <a:cs typeface="Times New Roman"/>
              </a:rPr>
              <a:t>product</a:t>
            </a:r>
            <a:r>
              <a:rPr lang="en-US" sz="2000" spc="110" dirty="0">
                <a:latin typeface="Times New Roman"/>
                <a:cs typeface="Times New Roman"/>
              </a:rPr>
              <a:t> </a:t>
            </a:r>
            <a:r>
              <a:rPr lang="en-US" sz="2000" spc="-5" dirty="0">
                <a:latin typeface="Times New Roman"/>
                <a:cs typeface="Times New Roman"/>
              </a:rPr>
              <a:t>quality</a:t>
            </a:r>
            <a:r>
              <a:rPr lang="en-US" sz="2000" spc="80" dirty="0">
                <a:latin typeface="Times New Roman"/>
                <a:cs typeface="Times New Roman"/>
              </a:rPr>
              <a:t> </a:t>
            </a:r>
            <a:r>
              <a:rPr lang="en-US" sz="2000" dirty="0">
                <a:latin typeface="Times New Roman"/>
                <a:cs typeface="Times New Roman"/>
              </a:rPr>
              <a:t>but</a:t>
            </a:r>
            <a:r>
              <a:rPr lang="en-US" sz="2000" spc="110" dirty="0">
                <a:latin typeface="Times New Roman"/>
                <a:cs typeface="Times New Roman"/>
              </a:rPr>
              <a:t> </a:t>
            </a:r>
            <a:r>
              <a:rPr lang="en-US" sz="2000" spc="-5" dirty="0">
                <a:latin typeface="Times New Roman"/>
                <a:cs typeface="Times New Roman"/>
              </a:rPr>
              <a:t>also</a:t>
            </a:r>
            <a:r>
              <a:rPr lang="en-US" sz="2000" spc="85" dirty="0">
                <a:latin typeface="Times New Roman"/>
                <a:cs typeface="Times New Roman"/>
              </a:rPr>
              <a:t> </a:t>
            </a:r>
            <a:r>
              <a:rPr lang="en-US" sz="2000" dirty="0">
                <a:latin typeface="Times New Roman"/>
                <a:cs typeface="Times New Roman"/>
              </a:rPr>
              <a:t>the</a:t>
            </a:r>
            <a:r>
              <a:rPr lang="en-US" sz="2000" spc="120" dirty="0">
                <a:latin typeface="Times New Roman"/>
                <a:cs typeface="Times New Roman"/>
              </a:rPr>
              <a:t> </a:t>
            </a:r>
            <a:r>
              <a:rPr lang="en-US" sz="2000" spc="-10" dirty="0">
                <a:latin typeface="Times New Roman"/>
                <a:cs typeface="Times New Roman"/>
              </a:rPr>
              <a:t>means</a:t>
            </a:r>
            <a:r>
              <a:rPr lang="en-US" sz="2000" spc="110" dirty="0">
                <a:latin typeface="Times New Roman"/>
                <a:cs typeface="Times New Roman"/>
              </a:rPr>
              <a:t> </a:t>
            </a:r>
            <a:r>
              <a:rPr lang="en-US" sz="2000" dirty="0">
                <a:latin typeface="Times New Roman"/>
                <a:cs typeface="Times New Roman"/>
              </a:rPr>
              <a:t>in</a:t>
            </a:r>
            <a:r>
              <a:rPr lang="en-US" sz="2000" spc="105" dirty="0">
                <a:latin typeface="Times New Roman"/>
                <a:cs typeface="Times New Roman"/>
              </a:rPr>
              <a:t> </a:t>
            </a:r>
            <a:r>
              <a:rPr lang="en-US" sz="2000" spc="-5" dirty="0">
                <a:latin typeface="Times New Roman"/>
                <a:cs typeface="Times New Roman"/>
              </a:rPr>
              <a:t>which</a:t>
            </a:r>
            <a:r>
              <a:rPr lang="en-US" sz="2000" spc="80" dirty="0">
                <a:latin typeface="Times New Roman"/>
                <a:cs typeface="Times New Roman"/>
              </a:rPr>
              <a:t> </a:t>
            </a:r>
            <a:r>
              <a:rPr lang="en-US" sz="2000" spc="-10" dirty="0">
                <a:latin typeface="Times New Roman"/>
                <a:cs typeface="Times New Roman"/>
              </a:rPr>
              <a:t>it</a:t>
            </a:r>
            <a:r>
              <a:rPr lang="en-US" sz="2000" spc="110" dirty="0">
                <a:latin typeface="Times New Roman"/>
                <a:cs typeface="Times New Roman"/>
              </a:rPr>
              <a:t> </a:t>
            </a:r>
            <a:r>
              <a:rPr lang="en-US" sz="2000" dirty="0">
                <a:latin typeface="Times New Roman"/>
                <a:cs typeface="Times New Roman"/>
              </a:rPr>
              <a:t>can</a:t>
            </a:r>
            <a:r>
              <a:rPr lang="en-US" sz="2000" spc="80" dirty="0">
                <a:latin typeface="Times New Roman"/>
                <a:cs typeface="Times New Roman"/>
              </a:rPr>
              <a:t> </a:t>
            </a:r>
            <a:r>
              <a:rPr lang="en-US" sz="2000" spc="20" dirty="0">
                <a:latin typeface="Times New Roman"/>
                <a:cs typeface="Times New Roman"/>
              </a:rPr>
              <a:t>be </a:t>
            </a:r>
            <a:r>
              <a:rPr lang="en-US" sz="2000" spc="-10" dirty="0">
                <a:latin typeface="Times New Roman"/>
                <a:cs typeface="Times New Roman"/>
              </a:rPr>
              <a:t>achieved.</a:t>
            </a:r>
            <a:endParaRPr lang="en-US" sz="2000" dirty="0">
              <a:latin typeface="Times New Roman"/>
              <a:cs typeface="Times New Roman"/>
            </a:endParaRPr>
          </a:p>
          <a:p>
            <a:pPr marL="12700" marR="8890" algn="just">
              <a:lnSpc>
                <a:spcPct val="143600"/>
              </a:lnSpc>
            </a:pPr>
            <a:r>
              <a:rPr lang="en-US" sz="2000" spc="-5" dirty="0">
                <a:latin typeface="Times New Roman"/>
                <a:cs typeface="Times New Roman"/>
              </a:rPr>
              <a:t>Some </a:t>
            </a:r>
            <a:r>
              <a:rPr lang="en-US" sz="2000" spc="-15" dirty="0">
                <a:latin typeface="Times New Roman"/>
                <a:cs typeface="Times New Roman"/>
              </a:rPr>
              <a:t>of </a:t>
            </a:r>
            <a:r>
              <a:rPr lang="en-US" sz="2000" spc="10" dirty="0">
                <a:latin typeface="Times New Roman"/>
                <a:cs typeface="Times New Roman"/>
              </a:rPr>
              <a:t>the </a:t>
            </a:r>
            <a:r>
              <a:rPr lang="en-US" sz="2000" spc="-5" dirty="0">
                <a:latin typeface="Times New Roman"/>
                <a:cs typeface="Times New Roman"/>
              </a:rPr>
              <a:t>components </a:t>
            </a:r>
            <a:r>
              <a:rPr lang="en-US" sz="2000" spc="5" dirty="0">
                <a:latin typeface="Times New Roman"/>
                <a:cs typeface="Times New Roman"/>
              </a:rPr>
              <a:t>used </a:t>
            </a:r>
            <a:r>
              <a:rPr lang="en-US" sz="2000" dirty="0">
                <a:latin typeface="Times New Roman"/>
                <a:cs typeface="Times New Roman"/>
              </a:rPr>
              <a:t>to support the managerial </a:t>
            </a:r>
            <a:r>
              <a:rPr lang="en-US" sz="2000" spc="-5" dirty="0">
                <a:latin typeface="Times New Roman"/>
                <a:cs typeface="Times New Roman"/>
              </a:rPr>
              <a:t>control </a:t>
            </a:r>
            <a:r>
              <a:rPr lang="en-US" sz="2000" spc="-15" dirty="0">
                <a:latin typeface="Times New Roman"/>
                <a:cs typeface="Times New Roman"/>
              </a:rPr>
              <a:t>of </a:t>
            </a:r>
            <a:r>
              <a:rPr lang="en-US" sz="2000" dirty="0">
                <a:latin typeface="Times New Roman"/>
                <a:cs typeface="Times New Roman"/>
              </a:rPr>
              <a:t>software </a:t>
            </a:r>
            <a:r>
              <a:rPr lang="en-US" sz="2000" spc="-5" dirty="0">
                <a:latin typeface="Times New Roman"/>
                <a:cs typeface="Times New Roman"/>
              </a:rPr>
              <a:t>development </a:t>
            </a:r>
            <a:r>
              <a:rPr lang="en-US" sz="2000" dirty="0">
                <a:latin typeface="Times New Roman"/>
                <a:cs typeface="Times New Roman"/>
              </a:rPr>
              <a:t>projects </a:t>
            </a:r>
            <a:r>
              <a:rPr lang="en-US" sz="2000" spc="10" dirty="0">
                <a:latin typeface="Times New Roman"/>
                <a:cs typeface="Times New Roman"/>
              </a:rPr>
              <a:t>are </a:t>
            </a:r>
            <a:r>
              <a:rPr lang="en-US" sz="2000" dirty="0">
                <a:latin typeface="Times New Roman"/>
                <a:cs typeface="Times New Roman"/>
              </a:rPr>
              <a:t>the  </a:t>
            </a:r>
            <a:r>
              <a:rPr lang="en-US" sz="2000" spc="-10" dirty="0">
                <a:latin typeface="Times New Roman"/>
                <a:cs typeface="Times New Roman"/>
              </a:rPr>
              <a:t>Project </a:t>
            </a:r>
            <a:r>
              <a:rPr lang="en-US" sz="2000" spc="-5" dirty="0">
                <a:latin typeface="Times New Roman"/>
                <a:cs typeface="Times New Roman"/>
              </a:rPr>
              <a:t>Progress Control, Software Quality </a:t>
            </a:r>
            <a:r>
              <a:rPr lang="en-US" sz="2000" spc="-10" dirty="0">
                <a:latin typeface="Times New Roman"/>
                <a:cs typeface="Times New Roman"/>
              </a:rPr>
              <a:t>Metrics </a:t>
            </a:r>
            <a:r>
              <a:rPr lang="en-US" sz="2000" spc="5" dirty="0">
                <a:latin typeface="Times New Roman"/>
                <a:cs typeface="Times New Roman"/>
              </a:rPr>
              <a:t>and </a:t>
            </a:r>
            <a:r>
              <a:rPr lang="en-US" sz="2000" spc="-5" dirty="0">
                <a:latin typeface="Times New Roman"/>
                <a:cs typeface="Times New Roman"/>
              </a:rPr>
              <a:t>Software Quality</a:t>
            </a:r>
            <a:r>
              <a:rPr lang="en-US" sz="2000" spc="155" dirty="0">
                <a:latin typeface="Times New Roman"/>
                <a:cs typeface="Times New Roman"/>
              </a:rPr>
              <a:t> </a:t>
            </a:r>
            <a:r>
              <a:rPr lang="en-US" sz="2000" spc="-5" dirty="0">
                <a:latin typeface="Times New Roman"/>
                <a:cs typeface="Times New Roman"/>
              </a:rPr>
              <a:t>costs.</a:t>
            </a:r>
            <a:endParaRPr lang="en-US" sz="2000" dirty="0">
              <a:latin typeface="Times New Roman"/>
              <a:cs typeface="Times New Roman"/>
            </a:endParaRPr>
          </a:p>
          <a:p>
            <a:pPr marL="12700" marR="15875" algn="just">
              <a:lnSpc>
                <a:spcPct val="143600"/>
              </a:lnSpc>
            </a:pPr>
            <a:r>
              <a:rPr lang="en-US" sz="2000" dirty="0">
                <a:latin typeface="Times New Roman"/>
                <a:cs typeface="Times New Roman"/>
              </a:rPr>
              <a:t>The </a:t>
            </a:r>
            <a:r>
              <a:rPr lang="en-US" sz="2000" spc="5" dirty="0">
                <a:latin typeface="Times New Roman"/>
                <a:cs typeface="Times New Roman"/>
              </a:rPr>
              <a:t>aim </a:t>
            </a:r>
            <a:r>
              <a:rPr lang="en-US" sz="2000" dirty="0">
                <a:latin typeface="Times New Roman"/>
                <a:cs typeface="Times New Roman"/>
              </a:rPr>
              <a:t>of </a:t>
            </a:r>
            <a:r>
              <a:rPr lang="en-US" sz="2000" spc="-10" dirty="0">
                <a:latin typeface="Times New Roman"/>
                <a:cs typeface="Times New Roman"/>
              </a:rPr>
              <a:t>Project </a:t>
            </a:r>
            <a:r>
              <a:rPr lang="en-US" sz="2000" spc="-5" dirty="0">
                <a:latin typeface="Times New Roman"/>
                <a:cs typeface="Times New Roman"/>
              </a:rPr>
              <a:t>Progress Control </a:t>
            </a:r>
            <a:r>
              <a:rPr lang="en-US" sz="2000" spc="-10" dirty="0">
                <a:latin typeface="Times New Roman"/>
                <a:cs typeface="Times New Roman"/>
              </a:rPr>
              <a:t>is </a:t>
            </a:r>
            <a:r>
              <a:rPr lang="en-US" sz="2000" spc="-5" dirty="0">
                <a:latin typeface="Times New Roman"/>
                <a:cs typeface="Times New Roman"/>
              </a:rPr>
              <a:t>simply </a:t>
            </a:r>
            <a:r>
              <a:rPr lang="en-US" sz="2000" spc="10" dirty="0">
                <a:latin typeface="Times New Roman"/>
                <a:cs typeface="Times New Roman"/>
              </a:rPr>
              <a:t>to </a:t>
            </a:r>
            <a:r>
              <a:rPr lang="en-US" sz="2000" spc="-10" dirty="0">
                <a:latin typeface="Times New Roman"/>
                <a:cs typeface="Times New Roman"/>
              </a:rPr>
              <a:t>monitor </a:t>
            </a:r>
            <a:r>
              <a:rPr lang="en-US" sz="2000" dirty="0">
                <a:latin typeface="Times New Roman"/>
                <a:cs typeface="Times New Roman"/>
              </a:rPr>
              <a:t>the </a:t>
            </a:r>
            <a:r>
              <a:rPr lang="en-US" sz="2000" spc="-5" dirty="0">
                <a:latin typeface="Times New Roman"/>
                <a:cs typeface="Times New Roman"/>
              </a:rPr>
              <a:t>progress </a:t>
            </a:r>
            <a:r>
              <a:rPr lang="en-US" sz="2000" spc="-15" dirty="0">
                <a:latin typeface="Times New Roman"/>
                <a:cs typeface="Times New Roman"/>
              </a:rPr>
              <a:t>of </a:t>
            </a:r>
            <a:r>
              <a:rPr lang="en-US" sz="2000" dirty="0">
                <a:latin typeface="Times New Roman"/>
                <a:cs typeface="Times New Roman"/>
              </a:rPr>
              <a:t>the project to </a:t>
            </a:r>
            <a:r>
              <a:rPr lang="en-US" sz="2000" spc="-5" dirty="0">
                <a:latin typeface="Times New Roman"/>
                <a:cs typeface="Times New Roman"/>
              </a:rPr>
              <a:t>ensure that </a:t>
            </a:r>
            <a:r>
              <a:rPr lang="en-US" sz="2000" spc="-10" dirty="0">
                <a:latin typeface="Times New Roman"/>
                <a:cs typeface="Times New Roman"/>
              </a:rPr>
              <a:t>it </a:t>
            </a:r>
            <a:r>
              <a:rPr lang="en-US" sz="2000" spc="-5" dirty="0">
                <a:latin typeface="Times New Roman"/>
                <a:cs typeface="Times New Roman"/>
              </a:rPr>
              <a:t>does  </a:t>
            </a:r>
            <a:r>
              <a:rPr lang="en-US" sz="2000" spc="-10" dirty="0">
                <a:latin typeface="Times New Roman"/>
                <a:cs typeface="Times New Roman"/>
              </a:rPr>
              <a:t>not </a:t>
            </a:r>
            <a:r>
              <a:rPr lang="en-US" sz="2000" spc="-5" dirty="0">
                <a:latin typeface="Times New Roman"/>
                <a:cs typeface="Times New Roman"/>
              </a:rPr>
              <a:t>deviate </a:t>
            </a:r>
            <a:r>
              <a:rPr lang="en-US" sz="2000" dirty="0">
                <a:latin typeface="Times New Roman"/>
                <a:cs typeface="Times New Roman"/>
              </a:rPr>
              <a:t>from </a:t>
            </a:r>
            <a:r>
              <a:rPr lang="en-US" sz="2000" spc="-10" dirty="0">
                <a:latin typeface="Times New Roman"/>
                <a:cs typeface="Times New Roman"/>
              </a:rPr>
              <a:t>its </a:t>
            </a:r>
            <a:r>
              <a:rPr lang="en-US" sz="2000" spc="-5" dirty="0">
                <a:latin typeface="Times New Roman"/>
                <a:cs typeface="Times New Roman"/>
              </a:rPr>
              <a:t>initial plans. It </a:t>
            </a:r>
            <a:r>
              <a:rPr lang="en-US" sz="2000" spc="-10" dirty="0">
                <a:latin typeface="Times New Roman"/>
                <a:cs typeface="Times New Roman"/>
              </a:rPr>
              <a:t>focuses </a:t>
            </a:r>
            <a:r>
              <a:rPr lang="en-US" sz="2000" spc="-5" dirty="0">
                <a:latin typeface="Times New Roman"/>
                <a:cs typeface="Times New Roman"/>
              </a:rPr>
              <a:t>particularly </a:t>
            </a:r>
            <a:r>
              <a:rPr lang="en-US" sz="2000" dirty="0">
                <a:latin typeface="Times New Roman"/>
                <a:cs typeface="Times New Roman"/>
              </a:rPr>
              <a:t>on </a:t>
            </a:r>
            <a:r>
              <a:rPr lang="en-US" sz="2000" spc="-5" dirty="0">
                <a:latin typeface="Times New Roman"/>
                <a:cs typeface="Times New Roman"/>
              </a:rPr>
              <a:t>monitoring </a:t>
            </a:r>
            <a:r>
              <a:rPr lang="en-US" sz="2000" dirty="0">
                <a:latin typeface="Times New Roman"/>
                <a:cs typeface="Times New Roman"/>
              </a:rPr>
              <a:t>resource </a:t>
            </a:r>
            <a:r>
              <a:rPr lang="en-US" sz="2000" spc="-5" dirty="0">
                <a:latin typeface="Times New Roman"/>
                <a:cs typeface="Times New Roman"/>
              </a:rPr>
              <a:t>usages, schedules  </a:t>
            </a:r>
            <a:r>
              <a:rPr lang="en-US" sz="2000" spc="-10" dirty="0">
                <a:latin typeface="Times New Roman"/>
                <a:cs typeface="Times New Roman"/>
              </a:rPr>
              <a:t>(whether </a:t>
            </a:r>
            <a:r>
              <a:rPr lang="en-US" sz="2000" spc="-5" dirty="0">
                <a:latin typeface="Times New Roman"/>
                <a:cs typeface="Times New Roman"/>
              </a:rPr>
              <a:t>they </a:t>
            </a:r>
            <a:r>
              <a:rPr lang="en-US" sz="2000" spc="10" dirty="0">
                <a:latin typeface="Times New Roman"/>
                <a:cs typeface="Times New Roman"/>
              </a:rPr>
              <a:t>are </a:t>
            </a:r>
            <a:r>
              <a:rPr lang="en-US" sz="2000" spc="-5" dirty="0">
                <a:latin typeface="Times New Roman"/>
                <a:cs typeface="Times New Roman"/>
              </a:rPr>
              <a:t>being </a:t>
            </a:r>
            <a:r>
              <a:rPr lang="en-US" sz="2000" spc="-15" dirty="0">
                <a:latin typeface="Times New Roman"/>
                <a:cs typeface="Times New Roman"/>
              </a:rPr>
              <a:t>met), </a:t>
            </a:r>
            <a:r>
              <a:rPr lang="en-US" sz="2000" dirty="0">
                <a:latin typeface="Times New Roman"/>
                <a:cs typeface="Times New Roman"/>
              </a:rPr>
              <a:t>risk </a:t>
            </a:r>
            <a:r>
              <a:rPr lang="en-US" sz="2000" spc="-5" dirty="0">
                <a:latin typeface="Times New Roman"/>
                <a:cs typeface="Times New Roman"/>
              </a:rPr>
              <a:t>management </a:t>
            </a:r>
            <a:r>
              <a:rPr lang="en-US" sz="2000" spc="-10" dirty="0">
                <a:latin typeface="Times New Roman"/>
                <a:cs typeface="Times New Roman"/>
              </a:rPr>
              <a:t>activities </a:t>
            </a:r>
            <a:r>
              <a:rPr lang="en-US" sz="2000" spc="5" dirty="0">
                <a:latin typeface="Times New Roman"/>
                <a:cs typeface="Times New Roman"/>
              </a:rPr>
              <a:t>and </a:t>
            </a:r>
            <a:r>
              <a:rPr lang="en-US" sz="2000" dirty="0">
                <a:latin typeface="Times New Roman"/>
                <a:cs typeface="Times New Roman"/>
              </a:rPr>
              <a:t>the</a:t>
            </a:r>
            <a:r>
              <a:rPr lang="en-US" sz="2000" spc="100" dirty="0">
                <a:latin typeface="Times New Roman"/>
                <a:cs typeface="Times New Roman"/>
              </a:rPr>
              <a:t> </a:t>
            </a:r>
            <a:r>
              <a:rPr lang="en-US" sz="2000" spc="-5" dirty="0">
                <a:latin typeface="Times New Roman"/>
                <a:cs typeface="Times New Roman"/>
              </a:rPr>
              <a:t>budget.</a:t>
            </a:r>
            <a:endParaRPr lang="en-US" sz="2000" dirty="0">
              <a:latin typeface="Times New Roman"/>
              <a:cs typeface="Times New Roman"/>
            </a:endParaRPr>
          </a:p>
          <a:p>
            <a:pPr marL="12700" marR="5080" algn="just">
              <a:lnSpc>
                <a:spcPct val="143700"/>
              </a:lnSpc>
            </a:pPr>
            <a:r>
              <a:rPr lang="en-US" sz="2000" dirty="0">
                <a:latin typeface="Times New Roman"/>
                <a:cs typeface="Times New Roman"/>
              </a:rPr>
              <a:t>A Software </a:t>
            </a:r>
            <a:r>
              <a:rPr lang="en-US" sz="2000" spc="-5" dirty="0">
                <a:latin typeface="Times New Roman"/>
                <a:cs typeface="Times New Roman"/>
              </a:rPr>
              <a:t>Quality Metric </a:t>
            </a:r>
            <a:r>
              <a:rPr lang="en-US" sz="2000" spc="-10" dirty="0">
                <a:latin typeface="Times New Roman"/>
                <a:cs typeface="Times New Roman"/>
              </a:rPr>
              <a:t>is </a:t>
            </a:r>
            <a:r>
              <a:rPr lang="en-US" sz="2000" dirty="0">
                <a:latin typeface="Times New Roman"/>
                <a:cs typeface="Times New Roman"/>
              </a:rPr>
              <a:t>a </a:t>
            </a:r>
            <a:r>
              <a:rPr lang="en-US" sz="2000" spc="-10" dirty="0">
                <a:latin typeface="Times New Roman"/>
                <a:cs typeface="Times New Roman"/>
              </a:rPr>
              <a:t>measurement </a:t>
            </a:r>
            <a:r>
              <a:rPr lang="en-US" sz="2000" spc="-5" dirty="0">
                <a:latin typeface="Times New Roman"/>
                <a:cs typeface="Times New Roman"/>
              </a:rPr>
              <a:t>that </a:t>
            </a:r>
            <a:r>
              <a:rPr lang="en-US" sz="2000" spc="-10" dirty="0">
                <a:latin typeface="Times New Roman"/>
                <a:cs typeface="Times New Roman"/>
              </a:rPr>
              <a:t>is used </a:t>
            </a:r>
            <a:r>
              <a:rPr lang="en-US" sz="2000" dirty="0">
                <a:latin typeface="Times New Roman"/>
                <a:cs typeface="Times New Roman"/>
              </a:rPr>
              <a:t>to evaluate </a:t>
            </a:r>
            <a:r>
              <a:rPr lang="en-US" sz="2000" spc="-5" dirty="0">
                <a:latin typeface="Times New Roman"/>
                <a:cs typeface="Times New Roman"/>
              </a:rPr>
              <a:t>software quality </a:t>
            </a:r>
            <a:r>
              <a:rPr lang="en-US" sz="2000" dirty="0">
                <a:latin typeface="Times New Roman"/>
                <a:cs typeface="Times New Roman"/>
              </a:rPr>
              <a:t>in a </a:t>
            </a:r>
            <a:r>
              <a:rPr lang="en-US" sz="2000" spc="-10" dirty="0">
                <a:latin typeface="Times New Roman"/>
                <a:cs typeface="Times New Roman"/>
              </a:rPr>
              <a:t>system. </a:t>
            </a:r>
            <a:r>
              <a:rPr lang="en-US" sz="2000" spc="5" dirty="0">
                <a:latin typeface="Times New Roman"/>
                <a:cs typeface="Times New Roman"/>
              </a:rPr>
              <a:t>The  </a:t>
            </a:r>
            <a:r>
              <a:rPr lang="en-US" sz="2000" spc="-5" dirty="0">
                <a:latin typeface="Times New Roman"/>
                <a:cs typeface="Times New Roman"/>
              </a:rPr>
              <a:t>software </a:t>
            </a:r>
            <a:r>
              <a:rPr lang="en-US" sz="2000" spc="-10" dirty="0">
                <a:latin typeface="Times New Roman"/>
                <a:cs typeface="Times New Roman"/>
              </a:rPr>
              <a:t>is </a:t>
            </a:r>
            <a:r>
              <a:rPr lang="en-US" sz="2000" dirty="0">
                <a:latin typeface="Times New Roman"/>
                <a:cs typeface="Times New Roman"/>
              </a:rPr>
              <a:t>the </a:t>
            </a:r>
            <a:r>
              <a:rPr lang="en-US" sz="2000" spc="-5" dirty="0">
                <a:latin typeface="Times New Roman"/>
                <a:cs typeface="Times New Roman"/>
              </a:rPr>
              <a:t>input, and </a:t>
            </a:r>
            <a:r>
              <a:rPr lang="en-US" sz="2000" dirty="0">
                <a:latin typeface="Times New Roman"/>
                <a:cs typeface="Times New Roman"/>
              </a:rPr>
              <a:t>the </a:t>
            </a:r>
            <a:r>
              <a:rPr lang="en-US" sz="2000" spc="-5" dirty="0">
                <a:latin typeface="Times New Roman"/>
                <a:cs typeface="Times New Roman"/>
              </a:rPr>
              <a:t>output </a:t>
            </a:r>
            <a:r>
              <a:rPr lang="en-US" sz="2000" spc="-10" dirty="0">
                <a:latin typeface="Times New Roman"/>
                <a:cs typeface="Times New Roman"/>
              </a:rPr>
              <a:t>is </a:t>
            </a:r>
            <a:r>
              <a:rPr lang="en-US" sz="2000" dirty="0">
                <a:latin typeface="Times New Roman"/>
                <a:cs typeface="Times New Roman"/>
              </a:rPr>
              <a:t>a </a:t>
            </a:r>
            <a:r>
              <a:rPr lang="en-US" sz="2000" spc="-10" dirty="0">
                <a:latin typeface="Times New Roman"/>
                <a:cs typeface="Times New Roman"/>
              </a:rPr>
              <a:t>numeric </a:t>
            </a:r>
            <a:r>
              <a:rPr lang="en-US" sz="2000" spc="-5" dirty="0">
                <a:latin typeface="Times New Roman"/>
                <a:cs typeface="Times New Roman"/>
              </a:rPr>
              <a:t>value </a:t>
            </a:r>
            <a:r>
              <a:rPr lang="en-US" sz="2000" spc="-10" dirty="0">
                <a:latin typeface="Times New Roman"/>
                <a:cs typeface="Times New Roman"/>
              </a:rPr>
              <a:t>which </a:t>
            </a:r>
            <a:r>
              <a:rPr lang="en-US" sz="2000" spc="-5" dirty="0">
                <a:latin typeface="Times New Roman"/>
                <a:cs typeface="Times New Roman"/>
              </a:rPr>
              <a:t>represents </a:t>
            </a:r>
            <a:r>
              <a:rPr lang="en-US" sz="2000" dirty="0">
                <a:latin typeface="Times New Roman"/>
                <a:cs typeface="Times New Roman"/>
              </a:rPr>
              <a:t>the </a:t>
            </a:r>
            <a:r>
              <a:rPr lang="en-US" sz="2000" b="1" spc="-5" dirty="0">
                <a:latin typeface="Times New Roman"/>
                <a:cs typeface="Times New Roman"/>
              </a:rPr>
              <a:t>degree to </a:t>
            </a:r>
            <a:r>
              <a:rPr lang="en-US" sz="2000" b="1" spc="-10" dirty="0">
                <a:latin typeface="Times New Roman"/>
                <a:cs typeface="Times New Roman"/>
              </a:rPr>
              <a:t>which </a:t>
            </a:r>
            <a:r>
              <a:rPr lang="en-US" sz="2000" b="1" dirty="0">
                <a:latin typeface="Times New Roman"/>
                <a:cs typeface="Times New Roman"/>
              </a:rPr>
              <a:t>the  </a:t>
            </a:r>
            <a:r>
              <a:rPr lang="en-US" sz="2000" b="1" spc="-5" dirty="0">
                <a:latin typeface="Times New Roman"/>
                <a:cs typeface="Times New Roman"/>
              </a:rPr>
              <a:t>software possesses </a:t>
            </a:r>
            <a:r>
              <a:rPr lang="en-US" sz="2000" b="1" dirty="0">
                <a:latin typeface="Times New Roman"/>
                <a:cs typeface="Times New Roman"/>
              </a:rPr>
              <a:t>a given </a:t>
            </a:r>
            <a:r>
              <a:rPr lang="en-US" sz="2000" b="1" spc="-5" dirty="0">
                <a:latin typeface="Times New Roman"/>
                <a:cs typeface="Times New Roman"/>
              </a:rPr>
              <a:t>quality attribute. </a:t>
            </a:r>
            <a:endParaRPr lang="en-US" sz="2000" dirty="0">
              <a:latin typeface="Times New Roman"/>
              <a:cs typeface="Times New Roman"/>
            </a:endParaRPr>
          </a:p>
        </p:txBody>
      </p:sp>
    </p:spTree>
    <p:extLst>
      <p:ext uri="{BB962C8B-B14F-4D97-AF65-F5344CB8AC3E}">
        <p14:creationId xmlns:p14="http://schemas.microsoft.com/office/powerpoint/2010/main" val="22895920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8601" y="-178670"/>
            <a:ext cx="11410949" cy="7036670"/>
          </a:xfrm>
          <a:prstGeom prst="rect">
            <a:avLst/>
          </a:prstGeom>
        </p:spPr>
        <p:txBody>
          <a:bodyPr vert="horz" wrap="square" lIns="0" tIns="0" rIns="0" bIns="0" rtlCol="0">
            <a:spAutoFit/>
          </a:bodyPr>
          <a:lstStyle/>
          <a:p>
            <a:pPr>
              <a:spcBef>
                <a:spcPts val="29"/>
              </a:spcBef>
            </a:pPr>
            <a:endParaRPr sz="3200" dirty="0">
              <a:latin typeface="Times New Roman"/>
              <a:cs typeface="Times New Roman"/>
            </a:endParaRPr>
          </a:p>
          <a:p>
            <a:pPr marL="107508" indent="-99363" algn="just">
              <a:buAutoNum type="arabicPeriod" startAt="5"/>
              <a:tabLst>
                <a:tab pos="107915" algn="l"/>
              </a:tabLst>
            </a:pPr>
            <a:r>
              <a:rPr sz="2400" b="1" i="1" spc="-3" dirty="0">
                <a:latin typeface="Times New Roman"/>
                <a:cs typeface="Times New Roman"/>
              </a:rPr>
              <a:t>SQA Standards, System Certification, </a:t>
            </a:r>
            <a:r>
              <a:rPr sz="2400" b="1" i="1" dirty="0">
                <a:latin typeface="Times New Roman"/>
                <a:cs typeface="Times New Roman"/>
              </a:rPr>
              <a:t>and </a:t>
            </a:r>
            <a:r>
              <a:rPr sz="2400" b="1" i="1" spc="-3" dirty="0">
                <a:latin typeface="Times New Roman"/>
                <a:cs typeface="Times New Roman"/>
              </a:rPr>
              <a:t>Assessment</a:t>
            </a:r>
            <a:r>
              <a:rPr sz="2400" b="1" i="1" spc="42" dirty="0">
                <a:latin typeface="Times New Roman"/>
                <a:cs typeface="Times New Roman"/>
              </a:rPr>
              <a:t> </a:t>
            </a:r>
            <a:r>
              <a:rPr sz="2400" b="1" i="1" spc="-3" dirty="0">
                <a:latin typeface="Times New Roman"/>
                <a:cs typeface="Times New Roman"/>
              </a:rPr>
              <a:t>Components</a:t>
            </a:r>
            <a:endParaRPr sz="2400" dirty="0">
              <a:latin typeface="Times New Roman"/>
              <a:cs typeface="Times New Roman"/>
            </a:endParaRPr>
          </a:p>
          <a:p>
            <a:pPr marL="8145" marR="5294" indent="146601">
              <a:lnSpc>
                <a:spcPct val="145600"/>
              </a:lnSpc>
              <a:spcBef>
                <a:spcPts val="202"/>
              </a:spcBef>
            </a:pPr>
            <a:r>
              <a:rPr sz="2400" spc="-3" dirty="0">
                <a:latin typeface="Times New Roman"/>
                <a:cs typeface="Times New Roman"/>
              </a:rPr>
              <a:t>This </a:t>
            </a:r>
            <a:r>
              <a:rPr sz="2400" spc="-6" dirty="0">
                <a:latin typeface="Times New Roman"/>
                <a:cs typeface="Times New Roman"/>
              </a:rPr>
              <a:t>component </a:t>
            </a:r>
            <a:r>
              <a:rPr sz="2400" spc="-3" dirty="0">
                <a:latin typeface="Times New Roman"/>
                <a:cs typeface="Times New Roman"/>
              </a:rPr>
              <a:t>focuses </a:t>
            </a:r>
            <a:r>
              <a:rPr sz="2400" spc="-10" dirty="0">
                <a:latin typeface="Times New Roman"/>
                <a:cs typeface="Times New Roman"/>
              </a:rPr>
              <a:t>on </a:t>
            </a:r>
            <a:r>
              <a:rPr sz="2400" dirty="0">
                <a:latin typeface="Times New Roman"/>
                <a:cs typeface="Times New Roman"/>
              </a:rPr>
              <a:t>using </a:t>
            </a:r>
            <a:r>
              <a:rPr sz="2400" spc="-3" dirty="0">
                <a:latin typeface="Times New Roman"/>
                <a:cs typeface="Times New Roman"/>
              </a:rPr>
              <a:t>external tools </a:t>
            </a:r>
            <a:r>
              <a:rPr sz="2400" dirty="0">
                <a:latin typeface="Times New Roman"/>
                <a:cs typeface="Times New Roman"/>
              </a:rPr>
              <a:t>to achieve </a:t>
            </a:r>
            <a:r>
              <a:rPr sz="2400" spc="-6" dirty="0">
                <a:latin typeface="Times New Roman"/>
                <a:cs typeface="Times New Roman"/>
              </a:rPr>
              <a:t>the, </a:t>
            </a:r>
            <a:r>
              <a:rPr sz="2400" spc="-3" dirty="0">
                <a:latin typeface="Times New Roman"/>
                <a:cs typeface="Times New Roman"/>
              </a:rPr>
              <a:t>in-house, </a:t>
            </a:r>
            <a:r>
              <a:rPr sz="2400" spc="-6" dirty="0">
                <a:latin typeface="Times New Roman"/>
                <a:cs typeface="Times New Roman"/>
              </a:rPr>
              <a:t>goals </a:t>
            </a:r>
            <a:r>
              <a:rPr sz="2400" spc="-10" dirty="0">
                <a:latin typeface="Times New Roman"/>
                <a:cs typeface="Times New Roman"/>
              </a:rPr>
              <a:t>of </a:t>
            </a:r>
            <a:r>
              <a:rPr sz="2400" spc="-3" dirty="0">
                <a:latin typeface="Times New Roman"/>
                <a:cs typeface="Times New Roman"/>
              </a:rPr>
              <a:t>software quality  assurance. </a:t>
            </a:r>
            <a:r>
              <a:rPr sz="2400" dirty="0">
                <a:latin typeface="Times New Roman"/>
                <a:cs typeface="Times New Roman"/>
              </a:rPr>
              <a:t>There </a:t>
            </a:r>
            <a:r>
              <a:rPr sz="2400" spc="6" dirty="0">
                <a:latin typeface="Times New Roman"/>
                <a:cs typeface="Times New Roman"/>
              </a:rPr>
              <a:t>are </a:t>
            </a:r>
            <a:r>
              <a:rPr sz="2400" spc="-3" dirty="0">
                <a:latin typeface="Times New Roman"/>
                <a:cs typeface="Times New Roman"/>
              </a:rPr>
              <a:t>three </a:t>
            </a:r>
            <a:r>
              <a:rPr sz="2400" spc="-6" dirty="0">
                <a:latin typeface="Times New Roman"/>
                <a:cs typeface="Times New Roman"/>
              </a:rPr>
              <a:t>main </a:t>
            </a:r>
            <a:r>
              <a:rPr sz="2400" spc="-3" dirty="0">
                <a:latin typeface="Times New Roman"/>
                <a:cs typeface="Times New Roman"/>
              </a:rPr>
              <a:t>objectives, D.Galin (2003):</a:t>
            </a:r>
            <a:endParaRPr sz="2400" dirty="0">
              <a:latin typeface="Times New Roman"/>
              <a:cs typeface="Times New Roman"/>
            </a:endParaRPr>
          </a:p>
          <a:p>
            <a:pPr marL="301347" lvl="1" indent="-146601">
              <a:spcBef>
                <a:spcPts val="369"/>
              </a:spcBef>
              <a:buAutoNum type="arabicPeriod"/>
              <a:tabLst>
                <a:tab pos="301753" algn="l"/>
              </a:tabLst>
            </a:pPr>
            <a:r>
              <a:rPr sz="2400" spc="-3" dirty="0">
                <a:latin typeface="Times New Roman"/>
                <a:cs typeface="Times New Roman"/>
              </a:rPr>
              <a:t>Utilization </a:t>
            </a:r>
            <a:r>
              <a:rPr sz="2400" dirty="0">
                <a:latin typeface="Times New Roman"/>
                <a:cs typeface="Times New Roman"/>
              </a:rPr>
              <a:t>of </a:t>
            </a:r>
            <a:r>
              <a:rPr sz="2400" spc="-3" dirty="0">
                <a:latin typeface="Times New Roman"/>
                <a:cs typeface="Times New Roman"/>
              </a:rPr>
              <a:t>international professional</a:t>
            </a:r>
            <a:r>
              <a:rPr sz="2400" spc="13" dirty="0">
                <a:latin typeface="Times New Roman"/>
                <a:cs typeface="Times New Roman"/>
              </a:rPr>
              <a:t> </a:t>
            </a:r>
            <a:r>
              <a:rPr sz="2400" spc="-3" dirty="0">
                <a:latin typeface="Times New Roman"/>
                <a:cs typeface="Times New Roman"/>
              </a:rPr>
              <a:t>knowledge</a:t>
            </a:r>
            <a:endParaRPr sz="2800" dirty="0">
              <a:latin typeface="Times New Roman"/>
              <a:cs typeface="Times New Roman"/>
            </a:endParaRPr>
          </a:p>
          <a:p>
            <a:pPr marL="301347" lvl="1" indent="-146601">
              <a:buAutoNum type="arabicPeriod"/>
              <a:tabLst>
                <a:tab pos="301753" algn="l"/>
              </a:tabLst>
            </a:pPr>
            <a:r>
              <a:rPr sz="2400" spc="-3" dirty="0">
                <a:latin typeface="Times New Roman"/>
                <a:cs typeface="Times New Roman"/>
              </a:rPr>
              <a:t>Improvement </a:t>
            </a:r>
            <a:r>
              <a:rPr sz="2400" dirty="0">
                <a:latin typeface="Times New Roman"/>
                <a:cs typeface="Times New Roman"/>
              </a:rPr>
              <a:t>of </a:t>
            </a:r>
            <a:r>
              <a:rPr sz="2400" spc="-3" dirty="0">
                <a:latin typeface="Times New Roman"/>
                <a:cs typeface="Times New Roman"/>
              </a:rPr>
              <a:t>coordination </a:t>
            </a:r>
            <a:r>
              <a:rPr sz="2400" dirty="0">
                <a:latin typeface="Times New Roman"/>
                <a:cs typeface="Times New Roman"/>
              </a:rPr>
              <a:t>with </a:t>
            </a:r>
            <a:r>
              <a:rPr sz="2400" spc="-6" dirty="0">
                <a:latin typeface="Times New Roman"/>
                <a:cs typeface="Times New Roman"/>
              </a:rPr>
              <a:t>other </a:t>
            </a:r>
            <a:r>
              <a:rPr sz="2400" spc="-3" dirty="0">
                <a:latin typeface="Times New Roman"/>
                <a:cs typeface="Times New Roman"/>
              </a:rPr>
              <a:t>organizations quality</a:t>
            </a:r>
            <a:r>
              <a:rPr sz="2400" spc="48" dirty="0">
                <a:latin typeface="Times New Roman"/>
                <a:cs typeface="Times New Roman"/>
              </a:rPr>
              <a:t> </a:t>
            </a:r>
            <a:r>
              <a:rPr sz="2400" spc="-3" dirty="0">
                <a:latin typeface="Times New Roman"/>
                <a:cs typeface="Times New Roman"/>
              </a:rPr>
              <a:t>systems</a:t>
            </a:r>
            <a:endParaRPr sz="2400" dirty="0">
              <a:latin typeface="Times New Roman"/>
              <a:cs typeface="Times New Roman"/>
            </a:endParaRPr>
          </a:p>
          <a:p>
            <a:pPr marL="301347" marR="9773" lvl="1" indent="-146601">
              <a:lnSpc>
                <a:spcPct val="143600"/>
              </a:lnSpc>
              <a:spcBef>
                <a:spcPts val="648"/>
              </a:spcBef>
              <a:buAutoNum type="arabicPeriod"/>
              <a:tabLst>
                <a:tab pos="301753" algn="l"/>
              </a:tabLst>
            </a:pPr>
            <a:r>
              <a:rPr sz="2400" spc="-3" dirty="0">
                <a:latin typeface="Times New Roman"/>
                <a:cs typeface="Times New Roman"/>
              </a:rPr>
              <a:t>Objective professional evaluation </a:t>
            </a:r>
            <a:r>
              <a:rPr sz="2400" spc="3" dirty="0">
                <a:latin typeface="Times New Roman"/>
                <a:cs typeface="Times New Roman"/>
              </a:rPr>
              <a:t>and </a:t>
            </a:r>
            <a:r>
              <a:rPr sz="2400" spc="-3" dirty="0">
                <a:latin typeface="Times New Roman"/>
                <a:cs typeface="Times New Roman"/>
              </a:rPr>
              <a:t>measurement </a:t>
            </a:r>
            <a:r>
              <a:rPr sz="2400" spc="-10" dirty="0">
                <a:latin typeface="Times New Roman"/>
                <a:cs typeface="Times New Roman"/>
              </a:rPr>
              <a:t>of </a:t>
            </a:r>
            <a:r>
              <a:rPr sz="2400" dirty="0">
                <a:latin typeface="Times New Roman"/>
                <a:cs typeface="Times New Roman"/>
              </a:rPr>
              <a:t>the </a:t>
            </a:r>
            <a:r>
              <a:rPr sz="2400" spc="-3" dirty="0">
                <a:latin typeface="Times New Roman"/>
                <a:cs typeface="Times New Roman"/>
              </a:rPr>
              <a:t>achievements </a:t>
            </a:r>
            <a:r>
              <a:rPr sz="2400" spc="-10" dirty="0">
                <a:latin typeface="Times New Roman"/>
                <a:cs typeface="Times New Roman"/>
              </a:rPr>
              <a:t>of </a:t>
            </a:r>
            <a:r>
              <a:rPr sz="2400" dirty="0">
                <a:latin typeface="Times New Roman"/>
                <a:cs typeface="Times New Roman"/>
              </a:rPr>
              <a:t>the </a:t>
            </a:r>
            <a:r>
              <a:rPr sz="2400" spc="-3" dirty="0">
                <a:latin typeface="Times New Roman"/>
                <a:cs typeface="Times New Roman"/>
              </a:rPr>
              <a:t>organizations  quality</a:t>
            </a:r>
            <a:r>
              <a:rPr sz="2400" spc="-55" dirty="0">
                <a:latin typeface="Times New Roman"/>
                <a:cs typeface="Times New Roman"/>
              </a:rPr>
              <a:t> </a:t>
            </a:r>
            <a:r>
              <a:rPr sz="2400" spc="-3" dirty="0">
                <a:latin typeface="Times New Roman"/>
                <a:cs typeface="Times New Roman"/>
              </a:rPr>
              <a:t>systems</a:t>
            </a:r>
            <a:endParaRPr sz="2400" dirty="0">
              <a:latin typeface="Times New Roman"/>
              <a:cs typeface="Times New Roman"/>
            </a:endParaRPr>
          </a:p>
          <a:p>
            <a:pPr marL="8145" algn="just"/>
            <a:r>
              <a:rPr sz="2400" dirty="0">
                <a:latin typeface="Times New Roman"/>
                <a:cs typeface="Times New Roman"/>
              </a:rPr>
              <a:t>The </a:t>
            </a:r>
            <a:r>
              <a:rPr sz="2400" spc="-3" dirty="0">
                <a:latin typeface="Times New Roman"/>
                <a:cs typeface="Times New Roman"/>
              </a:rPr>
              <a:t>standards available </a:t>
            </a:r>
            <a:r>
              <a:rPr sz="2400" spc="6" dirty="0">
                <a:latin typeface="Times New Roman"/>
                <a:cs typeface="Times New Roman"/>
              </a:rPr>
              <a:t>to </a:t>
            </a:r>
            <a:r>
              <a:rPr sz="2400" dirty="0">
                <a:latin typeface="Times New Roman"/>
                <a:cs typeface="Times New Roman"/>
              </a:rPr>
              <a:t>achieve the </a:t>
            </a:r>
            <a:r>
              <a:rPr sz="2400" spc="3" dirty="0">
                <a:latin typeface="Times New Roman"/>
                <a:cs typeface="Times New Roman"/>
              </a:rPr>
              <a:t>above </a:t>
            </a:r>
            <a:r>
              <a:rPr sz="2400" spc="-3" dirty="0">
                <a:latin typeface="Times New Roman"/>
                <a:cs typeface="Times New Roman"/>
              </a:rPr>
              <a:t>objectives </a:t>
            </a:r>
            <a:r>
              <a:rPr sz="2400" dirty="0">
                <a:latin typeface="Times New Roman"/>
                <a:cs typeface="Times New Roman"/>
              </a:rPr>
              <a:t>can be </a:t>
            </a:r>
            <a:r>
              <a:rPr sz="2400" spc="-3" dirty="0">
                <a:latin typeface="Times New Roman"/>
                <a:cs typeface="Times New Roman"/>
              </a:rPr>
              <a:t>classified </a:t>
            </a:r>
            <a:r>
              <a:rPr sz="2400" dirty="0">
                <a:latin typeface="Times New Roman"/>
                <a:cs typeface="Times New Roman"/>
              </a:rPr>
              <a:t>into </a:t>
            </a:r>
            <a:r>
              <a:rPr sz="2400" spc="-3" dirty="0">
                <a:latin typeface="Times New Roman"/>
                <a:cs typeface="Times New Roman"/>
              </a:rPr>
              <a:t>two</a:t>
            </a:r>
            <a:r>
              <a:rPr sz="2400" spc="-29" dirty="0">
                <a:latin typeface="Times New Roman"/>
                <a:cs typeface="Times New Roman"/>
              </a:rPr>
              <a:t> </a:t>
            </a:r>
            <a:r>
              <a:rPr sz="2400" spc="-3" dirty="0">
                <a:latin typeface="Times New Roman"/>
                <a:cs typeface="Times New Roman"/>
              </a:rPr>
              <a:t>sub-classes</a:t>
            </a:r>
            <a:endParaRPr sz="2400" dirty="0">
              <a:latin typeface="Times New Roman"/>
              <a:cs typeface="Times New Roman"/>
            </a:endParaRPr>
          </a:p>
          <a:p>
            <a:pPr marL="301347" indent="-146601">
              <a:spcBef>
                <a:spcPts val="369"/>
              </a:spcBef>
              <a:buAutoNum type="arabicPeriod"/>
              <a:tabLst>
                <a:tab pos="301753" algn="l"/>
              </a:tabLst>
            </a:pPr>
            <a:r>
              <a:rPr sz="2400" spc="-3" dirty="0">
                <a:latin typeface="Times New Roman"/>
                <a:cs typeface="Times New Roman"/>
              </a:rPr>
              <a:t>Quality Management Standards </a:t>
            </a:r>
            <a:r>
              <a:rPr sz="2400" dirty="0">
                <a:latin typeface="Times New Roman"/>
                <a:cs typeface="Times New Roman"/>
              </a:rPr>
              <a:t>– </a:t>
            </a:r>
            <a:r>
              <a:rPr sz="2400" spc="-6" dirty="0">
                <a:latin typeface="Times New Roman"/>
                <a:cs typeface="Times New Roman"/>
              </a:rPr>
              <a:t>‘what’ is</a:t>
            </a:r>
            <a:r>
              <a:rPr sz="2400" spc="61" dirty="0">
                <a:latin typeface="Times New Roman"/>
                <a:cs typeface="Times New Roman"/>
              </a:rPr>
              <a:t> </a:t>
            </a:r>
            <a:r>
              <a:rPr sz="2400" spc="-3" dirty="0">
                <a:latin typeface="Times New Roman"/>
                <a:cs typeface="Times New Roman"/>
              </a:rPr>
              <a:t>required</a:t>
            </a:r>
            <a:endParaRPr sz="2800" dirty="0">
              <a:latin typeface="Times New Roman"/>
              <a:cs typeface="Times New Roman"/>
            </a:endParaRPr>
          </a:p>
          <a:p>
            <a:pPr marL="301347" indent="-146601">
              <a:spcBef>
                <a:spcPts val="3"/>
              </a:spcBef>
              <a:buAutoNum type="arabicPeriod"/>
              <a:tabLst>
                <a:tab pos="301753" algn="l"/>
              </a:tabLst>
            </a:pPr>
            <a:r>
              <a:rPr sz="2400" spc="-6" dirty="0">
                <a:latin typeface="Times New Roman"/>
                <a:cs typeface="Times New Roman"/>
              </a:rPr>
              <a:t>Project </a:t>
            </a:r>
            <a:r>
              <a:rPr sz="2400" spc="-3" dirty="0">
                <a:latin typeface="Times New Roman"/>
                <a:cs typeface="Times New Roman"/>
              </a:rPr>
              <a:t>Process Standards </a:t>
            </a:r>
            <a:r>
              <a:rPr sz="2400" dirty="0">
                <a:latin typeface="Times New Roman"/>
                <a:cs typeface="Times New Roman"/>
              </a:rPr>
              <a:t>– </a:t>
            </a:r>
            <a:r>
              <a:rPr sz="2400" spc="-6" dirty="0">
                <a:latin typeface="Times New Roman"/>
                <a:cs typeface="Times New Roman"/>
              </a:rPr>
              <a:t>‘how’ it is</a:t>
            </a:r>
            <a:r>
              <a:rPr sz="2400" spc="77" dirty="0">
                <a:latin typeface="Times New Roman"/>
                <a:cs typeface="Times New Roman"/>
              </a:rPr>
              <a:t> </a:t>
            </a:r>
            <a:r>
              <a:rPr sz="2400" dirty="0">
                <a:latin typeface="Times New Roman"/>
                <a:cs typeface="Times New Roman"/>
              </a:rPr>
              <a:t>done</a:t>
            </a:r>
          </a:p>
          <a:p>
            <a:pPr marL="8145" marR="3258" algn="just">
              <a:lnSpc>
                <a:spcPct val="143600"/>
              </a:lnSpc>
              <a:spcBef>
                <a:spcPts val="632"/>
              </a:spcBef>
            </a:pPr>
            <a:r>
              <a:rPr sz="2400" dirty="0">
                <a:latin typeface="Times New Roman"/>
                <a:cs typeface="Times New Roman"/>
              </a:rPr>
              <a:t>The </a:t>
            </a:r>
            <a:r>
              <a:rPr sz="2400" spc="-3" dirty="0">
                <a:latin typeface="Times New Roman"/>
                <a:cs typeface="Times New Roman"/>
              </a:rPr>
              <a:t>outcome </a:t>
            </a:r>
            <a:r>
              <a:rPr sz="2400" dirty="0">
                <a:latin typeface="Times New Roman"/>
                <a:cs typeface="Times New Roman"/>
              </a:rPr>
              <a:t>of </a:t>
            </a:r>
            <a:r>
              <a:rPr sz="2400" spc="-6" dirty="0">
                <a:latin typeface="Times New Roman"/>
                <a:cs typeface="Times New Roman"/>
              </a:rPr>
              <a:t>this </a:t>
            </a:r>
            <a:r>
              <a:rPr sz="2400" spc="-3" dirty="0">
                <a:latin typeface="Times New Roman"/>
                <a:cs typeface="Times New Roman"/>
              </a:rPr>
              <a:t>component </a:t>
            </a:r>
            <a:r>
              <a:rPr sz="2400" spc="-6" dirty="0">
                <a:latin typeface="Times New Roman"/>
                <a:cs typeface="Times New Roman"/>
              </a:rPr>
              <a:t>is </a:t>
            </a:r>
            <a:r>
              <a:rPr sz="2400" spc="-3" dirty="0">
                <a:latin typeface="Times New Roman"/>
                <a:cs typeface="Times New Roman"/>
              </a:rPr>
              <a:t>simply </a:t>
            </a:r>
            <a:r>
              <a:rPr sz="2400" dirty="0">
                <a:latin typeface="Times New Roman"/>
                <a:cs typeface="Times New Roman"/>
              </a:rPr>
              <a:t>to use </a:t>
            </a:r>
            <a:r>
              <a:rPr sz="2400" spc="-3" dirty="0">
                <a:latin typeface="Times New Roman"/>
                <a:cs typeface="Times New Roman"/>
              </a:rPr>
              <a:t>external tools, </a:t>
            </a:r>
            <a:r>
              <a:rPr sz="2400" spc="-6" dirty="0">
                <a:latin typeface="Times New Roman"/>
                <a:cs typeface="Times New Roman"/>
              </a:rPr>
              <a:t>i.e. </a:t>
            </a:r>
            <a:r>
              <a:rPr sz="2400" spc="-3" dirty="0">
                <a:latin typeface="Times New Roman"/>
                <a:cs typeface="Times New Roman"/>
              </a:rPr>
              <a:t>staff, </a:t>
            </a:r>
            <a:r>
              <a:rPr sz="2400" dirty="0">
                <a:latin typeface="Times New Roman"/>
                <a:cs typeface="Times New Roman"/>
              </a:rPr>
              <a:t>to </a:t>
            </a:r>
            <a:r>
              <a:rPr sz="2400" spc="-3" dirty="0">
                <a:latin typeface="Times New Roman"/>
                <a:cs typeface="Times New Roman"/>
              </a:rPr>
              <a:t>achieve </a:t>
            </a:r>
            <a:r>
              <a:rPr sz="2400" dirty="0">
                <a:latin typeface="Times New Roman"/>
                <a:cs typeface="Times New Roman"/>
              </a:rPr>
              <a:t>the desired </a:t>
            </a:r>
            <a:r>
              <a:rPr sz="2400" spc="3" dirty="0">
                <a:latin typeface="Times New Roman"/>
                <a:cs typeface="Times New Roman"/>
              </a:rPr>
              <a:t>in-house  </a:t>
            </a:r>
            <a:r>
              <a:rPr sz="2400" spc="-3" dirty="0">
                <a:latin typeface="Times New Roman"/>
                <a:cs typeface="Times New Roman"/>
              </a:rPr>
              <a:t>software </a:t>
            </a:r>
            <a:r>
              <a:rPr sz="2400" dirty="0">
                <a:latin typeface="Times New Roman"/>
                <a:cs typeface="Times New Roman"/>
              </a:rPr>
              <a:t>quality </a:t>
            </a:r>
            <a:r>
              <a:rPr sz="2400" spc="-3" dirty="0">
                <a:latin typeface="Times New Roman"/>
                <a:cs typeface="Times New Roman"/>
              </a:rPr>
              <a:t>assurance </a:t>
            </a:r>
            <a:r>
              <a:rPr sz="2400" dirty="0">
                <a:latin typeface="Times New Roman"/>
                <a:cs typeface="Times New Roman"/>
              </a:rPr>
              <a:t>complying </a:t>
            </a:r>
            <a:r>
              <a:rPr sz="2400" spc="-6" dirty="0">
                <a:latin typeface="Times New Roman"/>
                <a:cs typeface="Times New Roman"/>
              </a:rPr>
              <a:t>with </a:t>
            </a:r>
            <a:r>
              <a:rPr sz="2400" spc="6" dirty="0">
                <a:latin typeface="Times New Roman"/>
                <a:cs typeface="Times New Roman"/>
              </a:rPr>
              <a:t>the </a:t>
            </a:r>
            <a:r>
              <a:rPr sz="2400" dirty="0">
                <a:latin typeface="Times New Roman"/>
                <a:cs typeface="Times New Roman"/>
              </a:rPr>
              <a:t>standards </a:t>
            </a:r>
            <a:r>
              <a:rPr sz="2400" spc="-10" dirty="0">
                <a:latin typeface="Times New Roman"/>
                <a:cs typeface="Times New Roman"/>
              </a:rPr>
              <a:t>of </a:t>
            </a:r>
            <a:r>
              <a:rPr sz="2400" dirty="0">
                <a:latin typeface="Times New Roman"/>
                <a:cs typeface="Times New Roman"/>
              </a:rPr>
              <a:t>the</a:t>
            </a:r>
            <a:r>
              <a:rPr sz="2400" spc="-58" dirty="0">
                <a:latin typeface="Times New Roman"/>
                <a:cs typeface="Times New Roman"/>
              </a:rPr>
              <a:t> </a:t>
            </a:r>
            <a:r>
              <a:rPr sz="2400" spc="-3" dirty="0">
                <a:latin typeface="Times New Roman"/>
                <a:cs typeface="Times New Roman"/>
              </a:rPr>
              <a:t>organization.</a:t>
            </a:r>
            <a:endParaRPr sz="2400" dirty="0">
              <a:latin typeface="Times New Roman"/>
              <a:cs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E3371F-CA8A-5B75-3EE7-C287E55106C4}"/>
              </a:ext>
            </a:extLst>
          </p:cNvPr>
          <p:cNvSpPr txBox="1"/>
          <p:nvPr/>
        </p:nvSpPr>
        <p:spPr>
          <a:xfrm>
            <a:off x="278296" y="960886"/>
            <a:ext cx="10992678" cy="3133807"/>
          </a:xfrm>
          <a:prstGeom prst="rect">
            <a:avLst/>
          </a:prstGeom>
          <a:noFill/>
        </p:spPr>
        <p:txBody>
          <a:bodyPr wrap="square">
            <a:spAutoFit/>
          </a:bodyPr>
          <a:lstStyle/>
          <a:p>
            <a:pPr marL="12700" marR="5080" algn="just">
              <a:lnSpc>
                <a:spcPct val="143700"/>
              </a:lnSpc>
            </a:pPr>
            <a:r>
              <a:rPr lang="en-US" sz="2800" dirty="0">
                <a:latin typeface="Times New Roman"/>
                <a:cs typeface="Times New Roman"/>
              </a:rPr>
              <a:t>The </a:t>
            </a:r>
            <a:r>
              <a:rPr lang="en-US" sz="2800" spc="-10" dirty="0">
                <a:latin typeface="Times New Roman"/>
                <a:cs typeface="Times New Roman"/>
              </a:rPr>
              <a:t>measures </a:t>
            </a:r>
            <a:r>
              <a:rPr lang="en-US" sz="2800" dirty="0">
                <a:latin typeface="Times New Roman"/>
                <a:cs typeface="Times New Roman"/>
              </a:rPr>
              <a:t>can </a:t>
            </a:r>
            <a:r>
              <a:rPr lang="en-US" sz="2800" spc="-5" dirty="0">
                <a:latin typeface="Times New Roman"/>
                <a:cs typeface="Times New Roman"/>
              </a:rPr>
              <a:t>apply </a:t>
            </a:r>
            <a:r>
              <a:rPr lang="en-US" sz="2800" dirty="0">
                <a:latin typeface="Times New Roman"/>
                <a:cs typeface="Times New Roman"/>
              </a:rPr>
              <a:t>to </a:t>
            </a:r>
            <a:r>
              <a:rPr lang="en-US" sz="2800" spc="-5" dirty="0">
                <a:latin typeface="Times New Roman"/>
                <a:cs typeface="Times New Roman"/>
              </a:rPr>
              <a:t>functional </a:t>
            </a:r>
            <a:r>
              <a:rPr lang="en-US" sz="2800" spc="-10" dirty="0">
                <a:latin typeface="Times New Roman"/>
                <a:cs typeface="Times New Roman"/>
              </a:rPr>
              <a:t>quality, </a:t>
            </a:r>
            <a:r>
              <a:rPr lang="en-US" sz="2800" spc="240" dirty="0">
                <a:latin typeface="Times New Roman"/>
                <a:cs typeface="Times New Roman"/>
              </a:rPr>
              <a:t> </a:t>
            </a:r>
            <a:r>
              <a:rPr lang="en-US" sz="2800" dirty="0">
                <a:latin typeface="Times New Roman"/>
                <a:cs typeface="Times New Roman"/>
              </a:rPr>
              <a:t>productivity </a:t>
            </a:r>
            <a:r>
              <a:rPr lang="en-US" sz="2800" spc="-5" dirty="0">
                <a:latin typeface="Times New Roman"/>
                <a:cs typeface="Times New Roman"/>
              </a:rPr>
              <a:t>and </a:t>
            </a:r>
            <a:r>
              <a:rPr lang="en-US" sz="2800" dirty="0">
                <a:latin typeface="Times New Roman"/>
                <a:cs typeface="Times New Roman"/>
              </a:rPr>
              <a:t>the </a:t>
            </a:r>
            <a:r>
              <a:rPr lang="en-US" sz="2800" spc="-5" dirty="0">
                <a:latin typeface="Times New Roman"/>
                <a:cs typeface="Times New Roman"/>
              </a:rPr>
              <a:t>organization </a:t>
            </a:r>
            <a:r>
              <a:rPr lang="en-US" sz="2800" dirty="0">
                <a:latin typeface="Times New Roman"/>
                <a:cs typeface="Times New Roman"/>
              </a:rPr>
              <a:t>side </a:t>
            </a:r>
            <a:r>
              <a:rPr lang="en-US" sz="2800" spc="-15" dirty="0">
                <a:latin typeface="Times New Roman"/>
                <a:cs typeface="Times New Roman"/>
              </a:rPr>
              <a:t>of </a:t>
            </a:r>
            <a:r>
              <a:rPr lang="en-US" sz="2800" dirty="0">
                <a:latin typeface="Times New Roman"/>
                <a:cs typeface="Times New Roman"/>
              </a:rPr>
              <a:t>the</a:t>
            </a:r>
            <a:r>
              <a:rPr lang="en-US" sz="2800" spc="-50" dirty="0">
                <a:latin typeface="Times New Roman"/>
                <a:cs typeface="Times New Roman"/>
              </a:rPr>
              <a:t> </a:t>
            </a:r>
            <a:r>
              <a:rPr lang="en-US" sz="2800" dirty="0">
                <a:latin typeface="Times New Roman"/>
                <a:cs typeface="Times New Roman"/>
              </a:rPr>
              <a:t>project.</a:t>
            </a:r>
          </a:p>
          <a:p>
            <a:pPr marL="12700" algn="just">
              <a:lnSpc>
                <a:spcPct val="100000"/>
              </a:lnSpc>
              <a:spcBef>
                <a:spcPts val="575"/>
              </a:spcBef>
            </a:pPr>
            <a:r>
              <a:rPr lang="en-US" sz="2800" dirty="0">
                <a:latin typeface="Times New Roman"/>
                <a:cs typeface="Times New Roman"/>
              </a:rPr>
              <a:t>The  Software  Quality  </a:t>
            </a:r>
            <a:r>
              <a:rPr lang="en-US" sz="2800" spc="-5" dirty="0">
                <a:latin typeface="Times New Roman"/>
                <a:cs typeface="Times New Roman"/>
              </a:rPr>
              <a:t>Costs  </a:t>
            </a:r>
            <a:r>
              <a:rPr lang="en-US" sz="2800" spc="10" dirty="0">
                <a:latin typeface="Times New Roman"/>
                <a:cs typeface="Times New Roman"/>
              </a:rPr>
              <a:t>are  </a:t>
            </a:r>
            <a:r>
              <a:rPr lang="en-US" sz="2800" dirty="0">
                <a:latin typeface="Times New Roman"/>
                <a:cs typeface="Times New Roman"/>
              </a:rPr>
              <a:t>the  </a:t>
            </a:r>
            <a:r>
              <a:rPr lang="en-US" sz="2800" spc="-5" dirty="0">
                <a:latin typeface="Times New Roman"/>
                <a:cs typeface="Times New Roman"/>
              </a:rPr>
              <a:t>costs  that  </a:t>
            </a:r>
            <a:r>
              <a:rPr lang="en-US" sz="2800" spc="-10" dirty="0">
                <a:latin typeface="Times New Roman"/>
                <a:cs typeface="Times New Roman"/>
              </a:rPr>
              <a:t>incur  throughout  </a:t>
            </a:r>
            <a:r>
              <a:rPr lang="en-US" sz="2800" spc="10" dirty="0">
                <a:latin typeface="Times New Roman"/>
                <a:cs typeface="Times New Roman"/>
              </a:rPr>
              <a:t>the  </a:t>
            </a:r>
            <a:r>
              <a:rPr lang="en-US" sz="2800" spc="-5" dirty="0">
                <a:latin typeface="Times New Roman"/>
                <a:cs typeface="Times New Roman"/>
              </a:rPr>
              <a:t>entire  project;  </a:t>
            </a:r>
            <a:r>
              <a:rPr lang="en-US" sz="2800" dirty="0">
                <a:latin typeface="Times New Roman"/>
                <a:cs typeface="Times New Roman"/>
              </a:rPr>
              <a:t>the  total  </a:t>
            </a:r>
            <a:r>
              <a:rPr lang="en-US" sz="2800" spc="-5" dirty="0">
                <a:latin typeface="Times New Roman"/>
                <a:cs typeface="Times New Roman"/>
              </a:rPr>
              <a:t>cost</a:t>
            </a:r>
            <a:r>
              <a:rPr lang="en-US" sz="2800" spc="204" dirty="0">
                <a:latin typeface="Times New Roman"/>
                <a:cs typeface="Times New Roman"/>
              </a:rPr>
              <a:t> </a:t>
            </a:r>
            <a:r>
              <a:rPr lang="en-US" sz="2800" spc="-10" dirty="0">
                <a:latin typeface="Times New Roman"/>
                <a:cs typeface="Times New Roman"/>
              </a:rPr>
              <a:t>is </a:t>
            </a:r>
            <a:r>
              <a:rPr lang="en-US" sz="2800" spc="-5" dirty="0">
                <a:latin typeface="Times New Roman"/>
                <a:cs typeface="Times New Roman"/>
              </a:rPr>
              <a:t>calculated </a:t>
            </a:r>
            <a:r>
              <a:rPr lang="en-US" sz="2800" dirty="0">
                <a:latin typeface="Times New Roman"/>
                <a:cs typeface="Times New Roman"/>
              </a:rPr>
              <a:t>from the </a:t>
            </a:r>
            <a:r>
              <a:rPr lang="en-US" sz="2800" spc="-5" dirty="0">
                <a:latin typeface="Times New Roman"/>
                <a:cs typeface="Times New Roman"/>
              </a:rPr>
              <a:t>costs </a:t>
            </a:r>
            <a:r>
              <a:rPr lang="en-US" sz="2800" spc="-15" dirty="0">
                <a:latin typeface="Times New Roman"/>
                <a:cs typeface="Times New Roman"/>
              </a:rPr>
              <a:t>of </a:t>
            </a:r>
            <a:r>
              <a:rPr lang="en-US" sz="2800" spc="-5" dirty="0">
                <a:latin typeface="Times New Roman"/>
                <a:cs typeface="Times New Roman"/>
              </a:rPr>
              <a:t>control </a:t>
            </a:r>
            <a:r>
              <a:rPr lang="en-US" sz="2800" spc="5" dirty="0">
                <a:latin typeface="Times New Roman"/>
                <a:cs typeface="Times New Roman"/>
              </a:rPr>
              <a:t>and </a:t>
            </a:r>
            <a:r>
              <a:rPr lang="en-US" sz="2800" spc="10" dirty="0">
                <a:latin typeface="Times New Roman"/>
                <a:cs typeface="Times New Roman"/>
              </a:rPr>
              <a:t>the </a:t>
            </a:r>
            <a:r>
              <a:rPr lang="en-US" sz="2800" spc="-5" dirty="0">
                <a:latin typeface="Times New Roman"/>
                <a:cs typeface="Times New Roman"/>
              </a:rPr>
              <a:t>costs </a:t>
            </a:r>
            <a:r>
              <a:rPr lang="en-US" sz="2800" spc="-15" dirty="0">
                <a:latin typeface="Times New Roman"/>
                <a:cs typeface="Times New Roman"/>
              </a:rPr>
              <a:t>of </a:t>
            </a:r>
            <a:r>
              <a:rPr lang="en-US" sz="2800" spc="-5" dirty="0">
                <a:latin typeface="Times New Roman"/>
                <a:cs typeface="Times New Roman"/>
              </a:rPr>
              <a:t>failure. </a:t>
            </a:r>
            <a:r>
              <a:rPr lang="en-US" sz="2800" spc="5" dirty="0">
                <a:latin typeface="Times New Roman"/>
                <a:cs typeface="Times New Roman"/>
              </a:rPr>
              <a:t>The </a:t>
            </a:r>
            <a:r>
              <a:rPr lang="en-US" sz="2800" spc="-5" dirty="0" err="1">
                <a:latin typeface="Times New Roman"/>
                <a:cs typeface="Times New Roman"/>
              </a:rPr>
              <a:t>organisations</a:t>
            </a:r>
            <a:r>
              <a:rPr lang="en-US" sz="2800" spc="-5" dirty="0">
                <a:latin typeface="Times New Roman"/>
                <a:cs typeface="Times New Roman"/>
              </a:rPr>
              <a:t> main interest </a:t>
            </a:r>
            <a:r>
              <a:rPr lang="en-US" sz="2800" spc="-10" dirty="0">
                <a:latin typeface="Times New Roman"/>
                <a:cs typeface="Times New Roman"/>
              </a:rPr>
              <a:t>is </a:t>
            </a:r>
            <a:r>
              <a:rPr lang="en-US" sz="2800" spc="10" dirty="0">
                <a:latin typeface="Times New Roman"/>
                <a:cs typeface="Times New Roman"/>
              </a:rPr>
              <a:t>the sum </a:t>
            </a:r>
            <a:r>
              <a:rPr lang="en-US" sz="2800" dirty="0">
                <a:latin typeface="Times New Roman"/>
                <a:cs typeface="Times New Roman"/>
              </a:rPr>
              <a:t>of  the </a:t>
            </a:r>
            <a:r>
              <a:rPr lang="en-US" sz="2800" spc="-5" dirty="0">
                <a:latin typeface="Times New Roman"/>
                <a:cs typeface="Times New Roman"/>
              </a:rPr>
              <a:t>total costs </a:t>
            </a:r>
            <a:r>
              <a:rPr lang="en-US" sz="2800" spc="-10" dirty="0">
                <a:latin typeface="Times New Roman"/>
                <a:cs typeface="Times New Roman"/>
              </a:rPr>
              <a:t>which will </a:t>
            </a:r>
            <a:r>
              <a:rPr lang="en-US" sz="2800" spc="-5" dirty="0">
                <a:latin typeface="Times New Roman"/>
                <a:cs typeface="Times New Roman"/>
              </a:rPr>
              <a:t>determine </a:t>
            </a:r>
            <a:r>
              <a:rPr lang="en-US" sz="2800" dirty="0">
                <a:latin typeface="Times New Roman"/>
                <a:cs typeface="Times New Roman"/>
              </a:rPr>
              <a:t>a </a:t>
            </a:r>
            <a:r>
              <a:rPr lang="en-US" sz="2800" spc="-5" dirty="0">
                <a:latin typeface="Times New Roman"/>
                <a:cs typeface="Times New Roman"/>
              </a:rPr>
              <a:t>success </a:t>
            </a:r>
            <a:r>
              <a:rPr lang="en-US" sz="2800" spc="-15" dirty="0">
                <a:latin typeface="Times New Roman"/>
                <a:cs typeface="Times New Roman"/>
              </a:rPr>
              <a:t>or</a:t>
            </a:r>
            <a:r>
              <a:rPr lang="en-US" sz="2800" spc="125" dirty="0">
                <a:latin typeface="Times New Roman"/>
                <a:cs typeface="Times New Roman"/>
              </a:rPr>
              <a:t> </a:t>
            </a:r>
            <a:r>
              <a:rPr lang="en-US" sz="2800" spc="-5" dirty="0">
                <a:latin typeface="Times New Roman"/>
                <a:cs typeface="Times New Roman"/>
              </a:rPr>
              <a:t>failure.</a:t>
            </a:r>
            <a:endParaRPr lang="en-US" sz="2800" dirty="0">
              <a:latin typeface="Times New Roman"/>
              <a:cs typeface="Times New Roman"/>
            </a:endParaRPr>
          </a:p>
        </p:txBody>
      </p:sp>
    </p:spTree>
    <p:extLst>
      <p:ext uri="{BB962C8B-B14F-4D97-AF65-F5344CB8AC3E}">
        <p14:creationId xmlns:p14="http://schemas.microsoft.com/office/powerpoint/2010/main" val="7303869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9090" y="404873"/>
            <a:ext cx="11247119" cy="5095754"/>
          </a:xfrm>
          <a:prstGeom prst="rect">
            <a:avLst/>
          </a:prstGeom>
        </p:spPr>
        <p:txBody>
          <a:bodyPr vert="horz" wrap="square" lIns="0" tIns="0" rIns="0" bIns="0" rtlCol="0">
            <a:spAutoFit/>
          </a:bodyPr>
          <a:lstStyle/>
          <a:p>
            <a:pPr marL="8145" algn="just">
              <a:spcBef>
                <a:spcPts val="3"/>
              </a:spcBef>
            </a:pPr>
            <a:r>
              <a:rPr sz="2400" b="1" i="1" dirty="0">
                <a:latin typeface="Times New Roman"/>
                <a:cs typeface="Times New Roman"/>
              </a:rPr>
              <a:t>6. </a:t>
            </a:r>
            <a:r>
              <a:rPr sz="2400" b="1" i="1" spc="-3" dirty="0">
                <a:latin typeface="Times New Roman"/>
                <a:cs typeface="Times New Roman"/>
              </a:rPr>
              <a:t>Organizing </a:t>
            </a:r>
            <a:r>
              <a:rPr sz="2400" b="1" i="1" dirty="0">
                <a:latin typeface="Times New Roman"/>
                <a:cs typeface="Times New Roman"/>
              </a:rPr>
              <a:t>for </a:t>
            </a:r>
            <a:r>
              <a:rPr sz="2400" b="1" i="1" spc="-3" dirty="0">
                <a:latin typeface="Times New Roman"/>
                <a:cs typeface="Times New Roman"/>
              </a:rPr>
              <a:t>SQA </a:t>
            </a:r>
            <a:r>
              <a:rPr sz="2400" b="1" i="1" dirty="0">
                <a:latin typeface="Times New Roman"/>
                <a:cs typeface="Times New Roman"/>
              </a:rPr>
              <a:t>– The </a:t>
            </a:r>
            <a:r>
              <a:rPr sz="2400" b="1" i="1" spc="-3" dirty="0">
                <a:latin typeface="Times New Roman"/>
                <a:cs typeface="Times New Roman"/>
              </a:rPr>
              <a:t>Human Components</a:t>
            </a:r>
            <a:endParaRPr sz="2400" dirty="0">
              <a:latin typeface="Times New Roman"/>
              <a:cs typeface="Times New Roman"/>
            </a:endParaRPr>
          </a:p>
          <a:p>
            <a:pPr marL="12700" marR="6350" indent="457200" algn="just">
              <a:lnSpc>
                <a:spcPct val="143600"/>
              </a:lnSpc>
              <a:spcBef>
                <a:spcPts val="234"/>
              </a:spcBef>
            </a:pPr>
            <a:r>
              <a:rPr sz="2000" dirty="0">
                <a:latin typeface="Times New Roman"/>
                <a:cs typeface="Times New Roman"/>
              </a:rPr>
              <a:t>SQA </a:t>
            </a:r>
            <a:r>
              <a:rPr sz="2400" spc="-5" dirty="0">
                <a:latin typeface="Times New Roman"/>
                <a:cs typeface="Times New Roman"/>
              </a:rPr>
              <a:t>cannot be directly applied to an organization; instead an organizational base is required. The  organizational base is collectively made up of the SQA Unit, SQA trustees, committees and forums along  with the continuous support of the management.</a:t>
            </a:r>
          </a:p>
          <a:p>
            <a:pPr marL="12700" marR="6350" indent="457200" algn="just">
              <a:lnSpc>
                <a:spcPct val="143600"/>
              </a:lnSpc>
            </a:pPr>
            <a:r>
              <a:rPr sz="2400" spc="-5" dirty="0">
                <a:latin typeface="Times New Roman"/>
                <a:cs typeface="Times New Roman"/>
              </a:rPr>
              <a:t>The SQA Unit focuses purely on Software Quality Assurance, thus ensuring that all standards, procedures</a:t>
            </a:r>
            <a:r>
              <a:rPr lang="en-US" sz="2400" spc="-5" dirty="0">
                <a:latin typeface="Times New Roman"/>
                <a:cs typeface="Times New Roman"/>
              </a:rPr>
              <a:t> and components are efficiently and correctly in use. This is, in part, done through the audits and quality  programs that the SQA Unit is required to produce.</a:t>
            </a:r>
          </a:p>
          <a:p>
            <a:pPr marL="12700" marR="6350" indent="457200" algn="just">
              <a:lnSpc>
                <a:spcPct val="143600"/>
              </a:lnSpc>
              <a:spcBef>
                <a:spcPts val="155"/>
              </a:spcBef>
            </a:pPr>
            <a:r>
              <a:rPr lang="en-US" sz="2400" spc="-5" dirty="0">
                <a:latin typeface="Times New Roman"/>
                <a:cs typeface="Times New Roman"/>
              </a:rPr>
              <a:t>Management must ensure that all staff are aware of the quality policy, they are required to define  sufficient resources and accurately assign an adequate number of staff to the tasks.</a:t>
            </a:r>
          </a:p>
          <a:p>
            <a:pPr marL="8145" algn="just">
              <a:spcBef>
                <a:spcPts val="369"/>
              </a:spcBef>
            </a:pPr>
            <a:endParaRPr sz="2400" dirty="0">
              <a:latin typeface="Times New Roman"/>
              <a:cs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19781A-A87D-2AA9-CF2E-7BEE82901F13}"/>
              </a:ext>
            </a:extLst>
          </p:cNvPr>
          <p:cNvSpPr txBox="1"/>
          <p:nvPr/>
        </p:nvSpPr>
        <p:spPr>
          <a:xfrm>
            <a:off x="735330" y="1275672"/>
            <a:ext cx="10721340" cy="2501710"/>
          </a:xfrm>
          <a:prstGeom prst="rect">
            <a:avLst/>
          </a:prstGeom>
          <a:noFill/>
        </p:spPr>
        <p:txBody>
          <a:bodyPr wrap="square">
            <a:spAutoFit/>
          </a:bodyPr>
          <a:lstStyle/>
          <a:p>
            <a:pPr marL="12700" marR="6350" indent="457200" algn="just">
              <a:lnSpc>
                <a:spcPct val="143600"/>
              </a:lnSpc>
              <a:spcBef>
                <a:spcPts val="415"/>
              </a:spcBef>
            </a:pPr>
            <a:r>
              <a:rPr lang="en-US" sz="3600" spc="-5" dirty="0">
                <a:latin typeface="Times New Roman"/>
                <a:cs typeface="Times New Roman"/>
              </a:rPr>
              <a:t>The SQA organizational base has three main objects</a:t>
            </a:r>
          </a:p>
          <a:p>
            <a:pPr marL="12700" marR="6350" indent="457200" algn="just">
              <a:lnSpc>
                <a:spcPct val="143600"/>
              </a:lnSpc>
              <a:spcBef>
                <a:spcPts val="575"/>
              </a:spcBef>
              <a:buAutoNum type="arabicPeriod"/>
              <a:tabLst>
                <a:tab pos="470534" algn="l"/>
              </a:tabLst>
            </a:pPr>
            <a:r>
              <a:rPr lang="en-US" sz="2400" dirty="0">
                <a:latin typeface="Times New Roman"/>
                <a:cs typeface="Times New Roman"/>
              </a:rPr>
              <a:t>To aid the development and implementation of the SQA system</a:t>
            </a:r>
          </a:p>
          <a:p>
            <a:pPr marL="12700" marR="6350" indent="457200" algn="just">
              <a:lnSpc>
                <a:spcPct val="143600"/>
              </a:lnSpc>
              <a:buAutoNum type="arabicPeriod"/>
              <a:tabLst>
                <a:tab pos="470534" algn="l"/>
              </a:tabLst>
            </a:pPr>
            <a:r>
              <a:rPr lang="en-US" sz="2400" dirty="0">
                <a:latin typeface="Times New Roman"/>
                <a:cs typeface="Times New Roman"/>
              </a:rPr>
              <a:t>To detect and prevent deviations from organizational standards and procedures</a:t>
            </a:r>
          </a:p>
          <a:p>
            <a:pPr marL="12700" marR="6350" indent="457200" algn="just">
              <a:lnSpc>
                <a:spcPct val="143600"/>
              </a:lnSpc>
              <a:buAutoNum type="arabicPeriod"/>
              <a:tabLst>
                <a:tab pos="470534" algn="l"/>
              </a:tabLst>
            </a:pPr>
            <a:r>
              <a:rPr lang="en-US" sz="2400" dirty="0">
                <a:latin typeface="Times New Roman"/>
                <a:cs typeface="Times New Roman"/>
              </a:rPr>
              <a:t>To continuously suggest improvements that will benefit the SQA components</a:t>
            </a:r>
          </a:p>
        </p:txBody>
      </p:sp>
    </p:spTree>
    <p:extLst>
      <p:ext uri="{BB962C8B-B14F-4D97-AF65-F5344CB8AC3E}">
        <p14:creationId xmlns:p14="http://schemas.microsoft.com/office/powerpoint/2010/main" val="40606243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2533" y="-304426"/>
            <a:ext cx="11986933" cy="7466852"/>
          </a:xfrm>
          <a:prstGeom prst="rect">
            <a:avLst/>
          </a:prstGeom>
        </p:spPr>
        <p:txBody>
          <a:bodyPr vert="horz" wrap="square" lIns="0" tIns="0" rIns="0" bIns="0" rtlCol="0">
            <a:spAutoFit/>
          </a:bodyPr>
          <a:lstStyle/>
          <a:p>
            <a:pPr>
              <a:lnSpc>
                <a:spcPct val="100000"/>
              </a:lnSpc>
            </a:pPr>
            <a:endParaRPr sz="2400" b="0" dirty="0">
              <a:latin typeface="Times New Roman"/>
              <a:cs typeface="Times New Roman"/>
            </a:endParaRPr>
          </a:p>
          <a:p>
            <a:pPr marL="121353" algn="just">
              <a:spcBef>
                <a:spcPts val="452"/>
              </a:spcBef>
            </a:pPr>
            <a:r>
              <a:rPr sz="2400" b="0" dirty="0">
                <a:latin typeface="Times New Roman"/>
                <a:cs typeface="Times New Roman"/>
              </a:rPr>
              <a:t>How to </a:t>
            </a:r>
            <a:r>
              <a:rPr sz="2400" b="0" spc="-3" dirty="0">
                <a:latin typeface="Times New Roman"/>
                <a:cs typeface="Times New Roman"/>
              </a:rPr>
              <a:t>Design </a:t>
            </a:r>
            <a:r>
              <a:rPr sz="2400" b="0" spc="-6" dirty="0">
                <a:latin typeface="Times New Roman"/>
                <a:cs typeface="Times New Roman"/>
              </a:rPr>
              <a:t>and Implement </a:t>
            </a:r>
            <a:r>
              <a:rPr sz="2400" b="0" dirty="0">
                <a:latin typeface="Times New Roman"/>
                <a:cs typeface="Times New Roman"/>
              </a:rPr>
              <a:t>a </a:t>
            </a:r>
            <a:r>
              <a:rPr sz="2400" b="0" spc="-3" dirty="0">
                <a:latin typeface="Times New Roman"/>
                <a:cs typeface="Times New Roman"/>
              </a:rPr>
              <a:t>Basic Quality Assurance</a:t>
            </a:r>
            <a:r>
              <a:rPr sz="2400" b="0" spc="35" dirty="0">
                <a:latin typeface="Times New Roman"/>
                <a:cs typeface="Times New Roman"/>
              </a:rPr>
              <a:t> </a:t>
            </a:r>
            <a:r>
              <a:rPr sz="2400" b="0" spc="-3" dirty="0">
                <a:latin typeface="Times New Roman"/>
                <a:cs typeface="Times New Roman"/>
              </a:rPr>
              <a:t>Plan</a:t>
            </a:r>
            <a:endParaRPr sz="2400" b="0" dirty="0">
              <a:latin typeface="Times New Roman"/>
              <a:cs typeface="Times New Roman"/>
            </a:endParaRPr>
          </a:p>
          <a:p>
            <a:pPr>
              <a:spcBef>
                <a:spcPts val="13"/>
              </a:spcBef>
            </a:pPr>
            <a:endParaRPr sz="2800" b="0" dirty="0">
              <a:latin typeface="Times New Roman"/>
              <a:cs typeface="Times New Roman"/>
            </a:endParaRPr>
          </a:p>
          <a:p>
            <a:pPr marL="121353" marR="94069" indent="179994" algn="just">
              <a:lnSpc>
                <a:spcPct val="143300"/>
              </a:lnSpc>
            </a:pPr>
            <a:r>
              <a:rPr sz="2400" b="0" spc="-3" dirty="0">
                <a:latin typeface="Times New Roman"/>
                <a:cs typeface="Times New Roman"/>
              </a:rPr>
              <a:t>A </a:t>
            </a:r>
            <a:r>
              <a:rPr sz="2400" b="0" dirty="0">
                <a:latin typeface="Times New Roman"/>
                <a:cs typeface="Times New Roman"/>
              </a:rPr>
              <a:t>quality </a:t>
            </a:r>
            <a:r>
              <a:rPr sz="2400" b="0" spc="-3" dirty="0">
                <a:latin typeface="Times New Roman"/>
                <a:cs typeface="Times New Roman"/>
              </a:rPr>
              <a:t>assurance </a:t>
            </a:r>
            <a:r>
              <a:rPr sz="2400" b="0" dirty="0">
                <a:latin typeface="Times New Roman"/>
                <a:cs typeface="Times New Roman"/>
              </a:rPr>
              <a:t>plan </a:t>
            </a:r>
            <a:r>
              <a:rPr sz="2400" b="0" spc="-3" dirty="0">
                <a:latin typeface="Times New Roman"/>
                <a:cs typeface="Times New Roman"/>
              </a:rPr>
              <a:t>should generally include two </a:t>
            </a:r>
            <a:r>
              <a:rPr sz="2400" b="0" spc="-10" dirty="0">
                <a:latin typeface="Times New Roman"/>
                <a:cs typeface="Times New Roman"/>
              </a:rPr>
              <a:t>basic </a:t>
            </a:r>
            <a:r>
              <a:rPr sz="2400" b="0" spc="-3" dirty="0">
                <a:latin typeface="Times New Roman"/>
                <a:cs typeface="Times New Roman"/>
              </a:rPr>
              <a:t>areas: how </a:t>
            </a:r>
            <a:r>
              <a:rPr sz="2400" b="0" dirty="0">
                <a:latin typeface="Times New Roman"/>
                <a:cs typeface="Times New Roman"/>
              </a:rPr>
              <a:t>to </a:t>
            </a:r>
            <a:r>
              <a:rPr sz="2400" b="0" spc="-3" dirty="0">
                <a:latin typeface="Times New Roman"/>
                <a:cs typeface="Times New Roman"/>
              </a:rPr>
              <a:t>address  </a:t>
            </a:r>
            <a:r>
              <a:rPr sz="2400" b="0" dirty="0">
                <a:latin typeface="Times New Roman"/>
                <a:cs typeface="Times New Roman"/>
              </a:rPr>
              <a:t>errors </a:t>
            </a:r>
            <a:r>
              <a:rPr sz="2400" b="0" spc="-3" dirty="0">
                <a:latin typeface="Times New Roman"/>
                <a:cs typeface="Times New Roman"/>
              </a:rPr>
              <a:t>(quality-related events), </a:t>
            </a:r>
            <a:r>
              <a:rPr sz="2400" b="0" spc="-6" dirty="0">
                <a:latin typeface="Times New Roman"/>
                <a:cs typeface="Times New Roman"/>
              </a:rPr>
              <a:t>and </a:t>
            </a:r>
            <a:r>
              <a:rPr sz="2400" b="0" spc="-3" dirty="0">
                <a:latin typeface="Times New Roman"/>
                <a:cs typeface="Times New Roman"/>
              </a:rPr>
              <a:t>how </a:t>
            </a:r>
            <a:r>
              <a:rPr sz="2400" b="0" dirty="0">
                <a:latin typeface="Times New Roman"/>
                <a:cs typeface="Times New Roman"/>
              </a:rPr>
              <a:t>to </a:t>
            </a:r>
            <a:r>
              <a:rPr sz="2400" b="0" spc="-3" dirty="0">
                <a:latin typeface="Times New Roman"/>
                <a:cs typeface="Times New Roman"/>
              </a:rPr>
              <a:t>improve practice </a:t>
            </a:r>
            <a:r>
              <a:rPr sz="2400" b="0" dirty="0">
                <a:latin typeface="Times New Roman"/>
                <a:cs typeface="Times New Roman"/>
              </a:rPr>
              <a:t>before </a:t>
            </a:r>
            <a:r>
              <a:rPr sz="2400" b="0" spc="-3" dirty="0">
                <a:latin typeface="Times New Roman"/>
                <a:cs typeface="Times New Roman"/>
              </a:rPr>
              <a:t>an </a:t>
            </a:r>
            <a:r>
              <a:rPr sz="2400" b="0" spc="3" dirty="0">
                <a:latin typeface="Times New Roman"/>
                <a:cs typeface="Times New Roman"/>
              </a:rPr>
              <a:t>error </a:t>
            </a:r>
            <a:r>
              <a:rPr sz="2400" b="0" dirty="0">
                <a:latin typeface="Times New Roman"/>
                <a:cs typeface="Times New Roman"/>
              </a:rPr>
              <a:t>occurs  </a:t>
            </a:r>
            <a:r>
              <a:rPr sz="2400" b="0" spc="-3" dirty="0">
                <a:latin typeface="Times New Roman"/>
                <a:cs typeface="Times New Roman"/>
              </a:rPr>
              <a:t>(continuous quality improvement). This </a:t>
            </a:r>
            <a:r>
              <a:rPr sz="2400" b="0" dirty="0">
                <a:latin typeface="Times New Roman"/>
                <a:cs typeface="Times New Roman"/>
              </a:rPr>
              <a:t>document </a:t>
            </a:r>
            <a:r>
              <a:rPr sz="2400" b="0" spc="-3" dirty="0">
                <a:latin typeface="Times New Roman"/>
                <a:cs typeface="Times New Roman"/>
              </a:rPr>
              <a:t>outlines </a:t>
            </a:r>
            <a:r>
              <a:rPr sz="2400" b="0" dirty="0">
                <a:latin typeface="Times New Roman"/>
                <a:cs typeface="Times New Roman"/>
              </a:rPr>
              <a:t>steps to </a:t>
            </a:r>
            <a:r>
              <a:rPr sz="2400" b="0" spc="3" dirty="0">
                <a:latin typeface="Times New Roman"/>
                <a:cs typeface="Times New Roman"/>
              </a:rPr>
              <a:t>take </a:t>
            </a:r>
            <a:r>
              <a:rPr sz="2400" b="0" spc="-10" dirty="0">
                <a:latin typeface="Times New Roman"/>
                <a:cs typeface="Times New Roman"/>
              </a:rPr>
              <a:t>in </a:t>
            </a:r>
            <a:r>
              <a:rPr sz="2400" b="0" spc="-3" dirty="0">
                <a:latin typeface="Times New Roman"/>
                <a:cs typeface="Times New Roman"/>
              </a:rPr>
              <a:t>establishing </a:t>
            </a:r>
            <a:r>
              <a:rPr sz="2400" b="0" dirty="0">
                <a:latin typeface="Times New Roman"/>
                <a:cs typeface="Times New Roman"/>
              </a:rPr>
              <a:t>a  </a:t>
            </a:r>
            <a:r>
              <a:rPr sz="2400" b="0" spc="-3" dirty="0">
                <a:latin typeface="Times New Roman"/>
                <a:cs typeface="Times New Roman"/>
              </a:rPr>
              <a:t>QA </a:t>
            </a:r>
            <a:r>
              <a:rPr sz="2400" b="0" dirty="0">
                <a:latin typeface="Times New Roman"/>
                <a:cs typeface="Times New Roman"/>
              </a:rPr>
              <a:t>plan</a:t>
            </a:r>
            <a:r>
              <a:rPr sz="2400" b="0" spc="-67" dirty="0">
                <a:latin typeface="Times New Roman"/>
                <a:cs typeface="Times New Roman"/>
              </a:rPr>
              <a:t> </a:t>
            </a:r>
            <a:r>
              <a:rPr sz="2400" b="0" spc="-6" dirty="0" err="1">
                <a:latin typeface="Times New Roman"/>
                <a:cs typeface="Times New Roman"/>
              </a:rPr>
              <a:t>plan</a:t>
            </a:r>
            <a:r>
              <a:rPr sz="2400" b="0" spc="-6" dirty="0">
                <a:latin typeface="Times New Roman"/>
                <a:cs typeface="Times New Roman"/>
              </a:rPr>
              <a:t>.</a:t>
            </a:r>
            <a:endParaRPr sz="2800" b="0" dirty="0">
              <a:latin typeface="Times New Roman"/>
              <a:cs typeface="Times New Roman"/>
            </a:endParaRPr>
          </a:p>
          <a:p>
            <a:pPr marL="121353" marR="97327" algn="just">
              <a:lnSpc>
                <a:spcPct val="141700"/>
              </a:lnSpc>
              <a:buAutoNum type="romanUcPeriod"/>
              <a:tabLst>
                <a:tab pos="211350" algn="l"/>
              </a:tabLst>
            </a:pPr>
            <a:r>
              <a:rPr sz="2400" b="0" i="1" spc="-3" dirty="0">
                <a:latin typeface="Times New Roman"/>
                <a:cs typeface="Times New Roman"/>
              </a:rPr>
              <a:t>Design </a:t>
            </a:r>
            <a:r>
              <a:rPr sz="2400" b="0" i="1" dirty="0">
                <a:latin typeface="Times New Roman"/>
                <a:cs typeface="Times New Roman"/>
              </a:rPr>
              <a:t>a </a:t>
            </a:r>
            <a:r>
              <a:rPr sz="2400" b="0" i="1" spc="-3" dirty="0">
                <a:latin typeface="Times New Roman"/>
                <a:cs typeface="Times New Roman"/>
              </a:rPr>
              <a:t>means </a:t>
            </a:r>
            <a:r>
              <a:rPr sz="2400" b="0" i="1" dirty="0">
                <a:latin typeface="Times New Roman"/>
                <a:cs typeface="Times New Roman"/>
              </a:rPr>
              <a:t>to </a:t>
            </a:r>
            <a:r>
              <a:rPr sz="2400" b="0" i="1" spc="-3" dirty="0">
                <a:latin typeface="Times New Roman"/>
                <a:cs typeface="Times New Roman"/>
              </a:rPr>
              <a:t>effectively document quality-related events (QREs) </a:t>
            </a:r>
            <a:r>
              <a:rPr sz="2400" b="0" i="1" dirty="0">
                <a:latin typeface="Times New Roman"/>
                <a:cs typeface="Times New Roman"/>
              </a:rPr>
              <a:t>and </a:t>
            </a:r>
            <a:r>
              <a:rPr sz="2400" b="0" i="1" spc="-3" dirty="0">
                <a:latin typeface="Times New Roman"/>
                <a:cs typeface="Times New Roman"/>
              </a:rPr>
              <a:t>educate </a:t>
            </a:r>
            <a:r>
              <a:rPr sz="2400" b="0" i="1" spc="-6" dirty="0">
                <a:latin typeface="Times New Roman"/>
                <a:cs typeface="Times New Roman"/>
              </a:rPr>
              <a:t>staff  </a:t>
            </a:r>
            <a:r>
              <a:rPr sz="2400" b="0" i="1" spc="-3" dirty="0">
                <a:latin typeface="Times New Roman"/>
                <a:cs typeface="Times New Roman"/>
              </a:rPr>
              <a:t>appropriately</a:t>
            </a:r>
            <a:endParaRPr sz="2800" b="0" dirty="0">
              <a:latin typeface="Times New Roman"/>
              <a:cs typeface="Times New Roman"/>
            </a:endParaRPr>
          </a:p>
          <a:p>
            <a:pPr marL="121353" marR="96920" lvl="1" algn="just">
              <a:lnSpc>
                <a:spcPct val="143300"/>
              </a:lnSpc>
              <a:buAutoNum type="arabicPeriod"/>
              <a:tabLst>
                <a:tab pos="232933" algn="l"/>
              </a:tabLst>
            </a:pPr>
            <a:r>
              <a:rPr sz="2400" b="0" spc="-10" dirty="0">
                <a:latin typeface="Times New Roman"/>
                <a:cs typeface="Times New Roman"/>
              </a:rPr>
              <a:t>Collect </a:t>
            </a:r>
            <a:r>
              <a:rPr sz="2400" b="0" spc="-3" dirty="0">
                <a:latin typeface="Times New Roman"/>
                <a:cs typeface="Times New Roman"/>
              </a:rPr>
              <a:t>all relevant details </a:t>
            </a:r>
            <a:r>
              <a:rPr sz="2400" b="0" spc="6" dirty="0">
                <a:latin typeface="Times New Roman"/>
                <a:cs typeface="Times New Roman"/>
              </a:rPr>
              <a:t>of </a:t>
            </a:r>
            <a:r>
              <a:rPr sz="2400" b="0" dirty="0">
                <a:latin typeface="Times New Roman"/>
                <a:cs typeface="Times New Roman"/>
              </a:rPr>
              <a:t>the event, </a:t>
            </a:r>
            <a:r>
              <a:rPr sz="2400" b="0" spc="-3" dirty="0">
                <a:latin typeface="Times New Roman"/>
                <a:cs typeface="Times New Roman"/>
              </a:rPr>
              <a:t>identify </a:t>
            </a:r>
            <a:r>
              <a:rPr sz="2400" b="0" dirty="0">
                <a:latin typeface="Times New Roman"/>
                <a:cs typeface="Times New Roman"/>
              </a:rPr>
              <a:t>the root </a:t>
            </a:r>
            <a:r>
              <a:rPr sz="2400" b="0" spc="-3" dirty="0">
                <a:latin typeface="Times New Roman"/>
                <a:cs typeface="Times New Roman"/>
              </a:rPr>
              <a:t>cause(s), </a:t>
            </a:r>
            <a:r>
              <a:rPr sz="2400" b="0" spc="-6" dirty="0">
                <a:latin typeface="Times New Roman"/>
                <a:cs typeface="Times New Roman"/>
              </a:rPr>
              <a:t>and </a:t>
            </a:r>
            <a:r>
              <a:rPr sz="2400" b="0" spc="-10" dirty="0">
                <a:latin typeface="Times New Roman"/>
                <a:cs typeface="Times New Roman"/>
              </a:rPr>
              <a:t>make </a:t>
            </a:r>
            <a:r>
              <a:rPr sz="2400" b="0" dirty="0">
                <a:latin typeface="Times New Roman"/>
                <a:cs typeface="Times New Roman"/>
              </a:rPr>
              <a:t>a plan to  </a:t>
            </a:r>
            <a:r>
              <a:rPr sz="2400" b="0" spc="-6" dirty="0">
                <a:latin typeface="Times New Roman"/>
                <a:cs typeface="Times New Roman"/>
              </a:rPr>
              <a:t>avoid </a:t>
            </a:r>
            <a:r>
              <a:rPr sz="2400" b="0" dirty="0">
                <a:latin typeface="Times New Roman"/>
                <a:cs typeface="Times New Roman"/>
              </a:rPr>
              <a:t>the </a:t>
            </a:r>
            <a:r>
              <a:rPr sz="2400" b="0" spc="-6" dirty="0">
                <a:latin typeface="Times New Roman"/>
                <a:cs typeface="Times New Roman"/>
              </a:rPr>
              <a:t>same </a:t>
            </a:r>
            <a:r>
              <a:rPr sz="2400" b="0" dirty="0">
                <a:latin typeface="Times New Roman"/>
                <a:cs typeface="Times New Roman"/>
              </a:rPr>
              <a:t>error </a:t>
            </a:r>
            <a:r>
              <a:rPr sz="2400" b="0" spc="-10" dirty="0">
                <a:latin typeface="Times New Roman"/>
                <a:cs typeface="Times New Roman"/>
              </a:rPr>
              <a:t>in </a:t>
            </a:r>
            <a:r>
              <a:rPr sz="2400" b="0" dirty="0">
                <a:latin typeface="Times New Roman"/>
                <a:cs typeface="Times New Roman"/>
              </a:rPr>
              <a:t>the </a:t>
            </a:r>
            <a:r>
              <a:rPr sz="2400" b="0" spc="-3" dirty="0">
                <a:latin typeface="Times New Roman"/>
                <a:cs typeface="Times New Roman"/>
              </a:rPr>
              <a:t>future </a:t>
            </a:r>
            <a:r>
              <a:rPr sz="2400" b="0" spc="-6" dirty="0">
                <a:latin typeface="Times New Roman"/>
                <a:cs typeface="Times New Roman"/>
              </a:rPr>
              <a:t>(consider the </a:t>
            </a:r>
            <a:r>
              <a:rPr sz="2400" b="0" spc="-3" dirty="0">
                <a:latin typeface="Times New Roman"/>
                <a:cs typeface="Times New Roman"/>
              </a:rPr>
              <a:t>example provided </a:t>
            </a:r>
            <a:r>
              <a:rPr sz="2400" b="0" spc="6" dirty="0">
                <a:latin typeface="Times New Roman"/>
                <a:cs typeface="Times New Roman"/>
              </a:rPr>
              <a:t>on </a:t>
            </a:r>
            <a:r>
              <a:rPr sz="2400" b="0" dirty="0">
                <a:latin typeface="Times New Roman"/>
                <a:cs typeface="Times New Roman"/>
              </a:rPr>
              <a:t>the </a:t>
            </a:r>
            <a:r>
              <a:rPr sz="2400" b="0" spc="-3" dirty="0">
                <a:latin typeface="Times New Roman"/>
                <a:cs typeface="Times New Roman"/>
              </a:rPr>
              <a:t>Board </a:t>
            </a:r>
            <a:r>
              <a:rPr sz="2400" b="0" spc="6" dirty="0">
                <a:latin typeface="Times New Roman"/>
                <a:cs typeface="Times New Roman"/>
              </a:rPr>
              <a:t>of  </a:t>
            </a:r>
            <a:r>
              <a:rPr sz="2400" b="0" spc="-3" dirty="0">
                <a:latin typeface="Times New Roman"/>
                <a:cs typeface="Times New Roman"/>
              </a:rPr>
              <a:t>Pharmacy’s</a:t>
            </a:r>
            <a:r>
              <a:rPr sz="2400" b="0" spc="-48" dirty="0">
                <a:latin typeface="Times New Roman"/>
                <a:cs typeface="Times New Roman"/>
              </a:rPr>
              <a:t> </a:t>
            </a:r>
            <a:r>
              <a:rPr sz="2400" b="0" spc="-3" dirty="0">
                <a:latin typeface="Times New Roman"/>
                <a:cs typeface="Times New Roman"/>
              </a:rPr>
              <a:t>website)</a:t>
            </a:r>
            <a:endParaRPr sz="2800" b="0" dirty="0">
              <a:latin typeface="Times New Roman"/>
              <a:cs typeface="Times New Roman"/>
            </a:endParaRPr>
          </a:p>
          <a:p>
            <a:pPr marL="121353" marR="92847" lvl="1" algn="just">
              <a:lnSpc>
                <a:spcPct val="142600"/>
              </a:lnSpc>
              <a:buAutoNum type="arabicPeriod"/>
              <a:tabLst>
                <a:tab pos="237005" algn="l"/>
              </a:tabLst>
            </a:pPr>
            <a:r>
              <a:rPr sz="2400" b="0" spc="-6" dirty="0">
                <a:latin typeface="Times New Roman"/>
                <a:cs typeface="Times New Roman"/>
              </a:rPr>
              <a:t>Always </a:t>
            </a:r>
            <a:r>
              <a:rPr sz="2400" b="0" dirty="0">
                <a:latin typeface="Times New Roman"/>
                <a:cs typeface="Times New Roman"/>
              </a:rPr>
              <a:t>educate </a:t>
            </a:r>
            <a:r>
              <a:rPr sz="2400" b="0" spc="-3" dirty="0">
                <a:latin typeface="Times New Roman"/>
                <a:cs typeface="Times New Roman"/>
              </a:rPr>
              <a:t>staff </a:t>
            </a:r>
            <a:r>
              <a:rPr sz="2400" b="0" spc="6" dirty="0">
                <a:latin typeface="Times New Roman"/>
                <a:cs typeface="Times New Roman"/>
              </a:rPr>
              <a:t>on </a:t>
            </a:r>
            <a:r>
              <a:rPr sz="2400" b="0" spc="-3" dirty="0">
                <a:latin typeface="Times New Roman"/>
                <a:cs typeface="Times New Roman"/>
              </a:rPr>
              <a:t>documented QREs </a:t>
            </a:r>
            <a:r>
              <a:rPr sz="2400" b="0" spc="-6" dirty="0">
                <a:latin typeface="Times New Roman"/>
                <a:cs typeface="Times New Roman"/>
              </a:rPr>
              <a:t>and their </a:t>
            </a:r>
            <a:r>
              <a:rPr sz="2400" b="0" spc="-3" dirty="0">
                <a:latin typeface="Times New Roman"/>
                <a:cs typeface="Times New Roman"/>
              </a:rPr>
              <a:t>resulting plans. </a:t>
            </a:r>
            <a:endParaRPr lang="en-US" sz="2400" b="0" dirty="0">
              <a:latin typeface="Times New Roman"/>
              <a:cs typeface="Times New Roman"/>
            </a:endParaRPr>
          </a:p>
          <a:p>
            <a:pPr marL="121353" marR="92847" lvl="1" algn="just">
              <a:lnSpc>
                <a:spcPct val="142600"/>
              </a:lnSpc>
              <a:buAutoNum type="arabicPeriod"/>
              <a:tabLst>
                <a:tab pos="237005" algn="l"/>
              </a:tabLst>
            </a:pPr>
            <a:r>
              <a:rPr sz="2400" b="0" spc="-3" dirty="0">
                <a:latin typeface="Times New Roman"/>
                <a:cs typeface="Times New Roman"/>
              </a:rPr>
              <a:t>Many </a:t>
            </a:r>
            <a:r>
              <a:rPr sz="2400" b="0" spc="6" dirty="0">
                <a:latin typeface="Times New Roman"/>
                <a:cs typeface="Times New Roman"/>
              </a:rPr>
              <a:t>errors  </a:t>
            </a:r>
            <a:r>
              <a:rPr sz="2400" b="0" dirty="0">
                <a:latin typeface="Times New Roman"/>
                <a:cs typeface="Times New Roman"/>
              </a:rPr>
              <a:t>reported to the Board are due to </a:t>
            </a:r>
            <a:r>
              <a:rPr sz="2400" b="0" spc="-3" dirty="0">
                <a:latin typeface="Times New Roman"/>
                <a:cs typeface="Times New Roman"/>
              </a:rPr>
              <a:t>poor </a:t>
            </a:r>
            <a:r>
              <a:rPr sz="2400" b="0" spc="-6" dirty="0">
                <a:latin typeface="Times New Roman"/>
                <a:cs typeface="Times New Roman"/>
              </a:rPr>
              <a:t>customer service </a:t>
            </a:r>
            <a:r>
              <a:rPr sz="2400" b="0" spc="-10" dirty="0">
                <a:latin typeface="Times New Roman"/>
                <a:cs typeface="Times New Roman"/>
              </a:rPr>
              <a:t>in </a:t>
            </a:r>
            <a:r>
              <a:rPr sz="2400" b="0" spc="-3" dirty="0">
                <a:latin typeface="Times New Roman"/>
                <a:cs typeface="Times New Roman"/>
              </a:rPr>
              <a:t>resolving </a:t>
            </a:r>
            <a:r>
              <a:rPr sz="2400" b="0" dirty="0">
                <a:latin typeface="Times New Roman"/>
                <a:cs typeface="Times New Roman"/>
              </a:rPr>
              <a:t>the </a:t>
            </a:r>
            <a:r>
              <a:rPr sz="2400" b="0" spc="-3" dirty="0">
                <a:latin typeface="Times New Roman"/>
                <a:cs typeface="Times New Roman"/>
              </a:rPr>
              <a:t>issueconsider  including training </a:t>
            </a:r>
            <a:r>
              <a:rPr sz="2400" b="0" spc="6" dirty="0">
                <a:latin typeface="Times New Roman"/>
                <a:cs typeface="Times New Roman"/>
              </a:rPr>
              <a:t>on </a:t>
            </a:r>
            <a:r>
              <a:rPr sz="2400" b="0" spc="-3" dirty="0">
                <a:latin typeface="Times New Roman"/>
                <a:cs typeface="Times New Roman"/>
              </a:rPr>
              <a:t>how </a:t>
            </a:r>
            <a:r>
              <a:rPr sz="2400" b="0" dirty="0">
                <a:latin typeface="Times New Roman"/>
                <a:cs typeface="Times New Roman"/>
              </a:rPr>
              <a:t>to </a:t>
            </a:r>
            <a:r>
              <a:rPr sz="2400" b="0" spc="-6" dirty="0">
                <a:latin typeface="Times New Roman"/>
                <a:cs typeface="Times New Roman"/>
              </a:rPr>
              <a:t>handle </a:t>
            </a:r>
            <a:r>
              <a:rPr sz="2400" b="0" spc="3" dirty="0">
                <a:latin typeface="Times New Roman"/>
                <a:cs typeface="Times New Roman"/>
              </a:rPr>
              <a:t>an </a:t>
            </a:r>
            <a:r>
              <a:rPr sz="2400" b="0" dirty="0">
                <a:latin typeface="Times New Roman"/>
                <a:cs typeface="Times New Roman"/>
              </a:rPr>
              <a:t>error </a:t>
            </a:r>
            <a:r>
              <a:rPr sz="2400" b="0" spc="-3" dirty="0">
                <a:latin typeface="Times New Roman"/>
                <a:cs typeface="Times New Roman"/>
              </a:rPr>
              <a:t>as </a:t>
            </a:r>
            <a:r>
              <a:rPr lang="en-US" sz="2400" b="0" spc="-6" dirty="0">
                <a:latin typeface="Times New Roman"/>
                <a:cs typeface="Times New Roman"/>
              </a:rPr>
              <a:t>part </a:t>
            </a:r>
            <a:r>
              <a:rPr sz="2400" b="0" spc="6" dirty="0">
                <a:latin typeface="Times New Roman"/>
                <a:cs typeface="Times New Roman"/>
              </a:rPr>
              <a:t>of </a:t>
            </a:r>
            <a:r>
              <a:rPr sz="2400" b="0" spc="-6" dirty="0">
                <a:latin typeface="Times New Roman"/>
                <a:cs typeface="Times New Roman"/>
              </a:rPr>
              <a:t>your</a:t>
            </a:r>
            <a:r>
              <a:rPr sz="2400" b="0" spc="10" dirty="0">
                <a:latin typeface="Times New Roman"/>
                <a:cs typeface="Times New Roman"/>
              </a:rPr>
              <a:t> </a:t>
            </a:r>
            <a:r>
              <a:rPr sz="2400" b="0" spc="-3" dirty="0">
                <a:latin typeface="Times New Roman"/>
                <a:cs typeface="Times New Roman"/>
              </a:rPr>
              <a:t>plan</a:t>
            </a:r>
            <a:endParaRPr sz="2400" b="0" dirty="0">
              <a:latin typeface="Times New Roman"/>
              <a:cs typeface="Times New Roman"/>
            </a:endParaRPr>
          </a:p>
          <a:p>
            <a:pPr>
              <a:spcBef>
                <a:spcPts val="16"/>
              </a:spcBef>
            </a:pPr>
            <a:endParaRPr sz="2800" b="0" dirty="0">
              <a:latin typeface="Times New Roman"/>
              <a:cs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B3A545-8857-CE49-DC8C-E2ADFE6DDDB1}"/>
              </a:ext>
            </a:extLst>
          </p:cNvPr>
          <p:cNvSpPr txBox="1"/>
          <p:nvPr/>
        </p:nvSpPr>
        <p:spPr>
          <a:xfrm>
            <a:off x="320842" y="0"/>
            <a:ext cx="11550315" cy="7408054"/>
          </a:xfrm>
          <a:prstGeom prst="rect">
            <a:avLst/>
          </a:prstGeom>
          <a:noFill/>
        </p:spPr>
        <p:txBody>
          <a:bodyPr wrap="square">
            <a:spAutoFit/>
          </a:bodyPr>
          <a:lstStyle/>
          <a:p>
            <a:pPr marL="189230" marR="156210" algn="just">
              <a:lnSpc>
                <a:spcPct val="141800"/>
              </a:lnSpc>
              <a:spcBef>
                <a:spcPts val="5"/>
              </a:spcBef>
            </a:pPr>
            <a:r>
              <a:rPr lang="en-US" sz="2800" b="0" i="1" dirty="0">
                <a:latin typeface="Times New Roman"/>
                <a:cs typeface="Times New Roman"/>
              </a:rPr>
              <a:t>II. Identify one or </a:t>
            </a:r>
            <a:r>
              <a:rPr lang="en-US" sz="2800" b="0" i="1" spc="-15" dirty="0">
                <a:latin typeface="Times New Roman"/>
                <a:cs typeface="Times New Roman"/>
              </a:rPr>
              <a:t>two </a:t>
            </a:r>
            <a:r>
              <a:rPr lang="en-US" sz="2800" b="0" i="1" dirty="0">
                <a:latin typeface="Times New Roman"/>
                <a:cs typeface="Times New Roman"/>
              </a:rPr>
              <a:t>quality </a:t>
            </a:r>
            <a:r>
              <a:rPr lang="en-US" sz="2800" b="0" i="1" spc="-5" dirty="0">
                <a:latin typeface="Times New Roman"/>
                <a:cs typeface="Times New Roman"/>
              </a:rPr>
              <a:t>related parameters you </a:t>
            </a:r>
            <a:r>
              <a:rPr lang="en-US" sz="2800" b="0" i="1" spc="-15" dirty="0">
                <a:latin typeface="Times New Roman"/>
                <a:cs typeface="Times New Roman"/>
              </a:rPr>
              <a:t>would </a:t>
            </a:r>
            <a:r>
              <a:rPr lang="en-US" sz="2800" b="0" i="1" spc="-5" dirty="0">
                <a:latin typeface="Times New Roman"/>
                <a:cs typeface="Times New Roman"/>
              </a:rPr>
              <a:t>like </a:t>
            </a:r>
            <a:r>
              <a:rPr lang="en-US" sz="2800" b="0" i="1" dirty="0">
                <a:latin typeface="Times New Roman"/>
                <a:cs typeface="Times New Roman"/>
              </a:rPr>
              <a:t>to </a:t>
            </a:r>
            <a:r>
              <a:rPr lang="en-US" sz="2800" b="0" i="1" spc="-5" dirty="0">
                <a:latin typeface="Times New Roman"/>
                <a:cs typeface="Times New Roman"/>
              </a:rPr>
              <a:t>measure </a:t>
            </a:r>
            <a:r>
              <a:rPr lang="en-US" sz="2800" b="0" i="1" dirty="0">
                <a:latin typeface="Times New Roman"/>
                <a:cs typeface="Times New Roman"/>
              </a:rPr>
              <a:t>and </a:t>
            </a:r>
            <a:r>
              <a:rPr lang="en-US" sz="2800" b="0" i="1" spc="-5" dirty="0">
                <a:latin typeface="Times New Roman"/>
                <a:cs typeface="Times New Roman"/>
              </a:rPr>
              <a:t>improve.  </a:t>
            </a:r>
            <a:r>
              <a:rPr lang="en-US" sz="2800" b="0" i="1" spc="-10" dirty="0">
                <a:latin typeface="Times New Roman"/>
                <a:cs typeface="Times New Roman"/>
              </a:rPr>
              <a:t>You </a:t>
            </a:r>
            <a:r>
              <a:rPr lang="en-US" sz="2800" b="0" i="1" dirty="0">
                <a:latin typeface="Times New Roman"/>
                <a:cs typeface="Times New Roman"/>
              </a:rPr>
              <a:t>might </a:t>
            </a:r>
            <a:r>
              <a:rPr lang="en-US" sz="2800" b="0" i="1" spc="-5" dirty="0">
                <a:latin typeface="Times New Roman"/>
                <a:cs typeface="Times New Roman"/>
              </a:rPr>
              <a:t>consider two categories </a:t>
            </a:r>
            <a:r>
              <a:rPr lang="en-US" sz="2800" b="0" i="1" dirty="0">
                <a:latin typeface="Times New Roman"/>
                <a:cs typeface="Times New Roman"/>
              </a:rPr>
              <a:t>of</a:t>
            </a:r>
            <a:r>
              <a:rPr lang="en-US" sz="2800" b="0" i="1" spc="40" dirty="0">
                <a:latin typeface="Times New Roman"/>
                <a:cs typeface="Times New Roman"/>
              </a:rPr>
              <a:t> </a:t>
            </a:r>
            <a:r>
              <a:rPr lang="en-US" sz="2800" b="0" i="1" spc="-5" dirty="0">
                <a:latin typeface="Times New Roman"/>
                <a:cs typeface="Times New Roman"/>
              </a:rPr>
              <a:t>parameters:</a:t>
            </a:r>
            <a:endParaRPr lang="en-US" sz="3200" b="0" dirty="0">
              <a:latin typeface="Times New Roman"/>
              <a:cs typeface="Times New Roman"/>
            </a:endParaRPr>
          </a:p>
          <a:p>
            <a:pPr marL="702945" marR="146050" indent="-514350" algn="just">
              <a:lnSpc>
                <a:spcPct val="143400"/>
              </a:lnSpc>
              <a:buAutoNum type="arabicPeriod"/>
            </a:pPr>
            <a:r>
              <a:rPr lang="en-US" sz="2800" b="0" spc="-5" dirty="0">
                <a:latin typeface="Times New Roman"/>
                <a:cs typeface="Times New Roman"/>
              </a:rPr>
              <a:t>Areas known </a:t>
            </a:r>
            <a:r>
              <a:rPr lang="en-US" sz="2800" b="0" spc="10" dirty="0">
                <a:latin typeface="Times New Roman"/>
                <a:cs typeface="Times New Roman"/>
              </a:rPr>
              <a:t>to </a:t>
            </a:r>
            <a:r>
              <a:rPr lang="en-US" sz="2800" b="0" spc="-5" dirty="0">
                <a:latin typeface="Times New Roman"/>
                <a:cs typeface="Times New Roman"/>
              </a:rPr>
              <a:t>require improvement. a. </a:t>
            </a:r>
            <a:r>
              <a:rPr lang="en-US" sz="2800" b="0" spc="-10" dirty="0">
                <a:latin typeface="Times New Roman"/>
                <a:cs typeface="Times New Roman"/>
              </a:rPr>
              <a:t>These </a:t>
            </a:r>
            <a:r>
              <a:rPr lang="en-US" sz="2800" b="0" spc="-5" dirty="0">
                <a:latin typeface="Times New Roman"/>
                <a:cs typeface="Times New Roman"/>
              </a:rPr>
              <a:t>areas </a:t>
            </a:r>
            <a:r>
              <a:rPr lang="en-US" sz="2800" b="0" spc="-15" dirty="0">
                <a:latin typeface="Times New Roman"/>
                <a:cs typeface="Times New Roman"/>
              </a:rPr>
              <a:t>may be </a:t>
            </a:r>
            <a:r>
              <a:rPr lang="en-US" sz="2800" b="0" spc="-5" dirty="0">
                <a:latin typeface="Times New Roman"/>
                <a:cs typeface="Times New Roman"/>
              </a:rPr>
              <a:t>identified </a:t>
            </a:r>
            <a:r>
              <a:rPr lang="en-US" sz="2800" b="0" dirty="0">
                <a:latin typeface="Times New Roman"/>
                <a:cs typeface="Times New Roman"/>
              </a:rPr>
              <a:t>through a  </a:t>
            </a:r>
            <a:r>
              <a:rPr lang="en-US" sz="2800" b="0" spc="-5" dirty="0">
                <a:latin typeface="Times New Roman"/>
                <a:cs typeface="Times New Roman"/>
              </a:rPr>
              <a:t>previous dispensing </a:t>
            </a:r>
            <a:r>
              <a:rPr lang="en-US" sz="2800" b="0" spc="10" dirty="0">
                <a:latin typeface="Times New Roman"/>
                <a:cs typeface="Times New Roman"/>
              </a:rPr>
              <a:t>or </a:t>
            </a:r>
            <a:r>
              <a:rPr lang="en-US" sz="2800" b="0" spc="-5" dirty="0">
                <a:latin typeface="Times New Roman"/>
                <a:cs typeface="Times New Roman"/>
              </a:rPr>
              <a:t>procedural error, </a:t>
            </a:r>
            <a:r>
              <a:rPr lang="en-US" sz="2800" b="0" dirty="0">
                <a:latin typeface="Times New Roman"/>
                <a:cs typeface="Times New Roman"/>
              </a:rPr>
              <a:t>a </a:t>
            </a:r>
            <a:r>
              <a:rPr lang="en-US" sz="2800" b="0" spc="-10" dirty="0">
                <a:latin typeface="Times New Roman"/>
                <a:cs typeface="Times New Roman"/>
              </a:rPr>
              <a:t>deficiency </a:t>
            </a:r>
            <a:r>
              <a:rPr lang="en-US" sz="2800" b="0" spc="-5" dirty="0">
                <a:latin typeface="Times New Roman"/>
                <a:cs typeface="Times New Roman"/>
              </a:rPr>
              <a:t>notice </a:t>
            </a:r>
            <a:r>
              <a:rPr lang="en-US" sz="2800" b="0" dirty="0">
                <a:latin typeface="Times New Roman"/>
                <a:cs typeface="Times New Roman"/>
              </a:rPr>
              <a:t>from the </a:t>
            </a:r>
            <a:r>
              <a:rPr lang="en-US" sz="2800" b="0" spc="-5" dirty="0">
                <a:latin typeface="Times New Roman"/>
                <a:cs typeface="Times New Roman"/>
              </a:rPr>
              <a:t>Board, </a:t>
            </a:r>
            <a:r>
              <a:rPr lang="en-US" sz="2800" b="0" dirty="0">
                <a:latin typeface="Times New Roman"/>
                <a:cs typeface="Times New Roman"/>
              </a:rPr>
              <a:t>or  </a:t>
            </a:r>
            <a:r>
              <a:rPr lang="en-US" sz="2800" b="0" spc="-5" dirty="0">
                <a:latin typeface="Times New Roman"/>
                <a:cs typeface="Times New Roman"/>
              </a:rPr>
              <a:t>observations </a:t>
            </a:r>
            <a:r>
              <a:rPr lang="en-US" sz="2800" b="0" spc="10" dirty="0">
                <a:latin typeface="Times New Roman"/>
                <a:cs typeface="Times New Roman"/>
              </a:rPr>
              <a:t>of </a:t>
            </a:r>
            <a:r>
              <a:rPr lang="en-US" sz="2800" b="0" dirty="0">
                <a:latin typeface="Times New Roman"/>
                <a:cs typeface="Times New Roman"/>
              </a:rPr>
              <a:t>pharmacy </a:t>
            </a:r>
            <a:r>
              <a:rPr lang="en-US" sz="2800" b="0" spc="-10" dirty="0">
                <a:latin typeface="Times New Roman"/>
                <a:cs typeface="Times New Roman"/>
              </a:rPr>
              <a:t>staff. </a:t>
            </a:r>
            <a:r>
              <a:rPr lang="en-US" sz="2800" b="0" spc="-15" dirty="0">
                <a:latin typeface="Times New Roman"/>
                <a:cs typeface="Times New Roman"/>
              </a:rPr>
              <a:t>b. </a:t>
            </a:r>
            <a:r>
              <a:rPr lang="en-US" sz="2800" b="0" spc="-5" dirty="0">
                <a:latin typeface="Times New Roman"/>
                <a:cs typeface="Times New Roman"/>
              </a:rPr>
              <a:t>Monitoring </a:t>
            </a:r>
            <a:r>
              <a:rPr lang="en-US" sz="2800" b="0" spc="5" dirty="0">
                <a:latin typeface="Times New Roman"/>
                <a:cs typeface="Times New Roman"/>
              </a:rPr>
              <a:t>will </a:t>
            </a:r>
            <a:r>
              <a:rPr lang="en-US" sz="2800" b="0" spc="-15" dirty="0">
                <a:latin typeface="Times New Roman"/>
                <a:cs typeface="Times New Roman"/>
              </a:rPr>
              <a:t>be </a:t>
            </a:r>
            <a:r>
              <a:rPr lang="en-US" sz="2800" b="0" spc="-5" dirty="0">
                <a:latin typeface="Times New Roman"/>
                <a:cs typeface="Times New Roman"/>
              </a:rPr>
              <a:t>with </a:t>
            </a:r>
            <a:r>
              <a:rPr lang="en-US" sz="2800" b="0" dirty="0">
                <a:latin typeface="Times New Roman"/>
                <a:cs typeface="Times New Roman"/>
              </a:rPr>
              <a:t>the </a:t>
            </a:r>
            <a:r>
              <a:rPr lang="en-US" sz="2800" b="0" spc="-10" dirty="0">
                <a:latin typeface="Times New Roman"/>
                <a:cs typeface="Times New Roman"/>
              </a:rPr>
              <a:t>intent </a:t>
            </a:r>
            <a:r>
              <a:rPr lang="en-US" sz="2800" b="0" dirty="0">
                <a:latin typeface="Times New Roman"/>
                <a:cs typeface="Times New Roman"/>
              </a:rPr>
              <a:t>to </a:t>
            </a:r>
            <a:r>
              <a:rPr lang="en-US" sz="2800" b="0" spc="-5" dirty="0">
                <a:latin typeface="Times New Roman"/>
                <a:cs typeface="Times New Roman"/>
              </a:rPr>
              <a:t>track </a:t>
            </a:r>
            <a:r>
              <a:rPr lang="en-US" sz="2800" b="0" spc="229" dirty="0">
                <a:latin typeface="Times New Roman"/>
                <a:cs typeface="Times New Roman"/>
              </a:rPr>
              <a:t> </a:t>
            </a:r>
            <a:r>
              <a:rPr lang="en-US" sz="2800" b="0" spc="-5" dirty="0">
                <a:latin typeface="Times New Roman"/>
                <a:cs typeface="Times New Roman"/>
              </a:rPr>
              <a:t>successful improvement.</a:t>
            </a:r>
            <a:endParaRPr lang="en-US" sz="2800" b="0" dirty="0">
              <a:latin typeface="Times New Roman"/>
              <a:cs typeface="Times New Roman"/>
            </a:endParaRPr>
          </a:p>
          <a:p>
            <a:pPr marL="12700" marR="10160" algn="just">
              <a:lnSpc>
                <a:spcPct val="143400"/>
              </a:lnSpc>
            </a:pPr>
            <a:r>
              <a:rPr lang="en-US" sz="2800" b="0" dirty="0">
                <a:latin typeface="Times New Roman"/>
                <a:cs typeface="Times New Roman"/>
              </a:rPr>
              <a:t>2. </a:t>
            </a:r>
            <a:r>
              <a:rPr lang="en-US" sz="2800" b="0" spc="-10" dirty="0">
                <a:latin typeface="Times New Roman"/>
                <a:cs typeface="Times New Roman"/>
              </a:rPr>
              <a:t>Areas </a:t>
            </a:r>
            <a:r>
              <a:rPr lang="en-US" sz="2800" b="0" spc="-5" dirty="0">
                <a:latin typeface="Times New Roman"/>
                <a:cs typeface="Times New Roman"/>
              </a:rPr>
              <a:t>expected </a:t>
            </a:r>
            <a:r>
              <a:rPr lang="en-US" sz="2800" b="0" dirty="0">
                <a:latin typeface="Times New Roman"/>
                <a:cs typeface="Times New Roman"/>
              </a:rPr>
              <a:t>to </a:t>
            </a:r>
            <a:r>
              <a:rPr lang="en-US" sz="2800" b="0" spc="-15" dirty="0">
                <a:latin typeface="Times New Roman"/>
                <a:cs typeface="Times New Roman"/>
              </a:rPr>
              <a:t>be </a:t>
            </a:r>
            <a:r>
              <a:rPr lang="en-US" sz="2800" b="0" spc="-5" dirty="0">
                <a:latin typeface="Times New Roman"/>
                <a:cs typeface="Times New Roman"/>
              </a:rPr>
              <a:t>satisfactory a. </a:t>
            </a:r>
            <a:r>
              <a:rPr lang="en-US" sz="2800" b="0" spc="-10" dirty="0">
                <a:latin typeface="Times New Roman"/>
                <a:cs typeface="Times New Roman"/>
              </a:rPr>
              <a:t>These </a:t>
            </a:r>
            <a:r>
              <a:rPr lang="en-US" sz="2800" b="0" dirty="0">
                <a:latin typeface="Times New Roman"/>
                <a:cs typeface="Times New Roman"/>
              </a:rPr>
              <a:t>areas </a:t>
            </a:r>
            <a:r>
              <a:rPr lang="en-US" sz="2800" b="0" spc="-15" dirty="0">
                <a:latin typeface="Times New Roman"/>
                <a:cs typeface="Times New Roman"/>
              </a:rPr>
              <a:t>may be </a:t>
            </a:r>
            <a:r>
              <a:rPr lang="en-US" sz="2800" b="0" spc="-10" dirty="0">
                <a:latin typeface="Times New Roman"/>
                <a:cs typeface="Times New Roman"/>
              </a:rPr>
              <a:t>identified </a:t>
            </a:r>
            <a:r>
              <a:rPr lang="en-US" sz="2800" b="0" spc="-5" dirty="0">
                <a:latin typeface="Times New Roman"/>
                <a:cs typeface="Times New Roman"/>
              </a:rPr>
              <a:t>as perceived  strengths </a:t>
            </a:r>
            <a:r>
              <a:rPr lang="en-US" sz="2800" b="0" spc="-15" dirty="0">
                <a:latin typeface="Times New Roman"/>
                <a:cs typeface="Times New Roman"/>
              </a:rPr>
              <a:t>in </a:t>
            </a:r>
            <a:r>
              <a:rPr lang="en-US" sz="2800" b="0" spc="-10" dirty="0">
                <a:latin typeface="Times New Roman"/>
                <a:cs typeface="Times New Roman"/>
              </a:rPr>
              <a:t>your pharmacy. </a:t>
            </a:r>
            <a:r>
              <a:rPr lang="en-US" sz="2800" b="0" spc="-15" dirty="0">
                <a:latin typeface="Times New Roman"/>
                <a:cs typeface="Times New Roman"/>
              </a:rPr>
              <a:t>b. </a:t>
            </a:r>
            <a:r>
              <a:rPr lang="en-US" sz="2800" b="0" spc="-10" dirty="0">
                <a:latin typeface="Times New Roman"/>
                <a:cs typeface="Times New Roman"/>
              </a:rPr>
              <a:t>The intent </a:t>
            </a:r>
            <a:r>
              <a:rPr lang="en-US" sz="2800" b="0" spc="10" dirty="0">
                <a:latin typeface="Times New Roman"/>
                <a:cs typeface="Times New Roman"/>
              </a:rPr>
              <a:t>of </a:t>
            </a:r>
            <a:r>
              <a:rPr lang="en-US" sz="2800" b="0" spc="-10" dirty="0">
                <a:latin typeface="Times New Roman"/>
                <a:cs typeface="Times New Roman"/>
              </a:rPr>
              <a:t>monitoring </a:t>
            </a:r>
            <a:r>
              <a:rPr lang="en-US" sz="2800" b="0" spc="-5" dirty="0">
                <a:latin typeface="Times New Roman"/>
                <a:cs typeface="Times New Roman"/>
              </a:rPr>
              <a:t>may </a:t>
            </a:r>
            <a:r>
              <a:rPr lang="en-US" sz="2800" b="0" spc="-15" dirty="0">
                <a:latin typeface="Times New Roman"/>
                <a:cs typeface="Times New Roman"/>
              </a:rPr>
              <a:t>be </a:t>
            </a:r>
            <a:r>
              <a:rPr lang="en-US" sz="2800" b="0" dirty="0">
                <a:latin typeface="Times New Roman"/>
                <a:cs typeface="Times New Roman"/>
              </a:rPr>
              <a:t>to </a:t>
            </a:r>
            <a:r>
              <a:rPr lang="en-US" sz="2800" b="0" spc="-10" dirty="0">
                <a:latin typeface="Times New Roman"/>
                <a:cs typeface="Times New Roman"/>
              </a:rPr>
              <a:t>verify </a:t>
            </a:r>
            <a:r>
              <a:rPr lang="en-US" sz="2800" b="0" spc="-5" dirty="0">
                <a:latin typeface="Times New Roman"/>
                <a:cs typeface="Times New Roman"/>
              </a:rPr>
              <a:t>that processes  </a:t>
            </a:r>
            <a:r>
              <a:rPr lang="en-US" sz="2800" b="0" dirty="0">
                <a:latin typeface="Times New Roman"/>
                <a:cs typeface="Times New Roman"/>
              </a:rPr>
              <a:t>are </a:t>
            </a:r>
            <a:r>
              <a:rPr lang="en-US" sz="2800" b="0" spc="-5" dirty="0">
                <a:latin typeface="Times New Roman"/>
                <a:cs typeface="Times New Roman"/>
              </a:rPr>
              <a:t>done correctly and </a:t>
            </a:r>
            <a:r>
              <a:rPr lang="en-US" sz="2800" b="0" dirty="0">
                <a:latin typeface="Times New Roman"/>
                <a:cs typeface="Times New Roman"/>
              </a:rPr>
              <a:t>to </a:t>
            </a:r>
            <a:r>
              <a:rPr lang="en-US" sz="2800" b="0" spc="-5" dirty="0">
                <a:latin typeface="Times New Roman"/>
                <a:cs typeface="Times New Roman"/>
              </a:rPr>
              <a:t>identify </a:t>
            </a:r>
            <a:r>
              <a:rPr lang="en-US" sz="2800" b="0" dirty="0">
                <a:latin typeface="Times New Roman"/>
                <a:cs typeface="Times New Roman"/>
              </a:rPr>
              <a:t>unsuspected</a:t>
            </a:r>
            <a:r>
              <a:rPr lang="en-US" sz="2800" b="0" spc="-20" dirty="0">
                <a:latin typeface="Times New Roman"/>
                <a:cs typeface="Times New Roman"/>
              </a:rPr>
              <a:t> </a:t>
            </a:r>
            <a:r>
              <a:rPr lang="en-US" sz="2800" b="0" spc="-5" dirty="0">
                <a:latin typeface="Times New Roman"/>
                <a:cs typeface="Times New Roman"/>
              </a:rPr>
              <a:t>weaknesses.</a:t>
            </a:r>
            <a:endParaRPr lang="en-US" sz="2800" b="0" dirty="0">
              <a:latin typeface="Times New Roman"/>
              <a:cs typeface="Times New Roman"/>
            </a:endParaRPr>
          </a:p>
          <a:p>
            <a:pPr marL="188595" marR="146050" algn="just">
              <a:lnSpc>
                <a:spcPct val="143400"/>
              </a:lnSpc>
            </a:pPr>
            <a:endParaRPr lang="en-US" sz="2800" b="0" spc="-5" dirty="0">
              <a:latin typeface="Times New Roman"/>
              <a:cs typeface="Times New Roman"/>
            </a:endParaRPr>
          </a:p>
          <a:p>
            <a:pPr marL="702945" marR="146050" indent="-514350" algn="just">
              <a:lnSpc>
                <a:spcPct val="143400"/>
              </a:lnSpc>
              <a:buAutoNum type="arabicPeriod"/>
            </a:pPr>
            <a:endParaRPr lang="en-US" sz="2800" b="0" dirty="0">
              <a:latin typeface="Times New Roman"/>
              <a:cs typeface="Times New Roman"/>
            </a:endParaRPr>
          </a:p>
        </p:txBody>
      </p:sp>
    </p:spTree>
    <p:extLst>
      <p:ext uri="{BB962C8B-B14F-4D97-AF65-F5344CB8AC3E}">
        <p14:creationId xmlns:p14="http://schemas.microsoft.com/office/powerpoint/2010/main" val="15068451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18917" y="-48506"/>
            <a:ext cx="11754166" cy="4062651"/>
          </a:xfrm>
          <a:prstGeom prst="rect">
            <a:avLst/>
          </a:prstGeom>
        </p:spPr>
        <p:txBody>
          <a:bodyPr vert="horz" wrap="square" lIns="0" tIns="0" rIns="0" bIns="0" rtlCol="0">
            <a:spAutoFit/>
          </a:bodyPr>
          <a:lstStyle/>
          <a:p>
            <a:pPr marL="155967" indent="-147822" algn="just">
              <a:buAutoNum type="romanUcPeriod" startAt="3"/>
              <a:tabLst>
                <a:tab pos="156375" algn="l"/>
              </a:tabLst>
            </a:pPr>
            <a:r>
              <a:rPr sz="2400" b="0" i="1" spc="-3" dirty="0">
                <a:latin typeface="Times New Roman"/>
                <a:cs typeface="Times New Roman"/>
              </a:rPr>
              <a:t>Design </a:t>
            </a:r>
            <a:r>
              <a:rPr sz="2400" b="0" i="1" dirty="0">
                <a:latin typeface="Times New Roman"/>
                <a:cs typeface="Times New Roman"/>
              </a:rPr>
              <a:t>a </a:t>
            </a:r>
            <a:r>
              <a:rPr sz="2400" b="0" i="1" spc="-3" dirty="0">
                <a:latin typeface="Times New Roman"/>
                <a:cs typeface="Times New Roman"/>
              </a:rPr>
              <a:t>method </a:t>
            </a:r>
            <a:r>
              <a:rPr sz="2400" b="0" i="1" dirty="0">
                <a:latin typeface="Times New Roman"/>
                <a:cs typeface="Times New Roman"/>
              </a:rPr>
              <a:t>to </a:t>
            </a:r>
            <a:r>
              <a:rPr sz="2400" b="0" i="1" spc="-6" dirty="0">
                <a:latin typeface="Times New Roman"/>
                <a:cs typeface="Times New Roman"/>
              </a:rPr>
              <a:t>measure </a:t>
            </a:r>
            <a:r>
              <a:rPr sz="2400" b="0" i="1" dirty="0">
                <a:latin typeface="Times New Roman"/>
                <a:cs typeface="Times New Roman"/>
              </a:rPr>
              <a:t>the identified </a:t>
            </a:r>
            <a:r>
              <a:rPr sz="2400" b="0" i="1" spc="-6" dirty="0">
                <a:latin typeface="Times New Roman"/>
                <a:cs typeface="Times New Roman"/>
              </a:rPr>
              <a:t>areas. Here </a:t>
            </a:r>
            <a:r>
              <a:rPr sz="2400" b="0" i="1" spc="-3" dirty="0">
                <a:latin typeface="Times New Roman"/>
                <a:cs typeface="Times New Roman"/>
              </a:rPr>
              <a:t>are some</a:t>
            </a:r>
            <a:r>
              <a:rPr sz="2400" b="0" i="1" spc="55" dirty="0">
                <a:latin typeface="Times New Roman"/>
                <a:cs typeface="Times New Roman"/>
              </a:rPr>
              <a:t> </a:t>
            </a:r>
            <a:r>
              <a:rPr sz="2400" b="0" i="1" spc="-3" dirty="0">
                <a:latin typeface="Times New Roman"/>
                <a:cs typeface="Times New Roman"/>
              </a:rPr>
              <a:t>tips:</a:t>
            </a:r>
            <a:endParaRPr lang="en-US" sz="2400" b="0" i="1" spc="-3" dirty="0">
              <a:latin typeface="Times New Roman"/>
              <a:cs typeface="Times New Roman"/>
            </a:endParaRPr>
          </a:p>
          <a:p>
            <a:pPr marL="8145" algn="just">
              <a:tabLst>
                <a:tab pos="156375" algn="l"/>
              </a:tabLst>
            </a:pPr>
            <a:endParaRPr sz="2400" b="0" dirty="0">
              <a:latin typeface="Times New Roman"/>
              <a:cs typeface="Times New Roman"/>
            </a:endParaRPr>
          </a:p>
          <a:p>
            <a:pPr marL="154746" lvl="1" indent="-146601" algn="just">
              <a:spcBef>
                <a:spcPts val="3"/>
              </a:spcBef>
              <a:buAutoNum type="arabicPeriod"/>
              <a:tabLst>
                <a:tab pos="154746" algn="l"/>
              </a:tabLst>
            </a:pPr>
            <a:r>
              <a:rPr sz="2400" b="0" spc="-3" dirty="0">
                <a:latin typeface="Times New Roman"/>
                <a:cs typeface="Times New Roman"/>
              </a:rPr>
              <a:t>Focus </a:t>
            </a:r>
            <a:r>
              <a:rPr sz="2400" b="0" spc="6" dirty="0">
                <a:latin typeface="Times New Roman"/>
                <a:cs typeface="Times New Roman"/>
              </a:rPr>
              <a:t>on </a:t>
            </a:r>
            <a:r>
              <a:rPr sz="2400" b="0" spc="-3" dirty="0">
                <a:latin typeface="Times New Roman"/>
                <a:cs typeface="Times New Roman"/>
              </a:rPr>
              <a:t>quantitative measures that can show clear</a:t>
            </a:r>
            <a:r>
              <a:rPr sz="2400" b="0" spc="32" dirty="0">
                <a:latin typeface="Times New Roman"/>
                <a:cs typeface="Times New Roman"/>
              </a:rPr>
              <a:t> </a:t>
            </a:r>
            <a:r>
              <a:rPr sz="2400" b="0" spc="-6" dirty="0">
                <a:latin typeface="Times New Roman"/>
                <a:cs typeface="Times New Roman"/>
              </a:rPr>
              <a:t>results</a:t>
            </a:r>
            <a:endParaRPr lang="en-US" sz="4400" b="0" dirty="0">
              <a:latin typeface="Times New Roman"/>
              <a:cs typeface="Times New Roman"/>
            </a:endParaRPr>
          </a:p>
          <a:p>
            <a:pPr marL="154746" lvl="1" indent="-146601" algn="just">
              <a:spcBef>
                <a:spcPts val="3"/>
              </a:spcBef>
              <a:buAutoNum type="arabicPeriod"/>
              <a:tabLst>
                <a:tab pos="154746" algn="l"/>
              </a:tabLst>
            </a:pPr>
            <a:r>
              <a:rPr sz="2400" b="0" spc="-6" dirty="0">
                <a:latin typeface="Times New Roman"/>
                <a:cs typeface="Times New Roman"/>
              </a:rPr>
              <a:t>Utilize your </a:t>
            </a:r>
            <a:r>
              <a:rPr sz="2400" b="0" spc="-3" dirty="0">
                <a:latin typeface="Times New Roman"/>
                <a:cs typeface="Times New Roman"/>
              </a:rPr>
              <a:t>computer </a:t>
            </a:r>
            <a:r>
              <a:rPr sz="2400" b="0" spc="-6" dirty="0">
                <a:latin typeface="Times New Roman"/>
                <a:cs typeface="Times New Roman"/>
              </a:rPr>
              <a:t>system’s </a:t>
            </a:r>
            <a:r>
              <a:rPr sz="2400" b="0" spc="-3" dirty="0">
                <a:latin typeface="Times New Roman"/>
                <a:cs typeface="Times New Roman"/>
              </a:rPr>
              <a:t>capabilities </a:t>
            </a:r>
            <a:r>
              <a:rPr sz="2400" b="0" dirty="0">
                <a:latin typeface="Times New Roman"/>
                <a:cs typeface="Times New Roman"/>
              </a:rPr>
              <a:t>where</a:t>
            </a:r>
            <a:r>
              <a:rPr sz="2400" b="0" spc="93" dirty="0">
                <a:latin typeface="Times New Roman"/>
                <a:cs typeface="Times New Roman"/>
              </a:rPr>
              <a:t> </a:t>
            </a:r>
            <a:r>
              <a:rPr sz="2400" b="0" spc="-3" dirty="0">
                <a:latin typeface="Times New Roman"/>
                <a:cs typeface="Times New Roman"/>
              </a:rPr>
              <a:t>appropriate</a:t>
            </a:r>
            <a:endParaRPr lang="en-US" sz="2400" b="0" dirty="0">
              <a:latin typeface="Times New Roman"/>
              <a:cs typeface="Times New Roman"/>
            </a:endParaRPr>
          </a:p>
          <a:p>
            <a:pPr marL="154746" lvl="1" indent="-146601" algn="just">
              <a:spcBef>
                <a:spcPts val="3"/>
              </a:spcBef>
              <a:buAutoNum type="arabicPeriod"/>
              <a:tabLst>
                <a:tab pos="154746" algn="l"/>
              </a:tabLst>
            </a:pPr>
            <a:r>
              <a:rPr sz="2400" b="0" spc="-6" dirty="0">
                <a:latin typeface="Times New Roman"/>
                <a:cs typeface="Times New Roman"/>
              </a:rPr>
              <a:t>Use </a:t>
            </a:r>
            <a:r>
              <a:rPr sz="2400" b="0" spc="-3" dirty="0">
                <a:latin typeface="Times New Roman"/>
                <a:cs typeface="Times New Roman"/>
              </a:rPr>
              <a:t>random </a:t>
            </a:r>
            <a:r>
              <a:rPr sz="2400" b="0" spc="-6" dirty="0">
                <a:latin typeface="Times New Roman"/>
                <a:cs typeface="Times New Roman"/>
              </a:rPr>
              <a:t>samples where </a:t>
            </a:r>
            <a:r>
              <a:rPr sz="2400" b="0" dirty="0">
                <a:latin typeface="Times New Roman"/>
                <a:cs typeface="Times New Roman"/>
              </a:rPr>
              <a:t>appropriate (e.g. </a:t>
            </a:r>
            <a:r>
              <a:rPr sz="2400" b="0" spc="-6" dirty="0">
                <a:latin typeface="Times New Roman"/>
                <a:cs typeface="Times New Roman"/>
              </a:rPr>
              <a:t>you </a:t>
            </a:r>
            <a:r>
              <a:rPr sz="2400" b="0" spc="-3" dirty="0">
                <a:latin typeface="Times New Roman"/>
                <a:cs typeface="Times New Roman"/>
              </a:rPr>
              <a:t>don’t necessarily </a:t>
            </a:r>
            <a:r>
              <a:rPr sz="2400" b="0" spc="-6" dirty="0">
                <a:latin typeface="Times New Roman"/>
                <a:cs typeface="Times New Roman"/>
              </a:rPr>
              <a:t>have </a:t>
            </a:r>
            <a:r>
              <a:rPr sz="2400" b="0" dirty="0">
                <a:latin typeface="Times New Roman"/>
                <a:cs typeface="Times New Roman"/>
              </a:rPr>
              <a:t>to </a:t>
            </a:r>
            <a:r>
              <a:rPr sz="2400" b="0" spc="-10" dirty="0">
                <a:latin typeface="Times New Roman"/>
                <a:cs typeface="Times New Roman"/>
              </a:rPr>
              <a:t>go  </a:t>
            </a:r>
            <a:r>
              <a:rPr sz="2400" b="0" dirty="0">
                <a:latin typeface="Times New Roman"/>
                <a:cs typeface="Times New Roman"/>
              </a:rPr>
              <a:t>through the </a:t>
            </a:r>
            <a:r>
              <a:rPr sz="2400" b="0" spc="-3" dirty="0">
                <a:latin typeface="Times New Roman"/>
                <a:cs typeface="Times New Roman"/>
              </a:rPr>
              <a:t>entire prescription </a:t>
            </a:r>
            <a:r>
              <a:rPr sz="2400" b="0" spc="-6" dirty="0">
                <a:latin typeface="Times New Roman"/>
                <a:cs typeface="Times New Roman"/>
              </a:rPr>
              <a:t>log </a:t>
            </a:r>
            <a:r>
              <a:rPr sz="2400" b="0" dirty="0">
                <a:latin typeface="Times New Roman"/>
                <a:cs typeface="Times New Roman"/>
              </a:rPr>
              <a:t>book to </a:t>
            </a:r>
            <a:r>
              <a:rPr sz="2400" b="0" spc="-3" dirty="0">
                <a:latin typeface="Times New Roman"/>
                <a:cs typeface="Times New Roman"/>
              </a:rPr>
              <a:t>quantify counseling</a:t>
            </a:r>
            <a:r>
              <a:rPr sz="2400" b="0" spc="13" dirty="0">
                <a:latin typeface="Times New Roman"/>
                <a:cs typeface="Times New Roman"/>
              </a:rPr>
              <a:t> </a:t>
            </a:r>
            <a:r>
              <a:rPr sz="2400" b="0" spc="-3" dirty="0">
                <a:latin typeface="Times New Roman"/>
                <a:cs typeface="Times New Roman"/>
              </a:rPr>
              <a:t>documentation)</a:t>
            </a:r>
            <a:endParaRPr lang="en-US" sz="2400" b="0" dirty="0">
              <a:latin typeface="Times New Roman"/>
              <a:cs typeface="Times New Roman"/>
            </a:endParaRPr>
          </a:p>
          <a:p>
            <a:pPr marL="154746" lvl="1" indent="-146601" algn="just">
              <a:spcBef>
                <a:spcPts val="3"/>
              </a:spcBef>
              <a:buAutoNum type="arabicPeriod"/>
              <a:tabLst>
                <a:tab pos="154746" algn="l"/>
              </a:tabLst>
            </a:pPr>
            <a:r>
              <a:rPr sz="2400" b="0" spc="-6" dirty="0">
                <a:latin typeface="Times New Roman"/>
                <a:cs typeface="Times New Roman"/>
              </a:rPr>
              <a:t>Consider </a:t>
            </a:r>
            <a:r>
              <a:rPr sz="2400" b="0" dirty="0">
                <a:latin typeface="Times New Roman"/>
                <a:cs typeface="Times New Roman"/>
              </a:rPr>
              <a:t>a </a:t>
            </a:r>
            <a:r>
              <a:rPr sz="2400" b="0" spc="-6" dirty="0">
                <a:latin typeface="Times New Roman"/>
                <a:cs typeface="Times New Roman"/>
              </a:rPr>
              <a:t>method </a:t>
            </a:r>
            <a:r>
              <a:rPr sz="2400" b="0" spc="-3" dirty="0">
                <a:latin typeface="Times New Roman"/>
                <a:cs typeface="Times New Roman"/>
              </a:rPr>
              <a:t>that can </a:t>
            </a:r>
            <a:r>
              <a:rPr sz="2400" b="0" spc="-10" dirty="0">
                <a:latin typeface="Times New Roman"/>
                <a:cs typeface="Times New Roman"/>
              </a:rPr>
              <a:t>be </a:t>
            </a:r>
            <a:r>
              <a:rPr sz="2400" b="0" spc="-3" dirty="0">
                <a:latin typeface="Times New Roman"/>
                <a:cs typeface="Times New Roman"/>
              </a:rPr>
              <a:t>accomplished </a:t>
            </a:r>
            <a:r>
              <a:rPr sz="2400" b="0" dirty="0">
                <a:latin typeface="Times New Roman"/>
                <a:cs typeface="Times New Roman"/>
              </a:rPr>
              <a:t>in a </a:t>
            </a:r>
            <a:r>
              <a:rPr sz="2400" b="0" spc="-3" dirty="0">
                <a:latin typeface="Times New Roman"/>
                <a:cs typeface="Times New Roman"/>
              </a:rPr>
              <a:t>reasonable amount </a:t>
            </a:r>
            <a:r>
              <a:rPr sz="2400" b="0" spc="6" dirty="0">
                <a:latin typeface="Times New Roman"/>
                <a:cs typeface="Times New Roman"/>
              </a:rPr>
              <a:t>of </a:t>
            </a:r>
            <a:r>
              <a:rPr sz="2400" b="0" spc="-6" dirty="0">
                <a:latin typeface="Times New Roman"/>
                <a:cs typeface="Times New Roman"/>
              </a:rPr>
              <a:t>time </a:t>
            </a:r>
            <a:r>
              <a:rPr sz="2400" b="0" spc="6" dirty="0">
                <a:latin typeface="Times New Roman"/>
                <a:cs typeface="Times New Roman"/>
              </a:rPr>
              <a:t>by  </a:t>
            </a:r>
            <a:r>
              <a:rPr sz="2400" b="0" spc="-3" dirty="0">
                <a:latin typeface="Times New Roman"/>
                <a:cs typeface="Times New Roman"/>
              </a:rPr>
              <a:t>appropriate </a:t>
            </a:r>
            <a:r>
              <a:rPr sz="2400" b="0" spc="-10" dirty="0">
                <a:latin typeface="Times New Roman"/>
                <a:cs typeface="Times New Roman"/>
              </a:rPr>
              <a:t>staff. </a:t>
            </a:r>
            <a:r>
              <a:rPr sz="2400" b="0" spc="-6" dirty="0">
                <a:latin typeface="Times New Roman"/>
                <a:cs typeface="Times New Roman"/>
              </a:rPr>
              <a:t>Keep </a:t>
            </a:r>
            <a:r>
              <a:rPr sz="2400" b="0" spc="-16" dirty="0">
                <a:latin typeface="Times New Roman"/>
                <a:cs typeface="Times New Roman"/>
              </a:rPr>
              <a:t>it</a:t>
            </a:r>
            <a:r>
              <a:rPr sz="2400" b="0" spc="80" dirty="0">
                <a:latin typeface="Times New Roman"/>
                <a:cs typeface="Times New Roman"/>
              </a:rPr>
              <a:t> </a:t>
            </a:r>
            <a:r>
              <a:rPr sz="2400" b="0" spc="-6" dirty="0">
                <a:latin typeface="Times New Roman"/>
                <a:cs typeface="Times New Roman"/>
              </a:rPr>
              <a:t>simple.</a:t>
            </a:r>
            <a:endParaRPr lang="en-US" sz="2400" b="0" dirty="0">
              <a:latin typeface="Times New Roman"/>
              <a:cs typeface="Times New Roman"/>
            </a:endParaRPr>
          </a:p>
          <a:p>
            <a:pPr marL="154746" lvl="1" indent="-146601" algn="just">
              <a:spcBef>
                <a:spcPts val="3"/>
              </a:spcBef>
              <a:buAutoNum type="arabicPeriod"/>
              <a:tabLst>
                <a:tab pos="154746" algn="l"/>
              </a:tabLst>
            </a:pPr>
            <a:r>
              <a:rPr sz="2400" b="0" spc="-6" dirty="0">
                <a:latin typeface="Times New Roman"/>
                <a:cs typeface="Times New Roman"/>
              </a:rPr>
              <a:t>Consider </a:t>
            </a:r>
            <a:r>
              <a:rPr sz="2400" b="0" dirty="0">
                <a:latin typeface="Times New Roman"/>
                <a:cs typeface="Times New Roman"/>
              </a:rPr>
              <a:t>a </a:t>
            </a:r>
            <a:r>
              <a:rPr sz="2400" b="0" spc="-6" dirty="0">
                <a:latin typeface="Times New Roman"/>
                <a:cs typeface="Times New Roman"/>
              </a:rPr>
              <a:t>method </a:t>
            </a:r>
            <a:r>
              <a:rPr sz="2400" b="0" spc="-3" dirty="0">
                <a:latin typeface="Times New Roman"/>
                <a:cs typeface="Times New Roman"/>
              </a:rPr>
              <a:t>that can </a:t>
            </a:r>
            <a:r>
              <a:rPr sz="2400" b="0" spc="-10" dirty="0">
                <a:latin typeface="Times New Roman"/>
                <a:cs typeface="Times New Roman"/>
              </a:rPr>
              <a:t>be </a:t>
            </a:r>
            <a:r>
              <a:rPr sz="2400" b="0" spc="-3" dirty="0">
                <a:latin typeface="Times New Roman"/>
                <a:cs typeface="Times New Roman"/>
              </a:rPr>
              <a:t>done consistently as </a:t>
            </a:r>
            <a:r>
              <a:rPr sz="2400" b="0" spc="-6" dirty="0">
                <a:latin typeface="Times New Roman"/>
                <a:cs typeface="Times New Roman"/>
              </a:rPr>
              <a:t>part </a:t>
            </a:r>
            <a:r>
              <a:rPr sz="2400" b="0" spc="6" dirty="0">
                <a:latin typeface="Times New Roman"/>
                <a:cs typeface="Times New Roman"/>
              </a:rPr>
              <a:t>of </a:t>
            </a:r>
            <a:r>
              <a:rPr sz="2400" b="0" spc="-3" dirty="0">
                <a:latin typeface="Times New Roman"/>
                <a:cs typeface="Times New Roman"/>
              </a:rPr>
              <a:t>normal</a:t>
            </a:r>
            <a:r>
              <a:rPr sz="2400" b="0" spc="90" dirty="0">
                <a:latin typeface="Times New Roman"/>
                <a:cs typeface="Times New Roman"/>
              </a:rPr>
              <a:t> </a:t>
            </a:r>
            <a:r>
              <a:rPr sz="2400" b="0" dirty="0">
                <a:latin typeface="Times New Roman"/>
                <a:cs typeface="Times New Roman"/>
              </a:rPr>
              <a:t>procedures.</a:t>
            </a:r>
            <a:endParaRPr lang="en-US" sz="2400" b="0" dirty="0">
              <a:latin typeface="Times New Roman"/>
              <a:cs typeface="Times New Roman"/>
            </a:endParaRPr>
          </a:p>
          <a:p>
            <a:pPr marL="154746" lvl="1" indent="-146601" algn="just">
              <a:spcBef>
                <a:spcPts val="3"/>
              </a:spcBef>
              <a:buAutoNum type="arabicPeriod"/>
              <a:tabLst>
                <a:tab pos="154746" algn="l"/>
              </a:tabLst>
            </a:pPr>
            <a:r>
              <a:rPr sz="2400" b="0" spc="-6" dirty="0">
                <a:latin typeface="Times New Roman"/>
                <a:cs typeface="Times New Roman"/>
              </a:rPr>
              <a:t>Determine </a:t>
            </a:r>
            <a:r>
              <a:rPr sz="2400" b="0" spc="-3" dirty="0">
                <a:latin typeface="Times New Roman"/>
                <a:cs typeface="Times New Roman"/>
              </a:rPr>
              <a:t>how </a:t>
            </a:r>
            <a:r>
              <a:rPr sz="2400" b="0" dirty="0">
                <a:latin typeface="Times New Roman"/>
                <a:cs typeface="Times New Roman"/>
              </a:rPr>
              <a:t>often the </a:t>
            </a:r>
            <a:r>
              <a:rPr sz="2400" b="0" spc="-6" dirty="0">
                <a:latin typeface="Times New Roman"/>
                <a:cs typeface="Times New Roman"/>
              </a:rPr>
              <a:t>measurement will </a:t>
            </a:r>
            <a:r>
              <a:rPr sz="2400" b="0" spc="-10" dirty="0">
                <a:latin typeface="Times New Roman"/>
                <a:cs typeface="Times New Roman"/>
              </a:rPr>
              <a:t>be </a:t>
            </a:r>
            <a:r>
              <a:rPr sz="2400" b="0" dirty="0">
                <a:latin typeface="Times New Roman"/>
                <a:cs typeface="Times New Roman"/>
              </a:rPr>
              <a:t>repeated </a:t>
            </a:r>
            <a:r>
              <a:rPr sz="2400" b="0" spc="-6" dirty="0">
                <a:latin typeface="Times New Roman"/>
                <a:cs typeface="Times New Roman"/>
              </a:rPr>
              <a:t>and make </a:t>
            </a:r>
            <a:r>
              <a:rPr sz="2400" b="0" spc="-3" dirty="0">
                <a:latin typeface="Times New Roman"/>
                <a:cs typeface="Times New Roman"/>
              </a:rPr>
              <a:t>plans </a:t>
            </a:r>
            <a:r>
              <a:rPr sz="2400" b="0" spc="6" dirty="0">
                <a:latin typeface="Times New Roman"/>
                <a:cs typeface="Times New Roman"/>
              </a:rPr>
              <a:t>to </a:t>
            </a:r>
            <a:r>
              <a:rPr sz="2400" b="0" spc="-6" dirty="0">
                <a:latin typeface="Times New Roman"/>
                <a:cs typeface="Times New Roman"/>
              </a:rPr>
              <a:t>ensure  </a:t>
            </a:r>
            <a:r>
              <a:rPr sz="2400" b="0" spc="-16" dirty="0">
                <a:latin typeface="Times New Roman"/>
                <a:cs typeface="Times New Roman"/>
              </a:rPr>
              <a:t>it </a:t>
            </a:r>
            <a:r>
              <a:rPr sz="2400" b="0" spc="-10" dirty="0">
                <a:latin typeface="Times New Roman"/>
                <a:cs typeface="Times New Roman"/>
              </a:rPr>
              <a:t>is </a:t>
            </a:r>
            <a:r>
              <a:rPr sz="2400" b="0" spc="-3" dirty="0">
                <a:latin typeface="Times New Roman"/>
                <a:cs typeface="Times New Roman"/>
              </a:rPr>
              <a:t>not</a:t>
            </a:r>
            <a:r>
              <a:rPr sz="2400" b="0" spc="32" dirty="0">
                <a:latin typeface="Times New Roman"/>
                <a:cs typeface="Times New Roman"/>
              </a:rPr>
              <a:t> </a:t>
            </a:r>
            <a:r>
              <a:rPr sz="2400" b="0" spc="-3" dirty="0">
                <a:latin typeface="Times New Roman"/>
                <a:cs typeface="Times New Roman"/>
              </a:rPr>
              <a:t>forgotten.</a:t>
            </a:r>
            <a:endParaRPr sz="2400" b="0" dirty="0">
              <a:latin typeface="Times New Roman"/>
              <a:cs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212115"/>
            <a:ext cx="12192000" cy="6688498"/>
          </a:xfrm>
          <a:prstGeom prst="rect">
            <a:avLst/>
          </a:prstGeom>
        </p:spPr>
        <p:txBody>
          <a:bodyPr vert="horz" wrap="square" lIns="0" tIns="0" rIns="0" bIns="0" rtlCol="0">
            <a:spAutoFit/>
          </a:bodyPr>
          <a:lstStyle/>
          <a:p>
            <a:pPr marL="154746"/>
            <a:r>
              <a:rPr lang="en-US" sz="2800" b="0" i="1" spc="-3" dirty="0">
                <a:latin typeface="Times New Roman"/>
                <a:cs typeface="Times New Roman"/>
              </a:rPr>
              <a:t>IV. Set appropriate</a:t>
            </a:r>
            <a:r>
              <a:rPr lang="en-US" sz="2800" b="0" i="1" spc="-13" dirty="0">
                <a:latin typeface="Times New Roman"/>
                <a:cs typeface="Times New Roman"/>
              </a:rPr>
              <a:t> </a:t>
            </a:r>
            <a:r>
              <a:rPr lang="en-US" sz="2800" b="0" i="1" dirty="0">
                <a:latin typeface="Times New Roman"/>
                <a:cs typeface="Times New Roman"/>
              </a:rPr>
              <a:t>goals</a:t>
            </a:r>
            <a:endParaRPr lang="en-US" sz="2800" b="0" dirty="0">
              <a:latin typeface="Times New Roman"/>
              <a:cs typeface="Times New Roman"/>
            </a:endParaRPr>
          </a:p>
          <a:p>
            <a:pPr marL="154746" marR="4887">
              <a:lnSpc>
                <a:spcPct val="141700"/>
              </a:lnSpc>
              <a:buAutoNum type="arabicPeriod"/>
              <a:tabLst>
                <a:tab pos="264289" algn="l"/>
              </a:tabLst>
            </a:pPr>
            <a:r>
              <a:rPr lang="en-US" sz="2800" b="0" spc="-3" dirty="0">
                <a:latin typeface="Times New Roman"/>
                <a:cs typeface="Times New Roman"/>
              </a:rPr>
              <a:t>Perfection </a:t>
            </a:r>
            <a:r>
              <a:rPr lang="en-US" sz="2800" b="0" spc="-10" dirty="0">
                <a:latin typeface="Times New Roman"/>
                <a:cs typeface="Times New Roman"/>
              </a:rPr>
              <a:t>is </a:t>
            </a:r>
            <a:r>
              <a:rPr lang="en-US" sz="2800" b="0" spc="-3" dirty="0">
                <a:latin typeface="Times New Roman"/>
                <a:cs typeface="Times New Roman"/>
              </a:rPr>
              <a:t>not </a:t>
            </a:r>
            <a:r>
              <a:rPr lang="en-US" sz="2800" b="0" spc="-10" dirty="0">
                <a:latin typeface="Times New Roman"/>
                <a:cs typeface="Times New Roman"/>
              </a:rPr>
              <a:t>always </a:t>
            </a:r>
            <a:r>
              <a:rPr lang="en-US" sz="2800" b="0" dirty="0">
                <a:latin typeface="Times New Roman"/>
                <a:cs typeface="Times New Roman"/>
              </a:rPr>
              <a:t>a </a:t>
            </a:r>
            <a:r>
              <a:rPr lang="en-US" sz="2800" b="0" spc="-3" dirty="0">
                <a:latin typeface="Times New Roman"/>
                <a:cs typeface="Times New Roman"/>
              </a:rPr>
              <a:t>realistic goal. Determine what </a:t>
            </a:r>
            <a:r>
              <a:rPr lang="en-US" sz="2800" b="0" spc="-16" dirty="0">
                <a:latin typeface="Times New Roman"/>
                <a:cs typeface="Times New Roman"/>
              </a:rPr>
              <a:t>is </a:t>
            </a:r>
            <a:r>
              <a:rPr lang="en-US" sz="2800" b="0" spc="-3" dirty="0">
                <a:latin typeface="Times New Roman"/>
                <a:cs typeface="Times New Roman"/>
              </a:rPr>
              <a:t>acceptable </a:t>
            </a:r>
            <a:r>
              <a:rPr lang="en-US" sz="2800" b="0" spc="-6" dirty="0">
                <a:latin typeface="Times New Roman"/>
                <a:cs typeface="Times New Roman"/>
              </a:rPr>
              <a:t>for your  </a:t>
            </a:r>
            <a:r>
              <a:rPr lang="en-US" sz="2800" b="0" spc="-3" dirty="0">
                <a:latin typeface="Times New Roman"/>
                <a:cs typeface="Times New Roman"/>
              </a:rPr>
              <a:t>practice.</a:t>
            </a:r>
          </a:p>
          <a:p>
            <a:pPr marL="154746" marR="4887">
              <a:lnSpc>
                <a:spcPct val="141700"/>
              </a:lnSpc>
              <a:buAutoNum type="arabicPeriod"/>
              <a:tabLst>
                <a:tab pos="264289" algn="l"/>
              </a:tabLst>
            </a:pPr>
            <a:r>
              <a:rPr lang="en-US" sz="2800" b="0" spc="-6" dirty="0">
                <a:latin typeface="Times New Roman"/>
                <a:cs typeface="Times New Roman"/>
              </a:rPr>
              <a:t>Set </a:t>
            </a:r>
            <a:r>
              <a:rPr lang="en-US" sz="2800" b="0" spc="-3" dirty="0">
                <a:latin typeface="Times New Roman"/>
                <a:cs typeface="Times New Roman"/>
              </a:rPr>
              <a:t>an attainable </a:t>
            </a:r>
            <a:r>
              <a:rPr lang="en-US" sz="2800" b="0" spc="3" dirty="0">
                <a:latin typeface="Times New Roman"/>
                <a:cs typeface="Times New Roman"/>
              </a:rPr>
              <a:t>goal </a:t>
            </a:r>
            <a:r>
              <a:rPr lang="en-US" sz="2800" b="0" spc="-3" dirty="0">
                <a:latin typeface="Times New Roman"/>
                <a:cs typeface="Times New Roman"/>
              </a:rPr>
              <a:t>and </a:t>
            </a:r>
            <a:r>
              <a:rPr lang="en-US" sz="2800" b="0" spc="-10" dirty="0">
                <a:latin typeface="Times New Roman"/>
                <a:cs typeface="Times New Roman"/>
              </a:rPr>
              <a:t>be </a:t>
            </a:r>
            <a:r>
              <a:rPr lang="en-US" sz="2800" b="0" spc="-3" dirty="0">
                <a:latin typeface="Times New Roman"/>
                <a:cs typeface="Times New Roman"/>
              </a:rPr>
              <a:t>prepared </a:t>
            </a:r>
            <a:r>
              <a:rPr lang="en-US" sz="2800" b="0" dirty="0">
                <a:latin typeface="Times New Roman"/>
                <a:cs typeface="Times New Roman"/>
              </a:rPr>
              <a:t>to </a:t>
            </a:r>
            <a:r>
              <a:rPr lang="en-US" sz="2800" b="0" spc="-3" dirty="0">
                <a:latin typeface="Times New Roman"/>
                <a:cs typeface="Times New Roman"/>
              </a:rPr>
              <a:t>update </a:t>
            </a:r>
            <a:r>
              <a:rPr lang="en-US" sz="2800" b="0" dirty="0">
                <a:latin typeface="Times New Roman"/>
                <a:cs typeface="Times New Roman"/>
              </a:rPr>
              <a:t>the goal </a:t>
            </a:r>
            <a:r>
              <a:rPr lang="en-US" sz="2800" b="0" spc="-3" dirty="0">
                <a:latin typeface="Times New Roman"/>
                <a:cs typeface="Times New Roman"/>
              </a:rPr>
              <a:t>when </a:t>
            </a:r>
            <a:r>
              <a:rPr lang="en-US" sz="2800" b="0" spc="-16" dirty="0">
                <a:latin typeface="Times New Roman"/>
                <a:cs typeface="Times New Roman"/>
              </a:rPr>
              <a:t>it </a:t>
            </a:r>
            <a:r>
              <a:rPr lang="en-US" sz="2800" b="0" spc="-10" dirty="0">
                <a:latin typeface="Times New Roman"/>
                <a:cs typeface="Times New Roman"/>
              </a:rPr>
              <a:t>is</a:t>
            </a:r>
            <a:r>
              <a:rPr lang="en-US" sz="2800" b="0" spc="83" dirty="0">
                <a:latin typeface="Times New Roman"/>
                <a:cs typeface="Times New Roman"/>
              </a:rPr>
              <a:t> </a:t>
            </a:r>
            <a:r>
              <a:rPr lang="en-US" sz="2800" b="0" spc="-3" dirty="0">
                <a:latin typeface="Times New Roman"/>
                <a:cs typeface="Times New Roman"/>
              </a:rPr>
              <a:t>achieved.</a:t>
            </a:r>
            <a:endParaRPr lang="en-US" sz="3200" b="0" dirty="0">
              <a:latin typeface="Times New Roman"/>
              <a:cs typeface="Times New Roman"/>
            </a:endParaRPr>
          </a:p>
          <a:p>
            <a:pPr marL="154746" marR="6923">
              <a:lnSpc>
                <a:spcPct val="143300"/>
              </a:lnSpc>
              <a:buAutoNum type="arabicPeriod"/>
              <a:tabLst>
                <a:tab pos="260217" algn="l"/>
              </a:tabLst>
            </a:pPr>
            <a:r>
              <a:rPr lang="en-US" sz="2800" b="0" spc="-6" dirty="0">
                <a:latin typeface="Times New Roman"/>
                <a:cs typeface="Times New Roman"/>
              </a:rPr>
              <a:t>Include </a:t>
            </a:r>
            <a:r>
              <a:rPr lang="en-US" sz="2800" b="0" spc="-3" dirty="0">
                <a:latin typeface="Times New Roman"/>
                <a:cs typeface="Times New Roman"/>
              </a:rPr>
              <a:t>instructions </a:t>
            </a:r>
            <a:r>
              <a:rPr lang="en-US" sz="2800" b="0" spc="6" dirty="0">
                <a:latin typeface="Times New Roman"/>
                <a:cs typeface="Times New Roman"/>
              </a:rPr>
              <a:t>on </a:t>
            </a:r>
            <a:r>
              <a:rPr lang="en-US" sz="2800" b="0" spc="-3" dirty="0">
                <a:latin typeface="Times New Roman"/>
                <a:cs typeface="Times New Roman"/>
              </a:rPr>
              <a:t>what </a:t>
            </a:r>
            <a:r>
              <a:rPr lang="en-US" sz="2800" b="0" dirty="0">
                <a:latin typeface="Times New Roman"/>
                <a:cs typeface="Times New Roman"/>
              </a:rPr>
              <a:t>the person </a:t>
            </a:r>
            <a:r>
              <a:rPr lang="en-US" sz="2800" b="0" spc="-3" dirty="0">
                <a:latin typeface="Times New Roman"/>
                <a:cs typeface="Times New Roman"/>
              </a:rPr>
              <a:t>taking </a:t>
            </a:r>
            <a:r>
              <a:rPr lang="en-US" sz="2800" b="0" dirty="0">
                <a:latin typeface="Times New Roman"/>
                <a:cs typeface="Times New Roman"/>
              </a:rPr>
              <a:t>the </a:t>
            </a:r>
            <a:r>
              <a:rPr lang="en-US" sz="2800" b="0" spc="-6" dirty="0">
                <a:latin typeface="Times New Roman"/>
                <a:cs typeface="Times New Roman"/>
              </a:rPr>
              <a:t>measurement should </a:t>
            </a:r>
            <a:r>
              <a:rPr lang="en-US" sz="2800" b="0" dirty="0">
                <a:latin typeface="Times New Roman"/>
                <a:cs typeface="Times New Roman"/>
              </a:rPr>
              <a:t>do </a:t>
            </a:r>
            <a:r>
              <a:rPr lang="en-US" sz="2800" b="0" spc="-10" dirty="0">
                <a:latin typeface="Times New Roman"/>
                <a:cs typeface="Times New Roman"/>
              </a:rPr>
              <a:t>if </a:t>
            </a:r>
            <a:r>
              <a:rPr lang="en-US" sz="2800" b="0" dirty="0">
                <a:latin typeface="Times New Roman"/>
                <a:cs typeface="Times New Roman"/>
              </a:rPr>
              <a:t>the  goal </a:t>
            </a:r>
            <a:r>
              <a:rPr lang="en-US" sz="2800" b="0" spc="-10" dirty="0">
                <a:latin typeface="Times New Roman"/>
                <a:cs typeface="Times New Roman"/>
              </a:rPr>
              <a:t>is </a:t>
            </a:r>
            <a:r>
              <a:rPr lang="en-US" sz="2800" b="0" spc="-3" dirty="0">
                <a:latin typeface="Times New Roman"/>
                <a:cs typeface="Times New Roman"/>
              </a:rPr>
              <a:t>not </a:t>
            </a:r>
            <a:r>
              <a:rPr lang="en-US" sz="2800" b="0" spc="-13" dirty="0">
                <a:latin typeface="Times New Roman"/>
                <a:cs typeface="Times New Roman"/>
              </a:rPr>
              <a:t>met </a:t>
            </a:r>
            <a:r>
              <a:rPr lang="en-US" sz="2800" b="0" spc="-3" dirty="0">
                <a:latin typeface="Times New Roman"/>
                <a:cs typeface="Times New Roman"/>
              </a:rPr>
              <a:t>(e.g. </a:t>
            </a:r>
            <a:r>
              <a:rPr lang="en-US" sz="2800" b="0" spc="-6" dirty="0">
                <a:latin typeface="Times New Roman"/>
                <a:cs typeface="Times New Roman"/>
              </a:rPr>
              <a:t>who </a:t>
            </a:r>
            <a:r>
              <a:rPr lang="en-US" sz="2800" b="0" dirty="0">
                <a:latin typeface="Times New Roman"/>
                <a:cs typeface="Times New Roman"/>
              </a:rPr>
              <a:t>to</a:t>
            </a:r>
            <a:r>
              <a:rPr lang="en-US" sz="2800" b="0" spc="71" dirty="0">
                <a:latin typeface="Times New Roman"/>
                <a:cs typeface="Times New Roman"/>
              </a:rPr>
              <a:t> </a:t>
            </a:r>
            <a:r>
              <a:rPr lang="en-US" sz="2800" b="0" spc="-3" dirty="0">
                <a:latin typeface="Times New Roman"/>
                <a:cs typeface="Times New Roman"/>
              </a:rPr>
              <a:t>contact)</a:t>
            </a:r>
            <a:endParaRPr lang="en-US" sz="4800" b="0" dirty="0">
              <a:latin typeface="Times New Roman"/>
              <a:cs typeface="Times New Roman"/>
            </a:endParaRPr>
          </a:p>
          <a:p>
            <a:pPr marL="154746"/>
            <a:r>
              <a:rPr lang="en-US" sz="2800" b="0" i="1" spc="-6" dirty="0">
                <a:latin typeface="Times New Roman"/>
                <a:cs typeface="Times New Roman"/>
              </a:rPr>
              <a:t>V. </a:t>
            </a:r>
            <a:r>
              <a:rPr lang="en-US" sz="2800" b="0" i="1" dirty="0">
                <a:latin typeface="Times New Roman"/>
                <a:cs typeface="Times New Roman"/>
              </a:rPr>
              <a:t>Be </a:t>
            </a:r>
            <a:r>
              <a:rPr lang="en-US" sz="2800" b="0" i="1" spc="-3" dirty="0">
                <a:latin typeface="Times New Roman"/>
                <a:cs typeface="Times New Roman"/>
              </a:rPr>
              <a:t>prepared </a:t>
            </a:r>
            <a:r>
              <a:rPr lang="en-US" sz="2800" b="0" i="1" dirty="0">
                <a:latin typeface="Times New Roman"/>
                <a:cs typeface="Times New Roman"/>
              </a:rPr>
              <a:t>to </a:t>
            </a:r>
            <a:r>
              <a:rPr lang="en-US" sz="2800" b="0" i="1" spc="-3" dirty="0">
                <a:latin typeface="Times New Roman"/>
                <a:cs typeface="Times New Roman"/>
              </a:rPr>
              <a:t>make new </a:t>
            </a:r>
            <a:r>
              <a:rPr lang="en-US" sz="2800" b="0" i="1" dirty="0">
                <a:latin typeface="Times New Roman"/>
                <a:cs typeface="Times New Roman"/>
              </a:rPr>
              <a:t>plans </a:t>
            </a:r>
            <a:r>
              <a:rPr lang="en-US" sz="2800" b="0" i="1" spc="-6" dirty="0">
                <a:latin typeface="Times New Roman"/>
                <a:cs typeface="Times New Roman"/>
              </a:rPr>
              <a:t>when </a:t>
            </a:r>
            <a:r>
              <a:rPr lang="en-US" sz="2800" b="0" i="1" dirty="0">
                <a:latin typeface="Times New Roman"/>
                <a:cs typeface="Times New Roman"/>
              </a:rPr>
              <a:t>goals </a:t>
            </a:r>
            <a:r>
              <a:rPr lang="en-US" sz="2800" b="0" i="1" spc="-3" dirty="0">
                <a:latin typeface="Times New Roman"/>
                <a:cs typeface="Times New Roman"/>
              </a:rPr>
              <a:t>are </a:t>
            </a:r>
            <a:r>
              <a:rPr lang="en-US" sz="2800" b="0" i="1" dirty="0">
                <a:latin typeface="Times New Roman"/>
                <a:cs typeface="Times New Roman"/>
              </a:rPr>
              <a:t>not</a:t>
            </a:r>
            <a:r>
              <a:rPr lang="en-US" sz="2800" b="0" i="1" spc="32" dirty="0">
                <a:latin typeface="Times New Roman"/>
                <a:cs typeface="Times New Roman"/>
              </a:rPr>
              <a:t> </a:t>
            </a:r>
            <a:r>
              <a:rPr lang="en-US" sz="2800" b="0" i="1" spc="-3" dirty="0">
                <a:latin typeface="Times New Roman"/>
                <a:cs typeface="Times New Roman"/>
              </a:rPr>
              <a:t>met</a:t>
            </a:r>
            <a:endParaRPr lang="en-US" sz="9600" b="0" spc="-5" dirty="0">
              <a:latin typeface="Times New Roman"/>
              <a:cs typeface="Times New Roman"/>
            </a:endParaRPr>
          </a:p>
          <a:p>
            <a:pPr marL="373833" marR="57419">
              <a:lnSpc>
                <a:spcPct val="141700"/>
              </a:lnSpc>
            </a:pPr>
            <a:r>
              <a:rPr sz="2800" b="0" dirty="0">
                <a:latin typeface="Times New Roman"/>
                <a:cs typeface="Times New Roman"/>
              </a:rPr>
              <a:t>1. </a:t>
            </a:r>
            <a:r>
              <a:rPr sz="2800" b="0" spc="-6" dirty="0">
                <a:latin typeface="Times New Roman"/>
                <a:cs typeface="Times New Roman"/>
              </a:rPr>
              <a:t>Set </a:t>
            </a:r>
            <a:r>
              <a:rPr sz="2800" b="0" dirty="0">
                <a:latin typeface="Times New Roman"/>
                <a:cs typeface="Times New Roman"/>
              </a:rPr>
              <a:t>a </a:t>
            </a:r>
            <a:r>
              <a:rPr sz="2800" b="0" spc="-6" dirty="0">
                <a:latin typeface="Times New Roman"/>
                <a:cs typeface="Times New Roman"/>
              </a:rPr>
              <a:t>deadline for </a:t>
            </a:r>
            <a:r>
              <a:rPr sz="2800" b="0" spc="-3" dirty="0">
                <a:latin typeface="Times New Roman"/>
                <a:cs typeface="Times New Roman"/>
              </a:rPr>
              <a:t>when unmet </a:t>
            </a:r>
            <a:r>
              <a:rPr sz="2800" b="0" spc="-6" dirty="0">
                <a:latin typeface="Times New Roman"/>
                <a:cs typeface="Times New Roman"/>
              </a:rPr>
              <a:t>goals </a:t>
            </a:r>
            <a:r>
              <a:rPr sz="2800" b="0" spc="-3" dirty="0">
                <a:latin typeface="Times New Roman"/>
                <a:cs typeface="Times New Roman"/>
              </a:rPr>
              <a:t>will </a:t>
            </a:r>
            <a:r>
              <a:rPr sz="2800" b="0" spc="-10" dirty="0">
                <a:latin typeface="Times New Roman"/>
                <a:cs typeface="Times New Roman"/>
              </a:rPr>
              <a:t>be </a:t>
            </a:r>
            <a:r>
              <a:rPr sz="2800" b="0" spc="-3" dirty="0">
                <a:latin typeface="Times New Roman"/>
                <a:cs typeface="Times New Roman"/>
              </a:rPr>
              <a:t>addressed </a:t>
            </a:r>
            <a:endParaRPr lang="en-US" sz="2800" b="0" spc="-3" dirty="0">
              <a:latin typeface="Times New Roman"/>
              <a:cs typeface="Times New Roman"/>
            </a:endParaRPr>
          </a:p>
          <a:p>
            <a:pPr marL="373833" marR="57419">
              <a:lnSpc>
                <a:spcPct val="141700"/>
              </a:lnSpc>
            </a:pPr>
            <a:r>
              <a:rPr sz="2800" b="0" dirty="0">
                <a:latin typeface="Times New Roman"/>
                <a:cs typeface="Times New Roman"/>
              </a:rPr>
              <a:t>2. </a:t>
            </a:r>
            <a:r>
              <a:rPr sz="2800" b="0" spc="-3" dirty="0">
                <a:latin typeface="Times New Roman"/>
                <a:cs typeface="Times New Roman"/>
              </a:rPr>
              <a:t>Be prepared </a:t>
            </a:r>
            <a:r>
              <a:rPr sz="2800" b="0" dirty="0">
                <a:latin typeface="Times New Roman"/>
                <a:cs typeface="Times New Roman"/>
              </a:rPr>
              <a:t>to </a:t>
            </a:r>
            <a:r>
              <a:rPr sz="2800" b="0" spc="-6" dirty="0">
                <a:latin typeface="Times New Roman"/>
                <a:cs typeface="Times New Roman"/>
              </a:rPr>
              <a:t>change  policies </a:t>
            </a:r>
            <a:r>
              <a:rPr sz="2800" b="0" spc="6" dirty="0">
                <a:latin typeface="Times New Roman"/>
                <a:cs typeface="Times New Roman"/>
              </a:rPr>
              <a:t>or </a:t>
            </a:r>
            <a:r>
              <a:rPr sz="2800" b="0" spc="-3" dirty="0">
                <a:latin typeface="Times New Roman"/>
                <a:cs typeface="Times New Roman"/>
              </a:rPr>
              <a:t>procedures </a:t>
            </a:r>
            <a:r>
              <a:rPr sz="2800" b="0" spc="-10" dirty="0">
                <a:latin typeface="Times New Roman"/>
                <a:cs typeface="Times New Roman"/>
              </a:rPr>
              <a:t>in </a:t>
            </a:r>
            <a:r>
              <a:rPr sz="2800" b="0" dirty="0">
                <a:latin typeface="Times New Roman"/>
                <a:cs typeface="Times New Roman"/>
              </a:rPr>
              <a:t>order to </a:t>
            </a:r>
            <a:r>
              <a:rPr sz="2800" b="0" spc="-10" dirty="0">
                <a:latin typeface="Times New Roman"/>
                <a:cs typeface="Times New Roman"/>
              </a:rPr>
              <a:t>improve </a:t>
            </a:r>
            <a:r>
              <a:rPr sz="2800" b="0" spc="-3" dirty="0">
                <a:latin typeface="Times New Roman"/>
                <a:cs typeface="Times New Roman"/>
              </a:rPr>
              <a:t>areas </a:t>
            </a:r>
            <a:r>
              <a:rPr sz="2800" b="0" spc="13" dirty="0">
                <a:latin typeface="Times New Roman"/>
                <a:cs typeface="Times New Roman"/>
              </a:rPr>
              <a:t>of</a:t>
            </a:r>
            <a:r>
              <a:rPr sz="2800" b="0" spc="51" dirty="0">
                <a:latin typeface="Times New Roman"/>
                <a:cs typeface="Times New Roman"/>
              </a:rPr>
              <a:t> </a:t>
            </a:r>
            <a:r>
              <a:rPr sz="2800" b="0" spc="-3" dirty="0">
                <a:latin typeface="Times New Roman"/>
                <a:cs typeface="Times New Roman"/>
              </a:rPr>
              <a:t>deficiency</a:t>
            </a:r>
            <a:endParaRPr sz="2800" b="0" dirty="0">
              <a:latin typeface="Times New Roman"/>
              <a:cs typeface="Times New Roman"/>
            </a:endParaRPr>
          </a:p>
          <a:p>
            <a:pPr>
              <a:lnSpc>
                <a:spcPct val="100000"/>
              </a:lnSpc>
            </a:pPr>
            <a:endParaRPr sz="3200" b="0" dirty="0">
              <a:latin typeface="Times New Roman"/>
              <a:cs typeface="Times New Roman"/>
            </a:endParaRPr>
          </a:p>
          <a:p>
            <a:pPr>
              <a:lnSpc>
                <a:spcPct val="100000"/>
              </a:lnSpc>
            </a:pPr>
            <a:endParaRPr sz="2800" b="0" dirty="0">
              <a:latin typeface="Times New Roman"/>
              <a:cs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2EE862-D4C0-4258-0C03-68F266D45117}"/>
              </a:ext>
            </a:extLst>
          </p:cNvPr>
          <p:cNvSpPr txBox="1"/>
          <p:nvPr/>
        </p:nvSpPr>
        <p:spPr>
          <a:xfrm>
            <a:off x="533400" y="904975"/>
            <a:ext cx="10839450" cy="5048049"/>
          </a:xfrm>
          <a:prstGeom prst="rect">
            <a:avLst/>
          </a:prstGeom>
          <a:noFill/>
        </p:spPr>
        <p:txBody>
          <a:bodyPr wrap="square">
            <a:spAutoFit/>
          </a:bodyPr>
          <a:lstStyle/>
          <a:p>
            <a:pPr marL="373833" marR="50496">
              <a:lnSpc>
                <a:spcPct val="143300"/>
              </a:lnSpc>
              <a:spcBef>
                <a:spcPts val="3"/>
              </a:spcBef>
            </a:pPr>
            <a:r>
              <a:rPr lang="en-US" sz="2400" b="0" i="1" spc="-3" dirty="0">
                <a:latin typeface="Times New Roman"/>
                <a:cs typeface="Times New Roman"/>
              </a:rPr>
              <a:t>VI. </a:t>
            </a:r>
            <a:r>
              <a:rPr lang="en-US" sz="2400" b="0" i="1" dirty="0">
                <a:latin typeface="Times New Roman"/>
                <a:cs typeface="Times New Roman"/>
              </a:rPr>
              <a:t>Educate </a:t>
            </a:r>
            <a:r>
              <a:rPr lang="en-US" sz="2400" b="0" i="1" spc="-3" dirty="0">
                <a:latin typeface="Times New Roman"/>
                <a:cs typeface="Times New Roman"/>
              </a:rPr>
              <a:t>your </a:t>
            </a:r>
            <a:r>
              <a:rPr lang="en-US" sz="2400" b="0" i="1" spc="-6" dirty="0">
                <a:latin typeface="Times New Roman"/>
                <a:cs typeface="Times New Roman"/>
              </a:rPr>
              <a:t>staff </a:t>
            </a:r>
            <a:r>
              <a:rPr lang="en-US" sz="2400" b="0" i="1" dirty="0">
                <a:latin typeface="Times New Roman"/>
                <a:cs typeface="Times New Roman"/>
              </a:rPr>
              <a:t>on the Quality </a:t>
            </a:r>
            <a:r>
              <a:rPr lang="en-US" sz="2400" b="0" i="1" spc="-3" dirty="0">
                <a:latin typeface="Times New Roman"/>
                <a:cs typeface="Times New Roman"/>
              </a:rPr>
              <a:t>Assurance Plan, </a:t>
            </a:r>
            <a:r>
              <a:rPr lang="en-US" sz="2400" b="0" i="1" dirty="0">
                <a:latin typeface="Times New Roman"/>
                <a:cs typeface="Times New Roman"/>
              </a:rPr>
              <a:t>both </a:t>
            </a:r>
            <a:r>
              <a:rPr lang="en-US" sz="2400" b="0" i="1" spc="-10" dirty="0">
                <a:latin typeface="Times New Roman"/>
                <a:cs typeface="Times New Roman"/>
              </a:rPr>
              <a:t>at </a:t>
            </a:r>
            <a:r>
              <a:rPr lang="en-US" sz="2400" b="0" i="1" dirty="0">
                <a:latin typeface="Times New Roman"/>
                <a:cs typeface="Times New Roman"/>
              </a:rPr>
              <a:t>inception and at  </a:t>
            </a:r>
            <a:r>
              <a:rPr lang="en-US" sz="2400" b="0" i="1" spc="-3" dirty="0">
                <a:latin typeface="Times New Roman"/>
                <a:cs typeface="Times New Roman"/>
              </a:rPr>
              <a:t>regular intervals.</a:t>
            </a:r>
            <a:r>
              <a:rPr lang="en-US" sz="2400" b="0" i="1" spc="-32" dirty="0">
                <a:latin typeface="Times New Roman"/>
                <a:cs typeface="Times New Roman"/>
              </a:rPr>
              <a:t> </a:t>
            </a:r>
            <a:r>
              <a:rPr lang="en-US" sz="2400" b="0" i="1" dirty="0">
                <a:latin typeface="Times New Roman"/>
                <a:cs typeface="Times New Roman"/>
              </a:rPr>
              <a:t>Include:</a:t>
            </a:r>
            <a:endParaRPr lang="en-US" sz="2400" b="0" dirty="0">
              <a:latin typeface="Times New Roman"/>
              <a:cs typeface="Times New Roman"/>
            </a:endParaRPr>
          </a:p>
          <a:p>
            <a:pPr marL="373833" indent="25248">
              <a:buAutoNum type="arabicPeriod"/>
              <a:tabLst>
                <a:tab pos="497222" algn="l"/>
              </a:tabLst>
            </a:pPr>
            <a:r>
              <a:rPr lang="en-US" sz="2400" b="0" spc="-3" dirty="0">
                <a:latin typeface="Times New Roman"/>
                <a:cs typeface="Times New Roman"/>
              </a:rPr>
              <a:t>Why </a:t>
            </a:r>
            <a:r>
              <a:rPr lang="en-US" sz="2400" b="0" spc="-16" dirty="0">
                <a:latin typeface="Times New Roman"/>
                <a:cs typeface="Times New Roman"/>
              </a:rPr>
              <a:t>it </a:t>
            </a:r>
            <a:r>
              <a:rPr lang="en-US" sz="2400" b="0" spc="-10" dirty="0">
                <a:latin typeface="Times New Roman"/>
                <a:cs typeface="Times New Roman"/>
              </a:rPr>
              <a:t>is </a:t>
            </a:r>
            <a:r>
              <a:rPr lang="en-US" sz="2400" b="0" spc="-6" dirty="0">
                <a:latin typeface="Times New Roman"/>
                <a:cs typeface="Times New Roman"/>
              </a:rPr>
              <a:t>being</a:t>
            </a:r>
            <a:r>
              <a:rPr lang="en-US" sz="2400" b="0" spc="26" dirty="0">
                <a:latin typeface="Times New Roman"/>
                <a:cs typeface="Times New Roman"/>
              </a:rPr>
              <a:t> </a:t>
            </a:r>
            <a:r>
              <a:rPr lang="en-US" sz="2400" b="0" spc="-3" dirty="0">
                <a:latin typeface="Times New Roman"/>
                <a:cs typeface="Times New Roman"/>
              </a:rPr>
              <a:t>done</a:t>
            </a:r>
            <a:endParaRPr lang="en-US" sz="4400" b="0" dirty="0">
              <a:latin typeface="Times New Roman"/>
              <a:cs typeface="Times New Roman"/>
            </a:endParaRPr>
          </a:p>
          <a:p>
            <a:pPr marL="473196" indent="-99363">
              <a:spcBef>
                <a:spcPts val="3"/>
              </a:spcBef>
              <a:buAutoNum type="arabicPeriod"/>
              <a:tabLst>
                <a:tab pos="473603" algn="l"/>
              </a:tabLst>
            </a:pPr>
            <a:r>
              <a:rPr lang="en-US" sz="2400" b="0" spc="-10" dirty="0">
                <a:latin typeface="Times New Roman"/>
                <a:cs typeface="Times New Roman"/>
              </a:rPr>
              <a:t>What </a:t>
            </a:r>
            <a:r>
              <a:rPr lang="en-US" sz="2400" b="0" spc="-16" dirty="0">
                <a:latin typeface="Times New Roman"/>
                <a:cs typeface="Times New Roman"/>
              </a:rPr>
              <a:t>is </a:t>
            </a:r>
            <a:r>
              <a:rPr lang="en-US" sz="2400" b="0" spc="-6" dirty="0">
                <a:latin typeface="Times New Roman"/>
                <a:cs typeface="Times New Roman"/>
              </a:rPr>
              <a:t>being</a:t>
            </a:r>
            <a:r>
              <a:rPr lang="en-US" sz="2400" b="0" spc="35" dirty="0">
                <a:latin typeface="Times New Roman"/>
                <a:cs typeface="Times New Roman"/>
              </a:rPr>
              <a:t> </a:t>
            </a:r>
            <a:r>
              <a:rPr lang="en-US" sz="2400" b="0" dirty="0">
                <a:latin typeface="Times New Roman"/>
                <a:cs typeface="Times New Roman"/>
              </a:rPr>
              <a:t>tracked</a:t>
            </a:r>
            <a:endParaRPr lang="en-US" sz="4400" b="0" dirty="0">
              <a:latin typeface="Times New Roman"/>
              <a:cs typeface="Times New Roman"/>
            </a:endParaRPr>
          </a:p>
          <a:p>
            <a:pPr marL="473196" indent="-99363">
              <a:buAutoNum type="arabicPeriod"/>
              <a:tabLst>
                <a:tab pos="473603" algn="l"/>
              </a:tabLst>
            </a:pPr>
            <a:r>
              <a:rPr lang="en-US" sz="2400" b="0" spc="-3" dirty="0">
                <a:latin typeface="Times New Roman"/>
                <a:cs typeface="Times New Roman"/>
              </a:rPr>
              <a:t>How </a:t>
            </a:r>
            <a:r>
              <a:rPr lang="en-US" sz="2400" b="0" dirty="0">
                <a:latin typeface="Times New Roman"/>
                <a:cs typeface="Times New Roman"/>
              </a:rPr>
              <a:t>to </a:t>
            </a:r>
            <a:r>
              <a:rPr lang="en-US" sz="2400" b="0" spc="-3" dirty="0">
                <a:latin typeface="Times New Roman"/>
                <a:cs typeface="Times New Roman"/>
              </a:rPr>
              <a:t>perform</a:t>
            </a:r>
            <a:r>
              <a:rPr lang="en-US" sz="2400" b="0" spc="-48" dirty="0">
                <a:latin typeface="Times New Roman"/>
                <a:cs typeface="Times New Roman"/>
              </a:rPr>
              <a:t> </a:t>
            </a:r>
            <a:r>
              <a:rPr lang="en-US" sz="2400" b="0" spc="-3" dirty="0">
                <a:latin typeface="Times New Roman"/>
                <a:cs typeface="Times New Roman"/>
              </a:rPr>
              <a:t>measurements</a:t>
            </a:r>
            <a:endParaRPr lang="en-US" sz="2800" b="0" dirty="0">
              <a:latin typeface="Times New Roman"/>
              <a:cs typeface="Times New Roman"/>
            </a:endParaRPr>
          </a:p>
          <a:p>
            <a:pPr marL="373833" marR="55383">
              <a:lnSpc>
                <a:spcPct val="143300"/>
              </a:lnSpc>
              <a:spcBef>
                <a:spcPts val="3"/>
              </a:spcBef>
              <a:buAutoNum type="arabicPeriod"/>
              <a:tabLst>
                <a:tab pos="491114" algn="l"/>
              </a:tabLst>
            </a:pPr>
            <a:r>
              <a:rPr lang="en-US" sz="2400" b="0" spc="-3" dirty="0">
                <a:latin typeface="Times New Roman"/>
                <a:cs typeface="Times New Roman"/>
              </a:rPr>
              <a:t>Progress </a:t>
            </a:r>
            <a:r>
              <a:rPr lang="en-US" sz="2400" b="0" spc="-10" dirty="0">
                <a:latin typeface="Times New Roman"/>
                <a:cs typeface="Times New Roman"/>
              </a:rPr>
              <a:t>in </a:t>
            </a:r>
            <a:r>
              <a:rPr lang="en-US" sz="2400" b="0" spc="-3" dirty="0">
                <a:latin typeface="Times New Roman"/>
                <a:cs typeface="Times New Roman"/>
              </a:rPr>
              <a:t>areas </a:t>
            </a:r>
            <a:r>
              <a:rPr lang="en-US" sz="2400" b="0" spc="-6" dirty="0">
                <a:latin typeface="Times New Roman"/>
                <a:cs typeface="Times New Roman"/>
              </a:rPr>
              <a:t>being </a:t>
            </a:r>
            <a:r>
              <a:rPr lang="en-US" sz="2400" b="0" spc="-3" dirty="0">
                <a:latin typeface="Times New Roman"/>
                <a:cs typeface="Times New Roman"/>
              </a:rPr>
              <a:t>monitored, </a:t>
            </a:r>
            <a:r>
              <a:rPr lang="en-US" sz="2400" b="0" spc="-6" dirty="0">
                <a:latin typeface="Times New Roman"/>
                <a:cs typeface="Times New Roman"/>
              </a:rPr>
              <a:t>including </a:t>
            </a:r>
            <a:r>
              <a:rPr lang="en-US" sz="2400" b="0" spc="-3" dirty="0">
                <a:latin typeface="Times New Roman"/>
                <a:cs typeface="Times New Roman"/>
              </a:rPr>
              <a:t>improvements implemented as </a:t>
            </a:r>
            <a:r>
              <a:rPr lang="en-US" sz="2400" b="0" dirty="0">
                <a:latin typeface="Times New Roman"/>
                <a:cs typeface="Times New Roman"/>
              </a:rPr>
              <a:t>a  </a:t>
            </a:r>
            <a:r>
              <a:rPr lang="en-US" sz="2400" b="0" spc="-6" dirty="0">
                <a:latin typeface="Times New Roman"/>
                <a:cs typeface="Times New Roman"/>
              </a:rPr>
              <a:t>result</a:t>
            </a:r>
            <a:r>
              <a:rPr lang="en-US" sz="2400" b="0" spc="-42" dirty="0">
                <a:latin typeface="Times New Roman"/>
                <a:cs typeface="Times New Roman"/>
              </a:rPr>
              <a:t> </a:t>
            </a:r>
            <a:r>
              <a:rPr lang="en-US" sz="2400" b="0" dirty="0">
                <a:latin typeface="Times New Roman"/>
                <a:cs typeface="Times New Roman"/>
              </a:rPr>
              <a:t>thereof</a:t>
            </a:r>
            <a:endParaRPr lang="en-US" sz="4400" b="0" dirty="0">
              <a:latin typeface="Times New Roman"/>
              <a:cs typeface="Times New Roman"/>
            </a:endParaRPr>
          </a:p>
          <a:p>
            <a:pPr marL="473196" indent="-99363">
              <a:buAutoNum type="arabicPeriod"/>
              <a:tabLst>
                <a:tab pos="473603" algn="l"/>
              </a:tabLst>
            </a:pPr>
            <a:r>
              <a:rPr lang="en-US" sz="2400" b="0" spc="-3" dirty="0">
                <a:latin typeface="Times New Roman"/>
                <a:cs typeface="Times New Roman"/>
              </a:rPr>
              <a:t>Updates </a:t>
            </a:r>
            <a:r>
              <a:rPr lang="en-US" sz="2400" b="0" spc="6" dirty="0">
                <a:latin typeface="Times New Roman"/>
                <a:cs typeface="Times New Roman"/>
              </a:rPr>
              <a:t>on </a:t>
            </a:r>
            <a:r>
              <a:rPr lang="en-US" sz="2400" b="0" spc="-3" dirty="0">
                <a:latin typeface="Times New Roman"/>
                <a:cs typeface="Times New Roman"/>
              </a:rPr>
              <a:t>any QREs, </a:t>
            </a:r>
            <a:r>
              <a:rPr lang="en-US" sz="2400" b="0" spc="-6" dirty="0">
                <a:latin typeface="Times New Roman"/>
                <a:cs typeface="Times New Roman"/>
              </a:rPr>
              <a:t>including </a:t>
            </a:r>
            <a:r>
              <a:rPr lang="en-US" sz="2400" b="0" spc="3" dirty="0">
                <a:latin typeface="Times New Roman"/>
                <a:cs typeface="Times New Roman"/>
              </a:rPr>
              <a:t>the </a:t>
            </a:r>
            <a:r>
              <a:rPr lang="en-US" sz="2400" b="0" spc="-3" dirty="0">
                <a:latin typeface="Times New Roman"/>
                <a:cs typeface="Times New Roman"/>
              </a:rPr>
              <a:t>plan </a:t>
            </a:r>
            <a:r>
              <a:rPr lang="en-US" sz="2400" b="0" dirty="0">
                <a:latin typeface="Times New Roman"/>
                <a:cs typeface="Times New Roman"/>
              </a:rPr>
              <a:t>to </a:t>
            </a:r>
            <a:r>
              <a:rPr lang="en-US" sz="2400" b="0" spc="-10" dirty="0">
                <a:latin typeface="Times New Roman"/>
                <a:cs typeface="Times New Roman"/>
              </a:rPr>
              <a:t>avoid </a:t>
            </a:r>
            <a:r>
              <a:rPr lang="en-US" sz="2400" b="0" dirty="0">
                <a:latin typeface="Times New Roman"/>
                <a:cs typeface="Times New Roman"/>
              </a:rPr>
              <a:t>those errors </a:t>
            </a:r>
            <a:r>
              <a:rPr lang="en-US" sz="2400" b="0" spc="-10" dirty="0">
                <a:latin typeface="Times New Roman"/>
                <a:cs typeface="Times New Roman"/>
              </a:rPr>
              <a:t>in </a:t>
            </a:r>
            <a:r>
              <a:rPr lang="en-US" sz="2400" b="0" dirty="0">
                <a:latin typeface="Times New Roman"/>
                <a:cs typeface="Times New Roman"/>
              </a:rPr>
              <a:t>the</a:t>
            </a:r>
            <a:r>
              <a:rPr lang="en-US" sz="2400" b="0" spc="58" dirty="0">
                <a:latin typeface="Times New Roman"/>
                <a:cs typeface="Times New Roman"/>
              </a:rPr>
              <a:t> </a:t>
            </a:r>
            <a:r>
              <a:rPr lang="en-US" sz="2400" b="0" spc="-3" dirty="0">
                <a:latin typeface="Times New Roman"/>
                <a:cs typeface="Times New Roman"/>
              </a:rPr>
              <a:t>future</a:t>
            </a:r>
            <a:endParaRPr lang="en-US" sz="2400" b="0" dirty="0">
              <a:latin typeface="Times New Roman"/>
              <a:cs typeface="Times New Roman"/>
            </a:endParaRPr>
          </a:p>
          <a:p>
            <a:pPr marL="549347" indent="-175514">
              <a:buAutoNum type="romanUcPeriod" startAt="7"/>
              <a:tabLst>
                <a:tab pos="549754" algn="l"/>
              </a:tabLst>
            </a:pPr>
            <a:r>
              <a:rPr lang="en-US" sz="2400" b="0" i="1" dirty="0">
                <a:latin typeface="Times New Roman"/>
                <a:cs typeface="Times New Roman"/>
              </a:rPr>
              <a:t>Quality </a:t>
            </a:r>
            <a:r>
              <a:rPr lang="en-US" sz="2400" b="0" i="1" spc="-6" dirty="0">
                <a:latin typeface="Times New Roman"/>
                <a:cs typeface="Times New Roman"/>
              </a:rPr>
              <a:t>assurance </a:t>
            </a:r>
            <a:r>
              <a:rPr lang="en-US" sz="2400" b="0" i="1" dirty="0">
                <a:latin typeface="Times New Roman"/>
                <a:cs typeface="Times New Roman"/>
              </a:rPr>
              <a:t>never</a:t>
            </a:r>
            <a:r>
              <a:rPr lang="en-US" sz="2400" b="0" i="1" spc="-32" dirty="0">
                <a:latin typeface="Times New Roman"/>
                <a:cs typeface="Times New Roman"/>
              </a:rPr>
              <a:t> </a:t>
            </a:r>
            <a:r>
              <a:rPr lang="en-US" sz="2400" b="0" i="1" spc="-3" dirty="0">
                <a:latin typeface="Times New Roman"/>
                <a:cs typeface="Times New Roman"/>
              </a:rPr>
              <a:t>ends</a:t>
            </a:r>
            <a:endParaRPr lang="en-US" sz="2400" b="0" dirty="0">
              <a:latin typeface="Times New Roman"/>
              <a:cs typeface="Times New Roman"/>
            </a:endParaRPr>
          </a:p>
          <a:p>
            <a:pPr marL="520434" marR="55790" lvl="1" indent="-146601">
              <a:lnSpc>
                <a:spcPct val="143300"/>
              </a:lnSpc>
              <a:buAutoNum type="arabicPeriod"/>
              <a:tabLst>
                <a:tab pos="520841" algn="l"/>
              </a:tabLst>
            </a:pPr>
            <a:r>
              <a:rPr lang="en-US" sz="2400" b="0" spc="-3" dirty="0">
                <a:latin typeface="Times New Roman"/>
                <a:cs typeface="Times New Roman"/>
              </a:rPr>
              <a:t>Continue </a:t>
            </a:r>
            <a:r>
              <a:rPr lang="en-US" sz="2400" b="0" dirty="0">
                <a:latin typeface="Times New Roman"/>
                <a:cs typeface="Times New Roman"/>
              </a:rPr>
              <a:t>to </a:t>
            </a:r>
            <a:r>
              <a:rPr lang="en-US" sz="2400" b="0" spc="-3" dirty="0">
                <a:latin typeface="Times New Roman"/>
                <a:cs typeface="Times New Roman"/>
              </a:rPr>
              <a:t>update </a:t>
            </a:r>
            <a:r>
              <a:rPr lang="en-US" sz="2400" b="0" spc="-6" dirty="0">
                <a:latin typeface="Times New Roman"/>
                <a:cs typeface="Times New Roman"/>
              </a:rPr>
              <a:t>your plan </a:t>
            </a:r>
            <a:r>
              <a:rPr lang="en-US" sz="2400" b="0" spc="-3" dirty="0">
                <a:latin typeface="Times New Roman"/>
                <a:cs typeface="Times New Roman"/>
              </a:rPr>
              <a:t>as necessary. </a:t>
            </a:r>
            <a:r>
              <a:rPr lang="en-US" sz="2400" b="0" spc="-6" dirty="0">
                <a:latin typeface="Times New Roman"/>
                <a:cs typeface="Times New Roman"/>
              </a:rPr>
              <a:t>Over time, </a:t>
            </a:r>
            <a:r>
              <a:rPr lang="en-US" sz="2400" b="0" dirty="0">
                <a:latin typeface="Times New Roman"/>
                <a:cs typeface="Times New Roman"/>
              </a:rPr>
              <a:t>the </a:t>
            </a:r>
            <a:r>
              <a:rPr lang="en-US" sz="2400" b="0" spc="-6" dirty="0">
                <a:latin typeface="Times New Roman"/>
                <a:cs typeface="Times New Roman"/>
              </a:rPr>
              <a:t>entire </a:t>
            </a:r>
            <a:r>
              <a:rPr lang="en-US" sz="2400" b="0" spc="-3" dirty="0">
                <a:latin typeface="Times New Roman"/>
                <a:cs typeface="Times New Roman"/>
              </a:rPr>
              <a:t>prescription  </a:t>
            </a:r>
            <a:r>
              <a:rPr lang="en-US" sz="2400" b="0" dirty="0">
                <a:latin typeface="Times New Roman"/>
                <a:cs typeface="Times New Roman"/>
              </a:rPr>
              <a:t>process </a:t>
            </a:r>
            <a:r>
              <a:rPr lang="en-US" sz="2400" b="0" spc="-3" dirty="0">
                <a:latin typeface="Times New Roman"/>
                <a:cs typeface="Times New Roman"/>
              </a:rPr>
              <a:t>can </a:t>
            </a:r>
            <a:r>
              <a:rPr lang="en-US" sz="2400" b="0" spc="-10" dirty="0">
                <a:latin typeface="Times New Roman"/>
                <a:cs typeface="Times New Roman"/>
              </a:rPr>
              <a:t>be </a:t>
            </a:r>
            <a:r>
              <a:rPr lang="en-US" sz="2400" b="0" spc="-3" dirty="0">
                <a:latin typeface="Times New Roman"/>
                <a:cs typeface="Times New Roman"/>
              </a:rPr>
              <a:t>monitored </a:t>
            </a:r>
            <a:r>
              <a:rPr lang="en-US" sz="2400" b="0" spc="-6" dirty="0">
                <a:latin typeface="Times New Roman"/>
                <a:cs typeface="Times New Roman"/>
              </a:rPr>
              <a:t>and</a:t>
            </a:r>
            <a:r>
              <a:rPr lang="en-US" sz="2400" b="0" spc="19" dirty="0">
                <a:latin typeface="Times New Roman"/>
                <a:cs typeface="Times New Roman"/>
              </a:rPr>
              <a:t> </a:t>
            </a:r>
            <a:r>
              <a:rPr lang="en-US" sz="2400" b="0" spc="-6" dirty="0">
                <a:latin typeface="Times New Roman"/>
                <a:cs typeface="Times New Roman"/>
              </a:rPr>
              <a:t>improved.</a:t>
            </a:r>
            <a:endParaRPr lang="en-US" sz="2400" b="0" dirty="0">
              <a:latin typeface="Times New Roman"/>
              <a:cs typeface="Times New Roman"/>
            </a:endParaRPr>
          </a:p>
        </p:txBody>
      </p:sp>
    </p:spTree>
    <p:extLst>
      <p:ext uri="{BB962C8B-B14F-4D97-AF65-F5344CB8AC3E}">
        <p14:creationId xmlns:p14="http://schemas.microsoft.com/office/powerpoint/2010/main" val="32575225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37892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360</TotalTime>
  <Words>4100</Words>
  <Application>Microsoft Office PowerPoint</Application>
  <PresentationFormat>Widescreen</PresentationFormat>
  <Paragraphs>225</Paragraphs>
  <Slides>38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Calibri Light</vt:lpstr>
      <vt:lpstr>Georgia</vt:lpstr>
      <vt:lpstr>Times New Roman</vt:lpstr>
      <vt:lpstr>Office Theme</vt:lpstr>
      <vt:lpstr>Software Testing and Quality Assurance </vt:lpstr>
      <vt:lpstr>PowerPoint Presentation</vt:lpstr>
      <vt:lpstr>PowerPoint Presentation</vt:lpstr>
      <vt:lpstr>PowerPoint Presentation</vt:lpstr>
      <vt:lpstr>Software Quality Factors (by McCall) </vt:lpstr>
      <vt:lpstr>PowerPoint Presentation</vt:lpstr>
      <vt:lpstr>PowerPoint Presentation</vt:lpstr>
      <vt:lpstr>PowerPoint Presentation</vt:lpstr>
      <vt:lpstr>Software Quality Assurance (SQA</vt:lpstr>
      <vt:lpstr>PowerPoint Presentation</vt:lpstr>
      <vt:lpstr>PowerPoint Presentation</vt:lpstr>
      <vt:lpstr>PowerPoint Presentation</vt:lpstr>
      <vt:lpstr>Software Defects </vt:lpstr>
      <vt:lpstr>PowerPoint Presentation</vt:lpstr>
      <vt:lpstr>PowerPoint Presentation</vt:lpstr>
      <vt:lpstr>Software Quality Assurance Components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Testing and Quality Assurance </dc:title>
  <dc:creator>KAMAL BASHIR</dc:creator>
  <cp:lastModifiedBy>kamal</cp:lastModifiedBy>
  <cp:revision>18</cp:revision>
  <dcterms:created xsi:type="dcterms:W3CDTF">2024-10-30T12:43:17Z</dcterms:created>
  <dcterms:modified xsi:type="dcterms:W3CDTF">2025-09-30T06:31:34Z</dcterms:modified>
</cp:coreProperties>
</file>