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49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5071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0A1D30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27432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05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108960"/>
            <a:ext cx="3291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0" b="1" dirty="0">
                <a:solidFill>
                  <a:srgbClr val="1C3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0" dirty="0"/>
          </a:p>
        </p:txBody>
      </p:sp>
      <p:sp>
        <p:nvSpPr>
          <p:cNvPr id="5" name="Text 3"/>
          <p:cNvSpPr/>
          <p:nvPr/>
        </p:nvSpPr>
        <p:spPr>
          <a:xfrm>
            <a:off x="4663440" y="2423160"/>
            <a:ext cx="6949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RESTful Services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4709160" y="3977639"/>
            <a:ext cx="6766560" cy="17140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principles, resources, HTTP methods and status codes, HATEOAS, and how REST compares with SOAP as a service style.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15087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508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234440" y="1481328"/>
            <a:ext cx="9038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REST, and where did it come from?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640080" y="23012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301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234440" y="2273808"/>
            <a:ext cx="9038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Resources, URIs, and representations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640080" y="309372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093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234440" y="3066288"/>
            <a:ext cx="9038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and status codes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8862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234440" y="3858768"/>
            <a:ext cx="9038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Statelessness and the Richardson Maturity Model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0080" y="467868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678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234440" y="4651248"/>
            <a:ext cx="9038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 and hypermedia</a:t>
            </a:r>
            <a:endParaRPr lang="en-US" sz="2400" dirty="0"/>
          </a:p>
        </p:txBody>
      </p:sp>
      <p:sp>
        <p:nvSpPr>
          <p:cNvPr id="19" name="Shape 17"/>
          <p:cNvSpPr/>
          <p:nvPr/>
        </p:nvSpPr>
        <p:spPr>
          <a:xfrm>
            <a:off x="640080" y="547116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EAF6F5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5471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5443728"/>
            <a:ext cx="90385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333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vs. SOAP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(Representational State Transfer)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 architectural style for distributed systems, introduced by Roy Fielding in his 2000 doctoral dissertation, built on a set of constraints that leverage the existing architecture of the web (HTTP, URIs) rather than inventing new protocols.”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is a style, not a strict protocol or standard like SOAP — this gives it flexibility, but also room for inconsistent implementations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service that follows REST's constraints is described as 'RESTful'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Six Architectural Constraints of REST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055292"/>
            <a:ext cx="10881360" cy="53912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Client-Server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Separation of concerns between UI/consumer and data/logic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Statelessness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request contains all information needed to process it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Cacheability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Responses must define themselves as cacheable or not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Uniform Interface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consistent way to interact with resources (the defining REST constraint)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Layered System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cannot tell if it's connected directly to the server or through intermediaries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on Demand (optional)</a:t>
            </a:r>
            <a:endParaRPr lang="en-US" sz="24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0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Servers can extend client functionality by sending executable code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“Any piece of information that can be named and addressed — a customer, an order, a document — represented and manipulated through a stable, unique URI.”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is fundamentally resource-oriented, in contrast to SOAP's operation-oriented model</a:t>
            </a:r>
            <a:endParaRPr lang="en-US" sz="2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/customers/1042 identifies one specific customer resource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Good Resource URIs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nouns, not verbs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/orders, not /getOrders or /createOrder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plural collection names consistently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/customers (collection) and /customers/1042 (a single member)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 hierarchy through nesting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/customers/1042/orders — a customer's orders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deep, rigid nesting beyond 2–3 levels; prefer query parameters for filtering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HTTP Methods (Verbs)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86773720"/>
              </p:ext>
            </p:extLst>
          </p:nvPr>
        </p:nvGraphicFramePr>
        <p:xfrm>
          <a:off x="548640" y="1167258"/>
          <a:ext cx="11064240" cy="5313680"/>
        </p:xfrm>
        <a:graphic>
          <a:graphicData uri="http://schemas.openxmlformats.org/drawingml/2006/table">
            <a:tbl>
              <a:tblPr/>
              <a:tblGrid>
                <a:gridCol w="27660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660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Method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Safe?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Idempotent?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Retrieve a resource representation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resource / trigger processing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PUT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Replace a resource entirely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Partially update a resource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(usually)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077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 resource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4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Yes</a:t>
                      </a:r>
                      <a:endParaRPr lang="en-US" sz="2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vs. Idempotent — Two Different Ideas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operation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change server state at all (e.g., GET should never modify data)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operation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Calling it once or many times has the same effect on the server (e.g., PUT replacing a resource with the same data repeatedly)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safe operations are idempotent, but not all idempotent operations are safe (e.g., DELETE changes state but repeating it has the same end result)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is neither safe nor idempotent — calling it twice can create two separate resources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Simple REST Request and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A1D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/customers/1042 HTTP/1.1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api.example.com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Accept: application/json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HTTP/1.1 200 OK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"1042",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"Sara Ahmed",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"email": "sara.ahmed@example.com"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request uses only the URI and an HTTP verb; the response reuses standard HTTP status codes and headers.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HTTP Status Codes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3848464"/>
              </p:ext>
            </p:extLst>
          </p:nvPr>
        </p:nvGraphicFramePr>
        <p:xfrm>
          <a:off x="548640" y="1325880"/>
          <a:ext cx="11064240" cy="5113020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Meaning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 OK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succeeded, response body contains the result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new resource was successfully created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 No Content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Success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succeeded, no body returned (e.g., after DELETE)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400 Bad Request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Error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Malformed request or invalid parameters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Unauthorized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Error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 is required or has failed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Not Found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 Error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Requested resource does not exist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60579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500 Internal Server Error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Error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8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failed to process a valid request</a:t>
                      </a:r>
                      <a:endParaRPr lang="en-US" sz="1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Negotiation and Representations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resource can have multiple representations of the same underlying data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requests a format using the Accept header, e.g., application/json or application/xml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responds with Content-Type describing the format actually returned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why REST is 'representational' — the client interacts with a representation of a resource's state, not the resource itself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has become the dominant representation format in modern REST APIs due to its compact, easy-to-parse structure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Statelessness in REST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REST request must contain all the information the server needs to process it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server does not store any client session context between requests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credentials (e.g., a token) must be included in every request, not remembered from a previous one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what allows REST APIs to scale horizontally — any server instance can handle any request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 with a stateful web-session model where the server 'remembers' a logged-in user in server-side memory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 Maturity Model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model, proposed by Leonard Richardson, that ranks how fully an API embraces REST's constraints, from Level 0 (a single endpoint tunneling everything through POST) to Level 3 (full hypermedia-driven REST).”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'RESTful' APIs in industry actually only reach Level 2 — using resources and HTTP verbs correctly, but without hypermedia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Richardson Maturity Model — Levels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714089"/>
              </p:ext>
            </p:extLst>
          </p:nvPr>
        </p:nvGraphicFramePr>
        <p:xfrm>
          <a:off x="548640" y="1325880"/>
          <a:ext cx="11064240" cy="4939792"/>
        </p:xfrm>
        <a:graphic>
          <a:graphicData uri="http://schemas.openxmlformats.org/drawingml/2006/table">
            <a:tbl>
              <a:tblPr/>
              <a:tblGrid>
                <a:gridCol w="3688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88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Level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94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Swamp of POX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single URI; everything sent as POST (like classic SOAP)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Resources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Multiple URIs, one per resource, but often still using only POST/GET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HTTP Verbs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Proper use of GET, POST, PUT, DELETE and status codes per resource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6926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Hypermedia Controls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2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Responses include links guiding the client to next possible actions</a:t>
                      </a:r>
                      <a:endParaRPr lang="en-US" sz="2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01600" marR="101600" marT="50800" marB="50800" anchor="ctr">
                    <a:lnL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822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18872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 (Hypermedia as the Engine of Application State)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822960" y="2148840"/>
            <a:ext cx="10241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2400" i="1" dirty="0">
                <a:solidFill>
                  <a:srgbClr val="DCE3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“A REST constraint stating that a client should interact with an application entirely through hyperlinks provided dynamically by server responses, rather than through out-of-band, hard-coded knowledge of the API's URI structure.”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822960" y="4114800"/>
            <a:ext cx="102412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2400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constraint that distinguishes true Level 3 REST from the more common Level 2 'REST-like' APIs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HATEOAS-Style Response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11064240" cy="4297680"/>
          </a:xfrm>
          <a:prstGeom prst="roundRect">
            <a:avLst>
              <a:gd name="adj" fmla="val 1702"/>
            </a:avLst>
          </a:prstGeom>
          <a:solidFill>
            <a:srgbClr val="0A1D3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"1042",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"status": "pending",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"_links": {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"self": { "href": "/orders/1042" },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"cancel": { "href": "/orders/1042/cancel" },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"customer": { "href": "/customers/1042"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9BE8D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571500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i="1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client discovers available next actions (cancel, view customer) from links in the response, instead of hard-coding those URIs in advance.</a:t>
            </a: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Most APIs Stop at Level 2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Hypermedia adds real design and processing complexity for uncertain benefit in many use cases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applications (especially mobile apps) are often built with URIs already known/hard-coded at development time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2 REST — clean resources, correct verbs, correct status codes — already delivers most practical benefits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HATEOAS is more valuable in long-lived, evolving APIs consumed by generic or third-party clients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Filtering, Sorting, and Pagination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parameters handle cross-cutting request options without inventing new resource URIs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/orders?status=pending — filtering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/orders?sort=-createdDate — sorting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/orders?page=2&amp;limit=25 — pagination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is essential for performance and usability when a collection resource can contain thousands of items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Versioning REST APIs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URI versioning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/v1/orders vs /v2/orders — simple, explicit, widely used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versioning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specified in an Accept or custom header, keeping URIs stable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 parameter versioning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/orders?version=2 — less common, seen as less 'RESTful'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with SOAP, the underlying goal is the same: evolve the contract without breaking existing consumers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in REST APIs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security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HTTPS/TLS is the baseline requirement for any production REST API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keys, OAuth 2.0 access tokens, or JWTs sent in the Authorization header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the authenticated caller has permission for the specific resource/operation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SOAP's message-level WS-Security, REST security is typically transport-level (HTTPS) plus token-based headers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vs. SOAP — Core Differences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00A79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63640" y="1325880"/>
            <a:ext cx="5349240" cy="594360"/>
          </a:xfrm>
          <a:prstGeom prst="roundRect">
            <a:avLst>
              <a:gd name="adj" fmla="val 12308"/>
            </a:avLst>
          </a:prstGeom>
          <a:solidFill>
            <a:srgbClr val="44546A"/>
          </a:solidFill>
          <a:ln/>
        </p:spPr>
      </p:sp>
      <p:sp>
        <p:nvSpPr>
          <p:cNvPr id="7" name="Text 5"/>
          <p:cNvSpPr/>
          <p:nvPr/>
        </p:nvSpPr>
        <p:spPr>
          <a:xfrm>
            <a:off x="6263640" y="1325880"/>
            <a:ext cx="5349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SOAP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9" name="Shape 7"/>
          <p:cNvSpPr/>
          <p:nvPr/>
        </p:nvSpPr>
        <p:spPr>
          <a:xfrm>
            <a:off x="6263640" y="2057400"/>
            <a:ext cx="5349240" cy="4297680"/>
          </a:xfrm>
          <a:prstGeom prst="roundRect">
            <a:avLst>
              <a:gd name="adj" fmla="val 1702"/>
            </a:avLst>
          </a:prstGeom>
          <a:solidFill>
            <a:srgbClr val="F4F6F8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Resource-oriented (nouns + HTTP verbs)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Typically JSON, lightweight payloads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Relies on HTTP directly (status codes, verbs)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contract standard (OpenAPI is common but optional)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Simpler, faster to build and consume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537960" y="228600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Operation-oriented (RPC-like or document)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XML, more verbose payloads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Transport-independent (HTTP, SMTP, MQ)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WSDL contract, strongly typed</a:t>
            </a:r>
            <a:endParaRPr lang="en-US" sz="2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Stronger built-in support for security/transactions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REST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or mobile-facing APIs where simplicity and performance matter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Systems that benefit from HTTP's native caching and scaling infrastructure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that want fast iteration without heavyweight contract tooling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microservices architectures, where REST (or gRPC) is the default communication style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SOAP May Still Be the Better Choice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 contracts and strict validation are legally or operationally required (e.g., banking)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support for distributed transactions or guaranteed, ordered delivery is required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Message-level (not just transport-level) security and encryption are required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Integrating with legacy enterprise systems that already expose SOAP/WSDL interfaces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(Swagger): REST's Answer to WSDL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Specification provides a formal, machine-readable description of a REST API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Defines paths, methods, parameters, request/response schemas, and security requirements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can auto-generate client SDKs, server stubs, and interactive documentation from an OpenAPI file</a:t>
            </a:r>
            <a:endParaRPr lang="en-US" sz="2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brings much of WSDL's contract-first discipline to the REST world, while keeping REST's lightweight style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Common REST Design Mistakes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verbs in URIs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/getCustomer?id=1042 instead of GET /customers/1042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Ignoring proper status codes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Returning 200 OK even when an error occurred, with error details buried in the body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naming/pluralization across endpoints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statelessness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Relying on server-side session state instead of passing full context in each request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vs. GraphQL — A Brief Comparison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Multiple fixed endpoints, each returning a fixed representation shape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endpoint where the client specifies exactly which fields it needs in one query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GraphQL can reduce over-fetching/under-fetching common in REST, at the cost of more complex server-side query resolution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HTTP-based and can coexist with SOA principles — the choice is about API style, not about abandoning service-orientation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Study: Redesigning a Legacy SOAP Service as REST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0584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325880"/>
            <a:ext cx="10881360" cy="4937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legacy 'ProcessOrderService.asmx' SOAP service exposes CreateOrder, GetOrder, CancelOrder operations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Redesigned RESTfully: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/orders → create a new order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/orders/{id} → retrieve an order</a:t>
            </a:r>
            <a:endParaRPr lang="en-US" sz="2800" dirty="0"/>
          </a:p>
          <a:p>
            <a:pPr marL="685800" lvl="1" indent="-342900">
              <a:spcAft>
                <a:spcPts val="600"/>
              </a:spcAft>
              <a:buSzPct val="100000"/>
              <a:buChar char="–"/>
            </a:pPr>
            <a:r>
              <a:rPr lang="en-US" sz="2400" dirty="0">
                <a:solidFill>
                  <a:srgbClr val="445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/orders/{id} → cancel an order</a:t>
            </a:r>
            <a:endParaRPr lang="en-US" sz="2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2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underlying business logic doesn't need to change — only the contract style and message format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EAF6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66928" y="1143000"/>
            <a:ext cx="457200" cy="54864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5087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733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733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17320" y="15087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is an architectural style built on HTTP's existing constraints: resources, verbs, and statelessness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548640" y="24231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777240" y="25877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877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17320" y="24231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 are addressed by URIs and manipulated using standard HTTP methods (GET, POST, PUT, PATCH, DELETE)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3" name="Shape 11"/>
          <p:cNvSpPr/>
          <p:nvPr/>
        </p:nvSpPr>
        <p:spPr>
          <a:xfrm>
            <a:off x="777240" y="35021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5021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17320" y="33375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Richardson Maturity Model shows a spectrum from tunneling everything through POST to full hypermedia-driven REST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548640" y="42519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17" name="Shape 15"/>
          <p:cNvSpPr/>
          <p:nvPr/>
        </p:nvSpPr>
        <p:spPr>
          <a:xfrm>
            <a:off x="777240" y="44165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44165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417320" y="42519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favors simplicity and performance; SOAP favors formal contracts and built-in enterprise-grade guarantees</a:t>
            </a:r>
            <a:endParaRPr lang="en-US" sz="2000" dirty="0"/>
          </a:p>
        </p:txBody>
      </p:sp>
      <p:sp>
        <p:nvSpPr>
          <p:cNvPr id="20" name="Shape 18"/>
          <p:cNvSpPr/>
          <p:nvPr/>
        </p:nvSpPr>
        <p:spPr>
          <a:xfrm>
            <a:off x="548640" y="5166360"/>
            <a:ext cx="1106424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77240" y="5330952"/>
            <a:ext cx="457200" cy="457200"/>
          </a:xfrm>
          <a:prstGeom prst="ellipse">
            <a:avLst/>
          </a:prstGeom>
          <a:solidFill>
            <a:srgbClr val="00B8A9"/>
          </a:solidFill>
          <a:ln/>
        </p:spPr>
      </p:sp>
      <p:sp>
        <p:nvSpPr>
          <p:cNvPr id="22" name="Text 20"/>
          <p:cNvSpPr/>
          <p:nvPr/>
        </p:nvSpPr>
        <p:spPr>
          <a:xfrm>
            <a:off x="777240" y="5330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17320" y="5166360"/>
            <a:ext cx="9966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brings contract-first discipline to REST APIs, similar to what WSDL provides for SOAP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F29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DISCUSSION / REVIEW QUESTION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2412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500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team is designing a public API for a food-delivery platform, to be consumed mainly by mobile apps and third-party partners. Would you recommend REST or SOAP, and what specific design decisions (URIs, verbs, status codes, versioning) would you make?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22960" y="37490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about: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822960" y="4160520"/>
            <a:ext cx="100584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the consumer profile: mobile apps and external partners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about payload size and network performance on mobile connections</a:t>
            </a:r>
            <a:endParaRPr lang="en-US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dirty="0">
                <a:solidFill>
                  <a:srgbClr val="C7D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 how you would version the API as the platform evolves</a:t>
            </a: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F29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 &amp; Further Reading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66928" y="1097280"/>
            <a:ext cx="411480" cy="45720"/>
          </a:xfrm>
          <a:prstGeom prst="rect">
            <a:avLst/>
          </a:prstGeom>
          <a:solidFill>
            <a:srgbClr val="00B8A9"/>
          </a:solidFill>
          <a:ln/>
        </p:spPr>
      </p:sp>
      <p:sp>
        <p:nvSpPr>
          <p:cNvPr id="4" name="Text 2"/>
          <p:cNvSpPr/>
          <p:nvPr/>
        </p:nvSpPr>
        <p:spPr>
          <a:xfrm>
            <a:off x="594360" y="1463040"/>
            <a:ext cx="107899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Fielding, R. — Architectural Styles and the Design of Network-based Software Architectures (PhD dissertation)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Richardson, L. and Ruby, S. — RESTful Web Services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Initiative — OpenAPI Specification</a:t>
            </a:r>
            <a:endParaRPr lang="en-US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Fowler, M. — Richardson Maturity Model (martinfowler.com)</a:t>
            </a: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548640" y="502920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0F2942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513892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0B8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LECTURE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542239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6 — SOA vs. Microservices: Comparison and When to Use Each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457200" y="653796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SOA — Lecture 5: RESTful Services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521440" y="6537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A5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2410</Words>
  <Application>Microsoft Office PowerPoint</Application>
  <PresentationFormat>Widescreen</PresentationFormat>
  <Paragraphs>355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4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Abdolraheem Khader</cp:lastModifiedBy>
  <cp:revision>2</cp:revision>
  <dcterms:created xsi:type="dcterms:W3CDTF">2026-07-27T18:33:00Z</dcterms:created>
  <dcterms:modified xsi:type="dcterms:W3CDTF">2026-08-12T09:08:35Z</dcterms:modified>
</cp:coreProperties>
</file>