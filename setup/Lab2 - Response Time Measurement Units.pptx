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7" r:id="rId18"/>
    <p:sldId id="271" r:id="rId19"/>
    <p:sldId id="272" r:id="rId20"/>
    <p:sldId id="273" r:id="rId21"/>
    <p:sldId id="278" r:id="rId22"/>
    <p:sldId id="274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A690E-0CE8-4F57-9286-147CDBFF077B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5B39E-2992-4C06-9267-C328DF07DC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839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5B39E-2992-4C06-9267-C328DF07DC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68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445B5-4E4B-AD89-4623-9E84B9378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0471B4-008A-3067-0010-C2C5262B05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1060C-5D55-0072-7CC6-4F8DB5D05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0376-2750-4FA4-B0CA-436E978A94A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172AD-51D9-1A7D-AAE3-778EFEEFE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9AFC7F-5C69-4C58-AF22-A230BFD1E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162C-2B1F-452E-B8FA-02E4E7576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07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B5095-CE08-E3E6-BACA-F67C7D449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06B3A-49F5-6F01-4C43-8F2F15247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CD325-589A-D83E-DB5C-24F44F98B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0376-2750-4FA4-B0CA-436E978A94A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F571A-8906-B187-73A4-E24A747A6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A44E0-5034-8159-64E4-171B2F1C3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162C-2B1F-452E-B8FA-02E4E7576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559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2C445-49F6-13F7-9C91-98A381E24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C8A906-203D-74C6-E95D-1949F5D58E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17E23-B860-030D-BB40-BCCB1B2B2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0376-2750-4FA4-B0CA-436E978A94A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EB30C-98C0-A8E6-3A74-ABBA97E11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854CF-720B-6888-BAF2-49C568DF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162C-2B1F-452E-B8FA-02E4E7576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79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67360-12F9-B4CE-659E-F61338251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7BF3B-7C5B-FD97-77AF-D8C4AEA7B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01352-8081-ABE8-FB21-C3EE5570E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D69BF-C35F-DADE-C086-BD6A42867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0376-2750-4FA4-B0CA-436E978A94A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5793D-55C0-B207-BAEB-D7861292B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07421-F005-BBCA-985F-95530F2ED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162C-2B1F-452E-B8FA-02E4E7576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A94C4-3B21-69C2-D588-174D4338F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55E9C2-B5EF-58F8-D08D-A7AFA2885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F598E-3131-415B-73B1-8C52C477C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3983D5-8A8E-193A-D017-938F8258E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76F218-AD8D-F559-D528-8300CEE9F4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705052-A0DF-1C32-41E0-589AC2D43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0376-2750-4FA4-B0CA-436E978A94A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74156F-138C-1E8D-76CE-3DB18DFA9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125EE2-BD26-677B-843C-5DA8D9E31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162C-2B1F-452E-B8FA-02E4E7576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136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5B33A-85B7-3089-6A87-F937C960B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B8B5A2-5B05-792E-4D72-5817F990C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0376-2750-4FA4-B0CA-436E978A94A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DBEB3-38F7-5718-E21F-2B3DFF2E6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1B6C98-FA81-E496-274A-FB17744F8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162C-2B1F-452E-B8FA-02E4E7576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21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C981A0-BBF6-1DAB-F718-071658961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0376-2750-4FA4-B0CA-436E978A94A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8DC4F6-42BC-BC2F-C020-048805FE5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EA671F-42EF-9731-1323-DFAD080A9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162C-2B1F-452E-B8FA-02E4E7576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04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D8E39-1250-90A3-7D71-27274AB72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2CB6E-CA43-694E-576D-2176D194B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C43E03-C0A9-C68D-2458-A40C664C00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A5C98E-2586-204E-E8BE-3B82B36E8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0376-2750-4FA4-B0CA-436E978A94A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FB35ED-AECD-EB87-7D3D-B93E412AC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A0B21-567C-F093-DD4B-28E64355D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162C-2B1F-452E-B8FA-02E4E7576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98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464A9-5DA1-4955-7747-341DF80CB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171A4E-6142-FCC0-62AD-0205C980DF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7ED88-5197-8B43-300A-C3C468EA4D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96AF1C-D4FB-3F33-A6D1-BA6F039F5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0376-2750-4FA4-B0CA-436E978A94A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1D9F1-BD3D-8978-A020-90291B4E5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5983F5-3747-11D8-B327-E39C46FFD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162C-2B1F-452E-B8FA-02E4E7576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426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D784A-B99E-0935-5800-857D6B81E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17A7DB-99B0-CC6F-6860-2EF9714F6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CCC988-0EB7-7325-30AE-03CD75FA3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0376-2750-4FA4-B0CA-436E978A94A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06B64-ACBA-9689-38DA-C4E11DEA8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416D6-3D16-6CA4-7F85-C20EAC84D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162C-2B1F-452E-B8FA-02E4E7576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2929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CC124C-296B-667A-4998-48293EF14A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82BCC9-972B-9756-21B2-DBDBF5B0C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A1639-D3F1-4711-85B0-222389AE8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00376-2750-4FA4-B0CA-436E978A94A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0309B-E872-5904-FA3B-9C7EF8F91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89D470-2676-378F-EC01-11C26ADB8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4162C-2B1F-452E-B8FA-02E4E7576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138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D0248F-89DD-B258-C945-E39A4BA91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AE5F2-2E05-48B1-2068-9BF1FE590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6891E-670E-B845-3370-09937AD0B5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00376-2750-4FA4-B0CA-436E978A94A5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C83FD-ED44-2326-664C-22F16EC4CB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BEAB7-4476-8CC6-2783-E59B95515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4162C-2B1F-452E-B8FA-02E4E75764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94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56C5C-E3A7-4F42-A3E3-737CD77C14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Response Time Measurement Units</a:t>
            </a:r>
            <a:br>
              <a:rPr lang="en-US" sz="4800" b="1" dirty="0"/>
            </a:br>
            <a:endParaRPr lang="en-US" sz="4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E2BAA2-A52F-1A0C-2C62-FCB5E39AB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1111" y="2992438"/>
            <a:ext cx="9144000" cy="1655762"/>
          </a:xfrm>
        </p:spPr>
        <p:txBody>
          <a:bodyPr/>
          <a:lstStyle/>
          <a:p>
            <a:r>
              <a:rPr lang="en-US" dirty="0"/>
              <a:t>……………………………………………………………….</a:t>
            </a:r>
          </a:p>
        </p:txBody>
      </p:sp>
    </p:spTree>
    <p:extLst>
      <p:ext uri="{BB962C8B-B14F-4D97-AF65-F5344CB8AC3E}">
        <p14:creationId xmlns:p14="http://schemas.microsoft.com/office/powerpoint/2010/main" val="3236264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E931EA-A6D1-DE85-11D8-2E1A931AE937}"/>
              </a:ext>
            </a:extLst>
          </p:cNvPr>
          <p:cNvSpPr txBox="1"/>
          <p:nvPr/>
        </p:nvSpPr>
        <p:spPr>
          <a:xfrm>
            <a:off x="530578" y="493173"/>
            <a:ext cx="1150337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/>
              <a:t>Response Time can be measured using:</a:t>
            </a:r>
            <a:br>
              <a:rPr lang="en-US"/>
            </a:br>
            <a:br>
              <a:rPr lang="en-US"/>
            </a:br>
            <a:r>
              <a:rPr lang="en-US"/>
              <a:t>Milliseconds (ms)</a:t>
            </a:r>
            <a:br>
              <a:rPr lang="en-US"/>
            </a:br>
            <a:r>
              <a:rPr lang="en-US"/>
              <a:t>Seconds (s)</a:t>
            </a:r>
            <a:br>
              <a:rPr lang="en-US"/>
            </a:br>
            <a:r>
              <a:rPr lang="en-US"/>
              <a:t>Microseconds (µs)</a:t>
            </a:r>
          </a:p>
          <a:p>
            <a:br>
              <a:rPr lang="en-US"/>
            </a:br>
            <a:r>
              <a:rPr lang="en-US"/>
              <a:t>In web applications and interactive systems, milliseconds (ms) are commonly used.</a:t>
            </a:r>
            <a:br>
              <a:rPr lang="en-US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D657C-22D6-752F-D204-5BE39A785F1B}"/>
              </a:ext>
            </a:extLst>
          </p:cNvPr>
          <p:cNvSpPr txBox="1"/>
          <p:nvPr/>
        </p:nvSpPr>
        <p:spPr>
          <a:xfrm>
            <a:off x="609600" y="272096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100 </a:t>
            </a:r>
            <a:r>
              <a:rPr lang="en-US" dirty="0" err="1"/>
              <a:t>ms</a:t>
            </a:r>
            <a:r>
              <a:rPr lang="en-US" dirty="0"/>
              <a:t> = 0.1 seconds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500 </a:t>
            </a:r>
            <a:r>
              <a:rPr lang="en-US" dirty="0" err="1"/>
              <a:t>ms</a:t>
            </a:r>
            <a:r>
              <a:rPr lang="en-US" dirty="0"/>
              <a:t> = 0.5 seconds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1000 </a:t>
            </a:r>
            <a:r>
              <a:rPr lang="en-US" dirty="0" err="1"/>
              <a:t>ms</a:t>
            </a:r>
            <a:r>
              <a:rPr lang="en-US" dirty="0"/>
              <a:t> = 1 second</a:t>
            </a:r>
          </a:p>
        </p:txBody>
      </p:sp>
    </p:spTree>
    <p:extLst>
      <p:ext uri="{BB962C8B-B14F-4D97-AF65-F5344CB8AC3E}">
        <p14:creationId xmlns:p14="http://schemas.microsoft.com/office/powerpoint/2010/main" val="3165065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8041A3-B9A9-5FA1-E648-74FC16A09E85}"/>
              </a:ext>
            </a:extLst>
          </p:cNvPr>
          <p:cNvSpPr txBox="1"/>
          <p:nvPr/>
        </p:nvSpPr>
        <p:spPr>
          <a:xfrm>
            <a:off x="417689" y="29772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Don't We Use Only the Average?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921F27-37B0-FC5B-B5B5-0CC28D709412}"/>
              </a:ext>
            </a:extLst>
          </p:cNvPr>
          <p:cNvSpPr txBox="1"/>
          <p:nvPr/>
        </p:nvSpPr>
        <p:spPr>
          <a:xfrm>
            <a:off x="417689" y="809262"/>
            <a:ext cx="1058897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One common mistake is relying only on the Mean/Average.</a:t>
            </a:r>
            <a:br>
              <a:rPr lang="en-US" dirty="0"/>
            </a:br>
            <a:r>
              <a:rPr lang="en-US" dirty="0"/>
              <a:t>For example, suppose we have the following response times: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100, 110, 120, 130, 1000 </a:t>
            </a:r>
            <a:r>
              <a:rPr lang="en-US" dirty="0" err="1"/>
              <a:t>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average is:</a:t>
            </a:r>
            <a:br>
              <a:rPr lang="en-US" dirty="0"/>
            </a:br>
            <a:r>
              <a:rPr lang="en-US" dirty="0"/>
              <a:t>Average = 292 </a:t>
            </a:r>
            <a:r>
              <a:rPr lang="en-US" dirty="0" err="1"/>
              <a:t>ms</a:t>
            </a:r>
            <a:endParaRPr lang="en-US" dirty="0"/>
          </a:p>
          <a:p>
            <a:br>
              <a:rPr lang="en-US" dirty="0"/>
            </a:br>
            <a:r>
              <a:rPr lang="en-US" dirty="0"/>
              <a:t>However, most requests were between 100 and 130 </a:t>
            </a:r>
            <a:r>
              <a:rPr lang="en-US" dirty="0" err="1"/>
              <a:t>ms</a:t>
            </a:r>
            <a:r>
              <a:rPr lang="en-US" dirty="0"/>
              <a:t>, while only one request took 1000 </a:t>
            </a:r>
            <a:r>
              <a:rPr lang="en-US" dirty="0" err="1"/>
              <a:t>ms.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358FDC-BC45-525D-A488-78EAA2D7AE03}"/>
              </a:ext>
            </a:extLst>
          </p:cNvPr>
          <p:cNvSpPr txBox="1"/>
          <p:nvPr/>
        </p:nvSpPr>
        <p:spPr>
          <a:xfrm>
            <a:off x="417689" y="3394585"/>
            <a:ext cx="1150337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Therefore, the average does not provide a clear picture of the experience of most users.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For this reason, we use Percentiles, such as: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P50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P95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P99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668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0DECC8-539A-10F4-1258-D91A0C8DA3F3}"/>
              </a:ext>
            </a:extLst>
          </p:cNvPr>
          <p:cNvSpPr txBox="1"/>
          <p:nvPr/>
        </p:nvSpPr>
        <p:spPr>
          <a:xfrm>
            <a:off x="440266" y="334623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What is a Percentile?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FFAFCA-5708-BFD2-D2B5-76F84239A639}"/>
              </a:ext>
            </a:extLst>
          </p:cNvPr>
          <p:cNvSpPr txBox="1"/>
          <p:nvPr/>
        </p:nvSpPr>
        <p:spPr>
          <a:xfrm>
            <a:off x="440265" y="891066"/>
            <a:ext cx="1155982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Percentile is a value that indicates the response time at which a certain percentage of the data is less than or equal to that value.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For example: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P50 = 200 </a:t>
            </a:r>
            <a:r>
              <a:rPr lang="en-US" dirty="0" err="1"/>
              <a:t>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means that approximately 50% of requests have a response time of 200 </a:t>
            </a:r>
            <a:r>
              <a:rPr lang="en-US" dirty="0" err="1"/>
              <a:t>ms</a:t>
            </a:r>
            <a:r>
              <a:rPr lang="en-US" dirty="0"/>
              <a:t> or less.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P95 = 500 </a:t>
            </a:r>
            <a:r>
              <a:rPr lang="en-US" dirty="0" err="1"/>
              <a:t>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means that 95% of requests have a response time of 500 </a:t>
            </a:r>
            <a:r>
              <a:rPr lang="en-US" dirty="0" err="1"/>
              <a:t>ms</a:t>
            </a:r>
            <a:r>
              <a:rPr lang="en-US" dirty="0"/>
              <a:t> or less.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P99 = 800 </a:t>
            </a:r>
            <a:r>
              <a:rPr lang="en-US" dirty="0" err="1"/>
              <a:t>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means that 99% of requests have a response time of 800 </a:t>
            </a:r>
            <a:r>
              <a:rPr lang="en-US" dirty="0" err="1"/>
              <a:t>ms</a:t>
            </a:r>
            <a:r>
              <a:rPr lang="en-US" dirty="0"/>
              <a:t> or less.</a:t>
            </a:r>
          </a:p>
        </p:txBody>
      </p:sp>
    </p:spTree>
    <p:extLst>
      <p:ext uri="{BB962C8B-B14F-4D97-AF65-F5344CB8AC3E}">
        <p14:creationId xmlns:p14="http://schemas.microsoft.com/office/powerpoint/2010/main" val="743056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8BECD6-C838-9B71-E7F6-C2D97E923BE0}"/>
              </a:ext>
            </a:extLst>
          </p:cNvPr>
          <p:cNvSpPr txBox="1"/>
          <p:nvPr/>
        </p:nvSpPr>
        <p:spPr>
          <a:xfrm>
            <a:off x="541867" y="21044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P50 – 50th Percentile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89AD9-827E-A5FA-C474-EB8054ED13B8}"/>
              </a:ext>
            </a:extLst>
          </p:cNvPr>
          <p:cNvSpPr txBox="1"/>
          <p:nvPr/>
        </p:nvSpPr>
        <p:spPr>
          <a:xfrm>
            <a:off x="361244" y="769501"/>
            <a:ext cx="114808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It is approximately equal to the Median.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It means: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&gt; 50% of requests have a Response Time less than or equal to P50.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Approximately 50% of requests have a response time greater than this value.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Example</a:t>
            </a:r>
            <a:br>
              <a:rPr lang="en-US" dirty="0"/>
            </a:br>
            <a:r>
              <a:rPr lang="en-US" dirty="0"/>
              <a:t>Suppose we have:</a:t>
            </a:r>
            <a:br>
              <a:rPr lang="en-US" dirty="0"/>
            </a:br>
            <a:r>
              <a:rPr lang="en-US" dirty="0"/>
              <a:t>100, 120, 150, 180, 200, 250, 300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middle value is:</a:t>
            </a:r>
            <a:br>
              <a:rPr lang="en-US" dirty="0"/>
            </a:br>
            <a:r>
              <a:rPr lang="en-US" dirty="0"/>
              <a:t>180 </a:t>
            </a:r>
            <a:r>
              <a:rPr lang="en-US" dirty="0" err="1"/>
              <a:t>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Therefore:</a:t>
            </a:r>
            <a:br>
              <a:rPr lang="en-US" dirty="0"/>
            </a:br>
            <a:r>
              <a:rPr lang="en-US" dirty="0"/>
              <a:t>P50 = 180 </a:t>
            </a:r>
            <a:r>
              <a:rPr lang="en-US" dirty="0" err="1"/>
              <a:t>ms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152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007FC6-F6D8-D5A6-2575-D7ECFA5356A3}"/>
              </a:ext>
            </a:extLst>
          </p:cNvPr>
          <p:cNvSpPr txBox="1"/>
          <p:nvPr/>
        </p:nvSpPr>
        <p:spPr>
          <a:xfrm>
            <a:off x="598310" y="408085"/>
            <a:ext cx="1098408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What does P50 tell us?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P50 gives us an idea about the typical or normal performance of the system.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If:</a:t>
            </a:r>
            <a:br>
              <a:rPr lang="en-US" sz="1800" dirty="0"/>
            </a:br>
            <a:r>
              <a:rPr lang="en-US" sz="1800" dirty="0"/>
              <a:t>&gt; P50 = 150 </a:t>
            </a:r>
            <a:r>
              <a:rPr lang="en-US" sz="1800" dirty="0" err="1"/>
              <a:t>ms</a:t>
            </a:r>
            <a:endParaRPr lang="en-US" dirty="0"/>
          </a:p>
          <a:p>
            <a:br>
              <a:rPr lang="en-US" sz="1800" dirty="0"/>
            </a:br>
            <a:r>
              <a:rPr lang="en-US" sz="1800" dirty="0"/>
              <a:t>This means that the typical user experience is around 150 </a:t>
            </a:r>
            <a:r>
              <a:rPr lang="en-US" sz="1800" dirty="0" err="1"/>
              <a:t>ms.</a:t>
            </a:r>
            <a:br>
              <a:rPr lang="en-US" sz="1800" dirty="0"/>
            </a:br>
            <a:br>
              <a:rPr lang="en-US" sz="18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163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1AAAFA-C05A-9958-5550-7BE68B6E12B4}"/>
              </a:ext>
            </a:extLst>
          </p:cNvPr>
          <p:cNvSpPr txBox="1"/>
          <p:nvPr/>
        </p:nvSpPr>
        <p:spPr>
          <a:xfrm>
            <a:off x="620888" y="251895"/>
            <a:ext cx="11187289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P95 – 95th Percentile</a:t>
            </a:r>
          </a:p>
          <a:p>
            <a:br>
              <a:rPr lang="en-US" dirty="0"/>
            </a:br>
            <a:r>
              <a:rPr lang="en-US" dirty="0"/>
              <a:t>It means: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&gt; 95% of requests are completed within this response time or less.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Approximately: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&gt; 5% of requests take longer.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Example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If:</a:t>
            </a:r>
          </a:p>
          <a:p>
            <a:br>
              <a:rPr lang="en-US" dirty="0"/>
            </a:br>
            <a:r>
              <a:rPr lang="en-US" dirty="0"/>
              <a:t>P95 = 400 </a:t>
            </a:r>
            <a:r>
              <a:rPr lang="en-US" dirty="0" err="1"/>
              <a:t>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means: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95% of requests ≤ 400 </a:t>
            </a:r>
            <a:r>
              <a:rPr lang="en-US" dirty="0" err="1"/>
              <a:t>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5% of requests &gt; 400 </a:t>
            </a:r>
            <a:r>
              <a:rPr lang="en-US" dirty="0" err="1"/>
              <a:t>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888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C9C31E-FBBF-8FB8-7D2C-26EDFF6FAEC2}"/>
              </a:ext>
            </a:extLst>
          </p:cNvPr>
          <p:cNvSpPr txBox="1"/>
          <p:nvPr/>
        </p:nvSpPr>
        <p:spPr>
          <a:xfrm>
            <a:off x="541866" y="511370"/>
            <a:ext cx="108599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Why is P95 important?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It gives us an idea of the performance experienced by most users, rather than only the average user.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7E93FC-BDDF-0858-B16A-1AE10ACAA23D}"/>
              </a:ext>
            </a:extLst>
          </p:cNvPr>
          <p:cNvSpPr txBox="1"/>
          <p:nvPr/>
        </p:nvSpPr>
        <p:spPr>
          <a:xfrm>
            <a:off x="637820" y="1720840"/>
            <a:ext cx="10668001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P99 – 99th Percentile</a:t>
            </a:r>
          </a:p>
          <a:p>
            <a:br>
              <a:rPr lang="en-US" dirty="0"/>
            </a:br>
            <a:r>
              <a:rPr lang="en-US" dirty="0"/>
              <a:t>It means: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&gt; 99% of requests are completed within this response time or less.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Approximately: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&gt; 1% of requests take longer.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899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422E47-B8A9-F1A6-96D5-17BCF2C41C13}"/>
              </a:ext>
            </a:extLst>
          </p:cNvPr>
          <p:cNvSpPr txBox="1"/>
          <p:nvPr/>
        </p:nvSpPr>
        <p:spPr>
          <a:xfrm>
            <a:off x="485422" y="525355"/>
            <a:ext cx="1119857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P99 = 800 </a:t>
            </a:r>
            <a:r>
              <a:rPr lang="en-US" dirty="0" err="1"/>
              <a:t>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means: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99% of requests ≤ 800 </a:t>
            </a:r>
            <a:r>
              <a:rPr lang="en-US" dirty="0" err="1"/>
              <a:t>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1% of requests &gt; 800 </a:t>
            </a:r>
            <a:r>
              <a:rPr lang="en-US" dirty="0" err="1"/>
              <a:t>ms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/>
              <a:t>Why is P99 important?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It reveals the very slow requests.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These cases can be particularly important in systems with a large number of users.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957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FE8B22-D1EA-1E8A-B4F6-5EA6C2C106CA}"/>
              </a:ext>
            </a:extLst>
          </p:cNvPr>
          <p:cNvSpPr txBox="1"/>
          <p:nvPr/>
        </p:nvSpPr>
        <p:spPr>
          <a:xfrm>
            <a:off x="338666" y="0"/>
            <a:ext cx="11525955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How Do We Calculate Percentiles?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To calculate P50, P95, and P99, we first need Response Time data.</a:t>
            </a:r>
          </a:p>
          <a:p>
            <a:br>
              <a:rPr lang="en-US" dirty="0"/>
            </a:br>
            <a:r>
              <a:rPr lang="en-US" dirty="0"/>
              <a:t>For example:</a:t>
            </a:r>
            <a:br>
              <a:rPr lang="en-US" dirty="0"/>
            </a:br>
            <a:r>
              <a:rPr lang="en-US" dirty="0"/>
              <a:t>120, 250, 180, 100, 300, 200, 150</a:t>
            </a:r>
          </a:p>
          <a:p>
            <a:br>
              <a:rPr lang="en-US" dirty="0"/>
            </a:br>
            <a:r>
              <a:rPr lang="en-US" b="1" dirty="0"/>
              <a:t>Step 1: Sort the Data</a:t>
            </a:r>
            <a:br>
              <a:rPr lang="en-US" dirty="0"/>
            </a:br>
            <a:r>
              <a:rPr lang="en-US" dirty="0"/>
              <a:t>Arrange the data in ascending order:</a:t>
            </a:r>
            <a:br>
              <a:rPr lang="en-US" dirty="0"/>
            </a:br>
            <a:r>
              <a:rPr lang="en-US" dirty="0"/>
              <a:t>100, 120, 150, 180, 200, 250, 300</a:t>
            </a:r>
          </a:p>
          <a:p>
            <a:br>
              <a:rPr lang="en-US" dirty="0"/>
            </a:br>
            <a:r>
              <a:rPr lang="en-US" b="1" dirty="0"/>
              <a:t>Step 2: Determine the Required Percentile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then calculate the required percentile.</a:t>
            </a:r>
            <a:br>
              <a:rPr lang="en-US" dirty="0"/>
            </a:br>
            <a:r>
              <a:rPr lang="en-US" dirty="0"/>
              <a:t>There are different methods for calculating percentiles, especially when the number of observations is small. Therefore, when using Excel or Python, we should specify the calculation method being used.</a:t>
            </a:r>
            <a:br>
              <a:rPr lang="en-US" dirty="0"/>
            </a:br>
            <a:r>
              <a:rPr lang="en-US" dirty="0"/>
              <a:t>In practical applications, we commonly use tools such as:</a:t>
            </a:r>
          </a:p>
          <a:p>
            <a:endParaRPr lang="en-US" dirty="0"/>
          </a:p>
          <a:p>
            <a:r>
              <a:rPr lang="en-US" dirty="0"/>
              <a:t>Excel</a:t>
            </a:r>
            <a:br>
              <a:rPr lang="en-US" dirty="0"/>
            </a:br>
            <a:r>
              <a:rPr lang="en-US" dirty="0"/>
              <a:t>Python</a:t>
            </a:r>
            <a:br>
              <a:rPr lang="en-US" dirty="0"/>
            </a:br>
            <a:r>
              <a:rPr lang="en-US" dirty="0"/>
              <a:t>R</a:t>
            </a:r>
            <a:br>
              <a:rPr lang="en-US" dirty="0"/>
            </a:br>
            <a:r>
              <a:rPr lang="en-US" dirty="0"/>
              <a:t>MATLAB</a:t>
            </a:r>
            <a:br>
              <a:rPr lang="en-US" dirty="0"/>
            </a:br>
            <a:r>
              <a:rPr lang="en-US" dirty="0"/>
              <a:t>Performance monitoring tools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94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0B065C-48D2-FD1C-A6FF-D7854D97D920}"/>
              </a:ext>
            </a:extLst>
          </p:cNvPr>
          <p:cNvSpPr txBox="1"/>
          <p:nvPr/>
        </p:nvSpPr>
        <p:spPr>
          <a:xfrm>
            <a:off x="508000" y="26688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 How we calculate the p50, p95 .p99 by using Excal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454B05-28E4-AE37-245F-45E339B50A7D}"/>
              </a:ext>
            </a:extLst>
          </p:cNvPr>
          <p:cNvSpPr txBox="1"/>
          <p:nvPr/>
        </p:nvSpPr>
        <p:spPr>
          <a:xfrm>
            <a:off x="609600" y="8313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Enter the Data in Excel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DB9669-EC96-62E2-1250-84B9415FA090}"/>
              </a:ext>
            </a:extLst>
          </p:cNvPr>
          <p:cNvSpPr txBox="1"/>
          <p:nvPr/>
        </p:nvSpPr>
        <p:spPr>
          <a:xfrm>
            <a:off x="609600" y="120066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Calculating P50 in Excel</a:t>
            </a:r>
            <a:br>
              <a:rPr lang="en-US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CB910-DBEC-FE8A-8BAF-33CD2B59B3F8}"/>
              </a:ext>
            </a:extLst>
          </p:cNvPr>
          <p:cNvSpPr txBox="1"/>
          <p:nvPr/>
        </p:nvSpPr>
        <p:spPr>
          <a:xfrm>
            <a:off x="508000" y="16746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PERCENTILE.INC(B2:B31,0.50)=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A31971-C951-B68E-5661-4DA25B0A0DEF}"/>
              </a:ext>
            </a:extLst>
          </p:cNvPr>
          <p:cNvSpPr txBox="1"/>
          <p:nvPr/>
        </p:nvSpPr>
        <p:spPr>
          <a:xfrm>
            <a:off x="553155" y="22163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Then press Enter.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AF8472-7561-2374-6F17-834F9A4D72AF}"/>
              </a:ext>
            </a:extLst>
          </p:cNvPr>
          <p:cNvSpPr txBox="1"/>
          <p:nvPr/>
        </p:nvSpPr>
        <p:spPr>
          <a:xfrm>
            <a:off x="553155" y="269033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</a:t>
            </a:r>
            <a:r>
              <a:rPr lang="en-US" sz="1800" dirty="0"/>
              <a:t>. Calculating P95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BDC4A0-584B-5029-12AC-EA866A4B2BCF}"/>
              </a:ext>
            </a:extLst>
          </p:cNvPr>
          <p:cNvSpPr txBox="1"/>
          <p:nvPr/>
        </p:nvSpPr>
        <p:spPr>
          <a:xfrm>
            <a:off x="508000" y="325667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PERCENTILE.INC(B2:B31,0.95)=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A8EC91-CD4C-A0F2-ED39-15235E5B39C6}"/>
              </a:ext>
            </a:extLst>
          </p:cNvPr>
          <p:cNvSpPr txBox="1"/>
          <p:nvPr/>
        </p:nvSpPr>
        <p:spPr>
          <a:xfrm>
            <a:off x="553155" y="382301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</a:t>
            </a:r>
            <a:r>
              <a:rPr lang="en-US" sz="1800" dirty="0"/>
              <a:t>. Calculating P99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7AE043-68D7-4261-1887-13B0DBEC1EFD}"/>
              </a:ext>
            </a:extLst>
          </p:cNvPr>
          <p:cNvSpPr txBox="1"/>
          <p:nvPr/>
        </p:nvSpPr>
        <p:spPr>
          <a:xfrm>
            <a:off x="553155" y="42970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PERCENTILE.INC(B2:B31,0.99)=</a:t>
            </a:r>
          </a:p>
        </p:txBody>
      </p:sp>
    </p:spTree>
    <p:extLst>
      <p:ext uri="{BB962C8B-B14F-4D97-AF65-F5344CB8AC3E}">
        <p14:creationId xmlns:p14="http://schemas.microsoft.com/office/powerpoint/2010/main" val="4027644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C06038-BC49-1C2B-3AAA-E6AA730AC946}"/>
              </a:ext>
            </a:extLst>
          </p:cNvPr>
          <p:cNvSpPr txBox="1"/>
          <p:nvPr/>
        </p:nvSpPr>
        <p:spPr>
          <a:xfrm>
            <a:off x="508000" y="3120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Example for p50 ,p95,p99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3703B3-B9B3-4EFF-DEE0-FB87833BFD73}"/>
              </a:ext>
            </a:extLst>
          </p:cNvPr>
          <p:cNvSpPr txBox="1"/>
          <p:nvPr/>
        </p:nvSpPr>
        <p:spPr>
          <a:xfrm>
            <a:off x="891822" y="8517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Request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88E936-221D-BD4F-FCC9-75E159440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259447"/>
              </p:ext>
            </p:extLst>
          </p:nvPr>
        </p:nvGraphicFramePr>
        <p:xfrm>
          <a:off x="428978" y="851746"/>
          <a:ext cx="812800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5133782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048444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Response Time (</a:t>
                      </a:r>
                      <a:r>
                        <a:rPr lang="en-US" dirty="0" err="1"/>
                        <a:t>ms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327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7000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7249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0608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383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1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………..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……………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030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82737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E80BE5F-0FE2-2C4E-E502-0124AB660F00}"/>
              </a:ext>
            </a:extLst>
          </p:cNvPr>
          <p:cNvSpPr txBox="1"/>
          <p:nvPr/>
        </p:nvSpPr>
        <p:spPr>
          <a:xfrm>
            <a:off x="508000" y="39595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=PERCENTILE.INC(B2:B31,0.50)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6E5D51-4444-8F89-E273-25C81E71D2BB}"/>
              </a:ext>
            </a:extLst>
          </p:cNvPr>
          <p:cNvSpPr txBox="1"/>
          <p:nvPr/>
        </p:nvSpPr>
        <p:spPr>
          <a:xfrm>
            <a:off x="508000" y="42853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=PERCENTILE.INC(B2:B31,0.95)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D8DF56-0BBD-3EB4-1B1B-DC93F4EA4427}"/>
              </a:ext>
            </a:extLst>
          </p:cNvPr>
          <p:cNvSpPr txBox="1"/>
          <p:nvPr/>
        </p:nvSpPr>
        <p:spPr>
          <a:xfrm>
            <a:off x="508000" y="46527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=PERCENTILE.INC(B2:B31,0.99)</a:t>
            </a:r>
          </a:p>
        </p:txBody>
      </p:sp>
    </p:spTree>
    <p:extLst>
      <p:ext uri="{BB962C8B-B14F-4D97-AF65-F5344CB8AC3E}">
        <p14:creationId xmlns:p14="http://schemas.microsoft.com/office/powerpoint/2010/main" val="24124041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321C52-B86C-57C4-65CC-DA9CAAE4EEB8}"/>
              </a:ext>
            </a:extLst>
          </p:cNvPr>
          <p:cNvSpPr txBox="1"/>
          <p:nvPr/>
        </p:nvSpPr>
        <p:spPr>
          <a:xfrm>
            <a:off x="530578" y="25560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What is a Histogram?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E7448E-0E68-3E93-FC52-1116D9057362}"/>
              </a:ext>
            </a:extLst>
          </p:cNvPr>
          <p:cNvSpPr txBox="1"/>
          <p:nvPr/>
        </p:nvSpPr>
        <p:spPr>
          <a:xfrm>
            <a:off x="417687" y="748437"/>
            <a:ext cx="1099537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Histogram is a graphical representation used to show the distribution of data.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 our case, we use it to determine: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&gt; How are the response times distributed?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F90BCD-D7EB-5A95-6DC4-8861E3E62373}"/>
              </a:ext>
            </a:extLst>
          </p:cNvPr>
          <p:cNvSpPr txBox="1"/>
          <p:nvPr/>
        </p:nvSpPr>
        <p:spPr>
          <a:xfrm>
            <a:off x="417687" y="2225765"/>
            <a:ext cx="105438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For example, suppose we have 1,000 requests: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Response Time Number of Requests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0–100  </a:t>
            </a:r>
            <a:r>
              <a:rPr lang="en-US" dirty="0" err="1"/>
              <a:t>ms</a:t>
            </a:r>
            <a:r>
              <a:rPr lang="en-US" dirty="0"/>
              <a:t> 300</a:t>
            </a:r>
            <a:br>
              <a:rPr lang="en-US" dirty="0"/>
            </a:br>
            <a:r>
              <a:rPr lang="en-US" dirty="0"/>
              <a:t>101–200  </a:t>
            </a:r>
            <a:r>
              <a:rPr lang="en-US" dirty="0" err="1"/>
              <a:t>ms</a:t>
            </a:r>
            <a:r>
              <a:rPr lang="en-US" dirty="0"/>
              <a:t> 400</a:t>
            </a:r>
            <a:br>
              <a:rPr lang="en-US" dirty="0"/>
            </a:br>
            <a:r>
              <a:rPr lang="en-US" dirty="0"/>
              <a:t>201–300  </a:t>
            </a:r>
            <a:r>
              <a:rPr lang="en-US" dirty="0" err="1"/>
              <a:t>ms</a:t>
            </a:r>
            <a:r>
              <a:rPr lang="en-US" dirty="0"/>
              <a:t> 180</a:t>
            </a:r>
            <a:br>
              <a:rPr lang="en-US" dirty="0"/>
            </a:br>
            <a:r>
              <a:rPr lang="en-US" dirty="0"/>
              <a:t>301–400  </a:t>
            </a:r>
            <a:r>
              <a:rPr lang="en-US" dirty="0" err="1"/>
              <a:t>ms</a:t>
            </a:r>
            <a:r>
              <a:rPr lang="en-US" dirty="0"/>
              <a:t> 80</a:t>
            </a:r>
            <a:br>
              <a:rPr lang="en-US" dirty="0"/>
            </a:br>
            <a:r>
              <a:rPr lang="en-US" dirty="0"/>
              <a:t>401–500  </a:t>
            </a:r>
            <a:r>
              <a:rPr lang="en-US" dirty="0" err="1"/>
              <a:t>ms</a:t>
            </a:r>
            <a:r>
              <a:rPr lang="en-US" dirty="0"/>
              <a:t> 30</a:t>
            </a:r>
            <a:br>
              <a:rPr lang="en-US" dirty="0"/>
            </a:br>
            <a:r>
              <a:rPr lang="en-US" dirty="0"/>
              <a:t>&gt;500 </a:t>
            </a:r>
            <a:r>
              <a:rPr lang="en-US" dirty="0" err="1"/>
              <a:t>ms</a:t>
            </a:r>
            <a:r>
              <a:rPr lang="en-US" dirty="0"/>
              <a:t> 10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The Histogram converts this table into a set of bars.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198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046F3F-252F-BD97-E94B-3ADED5BEFD5D}"/>
              </a:ext>
            </a:extLst>
          </p:cNvPr>
          <p:cNvSpPr txBox="1"/>
          <p:nvPr/>
        </p:nvSpPr>
        <p:spPr>
          <a:xfrm>
            <a:off x="541867" y="37977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Components of a Histogram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E7AE7A-ED41-3A0A-2962-8031C47F6823}"/>
              </a:ext>
            </a:extLst>
          </p:cNvPr>
          <p:cNvSpPr txBox="1"/>
          <p:nvPr/>
        </p:nvSpPr>
        <p:spPr>
          <a:xfrm>
            <a:off x="541867" y="779888"/>
            <a:ext cx="6096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Histogram usually consists of: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X-Axis</a:t>
            </a:r>
          </a:p>
          <a:p>
            <a:br>
              <a:rPr lang="en-US" dirty="0"/>
            </a:br>
            <a:r>
              <a:rPr lang="en-US" dirty="0"/>
              <a:t>&gt; Response Time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For example: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0–100, 100–200, 200–300 </a:t>
            </a:r>
            <a:r>
              <a:rPr lang="en-US" dirty="0" err="1"/>
              <a:t>ms</a:t>
            </a:r>
            <a:br>
              <a:rPr lang="en-US" dirty="0"/>
            </a:br>
            <a:br>
              <a:rPr lang="en-US" dirty="0"/>
            </a:br>
            <a:r>
              <a:rPr lang="en-US" b="1" dirty="0"/>
              <a:t>Y-Axis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Represents the number of requests: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&gt; Frequency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It can also represent the percentage of requests.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535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534070-2201-2142-B005-D2B5962B10AF}"/>
              </a:ext>
            </a:extLst>
          </p:cNvPr>
          <p:cNvSpPr txBox="1"/>
          <p:nvPr/>
        </p:nvSpPr>
        <p:spPr>
          <a:xfrm>
            <a:off x="316088" y="0"/>
            <a:ext cx="11571111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r>
              <a:rPr lang="en-US" b="1" dirty="0"/>
              <a:t>A Histogram allows us to determine: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1. Where is the data concentrated?</a:t>
            </a:r>
            <a:br>
              <a:rPr lang="en-US" dirty="0"/>
            </a:br>
            <a:r>
              <a:rPr lang="en-US" dirty="0"/>
              <a:t>For example, if most requests are between:</a:t>
            </a:r>
            <a:br>
              <a:rPr lang="en-US" dirty="0"/>
            </a:br>
            <a:r>
              <a:rPr lang="en-US" dirty="0"/>
              <a:t>100–200 </a:t>
            </a:r>
            <a:r>
              <a:rPr lang="en-US" dirty="0" err="1"/>
              <a:t>ms</a:t>
            </a:r>
            <a:br>
              <a:rPr lang="en-US" dirty="0"/>
            </a:br>
            <a:r>
              <a:rPr lang="en-US" dirty="0"/>
              <a:t>This means that most requests are relatively fast.</a:t>
            </a:r>
          </a:p>
          <a:p>
            <a:br>
              <a:rPr lang="en-US" dirty="0"/>
            </a:br>
            <a:r>
              <a:rPr lang="en-US" dirty="0"/>
              <a:t>2. Are there high values?</a:t>
            </a:r>
            <a:br>
              <a:rPr lang="en-US" dirty="0"/>
            </a:br>
            <a:r>
              <a:rPr lang="en-US" dirty="0"/>
              <a:t>If there are a small number of requests above:</a:t>
            </a:r>
            <a:br>
              <a:rPr lang="en-US" dirty="0"/>
            </a:br>
            <a:r>
              <a:rPr lang="en-US" dirty="0"/>
              <a:t>1000 </a:t>
            </a:r>
            <a:r>
              <a:rPr lang="en-US" dirty="0" err="1"/>
              <a:t>ms</a:t>
            </a:r>
            <a:br>
              <a:rPr lang="en-US" dirty="0"/>
            </a:br>
            <a:r>
              <a:rPr lang="en-US" dirty="0"/>
              <a:t>This may indicate problems in some cases.</a:t>
            </a:r>
          </a:p>
          <a:p>
            <a:br>
              <a:rPr lang="en-US" dirty="0"/>
            </a:br>
            <a:r>
              <a:rPr lang="en-US" dirty="0"/>
              <a:t>3. Is the data normally distributed?</a:t>
            </a:r>
            <a:br>
              <a:rPr lang="en-US" dirty="0"/>
            </a:br>
            <a:r>
              <a:rPr lang="en-US" dirty="0"/>
              <a:t>The Histogram can help us understand the shape of the data distribution.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4. Is there a Long Tail?</a:t>
            </a:r>
            <a:br>
              <a:rPr lang="en-US" dirty="0"/>
            </a:br>
            <a:r>
              <a:rPr lang="en-US" dirty="0"/>
              <a:t>This means that most values are small, but there are a few very large values.</a:t>
            </a:r>
            <a:br>
              <a:rPr lang="en-US" dirty="0"/>
            </a:br>
            <a:r>
              <a:rPr lang="en-US" dirty="0"/>
              <a:t>This is common in computer systems.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6297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A04D33-699C-9D19-B829-BB8BC0DB327C}"/>
              </a:ext>
            </a:extLst>
          </p:cNvPr>
          <p:cNvSpPr txBox="1"/>
          <p:nvPr/>
        </p:nvSpPr>
        <p:spPr>
          <a:xfrm>
            <a:off x="361244" y="221734"/>
            <a:ext cx="1183075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How Were the Bars Calculated?</a:t>
            </a:r>
            <a:br>
              <a:rPr lang="en-US" sz="2000" dirty="0"/>
            </a:br>
            <a:br>
              <a:rPr lang="en-US" dirty="0"/>
            </a:br>
            <a:r>
              <a:rPr lang="en-US" dirty="0"/>
              <a:t>For example, consider the interval: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101–200 </a:t>
            </a:r>
            <a:r>
              <a:rPr lang="en-US" dirty="0" err="1"/>
              <a:t>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response times within this interval are: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110, 120, 125, 130, 135, 140, 145, 150, 155, 160, 165, 170, 180, 190, 200</a:t>
            </a:r>
            <a:br>
              <a:rPr lang="en-US" dirty="0"/>
            </a:br>
            <a:br>
              <a:rPr lang="en-US" dirty="0"/>
            </a:br>
            <a:r>
              <a:rPr lang="en-US" dirty="0"/>
              <a:t>Depending on the binning method selected, the upper boundary of an interval may be included in the previous or next interval. Therefore, Excel may produce slightly different bin boundaries.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important point is that: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&gt; The total frequency should equal the total number of requests = 30.</a:t>
            </a:r>
            <a:br>
              <a:rPr lang="en-US" sz="2000" dirty="0"/>
            </a:br>
            <a:br>
              <a:rPr lang="en-US" sz="2000" dirty="0"/>
            </a:b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263314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FB3E7D-6A81-5745-D274-638265A0001A}"/>
              </a:ext>
            </a:extLst>
          </p:cNvPr>
          <p:cNvSpPr txBox="1"/>
          <p:nvPr/>
        </p:nvSpPr>
        <p:spPr>
          <a:xfrm>
            <a:off x="564443" y="92502"/>
            <a:ext cx="1074702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How to Create a Histogram in Excel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After entering the response-time data in column B:</a:t>
            </a:r>
            <a:br>
              <a:rPr lang="en-US" dirty="0"/>
            </a:br>
            <a:r>
              <a:rPr lang="en-US" dirty="0"/>
              <a:t>The easiest method in modern versions of Excel: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1. Select the Response Time data.</a:t>
            </a:r>
            <a:br>
              <a:rPr lang="en-US" dirty="0"/>
            </a:br>
            <a:r>
              <a:rPr lang="en-US" dirty="0"/>
              <a:t>2. Go to Insert.</a:t>
            </a:r>
            <a:br>
              <a:rPr lang="en-US" dirty="0"/>
            </a:br>
            <a:r>
              <a:rPr lang="en-US" dirty="0"/>
              <a:t>3. Select Insert Statistic Chart.</a:t>
            </a:r>
            <a:br>
              <a:rPr lang="en-US" dirty="0"/>
            </a:br>
            <a:r>
              <a:rPr lang="en-US" dirty="0"/>
              <a:t>4. Select Histogram.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Excel will automatically create the Histogram.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After that, you can click on the X-axis and modify: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&gt; Bin Width</a:t>
            </a:r>
          </a:p>
          <a:p>
            <a:r>
              <a:rPr lang="en-US" dirty="0"/>
              <a:t>Practical example in excel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5728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2B5C80-3B87-D045-FA82-1BCC051F3FF9}"/>
              </a:ext>
            </a:extLst>
          </p:cNvPr>
          <p:cNvSpPr txBox="1"/>
          <p:nvPr/>
        </p:nvSpPr>
        <p:spPr>
          <a:xfrm>
            <a:off x="801511" y="551808"/>
            <a:ext cx="107470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What is a Long Tail?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 Long Tail means that a small number of requests take significantly longer than most requests.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For example: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Most requests: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100–300 </a:t>
            </a:r>
            <a:r>
              <a:rPr lang="en-US" dirty="0" err="1"/>
              <a:t>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But some requests: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1000–3000 </a:t>
            </a:r>
            <a:r>
              <a:rPr lang="en-US" dirty="0" err="1"/>
              <a:t>ms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637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2D90AB-202D-32B3-BC13-5773D90EFBBF}"/>
              </a:ext>
            </a:extLst>
          </p:cNvPr>
          <p:cNvSpPr txBox="1"/>
          <p:nvPr/>
        </p:nvSpPr>
        <p:spPr>
          <a:xfrm>
            <a:off x="598310" y="641277"/>
            <a:ext cx="1065671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What is CDF?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CDF = Cumulative Distribution Function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It shows the probability that the response time is less than or equal to a specific value.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 other words: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&gt; CDF tells us what percentage of requests were completed within a specific amount of time.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25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E27423-94A6-E9F7-8998-11AC22872690}"/>
              </a:ext>
            </a:extLst>
          </p:cNvPr>
          <p:cNvSpPr txBox="1"/>
          <p:nvPr/>
        </p:nvSpPr>
        <p:spPr>
          <a:xfrm>
            <a:off x="620889" y="384329"/>
            <a:ext cx="100584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 of CDF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Suppose we have:</a:t>
            </a:r>
            <a:br>
              <a:rPr lang="en-US" dirty="0"/>
            </a:br>
            <a:r>
              <a:rPr lang="en-US" dirty="0"/>
              <a:t>Response Time Cumulative Percentage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100 </a:t>
            </a:r>
            <a:r>
              <a:rPr lang="en-US" dirty="0" err="1"/>
              <a:t>ms</a:t>
            </a:r>
            <a:r>
              <a:rPr lang="en-US" dirty="0"/>
              <a:t> 20%</a:t>
            </a:r>
            <a:br>
              <a:rPr lang="en-US" dirty="0"/>
            </a:br>
            <a:r>
              <a:rPr lang="en-US" dirty="0"/>
              <a:t>200 </a:t>
            </a:r>
            <a:r>
              <a:rPr lang="en-US" dirty="0" err="1"/>
              <a:t>ms</a:t>
            </a:r>
            <a:r>
              <a:rPr lang="en-US" dirty="0"/>
              <a:t> 50%</a:t>
            </a:r>
            <a:br>
              <a:rPr lang="en-US" dirty="0"/>
            </a:br>
            <a:r>
              <a:rPr lang="en-US" dirty="0"/>
              <a:t>300 </a:t>
            </a:r>
            <a:r>
              <a:rPr lang="en-US" dirty="0" err="1"/>
              <a:t>ms</a:t>
            </a:r>
            <a:r>
              <a:rPr lang="en-US" dirty="0"/>
              <a:t> 80%</a:t>
            </a:r>
            <a:br>
              <a:rPr lang="en-US" dirty="0"/>
            </a:br>
            <a:r>
              <a:rPr lang="en-US" dirty="0"/>
              <a:t>400 </a:t>
            </a:r>
            <a:r>
              <a:rPr lang="en-US" dirty="0" err="1"/>
              <a:t>ms</a:t>
            </a:r>
            <a:r>
              <a:rPr lang="en-US" dirty="0"/>
              <a:t> 95%</a:t>
            </a:r>
            <a:br>
              <a:rPr lang="en-US" dirty="0"/>
            </a:br>
            <a:r>
              <a:rPr lang="en-US" dirty="0"/>
              <a:t>500 </a:t>
            </a:r>
            <a:r>
              <a:rPr lang="en-US" dirty="0" err="1"/>
              <a:t>ms</a:t>
            </a:r>
            <a:r>
              <a:rPr lang="en-US" dirty="0"/>
              <a:t> 99%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means:</a:t>
            </a:r>
            <a:br>
              <a:rPr lang="en-US" dirty="0"/>
            </a:br>
            <a:r>
              <a:rPr lang="en-US" dirty="0"/>
              <a:t>At 200 </a:t>
            </a:r>
            <a:r>
              <a:rPr lang="en-US" dirty="0" err="1"/>
              <a:t>ms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&gt; 50% of requests were completed within 200 </a:t>
            </a:r>
            <a:r>
              <a:rPr lang="en-US" dirty="0" err="1"/>
              <a:t>ms.</a:t>
            </a:r>
            <a:endParaRPr lang="en-US" dirty="0"/>
          </a:p>
          <a:p>
            <a:br>
              <a:rPr lang="en-US" dirty="0"/>
            </a:br>
            <a:r>
              <a:rPr lang="en-US" dirty="0"/>
              <a:t>At 400 </a:t>
            </a:r>
            <a:r>
              <a:rPr lang="en-US" dirty="0" err="1"/>
              <a:t>ms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&gt; 95% of requests were completed within 400 </a:t>
            </a:r>
            <a:r>
              <a:rPr lang="en-US" dirty="0" err="1"/>
              <a:t>ms.</a:t>
            </a:r>
            <a:endParaRPr lang="en-US" dirty="0"/>
          </a:p>
          <a:p>
            <a:br>
              <a:rPr lang="en-US" dirty="0"/>
            </a:br>
            <a:r>
              <a:rPr lang="en-US" dirty="0"/>
              <a:t>At 500 </a:t>
            </a:r>
            <a:r>
              <a:rPr lang="en-US" dirty="0" err="1"/>
              <a:t>ms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&gt; 99% of requests were completed within 500 </a:t>
            </a:r>
            <a:r>
              <a:rPr lang="en-US" dirty="0" err="1"/>
              <a:t>ms.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3829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3007CF-B4A7-8E52-4099-6F2CAA1F9C34}"/>
              </a:ext>
            </a:extLst>
          </p:cNvPr>
          <p:cNvSpPr txBox="1"/>
          <p:nvPr/>
        </p:nvSpPr>
        <p:spPr>
          <a:xfrm>
            <a:off x="620889" y="128288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1: Enter the Response Times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9748AD-B894-B3AD-29BF-202E824912FC}"/>
              </a:ext>
            </a:extLst>
          </p:cNvPr>
          <p:cNvSpPr txBox="1"/>
          <p:nvPr/>
        </p:nvSpPr>
        <p:spPr>
          <a:xfrm>
            <a:off x="620889" y="156511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2: Copy the Formula Down</a:t>
            </a:r>
            <a:br>
              <a:rPr lang="en-US" dirty="0"/>
            </a:br>
            <a:r>
              <a:rPr lang="en-US" dirty="0"/>
              <a:t>Step 3: Calculate the Cumulative Probability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D4C779-D530-E74E-FD46-E08971F77A83}"/>
              </a:ext>
            </a:extLst>
          </p:cNvPr>
          <p:cNvSpPr txBox="1"/>
          <p:nvPr/>
        </p:nvSpPr>
        <p:spPr>
          <a:xfrm>
            <a:off x="620889" y="21705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Step 4: Convert the Values to Percentages</a:t>
            </a:r>
            <a:br>
              <a:rPr lang="en-US" dirty="0"/>
            </a:b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C91FF3-D52C-B1B2-F258-834A9B46DD66}"/>
              </a:ext>
            </a:extLst>
          </p:cNvPr>
          <p:cNvSpPr txBox="1"/>
          <p:nvPr/>
        </p:nvSpPr>
        <p:spPr>
          <a:xfrm>
            <a:off x="508000" y="58778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How to Create a </a:t>
            </a:r>
            <a:r>
              <a:rPr lang="en-US" b="1" dirty="0"/>
              <a:t>CDF</a:t>
            </a:r>
            <a:r>
              <a:rPr lang="en-US" sz="1800" b="1" dirty="0"/>
              <a:t> in Excel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0347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28EBAC-A41B-FCCE-5A4B-5A7FFC81D894}"/>
              </a:ext>
            </a:extLst>
          </p:cNvPr>
          <p:cNvSpPr txBox="1"/>
          <p:nvPr/>
        </p:nvSpPr>
        <p:spPr>
          <a:xfrm>
            <a:off x="462844" y="169841"/>
            <a:ext cx="108712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Relationship Between CDF and Percentiles</a:t>
            </a:r>
            <a:br>
              <a:rPr lang="en-US" sz="2000" b="1" dirty="0"/>
            </a:br>
            <a:br>
              <a:rPr lang="en-US" dirty="0"/>
            </a:br>
            <a:r>
              <a:rPr lang="en-US" dirty="0"/>
              <a:t>This is a very important point in the lecture.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can obtain Percentiles from the CDF.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look for:</a:t>
            </a:r>
            <a:br>
              <a:rPr lang="en-US" dirty="0"/>
            </a:br>
            <a:r>
              <a:rPr lang="en-US" dirty="0"/>
              <a:t>50% → P50</a:t>
            </a:r>
            <a:br>
              <a:rPr lang="en-US" dirty="0"/>
            </a:br>
            <a:r>
              <a:rPr lang="en-US" dirty="0"/>
              <a:t>95% → P95</a:t>
            </a:r>
            <a:br>
              <a:rPr lang="en-US" dirty="0"/>
            </a:br>
            <a:r>
              <a:rPr lang="en-US" dirty="0"/>
              <a:t>99% → P99</a:t>
            </a:r>
            <a:br>
              <a:rPr lang="en-US" dirty="0"/>
            </a:br>
            <a:br>
              <a:rPr lang="en-US" dirty="0"/>
            </a:br>
            <a:r>
              <a:rPr lang="en-US" dirty="0"/>
              <a:t>For example, if the graph shows: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At 50% → 180 </a:t>
            </a:r>
            <a:r>
              <a:rPr lang="en-US" dirty="0" err="1"/>
              <a:t>ms</a:t>
            </a:r>
            <a:br>
              <a:rPr lang="en-US" dirty="0"/>
            </a:br>
            <a:r>
              <a:rPr lang="en-US" dirty="0"/>
              <a:t>At 95% → 420 </a:t>
            </a:r>
            <a:r>
              <a:rPr lang="en-US" dirty="0" err="1"/>
              <a:t>ms</a:t>
            </a:r>
            <a:br>
              <a:rPr lang="en-US" dirty="0"/>
            </a:br>
            <a:r>
              <a:rPr lang="en-US" dirty="0"/>
              <a:t>At 99% → 700 </a:t>
            </a:r>
            <a:r>
              <a:rPr lang="en-US" dirty="0" err="1"/>
              <a:t>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Then: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&gt; P50 = 180 </a:t>
            </a:r>
            <a:r>
              <a:rPr lang="en-US" dirty="0" err="1"/>
              <a:t>ms</a:t>
            </a:r>
            <a:br>
              <a:rPr lang="en-US" dirty="0"/>
            </a:br>
            <a:r>
              <a:rPr lang="en-US" dirty="0"/>
              <a:t>&gt; P95 = 420 </a:t>
            </a:r>
            <a:r>
              <a:rPr lang="en-US" dirty="0" err="1"/>
              <a:t>ms</a:t>
            </a:r>
            <a:br>
              <a:rPr lang="en-US" dirty="0"/>
            </a:br>
            <a:r>
              <a:rPr lang="en-US" dirty="0"/>
              <a:t>&gt; P99 = 700 </a:t>
            </a:r>
            <a:r>
              <a:rPr lang="en-US" dirty="0" err="1"/>
              <a:t>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505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84E778-0D35-3E1A-5094-C81394525805}"/>
              </a:ext>
            </a:extLst>
          </p:cNvPr>
          <p:cNvSpPr txBox="1"/>
          <p:nvPr/>
        </p:nvSpPr>
        <p:spPr>
          <a:xfrm>
            <a:off x="338666" y="448018"/>
            <a:ext cx="11198578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Difference Between Histogram and CDF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Histogram CDF</a:t>
            </a:r>
            <a:br>
              <a:rPr lang="en-US" dirty="0"/>
            </a:br>
            <a:br>
              <a:rPr lang="en-US" dirty="0"/>
            </a:br>
            <a:r>
              <a:rPr lang="en-US" dirty="0"/>
              <a:t>Shows the distribution of data Shows the cumulative distribution</a:t>
            </a:r>
            <a:br>
              <a:rPr lang="en-US" dirty="0"/>
            </a:br>
            <a:r>
              <a:rPr lang="en-US" dirty="0"/>
              <a:t>Uses bars Uses a curve/line</a:t>
            </a:r>
            <a:br>
              <a:rPr lang="en-US" dirty="0"/>
            </a:br>
            <a:r>
              <a:rPr lang="en-US" dirty="0"/>
              <a:t>Shows where data is concentrated Shows the percentage of data below a specific response time</a:t>
            </a:r>
            <a:br>
              <a:rPr lang="en-US" dirty="0"/>
            </a:br>
            <a:r>
              <a:rPr lang="en-US" dirty="0"/>
              <a:t>Useful for understanding the shape of the distribution Excellent for reading P50/P95/P99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2DB79-E7EA-F113-CD3D-EC138C4F578A}"/>
              </a:ext>
            </a:extLst>
          </p:cNvPr>
          <p:cNvSpPr txBox="1"/>
          <p:nvPr/>
        </p:nvSpPr>
        <p:spPr>
          <a:xfrm>
            <a:off x="338666" y="27826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it is better to use both together.</a:t>
            </a:r>
            <a:br>
              <a:rPr lang="en-US" b="1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3769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1837</Words>
  <Application>Microsoft Office PowerPoint</Application>
  <PresentationFormat>Widescreen</PresentationFormat>
  <Paragraphs>82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Response Time Measurement Units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EGF</dc:creator>
  <cp:lastModifiedBy>EGF</cp:lastModifiedBy>
  <cp:revision>55</cp:revision>
  <dcterms:created xsi:type="dcterms:W3CDTF">2026-08-19T15:48:42Z</dcterms:created>
  <dcterms:modified xsi:type="dcterms:W3CDTF">2026-08-19T20:14:56Z</dcterms:modified>
</cp:coreProperties>
</file>