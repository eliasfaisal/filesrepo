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5"/>
  </p:notesMasterIdLst>
  <p:sldIdLst>
    <p:sldId id="259" r:id="rId2"/>
    <p:sldId id="260" r:id="rId3"/>
    <p:sldId id="258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308" r:id="rId19"/>
    <p:sldId id="276" r:id="rId20"/>
    <p:sldId id="277" r:id="rId21"/>
    <p:sldId id="278" r:id="rId22"/>
    <p:sldId id="279" r:id="rId23"/>
    <p:sldId id="280" r:id="rId24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60" autoAdjust="0"/>
  </p:normalViewPr>
  <p:slideViewPr>
    <p:cSldViewPr>
      <p:cViewPr varScale="1">
        <p:scale>
          <a:sx n="65" d="100"/>
          <a:sy n="65" d="100"/>
        </p:scale>
        <p:origin x="1302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B1F14-2969-4234-94C2-84FB01E3AC7A}" type="datetimeFigureOut">
              <a:rPr lang="en-AU" smtClean="0"/>
              <a:t>2/11/2025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95789E-32BF-4BCD-9509-3BAE69BCF05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923597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0720507"/>
      </p:ext>
    </p:extLst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311BB43-898D-D4CA-D7B7-DF66D8CB7CA5}"/>
              </a:ext>
            </a:extLst>
          </p:cNvPr>
          <p:cNvSpPr/>
          <p:nvPr/>
        </p:nvSpPr>
        <p:spPr>
          <a:xfrm>
            <a:off x="1014413" y="0"/>
            <a:ext cx="8129587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FD344B-D161-771C-B827-276F50716ADF}"/>
              </a:ext>
            </a:extLst>
          </p:cNvPr>
          <p:cNvSpPr/>
          <p:nvPr/>
        </p:nvSpPr>
        <p:spPr bwMode="invGray">
          <a:xfrm>
            <a:off x="1014413" y="0"/>
            <a:ext cx="73025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CA1F8F51-D2FB-5D2A-050B-D521B7236B15}"/>
              </a:ext>
            </a:extLst>
          </p:cNvPr>
          <p:cNvSpPr txBox="1">
            <a:spLocks noChangeArrowheads="1"/>
          </p:cNvSpPr>
          <p:nvPr/>
        </p:nvSpPr>
        <p:spPr>
          <a:xfrm>
            <a:off x="0" y="76200"/>
            <a:ext cx="9144000" cy="1143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marL="571500" indent="-571500">
              <a:defRPr/>
            </a:pPr>
            <a:r>
              <a:rPr lang="en-US" altLang="en-GB" sz="3200" kern="0" dirty="0">
                <a:solidFill>
                  <a:srgbClr val="FF0000"/>
                </a:solidFill>
                <a:latin typeface="Segoe Print" pitchFamily="2" charset="0"/>
              </a:rPr>
              <a:t>    Introduction</a:t>
            </a:r>
            <a:r>
              <a:rPr lang="en-US" altLang="en-GB" sz="2800" kern="0" dirty="0">
                <a:solidFill>
                  <a:srgbClr val="FF0000"/>
                </a:solidFill>
                <a:latin typeface="Segoe Print" pitchFamily="2" charset="0"/>
              </a:rPr>
              <a:t> </a:t>
            </a:r>
            <a:r>
              <a:rPr lang="en-US" altLang="en-GB" sz="2400" kern="0" dirty="0">
                <a:solidFill>
                  <a:srgbClr val="FF0000"/>
                </a:solidFill>
                <a:latin typeface="Algerian" pitchFamily="82" charset="0"/>
              </a:rPr>
              <a:t>                 </a:t>
            </a:r>
            <a:r>
              <a:rPr lang="en-US" altLang="en-GB" sz="2000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Objectives of the study</a:t>
            </a:r>
            <a:endParaRPr lang="en-US" altLang="en-GB" sz="2000" kern="0" dirty="0">
              <a:solidFill>
                <a:schemeClr val="bg1">
                  <a:lumMod val="85000"/>
                </a:schemeClr>
              </a:solidFill>
              <a:latin typeface="Algerian" pitchFamily="82" charset="0"/>
            </a:endParaRPr>
          </a:p>
          <a:p>
            <a:pPr marL="571500" indent="-571500">
              <a:defRPr/>
            </a:pPr>
            <a:r>
              <a:rPr lang="en-US" altLang="en-GB" sz="2000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         Related work                                  Research methodology</a:t>
            </a:r>
          </a:p>
          <a:p>
            <a:pPr marL="571500" indent="-571500">
              <a:defRPr/>
            </a:pPr>
            <a:r>
              <a:rPr lang="en-US" altLang="en-GB" sz="2000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         Problem statement                      Work plan     </a:t>
            </a:r>
            <a:r>
              <a:rPr lang="en-US" altLang="en-GB" sz="2000" b="0" kern="0" dirty="0" err="1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Refrences</a:t>
            </a:r>
            <a:endParaRPr lang="en-US" altLang="en-GB" sz="2000" b="0" kern="0" dirty="0">
              <a:solidFill>
                <a:schemeClr val="bg1">
                  <a:lumMod val="85000"/>
                </a:schemeClr>
              </a:solidFill>
              <a:latin typeface="Algerian" pitchFamily="82" charset="0"/>
            </a:endParaRPr>
          </a:p>
          <a:p>
            <a:pPr marL="571500" indent="-571500">
              <a:defRPr/>
            </a:pPr>
            <a:endParaRPr lang="en-US" altLang="en-GB" sz="2400" b="0" kern="0" dirty="0">
              <a:solidFill>
                <a:prstClr val="black"/>
              </a:solidFill>
              <a:latin typeface="Algerian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5572436"/>
      </p:ext>
    </p:extLst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related wo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A3BEB6F-26AA-3739-742F-E78F7BB77551}"/>
              </a:ext>
            </a:extLst>
          </p:cNvPr>
          <p:cNvSpPr/>
          <p:nvPr/>
        </p:nvSpPr>
        <p:spPr>
          <a:xfrm>
            <a:off x="1014413" y="0"/>
            <a:ext cx="8129587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DF9FA1-A84B-27E0-8BEB-DEEA118B8DC8}"/>
              </a:ext>
            </a:extLst>
          </p:cNvPr>
          <p:cNvSpPr/>
          <p:nvPr/>
        </p:nvSpPr>
        <p:spPr bwMode="invGray">
          <a:xfrm>
            <a:off x="1014413" y="0"/>
            <a:ext cx="73025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2A895A9A-5AC7-7C82-E54B-A6CAE15A8892}"/>
              </a:ext>
            </a:extLst>
          </p:cNvPr>
          <p:cNvSpPr txBox="1">
            <a:spLocks noChangeArrowheads="1"/>
          </p:cNvSpPr>
          <p:nvPr/>
        </p:nvSpPr>
        <p:spPr>
          <a:xfrm>
            <a:off x="0" y="76200"/>
            <a:ext cx="9144000" cy="1143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marL="571500" indent="-571500">
              <a:defRPr/>
            </a:pPr>
            <a:r>
              <a:rPr lang="en-US" altLang="en-GB" sz="2400" kern="0" dirty="0">
                <a:solidFill>
                  <a:srgbClr val="FF0000"/>
                </a:solidFill>
                <a:latin typeface="Algerian" pitchFamily="82" charset="0"/>
              </a:rPr>
              <a:t>        </a:t>
            </a:r>
            <a:r>
              <a:rPr lang="en-US" altLang="en-GB" sz="2400" b="0" kern="0" dirty="0">
                <a:solidFill>
                  <a:schemeClr val="bg1">
                    <a:lumMod val="65000"/>
                  </a:schemeClr>
                </a:solidFill>
                <a:latin typeface="Algerian" pitchFamily="82" charset="0"/>
              </a:rPr>
              <a:t> </a:t>
            </a:r>
            <a:r>
              <a:rPr lang="en-US" altLang="en-GB" sz="2000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Introduction </a:t>
            </a:r>
            <a:r>
              <a:rPr lang="en-US" altLang="en-GB" sz="2000" b="0" kern="0" dirty="0">
                <a:solidFill>
                  <a:schemeClr val="bg1">
                    <a:lumMod val="65000"/>
                  </a:schemeClr>
                </a:solidFill>
                <a:latin typeface="Algerian" pitchFamily="82" charset="0"/>
              </a:rPr>
              <a:t>                                         </a:t>
            </a:r>
            <a:r>
              <a:rPr lang="en-US" altLang="en-GB" sz="2000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Objectives of the study</a:t>
            </a:r>
            <a:endParaRPr lang="en-US" altLang="en-GB" sz="2400" kern="0" dirty="0">
              <a:solidFill>
                <a:schemeClr val="bg1">
                  <a:lumMod val="85000"/>
                </a:schemeClr>
              </a:solidFill>
              <a:latin typeface="Algerian" pitchFamily="82" charset="0"/>
            </a:endParaRPr>
          </a:p>
          <a:p>
            <a:pPr marL="571500" indent="-571500">
              <a:defRPr/>
            </a:pPr>
            <a:r>
              <a:rPr lang="en-US" altLang="en-GB" sz="2400" b="0" kern="0" dirty="0">
                <a:solidFill>
                  <a:schemeClr val="bg1">
                    <a:lumMod val="65000"/>
                  </a:schemeClr>
                </a:solidFill>
                <a:latin typeface="Algerian" pitchFamily="82" charset="0"/>
              </a:rPr>
              <a:t>         </a:t>
            </a:r>
            <a:r>
              <a:rPr lang="en-US" altLang="en-GB" sz="3200" kern="0" dirty="0">
                <a:solidFill>
                  <a:srgbClr val="FF0000"/>
                </a:solidFill>
                <a:latin typeface="Segoe Print" pitchFamily="2" charset="0"/>
              </a:rPr>
              <a:t>Related work</a:t>
            </a:r>
            <a:r>
              <a:rPr lang="en-US" altLang="en-GB" sz="2400" b="0" kern="0" dirty="0">
                <a:solidFill>
                  <a:schemeClr val="bg1">
                    <a:lumMod val="65000"/>
                  </a:schemeClr>
                </a:solidFill>
                <a:latin typeface="Algerian" pitchFamily="82" charset="0"/>
              </a:rPr>
              <a:t>                     </a:t>
            </a:r>
            <a:r>
              <a:rPr lang="en-US" altLang="en-GB" sz="2000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Research methodology</a:t>
            </a:r>
          </a:p>
          <a:p>
            <a:pPr marL="571500" indent="-571500">
              <a:defRPr/>
            </a:pPr>
            <a:r>
              <a:rPr lang="en-US" altLang="en-GB" sz="2000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           Problem statement                           Work plan     </a:t>
            </a:r>
            <a:r>
              <a:rPr lang="en-US" altLang="en-GB" sz="2000" b="0" kern="0" dirty="0" err="1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Refrences</a:t>
            </a:r>
            <a:endParaRPr lang="en-US" altLang="en-GB" sz="2000" b="0" kern="0" dirty="0">
              <a:solidFill>
                <a:schemeClr val="bg1">
                  <a:lumMod val="85000"/>
                </a:schemeClr>
              </a:solidFill>
              <a:latin typeface="Algerian" pitchFamily="82" charset="0"/>
            </a:endParaRPr>
          </a:p>
          <a:p>
            <a:pPr marL="571500" indent="-571500">
              <a:defRPr/>
            </a:pPr>
            <a:endParaRPr lang="en-US" altLang="en-GB" sz="2400" b="0" kern="0" dirty="0">
              <a:solidFill>
                <a:prstClr val="black"/>
              </a:solidFill>
              <a:latin typeface="Algerian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0238750"/>
      </p:ext>
    </p:extLst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pro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E41078F-0EB9-9BC9-F90A-7BD181E5CC26}"/>
              </a:ext>
            </a:extLst>
          </p:cNvPr>
          <p:cNvSpPr/>
          <p:nvPr/>
        </p:nvSpPr>
        <p:spPr>
          <a:xfrm>
            <a:off x="1014413" y="0"/>
            <a:ext cx="8129587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DB9D67-9920-1F9B-E932-63BB1F4490D1}"/>
              </a:ext>
            </a:extLst>
          </p:cNvPr>
          <p:cNvSpPr/>
          <p:nvPr/>
        </p:nvSpPr>
        <p:spPr bwMode="invGray">
          <a:xfrm>
            <a:off x="1014413" y="0"/>
            <a:ext cx="73025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97784FE8-573F-EB94-C735-5369A56272E2}"/>
              </a:ext>
            </a:extLst>
          </p:cNvPr>
          <p:cNvSpPr txBox="1">
            <a:spLocks noChangeArrowheads="1"/>
          </p:cNvSpPr>
          <p:nvPr/>
        </p:nvSpPr>
        <p:spPr>
          <a:xfrm>
            <a:off x="0" y="76200"/>
            <a:ext cx="9144000" cy="1143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marL="571500" indent="-571500">
              <a:defRPr/>
            </a:pPr>
            <a:r>
              <a:rPr lang="en-US" altLang="en-GB" sz="2400" b="0" kern="0" dirty="0">
                <a:solidFill>
                  <a:schemeClr val="bg1">
                    <a:lumMod val="65000"/>
                  </a:schemeClr>
                </a:solidFill>
                <a:latin typeface="Algerian" pitchFamily="82" charset="0"/>
              </a:rPr>
              <a:t>         </a:t>
            </a:r>
            <a:r>
              <a:rPr lang="en-US" altLang="en-GB" sz="2000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Introduction                                                Objectives of the study</a:t>
            </a:r>
            <a:endParaRPr lang="en-US" altLang="en-GB" sz="2000" kern="0" dirty="0">
              <a:solidFill>
                <a:schemeClr val="bg1">
                  <a:lumMod val="85000"/>
                </a:schemeClr>
              </a:solidFill>
              <a:latin typeface="Algerian" pitchFamily="82" charset="0"/>
            </a:endParaRPr>
          </a:p>
          <a:p>
            <a:pPr marL="571500" indent="-571500">
              <a:defRPr/>
            </a:pPr>
            <a:r>
              <a:rPr lang="en-US" altLang="en-GB" sz="2000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           Related work                                             Research methodology</a:t>
            </a:r>
          </a:p>
          <a:p>
            <a:pPr marL="571500" indent="-571500">
              <a:defRPr/>
            </a:pPr>
            <a:r>
              <a:rPr lang="en-US" altLang="en-GB" sz="2400" b="0" kern="0" dirty="0">
                <a:solidFill>
                  <a:schemeClr val="bg1">
                    <a:lumMod val="65000"/>
                  </a:schemeClr>
                </a:solidFill>
                <a:latin typeface="Algerian" pitchFamily="82" charset="0"/>
              </a:rPr>
              <a:t>         </a:t>
            </a:r>
            <a:r>
              <a:rPr lang="en-US" altLang="en-GB" sz="3200" kern="0" dirty="0">
                <a:solidFill>
                  <a:srgbClr val="FF0000"/>
                </a:solidFill>
                <a:latin typeface="Segoe Print" pitchFamily="2" charset="0"/>
              </a:rPr>
              <a:t>Problem statement</a:t>
            </a:r>
            <a:r>
              <a:rPr lang="en-US" altLang="en-GB" sz="3200" b="0" kern="0" dirty="0">
                <a:solidFill>
                  <a:schemeClr val="bg1">
                    <a:lumMod val="65000"/>
                  </a:schemeClr>
                </a:solidFill>
                <a:latin typeface="Segoe Print" pitchFamily="2" charset="0"/>
              </a:rPr>
              <a:t> </a:t>
            </a:r>
            <a:r>
              <a:rPr lang="en-US" altLang="en-GB" sz="2400" b="0" kern="0" dirty="0">
                <a:solidFill>
                  <a:schemeClr val="bg1">
                    <a:lumMod val="65000"/>
                  </a:schemeClr>
                </a:solidFill>
                <a:latin typeface="Segoe Print" pitchFamily="2" charset="0"/>
              </a:rPr>
              <a:t> </a:t>
            </a:r>
            <a:r>
              <a:rPr lang="en-US" altLang="en-GB" sz="2400" b="0" kern="0" dirty="0">
                <a:solidFill>
                  <a:schemeClr val="bg1">
                    <a:lumMod val="65000"/>
                  </a:schemeClr>
                </a:solidFill>
                <a:latin typeface="Algerian" pitchFamily="82" charset="0"/>
              </a:rPr>
              <a:t>     </a:t>
            </a:r>
            <a:r>
              <a:rPr lang="en-US" altLang="en-GB" sz="2000" b="0" kern="0" dirty="0">
                <a:solidFill>
                  <a:schemeClr val="bg1">
                    <a:lumMod val="65000"/>
                  </a:schemeClr>
                </a:solidFill>
                <a:latin typeface="Algerian" pitchFamily="82" charset="0"/>
              </a:rPr>
              <a:t>   </a:t>
            </a:r>
            <a:r>
              <a:rPr lang="en-US" altLang="en-GB" sz="2000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Work plan      </a:t>
            </a:r>
            <a:r>
              <a:rPr lang="en-US" altLang="en-GB" sz="2000" b="0" kern="0" dirty="0" err="1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Refrences</a:t>
            </a:r>
            <a:endParaRPr lang="en-US" altLang="en-GB" sz="2400" b="0" kern="0" dirty="0">
              <a:solidFill>
                <a:schemeClr val="bg1">
                  <a:lumMod val="85000"/>
                </a:schemeClr>
              </a:solidFill>
              <a:latin typeface="Algerian" pitchFamily="82" charset="0"/>
            </a:endParaRPr>
          </a:p>
          <a:p>
            <a:pPr marL="571500" indent="-571500">
              <a:defRPr/>
            </a:pPr>
            <a:endParaRPr lang="en-US" altLang="en-GB" sz="2400" b="0" kern="0" dirty="0">
              <a:solidFill>
                <a:prstClr val="black"/>
              </a:solidFill>
              <a:latin typeface="Algerian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9202481"/>
      </p:ext>
    </p:extLst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objec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AE657F5-ABCF-B56E-5DF5-22304909803B}"/>
              </a:ext>
            </a:extLst>
          </p:cNvPr>
          <p:cNvSpPr/>
          <p:nvPr/>
        </p:nvSpPr>
        <p:spPr>
          <a:xfrm>
            <a:off x="1014413" y="0"/>
            <a:ext cx="8129587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D7CC16-746E-A702-73B2-293B8A5821CF}"/>
              </a:ext>
            </a:extLst>
          </p:cNvPr>
          <p:cNvSpPr/>
          <p:nvPr/>
        </p:nvSpPr>
        <p:spPr bwMode="invGray">
          <a:xfrm>
            <a:off x="1014413" y="0"/>
            <a:ext cx="73025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6D16B77-BF77-411B-1FFE-8491DDFE0F0F}"/>
              </a:ext>
            </a:extLst>
          </p:cNvPr>
          <p:cNvSpPr txBox="1">
            <a:spLocks noChangeArrowheads="1"/>
          </p:cNvSpPr>
          <p:nvPr/>
        </p:nvSpPr>
        <p:spPr>
          <a:xfrm>
            <a:off x="0" y="76200"/>
            <a:ext cx="9144000" cy="1143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marL="571500" indent="-571500">
              <a:defRPr/>
            </a:pPr>
            <a:r>
              <a:rPr lang="en-US" altLang="en-GB" sz="2400" b="0" kern="0" dirty="0">
                <a:solidFill>
                  <a:schemeClr val="bg1">
                    <a:lumMod val="65000"/>
                  </a:schemeClr>
                </a:solidFill>
                <a:latin typeface="Algerian" pitchFamily="82" charset="0"/>
              </a:rPr>
              <a:t>        </a:t>
            </a:r>
            <a:r>
              <a:rPr lang="en-US" altLang="en-GB" sz="2400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 </a:t>
            </a:r>
            <a:r>
              <a:rPr lang="en-US" altLang="en-GB" sz="2000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Introduction</a:t>
            </a:r>
            <a:r>
              <a:rPr lang="en-US" altLang="en-GB" sz="2400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                     </a:t>
            </a:r>
            <a:r>
              <a:rPr lang="en-US" altLang="en-GB" sz="240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 </a:t>
            </a:r>
            <a:r>
              <a:rPr lang="en-US" altLang="en-GB" sz="3200" kern="0" dirty="0">
                <a:solidFill>
                  <a:srgbClr val="FF0000"/>
                </a:solidFill>
                <a:latin typeface="Segoe Print" pitchFamily="2" charset="0"/>
              </a:rPr>
              <a:t>Objectives of the study</a:t>
            </a:r>
            <a:endParaRPr lang="en-US" altLang="en-GB" sz="2400" kern="0" dirty="0">
              <a:solidFill>
                <a:srgbClr val="FF0000"/>
              </a:solidFill>
              <a:latin typeface="Segoe Print" pitchFamily="2" charset="0"/>
            </a:endParaRPr>
          </a:p>
          <a:p>
            <a:pPr marL="571500" indent="-571500">
              <a:defRPr/>
            </a:pPr>
            <a:r>
              <a:rPr lang="en-US" altLang="en-GB" sz="2400" b="0" kern="0" dirty="0">
                <a:solidFill>
                  <a:schemeClr val="bg1">
                    <a:lumMod val="65000"/>
                  </a:schemeClr>
                </a:solidFill>
                <a:latin typeface="Algerian" pitchFamily="82" charset="0"/>
              </a:rPr>
              <a:t>         </a:t>
            </a:r>
            <a:r>
              <a:rPr lang="en-US" altLang="en-GB" sz="2000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Related work                        Research methodology</a:t>
            </a:r>
          </a:p>
          <a:p>
            <a:pPr marL="571500" indent="-571500">
              <a:defRPr/>
            </a:pPr>
            <a:r>
              <a:rPr lang="en-US" altLang="en-GB" sz="2000" b="0" kern="0" dirty="0">
                <a:solidFill>
                  <a:schemeClr val="bg1">
                    <a:lumMod val="65000"/>
                  </a:schemeClr>
                </a:solidFill>
                <a:latin typeface="Algerian" pitchFamily="82" charset="0"/>
              </a:rPr>
              <a:t>           </a:t>
            </a:r>
            <a:r>
              <a:rPr lang="en-US" altLang="en-GB" sz="2000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Problem statement             Work plan     </a:t>
            </a:r>
            <a:r>
              <a:rPr lang="en-US" altLang="en-GB" sz="2000" b="0" kern="0" dirty="0" err="1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Refrences</a:t>
            </a:r>
            <a:endParaRPr lang="en-US" altLang="en-GB" sz="2000" b="0" kern="0" dirty="0">
              <a:solidFill>
                <a:schemeClr val="bg1">
                  <a:lumMod val="85000"/>
                </a:schemeClr>
              </a:solidFill>
              <a:latin typeface="Algerian" pitchFamily="82" charset="0"/>
            </a:endParaRPr>
          </a:p>
          <a:p>
            <a:pPr marL="571500" indent="-571500">
              <a:defRPr/>
            </a:pPr>
            <a:endParaRPr lang="en-US" altLang="en-GB" sz="2400" b="0" kern="0" dirty="0">
              <a:solidFill>
                <a:prstClr val="black"/>
              </a:solidFill>
              <a:latin typeface="Algerian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9403479"/>
      </p:ext>
    </p:extLst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methodol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85E4FA2-8F2E-CC25-5CDB-72CAC798373C}"/>
              </a:ext>
            </a:extLst>
          </p:cNvPr>
          <p:cNvSpPr/>
          <p:nvPr/>
        </p:nvSpPr>
        <p:spPr>
          <a:xfrm>
            <a:off x="1014413" y="0"/>
            <a:ext cx="8129587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26AE49-3FC1-99CE-019E-14DDE94904E6}"/>
              </a:ext>
            </a:extLst>
          </p:cNvPr>
          <p:cNvSpPr/>
          <p:nvPr/>
        </p:nvSpPr>
        <p:spPr bwMode="invGray">
          <a:xfrm>
            <a:off x="1014413" y="0"/>
            <a:ext cx="73025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F941A52E-4222-9FD7-599B-F4600094736A}"/>
              </a:ext>
            </a:extLst>
          </p:cNvPr>
          <p:cNvSpPr txBox="1">
            <a:spLocks noChangeArrowheads="1"/>
          </p:cNvSpPr>
          <p:nvPr/>
        </p:nvSpPr>
        <p:spPr>
          <a:xfrm>
            <a:off x="0" y="76200"/>
            <a:ext cx="9144000" cy="1066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marL="571500" indent="-571500">
              <a:defRPr/>
            </a:pPr>
            <a:r>
              <a:rPr lang="en-US" altLang="en-GB" sz="2000" b="0" kern="0" dirty="0">
                <a:solidFill>
                  <a:schemeClr val="bg1">
                    <a:lumMod val="65000"/>
                  </a:schemeClr>
                </a:solidFill>
                <a:latin typeface="Algerian" pitchFamily="82" charset="0"/>
              </a:rPr>
              <a:t>         </a:t>
            </a:r>
            <a:r>
              <a:rPr lang="en-US" altLang="en-GB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Introduction                              </a:t>
            </a:r>
            <a:r>
              <a:rPr lang="en-US" altLang="en-GB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 </a:t>
            </a:r>
            <a:r>
              <a:rPr lang="en-US" altLang="en-GB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Objectives of the study</a:t>
            </a:r>
            <a:endParaRPr lang="en-US" altLang="en-GB" sz="2000" b="0" kern="0" dirty="0">
              <a:solidFill>
                <a:schemeClr val="bg1">
                  <a:lumMod val="85000"/>
                </a:schemeClr>
              </a:solidFill>
              <a:latin typeface="Algerian" pitchFamily="82" charset="0"/>
            </a:endParaRPr>
          </a:p>
          <a:p>
            <a:pPr marL="571500" indent="-571500">
              <a:defRPr/>
            </a:pPr>
            <a:r>
              <a:rPr lang="en-US" altLang="en-GB" sz="2000" b="0" kern="0" dirty="0">
                <a:solidFill>
                  <a:schemeClr val="bg1">
                    <a:lumMod val="65000"/>
                  </a:schemeClr>
                </a:solidFill>
                <a:latin typeface="Algerian" pitchFamily="82" charset="0"/>
              </a:rPr>
              <a:t>         </a:t>
            </a:r>
            <a:r>
              <a:rPr lang="en-US" altLang="en-GB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Related work</a:t>
            </a:r>
            <a:r>
              <a:rPr lang="en-US" altLang="en-GB" sz="2000" b="0" kern="0" dirty="0">
                <a:solidFill>
                  <a:schemeClr val="bg1">
                    <a:lumMod val="65000"/>
                  </a:schemeClr>
                </a:solidFill>
                <a:latin typeface="Algerian" pitchFamily="82" charset="0"/>
              </a:rPr>
              <a:t>                      </a:t>
            </a:r>
            <a:r>
              <a:rPr lang="en-US" altLang="en-GB" sz="2000" kern="0" dirty="0">
                <a:solidFill>
                  <a:srgbClr val="FF0000"/>
                </a:solidFill>
                <a:latin typeface="Algerian" pitchFamily="82" charset="0"/>
              </a:rPr>
              <a:t>    </a:t>
            </a:r>
            <a:r>
              <a:rPr lang="en-US" altLang="en-GB" sz="2800" kern="0" dirty="0">
                <a:solidFill>
                  <a:srgbClr val="FF0000"/>
                </a:solidFill>
                <a:latin typeface="Segoe Print" pitchFamily="2" charset="0"/>
              </a:rPr>
              <a:t>Research methodology</a:t>
            </a:r>
          </a:p>
          <a:p>
            <a:pPr marL="571500" indent="-571500">
              <a:defRPr/>
            </a:pPr>
            <a:r>
              <a:rPr lang="en-US" altLang="en-GB" sz="2000" b="0" kern="0" dirty="0">
                <a:solidFill>
                  <a:schemeClr val="bg1">
                    <a:lumMod val="65000"/>
                  </a:schemeClr>
                </a:solidFill>
                <a:latin typeface="Algerian" pitchFamily="82" charset="0"/>
              </a:rPr>
              <a:t>         </a:t>
            </a:r>
            <a:r>
              <a:rPr lang="en-US" altLang="en-GB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Problem statement                 Work plan       </a:t>
            </a:r>
            <a:r>
              <a:rPr lang="en-US" altLang="en-GB" b="0" kern="0" dirty="0" err="1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Refrences</a:t>
            </a:r>
            <a:endParaRPr lang="en-US" altLang="en-GB" b="0" kern="0" dirty="0">
              <a:solidFill>
                <a:schemeClr val="bg1">
                  <a:lumMod val="85000"/>
                </a:schemeClr>
              </a:solidFill>
              <a:latin typeface="Algerian" pitchFamily="82" charset="0"/>
            </a:endParaRPr>
          </a:p>
          <a:p>
            <a:pPr marL="571500" indent="-571500">
              <a:defRPr/>
            </a:pPr>
            <a:endParaRPr lang="en-US" altLang="en-GB" sz="2000" b="0" kern="0" dirty="0">
              <a:solidFill>
                <a:prstClr val="black"/>
              </a:solidFill>
              <a:latin typeface="Algerian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2714406"/>
      </p:ext>
    </p:extLst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work 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8709020-6A3D-91DE-9288-A2C1495B7E86}"/>
              </a:ext>
            </a:extLst>
          </p:cNvPr>
          <p:cNvSpPr/>
          <p:nvPr/>
        </p:nvSpPr>
        <p:spPr>
          <a:xfrm>
            <a:off x="1014413" y="0"/>
            <a:ext cx="8129587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3C77B4-BD02-E441-DE59-0FDA71DB657F}"/>
              </a:ext>
            </a:extLst>
          </p:cNvPr>
          <p:cNvSpPr/>
          <p:nvPr/>
        </p:nvSpPr>
        <p:spPr bwMode="invGray">
          <a:xfrm>
            <a:off x="1014413" y="0"/>
            <a:ext cx="73025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45587A5F-841D-3CD2-E740-32C20433E181}"/>
              </a:ext>
            </a:extLst>
          </p:cNvPr>
          <p:cNvSpPr txBox="1">
            <a:spLocks noChangeArrowheads="1"/>
          </p:cNvSpPr>
          <p:nvPr/>
        </p:nvSpPr>
        <p:spPr>
          <a:xfrm>
            <a:off x="0" y="76200"/>
            <a:ext cx="9144000" cy="1143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marL="571500" indent="-571500">
              <a:defRPr/>
            </a:pPr>
            <a:r>
              <a:rPr lang="en-US" altLang="en-GB" sz="2400" b="0" kern="0" dirty="0">
                <a:solidFill>
                  <a:schemeClr val="bg1">
                    <a:lumMod val="65000"/>
                  </a:schemeClr>
                </a:solidFill>
                <a:latin typeface="Algerian" pitchFamily="82" charset="0"/>
              </a:rPr>
              <a:t>        </a:t>
            </a:r>
            <a:r>
              <a:rPr lang="en-US" altLang="en-GB" sz="2000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Introduction                       </a:t>
            </a:r>
            <a:r>
              <a:rPr lang="en-US" altLang="en-GB" sz="200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 </a:t>
            </a:r>
            <a:r>
              <a:rPr lang="en-US" altLang="en-GB" sz="2000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Objectives of the study</a:t>
            </a:r>
          </a:p>
          <a:p>
            <a:pPr marL="571500" indent="-571500">
              <a:defRPr/>
            </a:pPr>
            <a:r>
              <a:rPr lang="en-US" altLang="en-GB" sz="2000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         Related work                     </a:t>
            </a:r>
            <a:r>
              <a:rPr lang="en-US" altLang="en-GB" sz="200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 </a:t>
            </a:r>
            <a:r>
              <a:rPr lang="en-US" altLang="en-GB" sz="2000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Research methodology</a:t>
            </a:r>
          </a:p>
          <a:p>
            <a:pPr marL="571500" indent="-571500">
              <a:defRPr/>
            </a:pPr>
            <a:r>
              <a:rPr lang="en-US" altLang="en-GB" sz="2000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         Problem statement           </a:t>
            </a:r>
            <a:r>
              <a:rPr lang="en-US" altLang="en-GB" sz="3000" kern="0" dirty="0">
                <a:solidFill>
                  <a:srgbClr val="FF0000"/>
                </a:solidFill>
                <a:latin typeface="Segoe Print" pitchFamily="2" charset="0"/>
              </a:rPr>
              <a:t>Work plan</a:t>
            </a:r>
            <a:r>
              <a:rPr lang="en-US" altLang="en-GB" sz="2400" b="0" kern="0" dirty="0">
                <a:solidFill>
                  <a:schemeClr val="bg1">
                    <a:lumMod val="65000"/>
                  </a:schemeClr>
                </a:solidFill>
                <a:latin typeface="Segoe Print" pitchFamily="2" charset="0"/>
              </a:rPr>
              <a:t>      </a:t>
            </a:r>
            <a:r>
              <a:rPr lang="en-US" altLang="en-GB" sz="2000" b="0" kern="0" dirty="0" err="1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Refrences</a:t>
            </a:r>
            <a:endParaRPr lang="en-US" altLang="en-GB" sz="2400" b="0" kern="0" dirty="0">
              <a:solidFill>
                <a:schemeClr val="bg1">
                  <a:lumMod val="85000"/>
                </a:schemeClr>
              </a:solidFill>
              <a:latin typeface="Algerian" pitchFamily="82" charset="0"/>
            </a:endParaRPr>
          </a:p>
          <a:p>
            <a:pPr marL="571500" indent="-571500">
              <a:defRPr/>
            </a:pPr>
            <a:endParaRPr lang="en-US" altLang="en-GB" sz="2400" b="0" kern="0" dirty="0">
              <a:solidFill>
                <a:prstClr val="black"/>
              </a:solidFill>
              <a:latin typeface="Algerian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2501638"/>
      </p:ext>
    </p:extLst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refer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0F5E156-6C5A-6C3A-417B-9254F74C2B84}"/>
              </a:ext>
            </a:extLst>
          </p:cNvPr>
          <p:cNvSpPr/>
          <p:nvPr/>
        </p:nvSpPr>
        <p:spPr>
          <a:xfrm>
            <a:off x="1014413" y="0"/>
            <a:ext cx="8129587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32A57EF-2C10-3C8F-6BD4-A1D2EC6E5F36}"/>
              </a:ext>
            </a:extLst>
          </p:cNvPr>
          <p:cNvSpPr/>
          <p:nvPr/>
        </p:nvSpPr>
        <p:spPr bwMode="invGray">
          <a:xfrm>
            <a:off x="1014413" y="0"/>
            <a:ext cx="73025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2BB983D-D5D4-0627-5202-83B92B39FF74}"/>
              </a:ext>
            </a:extLst>
          </p:cNvPr>
          <p:cNvSpPr txBox="1">
            <a:spLocks noChangeArrowheads="1"/>
          </p:cNvSpPr>
          <p:nvPr/>
        </p:nvSpPr>
        <p:spPr>
          <a:xfrm>
            <a:off x="0" y="76200"/>
            <a:ext cx="9144000" cy="1143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marL="571500" indent="-571500">
              <a:defRPr/>
            </a:pPr>
            <a:r>
              <a:rPr lang="en-US" altLang="en-GB" sz="2400" b="0" kern="0" dirty="0">
                <a:solidFill>
                  <a:schemeClr val="bg1">
                    <a:lumMod val="65000"/>
                  </a:schemeClr>
                </a:solidFill>
                <a:latin typeface="Algerian" pitchFamily="82" charset="0"/>
              </a:rPr>
              <a:t>        </a:t>
            </a:r>
            <a:r>
              <a:rPr lang="en-US" altLang="en-GB" sz="2000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Introduction                     </a:t>
            </a:r>
            <a:r>
              <a:rPr lang="en-US" altLang="en-GB" sz="200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   </a:t>
            </a:r>
            <a:r>
              <a:rPr lang="en-US" altLang="en-GB" sz="2000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Objectives of the study</a:t>
            </a:r>
          </a:p>
          <a:p>
            <a:pPr marL="571500" indent="-571500">
              <a:defRPr/>
            </a:pPr>
            <a:r>
              <a:rPr lang="en-US" altLang="en-GB" sz="2000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         Related work                    </a:t>
            </a:r>
            <a:r>
              <a:rPr lang="en-US" altLang="en-GB" sz="200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  </a:t>
            </a:r>
            <a:r>
              <a:rPr lang="en-US" altLang="en-GB" sz="2000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Research methodology</a:t>
            </a:r>
          </a:p>
          <a:p>
            <a:pPr marL="571500" indent="-571500">
              <a:defRPr/>
            </a:pPr>
            <a:r>
              <a:rPr lang="en-US" altLang="en-GB" sz="2000" b="0" kern="0" dirty="0">
                <a:solidFill>
                  <a:schemeClr val="bg1">
                    <a:lumMod val="85000"/>
                  </a:schemeClr>
                </a:solidFill>
                <a:latin typeface="Algerian" pitchFamily="82" charset="0"/>
              </a:rPr>
              <a:t>         Problem statement           Work plan         </a:t>
            </a:r>
            <a:r>
              <a:rPr lang="en-US" altLang="en-GB" sz="3200" kern="0" dirty="0" err="1">
                <a:solidFill>
                  <a:srgbClr val="FF0000"/>
                </a:solidFill>
                <a:latin typeface="Segoe Print" pitchFamily="2" charset="0"/>
              </a:rPr>
              <a:t>Refrences</a:t>
            </a:r>
            <a:endParaRPr lang="en-US" altLang="en-GB" sz="3200" kern="0" dirty="0">
              <a:solidFill>
                <a:srgbClr val="FF0000"/>
              </a:solidFill>
              <a:latin typeface="Segoe Print" pitchFamily="2" charset="0"/>
            </a:endParaRPr>
          </a:p>
          <a:p>
            <a:pPr marL="571500" indent="-571500">
              <a:defRPr/>
            </a:pPr>
            <a:endParaRPr lang="en-US" altLang="en-GB" sz="2400" b="0" kern="0" dirty="0">
              <a:solidFill>
                <a:prstClr val="black"/>
              </a:solidFill>
              <a:latin typeface="Algerian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772062"/>
      </p:ext>
    </p:extLst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600" y="274638"/>
            <a:ext cx="7715200" cy="7780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021165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e 6">
            <a:extLst>
              <a:ext uri="{FF2B5EF4-FFF2-40B4-BE49-F238E27FC236}">
                <a16:creationId xmlns:a16="http://schemas.microsoft.com/office/drawing/2014/main" id="{7EC3E86A-A1B6-BA90-88F4-F827C2388432}"/>
              </a:ext>
            </a:extLst>
          </p:cNvPr>
          <p:cNvSpPr/>
          <p:nvPr/>
        </p:nvSpPr>
        <p:spPr>
          <a:xfrm>
            <a:off x="-815975" y="-815975"/>
            <a:ext cx="1638300" cy="16383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BF228D5-576D-0E2B-7339-06B4983EDE32}"/>
              </a:ext>
            </a:extLst>
          </p:cNvPr>
          <p:cNvSpPr/>
          <p:nvPr/>
        </p:nvSpPr>
        <p:spPr>
          <a:xfrm>
            <a:off x="168275" y="20638"/>
            <a:ext cx="1703388" cy="1703387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1" name="Donut 10">
            <a:extLst>
              <a:ext uri="{FF2B5EF4-FFF2-40B4-BE49-F238E27FC236}">
                <a16:creationId xmlns:a16="http://schemas.microsoft.com/office/drawing/2014/main" id="{DA97F6D9-DD8A-B423-BC5F-FEA40B24C1DC}"/>
              </a:ext>
            </a:extLst>
          </p:cNvPr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-407500" t="-50000" r="507500" b="15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D0478-4237-5B74-115B-1B21243C027E}"/>
              </a:ext>
            </a:extLst>
          </p:cNvPr>
          <p:cNvSpPr/>
          <p:nvPr/>
        </p:nvSpPr>
        <p:spPr>
          <a:xfrm>
            <a:off x="1012825" y="0"/>
            <a:ext cx="8131175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" name="Title Placeholder 4">
            <a:extLst>
              <a:ext uri="{FF2B5EF4-FFF2-40B4-BE49-F238E27FC236}">
                <a16:creationId xmlns:a16="http://schemas.microsoft.com/office/drawing/2014/main" id="{036F3CD6-9DAC-B32C-D3B4-33723140F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100" y="274638"/>
            <a:ext cx="7499350" cy="1143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33" name="Text Placeholder 8">
            <a:extLst>
              <a:ext uri="{FF2B5EF4-FFF2-40B4-BE49-F238E27FC236}">
                <a16:creationId xmlns:a16="http://schemas.microsoft.com/office/drawing/2014/main" id="{E4CE980C-D966-EB92-65D0-438A865C74D8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435100" y="1447800"/>
            <a:ext cx="749935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ar-SD"/>
              <a:t>Click to edit Master text styles</a:t>
            </a:r>
          </a:p>
          <a:p>
            <a:pPr lvl="1"/>
            <a:r>
              <a:rPr lang="en-US" altLang="ar-SD"/>
              <a:t>Second level</a:t>
            </a:r>
          </a:p>
          <a:p>
            <a:pPr lvl="2"/>
            <a:r>
              <a:rPr lang="en-US" altLang="ar-SD"/>
              <a:t>Third level</a:t>
            </a:r>
          </a:p>
          <a:p>
            <a:pPr lvl="3"/>
            <a:r>
              <a:rPr lang="en-US" altLang="ar-SD"/>
              <a:t>Fourth level</a:t>
            </a:r>
          </a:p>
          <a:p>
            <a:pPr lvl="4"/>
            <a:r>
              <a:rPr lang="en-US" altLang="ar-SD"/>
              <a:t>Fifth level</a:t>
            </a:r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A646024C-4098-6460-3314-3F3DDFA368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581400" y="6305550"/>
            <a:ext cx="2133600" cy="476250"/>
          </a:xfrm>
          <a:prstGeom prst="rect">
            <a:avLst/>
          </a:prstGeom>
        </p:spPr>
        <p:txBody>
          <a:bodyPr anchor="b"/>
          <a:lstStyle>
            <a:lvl1pPr algn="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  <a:extLst/>
          </a:lstStyle>
          <a:p>
            <a:fld id="{02C3DB84-98FB-4B92-9E59-12D7CC27F3EE}" type="datetime1">
              <a:rPr lang="en-AU" smtClean="0"/>
              <a:t>2/11/2025</a:t>
            </a:fld>
            <a:endParaRPr lang="en-AU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F1B15DE-09FE-2FF1-97FA-26B6A44244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715000" y="6305550"/>
            <a:ext cx="2895600" cy="476250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r>
              <a:rPr lang="en-AU"/>
              <a:t>© Len Bass, Paul Clements, Rick Kazman, distributed under Creative Commons Attribution License</a:t>
            </a:r>
            <a:endParaRPr lang="en-AU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D80B9CEF-5E05-5B7E-B29F-1E62F65C7E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3775" y="6305550"/>
            <a:ext cx="457200" cy="47625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sz="1200">
                <a:solidFill>
                  <a:srgbClr val="B5A788"/>
                </a:solidFill>
              </a:defRPr>
            </a:lvl1pPr>
          </a:lstStyle>
          <a:p>
            <a:fld id="{D0E8C58C-0836-46C6-8F9A-AF87B5CA09C9}" type="slidenum">
              <a:rPr lang="en-AU" smtClean="0"/>
              <a:t>‹#›</a:t>
            </a:fld>
            <a:endParaRPr lang="en-AU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D1E9D00-65D9-165A-6F65-103022AB0F2F}"/>
              </a:ext>
            </a:extLst>
          </p:cNvPr>
          <p:cNvSpPr/>
          <p:nvPr/>
        </p:nvSpPr>
        <p:spPr bwMode="invGray">
          <a:xfrm>
            <a:off x="1014413" y="0"/>
            <a:ext cx="73025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664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sldNum="0" hdr="0" dt="0"/>
  <p:txStyles>
    <p:titleStyle>
      <a:lvl1pPr algn="l" rtl="1" eaLnBrk="1" fontAlgn="base" hangingPunct="1">
        <a:spcBef>
          <a:spcPct val="0"/>
        </a:spcBef>
        <a:spcAft>
          <a:spcPct val="0"/>
        </a:spcAft>
        <a:defRPr sz="4300" kern="1200">
          <a:solidFill>
            <a:srgbClr val="572314"/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+mj-lt"/>
          <a:ea typeface="+mj-ea"/>
          <a:cs typeface="+mj-cs"/>
        </a:defRPr>
      </a:lvl1pPr>
      <a:lvl2pPr algn="l" rtl="1" eaLnBrk="1" fontAlgn="base" hangingPunct="1">
        <a:spcBef>
          <a:spcPct val="0"/>
        </a:spcBef>
        <a:spcAft>
          <a:spcPct val="0"/>
        </a:spcAft>
        <a:defRPr sz="4300">
          <a:solidFill>
            <a:srgbClr val="572314"/>
          </a:solidFill>
          <a:latin typeface="Gill Sans MT" pitchFamily="34" charset="0"/>
        </a:defRPr>
      </a:lvl2pPr>
      <a:lvl3pPr algn="l" rtl="1" eaLnBrk="1" fontAlgn="base" hangingPunct="1">
        <a:spcBef>
          <a:spcPct val="0"/>
        </a:spcBef>
        <a:spcAft>
          <a:spcPct val="0"/>
        </a:spcAft>
        <a:defRPr sz="4300">
          <a:solidFill>
            <a:srgbClr val="572314"/>
          </a:solidFill>
          <a:latin typeface="Gill Sans MT" pitchFamily="34" charset="0"/>
        </a:defRPr>
      </a:lvl3pPr>
      <a:lvl4pPr algn="l" rtl="1" eaLnBrk="1" fontAlgn="base" hangingPunct="1">
        <a:spcBef>
          <a:spcPct val="0"/>
        </a:spcBef>
        <a:spcAft>
          <a:spcPct val="0"/>
        </a:spcAft>
        <a:defRPr sz="4300">
          <a:solidFill>
            <a:srgbClr val="572314"/>
          </a:solidFill>
          <a:latin typeface="Gill Sans MT" pitchFamily="34" charset="0"/>
        </a:defRPr>
      </a:lvl4pPr>
      <a:lvl5pPr algn="l" rtl="1" eaLnBrk="1" fontAlgn="base" hangingPunct="1">
        <a:spcBef>
          <a:spcPct val="0"/>
        </a:spcBef>
        <a:spcAft>
          <a:spcPct val="0"/>
        </a:spcAft>
        <a:defRPr sz="4300">
          <a:solidFill>
            <a:srgbClr val="572314"/>
          </a:solidFill>
          <a:latin typeface="Gill Sans MT" pitchFamily="34" charset="0"/>
        </a:defRPr>
      </a:lvl5pPr>
      <a:lvl6pPr marL="457200" algn="l" rtl="1" eaLnBrk="1" fontAlgn="base" hangingPunct="1">
        <a:spcBef>
          <a:spcPct val="0"/>
        </a:spcBef>
        <a:spcAft>
          <a:spcPct val="0"/>
        </a:spcAft>
        <a:defRPr sz="4300">
          <a:solidFill>
            <a:srgbClr val="572314"/>
          </a:solidFill>
          <a:latin typeface="Gill Sans MT" pitchFamily="34" charset="0"/>
        </a:defRPr>
      </a:lvl6pPr>
      <a:lvl7pPr marL="914400" algn="l" rtl="1" eaLnBrk="1" fontAlgn="base" hangingPunct="1">
        <a:spcBef>
          <a:spcPct val="0"/>
        </a:spcBef>
        <a:spcAft>
          <a:spcPct val="0"/>
        </a:spcAft>
        <a:defRPr sz="4300">
          <a:solidFill>
            <a:srgbClr val="572314"/>
          </a:solidFill>
          <a:latin typeface="Gill Sans MT" pitchFamily="34" charset="0"/>
        </a:defRPr>
      </a:lvl7pPr>
      <a:lvl8pPr marL="1371600" algn="l" rtl="1" eaLnBrk="1" fontAlgn="base" hangingPunct="1">
        <a:spcBef>
          <a:spcPct val="0"/>
        </a:spcBef>
        <a:spcAft>
          <a:spcPct val="0"/>
        </a:spcAft>
        <a:defRPr sz="4300">
          <a:solidFill>
            <a:srgbClr val="572314"/>
          </a:solidFill>
          <a:latin typeface="Gill Sans MT" pitchFamily="34" charset="0"/>
        </a:defRPr>
      </a:lvl8pPr>
      <a:lvl9pPr marL="1828800" algn="l" rtl="1" eaLnBrk="1" fontAlgn="base" hangingPunct="1">
        <a:spcBef>
          <a:spcPct val="0"/>
        </a:spcBef>
        <a:spcAft>
          <a:spcPct val="0"/>
        </a:spcAft>
        <a:defRPr sz="4300">
          <a:solidFill>
            <a:srgbClr val="572314"/>
          </a:solidFill>
          <a:latin typeface="Gill Sans MT" pitchFamily="34" charset="0"/>
        </a:defRPr>
      </a:lvl9pPr>
      <a:extLst/>
    </p:titleStyle>
    <p:bodyStyle>
      <a:lvl1pPr marL="365125" indent="-282575" algn="r" rtl="1" eaLnBrk="1" fontAlgn="base" hangingPunct="1">
        <a:spcBef>
          <a:spcPts val="600"/>
        </a:spcBef>
        <a:spcAft>
          <a:spcPct val="0"/>
        </a:spcAft>
        <a:buClr>
          <a:schemeClr val="accent1"/>
        </a:buClr>
        <a:buSzPct val="80000"/>
        <a:buFont typeface="Wingdings 2" panose="05020102010507070707" pitchFamily="18" charset="2"/>
        <a:buChar char="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39763" indent="-236538" algn="r" rtl="1" eaLnBrk="1" fontAlgn="base" hangingPunct="1">
        <a:spcBef>
          <a:spcPts val="550"/>
        </a:spcBef>
        <a:spcAft>
          <a:spcPct val="0"/>
        </a:spcAft>
        <a:buClr>
          <a:schemeClr val="accent1"/>
        </a:buClr>
        <a:buFont typeface="Verdana" panose="020B0604030504040204" pitchFamily="34" charset="0"/>
        <a:buChar char="◦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885825" indent="-228600" algn="r" rtl="1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 2" panose="05020102010507070707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173038" algn="r" rtl="1" eaLnBrk="1" fontAlgn="base" hangingPunct="1">
        <a:spcBef>
          <a:spcPct val="20000"/>
        </a:spcBef>
        <a:spcAft>
          <a:spcPct val="0"/>
        </a:spcAft>
        <a:buClr>
          <a:srgbClr val="C32D2E"/>
        </a:buClr>
        <a:buFont typeface="Wingdings 2" panose="05020102010507070707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296988" indent="-182563" algn="r" rtl="1" eaLnBrk="1" fontAlgn="base" hangingPunct="1">
        <a:spcBef>
          <a:spcPct val="20000"/>
        </a:spcBef>
        <a:spcAft>
          <a:spcPct val="0"/>
        </a:spcAft>
        <a:buClr>
          <a:srgbClr val="84AA33"/>
        </a:buClr>
        <a:buFont typeface="Wingdings 2" panose="05020102010507070707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82880" algn="r" rtl="1" eaLnBrk="1" latinLnBrk="0" hangingPunct="1">
        <a:lnSpc>
          <a:spcPct val="100000"/>
        </a:lnSpc>
        <a:spcBef>
          <a:spcPct val="20000"/>
        </a:spcBef>
        <a:buClr>
          <a:schemeClr val="accent5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182880" algn="r" rtl="1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r" rtl="1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2130552" indent="-182880" algn="r" rtl="1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r" rtl="1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rtl="1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rtl="1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rtl="1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rtl="1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rtl="1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rtl="1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rtl="1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rtl="1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536" y="3140968"/>
            <a:ext cx="7715200" cy="778098"/>
          </a:xfrm>
        </p:spPr>
        <p:txBody>
          <a:bodyPr>
            <a:normAutofit fontScale="90000"/>
          </a:bodyPr>
          <a:lstStyle/>
          <a:p>
            <a:r>
              <a:rPr lang="en-AU" dirty="0"/>
              <a:t>Documenting Software Architectures</a:t>
            </a:r>
          </a:p>
        </p:txBody>
      </p:sp>
    </p:spTree>
    <p:extLst>
      <p:ext uri="{BB962C8B-B14F-4D97-AF65-F5344CB8AC3E}">
        <p14:creationId xmlns:p14="http://schemas.microsoft.com/office/powerpoint/2010/main" val="276353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Chapter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l" rtl="0"/>
            <a:r>
              <a:rPr lang="en-US" sz="2800" dirty="0"/>
              <a:t>Uses and Audiences for Architecture Documentation</a:t>
            </a:r>
          </a:p>
          <a:p>
            <a:pPr algn="l" rtl="0"/>
            <a:r>
              <a:rPr lang="en-US" sz="2800" dirty="0"/>
              <a:t>Notations for Architecture Documentation</a:t>
            </a:r>
          </a:p>
          <a:p>
            <a:pPr algn="l" rtl="0"/>
            <a:r>
              <a:rPr lang="pl-PL" sz="2800" dirty="0" err="1"/>
              <a:t>Views</a:t>
            </a:r>
            <a:endParaRPr lang="pl-PL" sz="2800" dirty="0"/>
          </a:p>
          <a:p>
            <a:pPr algn="l" rtl="0"/>
            <a:r>
              <a:rPr lang="pl-PL" sz="2800" dirty="0" err="1"/>
              <a:t>Choosing</a:t>
            </a:r>
            <a:r>
              <a:rPr lang="pl-PL" sz="2800" dirty="0"/>
              <a:t> the </a:t>
            </a:r>
            <a:r>
              <a:rPr lang="pl-PL" sz="2800" dirty="0" err="1"/>
              <a:t>Views</a:t>
            </a:r>
            <a:endParaRPr lang="pl-PL" sz="2800" dirty="0"/>
          </a:p>
          <a:p>
            <a:pPr algn="l" rtl="0"/>
            <a:r>
              <a:rPr lang="pl-PL" sz="2800" dirty="0" err="1"/>
              <a:t>Combining</a:t>
            </a:r>
            <a:r>
              <a:rPr lang="pl-PL" sz="2800" dirty="0"/>
              <a:t> </a:t>
            </a:r>
            <a:r>
              <a:rPr lang="pl-PL" sz="2800" dirty="0" err="1"/>
              <a:t>Views</a:t>
            </a:r>
            <a:endParaRPr lang="pl-PL" sz="2800" dirty="0"/>
          </a:p>
          <a:p>
            <a:pPr algn="l" rtl="0"/>
            <a:r>
              <a:rPr lang="pl-PL" sz="2800" dirty="0" err="1"/>
              <a:t>Building</a:t>
            </a:r>
            <a:r>
              <a:rPr lang="pl-PL" sz="2800" dirty="0"/>
              <a:t> the </a:t>
            </a:r>
            <a:r>
              <a:rPr lang="pl-PL" sz="2800" dirty="0" err="1"/>
              <a:t>Documentation</a:t>
            </a:r>
            <a:r>
              <a:rPr lang="pl-PL" sz="2800" dirty="0"/>
              <a:t> </a:t>
            </a:r>
            <a:r>
              <a:rPr lang="pl-PL" sz="2800" dirty="0" err="1"/>
              <a:t>Package</a:t>
            </a:r>
            <a:endParaRPr lang="pl-PL" sz="2800" dirty="0"/>
          </a:p>
          <a:p>
            <a:pPr algn="l" rtl="0"/>
            <a:r>
              <a:rPr lang="pl-PL" sz="2800" dirty="0" err="1"/>
              <a:t>Documenting</a:t>
            </a:r>
            <a:r>
              <a:rPr lang="pl-PL" sz="2800" dirty="0"/>
              <a:t> </a:t>
            </a:r>
            <a:r>
              <a:rPr lang="pl-PL" sz="2800" dirty="0" err="1"/>
              <a:t>Behavior</a:t>
            </a:r>
            <a:endParaRPr lang="pl-PL" sz="2800" dirty="0"/>
          </a:p>
          <a:p>
            <a:pPr algn="l" rtl="0"/>
            <a:r>
              <a:rPr lang="pl-PL" sz="2800" dirty="0"/>
              <a:t>Architecture </a:t>
            </a:r>
            <a:r>
              <a:rPr lang="pl-PL" sz="2800" dirty="0" err="1"/>
              <a:t>Documentation</a:t>
            </a:r>
            <a:r>
              <a:rPr lang="pl-PL" sz="2800" dirty="0"/>
              <a:t> and </a:t>
            </a:r>
            <a:r>
              <a:rPr lang="pl-PL" sz="2800" dirty="0" err="1"/>
              <a:t>Quality</a:t>
            </a:r>
            <a:r>
              <a:rPr lang="pl-PL" sz="2800" dirty="0"/>
              <a:t> </a:t>
            </a:r>
            <a:r>
              <a:rPr lang="pl-PL" sz="2800" dirty="0" err="1"/>
              <a:t>Attributes</a:t>
            </a:r>
            <a:endParaRPr lang="pl-PL" sz="2800" dirty="0"/>
          </a:p>
          <a:p>
            <a:pPr algn="l" rtl="0"/>
            <a:r>
              <a:rPr lang="pl-PL" sz="2800" dirty="0" err="1"/>
              <a:t>Documenting</a:t>
            </a:r>
            <a:r>
              <a:rPr lang="pl-PL" sz="2800" dirty="0"/>
              <a:t> </a:t>
            </a:r>
            <a:r>
              <a:rPr lang="pl-PL" sz="2800" dirty="0" err="1"/>
              <a:t>Architectures</a:t>
            </a:r>
            <a:r>
              <a:rPr lang="pl-PL" sz="2800" dirty="0"/>
              <a:t> </a:t>
            </a:r>
            <a:r>
              <a:rPr lang="pl-PL" sz="2800" dirty="0" err="1"/>
              <a:t>That</a:t>
            </a:r>
            <a:r>
              <a:rPr lang="pl-PL" sz="2800" dirty="0"/>
              <a:t> </a:t>
            </a:r>
            <a:r>
              <a:rPr lang="pl-PL" sz="2800" dirty="0" err="1"/>
              <a:t>Change</a:t>
            </a:r>
            <a:r>
              <a:rPr lang="pl-PL" sz="2800" dirty="0"/>
              <a:t> </a:t>
            </a:r>
            <a:r>
              <a:rPr lang="pl-PL" sz="2800" dirty="0" err="1"/>
              <a:t>Faster</a:t>
            </a:r>
            <a:r>
              <a:rPr lang="pl-PL" sz="2800" dirty="0"/>
              <a:t> </a:t>
            </a:r>
            <a:r>
              <a:rPr lang="pl-PL" sz="2800" dirty="0" err="1"/>
              <a:t>Than</a:t>
            </a:r>
            <a:r>
              <a:rPr lang="pl-PL" sz="2800" dirty="0"/>
              <a:t> </a:t>
            </a:r>
            <a:r>
              <a:rPr lang="pl-PL" sz="2800" dirty="0" err="1"/>
              <a:t>You</a:t>
            </a:r>
            <a:r>
              <a:rPr lang="pl-PL" sz="2800" dirty="0"/>
              <a:t> </a:t>
            </a:r>
            <a:r>
              <a:rPr lang="pl-PL" sz="2800" dirty="0" err="1"/>
              <a:t>Can</a:t>
            </a:r>
            <a:r>
              <a:rPr lang="pl-PL" sz="2800" dirty="0"/>
              <a:t> </a:t>
            </a:r>
            <a:r>
              <a:rPr lang="pl-PL" sz="2800" dirty="0" err="1"/>
              <a:t>Document</a:t>
            </a:r>
            <a:r>
              <a:rPr lang="pl-PL" sz="2800" dirty="0"/>
              <a:t> </a:t>
            </a:r>
            <a:r>
              <a:rPr lang="en-US" sz="2800" dirty="0"/>
              <a:t>Them</a:t>
            </a:r>
          </a:p>
          <a:p>
            <a:pPr algn="l" rtl="0"/>
            <a:r>
              <a:rPr lang="en-US" sz="2800" dirty="0"/>
              <a:t>Documenting Architecture in an Agile Development Project</a:t>
            </a:r>
          </a:p>
          <a:p>
            <a:pPr algn="l" rtl="0"/>
            <a:r>
              <a:rPr lang="en-US" sz="28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8660112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Architecture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68760"/>
            <a:ext cx="8229600" cy="5112568"/>
          </a:xfrm>
        </p:spPr>
        <p:txBody>
          <a:bodyPr>
            <a:normAutofit/>
          </a:bodyPr>
          <a:lstStyle/>
          <a:p>
            <a:pPr algn="l" rtl="0"/>
            <a:r>
              <a:rPr lang="en-US" dirty="0"/>
              <a:t>Even the best architecture will be useless if the people who need it </a:t>
            </a:r>
          </a:p>
          <a:p>
            <a:pPr lvl="1" algn="l" rtl="0"/>
            <a:r>
              <a:rPr lang="en-US" dirty="0"/>
              <a:t>do not know what it is; </a:t>
            </a:r>
          </a:p>
          <a:p>
            <a:pPr lvl="1" algn="l" rtl="0"/>
            <a:r>
              <a:rPr lang="en-US" dirty="0"/>
              <a:t>cannot understand it well enough to use, build, or modify it; </a:t>
            </a:r>
          </a:p>
          <a:p>
            <a:pPr lvl="1" algn="l" rtl="0"/>
            <a:r>
              <a:rPr lang="en-US" dirty="0"/>
              <a:t>misunderstand it and apply it incorrectly. </a:t>
            </a:r>
          </a:p>
          <a:p>
            <a:pPr algn="l" rtl="0"/>
            <a:r>
              <a:rPr lang="en-US" dirty="0"/>
              <a:t>All of the effort, analysis, hard work, and insightful design on the part of the architecture team will have been wasted.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939408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Uses and Audience for Architecture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algn="l" rtl="0"/>
            <a:r>
              <a:rPr lang="en-US" dirty="0"/>
              <a:t>Architecture documentation must </a:t>
            </a:r>
          </a:p>
          <a:p>
            <a:pPr lvl="1" algn="l" rtl="0"/>
            <a:r>
              <a:rPr lang="en-US" dirty="0"/>
              <a:t>be sufficiently transparent and accessible to be quickly understood by new employees</a:t>
            </a:r>
          </a:p>
          <a:p>
            <a:pPr lvl="1" algn="l" rtl="0"/>
            <a:r>
              <a:rPr lang="en-US" dirty="0"/>
              <a:t>be sufficiently concrete to serve as a blueprint for construction </a:t>
            </a:r>
          </a:p>
          <a:p>
            <a:pPr lvl="1" algn="l" rtl="0"/>
            <a:r>
              <a:rPr lang="en-US" dirty="0"/>
              <a:t>have enough information to serve as a basis for analysis. </a:t>
            </a:r>
          </a:p>
          <a:p>
            <a:pPr algn="l" rtl="0"/>
            <a:r>
              <a:rPr lang="en-US" dirty="0"/>
              <a:t>Architecture documentation is both prescriptive and descriptive. </a:t>
            </a:r>
          </a:p>
          <a:p>
            <a:pPr lvl="1" algn="l" rtl="0"/>
            <a:r>
              <a:rPr lang="en-US" dirty="0"/>
              <a:t>For some audiences, it prescribes what </a:t>
            </a:r>
            <a:r>
              <a:rPr lang="en-US" i="1" dirty="0"/>
              <a:t>should</a:t>
            </a:r>
            <a:r>
              <a:rPr lang="en-US" dirty="0"/>
              <a:t> be true, placing constraints on decisions yet to be made. </a:t>
            </a:r>
          </a:p>
          <a:p>
            <a:pPr lvl="1" algn="l" rtl="0"/>
            <a:r>
              <a:rPr lang="en-US" dirty="0"/>
              <a:t>For other audiences, it describes what </a:t>
            </a:r>
            <a:r>
              <a:rPr lang="en-US" i="1" dirty="0"/>
              <a:t>is</a:t>
            </a:r>
            <a:r>
              <a:rPr lang="en-US" dirty="0"/>
              <a:t> true, recounting decisions already made about a system’s design.</a:t>
            </a:r>
          </a:p>
          <a:p>
            <a:pPr algn="l" rtl="0"/>
            <a:r>
              <a:rPr lang="en-US" dirty="0"/>
              <a:t>Understanding stakeholder uses of architecture documentation is essential</a:t>
            </a:r>
          </a:p>
          <a:p>
            <a:pPr algn="l" rtl="0"/>
            <a:r>
              <a:rPr lang="en-US" dirty="0"/>
              <a:t>Those uses determine the information to capture. </a:t>
            </a:r>
          </a:p>
          <a:p>
            <a:pPr algn="l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542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496" y="260648"/>
            <a:ext cx="9937104" cy="778098"/>
          </a:xfrm>
        </p:spPr>
        <p:txBody>
          <a:bodyPr>
            <a:normAutofit fontScale="90000"/>
          </a:bodyPr>
          <a:lstStyle/>
          <a:p>
            <a:r>
              <a:rPr lang="en-US" dirty="0"/>
              <a:t>Three Uses for Architecture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68760"/>
            <a:ext cx="8229600" cy="5112568"/>
          </a:xfrm>
        </p:spPr>
        <p:txBody>
          <a:bodyPr>
            <a:normAutofit fontScale="92500" lnSpcReduction="10000"/>
          </a:bodyPr>
          <a:lstStyle/>
          <a:p>
            <a:pPr marL="0" indent="0" algn="l" rtl="0">
              <a:buNone/>
            </a:pPr>
            <a:r>
              <a:rPr lang="en-US" sz="2000" b="1" dirty="0"/>
              <a:t>Education</a:t>
            </a:r>
          </a:p>
          <a:p>
            <a:pPr algn="l" rtl="0"/>
            <a:r>
              <a:rPr lang="en-US" sz="2000" dirty="0"/>
              <a:t>Introducing people to the system </a:t>
            </a:r>
          </a:p>
          <a:p>
            <a:pPr lvl="1" algn="l" rtl="0"/>
            <a:r>
              <a:rPr lang="en-US" sz="1700" dirty="0"/>
              <a:t>New members of the team</a:t>
            </a:r>
          </a:p>
          <a:p>
            <a:pPr lvl="1" algn="l" rtl="0"/>
            <a:r>
              <a:rPr lang="en-US" sz="1700" dirty="0"/>
              <a:t>External analysts or evaluators</a:t>
            </a:r>
          </a:p>
          <a:p>
            <a:pPr lvl="1" algn="l" rtl="0"/>
            <a:r>
              <a:rPr lang="en-US" sz="1700" dirty="0"/>
              <a:t>New architect</a:t>
            </a:r>
          </a:p>
          <a:p>
            <a:pPr marL="0" indent="0" algn="l" rtl="0">
              <a:buNone/>
            </a:pPr>
            <a:r>
              <a:rPr lang="en-US" sz="2000" b="1" dirty="0"/>
              <a:t>Primary vehicle for communication among stakeholders</a:t>
            </a:r>
          </a:p>
          <a:p>
            <a:pPr algn="l" rtl="0"/>
            <a:r>
              <a:rPr lang="en-US" sz="2000" dirty="0"/>
              <a:t>Especially architect to developers</a:t>
            </a:r>
          </a:p>
          <a:p>
            <a:pPr algn="l" rtl="0"/>
            <a:r>
              <a:rPr lang="en-US" sz="2000" dirty="0"/>
              <a:t>Especially architect to future architect!</a:t>
            </a:r>
          </a:p>
          <a:p>
            <a:pPr marL="0" indent="0" algn="l" rtl="0">
              <a:buNone/>
            </a:pPr>
            <a:r>
              <a:rPr lang="en-US" sz="2000" b="1" dirty="0"/>
              <a:t>Basis for system analysis and construction </a:t>
            </a:r>
          </a:p>
          <a:p>
            <a:pPr algn="l" rtl="0"/>
            <a:r>
              <a:rPr lang="en-US" sz="2000" dirty="0"/>
              <a:t>Architecture tells implementers what to implement. </a:t>
            </a:r>
          </a:p>
          <a:p>
            <a:pPr algn="l" rtl="0"/>
            <a:r>
              <a:rPr lang="en-US" sz="2000" dirty="0"/>
              <a:t>Each module has interfaces that must be provided and uses interfaces from other modules. </a:t>
            </a:r>
          </a:p>
          <a:p>
            <a:pPr algn="l" rtl="0"/>
            <a:r>
              <a:rPr lang="en-US" sz="2000" dirty="0"/>
              <a:t>Documentation can serve as a receptacle for registering and communicating unresolved issues.</a:t>
            </a:r>
          </a:p>
          <a:p>
            <a:pPr algn="l" rtl="0"/>
            <a:r>
              <a:rPr lang="en-US" sz="2000" dirty="0"/>
              <a:t>Architecture documentation serves as the basis for architecture evaluation. </a:t>
            </a:r>
          </a:p>
        </p:txBody>
      </p:sp>
    </p:spTree>
    <p:extLst>
      <p:ext uri="{BB962C8B-B14F-4D97-AF65-F5344CB8AC3E}">
        <p14:creationId xmlns:p14="http://schemas.microsoft.com/office/powerpoint/2010/main" val="42285545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algn="l" rtl="0"/>
            <a:r>
              <a:rPr lang="en-US" i="1" dirty="0"/>
              <a:t>Informal notations</a:t>
            </a:r>
          </a:p>
          <a:p>
            <a:pPr lvl="1" algn="l" rtl="0"/>
            <a:r>
              <a:rPr lang="en-US" dirty="0"/>
              <a:t>Views are depicted (often graphically) using general-purpose diagramming and editing tools</a:t>
            </a:r>
          </a:p>
          <a:p>
            <a:pPr lvl="1" algn="l" rtl="0"/>
            <a:r>
              <a:rPr lang="en-US" dirty="0"/>
              <a:t>The semantics of the description are characterized in natural language</a:t>
            </a:r>
          </a:p>
          <a:p>
            <a:pPr lvl="1" algn="l" rtl="0"/>
            <a:r>
              <a:rPr lang="en-US" dirty="0"/>
              <a:t>They cannot be formally analyzed</a:t>
            </a:r>
          </a:p>
          <a:p>
            <a:pPr algn="l" rtl="0"/>
            <a:r>
              <a:rPr lang="en-US" i="1" dirty="0"/>
              <a:t>Semiformal notations</a:t>
            </a:r>
          </a:p>
          <a:p>
            <a:pPr lvl="1" algn="l" rtl="0"/>
            <a:r>
              <a:rPr lang="en-US" dirty="0"/>
              <a:t>Standardized notation that prescribes graphical elements and rules of construction</a:t>
            </a:r>
          </a:p>
          <a:p>
            <a:pPr lvl="1" algn="l" rtl="0"/>
            <a:r>
              <a:rPr lang="en-US" dirty="0"/>
              <a:t>Lacks a complete semantic treatment of the meaning of those elements </a:t>
            </a:r>
          </a:p>
          <a:p>
            <a:pPr lvl="1" algn="l" rtl="0"/>
            <a:r>
              <a:rPr lang="en-US" dirty="0"/>
              <a:t>Rudimentary analysis can be applied </a:t>
            </a:r>
          </a:p>
          <a:p>
            <a:pPr lvl="1" algn="l" rtl="0"/>
            <a:r>
              <a:rPr lang="en-US" dirty="0"/>
              <a:t>UML is a semiformal notation in this sense.</a:t>
            </a:r>
          </a:p>
          <a:p>
            <a:pPr algn="l" rtl="0"/>
            <a:r>
              <a:rPr lang="en-US" i="1" dirty="0"/>
              <a:t>Formal notations</a:t>
            </a:r>
            <a:r>
              <a:rPr lang="en-US" dirty="0"/>
              <a:t> </a:t>
            </a:r>
          </a:p>
          <a:p>
            <a:pPr lvl="1" algn="l" rtl="0"/>
            <a:r>
              <a:rPr lang="en-US" dirty="0"/>
              <a:t>Views are described in a notation that has a precise (usually mathematically based) semantics. </a:t>
            </a:r>
          </a:p>
          <a:p>
            <a:pPr lvl="1" algn="l" rtl="0"/>
            <a:r>
              <a:rPr lang="en-US" dirty="0"/>
              <a:t>Formal analysis of both syntax and semantics is possible. </a:t>
            </a:r>
          </a:p>
          <a:p>
            <a:pPr lvl="1" algn="l" rtl="0"/>
            <a:r>
              <a:rPr lang="en-US" dirty="0"/>
              <a:t>Architecture description languages (ADLs)</a:t>
            </a:r>
          </a:p>
          <a:p>
            <a:pPr lvl="1" algn="l" rtl="0"/>
            <a:r>
              <a:rPr lang="en-US" dirty="0"/>
              <a:t>Support automation through associated tools.</a:t>
            </a:r>
          </a:p>
        </p:txBody>
      </p:sp>
    </p:spTree>
    <p:extLst>
      <p:ext uri="{BB962C8B-B14F-4D97-AF65-F5344CB8AC3E}">
        <p14:creationId xmlns:p14="http://schemas.microsoft.com/office/powerpoint/2010/main" val="15047128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a Notation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algn="l" rtl="0"/>
            <a:r>
              <a:rPr lang="en-US" dirty="0"/>
              <a:t>Tradeoffs</a:t>
            </a:r>
          </a:p>
          <a:p>
            <a:pPr lvl="1" algn="l" rtl="0"/>
            <a:r>
              <a:rPr lang="en-US" dirty="0"/>
              <a:t>Typically, more formal notations take more time and effort to create and understand, but offer reduced ambiguity and more opportunities for analysis. </a:t>
            </a:r>
          </a:p>
          <a:p>
            <a:pPr lvl="1" algn="l" rtl="0"/>
            <a:r>
              <a:rPr lang="en-US" dirty="0"/>
              <a:t>Conversely, more informal notations are easier to create, but they provide fewer guarantees. </a:t>
            </a:r>
          </a:p>
          <a:p>
            <a:pPr algn="l" rtl="0"/>
            <a:r>
              <a:rPr lang="en-US" dirty="0"/>
              <a:t>Different notations are better (or worse) for expressing different kinds of information. </a:t>
            </a:r>
          </a:p>
          <a:p>
            <a:pPr lvl="1" algn="l" rtl="0"/>
            <a:r>
              <a:rPr lang="en-US" dirty="0"/>
              <a:t>UML class diagram will not help you reason about </a:t>
            </a:r>
            <a:r>
              <a:rPr lang="en-US" dirty="0" err="1"/>
              <a:t>schedulability</a:t>
            </a:r>
            <a:r>
              <a:rPr lang="en-US" dirty="0"/>
              <a:t>, nor will a sequence chart tell you very much about the system’s likelihood of being delivered on time.</a:t>
            </a:r>
          </a:p>
          <a:p>
            <a:pPr lvl="1" algn="l" rtl="0"/>
            <a:r>
              <a:rPr lang="en-US" dirty="0"/>
              <a:t>Choose your notations and representation languages knowing the important issues you need to capture and reason about.</a:t>
            </a:r>
          </a:p>
          <a:p>
            <a:pPr algn="l" rtl="0"/>
            <a:endParaRPr lang="en-US" dirty="0"/>
          </a:p>
          <a:p>
            <a:pPr algn="l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41623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 rtl="0"/>
            <a:r>
              <a:rPr lang="en-US" dirty="0"/>
              <a:t>Views let us divide a software architecture into a number of (we hope) interesting and manageable representations of the system.  </a:t>
            </a:r>
          </a:p>
          <a:p>
            <a:pPr algn="l" rtl="0"/>
            <a:r>
              <a:rPr lang="en-US" dirty="0"/>
              <a:t>Principle of architecture documentation:</a:t>
            </a:r>
          </a:p>
          <a:p>
            <a:pPr lvl="1" algn="l" rtl="0"/>
            <a:r>
              <a:rPr lang="en-US" i="1" dirty="0"/>
              <a:t>Documenting an architecture is a matter of documenting the relevant views and then adding documentation that applies to more than one view.</a:t>
            </a:r>
          </a:p>
          <a:p>
            <a:pPr algn="l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74153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Which Views?  The Ones You Need!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l" rtl="0"/>
            <a:r>
              <a:rPr lang="en-US" dirty="0"/>
              <a:t>Different views support different goals and uses.</a:t>
            </a:r>
          </a:p>
          <a:p>
            <a:pPr algn="l" rtl="0"/>
            <a:r>
              <a:rPr lang="en-US" dirty="0"/>
              <a:t>We do not advocate a particular view or collection of views. </a:t>
            </a:r>
          </a:p>
          <a:p>
            <a:pPr algn="l" rtl="0"/>
            <a:r>
              <a:rPr lang="en-US" dirty="0"/>
              <a:t>The views you should document depend on the uses you expect to make of the documentation. </a:t>
            </a:r>
          </a:p>
          <a:p>
            <a:pPr algn="l" rtl="0"/>
            <a:r>
              <a:rPr lang="en-US" dirty="0"/>
              <a:t>Each view has a cost and a benefit; you should ensure that the benefits of maintaining a view outweigh its costs.</a:t>
            </a:r>
          </a:p>
          <a:p>
            <a:pPr algn="l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74745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Module Views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l" rtl="0"/>
            <a:r>
              <a:rPr lang="en-US" dirty="0"/>
              <a:t>Elements </a:t>
            </a:r>
          </a:p>
          <a:p>
            <a:pPr lvl="1" algn="l" rtl="0"/>
            <a:r>
              <a:rPr lang="en-US" dirty="0"/>
              <a:t>Modules, which are implementation units of software that provide a coherent set of responsibilities. </a:t>
            </a:r>
          </a:p>
          <a:p>
            <a:pPr algn="l" rtl="0"/>
            <a:r>
              <a:rPr lang="en-US" dirty="0"/>
              <a:t>Relations</a:t>
            </a:r>
          </a:p>
          <a:p>
            <a:pPr lvl="1" algn="l" rtl="0"/>
            <a:r>
              <a:rPr lang="en-US" i="1" dirty="0"/>
              <a:t>Is part of</a:t>
            </a:r>
            <a:r>
              <a:rPr lang="en-US" dirty="0"/>
              <a:t>, which defines a part/whole relationship between the submodule—the part—and the aggregate module—the whole.</a:t>
            </a:r>
          </a:p>
          <a:p>
            <a:pPr lvl="1" algn="l" rtl="0"/>
            <a:r>
              <a:rPr lang="en-US" i="1" dirty="0"/>
              <a:t>Depends on</a:t>
            </a:r>
            <a:r>
              <a:rPr lang="en-US" dirty="0"/>
              <a:t>, which defines a dependency relationship between two modules. Specific module views elaborate what dependency is meant.</a:t>
            </a:r>
          </a:p>
          <a:p>
            <a:pPr lvl="1" algn="l" rtl="0"/>
            <a:r>
              <a:rPr lang="en-US" i="1" dirty="0"/>
              <a:t>Is a</a:t>
            </a:r>
            <a:r>
              <a:rPr lang="en-US" dirty="0"/>
              <a:t>, which defines a generalization/specialization relationship between a more specific module—the child—and a more general module—the parent. </a:t>
            </a:r>
          </a:p>
        </p:txBody>
      </p:sp>
    </p:spTree>
    <p:extLst>
      <p:ext uri="{BB962C8B-B14F-4D97-AF65-F5344CB8AC3E}">
        <p14:creationId xmlns:p14="http://schemas.microsoft.com/office/powerpoint/2010/main" val="12360024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Module Views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algn="l" rtl="0"/>
            <a:r>
              <a:rPr lang="en-US" dirty="0"/>
              <a:t>Constraints </a:t>
            </a:r>
          </a:p>
          <a:p>
            <a:pPr lvl="1" algn="l" rtl="0"/>
            <a:r>
              <a:rPr lang="en-US" dirty="0"/>
              <a:t>Different module views may impose specific topological constraints, such as limitations on the visibility between modules.</a:t>
            </a:r>
          </a:p>
          <a:p>
            <a:pPr algn="l" rtl="0"/>
            <a:r>
              <a:rPr lang="en-US" dirty="0"/>
              <a:t>Usage</a:t>
            </a:r>
          </a:p>
          <a:p>
            <a:pPr lvl="1" algn="l" rtl="0"/>
            <a:r>
              <a:rPr lang="en-US" dirty="0"/>
              <a:t>Blueprint for construction of the code</a:t>
            </a:r>
          </a:p>
          <a:p>
            <a:pPr lvl="1" algn="l" rtl="0"/>
            <a:r>
              <a:rPr lang="en-US" dirty="0"/>
              <a:t>Change-impact analysis</a:t>
            </a:r>
          </a:p>
          <a:p>
            <a:pPr lvl="1" algn="l" rtl="0"/>
            <a:r>
              <a:rPr lang="en-US" dirty="0"/>
              <a:t>Planning incremental development</a:t>
            </a:r>
          </a:p>
          <a:p>
            <a:pPr lvl="1" algn="l" rtl="0"/>
            <a:r>
              <a:rPr lang="en-US" dirty="0"/>
              <a:t>Requirements traceability analysis</a:t>
            </a:r>
          </a:p>
          <a:p>
            <a:pPr lvl="1" algn="l" rtl="0"/>
            <a:r>
              <a:rPr lang="en-US" dirty="0"/>
              <a:t>Communicating the functionality of a system and the structure of its code base</a:t>
            </a:r>
          </a:p>
          <a:p>
            <a:pPr lvl="1" algn="l" rtl="0"/>
            <a:r>
              <a:rPr lang="en-US" dirty="0"/>
              <a:t>Supporting the definition of work assignments, implementation schedules, and budget information</a:t>
            </a:r>
          </a:p>
          <a:p>
            <a:pPr lvl="1" algn="l" rtl="0"/>
            <a:r>
              <a:rPr lang="en-US" dirty="0"/>
              <a:t>Showing the structure of information that the system needs to manage </a:t>
            </a:r>
          </a:p>
          <a:p>
            <a:pPr algn="l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29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Views	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 rtl="0"/>
            <a:r>
              <a:rPr lang="en-US" dirty="0"/>
              <a:t>It is unlikely that the documentation of any software architecture can be complete without at least one module view.</a:t>
            </a:r>
          </a:p>
          <a:p>
            <a:pPr algn="l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26781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C&amp;C 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algn="l" rtl="0"/>
            <a:r>
              <a:rPr lang="en-US" sz="2800" dirty="0"/>
              <a:t>Elements</a:t>
            </a:r>
          </a:p>
          <a:p>
            <a:pPr lvl="1" algn="l" rtl="0"/>
            <a:r>
              <a:rPr lang="en-US" sz="2400" i="1" dirty="0"/>
              <a:t>Components.</a:t>
            </a:r>
            <a:r>
              <a:rPr lang="en-US" sz="2400" dirty="0"/>
              <a:t> Principal processing units and data stores. A component has a set of </a:t>
            </a:r>
            <a:r>
              <a:rPr lang="en-US" sz="2400" i="1" dirty="0"/>
              <a:t>ports</a:t>
            </a:r>
            <a:r>
              <a:rPr lang="en-US" sz="2400" dirty="0"/>
              <a:t> through which it interacts with other components (via connectors).</a:t>
            </a:r>
          </a:p>
          <a:p>
            <a:pPr lvl="1" algn="l" rtl="0"/>
            <a:r>
              <a:rPr lang="en-US" sz="2400" i="1" dirty="0"/>
              <a:t>Connectors</a:t>
            </a:r>
            <a:r>
              <a:rPr lang="en-US" sz="2400" dirty="0"/>
              <a:t>. Pathways of interaction between components. Connectors have a set of roles (interfaces) that indicate how components may use a connector in interactions. </a:t>
            </a:r>
          </a:p>
          <a:p>
            <a:pPr algn="l" rtl="0"/>
            <a:r>
              <a:rPr lang="en-US" sz="2800" dirty="0"/>
              <a:t>Relations</a:t>
            </a:r>
          </a:p>
          <a:p>
            <a:pPr lvl="1" algn="l" rtl="0"/>
            <a:r>
              <a:rPr lang="en-US" sz="2400" i="1" dirty="0"/>
              <a:t>Attachments</a:t>
            </a:r>
            <a:r>
              <a:rPr lang="en-US" sz="2400" dirty="0"/>
              <a:t>. Component ports are associated with connector roles to yield a graph of components and connectors</a:t>
            </a:r>
            <a:r>
              <a:rPr lang="en-US" sz="2400" i="1" dirty="0"/>
              <a:t>.</a:t>
            </a:r>
            <a:endParaRPr lang="en-US" sz="2400" dirty="0"/>
          </a:p>
          <a:p>
            <a:pPr lvl="1" algn="l" rtl="0"/>
            <a:r>
              <a:rPr lang="en-US" sz="2400" i="1" dirty="0"/>
              <a:t>Interface delegation.</a:t>
            </a:r>
            <a:r>
              <a:rPr lang="en-US" sz="2400" dirty="0"/>
              <a:t> In some situations component ports are associated with one or more ports in an “internal” </a:t>
            </a:r>
            <a:r>
              <a:rPr lang="en-US" sz="2400" dirty="0" err="1"/>
              <a:t>subarchitecture</a:t>
            </a:r>
            <a:r>
              <a:rPr lang="en-US" sz="2400" dirty="0"/>
              <a:t>. The case is similar for the roles of a connector </a:t>
            </a:r>
          </a:p>
        </p:txBody>
      </p:sp>
    </p:spTree>
    <p:extLst>
      <p:ext uri="{BB962C8B-B14F-4D97-AF65-F5344CB8AC3E}">
        <p14:creationId xmlns:p14="http://schemas.microsoft.com/office/powerpoint/2010/main" val="33182790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C&amp;C 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algn="l" rtl="0"/>
            <a:r>
              <a:rPr lang="en-US" dirty="0"/>
              <a:t>Constraints</a:t>
            </a:r>
          </a:p>
          <a:p>
            <a:pPr lvl="1" algn="l" rtl="0"/>
            <a:r>
              <a:rPr lang="en-US" dirty="0"/>
              <a:t>Components can only be attached to connectors, not directly to other components.</a:t>
            </a:r>
          </a:p>
          <a:p>
            <a:pPr lvl="1" algn="l" rtl="0"/>
            <a:r>
              <a:rPr lang="en-US" dirty="0"/>
              <a:t>Connectors can only be attached to components, not directly to other connectors.</a:t>
            </a:r>
          </a:p>
          <a:p>
            <a:pPr lvl="1" algn="l" rtl="0"/>
            <a:r>
              <a:rPr lang="en-US" dirty="0"/>
              <a:t>Attachments can only be made between compatible ports and roles.</a:t>
            </a:r>
          </a:p>
          <a:p>
            <a:pPr lvl="1" algn="l" rtl="0"/>
            <a:r>
              <a:rPr lang="en-US" dirty="0"/>
              <a:t>Interface delegation can only be defined between two compatible ports (or two compatible roles).</a:t>
            </a:r>
          </a:p>
          <a:p>
            <a:pPr lvl="1" algn="l" rtl="0"/>
            <a:r>
              <a:rPr lang="en-US" dirty="0"/>
              <a:t>Connectors cannot appear in isolation; a connector must be attached to a component.</a:t>
            </a:r>
          </a:p>
          <a:p>
            <a:pPr algn="l" rtl="0"/>
            <a:r>
              <a:rPr lang="en-US" dirty="0"/>
              <a:t>Usage</a:t>
            </a:r>
          </a:p>
          <a:p>
            <a:pPr lvl="1" algn="l" rtl="0"/>
            <a:r>
              <a:rPr lang="en-US" dirty="0"/>
              <a:t>Show how the system works.</a:t>
            </a:r>
          </a:p>
          <a:p>
            <a:pPr lvl="1" algn="l" rtl="0"/>
            <a:r>
              <a:rPr lang="en-US" dirty="0"/>
              <a:t>Guide development by specifying structure and behavior of runtime elements.</a:t>
            </a:r>
          </a:p>
          <a:p>
            <a:pPr lvl="1" algn="l" rtl="0"/>
            <a:r>
              <a:rPr lang="en-US" dirty="0"/>
              <a:t>Help reason about runtime system quality attributes, such as performance and availability. </a:t>
            </a:r>
          </a:p>
          <a:p>
            <a:pPr algn="l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11703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Notations for C&amp;C 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68761"/>
            <a:ext cx="8229600" cy="1440160"/>
          </a:xfrm>
        </p:spPr>
        <p:txBody>
          <a:bodyPr>
            <a:normAutofit/>
          </a:bodyPr>
          <a:lstStyle/>
          <a:p>
            <a:pPr algn="l" rtl="0"/>
            <a:r>
              <a:rPr lang="en-US" dirty="0"/>
              <a:t>UML components are good match for C&amp;C components.</a:t>
            </a:r>
          </a:p>
        </p:txBody>
      </p:sp>
      <p:pic>
        <p:nvPicPr>
          <p:cNvPr id="5" name="Picture 4" descr="uml.tif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592" y="2924944"/>
            <a:ext cx="7010400" cy="275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9433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Notations for C&amp;C 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algn="l" rtl="0"/>
            <a:r>
              <a:rPr lang="en-US" sz="3800" dirty="0"/>
              <a:t>UML connectors are not rich enough to represent many C&amp;C connectors.  </a:t>
            </a:r>
          </a:p>
          <a:p>
            <a:pPr lvl="1" algn="l" rtl="0"/>
            <a:r>
              <a:rPr lang="en-US" sz="3200" dirty="0"/>
              <a:t>UML connectors cannot have substructure, attributes, or behavioral descriptions. </a:t>
            </a:r>
          </a:p>
          <a:p>
            <a:pPr algn="l" rtl="0"/>
            <a:r>
              <a:rPr lang="en-US" sz="3800" dirty="0"/>
              <a:t>Represent a “simple” C&amp;C connector using a UML connector—a line. </a:t>
            </a:r>
          </a:p>
          <a:p>
            <a:pPr lvl="1" algn="l" rtl="0"/>
            <a:r>
              <a:rPr lang="en-US" sz="3200" dirty="0"/>
              <a:t>Many commonly used C&amp;C connectors have well-known, application-independent semantics and implementations, such as function calls or data read operations. </a:t>
            </a:r>
          </a:p>
          <a:p>
            <a:pPr lvl="1" algn="l" rtl="0"/>
            <a:r>
              <a:rPr lang="en-US" sz="3200" dirty="0"/>
              <a:t>You can use a stereotype to denote the type of connector. </a:t>
            </a:r>
          </a:p>
          <a:p>
            <a:pPr algn="l" rtl="0"/>
            <a:r>
              <a:rPr lang="en-US" sz="3800" dirty="0"/>
              <a:t>Connector roles cannot be explicitly represented with a UML connector.</a:t>
            </a:r>
          </a:p>
          <a:p>
            <a:pPr lvl="1" algn="l" rtl="0"/>
            <a:r>
              <a:rPr lang="en-US" sz="3200" dirty="0"/>
              <a:t>The UML connector element does not allow the inclusion of interfaces.</a:t>
            </a:r>
          </a:p>
          <a:p>
            <a:pPr lvl="1" algn="l" rtl="0"/>
            <a:r>
              <a:rPr lang="en-US" sz="3200" dirty="0"/>
              <a:t>Label the connector ends and use these labels to identify role descriptions that must be documented elsewhere.</a:t>
            </a:r>
          </a:p>
          <a:p>
            <a:pPr algn="l" rtl="0"/>
            <a:r>
              <a:rPr lang="en-US" sz="3800" dirty="0"/>
              <a:t>Represent a “rich” C&amp;C connector using a UML component, or by annotating a line UML connector with a tag that explains the meaning of the complex connector.</a:t>
            </a:r>
            <a:r>
              <a:rPr lang="en-US" dirty="0"/>
              <a:t> </a:t>
            </a:r>
          </a:p>
          <a:p>
            <a:pPr algn="l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96324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Allocation 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algn="l" rtl="0"/>
            <a:r>
              <a:rPr lang="en-US" dirty="0"/>
              <a:t>Elements</a:t>
            </a:r>
          </a:p>
          <a:p>
            <a:pPr lvl="1" algn="l" rtl="0"/>
            <a:r>
              <a:rPr lang="en-US" i="1" dirty="0"/>
              <a:t>Software element</a:t>
            </a:r>
            <a:r>
              <a:rPr lang="en-US" dirty="0"/>
              <a:t> and </a:t>
            </a:r>
            <a:r>
              <a:rPr lang="en-US" i="1" dirty="0"/>
              <a:t>environmental element.</a:t>
            </a:r>
            <a:r>
              <a:rPr lang="en-US" dirty="0"/>
              <a:t> </a:t>
            </a:r>
          </a:p>
          <a:p>
            <a:pPr lvl="1" algn="l" rtl="0"/>
            <a:r>
              <a:rPr lang="en-US" dirty="0"/>
              <a:t>A software element has properties that are </a:t>
            </a:r>
            <a:r>
              <a:rPr lang="en-US" i="1" dirty="0"/>
              <a:t>required</a:t>
            </a:r>
            <a:r>
              <a:rPr lang="en-US" dirty="0"/>
              <a:t> of the environment. </a:t>
            </a:r>
          </a:p>
          <a:p>
            <a:pPr lvl="1" algn="l" rtl="0"/>
            <a:r>
              <a:rPr lang="en-US" dirty="0"/>
              <a:t>An environmental element has properties that are </a:t>
            </a:r>
            <a:r>
              <a:rPr lang="en-US" i="1" dirty="0"/>
              <a:t>provided</a:t>
            </a:r>
            <a:r>
              <a:rPr lang="en-US" dirty="0"/>
              <a:t> to the software.</a:t>
            </a:r>
          </a:p>
          <a:p>
            <a:pPr algn="l" rtl="0"/>
            <a:r>
              <a:rPr lang="en-US" dirty="0"/>
              <a:t>Relations</a:t>
            </a:r>
          </a:p>
          <a:p>
            <a:pPr lvl="1" algn="l" rtl="0"/>
            <a:r>
              <a:rPr lang="en-US" i="1" dirty="0"/>
              <a:t>Allocated to</a:t>
            </a:r>
            <a:r>
              <a:rPr lang="en-US" dirty="0"/>
              <a:t>. A software element is mapped (allocated to) an environmental element. Properties are dependent on the particular view.</a:t>
            </a:r>
          </a:p>
          <a:p>
            <a:pPr algn="l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86180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Allocation 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algn="l" rtl="0"/>
            <a:r>
              <a:rPr lang="en-US" dirty="0"/>
              <a:t>Constraints</a:t>
            </a:r>
          </a:p>
          <a:p>
            <a:pPr lvl="1" algn="l" rtl="0"/>
            <a:r>
              <a:rPr lang="en-US" dirty="0"/>
              <a:t>Varies by view</a:t>
            </a:r>
          </a:p>
          <a:p>
            <a:pPr algn="l" rtl="0"/>
            <a:r>
              <a:rPr lang="en-US" dirty="0"/>
              <a:t>Usage</a:t>
            </a:r>
          </a:p>
          <a:p>
            <a:pPr lvl="1" algn="l" rtl="0"/>
            <a:r>
              <a:rPr lang="en-US" dirty="0"/>
              <a:t>Reasoning about performance, availability, security, and safety. </a:t>
            </a:r>
          </a:p>
          <a:p>
            <a:pPr lvl="1" algn="l" rtl="0"/>
            <a:r>
              <a:rPr lang="en-US" dirty="0"/>
              <a:t>Reasoning about distributed development and allocation of work to teams. </a:t>
            </a:r>
          </a:p>
          <a:p>
            <a:pPr lvl="1" algn="l" rtl="0"/>
            <a:r>
              <a:rPr lang="en-US" dirty="0"/>
              <a:t>Reasoning about concurrent access to software versions. </a:t>
            </a:r>
          </a:p>
          <a:p>
            <a:pPr lvl="1" algn="l" rtl="0"/>
            <a:r>
              <a:rPr lang="en-US" dirty="0"/>
              <a:t>Reasoning about the form and mechanisms of system installation.</a:t>
            </a:r>
            <a:r>
              <a:rPr lang="x-none" dirty="0"/>
              <a:t> </a:t>
            </a:r>
            <a:endParaRPr lang="en-US" dirty="0"/>
          </a:p>
          <a:p>
            <a:pPr algn="l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3395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Quality 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 rtl="0"/>
            <a:r>
              <a:rPr lang="en-US" dirty="0"/>
              <a:t>A </a:t>
            </a:r>
            <a:r>
              <a:rPr lang="en-US" i="1" dirty="0"/>
              <a:t>quality view</a:t>
            </a:r>
            <a:r>
              <a:rPr lang="en-US" dirty="0"/>
              <a:t> can be tailored for specific stakeholders or to address specific concerns. </a:t>
            </a:r>
          </a:p>
          <a:p>
            <a:pPr algn="l" rtl="0"/>
            <a:r>
              <a:rPr lang="en-US" dirty="0"/>
              <a:t>A quality views is formed by extracting the relevant pieces of structural views and packaging them together. </a:t>
            </a:r>
          </a:p>
          <a:p>
            <a:pPr algn="l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92735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Quality Views: 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algn="l" rtl="0"/>
            <a:r>
              <a:rPr lang="en-US" sz="7000" i="1" dirty="0"/>
              <a:t>Security view</a:t>
            </a:r>
            <a:r>
              <a:rPr lang="en-US" sz="7000" dirty="0"/>
              <a:t> </a:t>
            </a:r>
          </a:p>
          <a:p>
            <a:pPr lvl="1" algn="l" rtl="0"/>
            <a:r>
              <a:rPr lang="en-US" sz="5500" dirty="0"/>
              <a:t>Show the components that have some security role or responsibility, how those components communicate, any data repositories for security information, and repositories that are of security interest. </a:t>
            </a:r>
          </a:p>
          <a:p>
            <a:pPr lvl="1" algn="l" rtl="0"/>
            <a:r>
              <a:rPr lang="en-US" sz="5500" dirty="0"/>
              <a:t>The view’s context information would show other security measures (such as physical security) in the system’s environment. </a:t>
            </a:r>
          </a:p>
          <a:p>
            <a:pPr lvl="1" algn="l" rtl="0"/>
            <a:r>
              <a:rPr lang="en-US" sz="5500" dirty="0"/>
              <a:t>The behavior part of a security view</a:t>
            </a:r>
          </a:p>
          <a:p>
            <a:pPr lvl="2" algn="l" rtl="0"/>
            <a:r>
              <a:rPr lang="en-US" sz="5100" dirty="0"/>
              <a:t>Show how the operation of security protocols and where and how humans interact with the security elements.</a:t>
            </a:r>
          </a:p>
          <a:p>
            <a:pPr lvl="2" algn="l" rtl="0"/>
            <a:r>
              <a:rPr lang="en-US" sz="5100" dirty="0"/>
              <a:t>Capture how the system would respond to specific threats and vulnerabilities. </a:t>
            </a:r>
          </a:p>
          <a:p>
            <a:pPr algn="l" rtl="0"/>
            <a:r>
              <a:rPr lang="en-US" sz="7000" i="1" dirty="0"/>
              <a:t>Communications view</a:t>
            </a:r>
            <a:r>
              <a:rPr lang="en-US" sz="7000" dirty="0"/>
              <a:t> </a:t>
            </a:r>
          </a:p>
          <a:p>
            <a:pPr lvl="1" algn="l" rtl="0"/>
            <a:r>
              <a:rPr lang="en-US" sz="5500" dirty="0"/>
              <a:t>Especially helpful for systems that are globally dispersed and heterogeneous. </a:t>
            </a:r>
          </a:p>
          <a:p>
            <a:pPr lvl="1" algn="l" rtl="0"/>
            <a:r>
              <a:rPr lang="en-US" sz="5500" dirty="0"/>
              <a:t>Show all of the component-to-component channels, the various network channels, quality-of-service parameter values, and areas of concurrency. </a:t>
            </a:r>
          </a:p>
          <a:p>
            <a:pPr lvl="1" algn="l" rtl="0"/>
            <a:r>
              <a:rPr lang="en-US" sz="5500" dirty="0"/>
              <a:t>Used to analyze certain kinds of performance and reliability (such as deadlock or race condition detection). </a:t>
            </a:r>
          </a:p>
          <a:p>
            <a:pPr lvl="1" algn="l" rtl="0"/>
            <a:r>
              <a:rPr lang="en-US" sz="5500" dirty="0"/>
              <a:t>The behavior part of this view could show (for example) how network bandwidth is dynamically allocated.</a:t>
            </a:r>
          </a:p>
          <a:p>
            <a:pPr algn="l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1818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Quality Views: 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algn="l" rtl="0"/>
            <a:r>
              <a:rPr lang="en-US" i="1" dirty="0"/>
              <a:t>Exception</a:t>
            </a:r>
            <a:r>
              <a:rPr lang="en-US" dirty="0"/>
              <a:t> or </a:t>
            </a:r>
            <a:r>
              <a:rPr lang="en-US" i="1" dirty="0"/>
              <a:t>error-handling view</a:t>
            </a:r>
            <a:r>
              <a:rPr lang="en-US" dirty="0"/>
              <a:t> </a:t>
            </a:r>
          </a:p>
          <a:p>
            <a:pPr lvl="1" algn="l" rtl="0"/>
            <a:r>
              <a:rPr lang="en-US" dirty="0"/>
              <a:t>Could help illuminate and draw attention to error reporting and resolution mechanisms. </a:t>
            </a:r>
          </a:p>
          <a:p>
            <a:pPr lvl="1" algn="l" rtl="0"/>
            <a:r>
              <a:rPr lang="en-US" dirty="0"/>
              <a:t>Show how components detect, report, and resolve faults or errors. </a:t>
            </a:r>
          </a:p>
          <a:p>
            <a:pPr lvl="1" algn="l" rtl="0"/>
            <a:r>
              <a:rPr lang="en-US" dirty="0"/>
              <a:t>It would help identify the sources of errors and appropriate corrective actions for each. </a:t>
            </a:r>
          </a:p>
          <a:p>
            <a:pPr algn="l" rtl="0"/>
            <a:r>
              <a:rPr lang="en-US" i="1" dirty="0"/>
              <a:t>Reliability</a:t>
            </a:r>
            <a:r>
              <a:rPr lang="en-US" dirty="0"/>
              <a:t> view </a:t>
            </a:r>
          </a:p>
          <a:p>
            <a:pPr lvl="1" algn="l" rtl="0"/>
            <a:r>
              <a:rPr lang="en-US" dirty="0"/>
              <a:t>Models mechanisms such as replication and switchover. </a:t>
            </a:r>
          </a:p>
          <a:p>
            <a:pPr lvl="1" algn="l" rtl="0"/>
            <a:r>
              <a:rPr lang="en-US" dirty="0"/>
              <a:t>Depicts timing issues and transaction integrity. </a:t>
            </a:r>
          </a:p>
          <a:p>
            <a:pPr algn="l" rtl="0"/>
            <a:r>
              <a:rPr lang="en-US" i="1" dirty="0"/>
              <a:t>Performance</a:t>
            </a:r>
            <a:r>
              <a:rPr lang="en-US" dirty="0"/>
              <a:t> view </a:t>
            </a:r>
          </a:p>
          <a:p>
            <a:pPr lvl="1" algn="l" rtl="0"/>
            <a:r>
              <a:rPr lang="en-US" dirty="0"/>
              <a:t>Shows those aspects of the architecture useful for inferring the system’s performance. </a:t>
            </a:r>
          </a:p>
          <a:p>
            <a:pPr lvl="1" algn="l" rtl="0"/>
            <a:r>
              <a:rPr lang="en-US" dirty="0"/>
              <a:t>Show network traffic models, maximum latencies for operations, and so forth.</a:t>
            </a:r>
          </a:p>
          <a:p>
            <a:pPr algn="l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91889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the 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algn="l" rtl="0"/>
            <a:r>
              <a:rPr lang="en-US" dirty="0"/>
              <a:t>You can determine which views are required, when to create them, and how much detail to include if you know the following:</a:t>
            </a:r>
          </a:p>
          <a:p>
            <a:pPr lvl="1" algn="l" rtl="0"/>
            <a:r>
              <a:rPr lang="en-US" dirty="0"/>
              <a:t>What people, and with what skills, are available</a:t>
            </a:r>
          </a:p>
          <a:p>
            <a:pPr lvl="1" algn="l" rtl="0"/>
            <a:r>
              <a:rPr lang="en-US" dirty="0"/>
              <a:t>Which standards you have to comply with</a:t>
            </a:r>
          </a:p>
          <a:p>
            <a:pPr lvl="1" algn="l" rtl="0"/>
            <a:r>
              <a:rPr lang="en-US" dirty="0"/>
              <a:t>What budget is on hand</a:t>
            </a:r>
          </a:p>
          <a:p>
            <a:pPr lvl="1" algn="l" rtl="0"/>
            <a:r>
              <a:rPr lang="en-US" dirty="0"/>
              <a:t>What the schedule is</a:t>
            </a:r>
          </a:p>
          <a:p>
            <a:pPr lvl="1" algn="l" rtl="0"/>
            <a:r>
              <a:rPr lang="en-US" dirty="0"/>
              <a:t>What the information needs of the important stakeholders are</a:t>
            </a:r>
          </a:p>
          <a:p>
            <a:pPr lvl="1" algn="l" rtl="0"/>
            <a:r>
              <a:rPr lang="en-US" dirty="0"/>
              <a:t>What the driving quality attribute requirements are</a:t>
            </a:r>
          </a:p>
          <a:p>
            <a:pPr lvl="1" algn="l" rtl="0"/>
            <a:r>
              <a:rPr lang="en-US" dirty="0"/>
              <a:t>What the approximate size of the system is</a:t>
            </a:r>
          </a:p>
          <a:p>
            <a:pPr algn="l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36892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the 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 rtl="0"/>
            <a:r>
              <a:rPr lang="en-US" dirty="0"/>
              <a:t>At a minimum, expect to have at least one module view, at least one C&amp;C view, and for larger systems, at least one allocation view in your architecture document. </a:t>
            </a:r>
          </a:p>
        </p:txBody>
      </p:sp>
    </p:spTree>
    <p:extLst>
      <p:ext uri="{BB962C8B-B14F-4D97-AF65-F5344CB8AC3E}">
        <p14:creationId xmlns:p14="http://schemas.microsoft.com/office/powerpoint/2010/main" val="325850715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heme1">
  <a:themeElements>
    <a:clrScheme name="Solstice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Solstice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olstice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50000" t="50000" r="50000" b="5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-24500" t="-20000" r="1245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30BC075C-2436-4EF2-A116-A60B93E7B8EB}" vid="{B5BCED5B-C663-4E17-8BDE-E2E0E8EAA14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4083</TotalTime>
  <Words>1763</Words>
  <Application>Microsoft Office PowerPoint</Application>
  <PresentationFormat>On-screen Show (4:3)</PresentationFormat>
  <Paragraphs>176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1" baseType="lpstr">
      <vt:lpstr>Algerian</vt:lpstr>
      <vt:lpstr>Arial</vt:lpstr>
      <vt:lpstr>Calibri</vt:lpstr>
      <vt:lpstr>Gill Sans MT</vt:lpstr>
      <vt:lpstr>Segoe Print</vt:lpstr>
      <vt:lpstr>Verdana</vt:lpstr>
      <vt:lpstr>Wingdings 2</vt:lpstr>
      <vt:lpstr>Theme1</vt:lpstr>
      <vt:lpstr>Documenting Software Architectures</vt:lpstr>
      <vt:lpstr>Chapter Outline</vt:lpstr>
      <vt:lpstr>Architecture Documentation</vt:lpstr>
      <vt:lpstr>Uses and Audience for Architecture Documentation</vt:lpstr>
      <vt:lpstr>Three Uses for Architecture Documentation</vt:lpstr>
      <vt:lpstr>Notations</vt:lpstr>
      <vt:lpstr>Choosing a Notation</vt:lpstr>
      <vt:lpstr>Views</vt:lpstr>
      <vt:lpstr>Which Views?  The Ones You Need!</vt:lpstr>
      <vt:lpstr>Overview of Module Views</vt:lpstr>
      <vt:lpstr>Overview of Module Views</vt:lpstr>
      <vt:lpstr>Module Views </vt:lpstr>
      <vt:lpstr>Overview of C&amp;C Views</vt:lpstr>
      <vt:lpstr>Overview of C&amp;C Views</vt:lpstr>
      <vt:lpstr>Notations for C&amp;C Views</vt:lpstr>
      <vt:lpstr>Notations for C&amp;C Views</vt:lpstr>
      <vt:lpstr>Overview of Allocation Views</vt:lpstr>
      <vt:lpstr>Overview of Allocation Views</vt:lpstr>
      <vt:lpstr>Quality Views</vt:lpstr>
      <vt:lpstr>Quality Views:  Examples</vt:lpstr>
      <vt:lpstr>Quality Views:  Examples</vt:lpstr>
      <vt:lpstr>Choosing the Views</vt:lpstr>
      <vt:lpstr>Choosing the Views</vt:lpstr>
    </vt:vector>
  </TitlesOfParts>
  <Company>NICTA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Len Bass</dc:creator>
  <cp:lastModifiedBy>kamal</cp:lastModifiedBy>
  <cp:revision>52</cp:revision>
  <dcterms:created xsi:type="dcterms:W3CDTF">2012-04-18T22:57:58Z</dcterms:created>
  <dcterms:modified xsi:type="dcterms:W3CDTF">2025-11-02T08:41:07Z</dcterms:modified>
</cp:coreProperties>
</file>