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sldIdLst>
    <p:sldId id="298" r:id="rId3"/>
    <p:sldId id="299" r:id="rId4"/>
    <p:sldId id="300" r:id="rId5"/>
    <p:sldId id="304" r:id="rId6"/>
    <p:sldId id="302" r:id="rId7"/>
    <p:sldId id="301" r:id="rId8"/>
    <p:sldId id="305" r:id="rId9"/>
    <p:sldId id="303" r:id="rId10"/>
    <p:sldId id="306" r:id="rId11"/>
    <p:sldId id="307" r:id="rId12"/>
    <p:sldId id="308" r:id="rId13"/>
    <p:sldId id="309" r:id="rId14"/>
    <p:sldId id="310" r:id="rId15"/>
    <p:sldId id="311" r:id="rId16"/>
    <p:sldId id="312" r:id="rId17"/>
    <p:sldId id="313" r:id="rId18"/>
    <p:sldId id="317" r:id="rId19"/>
    <p:sldId id="314" r:id="rId20"/>
    <p:sldId id="315" r:id="rId21"/>
    <p:sldId id="318" r:id="rId22"/>
    <p:sldId id="31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6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FE2BDD9-941A-4B2A-8998-6082FCF9DA2F}"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2F134-0DBD-49F1-B419-6A7F5458468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E2BDD9-941A-4B2A-8998-6082FCF9DA2F}"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2F134-0DBD-49F1-B419-6A7F5458468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E2BDD9-941A-4B2A-8998-6082FCF9DA2F}"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2F134-0DBD-49F1-B419-6A7F5458468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E2BDD9-941A-4B2A-8998-6082FCF9DA2F}"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2F134-0DBD-49F1-B419-6A7F5458468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E2BDD9-941A-4B2A-8998-6082FCF9DA2F}" type="datetimeFigureOut">
              <a:rPr lang="en-US" smtClean="0"/>
              <a:t>4/7/2025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12F134-0DBD-49F1-B419-6A7F5458468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E2BDD9-941A-4B2A-8998-6082FCF9DA2F}" type="datetimeFigureOut">
              <a:rPr lang="en-US" smtClean="0"/>
              <a:t>4/7/2025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12F134-0DBD-49F1-B419-6A7F5458468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E2BDD9-941A-4B2A-8998-6082FCF9DA2F}" type="datetimeFigureOut">
              <a:rPr lang="en-US" smtClean="0"/>
              <a:t>4/7/2025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12F134-0DBD-49F1-B419-6A7F5458468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E2BDD9-941A-4B2A-8998-6082FCF9DA2F}"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2F134-0DBD-49F1-B419-6A7F5458468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E2BDD9-941A-4B2A-8998-6082FCF9DA2F}"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2F134-0DBD-49F1-B419-6A7F5458468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E2BDD9-941A-4B2A-8998-6082FCF9DA2F}"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2F134-0DBD-49F1-B419-6A7F5458468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E2BDD9-941A-4B2A-8998-6082FCF9DA2F}"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2F134-0DBD-49F1-B419-6A7F5458468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3C046E-5571-47FD-A6FE-C82F14AFB5A2}"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C046E-5571-47FD-A6FE-C82F14AFB5A2}"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3C046E-5571-47FD-A6FE-C82F14AFB5A2}"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3C046E-5571-47FD-A6FE-C82F14AFB5A2}" type="datetimeFigureOut">
              <a:rPr lang="en-US" smtClean="0"/>
              <a:t>4/7/2025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3C046E-5571-47FD-A6FE-C82F14AFB5A2}" type="datetimeFigureOut">
              <a:rPr lang="en-US" smtClean="0"/>
              <a:t>4/7/2025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3C046E-5571-47FD-A6FE-C82F14AFB5A2}" type="datetimeFigureOut">
              <a:rPr lang="en-US" smtClean="0"/>
              <a:t>4/7/2025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3C046E-5571-47FD-A6FE-C82F14AFB5A2}"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3C046E-5571-47FD-A6FE-C82F14AFB5A2}"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C046E-5571-47FD-A6FE-C82F14AFB5A2}"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C046E-5571-47FD-A6FE-C82F14AFB5A2}"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E2BDD9-941A-4B2A-8998-6082FCF9DA2F}" type="datetimeFigureOut">
              <a:rPr lang="en-US" smtClean="0"/>
              <a:t>4/7/2025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12F134-0DBD-49F1-B419-6A7F5458468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43C046E-5571-47FD-A6FE-C82F14AFB5A2}" type="datetimeFigureOut">
              <a:rPr lang="en-US" smtClean="0"/>
              <a:t>4/7/2025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FD4DCBB9-D006-420C-9C76-9AF3568E0B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7398" y="1005017"/>
            <a:ext cx="8596668" cy="1320800"/>
          </a:xfrm>
        </p:spPr>
        <p:txBody>
          <a:bodyPr>
            <a:normAutofit/>
          </a:bodyPr>
          <a:lstStyle/>
          <a:p>
            <a:pPr algn="ctr"/>
            <a:r>
              <a:rPr lang="en-US" sz="5400" b="1" dirty="0"/>
              <a:t>LUC 3</a:t>
            </a:r>
          </a:p>
        </p:txBody>
      </p:sp>
      <p:sp>
        <p:nvSpPr>
          <p:cNvPr id="3" name="Content Placeholder 2"/>
          <p:cNvSpPr>
            <a:spLocks noGrp="1"/>
          </p:cNvSpPr>
          <p:nvPr>
            <p:ph idx="1"/>
          </p:nvPr>
        </p:nvSpPr>
        <p:spPr>
          <a:xfrm>
            <a:off x="763830" y="3191566"/>
            <a:ext cx="9195715" cy="1736035"/>
          </a:xfrm>
        </p:spPr>
        <p:txBody>
          <a:bodyPr>
            <a:normAutofit/>
          </a:bodyPr>
          <a:lstStyle/>
          <a:p>
            <a:pPr marL="0" indent="0" algn="ctr">
              <a:buNone/>
            </a:pPr>
            <a:r>
              <a:rPr lang="en-US" sz="6000" b="1" dirty="0">
                <a:solidFill>
                  <a:srgbClr val="00B050"/>
                </a:solidFill>
              </a:rPr>
              <a:t>Interest rates in the SW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Interest rates </a:t>
            </a:r>
            <a:endParaRPr lang="en-US" dirty="0"/>
          </a:p>
        </p:txBody>
      </p:sp>
      <p:sp>
        <p:nvSpPr>
          <p:cNvPr id="3" name="Content Placeholder 2"/>
          <p:cNvSpPr>
            <a:spLocks noGrp="1"/>
          </p:cNvSpPr>
          <p:nvPr>
            <p:ph idx="1"/>
          </p:nvPr>
        </p:nvSpPr>
        <p:spPr>
          <a:xfrm>
            <a:off x="677334" y="2160589"/>
            <a:ext cx="8930492" cy="3880773"/>
          </a:xfrm>
        </p:spPr>
        <p:txBody>
          <a:bodyPr>
            <a:normAutofit/>
          </a:bodyPr>
          <a:lstStyle/>
          <a:p>
            <a:r>
              <a:rPr lang="en-US" sz="4000" b="1" i="0" dirty="0">
                <a:solidFill>
                  <a:srgbClr val="404040"/>
                </a:solidFill>
                <a:effectLst/>
                <a:latin typeface="Inter"/>
              </a:rPr>
              <a:t>Interest rates in the real world are a critical component of the global financial system, influencing everything from </a:t>
            </a:r>
            <a:r>
              <a:rPr lang="en-US" sz="4000" b="1" i="0" dirty="0">
                <a:solidFill>
                  <a:srgbClr val="FFC000"/>
                </a:solidFill>
                <a:effectLst/>
                <a:latin typeface="Inter"/>
              </a:rPr>
              <a:t>personal savings </a:t>
            </a:r>
            <a:r>
              <a:rPr lang="en-US" sz="4000" b="1" i="0" dirty="0">
                <a:solidFill>
                  <a:srgbClr val="404040"/>
                </a:solidFill>
                <a:effectLst/>
                <a:latin typeface="Inter"/>
              </a:rPr>
              <a:t>and </a:t>
            </a:r>
            <a:r>
              <a:rPr lang="en-US" sz="4000" b="1" i="0" dirty="0">
                <a:solidFill>
                  <a:srgbClr val="FF0000"/>
                </a:solidFill>
                <a:effectLst/>
                <a:latin typeface="Inter"/>
              </a:rPr>
              <a:t>loans</a:t>
            </a:r>
            <a:r>
              <a:rPr lang="en-US" sz="4000" b="1" i="0" dirty="0">
                <a:solidFill>
                  <a:srgbClr val="404040"/>
                </a:solidFill>
                <a:effectLst/>
                <a:latin typeface="Inter"/>
              </a:rPr>
              <a:t> to business investments and </a:t>
            </a:r>
            <a:r>
              <a:rPr lang="en-US" sz="4000" b="1" i="0" dirty="0">
                <a:solidFill>
                  <a:srgbClr val="FF0000"/>
                </a:solidFill>
                <a:effectLst/>
                <a:latin typeface="Inter"/>
              </a:rPr>
              <a:t>government borrowing.</a:t>
            </a:r>
            <a:endParaRPr lang="en-US" sz="40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Here are some key aspects of real-world interest rates</a:t>
            </a:r>
          </a:p>
        </p:txBody>
      </p:sp>
      <p:sp>
        <p:nvSpPr>
          <p:cNvPr id="3" name="Content Placeholder 2"/>
          <p:cNvSpPr>
            <a:spLocks noGrp="1"/>
          </p:cNvSpPr>
          <p:nvPr>
            <p:ph idx="1"/>
          </p:nvPr>
        </p:nvSpPr>
        <p:spPr>
          <a:xfrm>
            <a:off x="677334" y="2160589"/>
            <a:ext cx="9672614" cy="4492002"/>
          </a:xfrm>
        </p:spPr>
        <p:txBody>
          <a:bodyPr>
            <a:normAutofit/>
          </a:bodyPr>
          <a:lstStyle/>
          <a:p>
            <a:r>
              <a:rPr lang="en-US" sz="2400" b="1" dirty="0">
                <a:solidFill>
                  <a:srgbClr val="00B050"/>
                </a:solidFill>
                <a:effectLst/>
              </a:rPr>
              <a:t>1. Central Bank Rates</a:t>
            </a:r>
          </a:p>
          <a:p>
            <a:pPr>
              <a:buFont typeface="Arial" panose="020B0604020202020204" pitchFamily="34" charset="0"/>
              <a:buChar char="•"/>
            </a:pPr>
            <a:r>
              <a:rPr lang="en-US" sz="2400" b="1" dirty="0">
                <a:effectLst/>
              </a:rPr>
              <a:t>Policy Rates</a:t>
            </a:r>
            <a:r>
              <a:rPr lang="en-US" sz="2400" dirty="0">
                <a:effectLst/>
              </a:rPr>
              <a:t>: Central banks (e.g., the Federal Reserve in the U.S., the European Central Bank, or the Bank of Japan) set benchmark interest rates, often referred to as the "policy rate" or "base rate." These rates influence the cost of borrowing and the return on savings across the economy.</a:t>
            </a:r>
          </a:p>
          <a:p>
            <a:pPr>
              <a:spcBef>
                <a:spcPts val="300"/>
              </a:spcBef>
              <a:spcAft>
                <a:spcPts val="300"/>
              </a:spcAft>
              <a:buFont typeface="Arial" panose="020B0604020202020204" pitchFamily="34" charset="0"/>
              <a:buChar char="•"/>
            </a:pPr>
            <a:r>
              <a:rPr lang="en-US" sz="2400" b="1" dirty="0">
                <a:effectLst/>
              </a:rPr>
              <a:t>Examples</a:t>
            </a:r>
            <a:r>
              <a:rPr lang="en-US" sz="2400" dirty="0">
                <a:effectLst/>
              </a:rPr>
              <a:t>:</a:t>
            </a:r>
          </a:p>
          <a:p>
            <a:pPr marL="742950" lvl="1" indent="-285750">
              <a:spcBef>
                <a:spcPts val="300"/>
              </a:spcBef>
              <a:buFont typeface="Arial" panose="020B0604020202020204" pitchFamily="34" charset="0"/>
              <a:buChar char="•"/>
            </a:pPr>
            <a:r>
              <a:rPr lang="en-US" sz="2000" dirty="0">
                <a:effectLst/>
              </a:rPr>
              <a:t>Federal Funds Rate (U.S.): The rate at which banks lend to each other overnight.</a:t>
            </a:r>
          </a:p>
          <a:p>
            <a:pPr marL="742950" lvl="1" indent="-285750">
              <a:spcBef>
                <a:spcPts val="300"/>
              </a:spcBef>
              <a:buFont typeface="Arial" panose="020B0604020202020204" pitchFamily="34" charset="0"/>
              <a:buChar char="•"/>
            </a:pPr>
            <a:r>
              <a:rPr lang="en-US" sz="2000" dirty="0">
                <a:effectLst/>
              </a:rPr>
              <a:t>ECB Refinancing Rate (Eurozone): The rate at which banks can borrow from the ECB.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2122"/>
          </a:xfrm>
        </p:spPr>
        <p:txBody>
          <a:bodyPr>
            <a:normAutofit fontScale="90000"/>
          </a:bodyPr>
          <a:lstStyle/>
          <a:p>
            <a:r>
              <a:rPr lang="en-US" b="1" dirty="0">
                <a:solidFill>
                  <a:srgbClr val="00B050"/>
                </a:solidFill>
              </a:rPr>
              <a:t>2. Market-Determined Rates</a:t>
            </a:r>
            <a:br>
              <a:rPr lang="en-US" b="1" dirty="0">
                <a:solidFill>
                  <a:srgbClr val="00B050"/>
                </a:solidFill>
              </a:rPr>
            </a:br>
            <a:endParaRPr lang="en-US" dirty="0"/>
          </a:p>
        </p:txBody>
      </p:sp>
      <p:sp>
        <p:nvSpPr>
          <p:cNvPr id="3" name="Content Placeholder 2"/>
          <p:cNvSpPr>
            <a:spLocks noGrp="1"/>
          </p:cNvSpPr>
          <p:nvPr>
            <p:ph idx="1"/>
          </p:nvPr>
        </p:nvSpPr>
        <p:spPr>
          <a:xfrm>
            <a:off x="677333" y="1934817"/>
            <a:ext cx="9314805" cy="4651513"/>
          </a:xfrm>
        </p:spPr>
        <p:txBody>
          <a:bodyPr>
            <a:normAutofit/>
          </a:bodyPr>
          <a:lstStyle/>
          <a:p>
            <a:pPr>
              <a:buFont typeface="Arial" panose="020B0604020202020204" pitchFamily="34" charset="0"/>
              <a:buChar char="•"/>
            </a:pPr>
            <a:r>
              <a:rPr lang="en-US" sz="2800" b="1" dirty="0">
                <a:solidFill>
                  <a:schemeClr val="accent1"/>
                </a:solidFill>
                <a:effectLst/>
              </a:rPr>
              <a:t>Government Bonds</a:t>
            </a:r>
            <a:r>
              <a:rPr lang="en-US" sz="2800" dirty="0">
                <a:effectLst/>
              </a:rPr>
              <a:t>: Interest rates on government bonds (e.g., U.S. Treasuries, German Bunds) are determined by market demand and supply. </a:t>
            </a:r>
          </a:p>
          <a:p>
            <a:pPr>
              <a:buFont typeface="Arial" panose="020B0604020202020204" pitchFamily="34" charset="0"/>
              <a:buChar char="•"/>
            </a:pPr>
            <a:r>
              <a:rPr lang="en-US" sz="2800" dirty="0">
                <a:solidFill>
                  <a:srgbClr val="00B0F0"/>
                </a:solidFill>
                <a:effectLst/>
              </a:rPr>
              <a:t>These rates are often used as risk-free benchmarks.</a:t>
            </a:r>
          </a:p>
          <a:p>
            <a:pPr>
              <a:spcBef>
                <a:spcPts val="300"/>
              </a:spcBef>
              <a:buFont typeface="Arial" panose="020B0604020202020204" pitchFamily="34" charset="0"/>
              <a:buChar char="•"/>
            </a:pPr>
            <a:r>
              <a:rPr lang="en-US" sz="2800" b="1" dirty="0">
                <a:solidFill>
                  <a:schemeClr val="accent1"/>
                </a:solidFill>
              </a:rPr>
              <a:t>Corporate Bonds: </a:t>
            </a:r>
            <a:r>
              <a:rPr lang="en-US" sz="2800" dirty="0">
                <a:effectLst/>
              </a:rPr>
              <a:t>Companies issue bonds with interest rates that reflect their credit risk. Higher-risk companies pay higher yields to attract investors.</a:t>
            </a:r>
          </a:p>
          <a:p>
            <a:pPr>
              <a:spcBef>
                <a:spcPts val="300"/>
              </a:spcBef>
              <a:buFont typeface="Arial" panose="020B0604020202020204" pitchFamily="34" charset="0"/>
              <a:buChar char="•"/>
            </a:pPr>
            <a:r>
              <a:rPr lang="en-US" sz="2800" b="1" dirty="0">
                <a:solidFill>
                  <a:schemeClr val="accent1"/>
                </a:solidFill>
              </a:rPr>
              <a:t>Interbank Rates</a:t>
            </a:r>
            <a:r>
              <a:rPr lang="en-US" sz="2800" dirty="0">
                <a:effectLst/>
              </a:rPr>
              <a:t>: Rates at which banks lend to each other (e.g., LIBOR, SOFR) are influenced by central bank policies and market conditions.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34887"/>
          </a:xfrm>
        </p:spPr>
        <p:txBody>
          <a:bodyPr>
            <a:normAutofit fontScale="90000"/>
          </a:bodyPr>
          <a:lstStyle/>
          <a:p>
            <a:r>
              <a:rPr lang="en-US" b="1" dirty="0">
                <a:solidFill>
                  <a:srgbClr val="00B050"/>
                </a:solidFill>
              </a:rPr>
              <a:t>3. Consumer and Business Rates</a:t>
            </a:r>
            <a:br>
              <a:rPr lang="en-US" b="1" dirty="0">
                <a:solidFill>
                  <a:srgbClr val="00B050"/>
                </a:solidFill>
              </a:rPr>
            </a:br>
            <a:endParaRPr lang="en-US" dirty="0"/>
          </a:p>
        </p:txBody>
      </p:sp>
      <p:sp>
        <p:nvSpPr>
          <p:cNvPr id="3" name="Content Placeholder 2"/>
          <p:cNvSpPr>
            <a:spLocks noGrp="1"/>
          </p:cNvSpPr>
          <p:nvPr>
            <p:ph idx="1"/>
          </p:nvPr>
        </p:nvSpPr>
        <p:spPr>
          <a:xfrm>
            <a:off x="384313" y="1683026"/>
            <a:ext cx="9740347" cy="4916557"/>
          </a:xfrm>
        </p:spPr>
        <p:txBody>
          <a:bodyPr>
            <a:normAutofit/>
          </a:bodyPr>
          <a:lstStyle/>
          <a:p>
            <a:pPr>
              <a:buFont typeface="Arial" panose="020B0604020202020204" pitchFamily="34" charset="0"/>
              <a:buChar char="•"/>
            </a:pPr>
            <a:r>
              <a:rPr lang="en-US" sz="2000" b="1" dirty="0">
                <a:solidFill>
                  <a:schemeClr val="accent1"/>
                </a:solidFill>
                <a:effectLst/>
              </a:rPr>
              <a:t>Mortgages</a:t>
            </a:r>
            <a:r>
              <a:rPr lang="en-US" sz="2000" dirty="0">
                <a:solidFill>
                  <a:schemeClr val="accent1"/>
                </a:solidFill>
                <a:effectLst/>
              </a:rPr>
              <a:t>:</a:t>
            </a:r>
            <a:r>
              <a:rPr lang="en-US" sz="2000" dirty="0">
                <a:effectLst/>
              </a:rPr>
              <a:t> Home loan rates are influenced by central bank rates, inflation expectations, and the creditworthiness of borrowers.</a:t>
            </a:r>
          </a:p>
          <a:p>
            <a:pPr>
              <a:spcBef>
                <a:spcPts val="300"/>
              </a:spcBef>
              <a:buFont typeface="Arial" panose="020B0604020202020204" pitchFamily="34" charset="0"/>
              <a:buChar char="•"/>
            </a:pPr>
            <a:r>
              <a:rPr lang="en-US" sz="2000" b="1" dirty="0">
                <a:solidFill>
                  <a:schemeClr val="accent1"/>
                </a:solidFill>
              </a:rPr>
              <a:t>Savings Accounts</a:t>
            </a:r>
            <a:r>
              <a:rPr lang="en-US" sz="2000" dirty="0">
                <a:effectLst/>
              </a:rPr>
              <a:t>: Banks offer interest on deposits, though these rates are often lower than inflation in many economies.</a:t>
            </a:r>
          </a:p>
          <a:p>
            <a:pPr>
              <a:spcBef>
                <a:spcPts val="300"/>
              </a:spcBef>
              <a:buFont typeface="Arial" panose="020B0604020202020204" pitchFamily="34" charset="0"/>
              <a:buChar char="•"/>
            </a:pPr>
            <a:r>
              <a:rPr lang="en-US" sz="2000" b="1" dirty="0">
                <a:solidFill>
                  <a:schemeClr val="accent1"/>
                </a:solidFill>
              </a:rPr>
              <a:t>Credit Cards and Personal Loans</a:t>
            </a:r>
            <a:r>
              <a:rPr lang="en-US" sz="2000" dirty="0">
                <a:effectLst/>
              </a:rPr>
              <a:t>: These rates are typically higher due to the higher risk of default.</a:t>
            </a:r>
          </a:p>
          <a:p>
            <a:pPr>
              <a:spcBef>
                <a:spcPts val="300"/>
              </a:spcBef>
              <a:buFont typeface="Arial" panose="020B0604020202020204" pitchFamily="34" charset="0"/>
              <a:buChar char="•"/>
            </a:pPr>
            <a:r>
              <a:rPr lang="en-US" sz="2000" b="1" dirty="0">
                <a:solidFill>
                  <a:schemeClr val="accent1"/>
                </a:solidFill>
              </a:rPr>
              <a:t>Business Loans</a:t>
            </a:r>
            <a:r>
              <a:rPr lang="en-US" sz="2000" dirty="0">
                <a:effectLst/>
              </a:rPr>
              <a:t>: Interest rates for businesses depend on their credit rating, the loan term, and economic conditions.</a:t>
            </a:r>
          </a:p>
          <a:p>
            <a:r>
              <a:rPr lang="en-US" sz="2400" b="1" dirty="0">
                <a:solidFill>
                  <a:srgbClr val="00B050"/>
                </a:solidFill>
                <a:effectLst/>
              </a:rPr>
              <a:t>4. Inflation and Real Interest Rates</a:t>
            </a:r>
          </a:p>
          <a:p>
            <a:pPr>
              <a:buFont typeface="Arial" panose="020B0604020202020204" pitchFamily="34" charset="0"/>
              <a:buChar char="•"/>
            </a:pPr>
            <a:r>
              <a:rPr lang="en-US" sz="2000" b="1" dirty="0">
                <a:effectLst/>
              </a:rPr>
              <a:t>Nominal vs. Real Rates</a:t>
            </a:r>
            <a:r>
              <a:rPr lang="en-US" sz="2000" dirty="0">
                <a:effectLst/>
              </a:rPr>
              <a:t>: The nominal interest rate is the stated rate, while the real interest rate adjusts for inflation (Real Rate = Nominal Rate - Inflation Rate).</a:t>
            </a:r>
          </a:p>
          <a:p>
            <a:pPr>
              <a:spcBef>
                <a:spcPts val="300"/>
              </a:spcBef>
              <a:buFont typeface="Arial" panose="020B0604020202020204" pitchFamily="34" charset="0"/>
              <a:buChar char="•"/>
            </a:pPr>
            <a:r>
              <a:rPr lang="en-US" sz="2000" b="1" dirty="0">
                <a:effectLst/>
              </a:rPr>
              <a:t>Impact of Inflation</a:t>
            </a:r>
            <a:r>
              <a:rPr lang="en-US" sz="2000" dirty="0">
                <a:effectLst/>
              </a:rPr>
              <a:t>: High inflation can erode the value of interest income, leading central banks to raise /increased rates to control inflation.</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046922"/>
          </a:xfrm>
        </p:spPr>
        <p:txBody>
          <a:bodyPr>
            <a:normAutofit fontScale="90000"/>
          </a:bodyPr>
          <a:lstStyle/>
          <a:p>
            <a:r>
              <a:rPr lang="en-US" b="1" dirty="0">
                <a:solidFill>
                  <a:srgbClr val="00B050"/>
                </a:solidFill>
              </a:rPr>
              <a:t>5. Global Variations</a:t>
            </a:r>
            <a:br>
              <a:rPr lang="en-US" b="1" dirty="0">
                <a:solidFill>
                  <a:srgbClr val="00B050"/>
                </a:solidFill>
              </a:rPr>
            </a:br>
            <a:endParaRPr lang="en-US" dirty="0"/>
          </a:p>
        </p:txBody>
      </p:sp>
      <p:sp>
        <p:nvSpPr>
          <p:cNvPr id="3" name="Content Placeholder 2"/>
          <p:cNvSpPr>
            <a:spLocks noGrp="1"/>
          </p:cNvSpPr>
          <p:nvPr>
            <p:ph idx="1"/>
          </p:nvPr>
        </p:nvSpPr>
        <p:spPr>
          <a:xfrm>
            <a:off x="569843" y="1948071"/>
            <a:ext cx="9647583" cy="4093292"/>
          </a:xfrm>
        </p:spPr>
        <p:txBody>
          <a:bodyPr>
            <a:normAutofit/>
          </a:bodyPr>
          <a:lstStyle/>
          <a:p>
            <a:pPr>
              <a:buFont typeface="Arial" panose="020B0604020202020204" pitchFamily="34" charset="0"/>
              <a:buChar char="•"/>
            </a:pPr>
            <a:r>
              <a:rPr lang="en-US" sz="3200" b="1" dirty="0">
                <a:solidFill>
                  <a:srgbClr val="00B0F0"/>
                </a:solidFill>
                <a:effectLst/>
              </a:rPr>
              <a:t>Developed Economies</a:t>
            </a:r>
            <a:r>
              <a:rPr lang="en-US" sz="3200" dirty="0">
                <a:effectLst/>
              </a:rPr>
              <a:t>: Interest rates in developed economies (e.g., U.S., Eurozone, Japan) are often lower due to stable economic conditions and lower inflation.</a:t>
            </a:r>
          </a:p>
          <a:p>
            <a:pPr>
              <a:spcBef>
                <a:spcPts val="300"/>
              </a:spcBef>
              <a:buFont typeface="Arial" panose="020B0604020202020204" pitchFamily="34" charset="0"/>
              <a:buChar char="•"/>
            </a:pPr>
            <a:r>
              <a:rPr lang="en-US" sz="3200" b="1" dirty="0">
                <a:solidFill>
                  <a:srgbClr val="00B0F0"/>
                </a:solidFill>
                <a:effectLst/>
              </a:rPr>
              <a:t>Emerging Markets</a:t>
            </a:r>
            <a:r>
              <a:rPr lang="en-US" sz="3200" dirty="0">
                <a:effectLst/>
              </a:rPr>
              <a:t>: Higher interest rates are common in emerging markets due to higher inflation and greater economic risks.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74643"/>
          </a:xfrm>
        </p:spPr>
        <p:txBody>
          <a:bodyPr>
            <a:normAutofit fontScale="90000"/>
          </a:bodyPr>
          <a:lstStyle/>
          <a:p>
            <a:r>
              <a:rPr lang="en-US" b="1" dirty="0">
                <a:solidFill>
                  <a:srgbClr val="00B050"/>
                </a:solidFill>
              </a:rPr>
              <a:t>6. Current Trends / directions  (as of 2023)</a:t>
            </a:r>
            <a:br>
              <a:rPr lang="en-US" b="1" dirty="0">
                <a:solidFill>
                  <a:srgbClr val="00B050"/>
                </a:solidFill>
              </a:rPr>
            </a:br>
            <a:endParaRPr lang="en-US" dirty="0">
              <a:solidFill>
                <a:srgbClr val="00B050"/>
              </a:solidFill>
            </a:endParaRPr>
          </a:p>
        </p:txBody>
      </p:sp>
      <p:sp>
        <p:nvSpPr>
          <p:cNvPr id="3" name="Content Placeholder 2"/>
          <p:cNvSpPr>
            <a:spLocks noGrp="1"/>
          </p:cNvSpPr>
          <p:nvPr>
            <p:ph idx="1"/>
          </p:nvPr>
        </p:nvSpPr>
        <p:spPr>
          <a:xfrm>
            <a:off x="481915" y="1736035"/>
            <a:ext cx="9205782" cy="4305327"/>
          </a:xfrm>
        </p:spPr>
        <p:txBody>
          <a:bodyPr>
            <a:normAutofit fontScale="92500"/>
          </a:bodyPr>
          <a:lstStyle/>
          <a:p>
            <a:pPr>
              <a:buFont typeface="Arial" panose="020B0604020202020204" pitchFamily="34" charset="0"/>
              <a:buChar char="•"/>
            </a:pPr>
            <a:r>
              <a:rPr lang="en-US" sz="2800" b="1" dirty="0">
                <a:solidFill>
                  <a:schemeClr val="accent1"/>
                </a:solidFill>
                <a:effectLst/>
              </a:rPr>
              <a:t>Rising Rates</a:t>
            </a:r>
            <a:r>
              <a:rPr lang="en-US" sz="2800" dirty="0">
                <a:effectLst/>
              </a:rPr>
              <a:t>: Many central banks have raised interest rates to combat inflation caused by post-pandemic supply chain disruptions and geopolitical tensions (e.g., Russia-Ukraine war).</a:t>
            </a:r>
          </a:p>
          <a:p>
            <a:pPr>
              <a:spcBef>
                <a:spcPts val="300"/>
              </a:spcBef>
              <a:buFont typeface="Arial" panose="020B0604020202020204" pitchFamily="34" charset="0"/>
              <a:buChar char="•"/>
            </a:pPr>
            <a:r>
              <a:rPr lang="en-US" sz="2800" b="1" dirty="0">
                <a:solidFill>
                  <a:schemeClr val="accent1"/>
                </a:solidFill>
                <a:effectLst/>
              </a:rPr>
              <a:t>Quantitative Tightening</a:t>
            </a:r>
            <a:r>
              <a:rPr lang="en-US" sz="2800" dirty="0">
                <a:effectLst/>
              </a:rPr>
              <a:t>: Central banks are reducing their balance sheets, which can push interest rates higher.</a:t>
            </a:r>
          </a:p>
          <a:p>
            <a:pPr>
              <a:spcBef>
                <a:spcPts val="300"/>
              </a:spcBef>
              <a:buFont typeface="Arial" panose="020B0604020202020204" pitchFamily="34" charset="0"/>
              <a:buChar char="•"/>
            </a:pPr>
            <a:r>
              <a:rPr lang="en-US" sz="2800" b="1" dirty="0">
                <a:solidFill>
                  <a:schemeClr val="accent1"/>
                </a:solidFill>
              </a:rPr>
              <a:t>Negative Rates: </a:t>
            </a:r>
            <a:r>
              <a:rPr lang="en-US" sz="2800" dirty="0">
                <a:effectLst/>
              </a:rPr>
              <a:t>Some countries (e.g., Japan, Switzerland) have experimented with negative interest rates to stimulate economic growth, though this trend is reversing</a:t>
            </a:r>
            <a:r>
              <a:rPr lang="en-US" sz="2000" dirty="0">
                <a:effectLst/>
              </a:rPr>
              <a: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74643"/>
          </a:xfrm>
        </p:spPr>
        <p:txBody>
          <a:bodyPr>
            <a:normAutofit fontScale="90000"/>
          </a:bodyPr>
          <a:lstStyle/>
          <a:p>
            <a:r>
              <a:rPr lang="en-US" b="1" dirty="0">
                <a:solidFill>
                  <a:srgbClr val="00B050"/>
                </a:solidFill>
              </a:rPr>
              <a:t>7. Impact on the Economy</a:t>
            </a:r>
            <a:br>
              <a:rPr lang="en-US" b="1" dirty="0"/>
            </a:br>
            <a:endParaRPr lang="en-US" dirty="0"/>
          </a:p>
        </p:txBody>
      </p:sp>
      <p:sp>
        <p:nvSpPr>
          <p:cNvPr id="3" name="Content Placeholder 2"/>
          <p:cNvSpPr>
            <a:spLocks noGrp="1"/>
          </p:cNvSpPr>
          <p:nvPr>
            <p:ph idx="1"/>
          </p:nvPr>
        </p:nvSpPr>
        <p:spPr>
          <a:xfrm>
            <a:off x="677334" y="1669774"/>
            <a:ext cx="9526840" cy="4578625"/>
          </a:xfrm>
        </p:spPr>
        <p:txBody>
          <a:bodyPr>
            <a:normAutofit/>
          </a:bodyPr>
          <a:lstStyle/>
          <a:p>
            <a:pPr>
              <a:buFont typeface="Arial" panose="020B0604020202020204" pitchFamily="34" charset="0"/>
              <a:buChar char="•"/>
            </a:pPr>
            <a:r>
              <a:rPr lang="en-US" sz="3200" b="1" dirty="0">
                <a:solidFill>
                  <a:schemeClr val="accent1"/>
                </a:solidFill>
                <a:effectLst/>
              </a:rPr>
              <a:t>Borrowing Costs</a:t>
            </a:r>
            <a:r>
              <a:rPr lang="en-US" sz="3200" dirty="0">
                <a:effectLst/>
              </a:rPr>
              <a:t>: Higher rates increase the cost of borrowing for consumers and businesses, potentially slowing economic growth.</a:t>
            </a:r>
          </a:p>
          <a:p>
            <a:pPr>
              <a:spcBef>
                <a:spcPts val="300"/>
              </a:spcBef>
              <a:buFont typeface="Arial" panose="020B0604020202020204" pitchFamily="34" charset="0"/>
              <a:buChar char="•"/>
            </a:pPr>
            <a:r>
              <a:rPr lang="en-US" sz="3200" b="1" dirty="0">
                <a:solidFill>
                  <a:schemeClr val="accent1"/>
                </a:solidFill>
                <a:effectLst/>
              </a:rPr>
              <a:t>Savings and Investments</a:t>
            </a:r>
            <a:r>
              <a:rPr lang="en-US" sz="3200" dirty="0">
                <a:effectLst/>
              </a:rPr>
              <a:t>: Higher rates can encourage saving but may reduce investment in riskier assets like stocks.</a:t>
            </a:r>
          </a:p>
          <a:p>
            <a:pPr>
              <a:spcBef>
                <a:spcPts val="300"/>
              </a:spcBef>
              <a:buFont typeface="Arial" panose="020B0604020202020204" pitchFamily="34" charset="0"/>
              <a:buChar char="•"/>
            </a:pPr>
            <a:r>
              <a:rPr lang="en-US" sz="3200" b="1" dirty="0">
                <a:solidFill>
                  <a:schemeClr val="accent1"/>
                </a:solidFill>
                <a:effectLst/>
              </a:rPr>
              <a:t>Exchange Rates</a:t>
            </a:r>
            <a:r>
              <a:rPr lang="en-US" sz="3200" dirty="0">
                <a:effectLst/>
              </a:rPr>
              <a:t>: Higher interest rates can strengthen a country's currency by attracting foreign capital.</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1635"/>
          </a:xfrm>
        </p:spPr>
        <p:txBody>
          <a:bodyPr>
            <a:normAutofit fontScale="90000"/>
          </a:bodyPr>
          <a:lstStyle/>
          <a:p>
            <a:r>
              <a:rPr lang="en-US" b="1" dirty="0">
                <a:solidFill>
                  <a:srgbClr val="00B050"/>
                </a:solidFill>
              </a:rPr>
              <a:t>8. Future Outlook</a:t>
            </a:r>
            <a:br>
              <a:rPr lang="en-US" b="1" dirty="0"/>
            </a:br>
            <a:endParaRPr lang="en-US" dirty="0"/>
          </a:p>
        </p:txBody>
      </p:sp>
      <p:sp>
        <p:nvSpPr>
          <p:cNvPr id="3" name="Content Placeholder 2"/>
          <p:cNvSpPr>
            <a:spLocks noGrp="1"/>
          </p:cNvSpPr>
          <p:nvPr>
            <p:ph idx="1"/>
          </p:nvPr>
        </p:nvSpPr>
        <p:spPr>
          <a:xfrm>
            <a:off x="481913" y="1878227"/>
            <a:ext cx="9502345" cy="4584357"/>
          </a:xfrm>
        </p:spPr>
        <p:txBody>
          <a:bodyPr>
            <a:normAutofit/>
          </a:bodyPr>
          <a:lstStyle/>
          <a:p>
            <a:pPr>
              <a:buFont typeface="Arial" panose="020B0604020202020204" pitchFamily="34" charset="0"/>
              <a:buChar char="•"/>
            </a:pPr>
            <a:r>
              <a:rPr lang="en-US" sz="3600" b="1" dirty="0">
                <a:solidFill>
                  <a:schemeClr val="accent1"/>
                </a:solidFill>
                <a:effectLst/>
              </a:rPr>
              <a:t>Uncertainty</a:t>
            </a:r>
            <a:r>
              <a:rPr lang="en-US" sz="3600" dirty="0">
                <a:effectLst/>
              </a:rPr>
              <a:t>: The trajectory of interest rates depends on inflation trends, economic growth, and central bank policies.</a:t>
            </a:r>
          </a:p>
          <a:p>
            <a:pPr>
              <a:spcBef>
                <a:spcPts val="300"/>
              </a:spcBef>
              <a:buFont typeface="Arial" panose="020B0604020202020204" pitchFamily="34" charset="0"/>
              <a:buChar char="•"/>
            </a:pPr>
            <a:r>
              <a:rPr lang="en-US" sz="3600" b="1" dirty="0">
                <a:solidFill>
                  <a:schemeClr val="accent1"/>
                </a:solidFill>
                <a:effectLst/>
              </a:rPr>
              <a:t>Global Coordination</a:t>
            </a:r>
            <a:r>
              <a:rPr lang="en-US" sz="3600" dirty="0">
                <a:effectLst/>
              </a:rPr>
              <a:t>: Central banks often coordinate policies to avoid destabilizing global financial markets.</a:t>
            </a:r>
          </a:p>
          <a:p>
            <a:pPr marL="0" indent="0">
              <a:buNone/>
            </a:pPr>
            <a:endParaRPr lang="en-US" sz="2800"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Arial Black" panose="020B0A04020102020204" charset="0"/>
                <a:cs typeface="Arial Black" panose="020B0A04020102020204" charset="0"/>
              </a:rPr>
              <a:t>Net Present Value (NPV)</a:t>
            </a:r>
            <a:r>
              <a:rPr lang="en-US" dirty="0">
                <a:solidFill>
                  <a:srgbClr val="404040"/>
                </a:solidFill>
                <a:latin typeface="Inter"/>
              </a:rPr>
              <a:t> </a:t>
            </a:r>
            <a:endParaRPr lang="en-US" dirty="0"/>
          </a:p>
        </p:txBody>
      </p:sp>
      <p:sp>
        <p:nvSpPr>
          <p:cNvPr id="3" name="Content Placeholder 2"/>
          <p:cNvSpPr>
            <a:spLocks noGrp="1"/>
          </p:cNvSpPr>
          <p:nvPr>
            <p:ph idx="1"/>
          </p:nvPr>
        </p:nvSpPr>
        <p:spPr>
          <a:xfrm>
            <a:off x="457199" y="1930401"/>
            <a:ext cx="9687698" cy="4110962"/>
          </a:xfrm>
        </p:spPr>
        <p:txBody>
          <a:bodyPr>
            <a:normAutofit/>
          </a:bodyPr>
          <a:lstStyle/>
          <a:p>
            <a:r>
              <a:rPr lang="en-US" sz="3200" b="0" i="0" dirty="0">
                <a:solidFill>
                  <a:srgbClr val="404040"/>
                </a:solidFill>
                <a:effectLst/>
                <a:latin typeface="Inter"/>
              </a:rPr>
              <a:t>is a financial metric used to evaluate the </a:t>
            </a:r>
            <a:r>
              <a:rPr lang="en-US" sz="3200" b="0" i="0" dirty="0">
                <a:solidFill>
                  <a:srgbClr val="FF0000"/>
                </a:solidFill>
                <a:effectLst/>
                <a:latin typeface="Inter"/>
              </a:rPr>
              <a:t>profitability </a:t>
            </a:r>
            <a:r>
              <a:rPr lang="en-US" sz="3200" b="0" i="0" dirty="0">
                <a:solidFill>
                  <a:srgbClr val="404040"/>
                </a:solidFill>
                <a:effectLst/>
                <a:latin typeface="Inter"/>
              </a:rPr>
              <a:t>of an investment or project. It calculates the difference between the present value of cash inflows and the present value of cash outflows over a period of time. </a:t>
            </a:r>
          </a:p>
          <a:p>
            <a:r>
              <a:rPr lang="en-US" sz="3200" b="0" i="0" dirty="0">
                <a:solidFill>
                  <a:srgbClr val="00B0F0"/>
                </a:solidFill>
                <a:effectLst/>
                <a:latin typeface="Inter"/>
              </a:rPr>
              <a:t>A positive NPV indicates that the investment is expected to generate value,</a:t>
            </a:r>
          </a:p>
          <a:p>
            <a:r>
              <a:rPr lang="en-US" sz="3200" b="0" i="0" dirty="0">
                <a:solidFill>
                  <a:srgbClr val="00B0F0"/>
                </a:solidFill>
                <a:effectLst/>
                <a:latin typeface="Inter"/>
              </a:rPr>
              <a:t> </a:t>
            </a:r>
            <a:r>
              <a:rPr lang="en-US" sz="3200" b="0" i="0" dirty="0">
                <a:solidFill>
                  <a:srgbClr val="FFC000"/>
                </a:solidFill>
                <a:effectLst/>
                <a:latin typeface="Inter"/>
              </a:rPr>
              <a:t>while a negative NPV suggests it may result in a loss.</a:t>
            </a:r>
            <a:endParaRPr lang="en-US" sz="3200" dirty="0">
              <a:solidFill>
                <a:srgbClr val="FFC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Inter"/>
              </a:rPr>
              <a:t>Key Concepts in NPV Analysis</a:t>
            </a:r>
            <a:endParaRPr lang="en-US" dirty="0">
              <a:solidFill>
                <a:schemeClr val="accent1"/>
              </a:solidFill>
            </a:endParaRPr>
          </a:p>
        </p:txBody>
      </p:sp>
      <p:sp>
        <p:nvSpPr>
          <p:cNvPr id="3" name="Content Placeholder 2"/>
          <p:cNvSpPr>
            <a:spLocks noGrp="1"/>
          </p:cNvSpPr>
          <p:nvPr>
            <p:ph idx="1"/>
          </p:nvPr>
        </p:nvSpPr>
        <p:spPr>
          <a:xfrm>
            <a:off x="677333" y="1791731"/>
            <a:ext cx="9269855" cy="4695566"/>
          </a:xfrm>
        </p:spPr>
        <p:txBody>
          <a:bodyPr>
            <a:normAutofit lnSpcReduction="10000"/>
          </a:bodyPr>
          <a:lstStyle/>
          <a:p>
            <a:pPr algn="l"/>
            <a:endParaRPr lang="en-US" b="1" i="0" dirty="0">
              <a:solidFill>
                <a:srgbClr val="404040"/>
              </a:solidFill>
              <a:effectLst/>
              <a:latin typeface="Inter"/>
            </a:endParaRPr>
          </a:p>
          <a:p>
            <a:pPr algn="l">
              <a:spcAft>
                <a:spcPts val="300"/>
              </a:spcAft>
              <a:buFont typeface="+mj-lt"/>
              <a:buAutoNum type="arabicPeriod"/>
            </a:pPr>
            <a:r>
              <a:rPr lang="en-US" sz="2800" b="1" i="0" dirty="0">
                <a:solidFill>
                  <a:srgbClr val="404040"/>
                </a:solidFill>
                <a:effectLst/>
                <a:latin typeface="Inter"/>
              </a:rPr>
              <a:t>Time Value of Money (TVM)</a:t>
            </a:r>
            <a:r>
              <a:rPr lang="en-US" sz="2800" b="0" i="0" dirty="0">
                <a:solidFill>
                  <a:srgbClr val="404040"/>
                </a:solidFill>
                <a:effectLst/>
                <a:latin typeface="Inter"/>
              </a:rPr>
              <a:t>:</a:t>
            </a:r>
          </a:p>
          <a:p>
            <a:pPr marL="742950" lvl="1" indent="-285750" algn="l">
              <a:spcBef>
                <a:spcPts val="300"/>
              </a:spcBef>
              <a:buFont typeface="+mj-lt"/>
              <a:buAutoNum type="arabicPeriod"/>
            </a:pPr>
            <a:r>
              <a:rPr lang="en-US" sz="2400" b="0" i="0" dirty="0">
                <a:solidFill>
                  <a:srgbClr val="404040"/>
                </a:solidFill>
                <a:effectLst/>
                <a:latin typeface="Inter"/>
              </a:rPr>
              <a:t>Money today is worth more than the same amount in the future due to its earning potential (e.g., through interest or investment returns).</a:t>
            </a:r>
          </a:p>
          <a:p>
            <a:pPr marL="742950" lvl="1" indent="-285750" algn="l">
              <a:spcBef>
                <a:spcPts val="300"/>
              </a:spcBef>
              <a:buFont typeface="+mj-lt"/>
              <a:buAutoNum type="arabicPeriod"/>
            </a:pPr>
            <a:r>
              <a:rPr lang="en-US" sz="2400" b="0" i="0" dirty="0">
                <a:solidFill>
                  <a:srgbClr val="404040"/>
                </a:solidFill>
                <a:effectLst/>
                <a:latin typeface="Inter"/>
              </a:rPr>
              <a:t>NPV discounts future cash flows to their present value using a discount rate.</a:t>
            </a:r>
          </a:p>
          <a:p>
            <a:pPr algn="l">
              <a:spcBef>
                <a:spcPts val="300"/>
              </a:spcBef>
              <a:spcAft>
                <a:spcPts val="300"/>
              </a:spcAft>
              <a:buFont typeface="+mj-lt"/>
              <a:buAutoNum type="arabicPeriod"/>
            </a:pPr>
            <a:r>
              <a:rPr lang="en-US" sz="2800" b="1" i="0" dirty="0">
                <a:solidFill>
                  <a:srgbClr val="404040"/>
                </a:solidFill>
                <a:effectLst/>
                <a:latin typeface="Inter"/>
              </a:rPr>
              <a:t>Discount Rate</a:t>
            </a:r>
            <a:r>
              <a:rPr lang="en-US" sz="2800" b="0" i="0" dirty="0">
                <a:solidFill>
                  <a:srgbClr val="404040"/>
                </a:solidFill>
                <a:effectLst/>
                <a:latin typeface="Inter"/>
              </a:rPr>
              <a:t>:</a:t>
            </a:r>
          </a:p>
          <a:p>
            <a:pPr marL="742950" lvl="1" indent="-285750" algn="l">
              <a:spcBef>
                <a:spcPts val="300"/>
              </a:spcBef>
              <a:buFont typeface="+mj-lt"/>
              <a:buAutoNum type="arabicPeriod"/>
            </a:pPr>
            <a:r>
              <a:rPr lang="en-US" sz="2400" b="0" i="0" dirty="0">
                <a:solidFill>
                  <a:srgbClr val="404040"/>
                </a:solidFill>
                <a:effectLst/>
                <a:latin typeface="Inter"/>
              </a:rPr>
              <a:t>The rate used to discount future cash flows to their present value. It reflects the risk of the investment and the opportunity cost of capital (</a:t>
            </a:r>
            <a:r>
              <a:rPr lang="en-US" sz="2400" b="0" i="0" dirty="0">
                <a:solidFill>
                  <a:srgbClr val="FF0000"/>
                </a:solidFill>
                <a:effectLst/>
                <a:latin typeface="Inter"/>
              </a:rPr>
              <a:t>e.g., the return you could earn from an alternative investment with similar risk</a:t>
            </a:r>
            <a:r>
              <a:rPr lang="en-US" sz="2400" b="0" i="0" dirty="0">
                <a:solidFill>
                  <a:srgbClr val="404040"/>
                </a:solidFill>
                <a:effectLst/>
                <a:latin typeface="Inter"/>
              </a:rPr>
              <a: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Inter"/>
              </a:rPr>
              <a:t>Cash Flows</a:t>
            </a:r>
            <a:r>
              <a:rPr lang="en-US" dirty="0">
                <a:solidFill>
                  <a:schemeClr val="accent1"/>
                </a:solidFill>
                <a:latin typeface="Inter"/>
              </a:rPr>
              <a:t>:</a:t>
            </a:r>
            <a:br>
              <a:rPr lang="en-US" dirty="0">
                <a:solidFill>
                  <a:schemeClr val="accent1"/>
                </a:solidFill>
                <a:latin typeface="Inter"/>
              </a:rPr>
            </a:br>
            <a:endParaRPr lang="en-US" dirty="0">
              <a:solidFill>
                <a:schemeClr val="accent1"/>
              </a:solidFill>
            </a:endParaRPr>
          </a:p>
        </p:txBody>
      </p:sp>
      <p:sp>
        <p:nvSpPr>
          <p:cNvPr id="3" name="Content Placeholder 2"/>
          <p:cNvSpPr>
            <a:spLocks noGrp="1"/>
          </p:cNvSpPr>
          <p:nvPr>
            <p:ph idx="1"/>
          </p:nvPr>
        </p:nvSpPr>
        <p:spPr>
          <a:xfrm>
            <a:off x="677334" y="1704358"/>
            <a:ext cx="9245142" cy="4373200"/>
          </a:xfrm>
        </p:spPr>
        <p:txBody>
          <a:bodyPr/>
          <a:lstStyle/>
          <a:p>
            <a:pPr marL="742950" lvl="1" indent="-285750" algn="l">
              <a:spcBef>
                <a:spcPts val="300"/>
              </a:spcBef>
              <a:buFont typeface="+mj-lt"/>
              <a:buAutoNum type="arabicPeriod"/>
            </a:pPr>
            <a:r>
              <a:rPr lang="en-US" sz="2000" b="1" i="0" dirty="0">
                <a:solidFill>
                  <a:srgbClr val="404040"/>
                </a:solidFill>
                <a:effectLst/>
                <a:latin typeface="Inter"/>
              </a:rPr>
              <a:t>Inflows</a:t>
            </a:r>
            <a:r>
              <a:rPr lang="en-US" sz="2000" b="0" i="0" dirty="0">
                <a:solidFill>
                  <a:srgbClr val="404040"/>
                </a:solidFill>
                <a:effectLst/>
                <a:latin typeface="Inter"/>
              </a:rPr>
              <a:t>: Revenue, savings, or other benefits generated by the project.</a:t>
            </a:r>
          </a:p>
          <a:p>
            <a:pPr marL="742950" lvl="1" indent="-285750" algn="l">
              <a:spcBef>
                <a:spcPts val="300"/>
              </a:spcBef>
              <a:buFont typeface="+mj-lt"/>
              <a:buAutoNum type="arabicPeriod"/>
            </a:pPr>
            <a:r>
              <a:rPr lang="en-US" sz="2000" b="1" i="0" dirty="0">
                <a:solidFill>
                  <a:srgbClr val="404040"/>
                </a:solidFill>
                <a:effectLst/>
                <a:latin typeface="Inter"/>
              </a:rPr>
              <a:t>Outflows</a:t>
            </a:r>
            <a:r>
              <a:rPr lang="en-US" sz="2000" b="0" i="0" dirty="0">
                <a:solidFill>
                  <a:srgbClr val="404040"/>
                </a:solidFill>
                <a:effectLst/>
                <a:latin typeface="Inter"/>
              </a:rPr>
              <a:t>: Initial investment and ongoing costs (e.g., operating expenses, maintenance).</a:t>
            </a:r>
          </a:p>
          <a:p>
            <a:pPr algn="l">
              <a:spcAft>
                <a:spcPts val="300"/>
              </a:spcAft>
            </a:pPr>
            <a:r>
              <a:rPr lang="en-US" sz="2400" b="1" i="0" dirty="0">
                <a:solidFill>
                  <a:srgbClr val="404040"/>
                </a:solidFill>
                <a:effectLst/>
                <a:latin typeface="Inter"/>
              </a:rPr>
              <a:t>Formula for NPV</a:t>
            </a:r>
            <a:r>
              <a:rPr lang="en-US" sz="2400" b="0" i="0" dirty="0">
                <a:solidFill>
                  <a:srgbClr val="404040"/>
                </a:solidFill>
                <a:effectLst/>
                <a:latin typeface="Inter"/>
              </a:rPr>
              <a:t>:</a:t>
            </a:r>
          </a:p>
          <a:p>
            <a:pPr algn="l">
              <a:spcBef>
                <a:spcPts val="300"/>
              </a:spcBef>
              <a:spcAft>
                <a:spcPts val="300"/>
              </a:spcAft>
            </a:pPr>
            <a:r>
              <a:rPr lang="en-US" sz="3600" b="0" i="0" dirty="0">
                <a:solidFill>
                  <a:schemeClr val="accent6">
                    <a:lumMod val="75000"/>
                  </a:schemeClr>
                </a:solidFill>
                <a:effectLst/>
                <a:latin typeface="KaTeX_Main"/>
              </a:rPr>
              <a:t>NPV=∑(Ct(1+r)t)−C0</a:t>
            </a:r>
            <a:r>
              <a:rPr lang="en-US" sz="3600" b="0" i="1" dirty="0">
                <a:solidFill>
                  <a:schemeClr val="accent6">
                    <a:lumMod val="75000"/>
                  </a:schemeClr>
                </a:solidFill>
                <a:effectLst/>
                <a:latin typeface="KaTeX_Math"/>
              </a:rPr>
              <a:t>NPV</a:t>
            </a:r>
            <a:r>
              <a:rPr lang="en-US" sz="3600" b="0" i="0" dirty="0">
                <a:solidFill>
                  <a:schemeClr val="accent6">
                    <a:lumMod val="75000"/>
                  </a:schemeClr>
                </a:solidFill>
                <a:effectLst/>
                <a:latin typeface="KaTeX_Main"/>
              </a:rPr>
              <a:t>=</a:t>
            </a:r>
            <a:r>
              <a:rPr lang="en-US" sz="3600" b="0" i="0" dirty="0">
                <a:solidFill>
                  <a:schemeClr val="accent6">
                    <a:lumMod val="75000"/>
                  </a:schemeClr>
                </a:solidFill>
                <a:effectLst/>
                <a:latin typeface="KaTeX_Size2"/>
              </a:rPr>
              <a:t>∑</a:t>
            </a:r>
            <a:r>
              <a:rPr lang="en-US" sz="3600" b="0" i="0" dirty="0">
                <a:solidFill>
                  <a:schemeClr val="accent6">
                    <a:lumMod val="75000"/>
                  </a:schemeClr>
                </a:solidFill>
                <a:effectLst/>
                <a:latin typeface="KaTeX_Size3"/>
              </a:rPr>
              <a:t>(</a:t>
            </a:r>
            <a:r>
              <a:rPr lang="en-US" sz="3600" b="0" i="0" dirty="0">
                <a:solidFill>
                  <a:schemeClr val="accent6">
                    <a:lumMod val="75000"/>
                  </a:schemeClr>
                </a:solidFill>
                <a:effectLst/>
                <a:latin typeface="KaTeX_Main"/>
              </a:rPr>
              <a:t>(1+</a:t>
            </a:r>
            <a:r>
              <a:rPr lang="en-US" sz="3600" b="0" i="1" dirty="0">
                <a:solidFill>
                  <a:schemeClr val="accent6">
                    <a:lumMod val="75000"/>
                  </a:schemeClr>
                </a:solidFill>
                <a:effectLst/>
                <a:latin typeface="KaTeX_Math"/>
              </a:rPr>
              <a:t>r</a:t>
            </a:r>
            <a:r>
              <a:rPr lang="en-US" sz="3600" b="0" i="0" dirty="0">
                <a:solidFill>
                  <a:schemeClr val="accent6">
                    <a:lumMod val="75000"/>
                  </a:schemeClr>
                </a:solidFill>
                <a:effectLst/>
                <a:latin typeface="KaTeX_Main"/>
              </a:rPr>
              <a:t>)</a:t>
            </a:r>
            <a:r>
              <a:rPr lang="en-US" sz="3600" b="0" i="1" dirty="0" err="1">
                <a:solidFill>
                  <a:schemeClr val="accent6">
                    <a:lumMod val="75000"/>
                  </a:schemeClr>
                </a:solidFill>
                <a:effectLst/>
                <a:latin typeface="KaTeX_Math"/>
              </a:rPr>
              <a:t>tCt</a:t>
            </a:r>
            <a:r>
              <a:rPr lang="en-US" sz="3600" b="0" i="0" dirty="0">
                <a:solidFill>
                  <a:schemeClr val="accent6">
                    <a:lumMod val="75000"/>
                  </a:schemeClr>
                </a:solidFill>
                <a:effectLst/>
                <a:latin typeface="KaTeX_Main"/>
              </a:rPr>
              <a:t>​​</a:t>
            </a:r>
            <a:r>
              <a:rPr lang="en-US" sz="3600" b="0" i="0" dirty="0">
                <a:solidFill>
                  <a:schemeClr val="accent6">
                    <a:lumMod val="75000"/>
                  </a:schemeClr>
                </a:solidFill>
                <a:effectLst/>
                <a:latin typeface="KaTeX_Size3"/>
              </a:rPr>
              <a:t>)</a:t>
            </a:r>
            <a:r>
              <a:rPr lang="en-US" sz="3600" b="0" i="0" dirty="0">
                <a:solidFill>
                  <a:schemeClr val="accent6">
                    <a:lumMod val="75000"/>
                  </a:schemeClr>
                </a:solidFill>
                <a:effectLst/>
                <a:latin typeface="KaTeX_Main"/>
              </a:rPr>
              <a:t>−</a:t>
            </a:r>
            <a:r>
              <a:rPr lang="en-US" sz="3600" b="0" i="1" dirty="0">
                <a:solidFill>
                  <a:schemeClr val="accent6">
                    <a:lumMod val="75000"/>
                  </a:schemeClr>
                </a:solidFill>
                <a:effectLst/>
                <a:latin typeface="KaTeX_Math"/>
              </a:rPr>
              <a:t>C</a:t>
            </a:r>
            <a:r>
              <a:rPr lang="en-US" sz="3600" b="0" i="0" dirty="0">
                <a:solidFill>
                  <a:schemeClr val="accent6">
                    <a:lumMod val="75000"/>
                  </a:schemeClr>
                </a:solidFill>
                <a:effectLst/>
                <a:latin typeface="KaTeX_Main"/>
              </a:rPr>
              <a:t>0​</a:t>
            </a:r>
            <a:r>
              <a:rPr lang="en-US" b="0" i="0" dirty="0">
                <a:solidFill>
                  <a:schemeClr val="accent6">
                    <a:lumMod val="75000"/>
                  </a:schemeClr>
                </a:solidFill>
                <a:effectLst/>
                <a:latin typeface="Inter"/>
              </a:rPr>
              <a:t>Where:</a:t>
            </a:r>
            <a:endParaRPr lang="en-US" sz="3600" b="0" i="0" dirty="0">
              <a:solidFill>
                <a:schemeClr val="accent6">
                  <a:lumMod val="75000"/>
                </a:schemeClr>
              </a:solidFill>
              <a:effectLst/>
              <a:latin typeface="Inter"/>
            </a:endParaRPr>
          </a:p>
          <a:p>
            <a:pPr algn="l">
              <a:spcBef>
                <a:spcPts val="300"/>
              </a:spcBef>
              <a:buFont typeface="Arial" panose="020B0604020202020204" pitchFamily="34" charset="0"/>
              <a:buChar char="•"/>
            </a:pPr>
            <a:r>
              <a:rPr lang="en-US" sz="2400" b="0" i="0" dirty="0">
                <a:solidFill>
                  <a:srgbClr val="404040"/>
                </a:solidFill>
                <a:effectLst/>
                <a:latin typeface="KaTeX_Main"/>
              </a:rPr>
              <a:t>Ct​</a:t>
            </a:r>
            <a:r>
              <a:rPr lang="en-US" sz="2400" b="0" i="0" dirty="0">
                <a:solidFill>
                  <a:srgbClr val="404040"/>
                </a:solidFill>
                <a:effectLst/>
                <a:latin typeface="Inter"/>
              </a:rPr>
              <a:t> = Net cash flow at time </a:t>
            </a:r>
            <a:r>
              <a:rPr lang="en-US" sz="2400" b="0" i="0" dirty="0" err="1">
                <a:solidFill>
                  <a:srgbClr val="404040"/>
                </a:solidFill>
                <a:effectLst/>
                <a:latin typeface="KaTeX_Main"/>
              </a:rPr>
              <a:t>t</a:t>
            </a:r>
            <a:r>
              <a:rPr lang="en-US" sz="2400" b="0" i="1" dirty="0" err="1">
                <a:solidFill>
                  <a:srgbClr val="404040"/>
                </a:solidFill>
                <a:effectLst/>
                <a:latin typeface="KaTeX_Math"/>
              </a:rPr>
              <a:t>t</a:t>
            </a:r>
            <a:r>
              <a:rPr lang="en-US" sz="2400" b="0" i="0" dirty="0">
                <a:solidFill>
                  <a:srgbClr val="404040"/>
                </a:solidFill>
                <a:effectLst/>
                <a:latin typeface="Inter"/>
              </a:rPr>
              <a:t> (inflows - outflows)</a:t>
            </a:r>
          </a:p>
          <a:p>
            <a:pPr algn="l">
              <a:spcBef>
                <a:spcPts val="300"/>
              </a:spcBef>
              <a:buFont typeface="Arial" panose="020B0604020202020204" pitchFamily="34" charset="0"/>
              <a:buChar char="•"/>
            </a:pPr>
            <a:r>
              <a:rPr lang="en-US" sz="2400" b="0" i="1" dirty="0">
                <a:solidFill>
                  <a:srgbClr val="404040"/>
                </a:solidFill>
                <a:effectLst/>
                <a:latin typeface="KaTeX_Math"/>
              </a:rPr>
              <a:t>r</a:t>
            </a:r>
            <a:r>
              <a:rPr lang="en-US" sz="2400" b="0" i="0" dirty="0">
                <a:solidFill>
                  <a:srgbClr val="404040"/>
                </a:solidFill>
                <a:effectLst/>
                <a:latin typeface="Inter"/>
              </a:rPr>
              <a:t> = Discount rate</a:t>
            </a:r>
          </a:p>
          <a:p>
            <a:pPr algn="l">
              <a:spcBef>
                <a:spcPts val="300"/>
              </a:spcBef>
              <a:buFont typeface="Arial" panose="020B0604020202020204" pitchFamily="34" charset="0"/>
              <a:buChar char="•"/>
            </a:pPr>
            <a:r>
              <a:rPr lang="en-US" sz="2400" b="0" i="0" dirty="0" err="1">
                <a:solidFill>
                  <a:srgbClr val="404040"/>
                </a:solidFill>
                <a:effectLst/>
                <a:latin typeface="KaTeX_Main"/>
              </a:rPr>
              <a:t>t</a:t>
            </a:r>
            <a:r>
              <a:rPr lang="en-US" sz="2400" b="0" i="1" dirty="0" err="1">
                <a:solidFill>
                  <a:srgbClr val="404040"/>
                </a:solidFill>
                <a:effectLst/>
                <a:latin typeface="KaTeX_Math"/>
              </a:rPr>
              <a:t>t</a:t>
            </a:r>
            <a:r>
              <a:rPr lang="en-US" sz="2400" b="0" i="0" dirty="0">
                <a:solidFill>
                  <a:srgbClr val="404040"/>
                </a:solidFill>
                <a:effectLst/>
                <a:latin typeface="Inter"/>
              </a:rPr>
              <a:t> = Time period</a:t>
            </a:r>
          </a:p>
          <a:p>
            <a:pPr algn="l">
              <a:spcBef>
                <a:spcPts val="300"/>
              </a:spcBef>
              <a:buFont typeface="Arial" panose="020B0604020202020204" pitchFamily="34" charset="0"/>
              <a:buChar char="•"/>
            </a:pPr>
            <a:r>
              <a:rPr lang="en-US" sz="2400" b="0" i="0" dirty="0">
                <a:solidFill>
                  <a:srgbClr val="404040"/>
                </a:solidFill>
                <a:effectLst/>
                <a:latin typeface="KaTeX_Main"/>
              </a:rPr>
              <a:t>C0</a:t>
            </a:r>
            <a:r>
              <a:rPr lang="en-US" sz="2400" b="0" i="1" dirty="0">
                <a:solidFill>
                  <a:srgbClr val="404040"/>
                </a:solidFill>
                <a:effectLst/>
                <a:latin typeface="KaTeX_Math"/>
              </a:rPr>
              <a:t>C</a:t>
            </a:r>
            <a:r>
              <a:rPr lang="en-US" sz="2400" b="0" i="0" dirty="0">
                <a:solidFill>
                  <a:srgbClr val="404040"/>
                </a:solidFill>
                <a:effectLst/>
                <a:latin typeface="KaTeX_Main"/>
              </a:rPr>
              <a:t>0​</a:t>
            </a:r>
            <a:r>
              <a:rPr lang="en-US" sz="2400" b="0" i="0" dirty="0">
                <a:solidFill>
                  <a:srgbClr val="404040"/>
                </a:solidFill>
                <a:effectLst/>
                <a:latin typeface="Inter"/>
              </a:rPr>
              <a:t> = Initial investment (at time </a:t>
            </a:r>
            <a:r>
              <a:rPr lang="en-US" sz="2400" b="0" i="0" dirty="0">
                <a:solidFill>
                  <a:srgbClr val="404040"/>
                </a:solidFill>
                <a:effectLst/>
                <a:latin typeface="KaTeX_Main"/>
              </a:rPr>
              <a:t>t=0     </a:t>
            </a:r>
            <a:r>
              <a:rPr lang="en-US" sz="2400" b="0" i="1" dirty="0">
                <a:solidFill>
                  <a:srgbClr val="404040"/>
                </a:solidFill>
                <a:effectLst/>
                <a:latin typeface="KaTeX_Math"/>
              </a:rPr>
              <a:t>t</a:t>
            </a:r>
            <a:r>
              <a:rPr lang="en-US" sz="2400" b="0" i="0" dirty="0">
                <a:solidFill>
                  <a:srgbClr val="404040"/>
                </a:solidFill>
                <a:effectLst/>
                <a:latin typeface="KaTeX_Main"/>
              </a:rPr>
              <a:t>=0</a:t>
            </a:r>
            <a:r>
              <a:rPr lang="en-US" sz="2400" b="0" i="0" dirty="0">
                <a:solidFill>
                  <a:srgbClr val="404040"/>
                </a:solidFill>
                <a:effectLst/>
                <a:latin typeface="Inter"/>
              </a:rPr>
              <a: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Inter"/>
              </a:rPr>
              <a:t>Steps to Calculate NPV</a:t>
            </a:r>
            <a:br>
              <a:rPr lang="en-US" b="1" dirty="0">
                <a:solidFill>
                  <a:schemeClr val="accent1"/>
                </a:solidFill>
                <a:latin typeface="Inter"/>
              </a:rPr>
            </a:br>
            <a:endParaRPr lang="en-US" dirty="0">
              <a:solidFill>
                <a:schemeClr val="accent1"/>
              </a:solidFill>
            </a:endParaRPr>
          </a:p>
        </p:txBody>
      </p:sp>
      <p:sp>
        <p:nvSpPr>
          <p:cNvPr id="3" name="Content Placeholder 2"/>
          <p:cNvSpPr>
            <a:spLocks noGrp="1"/>
          </p:cNvSpPr>
          <p:nvPr>
            <p:ph idx="1"/>
          </p:nvPr>
        </p:nvSpPr>
        <p:spPr>
          <a:xfrm>
            <a:off x="677334" y="1791730"/>
            <a:ext cx="8596668" cy="4646139"/>
          </a:xfrm>
        </p:spPr>
        <p:txBody>
          <a:bodyPr>
            <a:normAutofit lnSpcReduction="10000"/>
          </a:bodyPr>
          <a:lstStyle/>
          <a:p>
            <a:pPr algn="l">
              <a:spcAft>
                <a:spcPts val="300"/>
              </a:spcAft>
              <a:buFont typeface="+mj-lt"/>
              <a:buAutoNum type="arabicPeriod"/>
            </a:pPr>
            <a:r>
              <a:rPr lang="en-US" sz="2800" b="1" i="0" dirty="0">
                <a:solidFill>
                  <a:srgbClr val="404040"/>
                </a:solidFill>
                <a:effectLst/>
                <a:latin typeface="Inter"/>
              </a:rPr>
              <a:t>Identify Cash Flows</a:t>
            </a:r>
            <a:r>
              <a:rPr lang="en-US" sz="2800" b="0" i="0" dirty="0">
                <a:solidFill>
                  <a:srgbClr val="404040"/>
                </a:solidFill>
                <a:effectLst/>
                <a:latin typeface="Inter"/>
              </a:rPr>
              <a:t>:</a:t>
            </a:r>
          </a:p>
          <a:p>
            <a:pPr marL="742950" lvl="1" indent="-285750" algn="l">
              <a:spcBef>
                <a:spcPts val="300"/>
              </a:spcBef>
              <a:buFont typeface="+mj-lt"/>
              <a:buAutoNum type="arabicPeriod"/>
            </a:pPr>
            <a:r>
              <a:rPr lang="en-US" sz="2400" b="0" i="0" dirty="0">
                <a:solidFill>
                  <a:srgbClr val="404040"/>
                </a:solidFill>
                <a:effectLst/>
                <a:latin typeface="Inter"/>
              </a:rPr>
              <a:t>Estimate all </a:t>
            </a:r>
            <a:r>
              <a:rPr lang="en-US" sz="2400" b="0" i="0" dirty="0">
                <a:solidFill>
                  <a:schemeClr val="accent6"/>
                </a:solidFill>
                <a:effectLst/>
                <a:latin typeface="Inter"/>
              </a:rPr>
              <a:t>future cash inflows and outflows </a:t>
            </a:r>
            <a:r>
              <a:rPr lang="en-US" sz="2400" b="0" i="0" dirty="0">
                <a:solidFill>
                  <a:srgbClr val="404040"/>
                </a:solidFill>
                <a:effectLst/>
                <a:latin typeface="Inter"/>
              </a:rPr>
              <a:t>associated with the project.</a:t>
            </a:r>
          </a:p>
          <a:p>
            <a:pPr marL="742950" lvl="1" indent="-285750" algn="l">
              <a:spcBef>
                <a:spcPts val="300"/>
              </a:spcBef>
              <a:buFont typeface="+mj-lt"/>
              <a:buAutoNum type="arabicPeriod"/>
            </a:pPr>
            <a:r>
              <a:rPr lang="en-US" sz="2400" b="0" i="0" dirty="0">
                <a:solidFill>
                  <a:srgbClr val="404040"/>
                </a:solidFill>
                <a:effectLst/>
                <a:latin typeface="Inter"/>
              </a:rPr>
              <a:t>Include the initial investment as a negative cash flow at time </a:t>
            </a:r>
            <a:r>
              <a:rPr lang="en-US" sz="2400" b="0" i="0" dirty="0">
                <a:solidFill>
                  <a:srgbClr val="404040"/>
                </a:solidFill>
                <a:effectLst/>
                <a:latin typeface="KaTeX_Main"/>
              </a:rPr>
              <a:t>t=0  </a:t>
            </a:r>
            <a:r>
              <a:rPr lang="en-US" sz="2400" b="0" i="1" dirty="0">
                <a:solidFill>
                  <a:srgbClr val="404040"/>
                </a:solidFill>
                <a:effectLst/>
                <a:latin typeface="KaTeX_Math"/>
              </a:rPr>
              <a:t>t</a:t>
            </a:r>
            <a:r>
              <a:rPr lang="en-US" sz="2400" b="0" i="0" dirty="0">
                <a:solidFill>
                  <a:srgbClr val="404040"/>
                </a:solidFill>
                <a:effectLst/>
                <a:latin typeface="KaTeX_Main"/>
              </a:rPr>
              <a:t>=0</a:t>
            </a:r>
            <a:r>
              <a:rPr lang="en-US" sz="2400" b="0" i="0" dirty="0">
                <a:solidFill>
                  <a:srgbClr val="404040"/>
                </a:solidFill>
                <a:effectLst/>
                <a:latin typeface="Inter"/>
              </a:rPr>
              <a:t>.</a:t>
            </a:r>
          </a:p>
          <a:p>
            <a:pPr algn="l">
              <a:spcBef>
                <a:spcPts val="300"/>
              </a:spcBef>
              <a:spcAft>
                <a:spcPts val="300"/>
              </a:spcAft>
              <a:buFont typeface="+mj-lt"/>
              <a:buAutoNum type="arabicPeriod"/>
            </a:pPr>
            <a:r>
              <a:rPr lang="en-US" sz="2800" b="1" i="0" dirty="0">
                <a:solidFill>
                  <a:srgbClr val="404040"/>
                </a:solidFill>
                <a:effectLst/>
                <a:latin typeface="Inter"/>
              </a:rPr>
              <a:t>Choose a Discount Rate</a:t>
            </a:r>
            <a:r>
              <a:rPr lang="en-US" sz="2800" b="0" i="0" dirty="0">
                <a:solidFill>
                  <a:srgbClr val="404040"/>
                </a:solidFill>
                <a:effectLst/>
                <a:latin typeface="Inter"/>
              </a:rPr>
              <a:t>:</a:t>
            </a:r>
          </a:p>
          <a:p>
            <a:pPr marL="742950" lvl="1" indent="-285750" algn="l">
              <a:spcBef>
                <a:spcPts val="300"/>
              </a:spcBef>
              <a:buFont typeface="+mj-lt"/>
              <a:buAutoNum type="arabicPeriod"/>
            </a:pPr>
            <a:r>
              <a:rPr lang="en-US" sz="2400" b="0" i="0" dirty="0">
                <a:solidFill>
                  <a:srgbClr val="404040"/>
                </a:solidFill>
                <a:effectLst/>
                <a:latin typeface="Inter"/>
              </a:rPr>
              <a:t>Use the cost of capital, required rate of return, or a rate that reflects the project's risk.</a:t>
            </a:r>
          </a:p>
          <a:p>
            <a:pPr algn="l">
              <a:spcBef>
                <a:spcPts val="300"/>
              </a:spcBef>
              <a:spcAft>
                <a:spcPts val="300"/>
              </a:spcAft>
              <a:buFont typeface="+mj-lt"/>
              <a:buAutoNum type="arabicPeriod"/>
            </a:pPr>
            <a:r>
              <a:rPr lang="en-US" sz="3600" b="1" i="0" dirty="0">
                <a:solidFill>
                  <a:srgbClr val="404040"/>
                </a:solidFill>
                <a:effectLst/>
                <a:latin typeface="Inter"/>
              </a:rPr>
              <a:t>Discount Future Cash Flows</a:t>
            </a:r>
            <a:r>
              <a:rPr lang="en-US" sz="3600" b="0" i="0" dirty="0">
                <a:solidFill>
                  <a:srgbClr val="404040"/>
                </a:solidFill>
                <a:effectLst/>
                <a:latin typeface="Inter"/>
              </a:rPr>
              <a:t>:</a:t>
            </a:r>
          </a:p>
          <a:p>
            <a:pPr marL="742950" lvl="1" indent="-285750" algn="l">
              <a:spcBef>
                <a:spcPts val="300"/>
              </a:spcBef>
              <a:buFont typeface="+mj-lt"/>
              <a:buAutoNum type="arabicPeriod"/>
            </a:pPr>
            <a:r>
              <a:rPr lang="en-US" sz="3200" b="0" i="0" dirty="0">
                <a:solidFill>
                  <a:srgbClr val="404040"/>
                </a:solidFill>
                <a:effectLst/>
                <a:latin typeface="Inter"/>
              </a:rPr>
              <a:t>Apply the discount rate to each cash flow to calculate its present value.</a:t>
            </a:r>
          </a:p>
          <a:p>
            <a:pPr marL="742950" lvl="1" indent="-285750" algn="l">
              <a:spcBef>
                <a:spcPts val="300"/>
              </a:spcBef>
              <a:buFont typeface="+mj-lt"/>
              <a:buAutoNum type="arabicPeriod"/>
            </a:pPr>
            <a:endParaRPr lang="en-US" sz="2000" b="0" i="0" dirty="0">
              <a:solidFill>
                <a:srgbClr val="404040"/>
              </a:solidFill>
              <a:effectLst/>
              <a:latin typeface="Inter"/>
            </a:endParaRP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77334" y="2483708"/>
            <a:ext cx="8596668" cy="3557654"/>
          </a:xfrm>
        </p:spPr>
        <p:txBody>
          <a:bodyPr>
            <a:normAutofit/>
          </a:bodyPr>
          <a:lstStyle/>
          <a:p>
            <a:pPr marL="0" indent="0" algn="l">
              <a:spcBef>
                <a:spcPts val="300"/>
              </a:spcBef>
              <a:spcAft>
                <a:spcPts val="300"/>
              </a:spcAft>
              <a:buNone/>
            </a:pPr>
            <a:r>
              <a:rPr lang="en-US" sz="3200" b="1" i="0" dirty="0">
                <a:solidFill>
                  <a:srgbClr val="404040"/>
                </a:solidFill>
                <a:effectLst/>
                <a:latin typeface="Inter"/>
              </a:rPr>
              <a:t>4. Sum the Present Values</a:t>
            </a:r>
            <a:r>
              <a:rPr lang="en-US" sz="3200" b="0" i="0" dirty="0">
                <a:solidFill>
                  <a:srgbClr val="404040"/>
                </a:solidFill>
                <a:effectLst/>
                <a:latin typeface="Inter"/>
              </a:rPr>
              <a:t>:</a:t>
            </a:r>
          </a:p>
          <a:p>
            <a:pPr marL="742950" lvl="1" indent="-285750" algn="l">
              <a:spcBef>
                <a:spcPts val="300"/>
              </a:spcBef>
              <a:buFont typeface="+mj-lt"/>
              <a:buAutoNum type="arabicPeriod"/>
            </a:pPr>
            <a:r>
              <a:rPr lang="en-US" sz="2800" b="0" i="0" dirty="0">
                <a:solidFill>
                  <a:srgbClr val="404040"/>
                </a:solidFill>
                <a:effectLst/>
                <a:latin typeface="Inter"/>
              </a:rPr>
              <a:t>Add up the present values of all cash inflows and outflows.</a:t>
            </a:r>
          </a:p>
          <a:p>
            <a:pPr marL="0" indent="0" algn="l">
              <a:spcBef>
                <a:spcPts val="300"/>
              </a:spcBef>
              <a:spcAft>
                <a:spcPts val="300"/>
              </a:spcAft>
              <a:buNone/>
            </a:pPr>
            <a:r>
              <a:rPr lang="en-US" sz="3200" b="1" i="0" dirty="0">
                <a:solidFill>
                  <a:srgbClr val="404040"/>
                </a:solidFill>
                <a:effectLst/>
                <a:latin typeface="Inter"/>
              </a:rPr>
              <a:t>5. Subtract the Initial Investment</a:t>
            </a:r>
            <a:r>
              <a:rPr lang="en-US" sz="3200" b="0" i="0" dirty="0">
                <a:solidFill>
                  <a:srgbClr val="404040"/>
                </a:solidFill>
                <a:effectLst/>
                <a:latin typeface="Inter"/>
              </a:rPr>
              <a:t>:</a:t>
            </a:r>
          </a:p>
          <a:p>
            <a:pPr marL="742950" lvl="1" indent="-285750" algn="l">
              <a:spcBef>
                <a:spcPts val="300"/>
              </a:spcBef>
              <a:buFont typeface="+mj-lt"/>
              <a:buAutoNum type="arabicPeriod"/>
            </a:pPr>
            <a:r>
              <a:rPr lang="en-US" sz="2800" b="0" i="0" dirty="0">
                <a:solidFill>
                  <a:srgbClr val="404040"/>
                </a:solidFill>
                <a:effectLst/>
                <a:latin typeface="Inter"/>
              </a:rPr>
              <a:t>The result is the NPV.</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Inter"/>
              </a:rPr>
              <a:t>Interpretation of NPV</a:t>
            </a:r>
            <a:br>
              <a:rPr lang="en-US" b="1" dirty="0">
                <a:solidFill>
                  <a:schemeClr val="accent1"/>
                </a:solidFill>
                <a:latin typeface="Inter"/>
              </a:rPr>
            </a:br>
            <a:endParaRPr lang="en-US" dirty="0">
              <a:solidFill>
                <a:schemeClr val="accent1"/>
              </a:solidFill>
            </a:endParaRPr>
          </a:p>
        </p:txBody>
      </p:sp>
      <p:sp>
        <p:nvSpPr>
          <p:cNvPr id="3" name="Content Placeholder 2"/>
          <p:cNvSpPr>
            <a:spLocks noGrp="1"/>
          </p:cNvSpPr>
          <p:nvPr>
            <p:ph idx="1"/>
          </p:nvPr>
        </p:nvSpPr>
        <p:spPr>
          <a:xfrm>
            <a:off x="481914" y="2160589"/>
            <a:ext cx="9255210" cy="4087811"/>
          </a:xfrm>
        </p:spPr>
        <p:txBody>
          <a:bodyPr>
            <a:normAutofit/>
          </a:bodyPr>
          <a:lstStyle/>
          <a:p>
            <a:pPr algn="l">
              <a:buFont typeface="Arial" panose="020B0604020202020204" pitchFamily="34" charset="0"/>
              <a:buChar char="•"/>
            </a:pPr>
            <a:r>
              <a:rPr lang="en-US" sz="3200" b="1" i="0" dirty="0">
                <a:solidFill>
                  <a:schemeClr val="accent6">
                    <a:lumMod val="75000"/>
                  </a:schemeClr>
                </a:solidFill>
                <a:effectLst/>
                <a:latin typeface="Inter"/>
              </a:rPr>
              <a:t>NPV &gt; 0</a:t>
            </a:r>
            <a:r>
              <a:rPr lang="en-US" sz="3200" b="0" i="0" dirty="0">
                <a:solidFill>
                  <a:schemeClr val="accent6">
                    <a:lumMod val="75000"/>
                  </a:schemeClr>
                </a:solidFill>
                <a:effectLst/>
                <a:latin typeface="Inter"/>
              </a:rPr>
              <a:t>: </a:t>
            </a:r>
            <a:r>
              <a:rPr lang="en-US" sz="2800" b="0" i="0" dirty="0">
                <a:solidFill>
                  <a:srgbClr val="404040"/>
                </a:solidFill>
                <a:effectLst/>
                <a:latin typeface="Inter"/>
              </a:rPr>
              <a:t>The investment is expected to generate a profit and add value. </a:t>
            </a:r>
          </a:p>
          <a:p>
            <a:pPr algn="l">
              <a:buFont typeface="Arial" panose="020B0604020202020204" pitchFamily="34" charset="0"/>
              <a:buChar char="•"/>
            </a:pPr>
            <a:r>
              <a:rPr lang="en-US" sz="2800" b="1" i="0" dirty="0">
                <a:solidFill>
                  <a:srgbClr val="00B050"/>
                </a:solidFill>
                <a:effectLst/>
                <a:latin typeface="Inter"/>
              </a:rPr>
              <a:t>It is generally considered a good investment.</a:t>
            </a:r>
          </a:p>
          <a:p>
            <a:pPr algn="l">
              <a:spcBef>
                <a:spcPts val="300"/>
              </a:spcBef>
              <a:buFont typeface="Arial" panose="020B0604020202020204" pitchFamily="34" charset="0"/>
              <a:buChar char="•"/>
            </a:pPr>
            <a:r>
              <a:rPr lang="en-US" sz="3200" b="1" dirty="0">
                <a:solidFill>
                  <a:schemeClr val="accent6">
                    <a:lumMod val="75000"/>
                  </a:schemeClr>
                </a:solidFill>
                <a:latin typeface="Inter"/>
              </a:rPr>
              <a:t>NPV = 0: </a:t>
            </a:r>
            <a:r>
              <a:rPr lang="en-US" sz="2800" b="0" i="0" dirty="0">
                <a:solidFill>
                  <a:srgbClr val="404040"/>
                </a:solidFill>
                <a:effectLst/>
                <a:latin typeface="Inter"/>
              </a:rPr>
              <a:t>The investment is expected to break even. </a:t>
            </a:r>
          </a:p>
          <a:p>
            <a:pPr algn="l">
              <a:spcBef>
                <a:spcPts val="300"/>
              </a:spcBef>
              <a:buFont typeface="Arial" panose="020B0604020202020204" pitchFamily="34" charset="0"/>
              <a:buChar char="•"/>
            </a:pPr>
            <a:r>
              <a:rPr lang="en-US" sz="2800" b="1" i="0" dirty="0">
                <a:solidFill>
                  <a:srgbClr val="FFC000"/>
                </a:solidFill>
                <a:effectLst/>
                <a:latin typeface="Inter"/>
              </a:rPr>
              <a:t>It may still be acceptable if it aligns with strategic goals.</a:t>
            </a:r>
          </a:p>
          <a:p>
            <a:pPr algn="l">
              <a:spcBef>
                <a:spcPts val="300"/>
              </a:spcBef>
              <a:buFont typeface="Arial" panose="020B0604020202020204" pitchFamily="34" charset="0"/>
              <a:buChar char="•"/>
            </a:pPr>
            <a:r>
              <a:rPr lang="en-US" sz="3200" b="1" dirty="0">
                <a:solidFill>
                  <a:schemeClr val="accent6">
                    <a:lumMod val="75000"/>
                  </a:schemeClr>
                </a:solidFill>
                <a:latin typeface="Inter"/>
              </a:rPr>
              <a:t>NPV &lt; 0: </a:t>
            </a:r>
            <a:r>
              <a:rPr lang="en-US" sz="2800" b="0" i="0" dirty="0">
                <a:solidFill>
                  <a:srgbClr val="404040"/>
                </a:solidFill>
                <a:effectLst/>
                <a:latin typeface="Inter"/>
              </a:rPr>
              <a:t>The investment is expected to result in a loss.</a:t>
            </a:r>
          </a:p>
          <a:p>
            <a:pPr algn="l">
              <a:spcBef>
                <a:spcPts val="300"/>
              </a:spcBef>
              <a:buFont typeface="Arial" panose="020B0604020202020204" pitchFamily="34" charset="0"/>
              <a:buChar char="•"/>
            </a:pPr>
            <a:r>
              <a:rPr lang="en-US" sz="2800" b="0" i="0" dirty="0">
                <a:solidFill>
                  <a:srgbClr val="404040"/>
                </a:solidFill>
                <a:effectLst/>
                <a:latin typeface="Inter"/>
              </a:rPr>
              <a:t> </a:t>
            </a:r>
            <a:r>
              <a:rPr lang="en-US" sz="2800" b="1" i="0" dirty="0">
                <a:solidFill>
                  <a:srgbClr val="C00000"/>
                </a:solidFill>
                <a:effectLst/>
                <a:latin typeface="Inter"/>
              </a:rPr>
              <a:t>It is generally rejected unless there are non-financial reasons to proceed.</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Inter"/>
              </a:rPr>
              <a:t>Advantages of NPV</a:t>
            </a:r>
            <a:br>
              <a:rPr lang="en-US" b="1" dirty="0">
                <a:solidFill>
                  <a:schemeClr val="accent1"/>
                </a:solidFill>
                <a:latin typeface="Inter"/>
              </a:rPr>
            </a:br>
            <a:endParaRPr lang="en-US" dirty="0">
              <a:solidFill>
                <a:schemeClr val="accent1"/>
              </a:solidFill>
            </a:endParaRPr>
          </a:p>
        </p:txBody>
      </p:sp>
      <p:sp>
        <p:nvSpPr>
          <p:cNvPr id="3" name="Content Placeholder 2"/>
          <p:cNvSpPr>
            <a:spLocks noGrp="1"/>
          </p:cNvSpPr>
          <p:nvPr>
            <p:ph idx="1"/>
          </p:nvPr>
        </p:nvSpPr>
        <p:spPr>
          <a:xfrm>
            <a:off x="494271" y="2051223"/>
            <a:ext cx="9181070" cy="3990140"/>
          </a:xfrm>
        </p:spPr>
        <p:txBody>
          <a:bodyPr>
            <a:normAutofit/>
          </a:bodyPr>
          <a:lstStyle/>
          <a:p>
            <a:pPr marL="0" indent="0" algn="l">
              <a:spcAft>
                <a:spcPts val="300"/>
              </a:spcAft>
              <a:buNone/>
            </a:pPr>
            <a:r>
              <a:rPr lang="en-US" sz="3200" b="1" i="0" dirty="0">
                <a:solidFill>
                  <a:srgbClr val="404040"/>
                </a:solidFill>
                <a:effectLst/>
                <a:latin typeface="Inter"/>
              </a:rPr>
              <a:t>Accounts for Time Value of Money</a:t>
            </a:r>
            <a:r>
              <a:rPr lang="en-US" sz="3200" b="0" i="0" dirty="0">
                <a:solidFill>
                  <a:srgbClr val="404040"/>
                </a:solidFill>
                <a:effectLst/>
                <a:latin typeface="Inter"/>
              </a:rPr>
              <a:t>: </a:t>
            </a:r>
            <a:r>
              <a:rPr lang="en-US" sz="2800" b="0" i="0" dirty="0">
                <a:solidFill>
                  <a:srgbClr val="404040"/>
                </a:solidFill>
                <a:effectLst/>
                <a:latin typeface="Inter"/>
              </a:rPr>
              <a:t>Recognizes that money today is worth more than money in the future.</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rgbClr val="404040"/>
                </a:solidFill>
                <a:effectLst/>
                <a:latin typeface="Inter"/>
              </a:rPr>
              <a:t>Considers Time Value of Money</a:t>
            </a:r>
            <a:r>
              <a:rPr kumimoji="0" lang="en-US" altLang="en-US" sz="2800" b="0" i="0" u="none" strike="noStrike" cap="none" normalizeH="0" baseline="0" dirty="0">
                <a:ln>
                  <a:noFill/>
                </a:ln>
                <a:solidFill>
                  <a:srgbClr val="404040"/>
                </a:solidFill>
                <a:effectLst/>
                <a:latin typeface="Inter"/>
              </a:rPr>
              <a:t>: Accounts for the fact that money today is worth more than money in the future.</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rgbClr val="404040"/>
                </a:solidFill>
                <a:effectLst/>
                <a:latin typeface="Inter"/>
              </a:rPr>
              <a:t>Comprehensive</a:t>
            </a:r>
            <a:r>
              <a:rPr kumimoji="0" lang="en-US" altLang="en-US" sz="2800" b="0" i="0" u="none" strike="noStrike" cap="none" normalizeH="0" baseline="0" dirty="0">
                <a:ln>
                  <a:noFill/>
                </a:ln>
                <a:solidFill>
                  <a:srgbClr val="404040"/>
                </a:solidFill>
                <a:effectLst/>
                <a:latin typeface="Inter"/>
              </a:rPr>
              <a:t>: Incorporates all cash flows over the project's life.</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rgbClr val="404040"/>
                </a:solidFill>
                <a:effectLst/>
                <a:latin typeface="Inter"/>
              </a:rPr>
              <a:t>Objective</a:t>
            </a:r>
            <a:r>
              <a:rPr kumimoji="0" lang="en-US" altLang="en-US" sz="2800" b="0" i="0" u="none" strike="noStrike" cap="none" normalizeH="0" baseline="0" dirty="0">
                <a:ln>
                  <a:noFill/>
                </a:ln>
                <a:solidFill>
                  <a:srgbClr val="404040"/>
                </a:solidFill>
                <a:effectLst/>
                <a:latin typeface="Inter"/>
              </a:rPr>
              <a:t>: Provides a clear decision rule (</a:t>
            </a:r>
            <a:r>
              <a:rPr kumimoji="0" lang="en-US" altLang="en-US" sz="2800" b="1" i="0" u="none" strike="noStrike" cap="none" normalizeH="0" baseline="0" dirty="0">
                <a:ln>
                  <a:noFill/>
                </a:ln>
                <a:solidFill>
                  <a:srgbClr val="C00000"/>
                </a:solidFill>
                <a:effectLst/>
                <a:latin typeface="Inter"/>
              </a:rPr>
              <a:t>accept if NPV &gt; 0</a:t>
            </a:r>
            <a:r>
              <a:rPr kumimoji="0" lang="en-US" altLang="en-US" sz="2800" b="0" i="0" u="none" strike="noStrike" cap="none" normalizeH="0" baseline="0" dirty="0">
                <a:ln>
                  <a:noFill/>
                </a:ln>
                <a:solidFill>
                  <a:srgbClr val="404040"/>
                </a:solidFill>
                <a:effectLst/>
                <a:latin typeface="Inter"/>
              </a:rPr>
              <a:t>).</a:t>
            </a:r>
            <a:endParaRPr lang="en-US" sz="3200" b="0" i="0" dirty="0">
              <a:solidFill>
                <a:srgbClr val="404040"/>
              </a:solidFill>
              <a:effectLst/>
              <a:latin typeface="Inter"/>
            </a:endParaRP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Inter"/>
              </a:rPr>
              <a:t>Limitations of NPV</a:t>
            </a:r>
            <a:br>
              <a:rPr lang="en-US" b="1" dirty="0">
                <a:solidFill>
                  <a:schemeClr val="accent1"/>
                </a:solidFill>
                <a:latin typeface="Inter"/>
              </a:rPr>
            </a:br>
            <a:endParaRPr lang="en-US" dirty="0">
              <a:solidFill>
                <a:schemeClr val="accent1"/>
              </a:solidFill>
            </a:endParaRPr>
          </a:p>
        </p:txBody>
      </p:sp>
      <p:sp>
        <p:nvSpPr>
          <p:cNvPr id="3" name="Content Placeholder 2"/>
          <p:cNvSpPr>
            <a:spLocks noGrp="1"/>
          </p:cNvSpPr>
          <p:nvPr>
            <p:ph idx="1"/>
          </p:nvPr>
        </p:nvSpPr>
        <p:spPr>
          <a:xfrm>
            <a:off x="677334" y="1816443"/>
            <a:ext cx="8998007" cy="4609071"/>
          </a:xfrm>
        </p:spPr>
        <p:txBody>
          <a:bodyPr/>
          <a:lstStyle/>
          <a:p>
            <a:pPr algn="l">
              <a:buFont typeface="+mj-lt"/>
              <a:buAutoNum type="arabicPeriod"/>
            </a:pPr>
            <a:r>
              <a:rPr lang="en-US" sz="3200" b="1" i="0" dirty="0">
                <a:solidFill>
                  <a:srgbClr val="404040"/>
                </a:solidFill>
                <a:effectLst/>
                <a:latin typeface="Inter"/>
              </a:rPr>
              <a:t>Requires Accurate Estimates</a:t>
            </a:r>
            <a:r>
              <a:rPr lang="en-US" sz="3200" b="0" i="0" dirty="0">
                <a:solidFill>
                  <a:srgbClr val="404040"/>
                </a:solidFill>
                <a:effectLst/>
                <a:latin typeface="Inter"/>
              </a:rPr>
              <a:t>: Errors in cash flow projections or discount rate can lead to incorrect decisions.</a:t>
            </a:r>
          </a:p>
          <a:p>
            <a:pPr algn="l">
              <a:spcBef>
                <a:spcPts val="300"/>
              </a:spcBef>
              <a:buFont typeface="+mj-lt"/>
              <a:buAutoNum type="arabicPeriod"/>
            </a:pPr>
            <a:r>
              <a:rPr lang="en-US" sz="3200" b="1" i="0" dirty="0">
                <a:solidFill>
                  <a:srgbClr val="404040"/>
                </a:solidFill>
                <a:effectLst/>
                <a:latin typeface="Inter"/>
              </a:rPr>
              <a:t>Assumes Reinvestment at Discount Rate</a:t>
            </a:r>
            <a:r>
              <a:rPr lang="en-US" sz="3200" b="0" i="0" dirty="0">
                <a:solidFill>
                  <a:srgbClr val="404040"/>
                </a:solidFill>
                <a:effectLst/>
                <a:latin typeface="Inter"/>
              </a:rPr>
              <a:t>: Assumes cash flows can be reinvested at the discount rate, which may not always be realistic.</a:t>
            </a:r>
          </a:p>
          <a:p>
            <a:pPr algn="l">
              <a:spcBef>
                <a:spcPts val="300"/>
              </a:spcBef>
              <a:buFont typeface="+mj-lt"/>
              <a:buAutoNum type="arabicPeriod"/>
            </a:pPr>
            <a:r>
              <a:rPr lang="en-US" sz="3200" b="1" i="0" dirty="0">
                <a:solidFill>
                  <a:srgbClr val="404040"/>
                </a:solidFill>
                <a:effectLst/>
                <a:latin typeface="Inter"/>
              </a:rPr>
              <a:t>Complexity</a:t>
            </a:r>
            <a:r>
              <a:rPr lang="en-US" sz="3200" b="0" i="0" dirty="0">
                <a:solidFill>
                  <a:srgbClr val="404040"/>
                </a:solidFill>
                <a:effectLst/>
                <a:latin typeface="Inter"/>
              </a:rPr>
              <a:t>: Can be challenging to calculate for projects with irregular cash flows</a:t>
            </a:r>
            <a:r>
              <a:rPr lang="en-US" sz="2400" b="0" i="0" dirty="0">
                <a:solidFill>
                  <a:srgbClr val="404040"/>
                </a:solidFill>
                <a:effectLst/>
                <a:latin typeface="Inter"/>
              </a:rPr>
              <a:t>.</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404040"/>
                </a:solidFill>
                <a:latin typeface="Inter"/>
              </a:rPr>
              <a:t>Example of NPV Calculation</a:t>
            </a:r>
            <a:br>
              <a:rPr lang="en-US" b="1" dirty="0">
                <a:solidFill>
                  <a:srgbClr val="404040"/>
                </a:solidFill>
                <a:latin typeface="Inter"/>
              </a:rPr>
            </a:br>
            <a:endParaRPr lang="en-US" dirty="0"/>
          </a:p>
        </p:txBody>
      </p:sp>
      <p:sp>
        <p:nvSpPr>
          <p:cNvPr id="3" name="Content Placeholder 2"/>
          <p:cNvSpPr>
            <a:spLocks noGrp="1"/>
          </p:cNvSpPr>
          <p:nvPr>
            <p:ph idx="1"/>
          </p:nvPr>
        </p:nvSpPr>
        <p:spPr/>
        <p:txBody>
          <a:bodyPr/>
          <a:lstStyle/>
          <a:p>
            <a:pPr algn="l"/>
            <a:r>
              <a:rPr lang="en-US" sz="3600" b="1" i="0" dirty="0">
                <a:solidFill>
                  <a:schemeClr val="accent6"/>
                </a:solidFill>
                <a:effectLst/>
                <a:latin typeface="Inter"/>
              </a:rPr>
              <a:t>Suppose you are evaluating a project with the following details:</a:t>
            </a:r>
          </a:p>
          <a:p>
            <a:pPr algn="l">
              <a:buFont typeface="Arial" panose="020B0604020202020204" pitchFamily="34" charset="0"/>
              <a:buChar char="•"/>
            </a:pPr>
            <a:r>
              <a:rPr lang="en-US" sz="3600" b="1" i="0" dirty="0">
                <a:solidFill>
                  <a:schemeClr val="tx1"/>
                </a:solidFill>
                <a:effectLst/>
                <a:latin typeface="Inter"/>
              </a:rPr>
              <a:t>Initial investment: $100,000 (at </a:t>
            </a:r>
            <a:r>
              <a:rPr lang="en-US" sz="3600" b="1" i="0" dirty="0">
                <a:solidFill>
                  <a:schemeClr val="tx1"/>
                </a:solidFill>
                <a:effectLst/>
                <a:latin typeface="KaTeX_Main"/>
              </a:rPr>
              <a:t>t=0</a:t>
            </a:r>
            <a:r>
              <a:rPr lang="en-US" sz="3600" b="1" i="0" dirty="0">
                <a:solidFill>
                  <a:schemeClr val="tx1"/>
                </a:solidFill>
                <a:effectLst/>
                <a:latin typeface="Inter"/>
              </a:rPr>
              <a:t>)</a:t>
            </a:r>
          </a:p>
          <a:p>
            <a:pPr algn="l">
              <a:spcBef>
                <a:spcPts val="300"/>
              </a:spcBef>
              <a:buFont typeface="Arial" panose="020B0604020202020204" pitchFamily="34" charset="0"/>
              <a:buChar char="•"/>
            </a:pPr>
            <a:r>
              <a:rPr lang="en-US" sz="3600" b="1" i="0" dirty="0">
                <a:solidFill>
                  <a:schemeClr val="tx1"/>
                </a:solidFill>
                <a:effectLst/>
                <a:latin typeface="Inter"/>
              </a:rPr>
              <a:t>Cash inflows: $30,000 per year for 5 years</a:t>
            </a:r>
          </a:p>
          <a:p>
            <a:pPr algn="l">
              <a:spcBef>
                <a:spcPts val="300"/>
              </a:spcBef>
              <a:buFont typeface="Arial" panose="020B0604020202020204" pitchFamily="34" charset="0"/>
              <a:buChar char="•"/>
            </a:pPr>
            <a:r>
              <a:rPr lang="en-US" sz="3600" b="1" i="0" dirty="0">
                <a:solidFill>
                  <a:schemeClr val="tx1"/>
                </a:solidFill>
                <a:effectLst/>
                <a:latin typeface="Inter"/>
              </a:rPr>
              <a:t>Discount rate: 10%</a:t>
            </a:r>
          </a:p>
          <a:p>
            <a:pPr marL="0" indent="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39991"/>
          </a:xfrm>
        </p:spPr>
        <p:txBody>
          <a:bodyPr>
            <a:normAutofit fontScale="90000"/>
          </a:bodyPr>
          <a:lstStyle/>
          <a:p>
            <a:endParaRPr lang="en-US" dirty="0"/>
          </a:p>
        </p:txBody>
      </p:sp>
      <p:graphicFrame>
        <p:nvGraphicFramePr>
          <p:cNvPr id="15" name="Content Placeholder 14"/>
          <p:cNvGraphicFramePr>
            <a:graphicFrameLocks noGrp="1"/>
          </p:cNvGraphicFramePr>
          <p:nvPr>
            <p:ph idx="1"/>
          </p:nvPr>
        </p:nvGraphicFramePr>
        <p:xfrm>
          <a:off x="951470" y="1930400"/>
          <a:ext cx="8946291" cy="3926701"/>
        </p:xfrm>
        <a:graphic>
          <a:graphicData uri="http://schemas.openxmlformats.org/drawingml/2006/table">
            <a:tbl>
              <a:tblPr/>
              <a:tblGrid>
                <a:gridCol w="2458437">
                  <a:extLst>
                    <a:ext uri="{9D8B030D-6E8A-4147-A177-3AD203B41FA5}">
                      <a16:colId xmlns:a16="http://schemas.microsoft.com/office/drawing/2014/main" val="20000"/>
                    </a:ext>
                  </a:extLst>
                </a:gridCol>
                <a:gridCol w="2162618">
                  <a:extLst>
                    <a:ext uri="{9D8B030D-6E8A-4147-A177-3AD203B41FA5}">
                      <a16:colId xmlns:a16="http://schemas.microsoft.com/office/drawing/2014/main" val="20001"/>
                    </a:ext>
                  </a:extLst>
                </a:gridCol>
                <a:gridCol w="2162618">
                  <a:extLst>
                    <a:ext uri="{9D8B030D-6E8A-4147-A177-3AD203B41FA5}">
                      <a16:colId xmlns:a16="http://schemas.microsoft.com/office/drawing/2014/main" val="20002"/>
                    </a:ext>
                  </a:extLst>
                </a:gridCol>
                <a:gridCol w="2162618">
                  <a:extLst>
                    <a:ext uri="{9D8B030D-6E8A-4147-A177-3AD203B41FA5}">
                      <a16:colId xmlns:a16="http://schemas.microsoft.com/office/drawing/2014/main" val="20003"/>
                    </a:ext>
                  </a:extLst>
                </a:gridCol>
              </a:tblGrid>
              <a:tr h="1308901">
                <a:tc>
                  <a:txBody>
                    <a:bodyPr/>
                    <a:lstStyle/>
                    <a:p>
                      <a:pPr algn="l"/>
                      <a:r>
                        <a:rPr lang="en-US" b="1" dirty="0">
                          <a:effectLst/>
                        </a:rPr>
                        <a:t>Year</a:t>
                      </a:r>
                    </a:p>
                  </a:txBody>
                  <a:tcPr anchor="ctr">
                    <a:lnL>
                      <a:noFill/>
                    </a:lnL>
                    <a:lnR>
                      <a:noFill/>
                    </a:lnR>
                    <a:lnT>
                      <a:noFill/>
                    </a:lnT>
                    <a:lnB>
                      <a:noFill/>
                    </a:lnB>
                    <a:noFill/>
                  </a:tcPr>
                </a:tc>
                <a:tc>
                  <a:txBody>
                    <a:bodyPr/>
                    <a:lstStyle/>
                    <a:p>
                      <a:pPr algn="l"/>
                      <a:r>
                        <a:rPr lang="en-US" b="1" dirty="0">
                          <a:effectLst/>
                        </a:rPr>
                        <a:t>Cash Flow (</a:t>
                      </a:r>
                      <a:r>
                        <a:rPr lang="en-US" b="1" dirty="0" err="1">
                          <a:effectLst/>
                          <a:latin typeface="KaTeX_Main"/>
                        </a:rPr>
                        <a:t>CFt</a:t>
                      </a:r>
                      <a:r>
                        <a:rPr lang="en-US" b="1" i="1" dirty="0" err="1">
                          <a:effectLst/>
                          <a:latin typeface="KaTeX_Math"/>
                        </a:rPr>
                        <a:t>CFt</a:t>
                      </a:r>
                      <a:r>
                        <a:rPr lang="en-US" b="1" dirty="0">
                          <a:effectLst/>
                          <a:latin typeface="KaTeX_Main"/>
                        </a:rPr>
                        <a:t>​</a:t>
                      </a:r>
                      <a:r>
                        <a:rPr lang="en-US" b="1" dirty="0">
                          <a:effectLst/>
                        </a:rPr>
                        <a:t>)</a:t>
                      </a:r>
                    </a:p>
                  </a:txBody>
                  <a:tcPr anchor="ctr">
                    <a:lnL>
                      <a:noFill/>
                    </a:lnL>
                    <a:lnR>
                      <a:noFill/>
                    </a:lnR>
                    <a:lnT>
                      <a:noFill/>
                    </a:lnT>
                    <a:lnB>
                      <a:noFill/>
                    </a:lnB>
                    <a:noFill/>
                  </a:tcPr>
                </a:tc>
                <a:tc>
                  <a:txBody>
                    <a:bodyPr/>
                    <a:lstStyle/>
                    <a:p>
                      <a:pPr algn="l"/>
                      <a:r>
                        <a:rPr lang="en-US" b="1">
                          <a:effectLst/>
                        </a:rPr>
                        <a:t>Discount Factor (</a:t>
                      </a:r>
                      <a:r>
                        <a:rPr lang="en-US" b="1">
                          <a:effectLst/>
                          <a:latin typeface="KaTeX_Main"/>
                        </a:rPr>
                        <a:t>1/(1+r)t1/(1+</a:t>
                      </a:r>
                      <a:r>
                        <a:rPr lang="en-US" b="1" i="1">
                          <a:effectLst/>
                          <a:latin typeface="KaTeX_Math"/>
                        </a:rPr>
                        <a:t>r</a:t>
                      </a:r>
                      <a:r>
                        <a:rPr lang="en-US" b="1">
                          <a:effectLst/>
                          <a:latin typeface="KaTeX_Main"/>
                        </a:rPr>
                        <a:t>)</a:t>
                      </a:r>
                      <a:r>
                        <a:rPr lang="en-US" b="1" i="1">
                          <a:effectLst/>
                          <a:latin typeface="KaTeX_Math"/>
                        </a:rPr>
                        <a:t>t</a:t>
                      </a:r>
                      <a:r>
                        <a:rPr lang="en-US" b="1">
                          <a:effectLst/>
                        </a:rPr>
                        <a:t>)</a:t>
                      </a:r>
                    </a:p>
                  </a:txBody>
                  <a:tcPr anchor="ctr">
                    <a:lnL>
                      <a:noFill/>
                    </a:lnL>
                    <a:lnR>
                      <a:noFill/>
                    </a:lnR>
                    <a:lnT>
                      <a:noFill/>
                    </a:lnT>
                    <a:lnB>
                      <a:noFill/>
                    </a:lnB>
                    <a:noFill/>
                  </a:tcPr>
                </a:tc>
                <a:tc>
                  <a:txBody>
                    <a:bodyPr/>
                    <a:lstStyle/>
                    <a:p>
                      <a:pPr algn="l"/>
                      <a:r>
                        <a:rPr lang="en-US" b="1">
                          <a:effectLst/>
                        </a:rPr>
                        <a:t>Present Value (</a:t>
                      </a:r>
                      <a:r>
                        <a:rPr lang="en-US" b="1">
                          <a:effectLst/>
                          <a:latin typeface="KaTeX_Main"/>
                        </a:rPr>
                        <a:t>CFt×Discount Factor</a:t>
                      </a:r>
                      <a:r>
                        <a:rPr lang="en-US" b="1" i="1">
                          <a:effectLst/>
                          <a:latin typeface="KaTeX_Math"/>
                        </a:rPr>
                        <a:t>CFt</a:t>
                      </a:r>
                      <a:r>
                        <a:rPr lang="en-US" b="1">
                          <a:effectLst/>
                          <a:latin typeface="KaTeX_Main"/>
                        </a:rPr>
                        <a:t>​×Discount Factor</a:t>
                      </a:r>
                      <a:r>
                        <a:rPr lang="en-US" b="1">
                          <a:effectLst/>
                        </a:rPr>
                        <a:t>)</a:t>
                      </a:r>
                    </a:p>
                  </a:txBody>
                  <a:tcPr anchor="ctr">
                    <a:lnL>
                      <a:noFill/>
                    </a:lnL>
                    <a:lnR>
                      <a:noFill/>
                    </a:lnR>
                    <a:lnT>
                      <a:noFill/>
                    </a:lnT>
                    <a:lnB>
                      <a:noFill/>
                    </a:lnB>
                    <a:noFill/>
                  </a:tcPr>
                </a:tc>
                <a:extLst>
                  <a:ext uri="{0D108BD9-81ED-4DB2-BD59-A6C34878D82A}">
                    <a16:rowId xmlns:a16="http://schemas.microsoft.com/office/drawing/2014/main" val="10000"/>
                  </a:ext>
                </a:extLst>
              </a:tr>
              <a:tr h="523560">
                <a:tc>
                  <a:txBody>
                    <a:bodyPr/>
                    <a:lstStyle/>
                    <a:p>
                      <a:r>
                        <a:rPr lang="en-US" dirty="0">
                          <a:effectLst/>
                        </a:rPr>
                        <a:t>0</a:t>
                      </a:r>
                    </a:p>
                  </a:txBody>
                  <a:tcPr anchor="ctr">
                    <a:lnL>
                      <a:noFill/>
                    </a:lnL>
                    <a:lnR>
                      <a:noFill/>
                    </a:lnR>
                    <a:lnT>
                      <a:noFill/>
                    </a:lnT>
                    <a:lnB>
                      <a:noFill/>
                    </a:lnB>
                    <a:noFill/>
                  </a:tcPr>
                </a:tc>
                <a:tc>
                  <a:txBody>
                    <a:bodyPr/>
                    <a:lstStyle/>
                    <a:p>
                      <a:r>
                        <a:rPr lang="en-US" dirty="0">
                          <a:effectLst/>
                        </a:rPr>
                        <a:t>-$100,000</a:t>
                      </a:r>
                    </a:p>
                  </a:txBody>
                  <a:tcPr anchor="ctr">
                    <a:lnL>
                      <a:noFill/>
                    </a:lnL>
                    <a:lnR>
                      <a:noFill/>
                    </a:lnR>
                    <a:lnT>
                      <a:noFill/>
                    </a:lnT>
                    <a:lnB>
                      <a:noFill/>
                    </a:lnB>
                    <a:noFill/>
                  </a:tcPr>
                </a:tc>
                <a:tc>
                  <a:txBody>
                    <a:bodyPr/>
                    <a:lstStyle/>
                    <a:p>
                      <a:r>
                        <a:rPr lang="en-US">
                          <a:effectLst/>
                        </a:rPr>
                        <a:t>1.000</a:t>
                      </a:r>
                    </a:p>
                  </a:txBody>
                  <a:tcPr anchor="ctr">
                    <a:lnL>
                      <a:noFill/>
                    </a:lnL>
                    <a:lnR>
                      <a:noFill/>
                    </a:lnR>
                    <a:lnT>
                      <a:noFill/>
                    </a:lnT>
                    <a:lnB>
                      <a:noFill/>
                    </a:lnB>
                    <a:noFill/>
                  </a:tcPr>
                </a:tc>
                <a:tc>
                  <a:txBody>
                    <a:bodyPr/>
                    <a:lstStyle/>
                    <a:p>
                      <a:r>
                        <a:rPr lang="en-US">
                          <a:effectLst/>
                        </a:rPr>
                        <a:t>-$100,000</a:t>
                      </a:r>
                    </a:p>
                  </a:txBody>
                  <a:tcPr anchor="ctr">
                    <a:lnL>
                      <a:noFill/>
                    </a:lnL>
                    <a:lnR>
                      <a:noFill/>
                    </a:lnR>
                    <a:lnT>
                      <a:noFill/>
                    </a:lnT>
                    <a:lnB>
                      <a:noFill/>
                    </a:lnB>
                    <a:noFill/>
                  </a:tcPr>
                </a:tc>
                <a:extLst>
                  <a:ext uri="{0D108BD9-81ED-4DB2-BD59-A6C34878D82A}">
                    <a16:rowId xmlns:a16="http://schemas.microsoft.com/office/drawing/2014/main" val="10001"/>
                  </a:ext>
                </a:extLst>
              </a:tr>
              <a:tr h="523560">
                <a:tc>
                  <a:txBody>
                    <a:bodyPr/>
                    <a:lstStyle/>
                    <a:p>
                      <a:r>
                        <a:rPr lang="en-US">
                          <a:effectLst/>
                        </a:rPr>
                        <a:t>1</a:t>
                      </a:r>
                    </a:p>
                  </a:txBody>
                  <a:tcPr anchor="ctr">
                    <a:lnL>
                      <a:noFill/>
                    </a:lnL>
                    <a:lnR>
                      <a:noFill/>
                    </a:lnR>
                    <a:lnT>
                      <a:noFill/>
                    </a:lnT>
                    <a:lnB>
                      <a:noFill/>
                    </a:lnB>
                    <a:noFill/>
                  </a:tcPr>
                </a:tc>
                <a:tc>
                  <a:txBody>
                    <a:bodyPr/>
                    <a:lstStyle/>
                    <a:p>
                      <a:r>
                        <a:rPr lang="en-US">
                          <a:effectLst/>
                        </a:rPr>
                        <a:t>$30,000</a:t>
                      </a:r>
                    </a:p>
                  </a:txBody>
                  <a:tcPr anchor="ctr">
                    <a:lnL>
                      <a:noFill/>
                    </a:lnL>
                    <a:lnR>
                      <a:noFill/>
                    </a:lnR>
                    <a:lnT>
                      <a:noFill/>
                    </a:lnT>
                    <a:lnB>
                      <a:noFill/>
                    </a:lnB>
                    <a:noFill/>
                  </a:tcPr>
                </a:tc>
                <a:tc>
                  <a:txBody>
                    <a:bodyPr/>
                    <a:lstStyle/>
                    <a:p>
                      <a:r>
                        <a:rPr lang="en-US">
                          <a:effectLst/>
                        </a:rPr>
                        <a:t>0.909</a:t>
                      </a:r>
                    </a:p>
                  </a:txBody>
                  <a:tcPr anchor="ctr">
                    <a:lnL>
                      <a:noFill/>
                    </a:lnL>
                    <a:lnR>
                      <a:noFill/>
                    </a:lnR>
                    <a:lnT>
                      <a:noFill/>
                    </a:lnT>
                    <a:lnB>
                      <a:noFill/>
                    </a:lnB>
                    <a:noFill/>
                  </a:tcPr>
                </a:tc>
                <a:tc>
                  <a:txBody>
                    <a:bodyPr/>
                    <a:lstStyle/>
                    <a:p>
                      <a:r>
                        <a:rPr lang="en-US">
                          <a:effectLst/>
                        </a:rPr>
                        <a:t>$27,270</a:t>
                      </a:r>
                    </a:p>
                  </a:txBody>
                  <a:tcPr anchor="ctr">
                    <a:lnL>
                      <a:noFill/>
                    </a:lnL>
                    <a:lnR>
                      <a:noFill/>
                    </a:lnR>
                    <a:lnT>
                      <a:noFill/>
                    </a:lnT>
                    <a:lnB>
                      <a:noFill/>
                    </a:lnB>
                    <a:noFill/>
                  </a:tcPr>
                </a:tc>
                <a:extLst>
                  <a:ext uri="{0D108BD9-81ED-4DB2-BD59-A6C34878D82A}">
                    <a16:rowId xmlns:a16="http://schemas.microsoft.com/office/drawing/2014/main" val="10002"/>
                  </a:ext>
                </a:extLst>
              </a:tr>
              <a:tr h="523560">
                <a:tc>
                  <a:txBody>
                    <a:bodyPr/>
                    <a:lstStyle/>
                    <a:p>
                      <a:r>
                        <a:rPr lang="en-US" dirty="0">
                          <a:effectLst/>
                        </a:rPr>
                        <a:t>2</a:t>
                      </a:r>
                    </a:p>
                  </a:txBody>
                  <a:tcPr anchor="ctr">
                    <a:lnL>
                      <a:noFill/>
                    </a:lnL>
                    <a:lnR>
                      <a:noFill/>
                    </a:lnR>
                    <a:lnT>
                      <a:noFill/>
                    </a:lnT>
                    <a:lnB>
                      <a:noFill/>
                    </a:lnB>
                    <a:noFill/>
                  </a:tcPr>
                </a:tc>
                <a:tc>
                  <a:txBody>
                    <a:bodyPr/>
                    <a:lstStyle/>
                    <a:p>
                      <a:r>
                        <a:rPr lang="en-US">
                          <a:effectLst/>
                        </a:rPr>
                        <a:t>$30,000</a:t>
                      </a:r>
                    </a:p>
                  </a:txBody>
                  <a:tcPr anchor="ctr">
                    <a:lnL>
                      <a:noFill/>
                    </a:lnL>
                    <a:lnR>
                      <a:noFill/>
                    </a:lnR>
                    <a:lnT>
                      <a:noFill/>
                    </a:lnT>
                    <a:lnB>
                      <a:noFill/>
                    </a:lnB>
                    <a:noFill/>
                  </a:tcPr>
                </a:tc>
                <a:tc>
                  <a:txBody>
                    <a:bodyPr/>
                    <a:lstStyle/>
                    <a:p>
                      <a:r>
                        <a:rPr lang="en-US">
                          <a:effectLst/>
                        </a:rPr>
                        <a:t>0.826</a:t>
                      </a:r>
                    </a:p>
                  </a:txBody>
                  <a:tcPr anchor="ctr">
                    <a:lnL>
                      <a:noFill/>
                    </a:lnL>
                    <a:lnR>
                      <a:noFill/>
                    </a:lnR>
                    <a:lnT>
                      <a:noFill/>
                    </a:lnT>
                    <a:lnB>
                      <a:noFill/>
                    </a:lnB>
                    <a:noFill/>
                  </a:tcPr>
                </a:tc>
                <a:tc>
                  <a:txBody>
                    <a:bodyPr/>
                    <a:lstStyle/>
                    <a:p>
                      <a:r>
                        <a:rPr lang="en-US">
                          <a:effectLst/>
                        </a:rPr>
                        <a:t>$24,780</a:t>
                      </a:r>
                    </a:p>
                  </a:txBody>
                  <a:tcPr anchor="ctr">
                    <a:lnL>
                      <a:noFill/>
                    </a:lnL>
                    <a:lnR>
                      <a:noFill/>
                    </a:lnR>
                    <a:lnT>
                      <a:noFill/>
                    </a:lnT>
                    <a:lnB>
                      <a:noFill/>
                    </a:lnB>
                    <a:noFill/>
                  </a:tcPr>
                </a:tc>
                <a:extLst>
                  <a:ext uri="{0D108BD9-81ED-4DB2-BD59-A6C34878D82A}">
                    <a16:rowId xmlns:a16="http://schemas.microsoft.com/office/drawing/2014/main" val="10003"/>
                  </a:ext>
                </a:extLst>
              </a:tr>
              <a:tr h="523560">
                <a:tc>
                  <a:txBody>
                    <a:bodyPr/>
                    <a:lstStyle/>
                    <a:p>
                      <a:r>
                        <a:rPr lang="en-US" dirty="0">
                          <a:effectLst/>
                        </a:rPr>
                        <a:t>3</a:t>
                      </a:r>
                    </a:p>
                  </a:txBody>
                  <a:tcPr anchor="ctr">
                    <a:lnL>
                      <a:noFill/>
                    </a:lnL>
                    <a:lnR>
                      <a:noFill/>
                    </a:lnR>
                    <a:lnT>
                      <a:noFill/>
                    </a:lnT>
                    <a:lnB>
                      <a:noFill/>
                    </a:lnB>
                    <a:noFill/>
                  </a:tcPr>
                </a:tc>
                <a:tc>
                  <a:txBody>
                    <a:bodyPr/>
                    <a:lstStyle/>
                    <a:p>
                      <a:r>
                        <a:rPr lang="en-US">
                          <a:effectLst/>
                        </a:rPr>
                        <a:t>$30,000</a:t>
                      </a:r>
                    </a:p>
                  </a:txBody>
                  <a:tcPr anchor="ctr">
                    <a:lnL>
                      <a:noFill/>
                    </a:lnL>
                    <a:lnR>
                      <a:noFill/>
                    </a:lnR>
                    <a:lnT>
                      <a:noFill/>
                    </a:lnT>
                    <a:lnB>
                      <a:noFill/>
                    </a:lnB>
                    <a:noFill/>
                  </a:tcPr>
                </a:tc>
                <a:tc>
                  <a:txBody>
                    <a:bodyPr/>
                    <a:lstStyle/>
                    <a:p>
                      <a:r>
                        <a:rPr lang="en-US" dirty="0">
                          <a:effectLst/>
                        </a:rPr>
                        <a:t>0.751</a:t>
                      </a:r>
                    </a:p>
                  </a:txBody>
                  <a:tcPr anchor="ctr">
                    <a:lnL>
                      <a:noFill/>
                    </a:lnL>
                    <a:lnR>
                      <a:noFill/>
                    </a:lnR>
                    <a:lnT>
                      <a:noFill/>
                    </a:lnT>
                    <a:lnB>
                      <a:noFill/>
                    </a:lnB>
                    <a:noFill/>
                  </a:tcPr>
                </a:tc>
                <a:tc>
                  <a:txBody>
                    <a:bodyPr/>
                    <a:lstStyle/>
                    <a:p>
                      <a:r>
                        <a:rPr lang="en-US" dirty="0">
                          <a:effectLst/>
                        </a:rPr>
                        <a:t>$22,530</a:t>
                      </a:r>
                    </a:p>
                  </a:txBody>
                  <a:tcPr anchor="ctr">
                    <a:lnL>
                      <a:noFill/>
                    </a:lnL>
                    <a:lnR>
                      <a:noFill/>
                    </a:lnR>
                    <a:lnT>
                      <a:noFill/>
                    </a:lnT>
                    <a:lnB>
                      <a:noFill/>
                    </a:lnB>
                    <a:noFill/>
                  </a:tcPr>
                </a:tc>
                <a:extLst>
                  <a:ext uri="{0D108BD9-81ED-4DB2-BD59-A6C34878D82A}">
                    <a16:rowId xmlns:a16="http://schemas.microsoft.com/office/drawing/2014/main" val="10004"/>
                  </a:ext>
                </a:extLst>
              </a:tr>
              <a:tr h="523560">
                <a:tc>
                  <a:txBody>
                    <a:bodyPr/>
                    <a:lstStyle/>
                    <a:p>
                      <a:r>
                        <a:rPr lang="en-US" dirty="0">
                          <a:effectLst/>
                        </a:rPr>
                        <a:t>4</a:t>
                      </a:r>
                    </a:p>
                  </a:txBody>
                  <a:tcPr anchor="ctr">
                    <a:lnL>
                      <a:noFill/>
                    </a:lnL>
                    <a:lnR>
                      <a:noFill/>
                    </a:lnR>
                    <a:lnT>
                      <a:noFill/>
                    </a:lnT>
                    <a:lnB>
                      <a:noFill/>
                    </a:lnB>
                    <a:noFill/>
                  </a:tcPr>
                </a:tc>
                <a:tc>
                  <a:txBody>
                    <a:bodyPr/>
                    <a:lstStyle/>
                    <a:p>
                      <a:r>
                        <a:rPr lang="en-US" dirty="0">
                          <a:effectLst/>
                        </a:rPr>
                        <a:t>$30,000</a:t>
                      </a:r>
                    </a:p>
                  </a:txBody>
                  <a:tcPr anchor="ctr">
                    <a:lnL>
                      <a:noFill/>
                    </a:lnL>
                    <a:lnR>
                      <a:noFill/>
                    </a:lnR>
                    <a:lnT>
                      <a:noFill/>
                    </a:lnT>
                    <a:lnB>
                      <a:noFill/>
                    </a:lnB>
                    <a:noFill/>
                  </a:tcPr>
                </a:tc>
                <a:tc>
                  <a:txBody>
                    <a:bodyPr/>
                    <a:lstStyle/>
                    <a:p>
                      <a:r>
                        <a:rPr lang="en-US">
                          <a:effectLst/>
                        </a:rPr>
                        <a:t>0.683</a:t>
                      </a:r>
                    </a:p>
                  </a:txBody>
                  <a:tcPr anchor="ctr">
                    <a:lnL>
                      <a:noFill/>
                    </a:lnL>
                    <a:lnR>
                      <a:noFill/>
                    </a:lnR>
                    <a:lnT>
                      <a:noFill/>
                    </a:lnT>
                    <a:lnB>
                      <a:noFill/>
                    </a:lnB>
                    <a:noFill/>
                  </a:tcPr>
                </a:tc>
                <a:tc>
                  <a:txBody>
                    <a:bodyPr/>
                    <a:lstStyle/>
                    <a:p>
                      <a:r>
                        <a:rPr lang="en-US" dirty="0">
                          <a:effectLst/>
                        </a:rPr>
                        <a:t>$20,490</a:t>
                      </a:r>
                    </a:p>
                  </a:txBody>
                  <a:tcPr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graphicFrame>
        <p:nvGraphicFramePr>
          <p:cNvPr id="16" name="Content Placeholder 3"/>
          <p:cNvGraphicFramePr/>
          <p:nvPr/>
        </p:nvGraphicFramePr>
        <p:xfrm>
          <a:off x="951470" y="5857102"/>
          <a:ext cx="9082216" cy="539991"/>
        </p:xfrm>
        <a:graphic>
          <a:graphicData uri="http://schemas.openxmlformats.org/drawingml/2006/table">
            <a:tbl>
              <a:tblPr/>
              <a:tblGrid>
                <a:gridCol w="2270554">
                  <a:extLst>
                    <a:ext uri="{9D8B030D-6E8A-4147-A177-3AD203B41FA5}">
                      <a16:colId xmlns:a16="http://schemas.microsoft.com/office/drawing/2014/main" val="20000"/>
                    </a:ext>
                  </a:extLst>
                </a:gridCol>
                <a:gridCol w="2270554">
                  <a:extLst>
                    <a:ext uri="{9D8B030D-6E8A-4147-A177-3AD203B41FA5}">
                      <a16:colId xmlns:a16="http://schemas.microsoft.com/office/drawing/2014/main" val="20001"/>
                    </a:ext>
                  </a:extLst>
                </a:gridCol>
                <a:gridCol w="2270554">
                  <a:extLst>
                    <a:ext uri="{9D8B030D-6E8A-4147-A177-3AD203B41FA5}">
                      <a16:colId xmlns:a16="http://schemas.microsoft.com/office/drawing/2014/main" val="20002"/>
                    </a:ext>
                  </a:extLst>
                </a:gridCol>
                <a:gridCol w="2270554">
                  <a:extLst>
                    <a:ext uri="{9D8B030D-6E8A-4147-A177-3AD203B41FA5}">
                      <a16:colId xmlns:a16="http://schemas.microsoft.com/office/drawing/2014/main" val="20003"/>
                    </a:ext>
                  </a:extLst>
                </a:gridCol>
              </a:tblGrid>
              <a:tr h="539991">
                <a:tc>
                  <a:txBody>
                    <a:bodyPr/>
                    <a:lstStyle/>
                    <a:p>
                      <a:r>
                        <a:rPr lang="en-US" dirty="0">
                          <a:effectLst/>
                        </a:rPr>
                        <a:t>5</a:t>
                      </a:r>
                    </a:p>
                  </a:txBody>
                  <a:tcPr anchor="ctr">
                    <a:lnL>
                      <a:noFill/>
                    </a:lnL>
                    <a:lnR>
                      <a:noFill/>
                    </a:lnR>
                    <a:lnT>
                      <a:noFill/>
                    </a:lnT>
                    <a:lnB>
                      <a:noFill/>
                    </a:lnB>
                    <a:noFill/>
                  </a:tcPr>
                </a:tc>
                <a:tc>
                  <a:txBody>
                    <a:bodyPr/>
                    <a:lstStyle/>
                    <a:p>
                      <a:r>
                        <a:rPr lang="en-US" dirty="0">
                          <a:effectLst/>
                        </a:rPr>
                        <a:t>$30,000</a:t>
                      </a:r>
                    </a:p>
                  </a:txBody>
                  <a:tcPr anchor="ctr">
                    <a:lnL>
                      <a:noFill/>
                    </a:lnL>
                    <a:lnR>
                      <a:noFill/>
                    </a:lnR>
                    <a:lnT>
                      <a:noFill/>
                    </a:lnT>
                    <a:lnB>
                      <a:noFill/>
                    </a:lnB>
                    <a:noFill/>
                  </a:tcPr>
                </a:tc>
                <a:tc>
                  <a:txBody>
                    <a:bodyPr/>
                    <a:lstStyle/>
                    <a:p>
                      <a:r>
                        <a:rPr lang="en-US">
                          <a:effectLst/>
                        </a:rPr>
                        <a:t>0.621</a:t>
                      </a:r>
                    </a:p>
                  </a:txBody>
                  <a:tcPr anchor="ctr">
                    <a:lnL>
                      <a:noFill/>
                    </a:lnL>
                    <a:lnR>
                      <a:noFill/>
                    </a:lnR>
                    <a:lnT>
                      <a:noFill/>
                    </a:lnT>
                    <a:lnB>
                      <a:noFill/>
                    </a:lnB>
                    <a:noFill/>
                  </a:tcPr>
                </a:tc>
                <a:tc>
                  <a:txBody>
                    <a:bodyPr/>
                    <a:lstStyle/>
                    <a:p>
                      <a:r>
                        <a:rPr lang="en-US" dirty="0">
                          <a:effectLst/>
                        </a:rPr>
                        <a:t>$18,630</a:t>
                      </a:r>
                    </a:p>
                  </a:txBody>
                  <a:tcPr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Inter"/>
              </a:rPr>
              <a:t>NPV vs. Other Metrics</a:t>
            </a:r>
            <a:br>
              <a:rPr lang="en-US" b="1" dirty="0">
                <a:solidFill>
                  <a:srgbClr val="404040"/>
                </a:solidFill>
                <a:latin typeface="Inter"/>
              </a:rPr>
            </a:br>
            <a:endParaRPr lang="en-US" dirty="0"/>
          </a:p>
        </p:txBody>
      </p:sp>
      <p:sp>
        <p:nvSpPr>
          <p:cNvPr id="3" name="Content Placeholder 2"/>
          <p:cNvSpPr>
            <a:spLocks noGrp="1"/>
          </p:cNvSpPr>
          <p:nvPr>
            <p:ph idx="1"/>
          </p:nvPr>
        </p:nvSpPr>
        <p:spPr/>
        <p:txBody>
          <a:bodyPr>
            <a:normAutofit lnSpcReduction="10000"/>
          </a:bodyPr>
          <a:lstStyle/>
          <a:p>
            <a:pPr algn="l">
              <a:buFont typeface="Arial" panose="020B0604020202020204" pitchFamily="34" charset="0"/>
              <a:buChar char="•"/>
            </a:pPr>
            <a:r>
              <a:rPr lang="en-US" sz="2800" b="1" i="0" dirty="0">
                <a:solidFill>
                  <a:srgbClr val="404040"/>
                </a:solidFill>
                <a:effectLst/>
                <a:latin typeface="Inter"/>
              </a:rPr>
              <a:t>Internal Rate of Return (IRR)</a:t>
            </a:r>
            <a:r>
              <a:rPr lang="en-US" sz="2800" b="0" i="0" dirty="0">
                <a:solidFill>
                  <a:srgbClr val="404040"/>
                </a:solidFill>
                <a:effectLst/>
                <a:latin typeface="Inter"/>
              </a:rPr>
              <a:t>: The discount rate that makes NPV = 0. While IRR is useful, it can be misleading for non-conventional cash flows.</a:t>
            </a:r>
          </a:p>
          <a:p>
            <a:pPr algn="l">
              <a:spcBef>
                <a:spcPts val="300"/>
              </a:spcBef>
              <a:buFont typeface="Arial" panose="020B0604020202020204" pitchFamily="34" charset="0"/>
              <a:buChar char="•"/>
            </a:pPr>
            <a:r>
              <a:rPr lang="en-US" sz="2800" b="1" i="0" dirty="0">
                <a:solidFill>
                  <a:srgbClr val="404040"/>
                </a:solidFill>
                <a:effectLst/>
                <a:latin typeface="Inter"/>
              </a:rPr>
              <a:t>Payback Period</a:t>
            </a:r>
            <a:r>
              <a:rPr lang="en-US" sz="2800" b="0" i="0" dirty="0">
                <a:solidFill>
                  <a:srgbClr val="404040"/>
                </a:solidFill>
                <a:effectLst/>
                <a:latin typeface="Inter"/>
              </a:rPr>
              <a:t>: Measures how long it takes to recover the initial investment but ignores the time value of money.</a:t>
            </a:r>
          </a:p>
          <a:p>
            <a:pPr algn="l">
              <a:spcBef>
                <a:spcPts val="300"/>
              </a:spcBef>
              <a:buFont typeface="Arial" panose="020B0604020202020204" pitchFamily="34" charset="0"/>
              <a:buChar char="•"/>
            </a:pPr>
            <a:r>
              <a:rPr lang="en-US" sz="2800" b="1" i="0" dirty="0">
                <a:solidFill>
                  <a:srgbClr val="404040"/>
                </a:solidFill>
                <a:effectLst/>
                <a:latin typeface="Inter"/>
              </a:rPr>
              <a:t>Profitability Index (PI)</a:t>
            </a:r>
            <a:r>
              <a:rPr lang="en-US" sz="2800" b="0" i="0" dirty="0">
                <a:solidFill>
                  <a:srgbClr val="404040"/>
                </a:solidFill>
                <a:effectLst/>
                <a:latin typeface="Inter"/>
              </a:rPr>
              <a:t>: Ratio of present value of cash inflows to initial investment. PI &gt; 1 indicates a profitable project.</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Inter"/>
              </a:rPr>
              <a:t>Applications of NPV</a:t>
            </a:r>
            <a:br>
              <a:rPr lang="en-US" b="1" dirty="0">
                <a:solidFill>
                  <a:schemeClr val="accent1"/>
                </a:solidFill>
                <a:latin typeface="Inter"/>
              </a:rPr>
            </a:br>
            <a:endParaRPr lang="en-US" dirty="0">
              <a:solidFill>
                <a:schemeClr val="accent1"/>
              </a:solidFill>
            </a:endParaRPr>
          </a:p>
        </p:txBody>
      </p:sp>
      <p:sp>
        <p:nvSpPr>
          <p:cNvPr id="3" name="Content Placeholder 2"/>
          <p:cNvSpPr>
            <a:spLocks noGrp="1"/>
          </p:cNvSpPr>
          <p:nvPr>
            <p:ph idx="1"/>
          </p:nvPr>
        </p:nvSpPr>
        <p:spPr>
          <a:xfrm>
            <a:off x="677334" y="2150076"/>
            <a:ext cx="9059790" cy="3891286"/>
          </a:xfrm>
        </p:spPr>
        <p:txBody>
          <a:bodyPr/>
          <a:lstStyle/>
          <a:p>
            <a:pPr algn="l">
              <a:buFont typeface="Arial" panose="020B0604020202020204" pitchFamily="34" charset="0"/>
              <a:buChar char="•"/>
            </a:pPr>
            <a:r>
              <a:rPr lang="en-US" sz="3200" b="1" i="0" dirty="0">
                <a:solidFill>
                  <a:srgbClr val="404040"/>
                </a:solidFill>
                <a:effectLst/>
                <a:latin typeface="Inter"/>
              </a:rPr>
              <a:t>Capital budgeting for businesses.</a:t>
            </a:r>
          </a:p>
          <a:p>
            <a:pPr algn="l">
              <a:spcBef>
                <a:spcPts val="300"/>
              </a:spcBef>
              <a:buFont typeface="Arial" panose="020B0604020202020204" pitchFamily="34" charset="0"/>
              <a:buChar char="•"/>
            </a:pPr>
            <a:r>
              <a:rPr lang="en-US" sz="3200" b="1" i="0" dirty="0">
                <a:solidFill>
                  <a:srgbClr val="404040"/>
                </a:solidFill>
                <a:effectLst/>
                <a:latin typeface="Inter"/>
              </a:rPr>
              <a:t>Evaluating real estate investments.</a:t>
            </a:r>
          </a:p>
          <a:p>
            <a:pPr algn="l">
              <a:spcBef>
                <a:spcPts val="300"/>
              </a:spcBef>
              <a:buFont typeface="Arial" panose="020B0604020202020204" pitchFamily="34" charset="0"/>
              <a:buChar char="•"/>
            </a:pPr>
            <a:r>
              <a:rPr lang="en-US" sz="3200" b="1" i="0" dirty="0">
                <a:solidFill>
                  <a:srgbClr val="404040"/>
                </a:solidFill>
                <a:effectLst/>
                <a:latin typeface="Inter"/>
              </a:rPr>
              <a:t>Assessing the feasibility of infrastructure projects.</a:t>
            </a:r>
          </a:p>
          <a:p>
            <a:pPr algn="l">
              <a:spcBef>
                <a:spcPts val="300"/>
              </a:spcBef>
              <a:buFont typeface="Arial" panose="020B0604020202020204" pitchFamily="34" charset="0"/>
              <a:buChar char="•"/>
            </a:pPr>
            <a:r>
              <a:rPr lang="en-US" sz="3200" b="1" i="0" dirty="0">
                <a:solidFill>
                  <a:srgbClr val="404040"/>
                </a:solidFill>
                <a:effectLst/>
                <a:latin typeface="Inter"/>
              </a:rPr>
              <a:t>Comparing investment opportunities.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1482</Words>
  <Application>Microsoft Office PowerPoint</Application>
  <PresentationFormat>Widescreen</PresentationFormat>
  <Paragraphs>127</Paragraphs>
  <Slides>21</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21</vt:i4>
      </vt:variant>
    </vt:vector>
  </HeadingPairs>
  <TitlesOfParts>
    <vt:vector size="34" baseType="lpstr">
      <vt:lpstr>Arial</vt:lpstr>
      <vt:lpstr>Arial Black</vt:lpstr>
      <vt:lpstr>Calibri</vt:lpstr>
      <vt:lpstr>Calibri Light</vt:lpstr>
      <vt:lpstr>Inter</vt:lpstr>
      <vt:lpstr>KaTeX_Main</vt:lpstr>
      <vt:lpstr>KaTeX_Math</vt:lpstr>
      <vt:lpstr>KaTeX_Size2</vt:lpstr>
      <vt:lpstr>KaTeX_Size3</vt:lpstr>
      <vt:lpstr>Trebuchet MS</vt:lpstr>
      <vt:lpstr>Wingdings 3</vt:lpstr>
      <vt:lpstr>Office Theme</vt:lpstr>
      <vt:lpstr>Facet</vt:lpstr>
      <vt:lpstr>LUC 3</vt:lpstr>
      <vt:lpstr>Interest rates </vt:lpstr>
      <vt:lpstr>Here are some key aspects of real-world interest rates</vt:lpstr>
      <vt:lpstr>2. Market-Determined Rates </vt:lpstr>
      <vt:lpstr>3. Consumer and Business Rates </vt:lpstr>
      <vt:lpstr>5. Global Variations </vt:lpstr>
      <vt:lpstr>6. Current Trends / directions  (as of 2023) </vt:lpstr>
      <vt:lpstr>7. Impact on the Economy </vt:lpstr>
      <vt:lpstr>8. Future Outlook </vt:lpstr>
      <vt:lpstr>Net Present Value (NPV) </vt:lpstr>
      <vt:lpstr>Key Concepts in NPV Analysis</vt:lpstr>
      <vt:lpstr>Cash Flows: </vt:lpstr>
      <vt:lpstr>Steps to Calculate NPV </vt:lpstr>
      <vt:lpstr>PowerPoint Presentation</vt:lpstr>
      <vt:lpstr>Interpretation of NPV </vt:lpstr>
      <vt:lpstr>Advantages of NPV </vt:lpstr>
      <vt:lpstr>Limitations of NPV </vt:lpstr>
      <vt:lpstr>Example of NPV Calculation </vt:lpstr>
      <vt:lpstr>PowerPoint Presentation</vt:lpstr>
      <vt:lpstr>NPV vs. Other Metrics </vt:lpstr>
      <vt:lpstr>Applications of NPV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27</cp:revision>
  <dcterms:created xsi:type="dcterms:W3CDTF">2025-03-04T09:27:00Z</dcterms:created>
  <dcterms:modified xsi:type="dcterms:W3CDTF">2025-04-07T09:19:42Z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AF9D7E0133614F6C9079C88D54AC69A3_12</vt:lpwstr>
  </property>
  <property fmtid="{D5CDD505-2E9C-101B-9397-08002B2CF9AE}" pid="3" name="KSOProductBuildVer">
    <vt:lpwstr>1033-12.2.0.20323</vt:lpwstr>
  </property>
</Properties>
</file>