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1347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2942"/>
          </a:solidFill>
          <a:ln/>
        </p:spPr>
      </p:sp>
      <p:sp>
        <p:nvSpPr>
          <p:cNvPr id="3" name="Shape 1"/>
          <p:cNvSpPr/>
          <p:nvPr/>
        </p:nvSpPr>
        <p:spPr>
          <a:xfrm>
            <a:off x="8961120" y="-2011680"/>
            <a:ext cx="5486400" cy="5486400"/>
          </a:xfrm>
          <a:prstGeom prst="ellipse">
            <a:avLst/>
          </a:prstGeom>
          <a:solidFill>
            <a:srgbClr val="0A1D30"/>
          </a:solidFill>
          <a:ln/>
        </p:spPr>
      </p:sp>
      <p:sp>
        <p:nvSpPr>
          <p:cNvPr id="4" name="Shape 2"/>
          <p:cNvSpPr/>
          <p:nvPr/>
        </p:nvSpPr>
        <p:spPr>
          <a:xfrm>
            <a:off x="-2286000" y="4572000"/>
            <a:ext cx="4572000" cy="4572000"/>
          </a:xfrm>
          <a:prstGeom prst="ellipse">
            <a:avLst/>
          </a:prstGeom>
          <a:solidFill>
            <a:srgbClr val="0A1D30"/>
          </a:solidFill>
          <a:ln/>
        </p:spPr>
      </p:sp>
      <p:sp>
        <p:nvSpPr>
          <p:cNvPr id="5" name="Text 3"/>
          <p:cNvSpPr/>
          <p:nvPr/>
        </p:nvSpPr>
        <p:spPr>
          <a:xfrm>
            <a:off x="822960" y="2331720"/>
            <a:ext cx="10515600" cy="1005840"/>
          </a:xfrm>
          <a:prstGeom prst="rect">
            <a:avLst/>
          </a:prstGeom>
          <a:noFill/>
          <a:ln/>
        </p:spPr>
        <p:txBody>
          <a:bodyPr wrap="square" lIns="0" tIns="0" rIns="0" bIns="0" rtlCol="0" anchor="ctr"/>
          <a:lstStyle/>
          <a:p>
            <a:r>
              <a:rPr lang="en-US" sz="4000" b="1" dirty="0">
                <a:solidFill>
                  <a:srgbClr val="FFFFFF"/>
                </a:solidFill>
                <a:latin typeface="Calibri" pitchFamily="34" charset="0"/>
                <a:ea typeface="Calibri" pitchFamily="34" charset="-122"/>
                <a:cs typeface="Calibri" pitchFamily="34" charset="-120"/>
              </a:rPr>
              <a:t>Performance Modeling</a:t>
            </a:r>
            <a:endParaRPr lang="en-US" sz="4000" dirty="0"/>
          </a:p>
        </p:txBody>
      </p:sp>
      <p:sp>
        <p:nvSpPr>
          <p:cNvPr id="6" name="Text 4"/>
          <p:cNvSpPr/>
          <p:nvPr/>
        </p:nvSpPr>
        <p:spPr>
          <a:xfrm>
            <a:off x="868680" y="3291840"/>
            <a:ext cx="10058400" cy="548640"/>
          </a:xfrm>
          <a:prstGeom prst="rect">
            <a:avLst/>
          </a:prstGeom>
          <a:noFill/>
          <a:ln/>
        </p:spPr>
        <p:txBody>
          <a:bodyPr wrap="square" lIns="0" tIns="0" rIns="0" bIns="0" rtlCol="0" anchor="ctr"/>
          <a:lstStyle/>
          <a:p>
            <a:pPr marL="0" indent="0">
              <a:buNone/>
            </a:pPr>
            <a:r>
              <a:rPr lang="en-US" sz="2000" dirty="0">
                <a:solidFill>
                  <a:srgbClr val="00B8A9"/>
                </a:solidFill>
                <a:latin typeface="Calibri" pitchFamily="34" charset="0"/>
                <a:ea typeface="Calibri" pitchFamily="34" charset="-122"/>
                <a:cs typeface="Calibri" pitchFamily="34" charset="-120"/>
              </a:rPr>
              <a:t>A Complete 9-Lecture Course</a:t>
            </a:r>
            <a:endParaRPr lang="en-US" sz="2000" dirty="0"/>
          </a:p>
        </p:txBody>
      </p:sp>
      <p:sp>
        <p:nvSpPr>
          <p:cNvPr id="7" name="Text 5"/>
          <p:cNvSpPr/>
          <p:nvPr/>
        </p:nvSpPr>
        <p:spPr>
          <a:xfrm>
            <a:off x="868680" y="6035040"/>
            <a:ext cx="7315200" cy="365760"/>
          </a:xfrm>
          <a:prstGeom prst="rect">
            <a:avLst/>
          </a:prstGeom>
          <a:noFill/>
          <a:ln/>
        </p:spPr>
        <p:txBody>
          <a:bodyPr wrap="square" lIns="0" tIns="0" rIns="0" bIns="0" rtlCol="0" anchor="ctr"/>
          <a:lstStyle/>
          <a:p>
            <a:pPr marL="0" indent="0">
              <a:buNone/>
            </a:pPr>
            <a:r>
              <a:rPr lang="en-US" sz="1400" dirty="0">
                <a:solidFill>
                  <a:srgbClr val="AEB9C4"/>
                </a:solidFill>
                <a:latin typeface="Calibri" pitchFamily="34" charset="0"/>
                <a:ea typeface="Calibri" pitchFamily="34" charset="-122"/>
                <a:cs typeface="Calibri" pitchFamily="34" charset="-120"/>
              </a:rPr>
              <a:t>4th Year — Software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A1D30"/>
          </a:solidFill>
          <a:ln/>
        </p:spPr>
      </p:sp>
      <p:sp>
        <p:nvSpPr>
          <p:cNvPr id="3" name="Text 1"/>
          <p:cNvSpPr/>
          <p:nvPr/>
        </p:nvSpPr>
        <p:spPr>
          <a:xfrm>
            <a:off x="640080" y="2743200"/>
            <a:ext cx="3017520" cy="457200"/>
          </a:xfrm>
          <a:prstGeom prst="rect">
            <a:avLst/>
          </a:prstGeom>
          <a:noFill/>
          <a:ln/>
        </p:spPr>
        <p:txBody>
          <a:bodyPr wrap="square" lIns="0" tIns="0" rIns="0" bIns="0" rtlCol="0" anchor="ctr"/>
          <a:lstStyle/>
          <a:p>
            <a:pPr marL="0" indent="0">
              <a:buNone/>
            </a:pPr>
            <a:r>
              <a:rPr lang="en-US" sz="1600" b="1" dirty="0">
                <a:solidFill>
                  <a:srgbClr val="00B8A9"/>
                </a:solidFill>
                <a:latin typeface="Calibri" pitchFamily="34" charset="0"/>
                <a:ea typeface="Calibri" pitchFamily="34" charset="-122"/>
                <a:cs typeface="Calibri" pitchFamily="34" charset="-120"/>
              </a:rPr>
              <a:t>LECTURE 01</a:t>
            </a:r>
            <a:endParaRPr lang="en-US" sz="1600" dirty="0"/>
          </a:p>
        </p:txBody>
      </p:sp>
      <p:sp>
        <p:nvSpPr>
          <p:cNvPr id="4" name="Text 2"/>
          <p:cNvSpPr/>
          <p:nvPr/>
        </p:nvSpPr>
        <p:spPr>
          <a:xfrm>
            <a:off x="457200" y="3108960"/>
            <a:ext cx="3291840" cy="2011680"/>
          </a:xfrm>
          <a:prstGeom prst="rect">
            <a:avLst/>
          </a:prstGeom>
          <a:noFill/>
          <a:ln/>
        </p:spPr>
        <p:txBody>
          <a:bodyPr wrap="square" lIns="0" tIns="0" rIns="0" bIns="0" rtlCol="0" anchor="ctr"/>
          <a:lstStyle/>
          <a:p>
            <a:pPr marL="0" indent="0">
              <a:buNone/>
            </a:pPr>
            <a:r>
              <a:rPr lang="en-US" sz="10000" b="1" dirty="0">
                <a:solidFill>
                  <a:srgbClr val="1C3A55"/>
                </a:solidFill>
                <a:latin typeface="Calibri" pitchFamily="34" charset="0"/>
                <a:ea typeface="Calibri" pitchFamily="34" charset="-122"/>
                <a:cs typeface="Calibri" pitchFamily="34" charset="-120"/>
              </a:rPr>
              <a:t>01</a:t>
            </a:r>
            <a:endParaRPr lang="en-US" sz="10000" dirty="0"/>
          </a:p>
        </p:txBody>
      </p:sp>
      <p:sp>
        <p:nvSpPr>
          <p:cNvPr id="5" name="Text 3"/>
          <p:cNvSpPr/>
          <p:nvPr/>
        </p:nvSpPr>
        <p:spPr>
          <a:xfrm>
            <a:off x="4663440" y="2423160"/>
            <a:ext cx="6949440" cy="146304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Introduction to Performance Modeling</a:t>
            </a:r>
            <a:endParaRPr lang="en-US" sz="3400" dirty="0"/>
          </a:p>
        </p:txBody>
      </p:sp>
      <p:sp>
        <p:nvSpPr>
          <p:cNvPr id="6" name="Text 4"/>
          <p:cNvSpPr/>
          <p:nvPr/>
        </p:nvSpPr>
        <p:spPr>
          <a:xfrm>
            <a:off x="4709160" y="3977640"/>
            <a:ext cx="6766560" cy="1280160"/>
          </a:xfrm>
          <a:prstGeom prst="rect">
            <a:avLst/>
          </a:prstGeom>
          <a:noFill/>
          <a:ln/>
        </p:spPr>
        <p:txBody>
          <a:bodyPr wrap="square" lIns="0" tIns="0" rIns="0" bIns="0" rtlCol="0" anchor="t"/>
          <a:lstStyle/>
          <a:p>
            <a:pPr marL="0" indent="0">
              <a:lnSpc>
                <a:spcPct val="130000"/>
              </a:lnSpc>
              <a:buNone/>
            </a:pPr>
            <a:r>
              <a:rPr lang="en-US" sz="2400" dirty="0">
                <a:solidFill>
                  <a:srgbClr val="C7D0D9"/>
                </a:solidFill>
                <a:latin typeface="Calibri" pitchFamily="34" charset="0"/>
                <a:ea typeface="Calibri" pitchFamily="34" charset="-122"/>
                <a:cs typeface="Calibri" pitchFamily="34" charset="-120"/>
              </a:rPr>
              <a:t>Why performance matters, what a performance model is, the modeling lifecycle, and how this course is organized.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640080"/>
          </a:xfrm>
          <a:prstGeom prst="rect">
            <a:avLst/>
          </a:prstGeom>
          <a:noFill/>
          <a:ln/>
        </p:spPr>
        <p:txBody>
          <a:bodyPr wrap="square" lIns="0" tIns="0" rIns="0" bIns="0" rtlCol="0" anchor="ctr"/>
          <a:lstStyle/>
          <a:p>
            <a:pPr marL="0" indent="0">
              <a:buNone/>
            </a:pPr>
            <a:r>
              <a:rPr lang="en-US" sz="3000" b="1" dirty="0">
                <a:solidFill>
                  <a:srgbClr val="0F2942"/>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566928" y="1097280"/>
            <a:ext cx="457200" cy="54864"/>
          </a:xfrm>
          <a:prstGeom prst="rect">
            <a:avLst/>
          </a:prstGeom>
          <a:solidFill>
            <a:srgbClr val="00B8A9"/>
          </a:solidFill>
          <a:ln/>
        </p:spPr>
      </p:sp>
      <p:sp>
        <p:nvSpPr>
          <p:cNvPr id="4" name="Shape 2"/>
          <p:cNvSpPr/>
          <p:nvPr/>
        </p:nvSpPr>
        <p:spPr>
          <a:xfrm>
            <a:off x="640080" y="1508760"/>
            <a:ext cx="457200" cy="457200"/>
          </a:xfrm>
          <a:prstGeom prst="roundRect">
            <a:avLst>
              <a:gd name="adj" fmla="val 16000"/>
            </a:avLst>
          </a:prstGeom>
          <a:solidFill>
            <a:srgbClr val="EAF6F5"/>
          </a:solidFill>
          <a:ln/>
        </p:spPr>
      </p:sp>
      <p:sp>
        <p:nvSpPr>
          <p:cNvPr id="5" name="Text 3"/>
          <p:cNvSpPr/>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48132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Why systems fail in production even when they 'work'</a:t>
            </a:r>
            <a:endParaRPr lang="en-US" sz="2400" dirty="0"/>
          </a:p>
        </p:txBody>
      </p:sp>
      <p:sp>
        <p:nvSpPr>
          <p:cNvPr id="7" name="Shape 5"/>
          <p:cNvSpPr/>
          <p:nvPr/>
        </p:nvSpPr>
        <p:spPr>
          <a:xfrm>
            <a:off x="640080" y="2301240"/>
            <a:ext cx="457200" cy="457200"/>
          </a:xfrm>
          <a:prstGeom prst="roundRect">
            <a:avLst>
              <a:gd name="adj" fmla="val 16000"/>
            </a:avLst>
          </a:prstGeom>
          <a:solidFill>
            <a:srgbClr val="EAF6F5"/>
          </a:solidFill>
          <a:ln/>
        </p:spPr>
      </p:sp>
      <p:sp>
        <p:nvSpPr>
          <p:cNvPr id="8" name="Text 6"/>
          <p:cNvSpPr/>
          <p:nvPr/>
        </p:nvSpPr>
        <p:spPr>
          <a:xfrm>
            <a:off x="640080" y="230124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7380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What is performance modeling, and what problems does it solve?</a:t>
            </a:r>
            <a:endParaRPr lang="en-US" sz="2400" dirty="0"/>
          </a:p>
        </p:txBody>
      </p:sp>
      <p:sp>
        <p:nvSpPr>
          <p:cNvPr id="10" name="Shape 8"/>
          <p:cNvSpPr/>
          <p:nvPr/>
        </p:nvSpPr>
        <p:spPr>
          <a:xfrm>
            <a:off x="640080" y="3093720"/>
            <a:ext cx="457200" cy="457200"/>
          </a:xfrm>
          <a:prstGeom prst="roundRect">
            <a:avLst>
              <a:gd name="adj" fmla="val 16000"/>
            </a:avLst>
          </a:prstGeom>
          <a:solidFill>
            <a:srgbClr val="EAF6F5"/>
          </a:solidFill>
          <a:ln/>
        </p:spPr>
      </p:sp>
      <p:sp>
        <p:nvSpPr>
          <p:cNvPr id="11" name="Text 9"/>
          <p:cNvSpPr/>
          <p:nvPr/>
        </p:nvSpPr>
        <p:spPr>
          <a:xfrm>
            <a:off x="640080" y="309372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06628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Types of performance models: analytical, simulation, and measurement-based</a:t>
            </a:r>
            <a:endParaRPr lang="en-US" sz="2400" dirty="0"/>
          </a:p>
        </p:txBody>
      </p:sp>
      <p:sp>
        <p:nvSpPr>
          <p:cNvPr id="13" name="Shape 11"/>
          <p:cNvSpPr/>
          <p:nvPr/>
        </p:nvSpPr>
        <p:spPr>
          <a:xfrm>
            <a:off x="640080" y="3886200"/>
            <a:ext cx="457200" cy="457200"/>
          </a:xfrm>
          <a:prstGeom prst="roundRect">
            <a:avLst>
              <a:gd name="adj" fmla="val 16000"/>
            </a:avLst>
          </a:prstGeom>
          <a:solidFill>
            <a:srgbClr val="EAF6F5"/>
          </a:solidFill>
          <a:ln/>
        </p:spPr>
      </p:sp>
      <p:sp>
        <p:nvSpPr>
          <p:cNvPr id="14" name="Text 12"/>
          <p:cNvSpPr/>
          <p:nvPr/>
        </p:nvSpPr>
        <p:spPr>
          <a:xfrm>
            <a:off x="640080" y="388620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85876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The performance engineering lifecycle</a:t>
            </a:r>
            <a:endParaRPr lang="en-US" sz="2400" dirty="0"/>
          </a:p>
        </p:txBody>
      </p:sp>
      <p:sp>
        <p:nvSpPr>
          <p:cNvPr id="16" name="Shape 14"/>
          <p:cNvSpPr/>
          <p:nvPr/>
        </p:nvSpPr>
        <p:spPr>
          <a:xfrm>
            <a:off x="640080" y="4678680"/>
            <a:ext cx="457200" cy="457200"/>
          </a:xfrm>
          <a:prstGeom prst="roundRect">
            <a:avLst>
              <a:gd name="adj" fmla="val 16000"/>
            </a:avLst>
          </a:prstGeom>
          <a:solidFill>
            <a:srgbClr val="EAF6F5"/>
          </a:solidFill>
          <a:ln/>
        </p:spPr>
      </p:sp>
      <p:sp>
        <p:nvSpPr>
          <p:cNvPr id="17" name="Text 15"/>
          <p:cNvSpPr/>
          <p:nvPr/>
        </p:nvSpPr>
        <p:spPr>
          <a:xfrm>
            <a:off x="640080" y="467868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65124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Common pitfalls: premature optimization vs. no capacity planning at all</a:t>
            </a:r>
            <a:endParaRPr lang="en-US" sz="2400" dirty="0"/>
          </a:p>
        </p:txBody>
      </p:sp>
      <p:sp>
        <p:nvSpPr>
          <p:cNvPr id="19" name="Shape 17"/>
          <p:cNvSpPr/>
          <p:nvPr/>
        </p:nvSpPr>
        <p:spPr>
          <a:xfrm>
            <a:off x="640080" y="5471160"/>
            <a:ext cx="457200" cy="457200"/>
          </a:xfrm>
          <a:prstGeom prst="roundRect">
            <a:avLst>
              <a:gd name="adj" fmla="val 16000"/>
            </a:avLst>
          </a:prstGeom>
          <a:solidFill>
            <a:srgbClr val="EAF6F5"/>
          </a:solidFill>
          <a:ln/>
        </p:spPr>
      </p:sp>
      <p:sp>
        <p:nvSpPr>
          <p:cNvPr id="20" name="Text 18"/>
          <p:cNvSpPr/>
          <p:nvPr/>
        </p:nvSpPr>
        <p:spPr>
          <a:xfrm>
            <a:off x="640080" y="54711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443728"/>
            <a:ext cx="9673046"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Course roadmap: from queueing theory to simulation to capacity planning</a:t>
            </a:r>
            <a:endParaRPr lang="en-US" sz="2400" dirty="0"/>
          </a:p>
        </p:txBody>
      </p:sp>
      <p:sp>
        <p:nvSpPr>
          <p:cNvPr id="22" name="Text 2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23" name="Text 2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Performance Matters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system can be functionally correct and still fail in production</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It returns the right answer — but takes 30 seconds to do it, or collapses under real user load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Real consequences of poor performance: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Lost revenue: Amazon found every 100ms of latency cost them 1% in sales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Lost users: slow apps get uninstalled; slow websites get abandoned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Cascading failures: one slow service can bring down an entire distributed system</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Performance is not an afterthought bolted on after launch — it is an engineering property that must be modeled, predicted, and designed for</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 Short, Costly Story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 startup builds a web app, tests it with 10 users, everything is fast</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They launch. Within a week, they have 50,000 users.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The database — untested at scale — grinds to a halt; requests queue up; the site becomes unusable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The root cause wasn't a bug. The code was 'correct.' The problem was that nobody modeled how the system would behave under real load</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This course is about learning to answer that </a:t>
            </a:r>
            <a:r>
              <a:rPr lang="en-US" sz="2400" b="1">
                <a:solidFill>
                  <a:srgbClr val="1A1A2E"/>
                </a:solidFill>
                <a:latin typeface="Calibri" pitchFamily="34" charset="0"/>
                <a:ea typeface="Calibri" pitchFamily="34" charset="-122"/>
                <a:cs typeface="Calibri" pitchFamily="34" charset="-120"/>
              </a:rPr>
              <a:t>question before </a:t>
            </a:r>
            <a:r>
              <a:rPr lang="en-US" sz="2400" b="1" dirty="0">
                <a:solidFill>
                  <a:srgbClr val="1A1A2E"/>
                </a:solidFill>
                <a:latin typeface="Calibri" pitchFamily="34" charset="0"/>
                <a:ea typeface="Calibri" pitchFamily="34" charset="-122"/>
                <a:cs typeface="Calibri" pitchFamily="34" charset="-120"/>
              </a:rPr>
              <a:t>it becomes a crisis</a:t>
            </a:r>
            <a:endParaRPr lang="en-US" sz="2400" dirty="0"/>
          </a:p>
        </p:txBody>
      </p:sp>
      <p:grpSp>
        <p:nvGrpSpPr>
          <p:cNvPr id="10" name="Group 9">
            <a:extLst>
              <a:ext uri="{FF2B5EF4-FFF2-40B4-BE49-F238E27FC236}">
                <a16:creationId xmlns:a16="http://schemas.microsoft.com/office/drawing/2014/main" id="{7E697F14-78C4-13F3-C582-0F86F04F05B2}"/>
              </a:ext>
            </a:extLst>
          </p:cNvPr>
          <p:cNvGrpSpPr/>
          <p:nvPr/>
        </p:nvGrpSpPr>
        <p:grpSpPr>
          <a:xfrm>
            <a:off x="866438" y="4739954"/>
            <a:ext cx="10497312" cy="1598333"/>
            <a:chOff x="7452360" y="1371600"/>
            <a:chExt cx="4160520" cy="4480560"/>
          </a:xfrm>
        </p:grpSpPr>
        <p:sp>
          <p:nvSpPr>
            <p:cNvPr id="5" name="Shape 3"/>
            <p:cNvSpPr/>
            <p:nvPr/>
          </p:nvSpPr>
          <p:spPr>
            <a:xfrm>
              <a:off x="7452360" y="1371600"/>
              <a:ext cx="4160520" cy="4480560"/>
            </a:xfrm>
            <a:prstGeom prst="roundRect">
              <a:avLst>
                <a:gd name="adj" fmla="val 2198"/>
              </a:avLst>
            </a:prstGeom>
            <a:solidFill>
              <a:srgbClr val="F4F6F8"/>
            </a:solidFill>
            <a:ln w="12700">
              <a:solidFill>
                <a:srgbClr val="D9DEE4"/>
              </a:solidFill>
              <a:prstDash val="solid"/>
            </a:ln>
          </p:spPr>
        </p:sp>
        <p:sp>
          <p:nvSpPr>
            <p:cNvPr id="6" name="Text 4"/>
            <p:cNvSpPr/>
            <p:nvPr/>
          </p:nvSpPr>
          <p:spPr>
            <a:xfrm>
              <a:off x="7680960" y="1536192"/>
              <a:ext cx="3749040" cy="365760"/>
            </a:xfrm>
            <a:prstGeom prst="rect">
              <a:avLst/>
            </a:prstGeom>
            <a:noFill/>
            <a:ln/>
          </p:spPr>
          <p:txBody>
            <a:bodyPr wrap="square" lIns="0" tIns="0" rIns="0" bIns="0" rtlCol="0" anchor="ctr"/>
            <a:lstStyle/>
            <a:p>
              <a:pPr marL="0" indent="0">
                <a:buNone/>
              </a:pPr>
              <a:r>
                <a:rPr lang="en-US" b="1" dirty="0">
                  <a:solidFill>
                    <a:srgbClr val="00B8A9"/>
                  </a:solidFill>
                  <a:latin typeface="Calibri" pitchFamily="34" charset="0"/>
                  <a:ea typeface="Calibri" pitchFamily="34" charset="-122"/>
                  <a:cs typeface="Calibri" pitchFamily="34" charset="-120"/>
                </a:rPr>
                <a:t>Why This Course Exists</a:t>
              </a:r>
              <a:endParaRPr lang="en-US" dirty="0"/>
            </a:p>
          </p:txBody>
        </p:sp>
        <p:sp>
          <p:nvSpPr>
            <p:cNvPr id="7" name="Text 5"/>
            <p:cNvSpPr/>
            <p:nvPr/>
          </p:nvSpPr>
          <p:spPr>
            <a:xfrm>
              <a:off x="7680960" y="2461688"/>
              <a:ext cx="3703320" cy="3390472"/>
            </a:xfrm>
            <a:prstGeom prst="rect">
              <a:avLst/>
            </a:prstGeom>
            <a:noFill/>
            <a:ln/>
          </p:spPr>
          <p:txBody>
            <a:bodyPr wrap="square" lIns="0" tIns="0" rIns="0" bIns="0" rtlCol="0" anchor="t"/>
            <a:lstStyle/>
            <a:p>
              <a:pPr marL="0" indent="0">
                <a:lnSpc>
                  <a:spcPct val="125000"/>
                </a:lnSpc>
                <a:buNone/>
              </a:pPr>
              <a:r>
                <a:rPr lang="en-US" dirty="0">
                  <a:solidFill>
                    <a:srgbClr val="33394A"/>
                  </a:solidFill>
                  <a:latin typeface="Calibri" pitchFamily="34" charset="0"/>
                  <a:ea typeface="Calibri" pitchFamily="34" charset="-122"/>
                  <a:cs typeface="Calibri" pitchFamily="34" charset="-120"/>
                </a:rPr>
                <a:t>This scenario is extremely common — this course gives you the mathematical and simulation tools to predict it instead of discovering it in production.</a:t>
              </a:r>
              <a:endParaRPr lang="en-US" dirty="0"/>
            </a:p>
          </p:txBody>
        </p:sp>
      </p:grpSp>
      <p:sp>
        <p:nvSpPr>
          <p:cNvPr id="8" name="Text 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9" name="Text 7"/>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Performance Modeling</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discipline of constructing abstract, mathematical, or simulated representations of a system in order to predict, analyze, and optimize its performance characteristics — such as response time, throughput, and resource utilization — before or without needing to fully build and load-test the real system.”</a:t>
            </a:r>
            <a:endParaRPr lang="en-US" sz="2400" dirty="0"/>
          </a:p>
        </p:txBody>
      </p:sp>
      <p:sp>
        <p:nvSpPr>
          <p:cNvPr id="6" name="Text 4"/>
          <p:cNvSpPr/>
          <p:nvPr/>
        </p:nvSpPr>
        <p:spPr>
          <a:xfrm>
            <a:off x="850953" y="4702638"/>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model trades some realism for tractability: it captures the factors that matter most and abstracts away the rest</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Good models let you answer 'what if' questions cheaply, long before committing to expensive hardware or a risky launch</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What Questions Can a Performance Model Answer?</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Capacity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many users can this server support before response time exceeds 2 seconds?"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Design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"If we add a second database replica, how much does throughput improve?"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Bottleneck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"Which component — CPU, disk, or network — will limit us first as load grows?"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Cost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"Do we need 4 servers or 8 servers to handle Black Friday traffic?"</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Performance Modeling vs. Just Testing in Production</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5349240" cy="594360"/>
          </a:xfrm>
          <a:prstGeom prst="roundRect">
            <a:avLst>
              <a:gd name="adj" fmla="val 12308"/>
            </a:avLst>
          </a:prstGeom>
          <a:solidFill>
            <a:srgbClr val="D64550"/>
          </a:solidFill>
          <a:ln/>
        </p:spPr>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Test-in-Production Only</a:t>
            </a:r>
            <a:endParaRPr lang="en-US" sz="1700" dirty="0"/>
          </a:p>
        </p:txBody>
      </p:sp>
      <p:sp>
        <p:nvSpPr>
          <p:cNvPr id="6" name="Shape 4"/>
          <p:cNvSpPr/>
          <p:nvPr/>
        </p:nvSpPr>
        <p:spPr>
          <a:xfrm>
            <a:off x="6263640" y="1325880"/>
            <a:ext cx="5349240" cy="594360"/>
          </a:xfrm>
          <a:prstGeom prst="roundRect">
            <a:avLst>
              <a:gd name="adj" fmla="val 12308"/>
            </a:avLst>
          </a:prstGeom>
          <a:solidFill>
            <a:srgbClr val="00A79A"/>
          </a:solidFill>
          <a:ln/>
        </p:spPr>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Performance Modeling</a:t>
            </a:r>
            <a:endParaRPr lang="en-US" sz="1700" dirty="0"/>
          </a:p>
        </p:txBody>
      </p:sp>
      <p:sp>
        <p:nvSpPr>
          <p:cNvPr id="8" name="Shape 6"/>
          <p:cNvSpPr/>
          <p:nvPr/>
        </p:nvSpPr>
        <p:spPr>
          <a:xfrm>
            <a:off x="548640" y="2057400"/>
            <a:ext cx="5349240" cy="4297680"/>
          </a:xfrm>
          <a:prstGeom prst="roundRect">
            <a:avLst>
              <a:gd name="adj" fmla="val 1702"/>
            </a:avLst>
          </a:prstGeom>
          <a:solidFill>
            <a:srgbClr val="F4F6F8"/>
          </a:solidFill>
          <a:ln/>
        </p:spPr>
      </p:sp>
      <p:sp>
        <p:nvSpPr>
          <p:cNvPr id="9" name="Shape 7"/>
          <p:cNvSpPr/>
          <p:nvPr/>
        </p:nvSpPr>
        <p:spPr>
          <a:xfrm>
            <a:off x="6263640" y="2057400"/>
            <a:ext cx="5349240" cy="4297680"/>
          </a:xfrm>
          <a:prstGeom prst="roundRect">
            <a:avLst>
              <a:gd name="adj" fmla="val 1702"/>
            </a:avLst>
          </a:prstGeom>
          <a:solidFill>
            <a:srgbClr val="F4F6F8"/>
          </a:solidFill>
          <a:ln/>
        </p:spPr>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Discover bottlenecks after real users are affected</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Expensive: requires full-scale infrastructure to test</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Slow: each experiment takes hours or days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Risky: failures are visible to customers</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Predict bottlenecks before they occur</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Cheap: a model runs on a laptop, not a data center</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Fast: answer 'what-if' questions in minutes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Safe: mistakes cost nothing but computation time</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Three Families of Performance Models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Analytical Models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Closed-form mathematical equations (e.g., queueing theory) — fast to solve, but require simplifying assumptions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Simulation Models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Software that mimics system behavior over time, event by event — flexible and realistic, but computationally heavier</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Measurement-Based Models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Built from real system traces/benchmarks — highly accurate for the measured conditions, but hard to generalize beyond them</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course covers all three, in that order: analytical (Lectures 3–6), simulation (Lecture 7), and measurement-driven capacity planning (Lectures 8–9)</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Analytical vs. Simulation vs. Measurement — Trade-offs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822960" y="1325880"/>
            <a:ext cx="6949440" cy="1539240"/>
          </a:xfrm>
          <a:prstGeom prst="roundRect">
            <a:avLst>
              <a:gd name="adj" fmla="val 4158"/>
            </a:avLst>
          </a:prstGeom>
          <a:solidFill>
            <a:srgbClr val="00A79A"/>
          </a:solidFill>
          <a:ln/>
        </p:spPr>
      </p:sp>
      <p:sp>
        <p:nvSpPr>
          <p:cNvPr id="5" name="Text 3"/>
          <p:cNvSpPr/>
          <p:nvPr/>
        </p:nvSpPr>
        <p:spPr>
          <a:xfrm>
            <a:off x="1051560" y="1325880"/>
            <a:ext cx="6492240" cy="15392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Analytical Models</a:t>
            </a:r>
            <a:endParaRPr lang="en-US" dirty="0"/>
          </a:p>
        </p:txBody>
      </p:sp>
      <p:sp>
        <p:nvSpPr>
          <p:cNvPr id="6" name="Text 4"/>
          <p:cNvSpPr/>
          <p:nvPr/>
        </p:nvSpPr>
        <p:spPr>
          <a:xfrm>
            <a:off x="1051560" y="1325880"/>
            <a:ext cx="6492240" cy="1539240"/>
          </a:xfrm>
          <a:prstGeom prst="rect">
            <a:avLst/>
          </a:prstGeom>
          <a:noFill/>
          <a:ln/>
        </p:spPr>
        <p:txBody>
          <a:bodyPr wrap="square" lIns="0" tIns="0" rIns="0" bIns="0" rtlCol="0" anchor="ctr"/>
          <a:lstStyle/>
          <a:p>
            <a:pPr marL="0" indent="0" algn="r">
              <a:buNone/>
            </a:pPr>
            <a:r>
              <a:rPr lang="en-US" sz="1600" dirty="0">
                <a:solidFill>
                  <a:srgbClr val="E4E9EE"/>
                </a:solidFill>
                <a:latin typeface="Calibri" pitchFamily="34" charset="0"/>
                <a:ea typeface="Calibri" pitchFamily="34" charset="-122"/>
                <a:cs typeface="Calibri" pitchFamily="34" charset="-120"/>
              </a:rPr>
              <a:t>Fast, elegant, but limited to simplifying assumptions</a:t>
            </a:r>
            <a:endParaRPr lang="en-US" sz="1600" dirty="0"/>
          </a:p>
        </p:txBody>
      </p:sp>
      <p:sp>
        <p:nvSpPr>
          <p:cNvPr id="7" name="Shape 5"/>
          <p:cNvSpPr/>
          <p:nvPr/>
        </p:nvSpPr>
        <p:spPr>
          <a:xfrm>
            <a:off x="822960" y="3002280"/>
            <a:ext cx="6949440" cy="1539240"/>
          </a:xfrm>
          <a:prstGeom prst="roundRect">
            <a:avLst>
              <a:gd name="adj" fmla="val 4158"/>
            </a:avLst>
          </a:prstGeom>
          <a:solidFill>
            <a:srgbClr val="44546A"/>
          </a:solidFill>
          <a:ln/>
        </p:spPr>
      </p:sp>
      <p:sp>
        <p:nvSpPr>
          <p:cNvPr id="8" name="Text 6"/>
          <p:cNvSpPr/>
          <p:nvPr/>
        </p:nvSpPr>
        <p:spPr>
          <a:xfrm>
            <a:off x="1051560" y="3002280"/>
            <a:ext cx="6492240" cy="15392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Simulation Models</a:t>
            </a:r>
            <a:endParaRPr lang="en-US" dirty="0"/>
          </a:p>
        </p:txBody>
      </p:sp>
      <p:sp>
        <p:nvSpPr>
          <p:cNvPr id="9" name="Text 7"/>
          <p:cNvSpPr/>
          <p:nvPr/>
        </p:nvSpPr>
        <p:spPr>
          <a:xfrm>
            <a:off x="1051560" y="3002280"/>
            <a:ext cx="6492240" cy="1539240"/>
          </a:xfrm>
          <a:prstGeom prst="rect">
            <a:avLst/>
          </a:prstGeom>
          <a:noFill/>
          <a:ln/>
        </p:spPr>
        <p:txBody>
          <a:bodyPr wrap="square" lIns="0" tIns="0" rIns="0" bIns="0" rtlCol="0" anchor="ctr"/>
          <a:lstStyle/>
          <a:p>
            <a:pPr marL="0" indent="0" algn="r">
              <a:buNone/>
            </a:pPr>
            <a:r>
              <a:rPr lang="en-US" sz="1600" dirty="0">
                <a:solidFill>
                  <a:srgbClr val="E4E9EE"/>
                </a:solidFill>
                <a:latin typeface="Calibri" pitchFamily="34" charset="0"/>
                <a:ea typeface="Calibri" pitchFamily="34" charset="-122"/>
                <a:cs typeface="Calibri" pitchFamily="34" charset="-120"/>
              </a:rPr>
              <a:t>Flexible and realistic, but slower and needs </a:t>
            </a:r>
          </a:p>
          <a:p>
            <a:pPr marL="0" indent="0" algn="r">
              <a:buNone/>
            </a:pPr>
            <a:r>
              <a:rPr lang="en-US" sz="1600" dirty="0">
                <a:solidFill>
                  <a:srgbClr val="E4E9EE"/>
                </a:solidFill>
                <a:latin typeface="Calibri" pitchFamily="34" charset="0"/>
                <a:ea typeface="Calibri" pitchFamily="34" charset="-122"/>
                <a:cs typeface="Calibri" pitchFamily="34" charset="-120"/>
              </a:rPr>
              <a:t>careful design</a:t>
            </a:r>
            <a:endParaRPr lang="en-US" sz="1600" dirty="0"/>
          </a:p>
        </p:txBody>
      </p:sp>
      <p:sp>
        <p:nvSpPr>
          <p:cNvPr id="10" name="Shape 8"/>
          <p:cNvSpPr/>
          <p:nvPr/>
        </p:nvSpPr>
        <p:spPr>
          <a:xfrm>
            <a:off x="822960" y="4678680"/>
            <a:ext cx="6949440" cy="1539240"/>
          </a:xfrm>
          <a:prstGeom prst="roundRect">
            <a:avLst>
              <a:gd name="adj" fmla="val 4158"/>
            </a:avLst>
          </a:prstGeom>
          <a:solidFill>
            <a:srgbClr val="44546A"/>
          </a:solidFill>
          <a:ln/>
        </p:spPr>
      </p:sp>
      <p:sp>
        <p:nvSpPr>
          <p:cNvPr id="11" name="Text 9"/>
          <p:cNvSpPr/>
          <p:nvPr/>
        </p:nvSpPr>
        <p:spPr>
          <a:xfrm>
            <a:off x="1051560" y="4678680"/>
            <a:ext cx="6492240" cy="15392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Measurement-Based Models</a:t>
            </a:r>
            <a:endParaRPr lang="en-US" dirty="0"/>
          </a:p>
        </p:txBody>
      </p:sp>
      <p:sp>
        <p:nvSpPr>
          <p:cNvPr id="12" name="Text 10"/>
          <p:cNvSpPr/>
          <p:nvPr/>
        </p:nvSpPr>
        <p:spPr>
          <a:xfrm>
            <a:off x="1051560" y="4678680"/>
            <a:ext cx="6492240" cy="1539240"/>
          </a:xfrm>
          <a:prstGeom prst="rect">
            <a:avLst/>
          </a:prstGeom>
          <a:noFill/>
          <a:ln/>
        </p:spPr>
        <p:txBody>
          <a:bodyPr wrap="square" lIns="0" tIns="0" rIns="0" bIns="0" rtlCol="0" anchor="ctr"/>
          <a:lstStyle/>
          <a:p>
            <a:pPr marL="0" indent="0" algn="r">
              <a:buNone/>
            </a:pPr>
            <a:r>
              <a:rPr lang="en-US" sz="1600" dirty="0">
                <a:solidFill>
                  <a:srgbClr val="E4E9EE"/>
                </a:solidFill>
                <a:latin typeface="Calibri" pitchFamily="34" charset="0"/>
                <a:ea typeface="Calibri" pitchFamily="34" charset="-122"/>
                <a:cs typeface="Calibri" pitchFamily="34" charset="-120"/>
              </a:rPr>
              <a:t>Most accurate for observed conditions,</a:t>
            </a:r>
          </a:p>
          <a:p>
            <a:pPr marL="0" indent="0" algn="r">
              <a:buNone/>
            </a:pPr>
            <a:r>
              <a:rPr lang="en-US" sz="1600" dirty="0">
                <a:solidFill>
                  <a:srgbClr val="E4E9EE"/>
                </a:solidFill>
                <a:latin typeface="Calibri" pitchFamily="34" charset="0"/>
                <a:ea typeface="Calibri" pitchFamily="34" charset="-122"/>
                <a:cs typeface="Calibri" pitchFamily="34" charset="-120"/>
              </a:rPr>
              <a:t> hardest to generalize</a:t>
            </a:r>
            <a:endParaRPr lang="en-US" sz="1600" dirty="0"/>
          </a:p>
        </p:txBody>
      </p:sp>
      <p:sp>
        <p:nvSpPr>
          <p:cNvPr id="13" name="Shape 11"/>
          <p:cNvSpPr/>
          <p:nvPr/>
        </p:nvSpPr>
        <p:spPr>
          <a:xfrm>
            <a:off x="8001000" y="1325880"/>
            <a:ext cx="3566160" cy="4892040"/>
          </a:xfrm>
          <a:prstGeom prst="roundRect">
            <a:avLst>
              <a:gd name="adj" fmla="val 2564"/>
            </a:avLst>
          </a:prstGeom>
          <a:solidFill>
            <a:srgbClr val="EAF6F5"/>
          </a:solidFill>
          <a:ln/>
        </p:spPr>
      </p:sp>
      <p:sp>
        <p:nvSpPr>
          <p:cNvPr id="14" name="Text 12"/>
          <p:cNvSpPr/>
          <p:nvPr/>
        </p:nvSpPr>
        <p:spPr>
          <a:xfrm>
            <a:off x="8183880" y="1481328"/>
            <a:ext cx="3200400" cy="365760"/>
          </a:xfrm>
          <a:prstGeom prst="rect">
            <a:avLst/>
          </a:prstGeom>
          <a:noFill/>
          <a:ln/>
        </p:spPr>
        <p:txBody>
          <a:bodyPr wrap="square" lIns="0" tIns="0" rIns="0" bIns="0" rtlCol="0" anchor="ctr"/>
          <a:lstStyle/>
          <a:p>
            <a:pPr marL="0" indent="0">
              <a:buNone/>
            </a:pPr>
            <a:r>
              <a:rPr lang="en-US" sz="2000" b="1" dirty="0">
                <a:solidFill>
                  <a:srgbClr val="00B8A9"/>
                </a:solidFill>
                <a:latin typeface="Calibri" pitchFamily="34" charset="0"/>
                <a:ea typeface="Calibri" pitchFamily="34" charset="-122"/>
                <a:cs typeface="Calibri" pitchFamily="34" charset="-120"/>
              </a:rPr>
              <a:t>No Single Winner</a:t>
            </a:r>
            <a:endParaRPr lang="en-US" sz="2000" dirty="0"/>
          </a:p>
        </p:txBody>
      </p:sp>
      <p:sp>
        <p:nvSpPr>
          <p:cNvPr id="15" name="Text 13"/>
          <p:cNvSpPr/>
          <p:nvPr/>
        </p:nvSpPr>
        <p:spPr>
          <a:xfrm>
            <a:off x="8183880" y="1874520"/>
            <a:ext cx="3200400" cy="4206240"/>
          </a:xfrm>
          <a:prstGeom prst="rect">
            <a:avLst/>
          </a:prstGeom>
          <a:noFill/>
          <a:ln/>
        </p:spPr>
        <p:txBody>
          <a:bodyPr wrap="square" lIns="0" tIns="0" rIns="0" bIns="0" rtlCol="0" anchor="t"/>
          <a:lstStyle/>
          <a:p>
            <a:pPr marL="0" indent="0">
              <a:lnSpc>
                <a:spcPct val="125000"/>
              </a:lnSpc>
              <a:buNone/>
            </a:pPr>
            <a:r>
              <a:rPr lang="en-US" sz="2000" dirty="0">
                <a:solidFill>
                  <a:srgbClr val="33394A"/>
                </a:solidFill>
                <a:latin typeface="Calibri" pitchFamily="34" charset="0"/>
                <a:ea typeface="Calibri" pitchFamily="34" charset="-122"/>
                <a:cs typeface="Calibri" pitchFamily="34" charset="-120"/>
              </a:rPr>
              <a:t>Experienced performance engineers move fluidly between all three: use an analytical model for a fast first estimate, a simulation to explore complex scenarios, and real measurements to calibrate and validate both.</a:t>
            </a:r>
            <a:endParaRPr lang="en-US" sz="2000" dirty="0"/>
          </a:p>
        </p:txBody>
      </p:sp>
      <p:sp>
        <p:nvSpPr>
          <p:cNvPr id="16" name="Text 14"/>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17" name="Text 15"/>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Key Performance Metrics — A First Look</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Response Time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time from when a request is submitted to when its result is received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Throughput</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rate at which requests are completed (e.g., transactions per second)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Utilization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fraction of time a resource (CPU, disk, network) is busy serving requests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These three metrics are deeply related to each other — Lecture 2 defines them formally and shows how they interact</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The Performance Engineering Lifecycle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94360" y="2377440"/>
            <a:ext cx="1920240" cy="2377440"/>
          </a:xfrm>
          <a:prstGeom prst="roundRect">
            <a:avLst>
              <a:gd name="adj" fmla="val 4286"/>
            </a:avLst>
          </a:prstGeom>
          <a:solidFill>
            <a:srgbClr val="0F2942"/>
          </a:solidFill>
          <a:ln/>
        </p:spPr>
      </p:sp>
      <p:sp>
        <p:nvSpPr>
          <p:cNvPr id="5" name="Shape 3"/>
          <p:cNvSpPr/>
          <p:nvPr/>
        </p:nvSpPr>
        <p:spPr>
          <a:xfrm>
            <a:off x="1298448" y="2103120"/>
            <a:ext cx="512064" cy="512064"/>
          </a:xfrm>
          <a:prstGeom prst="ellipse">
            <a:avLst/>
          </a:prstGeom>
          <a:solidFill>
            <a:srgbClr val="00B8A9"/>
          </a:solidFill>
          <a:ln w="25400">
            <a:solidFill>
              <a:srgbClr val="FFFFFF"/>
            </a:solidFill>
            <a:prstDash val="solid"/>
          </a:ln>
        </p:spPr>
      </p:sp>
      <p:sp>
        <p:nvSpPr>
          <p:cNvPr id="6" name="Text 4"/>
          <p:cNvSpPr/>
          <p:nvPr/>
        </p:nvSpPr>
        <p:spPr>
          <a:xfrm>
            <a:off x="129844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31520" y="2697480"/>
            <a:ext cx="1645920" cy="548640"/>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 Characterize Workload</a:t>
            </a:r>
            <a:endParaRPr lang="en-US" sz="2000" dirty="0"/>
          </a:p>
        </p:txBody>
      </p:sp>
      <p:sp>
        <p:nvSpPr>
          <p:cNvPr id="8" name="Text 6"/>
          <p:cNvSpPr/>
          <p:nvPr/>
        </p:nvSpPr>
        <p:spPr>
          <a:xfrm>
            <a:off x="731520" y="337675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Understand the request mix, arrival patterns, and user behavior.</a:t>
            </a:r>
            <a:endParaRPr lang="en-US" dirty="0"/>
          </a:p>
        </p:txBody>
      </p:sp>
      <p:sp>
        <p:nvSpPr>
          <p:cNvPr id="9" name="Text 7"/>
          <p:cNvSpPr/>
          <p:nvPr/>
        </p:nvSpPr>
        <p:spPr>
          <a:xfrm>
            <a:off x="251460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834640" y="2377440"/>
            <a:ext cx="1920240" cy="2377440"/>
          </a:xfrm>
          <a:prstGeom prst="roundRect">
            <a:avLst>
              <a:gd name="adj" fmla="val 4286"/>
            </a:avLst>
          </a:prstGeom>
          <a:solidFill>
            <a:srgbClr val="44546A"/>
          </a:solidFill>
          <a:ln/>
        </p:spPr>
      </p:sp>
      <p:sp>
        <p:nvSpPr>
          <p:cNvPr id="11" name="Shape 9"/>
          <p:cNvSpPr/>
          <p:nvPr/>
        </p:nvSpPr>
        <p:spPr>
          <a:xfrm>
            <a:off x="3538728" y="2103120"/>
            <a:ext cx="512064" cy="512064"/>
          </a:xfrm>
          <a:prstGeom prst="ellipse">
            <a:avLst/>
          </a:prstGeom>
          <a:solidFill>
            <a:srgbClr val="00B8A9"/>
          </a:solidFill>
          <a:ln w="25400">
            <a:solidFill>
              <a:srgbClr val="FFFFFF"/>
            </a:solidFill>
            <a:prstDash val="solid"/>
          </a:ln>
        </p:spPr>
      </p:sp>
      <p:sp>
        <p:nvSpPr>
          <p:cNvPr id="12" name="Text 10"/>
          <p:cNvSpPr/>
          <p:nvPr/>
        </p:nvSpPr>
        <p:spPr>
          <a:xfrm>
            <a:off x="353872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971800" y="2697480"/>
            <a:ext cx="1645920" cy="548640"/>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 Build a Model</a:t>
            </a:r>
            <a:endParaRPr lang="en-US" sz="2000" dirty="0"/>
          </a:p>
        </p:txBody>
      </p:sp>
      <p:sp>
        <p:nvSpPr>
          <p:cNvPr id="14" name="Text 12"/>
          <p:cNvSpPr/>
          <p:nvPr/>
        </p:nvSpPr>
        <p:spPr>
          <a:xfrm>
            <a:off x="2971800" y="3348761"/>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Construct an analytical or simulation model of the system.</a:t>
            </a:r>
            <a:endParaRPr lang="en-US" dirty="0"/>
          </a:p>
        </p:txBody>
      </p:sp>
      <p:sp>
        <p:nvSpPr>
          <p:cNvPr id="15" name="Text 13"/>
          <p:cNvSpPr/>
          <p:nvPr/>
        </p:nvSpPr>
        <p:spPr>
          <a:xfrm>
            <a:off x="475488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074920" y="2377440"/>
            <a:ext cx="1920240" cy="2377440"/>
          </a:xfrm>
          <a:prstGeom prst="roundRect">
            <a:avLst>
              <a:gd name="adj" fmla="val 4286"/>
            </a:avLst>
          </a:prstGeom>
          <a:solidFill>
            <a:srgbClr val="0F2942"/>
          </a:solidFill>
          <a:ln/>
        </p:spPr>
      </p:sp>
      <p:sp>
        <p:nvSpPr>
          <p:cNvPr id="17" name="Shape 15"/>
          <p:cNvSpPr/>
          <p:nvPr/>
        </p:nvSpPr>
        <p:spPr>
          <a:xfrm>
            <a:off x="5779008" y="2103120"/>
            <a:ext cx="512064" cy="512064"/>
          </a:xfrm>
          <a:prstGeom prst="ellipse">
            <a:avLst/>
          </a:prstGeom>
          <a:solidFill>
            <a:srgbClr val="00B8A9"/>
          </a:solidFill>
          <a:ln w="25400">
            <a:solidFill>
              <a:srgbClr val="FFFFFF"/>
            </a:solidFill>
            <a:prstDash val="solid"/>
          </a:ln>
        </p:spPr>
      </p:sp>
      <p:sp>
        <p:nvSpPr>
          <p:cNvPr id="18" name="Text 16"/>
          <p:cNvSpPr/>
          <p:nvPr/>
        </p:nvSpPr>
        <p:spPr>
          <a:xfrm>
            <a:off x="577900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5212080" y="2697480"/>
            <a:ext cx="1645920" cy="548640"/>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 Validate</a:t>
            </a:r>
            <a:endParaRPr lang="en-US" sz="2000" dirty="0"/>
          </a:p>
        </p:txBody>
      </p:sp>
      <p:sp>
        <p:nvSpPr>
          <p:cNvPr id="20" name="Text 18"/>
          <p:cNvSpPr/>
          <p:nvPr/>
        </p:nvSpPr>
        <p:spPr>
          <a:xfrm>
            <a:off x="521208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Compare model predictions against real measurements.</a:t>
            </a:r>
            <a:endParaRPr lang="en-US" dirty="0"/>
          </a:p>
        </p:txBody>
      </p:sp>
      <p:sp>
        <p:nvSpPr>
          <p:cNvPr id="21" name="Text 19"/>
          <p:cNvSpPr/>
          <p:nvPr/>
        </p:nvSpPr>
        <p:spPr>
          <a:xfrm>
            <a:off x="699516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315200" y="2377440"/>
            <a:ext cx="1920240" cy="2377440"/>
          </a:xfrm>
          <a:prstGeom prst="roundRect">
            <a:avLst>
              <a:gd name="adj" fmla="val 4286"/>
            </a:avLst>
          </a:prstGeom>
          <a:solidFill>
            <a:srgbClr val="44546A"/>
          </a:solidFill>
          <a:ln/>
        </p:spPr>
      </p:sp>
      <p:sp>
        <p:nvSpPr>
          <p:cNvPr id="23" name="Shape 21"/>
          <p:cNvSpPr/>
          <p:nvPr/>
        </p:nvSpPr>
        <p:spPr>
          <a:xfrm>
            <a:off x="8019288" y="2103120"/>
            <a:ext cx="512064" cy="512064"/>
          </a:xfrm>
          <a:prstGeom prst="ellipse">
            <a:avLst/>
          </a:prstGeom>
          <a:solidFill>
            <a:srgbClr val="00B8A9"/>
          </a:solidFill>
          <a:ln w="25400">
            <a:solidFill>
              <a:srgbClr val="FFFFFF"/>
            </a:solidFill>
            <a:prstDash val="solid"/>
          </a:ln>
        </p:spPr>
      </p:sp>
      <p:sp>
        <p:nvSpPr>
          <p:cNvPr id="24" name="Text 22"/>
          <p:cNvSpPr/>
          <p:nvPr/>
        </p:nvSpPr>
        <p:spPr>
          <a:xfrm>
            <a:off x="801928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45236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4. Predict &amp; Plan</a:t>
            </a:r>
            <a:endParaRPr lang="en-US" dirty="0"/>
          </a:p>
        </p:txBody>
      </p:sp>
      <p:sp>
        <p:nvSpPr>
          <p:cNvPr id="26" name="Text 24"/>
          <p:cNvSpPr/>
          <p:nvPr/>
        </p:nvSpPr>
        <p:spPr>
          <a:xfrm>
            <a:off x="7452360" y="3246120"/>
            <a:ext cx="1645920" cy="1417320"/>
          </a:xfrm>
          <a:prstGeom prst="rect">
            <a:avLst/>
          </a:prstGeom>
          <a:noFill/>
          <a:ln/>
        </p:spPr>
        <p:txBody>
          <a:bodyPr wrap="square" lIns="0" tIns="0" rIns="0" bIns="0" rtlCol="0" anchor="t"/>
          <a:lstStyle/>
          <a:p>
            <a:pPr marL="0" indent="0" algn="ctr">
              <a:lnSpc>
                <a:spcPct val="115000"/>
              </a:lnSpc>
              <a:buNone/>
            </a:pPr>
            <a:r>
              <a:rPr lang="en-US" sz="1600" dirty="0">
                <a:solidFill>
                  <a:srgbClr val="D8DEE6"/>
                </a:solidFill>
                <a:latin typeface="Calibri" pitchFamily="34" charset="0"/>
                <a:ea typeface="Calibri" pitchFamily="34" charset="-122"/>
                <a:cs typeface="Calibri" pitchFamily="34" charset="-120"/>
              </a:rPr>
              <a:t>Use the validated model to answer capacity and design questions.</a:t>
            </a:r>
            <a:endParaRPr lang="en-US" sz="1600" dirty="0"/>
          </a:p>
        </p:txBody>
      </p:sp>
      <p:sp>
        <p:nvSpPr>
          <p:cNvPr id="27" name="Text 25"/>
          <p:cNvSpPr/>
          <p:nvPr/>
        </p:nvSpPr>
        <p:spPr>
          <a:xfrm>
            <a:off x="923544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555480" y="2377440"/>
            <a:ext cx="1920240" cy="2377440"/>
          </a:xfrm>
          <a:prstGeom prst="roundRect">
            <a:avLst>
              <a:gd name="adj" fmla="val 4286"/>
            </a:avLst>
          </a:prstGeom>
          <a:solidFill>
            <a:srgbClr val="0F2942"/>
          </a:solidFill>
          <a:ln/>
        </p:spPr>
      </p:sp>
      <p:sp>
        <p:nvSpPr>
          <p:cNvPr id="29" name="Shape 27"/>
          <p:cNvSpPr/>
          <p:nvPr/>
        </p:nvSpPr>
        <p:spPr>
          <a:xfrm>
            <a:off x="10259568" y="2103120"/>
            <a:ext cx="512064" cy="512064"/>
          </a:xfrm>
          <a:prstGeom prst="ellipse">
            <a:avLst/>
          </a:prstGeom>
          <a:solidFill>
            <a:srgbClr val="00B8A9"/>
          </a:solidFill>
          <a:ln w="25400">
            <a:solidFill>
              <a:srgbClr val="FFFFFF"/>
            </a:solidFill>
            <a:prstDash val="solid"/>
          </a:ln>
        </p:spPr>
      </p:sp>
      <p:sp>
        <p:nvSpPr>
          <p:cNvPr id="30" name="Text 28"/>
          <p:cNvSpPr/>
          <p:nvPr/>
        </p:nvSpPr>
        <p:spPr>
          <a:xfrm>
            <a:off x="1025956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969264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5. Monitor &amp; Refine</a:t>
            </a:r>
            <a:endParaRPr lang="en-US" dirty="0"/>
          </a:p>
        </p:txBody>
      </p:sp>
      <p:sp>
        <p:nvSpPr>
          <p:cNvPr id="32" name="Text 30"/>
          <p:cNvSpPr/>
          <p:nvPr/>
        </p:nvSpPr>
        <p:spPr>
          <a:xfrm>
            <a:off x="9692640" y="3162146"/>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Continuously compare production behavior to the model over time.</a:t>
            </a:r>
            <a:endParaRPr lang="en-US" dirty="0"/>
          </a:p>
        </p:txBody>
      </p:sp>
      <p:sp>
        <p:nvSpPr>
          <p:cNvPr id="33" name="Text 31"/>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34" name="Text 32"/>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Step 1: Workload Characterization</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Before modeling anything, you must understand what the system actually experiences in practice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Key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many requests arrive per second, and how bursty is the arrival pattern?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What is the mix of request types (e.g., 70% reads, 30% writes)?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much CPU, memory, disk I/O, and network bandwidth does each request type consume?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is the subject of Lecture 2 in full depth — a model built on the wrong workload assumptions will produce confidently wrong answers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Step 2 &amp; 3: Build and Validate the Model</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Building the model</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Choose an appropriate abstraction: a queueing model, a simulation, or a statistical regression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Validating the model</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Run the model under known conditions and compare its predictions to real, measured results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If the model's predictions don't match reality within an acceptable margin, the model — not reality — needs to be revised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model that has never been validated against real data should never be trusted for high-stakes decisions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Step 4 &amp; 5: Predict, Plan, and Refine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Once validated, the model can safely answer 'what-if' questions: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"What happens if traffic triples during a marketing campaign?"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"What if we upgrade from 4 to 8 CPU cores?"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Performance modeling is not a one-time exercise — production systems evolve, so models must be periodically re-validated and refined as real usage patterns shift</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Bottleneck</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resource in a system — CPU, memory, disk, network, or a specific software component — that limits overall system throughput; improving any other resource will not improve performance until the bottleneck itself is addressed.”</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Identifying the true bottleneck is often the single most valuable outcome of a performance modeling exercise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very common mistake: 'optimizing' a resource that was never actually the bottleneck, wasting engineering effort with no measurable benefit</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Case Example: Where Is the Bottleneck?</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An e-commerce checkout process is slow. The team doubles the web server's CPU count. Nothing improves.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Why? Because the actual bottleneck was the database, which was maxed out on disk I/O the whole time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The CPU upgrade was wasted money and time, because it targeted the wrong resource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 performance model — even a simple one — would have shown database disk utilization near 100% well before the CPU became relevant</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Premature Optimization vs. No Capacity Planning</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5349240" cy="594360"/>
          </a:xfrm>
          <a:prstGeom prst="roundRect">
            <a:avLst>
              <a:gd name="adj" fmla="val 12308"/>
            </a:avLst>
          </a:prstGeom>
          <a:solidFill>
            <a:srgbClr val="D64550"/>
          </a:solidFill>
          <a:ln/>
        </p:spPr>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Premature Optimization</a:t>
            </a:r>
            <a:endParaRPr lang="en-US" sz="1700" dirty="0"/>
          </a:p>
        </p:txBody>
      </p:sp>
      <p:sp>
        <p:nvSpPr>
          <p:cNvPr id="6" name="Shape 4"/>
          <p:cNvSpPr/>
          <p:nvPr/>
        </p:nvSpPr>
        <p:spPr>
          <a:xfrm>
            <a:off x="6263640" y="1325880"/>
            <a:ext cx="5349240" cy="594360"/>
          </a:xfrm>
          <a:prstGeom prst="roundRect">
            <a:avLst>
              <a:gd name="adj" fmla="val 12308"/>
            </a:avLst>
          </a:prstGeom>
          <a:solidFill>
            <a:srgbClr val="44546A"/>
          </a:solidFill>
          <a:ln/>
        </p:spPr>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No Capacity Planning at All</a:t>
            </a:r>
            <a:endParaRPr lang="en-US" sz="1700" dirty="0"/>
          </a:p>
        </p:txBody>
      </p:sp>
      <p:sp>
        <p:nvSpPr>
          <p:cNvPr id="8" name="Shape 6"/>
          <p:cNvSpPr/>
          <p:nvPr/>
        </p:nvSpPr>
        <p:spPr>
          <a:xfrm>
            <a:off x="548640" y="2057400"/>
            <a:ext cx="5349240" cy="4297680"/>
          </a:xfrm>
          <a:prstGeom prst="roundRect">
            <a:avLst>
              <a:gd name="adj" fmla="val 1702"/>
            </a:avLst>
          </a:prstGeom>
          <a:solidFill>
            <a:srgbClr val="F4F6F8"/>
          </a:solidFill>
          <a:ln/>
        </p:spPr>
      </p:sp>
      <p:sp>
        <p:nvSpPr>
          <p:cNvPr id="9" name="Shape 7"/>
          <p:cNvSpPr/>
          <p:nvPr/>
        </p:nvSpPr>
        <p:spPr>
          <a:xfrm>
            <a:off x="6263640" y="2057400"/>
            <a:ext cx="5349240" cy="4297680"/>
          </a:xfrm>
          <a:prstGeom prst="roundRect">
            <a:avLst>
              <a:gd name="adj" fmla="val 1702"/>
            </a:avLst>
          </a:prstGeom>
          <a:solidFill>
            <a:srgbClr val="F4F6F8"/>
          </a:solidFill>
          <a:ln/>
        </p:spPr>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Spending weeks optimizing code with no measured bottleneck</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'Feels fast in dev' used as the only evidence</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Effort spent on components that are not the limiting factor</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Classic quote: "premature optimization is the root of all evil" — Knuth</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Launching with zero load estimate or headroom analysis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Discovering the bottleneck only when users are already affected</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Emergency scaling under pressure, often over-provisioning afterward</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Both extremes are avoidable with basic performance modeling</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Where Performance Modeling Fits in the SDLC</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Requirements phase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Define explicit, measurable performance requirements (e.g., '95% of requests under 200ms at 1000 req/s')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Design phase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Use analytical models to compare architectural alternatives before committing to one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Testing phase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Validate models against load-test results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Operations phase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Use models for ongoing capacity planning as usage grows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 Simple Mental Model: Systems as 'Service Stations'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Almost every system component can be thought of as a 'service station': something arrives, waits if the station is busy, gets served, and leaves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Examples: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CPU core serving computation requests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database serving queries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network link serving packets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human cashier serving customers in a checkout line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simple idea — arrival, queue, service, departure — is the foundation of queueing theory, which we build starting in Lecture 4</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Deterministic vs. Stochastic Thinking</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naive model assumes fixed, deterministic numbers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request takes exactly 10ms, so 100 requests take exactly 1 second"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Reality is stochastic (random) — request arrivals and service times vary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Some requests take 5ms, others take 50ms; arrivals cluster in bursts rather than arriving evenly spaced</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Ignoring this randomness leads to dangerously optimistic predictions — a system can look fine 'on average' while queues build up and overflow during bursts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is precisely why Lecture 3 builds the probability and statistics foundation before we touch queueing theory</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Averages Can Be Misleading</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Consider a server where average utilization is 70% — sounds safe, right?</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But if arrivals are bursty, utilization might spike to 100% for short periods, causing queues to form and response times to spike, even though the *average* looks fine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Performance modeling captures variability, not just averages — this is the key difference between a naive back-of-envelope estimate and a rigorous model</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Course Roadmap — What's Coming</a:t>
            </a:r>
            <a:endParaRPr lang="en-US" sz="2600" dirty="0"/>
          </a:p>
        </p:txBody>
      </p:sp>
      <p:sp>
        <p:nvSpPr>
          <p:cNvPr id="3" name="Shape 1"/>
          <p:cNvSpPr/>
          <p:nvPr/>
        </p:nvSpPr>
        <p:spPr>
          <a:xfrm>
            <a:off x="566928" y="1005840"/>
            <a:ext cx="411480" cy="45720"/>
          </a:xfrm>
          <a:prstGeom prst="rect">
            <a:avLst/>
          </a:prstGeom>
          <a:solidFill>
            <a:srgbClr val="00B8A9"/>
          </a:solidFill>
          <a:ln/>
        </p:spPr>
      </p:sp>
      <p:graphicFrame>
        <p:nvGraphicFramePr>
          <p:cNvPr id="24" name="Table 0"/>
          <p:cNvGraphicFramePr>
            <a:graphicFrameLocks noGrp="1"/>
          </p:cNvGraphicFramePr>
          <p:nvPr>
            <p:extLst>
              <p:ext uri="{D42A27DB-BD31-4B8C-83A1-F6EECF244321}">
                <p14:modId xmlns:p14="http://schemas.microsoft.com/office/powerpoint/2010/main" val="1262271343"/>
              </p:ext>
            </p:extLst>
          </p:nvPr>
        </p:nvGraphicFramePr>
        <p:xfrm>
          <a:off x="548640" y="1325880"/>
          <a:ext cx="11064240" cy="4846320"/>
        </p:xfrm>
        <a:graphic>
          <a:graphicData uri="http://schemas.openxmlformats.org/drawingml/2006/table">
            <a:tbl>
              <a:tblPr/>
              <a:tblGrid>
                <a:gridCol w="3622144">
                  <a:extLst>
                    <a:ext uri="{9D8B030D-6E8A-4147-A177-3AD203B41FA5}">
                      <a16:colId xmlns:a16="http://schemas.microsoft.com/office/drawing/2014/main" val="20000"/>
                    </a:ext>
                  </a:extLst>
                </a:gridCol>
                <a:gridCol w="7442096">
                  <a:extLst>
                    <a:ext uri="{9D8B030D-6E8A-4147-A177-3AD203B41FA5}">
                      <a16:colId xmlns:a16="http://schemas.microsoft.com/office/drawing/2014/main" val="20001"/>
                    </a:ext>
                  </a:extLst>
                </a:gridCol>
              </a:tblGrid>
              <a:tr h="538480">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Lecture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Topic</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Performance Metrics &amp; Workload Characterization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Probability &amp; Statistics Foundations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4</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Queueing Theory Fundamentals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5</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Single-Station Queueing Models (M/M/1, M/M/c, M/G/1)</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6</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Operational Analysis &amp; Networks of Queues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7</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Discrete-Event Simulation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8</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Capacity Planning &amp; Performance Prediction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84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9</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Case Studies &amp; Benchmarking</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8"/>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 Worked Preview: Little's Law</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One of the most powerful and simple results in performance modeling, formally introduced in Lecture 4:</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L = λ × W</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Average number in system = arrival rate × average time in system</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single equation lets you relate throughput, response time, and concurrency — without knowing anything about the internal distribution of service times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It applies to almost any stable system: a web server, a supermarket checkout line, or a hospital emergency room</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Common Misconceptions About Performance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"More hardware always fixes performance problems"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False — if the bottleneck is architectural (e.g., lock contention), adding servers may do nothing</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"If it's fast with 10 test users, it'll be fast with 10,000"</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False — many systems degrade non-linearly as load increases, exactly what queueing theory predicts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"Performance testing can happen after everything else is done"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False — performance requirements should shape architecture decisions from day one</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Course Expectations and Approach</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This course blends theory (queueing mathematics, probability) with practice (simulation, real system case studies)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Expect worked numerical examples in most lectures — performance modeling is a quantitative skill best learned by calculation, not just definitions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By the end of the course, you should be able to take a real system description and produce a defensible, quantitative performance prediction</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Case Study Preview: Airline Check-In Counters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Throughout this course, we will repeatedly return to a simple recurring example: airline check-in counters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Why this example works well:</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It has a clear arrival process (passengers), service process (check-in agents), and a queue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It generalizes directly to computing: passengers → requests, agents → servers/threads, counters → CPU cores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By Lecture 5, you will be able to calculate exactly how many check-in counters (or servers) are needed to keep average wait time under a target threshold</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marL="0" indent="0">
              <a:buNone/>
            </a:pPr>
            <a:r>
              <a:rPr lang="en-US" sz="2800" b="1" dirty="0">
                <a:solidFill>
                  <a:srgbClr val="0F2942"/>
                </a:solidFill>
                <a:latin typeface="Calibri" pitchFamily="34" charset="0"/>
                <a:ea typeface="Calibri" pitchFamily="34" charset="-122"/>
                <a:cs typeface="Calibri" pitchFamily="34" charset="-120"/>
              </a:rPr>
              <a:t>Key Takeaways</a:t>
            </a:r>
            <a:endParaRPr lang="en-US" sz="2800" dirty="0"/>
          </a:p>
        </p:txBody>
      </p:sp>
      <p:sp>
        <p:nvSpPr>
          <p:cNvPr id="3" name="Shape 1"/>
          <p:cNvSpPr/>
          <p:nvPr/>
        </p:nvSpPr>
        <p:spPr>
          <a:xfrm>
            <a:off x="566928" y="1143000"/>
            <a:ext cx="457200" cy="54864"/>
          </a:xfrm>
          <a:prstGeom prst="rect">
            <a:avLst/>
          </a:prstGeom>
          <a:solidFill>
            <a:srgbClr val="00B8A9"/>
          </a:solidFill>
          <a:ln/>
        </p:spPr>
      </p:sp>
      <p:sp>
        <p:nvSpPr>
          <p:cNvPr id="4" name="Shape 2"/>
          <p:cNvSpPr/>
          <p:nvPr/>
        </p:nvSpPr>
        <p:spPr>
          <a:xfrm>
            <a:off x="548640" y="1508760"/>
            <a:ext cx="11064240" cy="777240"/>
          </a:xfrm>
          <a:prstGeom prst="roundRect">
            <a:avLst>
              <a:gd name="adj" fmla="val 9412"/>
            </a:avLst>
          </a:prstGeom>
          <a:solidFill>
            <a:srgbClr val="FFFFFF"/>
          </a:solidFill>
          <a:ln/>
        </p:spPr>
      </p:sp>
      <p:sp>
        <p:nvSpPr>
          <p:cNvPr id="5" name="Shape 3"/>
          <p:cNvSpPr/>
          <p:nvPr/>
        </p:nvSpPr>
        <p:spPr>
          <a:xfrm>
            <a:off x="777240" y="1673352"/>
            <a:ext cx="457200" cy="457200"/>
          </a:xfrm>
          <a:prstGeom prst="ellipse">
            <a:avLst/>
          </a:prstGeom>
          <a:solidFill>
            <a:srgbClr val="00B8A9"/>
          </a:solidFill>
          <a:ln/>
        </p:spPr>
      </p:sp>
      <p:sp>
        <p:nvSpPr>
          <p:cNvPr id="6" name="Text 4"/>
          <p:cNvSpPr/>
          <p:nvPr/>
        </p:nvSpPr>
        <p:spPr>
          <a:xfrm>
            <a:off x="777240"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5087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Performance modeling predicts system behavior under load before — or instead of — expensive real-world testing</a:t>
            </a:r>
            <a:endParaRPr lang="en-US" sz="2400" dirty="0"/>
          </a:p>
        </p:txBody>
      </p:sp>
      <p:sp>
        <p:nvSpPr>
          <p:cNvPr id="8" name="Shape 6"/>
          <p:cNvSpPr/>
          <p:nvPr/>
        </p:nvSpPr>
        <p:spPr>
          <a:xfrm>
            <a:off x="548640" y="2423160"/>
            <a:ext cx="11064240" cy="777240"/>
          </a:xfrm>
          <a:prstGeom prst="roundRect">
            <a:avLst>
              <a:gd name="adj" fmla="val 9412"/>
            </a:avLst>
          </a:prstGeom>
          <a:solidFill>
            <a:srgbClr val="FFFFFF"/>
          </a:solidFill>
          <a:ln/>
        </p:spPr>
      </p:sp>
      <p:sp>
        <p:nvSpPr>
          <p:cNvPr id="9" name="Shape 7"/>
          <p:cNvSpPr/>
          <p:nvPr/>
        </p:nvSpPr>
        <p:spPr>
          <a:xfrm>
            <a:off x="777240" y="2587752"/>
            <a:ext cx="457200" cy="457200"/>
          </a:xfrm>
          <a:prstGeom prst="ellipse">
            <a:avLst/>
          </a:prstGeom>
          <a:solidFill>
            <a:srgbClr val="00B8A9"/>
          </a:solidFill>
          <a:ln/>
        </p:spPr>
      </p:sp>
      <p:sp>
        <p:nvSpPr>
          <p:cNvPr id="10" name="Text 8"/>
          <p:cNvSpPr/>
          <p:nvPr/>
        </p:nvSpPr>
        <p:spPr>
          <a:xfrm>
            <a:off x="777240" y="2587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4231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Three model families exist: analytical (fast, idealized), simulation (flexible, realistic), and measurement-based (accurate, hard to generalize)</a:t>
            </a:r>
            <a:endParaRPr lang="en-US" sz="2400" dirty="0"/>
          </a:p>
        </p:txBody>
      </p:sp>
      <p:sp>
        <p:nvSpPr>
          <p:cNvPr id="12" name="Shape 10"/>
          <p:cNvSpPr/>
          <p:nvPr/>
        </p:nvSpPr>
        <p:spPr>
          <a:xfrm>
            <a:off x="548640" y="3337560"/>
            <a:ext cx="11064240" cy="777240"/>
          </a:xfrm>
          <a:prstGeom prst="roundRect">
            <a:avLst>
              <a:gd name="adj" fmla="val 9412"/>
            </a:avLst>
          </a:prstGeom>
          <a:solidFill>
            <a:srgbClr val="FFFFFF"/>
          </a:solidFill>
          <a:ln/>
        </p:spPr>
      </p:sp>
      <p:sp>
        <p:nvSpPr>
          <p:cNvPr id="13" name="Shape 11"/>
          <p:cNvSpPr/>
          <p:nvPr/>
        </p:nvSpPr>
        <p:spPr>
          <a:xfrm>
            <a:off x="777240" y="3502152"/>
            <a:ext cx="457200" cy="457200"/>
          </a:xfrm>
          <a:prstGeom prst="ellipse">
            <a:avLst/>
          </a:prstGeom>
          <a:solidFill>
            <a:srgbClr val="00B8A9"/>
          </a:solidFill>
          <a:ln/>
        </p:spPr>
      </p:sp>
      <p:sp>
        <p:nvSpPr>
          <p:cNvPr id="14" name="Text 12"/>
          <p:cNvSpPr/>
          <p:nvPr/>
        </p:nvSpPr>
        <p:spPr>
          <a:xfrm>
            <a:off x="777240" y="3502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3375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The performance engineering lifecycle is: characterize workload, build a model, validate it, predict/plan, then monitor and refine</a:t>
            </a:r>
            <a:endParaRPr lang="en-US" sz="2400" dirty="0"/>
          </a:p>
        </p:txBody>
      </p:sp>
      <p:sp>
        <p:nvSpPr>
          <p:cNvPr id="16" name="Shape 14"/>
          <p:cNvSpPr/>
          <p:nvPr/>
        </p:nvSpPr>
        <p:spPr>
          <a:xfrm>
            <a:off x="548640" y="4251960"/>
            <a:ext cx="11064240" cy="777240"/>
          </a:xfrm>
          <a:prstGeom prst="roundRect">
            <a:avLst>
              <a:gd name="adj" fmla="val 9412"/>
            </a:avLst>
          </a:prstGeom>
          <a:solidFill>
            <a:srgbClr val="FFFFFF"/>
          </a:solidFill>
          <a:ln/>
        </p:spPr>
      </p:sp>
      <p:sp>
        <p:nvSpPr>
          <p:cNvPr id="17" name="Shape 15"/>
          <p:cNvSpPr/>
          <p:nvPr/>
        </p:nvSpPr>
        <p:spPr>
          <a:xfrm>
            <a:off x="777240" y="4416552"/>
            <a:ext cx="457200" cy="457200"/>
          </a:xfrm>
          <a:prstGeom prst="ellipse">
            <a:avLst/>
          </a:prstGeom>
          <a:solidFill>
            <a:srgbClr val="00B8A9"/>
          </a:solidFill>
          <a:ln/>
        </p:spPr>
      </p:sp>
      <p:sp>
        <p:nvSpPr>
          <p:cNvPr id="18" name="Text 16"/>
          <p:cNvSpPr/>
          <p:nvPr/>
        </p:nvSpPr>
        <p:spPr>
          <a:xfrm>
            <a:off x="777240" y="4416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2519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Bottlenecks — not just 'more hardware' — determine system capacity; optimizing the wrong resource wastes effort</a:t>
            </a:r>
            <a:endParaRPr lang="en-US" sz="2400" dirty="0"/>
          </a:p>
        </p:txBody>
      </p:sp>
      <p:sp>
        <p:nvSpPr>
          <p:cNvPr id="20" name="Shape 18"/>
          <p:cNvSpPr/>
          <p:nvPr/>
        </p:nvSpPr>
        <p:spPr>
          <a:xfrm>
            <a:off x="548640" y="5166360"/>
            <a:ext cx="11064240" cy="777240"/>
          </a:xfrm>
          <a:prstGeom prst="roundRect">
            <a:avLst>
              <a:gd name="adj" fmla="val 9412"/>
            </a:avLst>
          </a:prstGeom>
          <a:solidFill>
            <a:srgbClr val="FFFFFF"/>
          </a:solidFill>
          <a:ln/>
        </p:spPr>
      </p:sp>
      <p:sp>
        <p:nvSpPr>
          <p:cNvPr id="21" name="Shape 19"/>
          <p:cNvSpPr/>
          <p:nvPr/>
        </p:nvSpPr>
        <p:spPr>
          <a:xfrm>
            <a:off x="777240" y="5330952"/>
            <a:ext cx="457200" cy="457200"/>
          </a:xfrm>
          <a:prstGeom prst="ellipse">
            <a:avLst/>
          </a:prstGeom>
          <a:solidFill>
            <a:srgbClr val="00B8A9"/>
          </a:solidFill>
          <a:ln/>
        </p:spPr>
      </p:sp>
      <p:sp>
        <p:nvSpPr>
          <p:cNvPr id="22" name="Text 20"/>
          <p:cNvSpPr/>
          <p:nvPr/>
        </p:nvSpPr>
        <p:spPr>
          <a:xfrm>
            <a:off x="777240" y="5330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1663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Real systems are stochastic, not deterministic — variability, not just averages, drives queueing and delay</a:t>
            </a:r>
            <a:endParaRPr lang="en-US" sz="2400" dirty="0"/>
          </a:p>
        </p:txBody>
      </p:sp>
      <p:sp>
        <p:nvSpPr>
          <p:cNvPr id="24"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25" name="Text 2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DISCUSSION / REVIEW QUESTION</a:t>
            </a:r>
            <a:endParaRPr lang="en-US" sz="1400" dirty="0"/>
          </a:p>
        </p:txBody>
      </p:sp>
      <p:sp>
        <p:nvSpPr>
          <p:cNvPr id="3" name="Text 1"/>
          <p:cNvSpPr/>
          <p:nvPr/>
        </p:nvSpPr>
        <p:spPr>
          <a:xfrm>
            <a:off x="822960" y="1371600"/>
            <a:ext cx="10241280" cy="2011680"/>
          </a:xfrm>
          <a:prstGeom prst="rect">
            <a:avLst/>
          </a:prstGeom>
          <a:noFill/>
          <a:ln/>
        </p:spPr>
        <p:txBody>
          <a:bodyPr wrap="square" lIns="0" tIns="0" rIns="0" bIns="0" rtlCol="0" anchor="t"/>
          <a:lstStyle/>
          <a:p>
            <a:pPr marL="0" indent="0">
              <a:lnSpc>
                <a:spcPct val="125000"/>
              </a:lnSpc>
              <a:buNone/>
            </a:pPr>
            <a:r>
              <a:rPr lang="en-US" sz="2400" b="1" dirty="0">
                <a:solidFill>
                  <a:srgbClr val="FFFFFF"/>
                </a:solidFill>
                <a:latin typeface="Calibri" pitchFamily="34" charset="0"/>
                <a:ea typeface="Calibri" pitchFamily="34" charset="-122"/>
                <a:cs typeface="Calibri" pitchFamily="34" charset="-120"/>
              </a:rPr>
              <a:t>A team doubles their web server's CPU capacity after users report slowness, but response times do not improve at all. Using the concepts from this lecture, explain what likely went wrong and what step of the performance engineering lifecycle was probably skipped.</a:t>
            </a:r>
            <a:endParaRPr lang="en-US" sz="2400" dirty="0"/>
          </a:p>
        </p:txBody>
      </p:sp>
      <p:sp>
        <p:nvSpPr>
          <p:cNvPr id="4" name="Text 2"/>
          <p:cNvSpPr/>
          <p:nvPr/>
        </p:nvSpPr>
        <p:spPr>
          <a:xfrm>
            <a:off x="822960" y="3749040"/>
            <a:ext cx="5486400" cy="365760"/>
          </a:xfrm>
          <a:prstGeom prst="rect">
            <a:avLst/>
          </a:prstGeom>
          <a:noFill/>
          <a:ln/>
        </p:spPr>
        <p:txBody>
          <a:bodyPr wrap="square" lIns="0" tIns="0" rIns="0" bIns="0" rtlCol="0" anchor="ctr"/>
          <a:lstStyle/>
          <a:p>
            <a:pPr marL="0" indent="0">
              <a:buNone/>
            </a:pPr>
            <a:r>
              <a:rPr lang="en-US" sz="2000" b="1" dirty="0">
                <a:solidFill>
                  <a:srgbClr val="00B8A9"/>
                </a:solidFill>
                <a:latin typeface="Calibri" pitchFamily="34" charset="0"/>
                <a:ea typeface="Calibri" pitchFamily="34" charset="-122"/>
                <a:cs typeface="Calibri" pitchFamily="34" charset="-120"/>
              </a:rPr>
              <a:t>Think about:</a:t>
            </a:r>
            <a:endParaRPr lang="en-US" sz="2000" dirty="0"/>
          </a:p>
        </p:txBody>
      </p:sp>
      <p:sp>
        <p:nvSpPr>
          <p:cNvPr id="5" name="Text 3"/>
          <p:cNvSpPr/>
          <p:nvPr/>
        </p:nvSpPr>
        <p:spPr>
          <a:xfrm>
            <a:off x="822960" y="4160520"/>
            <a:ext cx="10058400" cy="20116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Think about the concept of a 'bottleneck' — was CPU necessarily the limiting resource?</a:t>
            </a:r>
            <a:endParaRPr lang="en-US" sz="2000" dirty="0"/>
          </a:p>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Consider whether workload characterization was done before this decision was made</a:t>
            </a:r>
            <a:endParaRPr lang="en-US" sz="2000" dirty="0"/>
          </a:p>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Think about what evidence (measurement or model) would have justified this specific upgrade</a:t>
            </a:r>
            <a:endParaRPr lang="en-US" sz="2000" dirty="0"/>
          </a:p>
        </p:txBody>
      </p:sp>
      <p:sp>
        <p:nvSpPr>
          <p:cNvPr id="6" name="Text 4"/>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7" name="Text 5"/>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References &amp; Further Reading</a:t>
            </a:r>
            <a:endParaRPr lang="en-US" sz="2600" dirty="0"/>
          </a:p>
        </p:txBody>
      </p:sp>
      <p:sp>
        <p:nvSpPr>
          <p:cNvPr id="3" name="Shape 1"/>
          <p:cNvSpPr/>
          <p:nvPr/>
        </p:nvSpPr>
        <p:spPr>
          <a:xfrm>
            <a:off x="566928" y="1097280"/>
            <a:ext cx="411480" cy="45720"/>
          </a:xfrm>
          <a:prstGeom prst="rect">
            <a:avLst/>
          </a:prstGeom>
          <a:solidFill>
            <a:srgbClr val="00B8A9"/>
          </a:solidFill>
          <a:ln/>
        </p:spPr>
      </p:sp>
      <p:sp>
        <p:nvSpPr>
          <p:cNvPr id="4" name="Text 2"/>
          <p:cNvSpPr/>
          <p:nvPr/>
        </p:nvSpPr>
        <p:spPr>
          <a:xfrm>
            <a:off x="594360" y="1463040"/>
            <a:ext cx="10789920" cy="329184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Jain, R. — The Art of Computer Systems Performance Analysis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Menasce, D. and Almeida, V. — Capacity Planning for Web Services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Lazowska et al. — Quantitative System Performance (free online classic text)</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Gunther, N. — Guerrilla Capacity Planning</a:t>
            </a:r>
            <a:endParaRPr lang="en-US" sz="2400" dirty="0"/>
          </a:p>
        </p:txBody>
      </p:sp>
      <p:sp>
        <p:nvSpPr>
          <p:cNvPr id="5" name="Shape 3"/>
          <p:cNvSpPr/>
          <p:nvPr/>
        </p:nvSpPr>
        <p:spPr>
          <a:xfrm>
            <a:off x="548640" y="5029200"/>
            <a:ext cx="11064240" cy="1051560"/>
          </a:xfrm>
          <a:prstGeom prst="roundRect">
            <a:avLst>
              <a:gd name="adj" fmla="val 7826"/>
            </a:avLst>
          </a:prstGeom>
          <a:solidFill>
            <a:srgbClr val="0F2942"/>
          </a:solidFill>
          <a:ln/>
        </p:spPr>
      </p:sp>
      <p:sp>
        <p:nvSpPr>
          <p:cNvPr id="6" name="Text 4"/>
          <p:cNvSpPr/>
          <p:nvPr/>
        </p:nvSpPr>
        <p:spPr>
          <a:xfrm>
            <a:off x="822960" y="5138928"/>
            <a:ext cx="2743200" cy="320040"/>
          </a:xfrm>
          <a:prstGeom prst="rect">
            <a:avLst/>
          </a:prstGeom>
          <a:noFill/>
          <a:ln/>
        </p:spPr>
        <p:txBody>
          <a:bodyPr wrap="square" lIns="0" tIns="0" rIns="0" bIns="0" rtlCol="0" anchor="ctr"/>
          <a:lstStyle/>
          <a:p>
            <a:pPr marL="0" indent="0">
              <a:buNone/>
            </a:pPr>
            <a:r>
              <a:rPr lang="en-US" sz="1100" b="1" dirty="0">
                <a:solidFill>
                  <a:srgbClr val="00B8A9"/>
                </a:solidFill>
                <a:latin typeface="Calibri" pitchFamily="34" charset="0"/>
                <a:ea typeface="Calibri" pitchFamily="34" charset="-122"/>
                <a:cs typeface="Calibri" pitchFamily="34" charset="-120"/>
              </a:rPr>
              <a:t>NEXT LECTURE</a:t>
            </a:r>
            <a:endParaRPr lang="en-US" sz="1100" dirty="0"/>
          </a:p>
        </p:txBody>
      </p:sp>
      <p:sp>
        <p:nvSpPr>
          <p:cNvPr id="7" name="Text 5"/>
          <p:cNvSpPr/>
          <p:nvPr/>
        </p:nvSpPr>
        <p:spPr>
          <a:xfrm>
            <a:off x="822960" y="5422392"/>
            <a:ext cx="10058400" cy="5486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Lecture 2 — Performance Metrics &amp; Workload Characterization</a:t>
            </a:r>
            <a:endParaRPr lang="en-US" sz="1550" dirty="0"/>
          </a:p>
        </p:txBody>
      </p:sp>
      <p:sp>
        <p:nvSpPr>
          <p:cNvPr id="8" name="Text 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 Introduction to Performance Modeling</a:t>
            </a:r>
            <a:endParaRPr lang="en-US" sz="900" dirty="0"/>
          </a:p>
        </p:txBody>
      </p:sp>
      <p:sp>
        <p:nvSpPr>
          <p:cNvPr id="9" name="Text 7"/>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2761</Words>
  <Application>Microsoft Office PowerPoint</Application>
  <PresentationFormat>Widescreen</PresentationFormat>
  <Paragraphs>328</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Abdolraheem Khader</cp:lastModifiedBy>
  <cp:revision>8</cp:revision>
  <dcterms:created xsi:type="dcterms:W3CDTF">2026-07-30T10:45:21Z</dcterms:created>
  <dcterms:modified xsi:type="dcterms:W3CDTF">2026-08-02T07:59:58Z</dcterms:modified>
</cp:coreProperties>
</file>