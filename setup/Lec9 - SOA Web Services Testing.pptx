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77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D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663440" y="2423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&amp; Web Services Testing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09160" y="3977640"/>
            <a:ext cx="6766560" cy="153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testing changes in a distributed, service-oriented world: unit, integration, and contract testing, tools like SoapUI and Postman, and test automation strategy.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testing SOA is different from testing a monolith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1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73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testing pyramid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093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3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662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integration testing for services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58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 and consumer-driven contracts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467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7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5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SoapUI, Postman, and automation frameworks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" y="5471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71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443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composed processes and non-functional quality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Testing SOA Is Different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monolith, most calls are in-process function calls — fast, reliable, easy to mock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SOA, calls cross network boundaries between independently owned, independently deployed services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 appear: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dependency's team can change its contract without warning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failures, timeouts, and partial failures become common, expected scenarios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 must coordinate testing across service boundaries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practice of verifying that a service correctly implements its contract, behaves reliably under realistic conditions, and integrates correctly with the other services and consumers that depend on it.”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service testing must validate both the service in isolation and its behavior within a larger composed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Testing Pyramid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25880"/>
            <a:ext cx="6949440" cy="1539240"/>
          </a:xfrm>
          <a:prstGeom prst="roundRect">
            <a:avLst>
              <a:gd name="adj" fmla="val 4158"/>
            </a:avLst>
          </a:prstGeom>
          <a:solidFill>
            <a:srgbClr val="D6455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25880"/>
            <a:ext cx="64922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/ UI Tests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64922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tests — slow, brittle, </a:t>
            </a:r>
          </a:p>
          <a:p>
            <a:pPr marL="0" indent="0" algn="r">
              <a:buNone/>
            </a:pPr>
            <a:r>
              <a:rPr lang="en-US" sz="20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validate real user journeys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002280"/>
            <a:ext cx="6949440" cy="1539240"/>
          </a:xfrm>
          <a:prstGeom prst="roundRect">
            <a:avLst>
              <a:gd name="adj" fmla="val 4158"/>
            </a:avLst>
          </a:prstGeom>
          <a:solidFill>
            <a:srgbClr val="44546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002280"/>
            <a:ext cx="64922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Integration Tests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002280"/>
            <a:ext cx="64922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service's interaction</a:t>
            </a:r>
          </a:p>
          <a:p>
            <a:pPr marL="0" indent="0" algn="r">
              <a:buNone/>
            </a:pPr>
            <a:r>
              <a:rPr lang="en-US" sz="20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real dependencies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678680"/>
            <a:ext cx="6949440" cy="1539240"/>
          </a:xfrm>
          <a:prstGeom prst="roundRect">
            <a:avLst>
              <a:gd name="adj" fmla="val 4158"/>
            </a:avLst>
          </a:prstGeom>
          <a:solidFill>
            <a:srgbClr val="00A79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78680"/>
            <a:ext cx="64922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4678680"/>
            <a:ext cx="6492240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tests — fast, isolated, </a:t>
            </a:r>
          </a:p>
          <a:p>
            <a:pPr marL="0" indent="0" algn="r">
              <a:buNone/>
            </a:pPr>
            <a:r>
              <a:rPr lang="en-US" sz="2000" dirty="0">
                <a:solidFill>
                  <a:srgbClr val="E4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internal logic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01000" y="132588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A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4813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83880" y="187452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many fast, cheap unit tests at the base, fewer integration/contract tests in the middle, and the fewest, most expensive end-to-end tests at the top. Over-relying on slow end-to-end tests is one of the most common testing anti-patterns in SOA and microservices projects.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a Service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service's internal logic in isolation, without any real network calls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 (databases, other services) are replaced with mocks or stubs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run — often thousands of unit tests execute in seconds, enabling tight developer feedback loops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validate business logic correctness, not the contract or network behavior itself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Doubles: Mocks, Stubs, and Fakes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15893"/>
              </p:ext>
            </p:extLst>
          </p:nvPr>
        </p:nvGraphicFramePr>
        <p:xfrm>
          <a:off x="548640" y="1325880"/>
          <a:ext cx="11064240" cy="484632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1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pre-programmed, fixed responses to calls, with no verification of how it was called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 a stub, but also verifies that specific calls were made, with specific parameters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1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lightweight, working implementation (e.g., an in-memory database) used only for testing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“Testing that verifies a service correctly interacts with its real dependencies — databases, message queues, or other live services — rather than mocks, to catch issues that unit tests cannot see.”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are slower and more complex to set up than unit tests, so they are used more sparingly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practice is to run integration tests against dedicated test/staging environments with realistic dependencies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Integration Tests Catch That Unit Tests Miss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Serialization/deserialization mismatches (e.g., date formats, encoding issues)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 timeout and latency behavior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failures against a real security provider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or query issues that only appear against a real database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testing technique that verifies a service provider's actual behavior matches the contract its consumers expect, without requiring the consumer and provider to be tested together in a live, end-to-end environment.”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catch a very specific but very common failure: 'the provider changed something the consumer relied on'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addresses the loose-coupling risk introduced when many independent teams own different 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Contract Testing Matters in SOA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dozens of services owned by different teams, running a full end-to-end test for every change is slow and fragile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 lets each team verify compatibility independently: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team verifies: 'Do I still satisfy every contract my consumers depend on?'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team verifies: 'Does the provider still behave as my code expects?'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catches breaking changes early — in CI — before they ever reach a shared staging environment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 (CDC) Testing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contract-testing approach in which each consumer defines its own expectations of a provider as an executable contract; the provider then verifies it satisfies every consumer's contract before releasing changes.”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Popularized by tools such as Pact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traditional model: instead of the provider unilaterally publishing a contract, consumers actively declare what they need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Consumer-Driven Contract Testing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5" name="Shape 3"/>
          <p:cNvSpPr/>
          <p:nvPr/>
        </p:nvSpPr>
        <p:spPr>
          <a:xfrm>
            <a:off x="157848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848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Consumer Writes Expectations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team defines expected requests/responses as a contract file.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7467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9471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11" name="Shape 9"/>
          <p:cNvSpPr/>
          <p:nvPr/>
        </p:nvSpPr>
        <p:spPr>
          <a:xfrm>
            <a:off x="437883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883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187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Contract Published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3187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is shared with the provider (often via a broker service).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7502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0F2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918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918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3222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Provider Verifies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3222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runs the contract against its real implementation in CI.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75370" y="32461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95410" y="2377440"/>
            <a:ext cx="2480310" cy="2377440"/>
          </a:xfrm>
          <a:prstGeom prst="roundRect">
            <a:avLst>
              <a:gd name="adj" fmla="val 3462"/>
            </a:avLst>
          </a:prstGeom>
          <a:solidFill>
            <a:srgbClr val="44546A"/>
          </a:solidFill>
          <a:ln/>
        </p:spPr>
      </p:sp>
      <p:sp>
        <p:nvSpPr>
          <p:cNvPr id="23" name="Shape 21"/>
          <p:cNvSpPr/>
          <p:nvPr/>
        </p:nvSpPr>
        <p:spPr>
          <a:xfrm>
            <a:off x="9979533" y="2103120"/>
            <a:ext cx="512064" cy="512064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79533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32570" y="2697480"/>
            <a:ext cx="2205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Safe to Deploy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32570" y="3246120"/>
            <a:ext cx="22059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verification passes, the provider can deploy without breaking the consumer.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SOAP Services with SoapUI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 loads a WSDL file and automatically generates sample request templates for every defined operation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SoapUI capabilities: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testing: sending requests and asserting on response content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testing: simulating many concurrent requests to measure performance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testing: checking for common vulnerabilities in SOAP endpoints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SOAP contracts are strictly typed via WSDL/XSD, SoapUI can validate a response's structure automatically against the schema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SoapUI-Style Assertion (Illustrative)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A1D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Groovy assertion script inside a SoapUI test step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response = messageExchange.responseContent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response.contains('&lt;faultcode&gt;') == false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response.contains('&lt;customerId&gt;C1042&lt;/customerId&gt;')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responseTimeMs = messageExchange.timeTaken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responseTimeMs &lt; 500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 supports scripted assertions (often in Groovy) alongside its built-in XPath and schema-compliance assertions.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REST Services with Postman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is the most widely used tool for manually and programmatically testing REST/JSON APIs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collections of requests, environment variables, and pre-request/test scripts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scripts (in JavaScript) can assert on status codes, response bodies, headers, and response time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Collections can be run headlessly via Newman for automated CI/CD pipelines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Postman Test Script (Illustrative)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A1D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pm.test("Status code is 200", function 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pm.response.to.have.status(200);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pm.test("Response has expected customer id", function 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pm.response.json();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pm.expect(data.id).to.eql("1042");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pm.test("Response time is acceptable", function 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pm.expect(pm.response.responseTime).to.be.below(500);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test scripts run automatically after each request and report pass/fail results, ideal for automated regression suites.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 vs. Postman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44546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0A79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SOAP/WSDL services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requests from WSDL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built-in schema validation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supports REST testing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REST/JSON APIs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OpenAPI-based collection setup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JavaScript-based scripting for assertions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ecosystem for CI/CD (Newman)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in CI/CD Pipelines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contract tests should run automatically on every commit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often run on a schedule or before deployment to staging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suites are what make frequent, independent service deployment safe in a microservices/SOA environment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'green' pipeline (all automated tests passing) is typically a prerequisite for deploying to production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Composed Processes (Orchestration/Choreography)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multi-step business process (from Lecture 8) requires validating: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behavior along the 'happy path' where every step succeeds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compensation logic when a step fails partway through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handling of timeouts and retries between steps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compensating (Saga) transactions specifically requires deliberately injecting failures partway through a process to confirm rollback logic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Idempotency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from Lecture 5: idempotent operations should have the same effect no matter how many times they are called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tests deliberately call an operation multiple times (e.g., simulating a network retry) and verify no duplicate side effects occur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especially critical for payment and order-creation operations, where duplicate execution has real financial consequences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Testing: Performance and Load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a service behaves under expected, normal traffic volume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traffic beyond expected limits to find the breaking point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testing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sustained load over a long period to catch memory leaks or resource exhaustion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service-oriented system, performance testing must also consider the cumulative latency across a chain of composed service calls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for Services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Authentication/authorization testing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only correctly authenticated, authorized callers can access protected operations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/ injection testing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that malformed or malicious input (e.g., XML injection, SQL injection) is rejected safely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Message-level security testing (for SOAP)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WS-Security signatures and encryption are enforced correctly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Backward Compatibility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service contract changes, backward-compatibility tests confirm existing consumers still work correctly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contract tests (from consumer-driven contract testing) are the most systematic way to catch backward-compatibility breaks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practice: keep a suite of 'golden' recorded requests/responses from real production traffic to replay against new versions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Virtualization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real dependency is unavailable, too slow, or too costly to call repeatedly during testing (e.g., a third-party payment gateway)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virtualization creates a realistic, simulated stand-in that mimics the real service's behavior, including realistic latency and error scenarios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allows integration-style testing to proceed even when real external dependencies are unreliable, rate-limited, or expensive to call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Testing Anti-Patterns in SOA Projects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'Ice Cream Cone' anti-pattern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slow, brittle end-to-end tests and too few fast unit tests — the inverse of the healthy testing pyramid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the happy path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verifying failure, timeout, or compensation behavior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Shared, unstable test environments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teams fighting over one flaky shared staging environment instead of isolated, mockable test setups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Healthy Service Testing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fast, isolated unit tests for business logic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contract tests (ideally consumer-driven) to catch breaking changes early, without full end-to-end setups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small number of true end-to-end tests for the most business-critical user journeys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 possible in CI/CD, and treat a failing test suite as a hard blocker for deployment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test failure scenarios: timeouts, partial failures, and compensation logic — not just the happy path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SOA introduces new risks — network failures, independent deployments, cross-team contract changes — beyond what monolith testing faces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testing pyramid favors many fast unit tests, fewer integration/contract tests, and the fewest end-to-end tests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 — especially consumer-driven contract testing — catches breaking changes between independently deployed services early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251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SoapUI is the standard tool for SOAP/WSDL testing; Postman (with Newman for CI) is the standard for REST/JSON testing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strategy explicitly tests failure paths, compensation logic, idempotency, and backward compatibility — not just the happy path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REVIEW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own PaymentService and OrderService respectively. The PaymentService team wants to change a response field from 'amount' (a number) to 'amountDetails' (an object with currency and value). How would consumer-driven contract testing help prevent this change from breaking OrderService in production?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who defines the contract in a consumer-driven approach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when this problem would be caught: in CI, or in production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how the PaymentService team could safely evolve the field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Fowler, M. — TestPyramid (martinfowler.com)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— Consumer-Driven Contract Testing documentation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SmartBear — SoapUI documentation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Postman Learning Center, Test Scripts documentation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138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422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 — Security &amp; Governance in SOA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9: SOA &amp; Web Services Testing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2451</Words>
  <Application>Microsoft Office PowerPoint</Application>
  <PresentationFormat>Widescreen</PresentationFormat>
  <Paragraphs>306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Abdolraheem Khader</cp:lastModifiedBy>
  <cp:revision>2</cp:revision>
  <dcterms:created xsi:type="dcterms:W3CDTF">2026-07-28T03:24:48Z</dcterms:created>
  <dcterms:modified xsi:type="dcterms:W3CDTF">2026-09-02T19:47:23Z</dcterms:modified>
</cp:coreProperties>
</file>