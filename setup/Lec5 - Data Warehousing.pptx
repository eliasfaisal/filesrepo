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emf" ContentType="image/x-emf"/>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60" r:id="rId2"/>
    <p:sldId id="277" r:id="rId3"/>
    <p:sldId id="320" r:id="rId4"/>
    <p:sldId id="322" r:id="rId5"/>
    <p:sldId id="323" r:id="rId6"/>
    <p:sldId id="279" r:id="rId7"/>
    <p:sldId id="274" r:id="rId8"/>
    <p:sldId id="280" r:id="rId9"/>
    <p:sldId id="281" r:id="rId10"/>
    <p:sldId id="262" r:id="rId11"/>
    <p:sldId id="282" r:id="rId12"/>
    <p:sldId id="283" r:id="rId13"/>
    <p:sldId id="285" r:id="rId14"/>
    <p:sldId id="286" r:id="rId15"/>
    <p:sldId id="287" r:id="rId16"/>
    <p:sldId id="316" r:id="rId17"/>
    <p:sldId id="289" r:id="rId18"/>
    <p:sldId id="290" r:id="rId19"/>
    <p:sldId id="292" r:id="rId20"/>
    <p:sldId id="291" r:id="rId21"/>
    <p:sldId id="293" r:id="rId22"/>
    <p:sldId id="327" r:id="rId23"/>
    <p:sldId id="294" r:id="rId24"/>
    <p:sldId id="295" r:id="rId25"/>
    <p:sldId id="296" r:id="rId26"/>
    <p:sldId id="297" r:id="rId27"/>
    <p:sldId id="298" r:id="rId28"/>
    <p:sldId id="299" r:id="rId29"/>
    <p:sldId id="328" r:id="rId30"/>
    <p:sldId id="300" r:id="rId31"/>
    <p:sldId id="301" r:id="rId32"/>
    <p:sldId id="302" r:id="rId33"/>
    <p:sldId id="303" r:id="rId34"/>
    <p:sldId id="304" r:id="rId35"/>
    <p:sldId id="305" r:id="rId36"/>
    <p:sldId id="306" r:id="rId37"/>
    <p:sldId id="315" r:id="rId38"/>
    <p:sldId id="307" r:id="rId39"/>
    <p:sldId id="308" r:id="rId40"/>
    <p:sldId id="321" r:id="rId41"/>
    <p:sldId id="309" r:id="rId42"/>
    <p:sldId id="310" r:id="rId43"/>
    <p:sldId id="314" r:id="rId44"/>
  </p:sldIdLst>
  <p:sldSz cx="9144000" cy="6858000" type="screen4x3"/>
  <p:notesSz cx="6858000" cy="9144000"/>
  <p:defaultTextStyle>
    <a:defPPr>
      <a:defRPr lang="en-US"/>
    </a:defPPr>
    <a:lvl1pPr algn="l" rtl="0" fontAlgn="base">
      <a:spcBef>
        <a:spcPct val="0"/>
      </a:spcBef>
      <a:spcAft>
        <a:spcPct val="0"/>
      </a:spcAft>
      <a:defRPr b="1" kern="1200">
        <a:solidFill>
          <a:schemeClr val="tx1"/>
        </a:solidFill>
        <a:latin typeface="Arial Black" pitchFamily="34" charset="0"/>
        <a:ea typeface="+mn-ea"/>
        <a:cs typeface="Arial" pitchFamily="34" charset="0"/>
      </a:defRPr>
    </a:lvl1pPr>
    <a:lvl2pPr marL="457200" algn="l" rtl="0" fontAlgn="base">
      <a:spcBef>
        <a:spcPct val="0"/>
      </a:spcBef>
      <a:spcAft>
        <a:spcPct val="0"/>
      </a:spcAft>
      <a:defRPr b="1" kern="1200">
        <a:solidFill>
          <a:schemeClr val="tx1"/>
        </a:solidFill>
        <a:latin typeface="Arial Black" pitchFamily="34" charset="0"/>
        <a:ea typeface="+mn-ea"/>
        <a:cs typeface="Arial" pitchFamily="34" charset="0"/>
      </a:defRPr>
    </a:lvl2pPr>
    <a:lvl3pPr marL="914400" algn="l" rtl="0" fontAlgn="base">
      <a:spcBef>
        <a:spcPct val="0"/>
      </a:spcBef>
      <a:spcAft>
        <a:spcPct val="0"/>
      </a:spcAft>
      <a:defRPr b="1" kern="1200">
        <a:solidFill>
          <a:schemeClr val="tx1"/>
        </a:solidFill>
        <a:latin typeface="Arial Black" pitchFamily="34" charset="0"/>
        <a:ea typeface="+mn-ea"/>
        <a:cs typeface="Arial" pitchFamily="34" charset="0"/>
      </a:defRPr>
    </a:lvl3pPr>
    <a:lvl4pPr marL="1371600" algn="l" rtl="0" fontAlgn="base">
      <a:spcBef>
        <a:spcPct val="0"/>
      </a:spcBef>
      <a:spcAft>
        <a:spcPct val="0"/>
      </a:spcAft>
      <a:defRPr b="1" kern="1200">
        <a:solidFill>
          <a:schemeClr val="tx1"/>
        </a:solidFill>
        <a:latin typeface="Arial Black" pitchFamily="34" charset="0"/>
        <a:ea typeface="+mn-ea"/>
        <a:cs typeface="Arial" pitchFamily="34" charset="0"/>
      </a:defRPr>
    </a:lvl4pPr>
    <a:lvl5pPr marL="1828800" algn="l" rtl="0" fontAlgn="base">
      <a:spcBef>
        <a:spcPct val="0"/>
      </a:spcBef>
      <a:spcAft>
        <a:spcPct val="0"/>
      </a:spcAft>
      <a:defRPr b="1" kern="1200">
        <a:solidFill>
          <a:schemeClr val="tx1"/>
        </a:solidFill>
        <a:latin typeface="Arial Black" pitchFamily="34" charset="0"/>
        <a:ea typeface="+mn-ea"/>
        <a:cs typeface="Arial" pitchFamily="34" charset="0"/>
      </a:defRPr>
    </a:lvl5pPr>
    <a:lvl6pPr marL="2286000" algn="r" defTabSz="914400" rtl="1" eaLnBrk="1" latinLnBrk="0" hangingPunct="1">
      <a:defRPr b="1" kern="1200">
        <a:solidFill>
          <a:schemeClr val="tx1"/>
        </a:solidFill>
        <a:latin typeface="Arial Black" pitchFamily="34" charset="0"/>
        <a:ea typeface="+mn-ea"/>
        <a:cs typeface="Arial" pitchFamily="34" charset="0"/>
      </a:defRPr>
    </a:lvl6pPr>
    <a:lvl7pPr marL="2743200" algn="r" defTabSz="914400" rtl="1" eaLnBrk="1" latinLnBrk="0" hangingPunct="1">
      <a:defRPr b="1" kern="1200">
        <a:solidFill>
          <a:schemeClr val="tx1"/>
        </a:solidFill>
        <a:latin typeface="Arial Black" pitchFamily="34" charset="0"/>
        <a:ea typeface="+mn-ea"/>
        <a:cs typeface="Arial" pitchFamily="34" charset="0"/>
      </a:defRPr>
    </a:lvl7pPr>
    <a:lvl8pPr marL="3200400" algn="r" defTabSz="914400" rtl="1" eaLnBrk="1" latinLnBrk="0" hangingPunct="1">
      <a:defRPr b="1" kern="1200">
        <a:solidFill>
          <a:schemeClr val="tx1"/>
        </a:solidFill>
        <a:latin typeface="Arial Black" pitchFamily="34" charset="0"/>
        <a:ea typeface="+mn-ea"/>
        <a:cs typeface="Arial" pitchFamily="34" charset="0"/>
      </a:defRPr>
    </a:lvl8pPr>
    <a:lvl9pPr marL="3657600" algn="r" defTabSz="914400" rtl="1" eaLnBrk="1" latinLnBrk="0" hangingPunct="1">
      <a:defRPr b="1" kern="1200">
        <a:solidFill>
          <a:schemeClr val="tx1"/>
        </a:solidFill>
        <a:latin typeface="Arial Black" pitchFamily="34" charset="0"/>
        <a:ea typeface="+mn-ea"/>
        <a:cs typeface="Arial" pitchFamily="34"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66"/>
    <a:srgbClr val="CCCCFF"/>
    <a:srgbClr val="FF6600"/>
    <a:srgbClr val="FFFF00"/>
    <a:srgbClr val="66CCFF"/>
    <a:srgbClr val="0099FF"/>
    <a:srgbClr val="FFFFFF"/>
    <a:srgbClr val="FFCC66"/>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79845" autoAdjust="0"/>
  </p:normalViewPr>
  <p:slideViewPr>
    <p:cSldViewPr>
      <p:cViewPr>
        <p:scale>
          <a:sx n="75" d="100"/>
          <a:sy n="75" d="100"/>
        </p:scale>
        <p:origin x="-470" y="51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ar-EG"/>
          </a:p>
        </p:txBody>
      </p:sp>
      <p:sp>
        <p:nvSpPr>
          <p:cNvPr id="3" name="Date Placeholder 2"/>
          <p:cNvSpPr>
            <a:spLocks noGrp="1"/>
          </p:cNvSpPr>
          <p:nvPr>
            <p:ph type="dt" idx="1"/>
          </p:nvPr>
        </p:nvSpPr>
        <p:spPr>
          <a:xfrm>
            <a:off x="1588" y="0"/>
            <a:ext cx="2971800" cy="457200"/>
          </a:xfrm>
          <a:prstGeom prst="rect">
            <a:avLst/>
          </a:prstGeom>
        </p:spPr>
        <p:txBody>
          <a:bodyPr vert="horz" lIns="91440" tIns="45720" rIns="91440" bIns="45720" rtlCol="1"/>
          <a:lstStyle>
            <a:lvl1pPr algn="l">
              <a:defRPr sz="1200"/>
            </a:lvl1pPr>
          </a:lstStyle>
          <a:p>
            <a:fld id="{DA065DFF-948A-47B0-A8FE-1B3E18D96619}" type="datetimeFigureOut">
              <a:rPr lang="ar-EG" smtClean="0"/>
              <a:t>20/06/1438</a:t>
            </a:fld>
            <a:endParaRPr lang="ar-EG"/>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1" anchor="ctr"/>
          <a:lstStyle/>
          <a:p>
            <a:endParaRPr lang="ar-EG"/>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1">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EG"/>
          </a:p>
        </p:txBody>
      </p:sp>
      <p:sp>
        <p:nvSpPr>
          <p:cNvPr id="6" name="Footer Placeholder 5"/>
          <p:cNvSpPr>
            <a:spLocks noGrp="1"/>
          </p:cNvSpPr>
          <p:nvPr>
            <p:ph type="ftr" sz="quarter" idx="4"/>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ar-EG"/>
          </a:p>
        </p:txBody>
      </p:sp>
      <p:sp>
        <p:nvSpPr>
          <p:cNvPr id="7" name="Slide Number Placeholder 6"/>
          <p:cNvSpPr>
            <a:spLocks noGrp="1"/>
          </p:cNvSpPr>
          <p:nvPr>
            <p:ph type="sldNum" sz="quarter" idx="5"/>
          </p:nvPr>
        </p:nvSpPr>
        <p:spPr>
          <a:xfrm>
            <a:off x="1588" y="8685213"/>
            <a:ext cx="2971800" cy="457200"/>
          </a:xfrm>
          <a:prstGeom prst="rect">
            <a:avLst/>
          </a:prstGeom>
        </p:spPr>
        <p:txBody>
          <a:bodyPr vert="horz" lIns="91440" tIns="45720" rIns="91440" bIns="45720" rtlCol="1" anchor="b"/>
          <a:lstStyle>
            <a:lvl1pPr algn="l">
              <a:defRPr sz="1200"/>
            </a:lvl1pPr>
          </a:lstStyle>
          <a:p>
            <a:fld id="{77F66C71-EFC4-45D6-B230-0893040EBC05}" type="slidenum">
              <a:rPr lang="ar-EG" smtClean="0"/>
              <a:t>‹#›</a:t>
            </a:fld>
            <a:endParaRPr lang="ar-EG"/>
          </a:p>
        </p:txBody>
      </p:sp>
    </p:spTree>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p>
            <a:fld id="{688C5029-0ADA-4576-8C45-FE32A035B575}" type="slidenum">
              <a:rPr lang="en-US"/>
              <a:pPr/>
              <a:t>4</a:t>
            </a:fld>
            <a:endParaRPr lang="en-US"/>
          </a:p>
        </p:txBody>
      </p:sp>
      <p:sp>
        <p:nvSpPr>
          <p:cNvPr id="24579" name="Rectangle 2"/>
          <p:cNvSpPr>
            <a:spLocks noChangeArrowheads="1" noTextEdit="1"/>
          </p:cNvSpPr>
          <p:nvPr>
            <p:ph type="sldImg"/>
          </p:nvPr>
        </p:nvSpPr>
        <p:spPr>
          <a:ln/>
        </p:spPr>
      </p:sp>
      <p:sp>
        <p:nvSpPr>
          <p:cNvPr id="24580" name="Rectangle 3"/>
          <p:cNvSpPr>
            <a:spLocks noGrp="1" noChangeArrowheads="1"/>
          </p:cNvSpPr>
          <p:nvPr>
            <p:ph type="body" idx="1"/>
          </p:nvPr>
        </p:nvSpPr>
        <p:spPr>
          <a:noFill/>
          <a:ln/>
        </p:spPr>
        <p:txBody>
          <a:bodyPr/>
          <a:lstStyle/>
          <a:p>
            <a:endParaRPr lang="ar-EG" smtClean="0">
              <a:latin typeface="Times New Roman"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2F9D79DB-0B49-455D-943C-A93E2F881AF3}" type="slidenum">
              <a:rPr lang="en-US"/>
              <a:pPr/>
              <a:t>5</a:t>
            </a:fld>
            <a:endParaRPr lang="en-US"/>
          </a:p>
        </p:txBody>
      </p:sp>
      <p:sp>
        <p:nvSpPr>
          <p:cNvPr id="26627" name="Rectangle 2"/>
          <p:cNvSpPr>
            <a:spLocks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endParaRPr lang="ar-EG" smtClean="0">
              <a:latin typeface="Times New Roman"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fld id="{4B723F23-D8CA-492F-AD72-5D1939F4C1E3}" type="slidenum">
              <a:rPr lang="en-US"/>
              <a:pPr/>
              <a:t>22</a:t>
            </a:fld>
            <a:endParaRPr lang="en-US"/>
          </a:p>
        </p:txBody>
      </p:sp>
      <p:sp>
        <p:nvSpPr>
          <p:cNvPr id="34819" name="Rectangle 2"/>
          <p:cNvSpPr>
            <a:spLocks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endParaRPr lang="ar-EG" smtClean="0">
              <a:latin typeface="Times New Roman"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FBA35FE8-D55D-456B-9AC9-C0EB2B989506}" type="slidenum">
              <a:rPr lang="en-US"/>
              <a:pPr/>
              <a:t>29</a:t>
            </a:fld>
            <a:endParaRPr lang="en-US"/>
          </a:p>
        </p:txBody>
      </p:sp>
      <p:sp>
        <p:nvSpPr>
          <p:cNvPr id="32771" name="Rectangle 2"/>
          <p:cNvSpPr>
            <a:spLocks noChangeArrowheads="1" noTextEdit="1"/>
          </p:cNvSpPr>
          <p:nvPr>
            <p:ph type="sldImg"/>
          </p:nvPr>
        </p:nvSpPr>
        <p:spPr>
          <a:ln/>
        </p:spPr>
      </p:sp>
      <p:sp>
        <p:nvSpPr>
          <p:cNvPr id="32772" name="Rectangle 3"/>
          <p:cNvSpPr>
            <a:spLocks noGrp="1" noChangeArrowheads="1"/>
          </p:cNvSpPr>
          <p:nvPr>
            <p:ph type="body" idx="1"/>
          </p:nvPr>
        </p:nvSpPr>
        <p:spPr>
          <a:noFill/>
          <a:ln/>
        </p:spPr>
        <p:txBody>
          <a:bodyPr/>
          <a:lstStyle/>
          <a:p>
            <a:endParaRPr lang="ar-EG" smtClean="0">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ar-SA"/>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ar-SA"/>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D96E5C6-4D7B-48C6-90DF-CAF888C6927F}"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ar-SA"/>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38C54A1-03E3-4195-999B-BA3180F357F4}"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r">
              <a:defRPr sz="4000" b="1" cap="all"/>
            </a:lvl1pPr>
          </a:lstStyle>
          <a:p>
            <a:r>
              <a:rPr lang="en-US" smtClean="0"/>
              <a:t>Click to edit Master title style</a:t>
            </a:r>
            <a:endParaRPr lang="ar-S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1F45C88-3FA8-4497-94B7-A09E32470360}"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ar-SA"/>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D3C33DB-0D49-4E29-B34A-E9A954EBB1F2}"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ar-S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43FE34F4-E4EA-4DFD-951F-DCFC3D3DB22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ar-SA"/>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A0F2EF5F-555E-4D35-9C49-1603823E349B}"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8D78F945-8242-4578-8D35-96655868CA38}"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r">
              <a:defRPr sz="2000" b="1"/>
            </a:lvl1pPr>
          </a:lstStyle>
          <a:p>
            <a:r>
              <a:rPr lang="en-US" smtClean="0"/>
              <a:t>Click to edit Master title style</a:t>
            </a:r>
            <a:endParaRPr lang="ar-S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1EE6CD3-CC75-4B6F-BF96-5D54F34E793A}"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r">
              <a:defRPr sz="2000" b="1"/>
            </a:lvl1pPr>
          </a:lstStyle>
          <a:p>
            <a:r>
              <a:rPr lang="en-US" smtClean="0"/>
              <a:t>Click to edit Master title style</a:t>
            </a:r>
            <a:endParaRPr lang="ar-S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ar-SA"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2B8DE8D-5482-4F93-BB64-A9AA1245C0C8}"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ar-SA"/>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A03220B-8F53-44B7-9373-AAB6CB2586E7}"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ar-SA"/>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152B356-8B60-4304-A675-D752F3DF9137}"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242B42CF-2664-4573-92D7-EB2CD71B9636}"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CCCC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latin typeface="+mn-lt"/>
              </a:defRPr>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a:latin typeface="+mn-lt"/>
              </a:defRPr>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latin typeface="+mn-lt"/>
              </a:defRPr>
            </a:lvl1pPr>
          </a:lstStyle>
          <a:p>
            <a:pPr>
              <a:defRPr/>
            </a:pPr>
            <a:fld id="{83F524C8-2B6F-4AA0-A82A-DC680E0E48BE}"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cs typeface="Arial" pitchFamily="34" charset="0"/>
        </a:defRPr>
      </a:lvl2pPr>
      <a:lvl3pPr algn="ctr" rtl="0" eaLnBrk="0" fontAlgn="base" hangingPunct="0">
        <a:spcBef>
          <a:spcPct val="0"/>
        </a:spcBef>
        <a:spcAft>
          <a:spcPct val="0"/>
        </a:spcAft>
        <a:defRPr sz="4400">
          <a:solidFill>
            <a:schemeClr val="tx2"/>
          </a:solidFill>
          <a:latin typeface="Arial" pitchFamily="34" charset="0"/>
          <a:cs typeface="Arial" pitchFamily="34" charset="0"/>
        </a:defRPr>
      </a:lvl3pPr>
      <a:lvl4pPr algn="ctr" rtl="0" eaLnBrk="0" fontAlgn="base" hangingPunct="0">
        <a:spcBef>
          <a:spcPct val="0"/>
        </a:spcBef>
        <a:spcAft>
          <a:spcPct val="0"/>
        </a:spcAft>
        <a:defRPr sz="4400">
          <a:solidFill>
            <a:schemeClr val="tx2"/>
          </a:solidFill>
          <a:latin typeface="Arial" pitchFamily="34" charset="0"/>
          <a:cs typeface="Arial" pitchFamily="34" charset="0"/>
        </a:defRPr>
      </a:lvl4pPr>
      <a:lvl5pPr algn="ctr" rtl="0" eaLnBrk="0" fontAlgn="base" hangingPunct="0">
        <a:spcBef>
          <a:spcPct val="0"/>
        </a:spcBef>
        <a:spcAft>
          <a:spcPct val="0"/>
        </a:spcAft>
        <a:defRPr sz="4400">
          <a:solidFill>
            <a:schemeClr val="tx2"/>
          </a:solidFill>
          <a:latin typeface="Arial" pitchFamily="34" charset="0"/>
          <a:cs typeface="Arial" pitchFamily="34" charset="0"/>
        </a:defRPr>
      </a:lvl5pPr>
      <a:lvl6pPr marL="457200" algn="ctr" rtl="0" fontAlgn="base">
        <a:spcBef>
          <a:spcPct val="0"/>
        </a:spcBef>
        <a:spcAft>
          <a:spcPct val="0"/>
        </a:spcAft>
        <a:defRPr sz="4400">
          <a:solidFill>
            <a:schemeClr val="tx2"/>
          </a:solidFill>
          <a:latin typeface="Arial" pitchFamily="34" charset="0"/>
          <a:cs typeface="Arial" pitchFamily="34" charset="0"/>
        </a:defRPr>
      </a:lvl6pPr>
      <a:lvl7pPr marL="914400" algn="ctr" rtl="0" fontAlgn="base">
        <a:spcBef>
          <a:spcPct val="0"/>
        </a:spcBef>
        <a:spcAft>
          <a:spcPct val="0"/>
        </a:spcAft>
        <a:defRPr sz="4400">
          <a:solidFill>
            <a:schemeClr val="tx2"/>
          </a:solidFill>
          <a:latin typeface="Arial" pitchFamily="34" charset="0"/>
          <a:cs typeface="Arial" pitchFamily="34" charset="0"/>
        </a:defRPr>
      </a:lvl7pPr>
      <a:lvl8pPr marL="1371600" algn="ctr" rtl="0" fontAlgn="base">
        <a:spcBef>
          <a:spcPct val="0"/>
        </a:spcBef>
        <a:spcAft>
          <a:spcPct val="0"/>
        </a:spcAft>
        <a:defRPr sz="4400">
          <a:solidFill>
            <a:schemeClr val="tx2"/>
          </a:solidFill>
          <a:latin typeface="Arial" pitchFamily="34" charset="0"/>
          <a:cs typeface="Arial" pitchFamily="34" charset="0"/>
        </a:defRPr>
      </a:lvl8pPr>
      <a:lvl9pPr marL="1828800" algn="ctr" rtl="0" fontAlgn="base">
        <a:spcBef>
          <a:spcPct val="0"/>
        </a:spcBef>
        <a:spcAft>
          <a:spcPct val="0"/>
        </a:spcAft>
        <a:defRPr sz="4400">
          <a:solidFill>
            <a:schemeClr val="tx2"/>
          </a:solidFill>
          <a:latin typeface="Arial" pitchFamily="34" charset="0"/>
          <a:cs typeface="Arial"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w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1576;&#1581;&#1579;%20&#1575;&#1604;&#1605;&#1575;&#1580;&#1587;&#1578;&#1610;&#1585;.pdf" TargetMode="External"/><Relationship Id="rId2" Type="http://schemas.openxmlformats.org/officeDocument/2006/relationships/image" Target="../media/image33.emf"/><Relationship Id="rId1" Type="http://schemas.openxmlformats.org/officeDocument/2006/relationships/slideLayout" Target="../slideLayouts/slideLayout2.xml"/><Relationship Id="rId4" Type="http://schemas.openxmlformats.org/officeDocument/2006/relationships/image" Target="../media/image34.emf"/></Relationships>
</file>

<file path=ppt/slides/_rels/slide40.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4"/>
          <p:cNvSpPr>
            <a:spLocks noGrp="1" noChangeArrowheads="1"/>
          </p:cNvSpPr>
          <p:nvPr>
            <p:ph type="body" idx="1"/>
          </p:nvPr>
        </p:nvSpPr>
        <p:spPr>
          <a:xfrm>
            <a:off x="685800" y="1143000"/>
            <a:ext cx="7772400" cy="5105400"/>
          </a:xfrm>
          <a:noFill/>
        </p:spPr>
        <p:txBody>
          <a:bodyPr lIns="92075" tIns="46038" rIns="92075" bIns="46038"/>
          <a:lstStyle/>
          <a:p>
            <a:pPr algn="justLow" eaLnBrk="1" hangingPunct="1">
              <a:lnSpc>
                <a:spcPct val="90000"/>
              </a:lnSpc>
            </a:pPr>
            <a:endParaRPr lang="en-US" sz="2400" b="1" dirty="0" smtClean="0"/>
          </a:p>
          <a:p>
            <a:pPr eaLnBrk="1" hangingPunct="1">
              <a:lnSpc>
                <a:spcPct val="90000"/>
              </a:lnSpc>
            </a:pPr>
            <a:r>
              <a:rPr lang="en-US" sz="2400" b="1" dirty="0" smtClean="0"/>
              <a:t>Data </a:t>
            </a:r>
            <a:r>
              <a:rPr lang="en-US" sz="2400" b="1" dirty="0" smtClean="0"/>
              <a:t>warehouse &amp; </a:t>
            </a:r>
            <a:r>
              <a:rPr lang="en-US" sz="2400" b="1" dirty="0" err="1" smtClean="0"/>
              <a:t>Olap</a:t>
            </a:r>
            <a:endParaRPr lang="en-US" sz="2400" b="1" dirty="0" smtClean="0"/>
          </a:p>
          <a:p>
            <a:pPr lvl="1" eaLnBrk="1" hangingPunct="1">
              <a:lnSpc>
                <a:spcPct val="90000"/>
              </a:lnSpc>
            </a:pPr>
            <a:r>
              <a:rPr lang="en-US" sz="2000" b="1" dirty="0" smtClean="0"/>
              <a:t>What is the data warehouse</a:t>
            </a:r>
          </a:p>
          <a:p>
            <a:pPr lvl="1" eaLnBrk="1" hangingPunct="1">
              <a:lnSpc>
                <a:spcPct val="90000"/>
              </a:lnSpc>
            </a:pPr>
            <a:r>
              <a:rPr lang="en-US" sz="2000" b="1" dirty="0" smtClean="0"/>
              <a:t>The data warehouse process</a:t>
            </a:r>
          </a:p>
          <a:p>
            <a:pPr lvl="1" eaLnBrk="1" hangingPunct="1">
              <a:lnSpc>
                <a:spcPct val="90000"/>
              </a:lnSpc>
            </a:pPr>
            <a:r>
              <a:rPr lang="en-US" sz="2000" b="1" dirty="0" smtClean="0"/>
              <a:t>Modeling of data warehouse</a:t>
            </a:r>
          </a:p>
          <a:p>
            <a:pPr lvl="1" eaLnBrk="1" hangingPunct="1">
              <a:lnSpc>
                <a:spcPct val="90000"/>
              </a:lnSpc>
            </a:pPr>
            <a:r>
              <a:rPr lang="en-US" sz="2000" b="1" dirty="0" smtClean="0"/>
              <a:t>What is </a:t>
            </a:r>
            <a:r>
              <a:rPr lang="en-US" sz="2000" b="1" dirty="0" err="1" smtClean="0"/>
              <a:t>Olap</a:t>
            </a:r>
            <a:endParaRPr lang="en-US" sz="2000" b="1" dirty="0" smtClean="0"/>
          </a:p>
          <a:p>
            <a:pPr lvl="1" eaLnBrk="1" hangingPunct="1">
              <a:lnSpc>
                <a:spcPct val="90000"/>
              </a:lnSpc>
            </a:pPr>
            <a:r>
              <a:rPr lang="en-US" sz="2000" b="1" dirty="0" smtClean="0"/>
              <a:t>tools </a:t>
            </a:r>
            <a:r>
              <a:rPr lang="en-US" sz="2000" b="1" dirty="0" smtClean="0"/>
              <a:t>for data </a:t>
            </a:r>
            <a:r>
              <a:rPr lang="en-US" sz="2000" b="1" dirty="0" smtClean="0"/>
              <a:t>warehouse</a:t>
            </a:r>
            <a:endParaRPr lang="en-US" sz="2000" b="1" dirty="0" smtClean="0"/>
          </a:p>
        </p:txBody>
      </p:sp>
      <p:sp>
        <p:nvSpPr>
          <p:cNvPr id="7171" name="Rectangle 6"/>
          <p:cNvSpPr>
            <a:spLocks noGrp="1" noChangeArrowheads="1"/>
          </p:cNvSpPr>
          <p:nvPr>
            <p:ph type="title"/>
          </p:nvPr>
        </p:nvSpPr>
        <p:spPr>
          <a:xfrm>
            <a:off x="2133600" y="228600"/>
            <a:ext cx="4343400" cy="685800"/>
          </a:xfrm>
          <a:noFill/>
          <a:ln w="25400">
            <a:solidFill>
              <a:srgbClr val="003300"/>
            </a:solidFill>
          </a:ln>
        </p:spPr>
        <p:txBody>
          <a:bodyPr lIns="92075" tIns="46038" rIns="92075" bIns="46038"/>
          <a:lstStyle/>
          <a:p>
            <a:pPr eaLnBrk="1" hangingPunct="1"/>
            <a:r>
              <a:rPr lang="en-US" sz="4800" b="1" smtClean="0">
                <a:solidFill>
                  <a:srgbClr val="000066"/>
                </a:solidFill>
              </a:rPr>
              <a:t>SEQUENCE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7172">
                                            <p:txEl>
                                              <p:pRg st="1" end="1"/>
                                            </p:txEl>
                                          </p:spTgt>
                                        </p:tgtEl>
                                        <p:attrNameLst>
                                          <p:attrName>style.visibility</p:attrName>
                                        </p:attrNameLst>
                                      </p:cBhvr>
                                      <p:to>
                                        <p:strVal val="visible"/>
                                      </p:to>
                                    </p:set>
                                    <p:animEffect transition="in" filter="randombar(horizontal)">
                                      <p:cBhvr>
                                        <p:cTn id="7" dur="1000"/>
                                        <p:tgtEl>
                                          <p:spTgt spid="7172">
                                            <p:txEl>
                                              <p:pRg st="1" end="1"/>
                                            </p:txEl>
                                          </p:spTgt>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7172">
                                            <p:txEl>
                                              <p:pRg st="2" end="2"/>
                                            </p:txEl>
                                          </p:spTgt>
                                        </p:tgtEl>
                                        <p:attrNameLst>
                                          <p:attrName>style.visibility</p:attrName>
                                        </p:attrNameLst>
                                      </p:cBhvr>
                                      <p:to>
                                        <p:strVal val="visible"/>
                                      </p:to>
                                    </p:set>
                                    <p:animEffect transition="in" filter="randombar(horizontal)">
                                      <p:cBhvr>
                                        <p:cTn id="10" dur="1000"/>
                                        <p:tgtEl>
                                          <p:spTgt spid="7172">
                                            <p:txEl>
                                              <p:pRg st="2" end="2"/>
                                            </p:txEl>
                                          </p:spTgt>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7172">
                                            <p:txEl>
                                              <p:pRg st="3" end="3"/>
                                            </p:txEl>
                                          </p:spTgt>
                                        </p:tgtEl>
                                        <p:attrNameLst>
                                          <p:attrName>style.visibility</p:attrName>
                                        </p:attrNameLst>
                                      </p:cBhvr>
                                      <p:to>
                                        <p:strVal val="visible"/>
                                      </p:to>
                                    </p:set>
                                    <p:animEffect transition="in" filter="randombar(horizontal)">
                                      <p:cBhvr>
                                        <p:cTn id="13" dur="1000"/>
                                        <p:tgtEl>
                                          <p:spTgt spid="7172">
                                            <p:txEl>
                                              <p:pRg st="3" end="3"/>
                                            </p:txEl>
                                          </p:spTgt>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7172">
                                            <p:txEl>
                                              <p:pRg st="4" end="4"/>
                                            </p:txEl>
                                          </p:spTgt>
                                        </p:tgtEl>
                                        <p:attrNameLst>
                                          <p:attrName>style.visibility</p:attrName>
                                        </p:attrNameLst>
                                      </p:cBhvr>
                                      <p:to>
                                        <p:strVal val="visible"/>
                                      </p:to>
                                    </p:set>
                                    <p:animEffect transition="in" filter="randombar(horizontal)">
                                      <p:cBhvr>
                                        <p:cTn id="16" dur="1000"/>
                                        <p:tgtEl>
                                          <p:spTgt spid="7172">
                                            <p:txEl>
                                              <p:pRg st="4" end="4"/>
                                            </p:txEl>
                                          </p:spTgt>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7172">
                                            <p:txEl>
                                              <p:pRg st="5" end="5"/>
                                            </p:txEl>
                                          </p:spTgt>
                                        </p:tgtEl>
                                        <p:attrNameLst>
                                          <p:attrName>style.visibility</p:attrName>
                                        </p:attrNameLst>
                                      </p:cBhvr>
                                      <p:to>
                                        <p:strVal val="visible"/>
                                      </p:to>
                                    </p:set>
                                    <p:animEffect transition="in" filter="randombar(horizontal)">
                                      <p:cBhvr>
                                        <p:cTn id="19" dur="1000"/>
                                        <p:tgtEl>
                                          <p:spTgt spid="7172">
                                            <p:txEl>
                                              <p:pRg st="5" end="5"/>
                                            </p:txEl>
                                          </p:spTgt>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7172">
                                            <p:txEl>
                                              <p:pRg st="6" end="6"/>
                                            </p:txEl>
                                          </p:spTgt>
                                        </p:tgtEl>
                                        <p:attrNameLst>
                                          <p:attrName>style.visibility</p:attrName>
                                        </p:attrNameLst>
                                      </p:cBhvr>
                                      <p:to>
                                        <p:strVal val="visible"/>
                                      </p:to>
                                    </p:set>
                                    <p:animEffect transition="in" filter="randombar(horizontal)">
                                      <p:cBhvr>
                                        <p:cTn id="22" dur="1000"/>
                                        <p:tgtEl>
                                          <p:spTgt spid="717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4"/>
          <p:cNvSpPr>
            <a:spLocks noChangeArrowheads="1"/>
          </p:cNvSpPr>
          <p:nvPr/>
        </p:nvSpPr>
        <p:spPr bwMode="auto">
          <a:xfrm>
            <a:off x="2305050" y="1676400"/>
            <a:ext cx="3946525" cy="366713"/>
          </a:xfrm>
          <a:prstGeom prst="rect">
            <a:avLst/>
          </a:prstGeom>
          <a:noFill/>
          <a:ln w="9525">
            <a:noFill/>
            <a:miter lim="800000"/>
            <a:headEnd/>
            <a:tailEnd/>
          </a:ln>
        </p:spPr>
        <p:txBody>
          <a:bodyPr wrap="none" anchor="ctr">
            <a:spAutoFit/>
          </a:bodyPr>
          <a:lstStyle/>
          <a:p>
            <a:pPr>
              <a:buFontTx/>
              <a:buChar char="•"/>
            </a:pPr>
            <a:r>
              <a:rPr lang="en-US">
                <a:latin typeface="Arial" pitchFamily="34" charset="0"/>
              </a:rPr>
              <a:t>structured for query and analysis </a:t>
            </a:r>
          </a:p>
        </p:txBody>
      </p:sp>
      <p:sp>
        <p:nvSpPr>
          <p:cNvPr id="25605" name="Rectangle 5"/>
          <p:cNvSpPr>
            <a:spLocks noChangeArrowheads="1"/>
          </p:cNvSpPr>
          <p:nvPr/>
        </p:nvSpPr>
        <p:spPr bwMode="auto">
          <a:xfrm>
            <a:off x="2368550" y="2300288"/>
            <a:ext cx="4772025" cy="366712"/>
          </a:xfrm>
          <a:prstGeom prst="rect">
            <a:avLst/>
          </a:prstGeom>
          <a:noFill/>
          <a:ln w="9525">
            <a:noFill/>
            <a:miter lim="800000"/>
            <a:headEnd/>
            <a:tailEnd/>
          </a:ln>
        </p:spPr>
        <p:txBody>
          <a:bodyPr wrap="none" anchor="ctr">
            <a:spAutoFit/>
          </a:bodyPr>
          <a:lstStyle/>
          <a:p>
            <a:pPr>
              <a:buFontTx/>
              <a:buChar char="•"/>
            </a:pPr>
            <a:r>
              <a:rPr lang="en-US">
                <a:latin typeface="Arial" pitchFamily="34" charset="0"/>
              </a:rPr>
              <a:t>build warehouse  help to make decisions </a:t>
            </a:r>
          </a:p>
        </p:txBody>
      </p:sp>
      <p:sp>
        <p:nvSpPr>
          <p:cNvPr id="25607" name="Rectangle 7"/>
          <p:cNvSpPr>
            <a:spLocks noChangeArrowheads="1"/>
          </p:cNvSpPr>
          <p:nvPr/>
        </p:nvSpPr>
        <p:spPr bwMode="auto">
          <a:xfrm>
            <a:off x="2378075" y="2986088"/>
            <a:ext cx="3870325" cy="366712"/>
          </a:xfrm>
          <a:prstGeom prst="rect">
            <a:avLst/>
          </a:prstGeom>
          <a:noFill/>
          <a:ln w="9525">
            <a:noFill/>
            <a:miter lim="800000"/>
            <a:headEnd/>
            <a:tailEnd/>
          </a:ln>
        </p:spPr>
        <p:txBody>
          <a:bodyPr wrap="none" anchor="ctr">
            <a:spAutoFit/>
          </a:bodyPr>
          <a:lstStyle/>
          <a:p>
            <a:pPr>
              <a:buFontTx/>
              <a:buChar char="•"/>
            </a:pPr>
            <a:r>
              <a:rPr lang="en-US">
                <a:latin typeface="Arial" pitchFamily="34" charset="0"/>
              </a:rPr>
              <a:t>allow for fast answers to queries </a:t>
            </a:r>
          </a:p>
        </p:txBody>
      </p:sp>
      <p:sp>
        <p:nvSpPr>
          <p:cNvPr id="25608" name="Rectangle 8"/>
          <p:cNvSpPr>
            <a:spLocks noChangeArrowheads="1"/>
          </p:cNvSpPr>
          <p:nvPr/>
        </p:nvSpPr>
        <p:spPr bwMode="auto">
          <a:xfrm>
            <a:off x="2362200" y="3808413"/>
            <a:ext cx="6172200" cy="915987"/>
          </a:xfrm>
          <a:prstGeom prst="rect">
            <a:avLst/>
          </a:prstGeom>
          <a:noFill/>
          <a:ln w="9525">
            <a:noFill/>
            <a:miter lim="800000"/>
            <a:headEnd/>
            <a:tailEnd/>
          </a:ln>
        </p:spPr>
        <p:txBody>
          <a:bodyPr anchor="ctr">
            <a:spAutoFit/>
          </a:bodyPr>
          <a:lstStyle/>
          <a:p>
            <a:pPr>
              <a:buFontTx/>
              <a:buChar char="•"/>
            </a:pPr>
            <a:r>
              <a:rPr lang="en-US">
                <a:latin typeface="Arial" pitchFamily="34" charset="0"/>
              </a:rPr>
              <a:t>the design of data warehouse database is a blend of technologies( OLAP, MOLAP ,Star schema,Snowflacke schema …)</a:t>
            </a:r>
          </a:p>
        </p:txBody>
      </p:sp>
      <p:sp>
        <p:nvSpPr>
          <p:cNvPr id="25609" name="Rectangle 9"/>
          <p:cNvSpPr>
            <a:spLocks noChangeArrowheads="1"/>
          </p:cNvSpPr>
          <p:nvPr/>
        </p:nvSpPr>
        <p:spPr bwMode="auto">
          <a:xfrm>
            <a:off x="2438400" y="4903788"/>
            <a:ext cx="6400800" cy="646112"/>
          </a:xfrm>
          <a:prstGeom prst="rect">
            <a:avLst/>
          </a:prstGeom>
          <a:noFill/>
          <a:ln w="9525">
            <a:noFill/>
            <a:miter lim="800000"/>
            <a:headEnd/>
            <a:tailEnd/>
          </a:ln>
        </p:spPr>
        <p:txBody>
          <a:bodyPr anchor="ctr">
            <a:spAutoFit/>
          </a:bodyPr>
          <a:lstStyle/>
          <a:p>
            <a:pPr>
              <a:buFontTx/>
              <a:buChar char="•"/>
            </a:pPr>
            <a:r>
              <a:rPr lang="en-US">
                <a:latin typeface="Arial" pitchFamily="34" charset="0"/>
              </a:rPr>
              <a:t>the information in a warehouse to spot and trends relationships. </a:t>
            </a:r>
          </a:p>
        </p:txBody>
      </p:sp>
      <p:sp>
        <p:nvSpPr>
          <p:cNvPr id="4104" name="Rectangle 11"/>
          <p:cNvSpPr>
            <a:spLocks noChangeArrowheads="1"/>
          </p:cNvSpPr>
          <p:nvPr/>
        </p:nvSpPr>
        <p:spPr bwMode="auto">
          <a:xfrm>
            <a:off x="1200150" y="1017588"/>
            <a:ext cx="2890838" cy="457200"/>
          </a:xfrm>
          <a:prstGeom prst="rect">
            <a:avLst/>
          </a:prstGeom>
          <a:noFill/>
          <a:ln w="9525">
            <a:noFill/>
            <a:miter lim="800000"/>
            <a:headEnd/>
            <a:tailEnd/>
          </a:ln>
        </p:spPr>
        <p:txBody>
          <a:bodyPr wrap="none">
            <a:spAutoFit/>
          </a:bodyPr>
          <a:lstStyle/>
          <a:p>
            <a:r>
              <a:rPr lang="en-US" sz="2400">
                <a:solidFill>
                  <a:srgbClr val="000066"/>
                </a:solidFill>
              </a:rPr>
              <a:t>Data warehouse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604"/>
                                        </p:tgtEl>
                                        <p:attrNameLst>
                                          <p:attrName>style.visibility</p:attrName>
                                        </p:attrNameLst>
                                      </p:cBhvr>
                                      <p:to>
                                        <p:strVal val="visible"/>
                                      </p:to>
                                    </p:set>
                                    <p:animEffect transition="in" filter="blinds(horizontal)">
                                      <p:cBhvr>
                                        <p:cTn id="7" dur="500"/>
                                        <p:tgtEl>
                                          <p:spTgt spid="2560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605"/>
                                        </p:tgtEl>
                                        <p:attrNameLst>
                                          <p:attrName>style.visibility</p:attrName>
                                        </p:attrNameLst>
                                      </p:cBhvr>
                                      <p:to>
                                        <p:strVal val="visible"/>
                                      </p:to>
                                    </p:set>
                                    <p:animEffect transition="in" filter="blinds(horizontal)">
                                      <p:cBhvr>
                                        <p:cTn id="12" dur="500"/>
                                        <p:tgtEl>
                                          <p:spTgt spid="2560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607"/>
                                        </p:tgtEl>
                                        <p:attrNameLst>
                                          <p:attrName>style.visibility</p:attrName>
                                        </p:attrNameLst>
                                      </p:cBhvr>
                                      <p:to>
                                        <p:strVal val="visible"/>
                                      </p:to>
                                    </p:set>
                                    <p:animEffect transition="in" filter="blinds(horizontal)">
                                      <p:cBhvr>
                                        <p:cTn id="17" dur="500"/>
                                        <p:tgtEl>
                                          <p:spTgt spid="2560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608"/>
                                        </p:tgtEl>
                                        <p:attrNameLst>
                                          <p:attrName>style.visibility</p:attrName>
                                        </p:attrNameLst>
                                      </p:cBhvr>
                                      <p:to>
                                        <p:strVal val="visible"/>
                                      </p:to>
                                    </p:set>
                                    <p:animEffect transition="in" filter="blinds(horizontal)">
                                      <p:cBhvr>
                                        <p:cTn id="22" dur="500"/>
                                        <p:tgtEl>
                                          <p:spTgt spid="2560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5609"/>
                                        </p:tgtEl>
                                        <p:attrNameLst>
                                          <p:attrName>style.visibility</p:attrName>
                                        </p:attrNameLst>
                                      </p:cBhvr>
                                      <p:to>
                                        <p:strVal val="visible"/>
                                      </p:to>
                                    </p:set>
                                    <p:animEffect transition="in" filter="blinds(horizontal)">
                                      <p:cBhvr>
                                        <p:cTn id="27" dur="500"/>
                                        <p:tgtEl>
                                          <p:spTgt spid="256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4" grpId="0"/>
      <p:bldP spid="25605" grpId="0"/>
      <p:bldP spid="25607" grpId="0"/>
      <p:bldP spid="25608" grpId="0"/>
      <p:bldP spid="2560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2"/>
          <p:cNvSpPr>
            <a:spLocks noGrp="1" noChangeArrowheads="1"/>
          </p:cNvSpPr>
          <p:nvPr>
            <p:ph type="title"/>
          </p:nvPr>
        </p:nvSpPr>
        <p:spPr/>
        <p:txBody>
          <a:bodyPr/>
          <a:lstStyle/>
          <a:p>
            <a:pPr>
              <a:defRPr/>
            </a:pPr>
            <a:r>
              <a:rPr lang="en-US">
                <a:ea typeface="+mj-ea"/>
              </a:rPr>
              <a:t>Data Warehousing</a:t>
            </a:r>
          </a:p>
        </p:txBody>
      </p:sp>
      <p:sp>
        <p:nvSpPr>
          <p:cNvPr id="23555" name="Rectangle 3"/>
          <p:cNvSpPr>
            <a:spLocks noGrp="1" noChangeArrowheads="1"/>
          </p:cNvSpPr>
          <p:nvPr>
            <p:ph type="body" idx="1"/>
          </p:nvPr>
        </p:nvSpPr>
        <p:spPr/>
        <p:txBody>
          <a:bodyPr/>
          <a:lstStyle/>
          <a:p>
            <a:r>
              <a:rPr lang="en-US" sz="2000" dirty="0" smtClean="0"/>
              <a:t>Data sources often store only current data, not historical data</a:t>
            </a:r>
          </a:p>
          <a:p>
            <a:r>
              <a:rPr lang="en-US" sz="2000" dirty="0" smtClean="0"/>
              <a:t>Corporate decision making requires a unified view of all organizational data, including historical data</a:t>
            </a:r>
          </a:p>
          <a:p>
            <a:r>
              <a:rPr lang="en-US" sz="2000" dirty="0" smtClean="0"/>
              <a:t>A </a:t>
            </a:r>
            <a:r>
              <a:rPr lang="en-US" sz="2000" b="1" dirty="0" smtClean="0">
                <a:solidFill>
                  <a:srgbClr val="000099"/>
                </a:solidFill>
              </a:rPr>
              <a:t>data warehouse</a:t>
            </a:r>
            <a:r>
              <a:rPr lang="en-US" sz="2000" dirty="0" smtClean="0"/>
              <a:t> is a repository (archive) of information gathered from multiple sources, stored under a unified schema, at a single site</a:t>
            </a:r>
          </a:p>
          <a:p>
            <a:pPr lvl="1"/>
            <a:r>
              <a:rPr lang="en-US" sz="2000" dirty="0" smtClean="0"/>
              <a:t>Greatly simplifies querying, permits study of historical trends</a:t>
            </a:r>
          </a:p>
          <a:p>
            <a:pPr lvl="1"/>
            <a:r>
              <a:rPr lang="en-US" sz="2000" dirty="0" smtClean="0"/>
              <a:t>Shifts decision support query load away from transaction processing systems</a:t>
            </a:r>
          </a:p>
          <a:p>
            <a:endParaRPr lang="en-US" sz="2000"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685800" y="76200"/>
            <a:ext cx="7772400" cy="685800"/>
          </a:xfrm>
        </p:spPr>
        <p:txBody>
          <a:bodyPr/>
          <a:lstStyle/>
          <a:p>
            <a:pPr>
              <a:defRPr/>
            </a:pPr>
            <a:r>
              <a:rPr lang="en-US">
                <a:ea typeface="+mj-ea"/>
              </a:rPr>
              <a:t>Data Warehousing</a:t>
            </a:r>
          </a:p>
        </p:txBody>
      </p:sp>
      <p:pic>
        <p:nvPicPr>
          <p:cNvPr id="25603" name="Picture 6"/>
          <p:cNvPicPr>
            <a:picLocks noChangeAspect="1" noChangeArrowheads="1"/>
          </p:cNvPicPr>
          <p:nvPr/>
        </p:nvPicPr>
        <p:blipFill>
          <a:blip r:embed="rId3" cstate="print"/>
          <a:srcRect/>
          <a:stretch>
            <a:fillRect/>
          </a:stretch>
        </p:blipFill>
        <p:spPr bwMode="auto">
          <a:xfrm>
            <a:off x="820738" y="1181100"/>
            <a:ext cx="7966075" cy="38957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4"/>
          <p:cNvPicPr>
            <a:picLocks noChangeAspect="1" noChangeArrowheads="1"/>
          </p:cNvPicPr>
          <p:nvPr/>
        </p:nvPicPr>
        <p:blipFill>
          <a:blip r:embed="rId2" cstate="print"/>
          <a:srcRect/>
          <a:stretch>
            <a:fillRect/>
          </a:stretch>
        </p:blipFill>
        <p:spPr bwMode="auto">
          <a:xfrm>
            <a:off x="457200" y="1069975"/>
            <a:ext cx="8382000" cy="5711825"/>
          </a:xfrm>
          <a:prstGeom prst="rect">
            <a:avLst/>
          </a:prstGeom>
          <a:noFill/>
          <a:ln w="9525">
            <a:noFill/>
            <a:miter lim="800000"/>
            <a:headEnd/>
            <a:tailEnd/>
          </a:ln>
        </p:spPr>
      </p:pic>
      <p:sp>
        <p:nvSpPr>
          <p:cNvPr id="11267" name="Rectangle 5"/>
          <p:cNvSpPr>
            <a:spLocks noChangeArrowheads="1"/>
          </p:cNvSpPr>
          <p:nvPr/>
        </p:nvSpPr>
        <p:spPr bwMode="auto">
          <a:xfrm>
            <a:off x="533400" y="533400"/>
            <a:ext cx="1936750" cy="339725"/>
          </a:xfrm>
          <a:prstGeom prst="rect">
            <a:avLst/>
          </a:prstGeom>
          <a:noFill/>
          <a:ln w="9525">
            <a:noFill/>
            <a:miter lim="800000"/>
            <a:headEnd/>
            <a:tailEnd/>
          </a:ln>
        </p:spPr>
        <p:txBody>
          <a:bodyPr wrap="none">
            <a:spAutoFit/>
          </a:bodyPr>
          <a:lstStyle/>
          <a:p>
            <a:pPr>
              <a:lnSpc>
                <a:spcPct val="90000"/>
              </a:lnSpc>
              <a:spcBef>
                <a:spcPct val="20000"/>
              </a:spcBef>
            </a:pPr>
            <a:r>
              <a:rPr lang="en-US">
                <a:latin typeface="Arial" pitchFamily="34" charset="0"/>
              </a:rPr>
              <a:t>Data warehouse</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290" name="Picture 6"/>
          <p:cNvPicPr>
            <a:picLocks noChangeAspect="1" noChangeArrowheads="1"/>
          </p:cNvPicPr>
          <p:nvPr/>
        </p:nvPicPr>
        <p:blipFill>
          <a:blip r:embed="rId2" cstate="print"/>
          <a:srcRect/>
          <a:stretch>
            <a:fillRect/>
          </a:stretch>
        </p:blipFill>
        <p:spPr bwMode="auto">
          <a:xfrm>
            <a:off x="927100" y="2209800"/>
            <a:ext cx="7772400" cy="2971800"/>
          </a:xfrm>
          <a:prstGeom prst="rect">
            <a:avLst/>
          </a:prstGeom>
          <a:solidFill>
            <a:schemeClr val="tx2"/>
          </a:solidFill>
          <a:ln w="9525">
            <a:noFill/>
            <a:miter lim="800000"/>
            <a:headEnd/>
            <a:tailEnd/>
          </a:ln>
        </p:spPr>
      </p:pic>
      <p:graphicFrame>
        <p:nvGraphicFramePr>
          <p:cNvPr id="21525" name="Group 21"/>
          <p:cNvGraphicFramePr>
            <a:graphicFrameLocks noGrp="1"/>
          </p:cNvGraphicFramePr>
          <p:nvPr>
            <p:ph/>
          </p:nvPr>
        </p:nvGraphicFramePr>
        <p:xfrm>
          <a:off x="1003300" y="5207000"/>
          <a:ext cx="7683500" cy="1143000"/>
        </p:xfrm>
        <a:graphic>
          <a:graphicData uri="http://schemas.openxmlformats.org/drawingml/2006/table">
            <a:tbl>
              <a:tblPr/>
              <a:tblGrid>
                <a:gridCol w="3841750"/>
                <a:gridCol w="3841750"/>
              </a:tblGrid>
              <a:tr h="571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smtClean="0">
                          <a:ln>
                            <a:noFill/>
                          </a:ln>
                          <a:solidFill>
                            <a:schemeClr val="tx1"/>
                          </a:solidFill>
                          <a:effectLst/>
                          <a:latin typeface="Arial" pitchFamily="34" charset="0"/>
                          <a:cs typeface="Arial" pitchFamily="34" charset="0"/>
                        </a:rPr>
                        <a:t>Queries can access many rows per table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smtClean="0">
                          <a:ln>
                            <a:noFill/>
                          </a:ln>
                          <a:solidFill>
                            <a:schemeClr val="tx1"/>
                          </a:solidFill>
                          <a:effectLst/>
                          <a:latin typeface="Arial" pitchFamily="34" charset="0"/>
                          <a:cs typeface="Arial" pitchFamily="34" charset="0"/>
                        </a:rPr>
                        <a:t>Queries can access single row at a time per table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1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smtClean="0">
                          <a:ln>
                            <a:noFill/>
                          </a:ln>
                          <a:solidFill>
                            <a:schemeClr val="tx1"/>
                          </a:solidFill>
                          <a:effectLst/>
                          <a:latin typeface="Arial" pitchFamily="34" charset="0"/>
                          <a:cs typeface="Arial" pitchFamily="34" charset="0"/>
                        </a:rPr>
                        <a:t>Supports few concurrent users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smtClean="0">
                          <a:ln>
                            <a:noFill/>
                          </a:ln>
                          <a:solidFill>
                            <a:schemeClr val="tx1"/>
                          </a:solidFill>
                          <a:effectLst/>
                          <a:latin typeface="Arial" pitchFamily="34" charset="0"/>
                          <a:cs typeface="Arial" pitchFamily="34" charset="0"/>
                        </a:rPr>
                        <a:t>Supports thousands of concurrent users</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smtClean="0">
                        <a:ln>
                          <a:noFill/>
                        </a:ln>
                        <a:solidFill>
                          <a:schemeClr val="tx1"/>
                        </a:solidFill>
                        <a:effectLst/>
                        <a:latin typeface="Arial" pitchFamily="34" charset="0"/>
                        <a:cs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2302" name="Text Box 22"/>
          <p:cNvSpPr txBox="1">
            <a:spLocks noChangeArrowheads="1"/>
          </p:cNvSpPr>
          <p:nvPr/>
        </p:nvSpPr>
        <p:spPr bwMode="auto">
          <a:xfrm>
            <a:off x="1219200" y="1081088"/>
            <a:ext cx="6934200" cy="366712"/>
          </a:xfrm>
          <a:prstGeom prst="rect">
            <a:avLst/>
          </a:prstGeom>
          <a:noFill/>
          <a:ln w="9525">
            <a:noFill/>
            <a:miter lim="800000"/>
            <a:headEnd/>
            <a:tailEnd/>
          </a:ln>
        </p:spPr>
        <p:txBody>
          <a:bodyPr>
            <a:spAutoFit/>
          </a:bodyPr>
          <a:lstStyle/>
          <a:p>
            <a:pPr>
              <a:spcBef>
                <a:spcPct val="50000"/>
              </a:spcBef>
            </a:pPr>
            <a:r>
              <a:rPr lang="en-US">
                <a:latin typeface="Arial" pitchFamily="34" charset="0"/>
              </a:rPr>
              <a:t>The different between OLTP database an data warehouse</a:t>
            </a:r>
          </a:p>
        </p:txBody>
      </p:sp>
      <p:sp>
        <p:nvSpPr>
          <p:cNvPr id="5" name="Rectangle 4"/>
          <p:cNvSpPr/>
          <p:nvPr/>
        </p:nvSpPr>
        <p:spPr>
          <a:xfrm>
            <a:off x="6172200" y="2286000"/>
            <a:ext cx="2509020" cy="261610"/>
          </a:xfrm>
          <a:prstGeom prst="rect">
            <a:avLst/>
          </a:prstGeom>
        </p:spPr>
        <p:txBody>
          <a:bodyPr wrap="none">
            <a:spAutoFit/>
          </a:bodyPr>
          <a:lstStyle/>
          <a:p>
            <a:r>
              <a:rPr lang="en-US" sz="1100" b="0" dirty="0"/>
              <a:t>Online transaction processing</a:t>
            </a:r>
            <a:endParaRPr lang="ar-EG" sz="11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6"/>
          <p:cNvSpPr>
            <a:spLocks noChangeArrowheads="1"/>
          </p:cNvSpPr>
          <p:nvPr/>
        </p:nvSpPr>
        <p:spPr bwMode="auto">
          <a:xfrm>
            <a:off x="1617663" y="466725"/>
            <a:ext cx="1568450" cy="396875"/>
          </a:xfrm>
          <a:prstGeom prst="rect">
            <a:avLst/>
          </a:prstGeom>
          <a:noFill/>
          <a:ln w="9525">
            <a:noFill/>
            <a:miter lim="800000"/>
            <a:headEnd/>
            <a:tailEnd/>
          </a:ln>
        </p:spPr>
        <p:txBody>
          <a:bodyPr wrap="none">
            <a:spAutoFit/>
          </a:bodyPr>
          <a:lstStyle/>
          <a:p>
            <a:r>
              <a:rPr lang="en-US" sz="2000"/>
              <a:t>Data mart</a:t>
            </a:r>
          </a:p>
        </p:txBody>
      </p:sp>
      <p:sp>
        <p:nvSpPr>
          <p:cNvPr id="29703" name="Rectangle 7"/>
          <p:cNvSpPr>
            <a:spLocks noChangeArrowheads="1"/>
          </p:cNvSpPr>
          <p:nvPr/>
        </p:nvSpPr>
        <p:spPr bwMode="auto">
          <a:xfrm>
            <a:off x="1600200" y="1219200"/>
            <a:ext cx="5343525" cy="366713"/>
          </a:xfrm>
          <a:prstGeom prst="rect">
            <a:avLst/>
          </a:prstGeom>
          <a:solidFill>
            <a:schemeClr val="bg2">
              <a:lumMod val="40000"/>
              <a:lumOff val="60000"/>
            </a:schemeClr>
          </a:solidFill>
          <a:ln w="9525">
            <a:noFill/>
            <a:miter lim="800000"/>
            <a:headEnd/>
            <a:tailEnd/>
          </a:ln>
          <a:effectLst/>
        </p:spPr>
        <p:txBody>
          <a:bodyPr wrap="none">
            <a:spAutoFit/>
          </a:bodyPr>
          <a:lstStyle/>
          <a:p>
            <a:pPr>
              <a:buFontTx/>
              <a:buChar char="•"/>
              <a:defRPr/>
            </a:pPr>
            <a:r>
              <a:rPr lang="en-US" dirty="0">
                <a:latin typeface="Arial" pitchFamily="34" charset="0"/>
              </a:rPr>
              <a:t>A data mart is simply smaller data warehouse</a:t>
            </a:r>
            <a:r>
              <a:rPr lang="en-US" b="0" dirty="0">
                <a:latin typeface="Arial" pitchFamily="34" charset="0"/>
              </a:rPr>
              <a:t> </a:t>
            </a:r>
            <a:r>
              <a:rPr lang="en-US" dirty="0">
                <a:latin typeface="Arial" pitchFamily="34" charset="0"/>
              </a:rPr>
              <a:t>.</a:t>
            </a:r>
          </a:p>
        </p:txBody>
      </p:sp>
      <p:sp>
        <p:nvSpPr>
          <p:cNvPr id="29704" name="Rectangle 8"/>
          <p:cNvSpPr>
            <a:spLocks noChangeArrowheads="1"/>
          </p:cNvSpPr>
          <p:nvPr/>
        </p:nvSpPr>
        <p:spPr bwMode="auto">
          <a:xfrm>
            <a:off x="1524000" y="1752600"/>
            <a:ext cx="5867400" cy="641350"/>
          </a:xfrm>
          <a:prstGeom prst="rect">
            <a:avLst/>
          </a:prstGeom>
          <a:solidFill>
            <a:schemeClr val="bg2">
              <a:lumMod val="40000"/>
              <a:lumOff val="60000"/>
            </a:schemeClr>
          </a:solidFill>
          <a:ln w="9525">
            <a:noFill/>
            <a:miter lim="800000"/>
            <a:headEnd/>
            <a:tailEnd/>
          </a:ln>
          <a:effectLst/>
        </p:spPr>
        <p:txBody>
          <a:bodyPr>
            <a:spAutoFit/>
          </a:bodyPr>
          <a:lstStyle/>
          <a:p>
            <a:pPr>
              <a:buFontTx/>
              <a:buChar char="•"/>
              <a:defRPr/>
            </a:pPr>
            <a:r>
              <a:rPr lang="en-US" dirty="0">
                <a:latin typeface="Arial" pitchFamily="34" charset="0"/>
              </a:rPr>
              <a:t>Usually the data in a data mart is subset of data         that is found in an enterprise-wide data warehouse</a:t>
            </a:r>
          </a:p>
        </p:txBody>
      </p:sp>
      <p:sp>
        <p:nvSpPr>
          <p:cNvPr id="29707" name="Rectangle 11"/>
          <p:cNvSpPr>
            <a:spLocks noChangeArrowheads="1"/>
          </p:cNvSpPr>
          <p:nvPr/>
        </p:nvSpPr>
        <p:spPr bwMode="auto">
          <a:xfrm>
            <a:off x="1524000" y="4419600"/>
            <a:ext cx="2828925" cy="366713"/>
          </a:xfrm>
          <a:prstGeom prst="rect">
            <a:avLst/>
          </a:prstGeom>
          <a:solidFill>
            <a:schemeClr val="bg2">
              <a:lumMod val="40000"/>
              <a:lumOff val="60000"/>
            </a:schemeClr>
          </a:solidFill>
          <a:ln w="9525">
            <a:noFill/>
            <a:miter lim="800000"/>
            <a:headEnd/>
            <a:tailEnd/>
          </a:ln>
          <a:effectLst/>
        </p:spPr>
        <p:txBody>
          <a:bodyPr wrap="none">
            <a:spAutoFit/>
          </a:bodyPr>
          <a:lstStyle/>
          <a:p>
            <a:pPr>
              <a:buFontTx/>
              <a:buChar char="•"/>
              <a:defRPr/>
            </a:pPr>
            <a:r>
              <a:rPr lang="en-US" dirty="0">
                <a:latin typeface="Arial" pitchFamily="34" charset="0"/>
              </a:rPr>
              <a:t>Faster</a:t>
            </a:r>
            <a:r>
              <a:rPr lang="en-US" dirty="0">
                <a:solidFill>
                  <a:schemeClr val="bg1"/>
                </a:solidFill>
                <a:latin typeface="Arial" pitchFamily="34" charset="0"/>
              </a:rPr>
              <a:t> </a:t>
            </a:r>
            <a:r>
              <a:rPr lang="en-US" dirty="0">
                <a:latin typeface="Arial" pitchFamily="34" charset="0"/>
              </a:rPr>
              <a:t>deployment</a:t>
            </a:r>
            <a:r>
              <a:rPr lang="en-US" dirty="0">
                <a:solidFill>
                  <a:schemeClr val="bg1"/>
                </a:solidFill>
                <a:latin typeface="Arial" pitchFamily="34" charset="0"/>
              </a:rPr>
              <a:t> </a:t>
            </a:r>
            <a:r>
              <a:rPr lang="en-US" dirty="0">
                <a:latin typeface="Arial" pitchFamily="34" charset="0"/>
              </a:rPr>
              <a:t>time</a:t>
            </a:r>
          </a:p>
        </p:txBody>
      </p:sp>
      <p:sp>
        <p:nvSpPr>
          <p:cNvPr id="29708" name="Rectangle 12"/>
          <p:cNvSpPr>
            <a:spLocks noChangeArrowheads="1"/>
          </p:cNvSpPr>
          <p:nvPr/>
        </p:nvSpPr>
        <p:spPr bwMode="auto">
          <a:xfrm>
            <a:off x="1524000" y="2711450"/>
            <a:ext cx="5867400" cy="641350"/>
          </a:xfrm>
          <a:prstGeom prst="rect">
            <a:avLst/>
          </a:prstGeom>
          <a:solidFill>
            <a:schemeClr val="bg2">
              <a:lumMod val="40000"/>
              <a:lumOff val="60000"/>
            </a:schemeClr>
          </a:solidFill>
          <a:ln w="9525">
            <a:noFill/>
            <a:miter lim="800000"/>
            <a:headEnd/>
            <a:tailEnd/>
          </a:ln>
          <a:effectLst/>
        </p:spPr>
        <p:txBody>
          <a:bodyPr>
            <a:spAutoFit/>
          </a:bodyPr>
          <a:lstStyle/>
          <a:p>
            <a:pPr>
              <a:buFontTx/>
              <a:buChar char="•"/>
              <a:defRPr/>
            </a:pPr>
            <a:r>
              <a:rPr lang="en-US" dirty="0">
                <a:latin typeface="Arial" pitchFamily="34" charset="0"/>
              </a:rPr>
              <a:t>Faster query ,because there is less data against which to query</a:t>
            </a:r>
          </a:p>
        </p:txBody>
      </p:sp>
      <p:sp>
        <p:nvSpPr>
          <p:cNvPr id="29709" name="Rectangle 13"/>
          <p:cNvSpPr>
            <a:spLocks noChangeArrowheads="1"/>
          </p:cNvSpPr>
          <p:nvPr/>
        </p:nvSpPr>
        <p:spPr bwMode="auto">
          <a:xfrm>
            <a:off x="1524000" y="3671888"/>
            <a:ext cx="5867400" cy="366712"/>
          </a:xfrm>
          <a:prstGeom prst="rect">
            <a:avLst/>
          </a:prstGeom>
          <a:solidFill>
            <a:schemeClr val="bg2">
              <a:lumMod val="40000"/>
              <a:lumOff val="60000"/>
            </a:schemeClr>
          </a:solidFill>
          <a:ln w="9525">
            <a:solidFill>
              <a:schemeClr val="accent1"/>
            </a:solidFill>
            <a:miter lim="800000"/>
            <a:headEnd/>
            <a:tailEnd/>
          </a:ln>
          <a:effectLst/>
        </p:spPr>
        <p:txBody>
          <a:bodyPr>
            <a:spAutoFit/>
          </a:bodyPr>
          <a:lstStyle/>
          <a:p>
            <a:pPr>
              <a:buFontTx/>
              <a:buChar char="•"/>
              <a:defRPr/>
            </a:pPr>
            <a:r>
              <a:rPr lang="en-US" dirty="0">
                <a:latin typeface="Arial" pitchFamily="34" charset="0"/>
              </a:rPr>
              <a:t>Fewer</a:t>
            </a:r>
            <a:r>
              <a:rPr lang="en-US" dirty="0">
                <a:solidFill>
                  <a:schemeClr val="bg1"/>
                </a:solidFill>
                <a:latin typeface="Arial" pitchFamily="34" charset="0"/>
              </a:rPr>
              <a:t> </a:t>
            </a:r>
            <a:r>
              <a:rPr lang="en-US" dirty="0">
                <a:latin typeface="Arial" pitchFamily="34" charset="0"/>
              </a:rPr>
              <a:t>users</a:t>
            </a:r>
            <a:r>
              <a:rPr lang="en-US" dirty="0">
                <a:solidFill>
                  <a:schemeClr val="bg1"/>
                </a:solidFill>
                <a:latin typeface="Arial" pitchFamily="34" charset="0"/>
              </a:rPr>
              <a:t> </a:t>
            </a:r>
            <a:r>
              <a:rPr lang="en-US" dirty="0">
                <a:latin typeface="Arial" pitchFamily="34" charset="0"/>
              </a:rPr>
              <a:t>competing</a:t>
            </a:r>
            <a:r>
              <a:rPr lang="en-US" dirty="0">
                <a:solidFill>
                  <a:schemeClr val="bg1"/>
                </a:solidFill>
                <a:latin typeface="Arial" pitchFamily="34" charset="0"/>
              </a:rPr>
              <a:t> </a:t>
            </a:r>
            <a:r>
              <a:rPr lang="en-US" dirty="0">
                <a:latin typeface="Arial" pitchFamily="34" charset="0"/>
              </a:rPr>
              <a:t>for</a:t>
            </a:r>
            <a:r>
              <a:rPr lang="en-US" dirty="0">
                <a:solidFill>
                  <a:schemeClr val="bg1"/>
                </a:solidFill>
                <a:latin typeface="Arial" pitchFamily="34" charset="0"/>
              </a:rPr>
              <a:t> </a:t>
            </a:r>
            <a:r>
              <a:rPr lang="en-US" dirty="0">
                <a:latin typeface="Arial" pitchFamily="34" charset="0"/>
              </a:rPr>
              <a:t>resources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9703"/>
                                        </p:tgtEl>
                                        <p:attrNameLst>
                                          <p:attrName>style.visibility</p:attrName>
                                        </p:attrNameLst>
                                      </p:cBhvr>
                                      <p:to>
                                        <p:strVal val="visible"/>
                                      </p:to>
                                    </p:set>
                                    <p:animEffect transition="in" filter="strips(downRight)">
                                      <p:cBhvr>
                                        <p:cTn id="7" dur="500"/>
                                        <p:tgtEl>
                                          <p:spTgt spid="2970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9704"/>
                                        </p:tgtEl>
                                        <p:attrNameLst>
                                          <p:attrName>style.visibility</p:attrName>
                                        </p:attrNameLst>
                                      </p:cBhvr>
                                      <p:to>
                                        <p:strVal val="visible"/>
                                      </p:to>
                                    </p:set>
                                    <p:animEffect transition="in" filter="strips(downRight)">
                                      <p:cBhvr>
                                        <p:cTn id="12" dur="500"/>
                                        <p:tgtEl>
                                          <p:spTgt spid="29704"/>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29708"/>
                                        </p:tgtEl>
                                        <p:attrNameLst>
                                          <p:attrName>style.visibility</p:attrName>
                                        </p:attrNameLst>
                                      </p:cBhvr>
                                      <p:to>
                                        <p:strVal val="visible"/>
                                      </p:to>
                                    </p:set>
                                    <p:animEffect transition="in" filter="strips(downRight)">
                                      <p:cBhvr>
                                        <p:cTn id="17" dur="500"/>
                                        <p:tgtEl>
                                          <p:spTgt spid="29708"/>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29709"/>
                                        </p:tgtEl>
                                        <p:attrNameLst>
                                          <p:attrName>style.visibility</p:attrName>
                                        </p:attrNameLst>
                                      </p:cBhvr>
                                      <p:to>
                                        <p:strVal val="visible"/>
                                      </p:to>
                                    </p:set>
                                    <p:animEffect transition="in" filter="strips(downRight)">
                                      <p:cBhvr>
                                        <p:cTn id="22" dur="500"/>
                                        <p:tgtEl>
                                          <p:spTgt spid="29709"/>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29707"/>
                                        </p:tgtEl>
                                        <p:attrNameLst>
                                          <p:attrName>style.visibility</p:attrName>
                                        </p:attrNameLst>
                                      </p:cBhvr>
                                      <p:to>
                                        <p:strVal val="visible"/>
                                      </p:to>
                                    </p:set>
                                    <p:animEffect transition="in" filter="strips(downRight)">
                                      <p:cBhvr>
                                        <p:cTn id="27" dur="500"/>
                                        <p:tgtEl>
                                          <p:spTgt spid="297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3" grpId="0" animBg="1"/>
      <p:bldP spid="29704" grpId="0" animBg="1"/>
      <p:bldP spid="29707" grpId="0" animBg="1"/>
      <p:bldP spid="29708" grpId="0" animBg="1"/>
      <p:bldP spid="2970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p:cNvSpPr>
            <a:spLocks noChangeArrowheads="1"/>
          </p:cNvSpPr>
          <p:nvPr/>
        </p:nvSpPr>
        <p:spPr bwMode="auto">
          <a:xfrm>
            <a:off x="1978025" y="593725"/>
            <a:ext cx="4838700" cy="396875"/>
          </a:xfrm>
          <a:prstGeom prst="rect">
            <a:avLst/>
          </a:prstGeom>
          <a:noFill/>
          <a:ln w="9525">
            <a:noFill/>
            <a:miter lim="800000"/>
            <a:headEnd/>
            <a:tailEnd/>
          </a:ln>
        </p:spPr>
        <p:txBody>
          <a:bodyPr wrap="none" anchor="ctr">
            <a:spAutoFit/>
          </a:bodyPr>
          <a:lstStyle/>
          <a:p>
            <a:pPr algn="ctr"/>
            <a:r>
              <a:rPr lang="en-US" sz="2000">
                <a:latin typeface="Arial" pitchFamily="34" charset="0"/>
              </a:rPr>
              <a:t>Data warehouse life cycle and process</a:t>
            </a:r>
          </a:p>
        </p:txBody>
      </p:sp>
      <p:pic>
        <p:nvPicPr>
          <p:cNvPr id="14339" name="Picture 5"/>
          <p:cNvPicPr>
            <a:picLocks noChangeAspect="1" noChangeArrowheads="1"/>
          </p:cNvPicPr>
          <p:nvPr/>
        </p:nvPicPr>
        <p:blipFill>
          <a:blip r:embed="rId2" cstate="print"/>
          <a:srcRect/>
          <a:stretch>
            <a:fillRect/>
          </a:stretch>
        </p:blipFill>
        <p:spPr bwMode="auto">
          <a:xfrm>
            <a:off x="304800" y="1689100"/>
            <a:ext cx="8686800" cy="44291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5362" name="Picture 4"/>
          <p:cNvPicPr>
            <a:picLocks noChangeAspect="1" noChangeArrowheads="1"/>
          </p:cNvPicPr>
          <p:nvPr/>
        </p:nvPicPr>
        <p:blipFill>
          <a:blip r:embed="rId2" cstate="print"/>
          <a:srcRect/>
          <a:stretch>
            <a:fillRect/>
          </a:stretch>
        </p:blipFill>
        <p:spPr bwMode="auto">
          <a:xfrm>
            <a:off x="998538" y="914400"/>
            <a:ext cx="7535862" cy="5638800"/>
          </a:xfrm>
          <a:prstGeom prst="rect">
            <a:avLst/>
          </a:prstGeom>
          <a:noFill/>
          <a:ln w="9525" algn="ctr">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50" name="Rectangle 6"/>
          <p:cNvSpPr>
            <a:spLocks noChangeArrowheads="1"/>
          </p:cNvSpPr>
          <p:nvPr/>
        </p:nvSpPr>
        <p:spPr bwMode="auto">
          <a:xfrm>
            <a:off x="1524000" y="1057275"/>
            <a:ext cx="6400800" cy="1314450"/>
          </a:xfrm>
          <a:prstGeom prst="rect">
            <a:avLst/>
          </a:prstGeom>
          <a:solidFill>
            <a:schemeClr val="accent2">
              <a:lumMod val="20000"/>
              <a:lumOff val="80000"/>
            </a:schemeClr>
          </a:solidFill>
          <a:ln w="9525">
            <a:noFill/>
            <a:miter lim="800000"/>
            <a:headEnd/>
            <a:tailEnd/>
          </a:ln>
          <a:effectLst/>
        </p:spPr>
        <p:txBody>
          <a:bodyPr anchor="ctr">
            <a:spAutoFit/>
          </a:bodyPr>
          <a:lstStyle/>
          <a:p>
            <a:pPr algn="justLow">
              <a:defRPr/>
            </a:pPr>
            <a:r>
              <a:rPr lang="en-US" sz="1600" dirty="0">
                <a:latin typeface="Arial" pitchFamily="34" charset="0"/>
              </a:rPr>
              <a:t>Data transformation is the process of formatting and modifying data that extracted from various sources to make the information more useful in the data warehouse ,when you transform data ,you may want to change the format of data ,combine data, or calculate data</a:t>
            </a:r>
          </a:p>
        </p:txBody>
      </p:sp>
      <p:sp>
        <p:nvSpPr>
          <p:cNvPr id="16388" name="Rectangle 7"/>
          <p:cNvSpPr>
            <a:spLocks noChangeArrowheads="1"/>
          </p:cNvSpPr>
          <p:nvPr/>
        </p:nvSpPr>
        <p:spPr bwMode="auto">
          <a:xfrm>
            <a:off x="1568450" y="228600"/>
            <a:ext cx="3308350" cy="366713"/>
          </a:xfrm>
          <a:prstGeom prst="rect">
            <a:avLst/>
          </a:prstGeom>
          <a:noFill/>
          <a:ln w="9525">
            <a:noFill/>
            <a:miter lim="800000"/>
            <a:headEnd/>
            <a:tailEnd/>
          </a:ln>
        </p:spPr>
        <p:txBody>
          <a:bodyPr>
            <a:spAutoFit/>
          </a:bodyPr>
          <a:lstStyle/>
          <a:p>
            <a:r>
              <a:rPr lang="en-US"/>
              <a:t>Data transformation</a:t>
            </a:r>
          </a:p>
        </p:txBody>
      </p:sp>
      <p:pic>
        <p:nvPicPr>
          <p:cNvPr id="31752" name="Picture 8"/>
          <p:cNvPicPr>
            <a:picLocks noChangeAspect="1" noChangeArrowheads="1"/>
          </p:cNvPicPr>
          <p:nvPr/>
        </p:nvPicPr>
        <p:blipFill>
          <a:blip r:embed="rId2" cstate="print"/>
          <a:srcRect/>
          <a:stretch>
            <a:fillRect/>
          </a:stretch>
        </p:blipFill>
        <p:spPr bwMode="auto">
          <a:xfrm>
            <a:off x="914400" y="2438400"/>
            <a:ext cx="7620000" cy="41910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31750"/>
                                        </p:tgtEl>
                                        <p:attrNameLst>
                                          <p:attrName>style.visibility</p:attrName>
                                        </p:attrNameLst>
                                      </p:cBhvr>
                                      <p:to>
                                        <p:strVal val="visible"/>
                                      </p:to>
                                    </p:set>
                                    <p:animEffect transition="in" filter="strips(downRight)">
                                      <p:cBhvr>
                                        <p:cTn id="7" dur="500"/>
                                        <p:tgtEl>
                                          <p:spTgt spid="31750"/>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31752"/>
                                        </p:tgtEl>
                                        <p:attrNameLst>
                                          <p:attrName>style.visibility</p:attrName>
                                        </p:attrNameLst>
                                      </p:cBhvr>
                                      <p:to>
                                        <p:strVal val="visible"/>
                                      </p:to>
                                    </p:set>
                                    <p:animEffect transition="in" filter="strips(downRight)">
                                      <p:cBhvr>
                                        <p:cTn id="12" dur="500"/>
                                        <p:tgtEl>
                                          <p:spTgt spid="317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4"/>
          <p:cNvSpPr>
            <a:spLocks noChangeArrowheads="1"/>
          </p:cNvSpPr>
          <p:nvPr/>
        </p:nvSpPr>
        <p:spPr bwMode="auto">
          <a:xfrm>
            <a:off x="1371600" y="1506538"/>
            <a:ext cx="7010400" cy="1465262"/>
          </a:xfrm>
          <a:prstGeom prst="rect">
            <a:avLst/>
          </a:prstGeom>
          <a:solidFill>
            <a:schemeClr val="accent2">
              <a:lumMod val="20000"/>
              <a:lumOff val="80000"/>
            </a:schemeClr>
          </a:solidFill>
          <a:ln w="9525">
            <a:noFill/>
            <a:miter lim="800000"/>
            <a:headEnd/>
            <a:tailEnd/>
          </a:ln>
          <a:effectLst/>
        </p:spPr>
        <p:txBody>
          <a:bodyPr anchor="ctr">
            <a:spAutoFit/>
          </a:bodyPr>
          <a:lstStyle/>
          <a:p>
            <a:pPr>
              <a:defRPr/>
            </a:pPr>
            <a:r>
              <a:rPr lang="en-US" dirty="0">
                <a:latin typeface="Arial" pitchFamily="34" charset="0"/>
              </a:rPr>
              <a:t>Extracting data from operational systems and loading it into a data warehouse or data mart ,the source data that you provide to data warehouse must be accurate ,stable and consistent ,verifying the accuracy and correctness of data is called( validation)</a:t>
            </a:r>
          </a:p>
        </p:txBody>
      </p:sp>
      <p:sp>
        <p:nvSpPr>
          <p:cNvPr id="17411" name="Rectangle 5"/>
          <p:cNvSpPr>
            <a:spLocks noChangeArrowheads="1"/>
          </p:cNvSpPr>
          <p:nvPr/>
        </p:nvSpPr>
        <p:spPr bwMode="auto">
          <a:xfrm>
            <a:off x="1295400" y="593725"/>
            <a:ext cx="1554163" cy="396875"/>
          </a:xfrm>
          <a:prstGeom prst="rect">
            <a:avLst/>
          </a:prstGeom>
          <a:noFill/>
          <a:ln w="9525">
            <a:noFill/>
            <a:miter lim="800000"/>
            <a:headEnd/>
            <a:tailEnd/>
          </a:ln>
        </p:spPr>
        <p:txBody>
          <a:bodyPr wrap="none">
            <a:spAutoFit/>
          </a:bodyPr>
          <a:lstStyle/>
          <a:p>
            <a:r>
              <a:rPr lang="en-US" sz="2000"/>
              <a:t>validation</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4"/>
          <p:cNvPicPr>
            <a:picLocks noChangeAspect="1" noChangeArrowheads="1"/>
          </p:cNvPicPr>
          <p:nvPr/>
        </p:nvPicPr>
        <p:blipFill>
          <a:blip r:embed="rId2" cstate="print"/>
          <a:srcRect/>
          <a:stretch>
            <a:fillRect/>
          </a:stretch>
        </p:blipFill>
        <p:spPr bwMode="auto">
          <a:xfrm>
            <a:off x="685800" y="1143000"/>
            <a:ext cx="8153400" cy="2438400"/>
          </a:xfrm>
          <a:prstGeom prst="rect">
            <a:avLst/>
          </a:prstGeom>
          <a:noFill/>
          <a:ln w="9525">
            <a:noFill/>
            <a:miter lim="800000"/>
            <a:headEnd/>
            <a:tailEnd/>
          </a:ln>
        </p:spPr>
      </p:pic>
      <p:sp>
        <p:nvSpPr>
          <p:cNvPr id="19459" name="Text Box 5"/>
          <p:cNvSpPr txBox="1">
            <a:spLocks noChangeArrowheads="1"/>
          </p:cNvSpPr>
          <p:nvPr/>
        </p:nvSpPr>
        <p:spPr bwMode="auto">
          <a:xfrm>
            <a:off x="3581400" y="533400"/>
            <a:ext cx="3429000" cy="396875"/>
          </a:xfrm>
          <a:prstGeom prst="rect">
            <a:avLst/>
          </a:prstGeom>
          <a:noFill/>
          <a:ln w="9525">
            <a:noFill/>
            <a:miter lim="800000"/>
            <a:headEnd/>
            <a:tailEnd/>
          </a:ln>
        </p:spPr>
        <p:txBody>
          <a:bodyPr>
            <a:spAutoFit/>
          </a:bodyPr>
          <a:lstStyle/>
          <a:p>
            <a:pPr>
              <a:spcBef>
                <a:spcPct val="50000"/>
              </a:spcBef>
            </a:pPr>
            <a:r>
              <a:rPr lang="en-US" sz="2000">
                <a:latin typeface="Arial" pitchFamily="34" charset="0"/>
              </a:rPr>
              <a:t>OLAP TECHNIQUE</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5"/>
          <p:cNvSpPr txBox="1">
            <a:spLocks noChangeArrowheads="1"/>
          </p:cNvSpPr>
          <p:nvPr/>
        </p:nvSpPr>
        <p:spPr bwMode="auto">
          <a:xfrm>
            <a:off x="3200400" y="381000"/>
            <a:ext cx="3429000" cy="396875"/>
          </a:xfrm>
          <a:prstGeom prst="rect">
            <a:avLst/>
          </a:prstGeom>
          <a:noFill/>
          <a:ln w="9525">
            <a:noFill/>
            <a:miter lim="800000"/>
            <a:headEnd/>
            <a:tailEnd/>
          </a:ln>
        </p:spPr>
        <p:txBody>
          <a:bodyPr>
            <a:spAutoFit/>
          </a:bodyPr>
          <a:lstStyle/>
          <a:p>
            <a:pPr>
              <a:spcBef>
                <a:spcPct val="50000"/>
              </a:spcBef>
            </a:pPr>
            <a:r>
              <a:rPr lang="en-US" sz="2000">
                <a:solidFill>
                  <a:srgbClr val="000066"/>
                </a:solidFill>
                <a:latin typeface="Arial" pitchFamily="34" charset="0"/>
              </a:rPr>
              <a:t>OLAP TECHNIQUE</a:t>
            </a:r>
          </a:p>
        </p:txBody>
      </p:sp>
      <p:sp>
        <p:nvSpPr>
          <p:cNvPr id="4" name="Rectangle 3"/>
          <p:cNvSpPr>
            <a:spLocks noChangeArrowheads="1"/>
          </p:cNvSpPr>
          <p:nvPr/>
        </p:nvSpPr>
        <p:spPr bwMode="auto">
          <a:xfrm>
            <a:off x="914400" y="990600"/>
            <a:ext cx="6096000" cy="369888"/>
          </a:xfrm>
          <a:prstGeom prst="rect">
            <a:avLst/>
          </a:prstGeom>
          <a:noFill/>
          <a:ln w="9525">
            <a:noFill/>
            <a:miter lim="800000"/>
            <a:headEnd/>
            <a:tailEnd/>
          </a:ln>
        </p:spPr>
        <p:txBody>
          <a:bodyPr>
            <a:spAutoFit/>
          </a:bodyPr>
          <a:lstStyle/>
          <a:p>
            <a:r>
              <a:rPr lang="en-US"/>
              <a:t>OLAP tools must be able to do the following:</a:t>
            </a:r>
          </a:p>
        </p:txBody>
      </p:sp>
      <p:sp>
        <p:nvSpPr>
          <p:cNvPr id="5" name="Rectangle 4"/>
          <p:cNvSpPr>
            <a:spLocks noChangeArrowheads="1"/>
          </p:cNvSpPr>
          <p:nvPr/>
        </p:nvSpPr>
        <p:spPr bwMode="auto">
          <a:xfrm>
            <a:off x="825500" y="1752600"/>
            <a:ext cx="8458200" cy="369888"/>
          </a:xfrm>
          <a:prstGeom prst="rect">
            <a:avLst/>
          </a:prstGeom>
          <a:noFill/>
          <a:ln w="9525">
            <a:noFill/>
            <a:miter lim="800000"/>
            <a:headEnd/>
            <a:tailEnd/>
          </a:ln>
        </p:spPr>
        <p:txBody>
          <a:bodyPr>
            <a:spAutoFit/>
          </a:bodyPr>
          <a:lstStyle/>
          <a:p>
            <a:pPr>
              <a:buFont typeface="Arial" pitchFamily="34" charset="0"/>
              <a:buChar char="•"/>
            </a:pPr>
            <a:r>
              <a:rPr lang="en-US" dirty="0"/>
              <a:t>Support multiple dimension and hierarchies within a dimension</a:t>
            </a:r>
          </a:p>
        </p:txBody>
      </p:sp>
      <p:sp>
        <p:nvSpPr>
          <p:cNvPr id="6" name="Rectangle 5"/>
          <p:cNvSpPr>
            <a:spLocks noChangeArrowheads="1"/>
          </p:cNvSpPr>
          <p:nvPr/>
        </p:nvSpPr>
        <p:spPr bwMode="auto">
          <a:xfrm>
            <a:off x="825500" y="2362200"/>
            <a:ext cx="8001000" cy="646113"/>
          </a:xfrm>
          <a:prstGeom prst="rect">
            <a:avLst/>
          </a:prstGeom>
          <a:noFill/>
          <a:ln w="9525">
            <a:noFill/>
            <a:miter lim="800000"/>
            <a:headEnd/>
            <a:tailEnd/>
          </a:ln>
        </p:spPr>
        <p:txBody>
          <a:bodyPr>
            <a:spAutoFit/>
          </a:bodyPr>
          <a:lstStyle/>
          <a:p>
            <a:pPr>
              <a:buFont typeface="Arial" pitchFamily="34" charset="0"/>
              <a:buChar char="•"/>
            </a:pPr>
            <a:r>
              <a:rPr lang="en-US" dirty="0"/>
              <a:t>Aggregate , summaries, pre-calculate and derived data along single dimension or set of selected dimensions</a:t>
            </a:r>
          </a:p>
        </p:txBody>
      </p:sp>
      <p:sp>
        <p:nvSpPr>
          <p:cNvPr id="7" name="Rectangle 6"/>
          <p:cNvSpPr>
            <a:spLocks noChangeArrowheads="1"/>
          </p:cNvSpPr>
          <p:nvPr/>
        </p:nvSpPr>
        <p:spPr bwMode="auto">
          <a:xfrm>
            <a:off x="762000" y="3124200"/>
            <a:ext cx="7924800" cy="923925"/>
          </a:xfrm>
          <a:prstGeom prst="rect">
            <a:avLst/>
          </a:prstGeom>
          <a:noFill/>
          <a:ln w="9525">
            <a:noFill/>
            <a:miter lim="800000"/>
            <a:headEnd/>
            <a:tailEnd/>
          </a:ln>
        </p:spPr>
        <p:txBody>
          <a:bodyPr>
            <a:spAutoFit/>
          </a:bodyPr>
          <a:lstStyle/>
          <a:p>
            <a:pPr>
              <a:buFont typeface="Arial" pitchFamily="34" charset="0"/>
              <a:buChar char="•"/>
            </a:pPr>
            <a:r>
              <a:rPr lang="en-US"/>
              <a:t>Support the concept of business model – define relationship in a set of selected dimensions ,calculation logic, analytical routines and summarized data</a:t>
            </a:r>
          </a:p>
        </p:txBody>
      </p:sp>
      <p:sp>
        <p:nvSpPr>
          <p:cNvPr id="8" name="Rectangle 7"/>
          <p:cNvSpPr>
            <a:spLocks noChangeArrowheads="1"/>
          </p:cNvSpPr>
          <p:nvPr/>
        </p:nvSpPr>
        <p:spPr bwMode="auto">
          <a:xfrm>
            <a:off x="762000" y="4343400"/>
            <a:ext cx="7924800" cy="923925"/>
          </a:xfrm>
          <a:prstGeom prst="rect">
            <a:avLst/>
          </a:prstGeom>
          <a:noFill/>
          <a:ln w="9525">
            <a:noFill/>
            <a:miter lim="800000"/>
            <a:headEnd/>
            <a:tailEnd/>
          </a:ln>
        </p:spPr>
        <p:txBody>
          <a:bodyPr>
            <a:spAutoFit/>
          </a:bodyPr>
          <a:lstStyle/>
          <a:p>
            <a:pPr>
              <a:buFont typeface="Arial" pitchFamily="34" charset="0"/>
              <a:buChar char="•"/>
            </a:pPr>
            <a:r>
              <a:rPr lang="en-US" dirty="0"/>
              <a:t>Provide powerful calculations and comparative functions like ranking, comparisons, maximum and minimum , average and moving averages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Righ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trips(downRigh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strips(downRigh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strips(downRigh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strips(downRight)">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ChangeArrowheads="1"/>
          </p:cNvSpPr>
          <p:nvPr/>
        </p:nvSpPr>
        <p:spPr bwMode="auto">
          <a:xfrm>
            <a:off x="3429000" y="565150"/>
            <a:ext cx="2671763" cy="457200"/>
          </a:xfrm>
          <a:prstGeom prst="rect">
            <a:avLst/>
          </a:prstGeom>
          <a:noFill/>
          <a:ln w="9525">
            <a:noFill/>
            <a:miter lim="800000"/>
            <a:headEnd/>
            <a:tailEnd/>
          </a:ln>
        </p:spPr>
        <p:txBody>
          <a:bodyPr wrap="none" anchor="ctr">
            <a:spAutoFit/>
          </a:bodyPr>
          <a:lstStyle/>
          <a:p>
            <a:pPr algn="justLow"/>
            <a:r>
              <a:rPr lang="en-US" sz="2400">
                <a:latin typeface="Arial" pitchFamily="34" charset="0"/>
              </a:rPr>
              <a:t>OLAP operations</a:t>
            </a:r>
          </a:p>
        </p:txBody>
      </p:sp>
      <p:sp>
        <p:nvSpPr>
          <p:cNvPr id="36870" name="Rectangle 6"/>
          <p:cNvSpPr>
            <a:spLocks noChangeArrowheads="1"/>
          </p:cNvSpPr>
          <p:nvPr/>
        </p:nvSpPr>
        <p:spPr bwMode="auto">
          <a:xfrm>
            <a:off x="2178050" y="1614488"/>
            <a:ext cx="3511550" cy="366712"/>
          </a:xfrm>
          <a:prstGeom prst="rect">
            <a:avLst/>
          </a:prstGeom>
          <a:noFill/>
          <a:ln w="9525">
            <a:noFill/>
            <a:miter lim="800000"/>
            <a:headEnd/>
            <a:tailEnd/>
          </a:ln>
        </p:spPr>
        <p:txBody>
          <a:bodyPr wrap="none">
            <a:spAutoFit/>
          </a:bodyPr>
          <a:lstStyle/>
          <a:p>
            <a:pPr>
              <a:spcBef>
                <a:spcPct val="50000"/>
              </a:spcBef>
            </a:pPr>
            <a:r>
              <a:rPr lang="en-US" dirty="0">
                <a:latin typeface="Arial" pitchFamily="34" charset="0"/>
              </a:rPr>
              <a:t>1.Roll up( summaries the data)</a:t>
            </a:r>
          </a:p>
        </p:txBody>
      </p:sp>
      <p:sp>
        <p:nvSpPr>
          <p:cNvPr id="36871" name="Rectangle 7"/>
          <p:cNvSpPr>
            <a:spLocks noChangeArrowheads="1"/>
          </p:cNvSpPr>
          <p:nvPr/>
        </p:nvSpPr>
        <p:spPr bwMode="auto">
          <a:xfrm>
            <a:off x="2111375" y="2376488"/>
            <a:ext cx="5302250" cy="366712"/>
          </a:xfrm>
          <a:prstGeom prst="rect">
            <a:avLst/>
          </a:prstGeom>
          <a:noFill/>
          <a:ln w="9525">
            <a:noFill/>
            <a:miter lim="800000"/>
            <a:headEnd/>
            <a:tailEnd/>
          </a:ln>
        </p:spPr>
        <p:txBody>
          <a:bodyPr wrap="none">
            <a:spAutoFit/>
          </a:bodyPr>
          <a:lstStyle/>
          <a:p>
            <a:r>
              <a:rPr lang="en-US" dirty="0">
                <a:latin typeface="Arial" pitchFamily="34" charset="0"/>
              </a:rPr>
              <a:t>2.Drill Down( refining data into narrower views)</a:t>
            </a:r>
          </a:p>
        </p:txBody>
      </p:sp>
      <p:sp>
        <p:nvSpPr>
          <p:cNvPr id="36872" name="Rectangle 8"/>
          <p:cNvSpPr>
            <a:spLocks noChangeArrowheads="1"/>
          </p:cNvSpPr>
          <p:nvPr/>
        </p:nvSpPr>
        <p:spPr bwMode="auto">
          <a:xfrm>
            <a:off x="2133600" y="3200400"/>
            <a:ext cx="4248150" cy="366713"/>
          </a:xfrm>
          <a:prstGeom prst="rect">
            <a:avLst/>
          </a:prstGeom>
          <a:noFill/>
          <a:ln w="9525">
            <a:noFill/>
            <a:miter lim="800000"/>
            <a:headEnd/>
            <a:tailEnd/>
          </a:ln>
        </p:spPr>
        <p:txBody>
          <a:bodyPr wrap="none">
            <a:spAutoFit/>
          </a:bodyPr>
          <a:lstStyle/>
          <a:p>
            <a:pPr>
              <a:spcBef>
                <a:spcPct val="50000"/>
              </a:spcBef>
            </a:pPr>
            <a:r>
              <a:rPr lang="en-US" dirty="0">
                <a:latin typeface="Arial" pitchFamily="34" charset="0"/>
              </a:rPr>
              <a:t>3.Slicing &amp; Dicing( projection of data)</a:t>
            </a:r>
          </a:p>
        </p:txBody>
      </p:sp>
      <p:sp>
        <p:nvSpPr>
          <p:cNvPr id="6" name="Rectangle 5"/>
          <p:cNvSpPr/>
          <p:nvPr/>
        </p:nvSpPr>
        <p:spPr>
          <a:xfrm>
            <a:off x="4191000" y="3581400"/>
            <a:ext cx="4572000" cy="430887"/>
          </a:xfrm>
          <a:prstGeom prst="rect">
            <a:avLst/>
          </a:prstGeom>
        </p:spPr>
        <p:txBody>
          <a:bodyPr>
            <a:spAutoFit/>
          </a:bodyPr>
          <a:lstStyle/>
          <a:p>
            <a:r>
              <a:rPr lang="en-US" sz="1100" dirty="0" smtClean="0"/>
              <a:t>an estimate or forecast of a future situation or trend based on a study of present ones.</a:t>
            </a:r>
            <a:endParaRPr lang="ar-EG"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36870"/>
                                        </p:tgtEl>
                                        <p:attrNameLst>
                                          <p:attrName>style.visibility</p:attrName>
                                        </p:attrNameLst>
                                      </p:cBhvr>
                                      <p:to>
                                        <p:strVal val="visible"/>
                                      </p:to>
                                    </p:set>
                                    <p:animEffect transition="in" filter="strips(downRight)">
                                      <p:cBhvr>
                                        <p:cTn id="7" dur="500"/>
                                        <p:tgtEl>
                                          <p:spTgt spid="36870"/>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36871"/>
                                        </p:tgtEl>
                                        <p:attrNameLst>
                                          <p:attrName>style.visibility</p:attrName>
                                        </p:attrNameLst>
                                      </p:cBhvr>
                                      <p:to>
                                        <p:strVal val="visible"/>
                                      </p:to>
                                    </p:set>
                                    <p:animEffect transition="in" filter="strips(downRight)">
                                      <p:cBhvr>
                                        <p:cTn id="12" dur="500"/>
                                        <p:tgtEl>
                                          <p:spTgt spid="36871"/>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36872"/>
                                        </p:tgtEl>
                                        <p:attrNameLst>
                                          <p:attrName>style.visibility</p:attrName>
                                        </p:attrNameLst>
                                      </p:cBhvr>
                                      <p:to>
                                        <p:strVal val="visible"/>
                                      </p:to>
                                    </p:set>
                                    <p:animEffect transition="in" filter="strips(downRight)">
                                      <p:cBhvr>
                                        <p:cTn id="17" dur="500"/>
                                        <p:tgtEl>
                                          <p:spTgt spid="368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0" grpId="0"/>
      <p:bldP spid="36871" grpId="0"/>
      <p:bldP spid="3687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2"/>
          <p:cNvPicPr>
            <a:picLocks noChangeAspect="1" noChangeArrowheads="1"/>
          </p:cNvPicPr>
          <p:nvPr/>
        </p:nvPicPr>
        <p:blipFill>
          <a:blip r:embed="rId2" cstate="print"/>
          <a:srcRect/>
          <a:stretch>
            <a:fillRect/>
          </a:stretch>
        </p:blipFill>
        <p:spPr bwMode="auto">
          <a:xfrm>
            <a:off x="1676400" y="3019425"/>
            <a:ext cx="6019800" cy="3762375"/>
          </a:xfrm>
          <a:prstGeom prst="rect">
            <a:avLst/>
          </a:prstGeom>
          <a:noFill/>
          <a:ln w="9525" algn="ctr">
            <a:noFill/>
            <a:miter lim="800000"/>
            <a:headEnd/>
            <a:tailEnd/>
          </a:ln>
        </p:spPr>
      </p:pic>
      <p:sp>
        <p:nvSpPr>
          <p:cNvPr id="22531" name="Rectangle 3"/>
          <p:cNvSpPr>
            <a:spLocks noChangeArrowheads="1"/>
          </p:cNvSpPr>
          <p:nvPr/>
        </p:nvSpPr>
        <p:spPr bwMode="auto">
          <a:xfrm>
            <a:off x="762000" y="292100"/>
            <a:ext cx="1403350" cy="336550"/>
          </a:xfrm>
          <a:prstGeom prst="rect">
            <a:avLst/>
          </a:prstGeom>
          <a:noFill/>
          <a:ln w="9525">
            <a:noFill/>
            <a:miter lim="800000"/>
            <a:headEnd/>
            <a:tailEnd/>
          </a:ln>
        </p:spPr>
        <p:txBody>
          <a:bodyPr wrap="none" anchor="ctr">
            <a:spAutoFit/>
          </a:bodyPr>
          <a:lstStyle/>
          <a:p>
            <a:pPr algn="justLow">
              <a:tabLst>
                <a:tab pos="1323975" algn="l"/>
              </a:tabLst>
            </a:pPr>
            <a:r>
              <a:rPr lang="en-US" sz="1600">
                <a:solidFill>
                  <a:srgbClr val="000000"/>
                </a:solidFill>
                <a:cs typeface="Times New Roman" pitchFamily="18" charset="0"/>
              </a:rPr>
              <a:t>OLAP cube</a:t>
            </a:r>
            <a:endParaRPr lang="en-US"/>
          </a:p>
        </p:txBody>
      </p:sp>
      <p:pic>
        <p:nvPicPr>
          <p:cNvPr id="66564" name="Picture 4"/>
          <p:cNvPicPr>
            <a:picLocks noChangeAspect="1" noChangeArrowheads="1"/>
          </p:cNvPicPr>
          <p:nvPr/>
        </p:nvPicPr>
        <p:blipFill>
          <a:blip r:embed="rId3" cstate="print"/>
          <a:srcRect/>
          <a:stretch>
            <a:fillRect/>
          </a:stretch>
        </p:blipFill>
        <p:spPr bwMode="auto">
          <a:xfrm>
            <a:off x="685800" y="655638"/>
            <a:ext cx="7696200" cy="2316162"/>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66564"/>
                                        </p:tgtEl>
                                        <p:attrNameLst>
                                          <p:attrName>style.visibility</p:attrName>
                                        </p:attrNameLst>
                                      </p:cBhvr>
                                      <p:to>
                                        <p:strVal val="visible"/>
                                      </p:to>
                                    </p:set>
                                    <p:animEffect transition="in" filter="strips(downRight)">
                                      <p:cBhvr>
                                        <p:cTn id="7" dur="1000"/>
                                        <p:tgtEl>
                                          <p:spTgt spid="6656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66562"/>
                                        </p:tgtEl>
                                        <p:attrNameLst>
                                          <p:attrName>style.visibility</p:attrName>
                                        </p:attrNameLst>
                                      </p:cBhvr>
                                      <p:to>
                                        <p:strVal val="visible"/>
                                      </p:to>
                                    </p:set>
                                    <p:animEffect transition="in" filter="strips(downRight)">
                                      <p:cBhvr>
                                        <p:cTn id="12" dur="1000"/>
                                        <p:tgtEl>
                                          <p:spTgt spid="665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7" name="Picture 5"/>
          <p:cNvPicPr>
            <a:picLocks noChangeAspect="1" noChangeArrowheads="1"/>
          </p:cNvPicPr>
          <p:nvPr/>
        </p:nvPicPr>
        <p:blipFill>
          <a:blip r:embed="rId2" cstate="print"/>
          <a:srcRect/>
          <a:stretch>
            <a:fillRect/>
          </a:stretch>
        </p:blipFill>
        <p:spPr bwMode="auto">
          <a:xfrm>
            <a:off x="1219200" y="1295400"/>
            <a:ext cx="7315200" cy="1905000"/>
          </a:xfrm>
          <a:prstGeom prst="rect">
            <a:avLst/>
          </a:prstGeom>
          <a:noFill/>
          <a:ln w="9525">
            <a:noFill/>
            <a:miter lim="800000"/>
            <a:headEnd/>
            <a:tailEnd/>
          </a:ln>
        </p:spPr>
      </p:pic>
      <p:pic>
        <p:nvPicPr>
          <p:cNvPr id="38916" name="Picture 4"/>
          <p:cNvPicPr>
            <a:picLocks noChangeAspect="1" noChangeArrowheads="1"/>
          </p:cNvPicPr>
          <p:nvPr/>
        </p:nvPicPr>
        <p:blipFill>
          <a:blip r:embed="rId3" cstate="print"/>
          <a:srcRect/>
          <a:stretch>
            <a:fillRect/>
          </a:stretch>
        </p:blipFill>
        <p:spPr bwMode="auto">
          <a:xfrm>
            <a:off x="1371600" y="3841750"/>
            <a:ext cx="7086600" cy="2254250"/>
          </a:xfrm>
          <a:prstGeom prst="rect">
            <a:avLst/>
          </a:prstGeom>
          <a:noFill/>
          <a:ln w="9525">
            <a:noFill/>
            <a:miter lim="800000"/>
            <a:headEnd/>
            <a:tailEnd/>
          </a:ln>
        </p:spPr>
      </p:pic>
      <p:sp>
        <p:nvSpPr>
          <p:cNvPr id="23556" name="Rectangle 6"/>
          <p:cNvSpPr>
            <a:spLocks noChangeArrowheads="1"/>
          </p:cNvSpPr>
          <p:nvPr/>
        </p:nvSpPr>
        <p:spPr bwMode="auto">
          <a:xfrm>
            <a:off x="1509713" y="563563"/>
            <a:ext cx="1795462" cy="701675"/>
          </a:xfrm>
          <a:prstGeom prst="rect">
            <a:avLst/>
          </a:prstGeom>
          <a:noFill/>
          <a:ln w="9525">
            <a:noFill/>
            <a:miter lim="800000"/>
            <a:headEnd/>
            <a:tailEnd/>
          </a:ln>
        </p:spPr>
        <p:txBody>
          <a:bodyPr wrap="none" anchor="ctr">
            <a:spAutoFit/>
          </a:bodyPr>
          <a:lstStyle/>
          <a:p>
            <a:r>
              <a:rPr lang="en-US" sz="2000">
                <a:solidFill>
                  <a:srgbClr val="000066"/>
                </a:solidFill>
                <a:cs typeface="Times New Roman" pitchFamily="18" charset="0"/>
              </a:rPr>
              <a:t>Cube levels</a:t>
            </a:r>
          </a:p>
          <a:p>
            <a:pPr eaLnBrk="0" hangingPunct="0"/>
            <a:endParaRPr lang="en-US" sz="2000">
              <a:solidFill>
                <a:srgbClr val="000066"/>
              </a:solidFill>
            </a:endParaRPr>
          </a:p>
        </p:txBody>
      </p:sp>
      <p:sp>
        <p:nvSpPr>
          <p:cNvPr id="38919" name="Rectangle 7"/>
          <p:cNvSpPr>
            <a:spLocks noChangeArrowheads="1"/>
          </p:cNvSpPr>
          <p:nvPr/>
        </p:nvSpPr>
        <p:spPr bwMode="auto">
          <a:xfrm>
            <a:off x="1509713" y="3414713"/>
            <a:ext cx="2051050" cy="366712"/>
          </a:xfrm>
          <a:prstGeom prst="rect">
            <a:avLst/>
          </a:prstGeom>
          <a:noFill/>
          <a:ln w="9525">
            <a:noFill/>
            <a:miter lim="800000"/>
            <a:headEnd/>
            <a:tailEnd/>
          </a:ln>
        </p:spPr>
        <p:txBody>
          <a:bodyPr wrap="none" anchor="ctr">
            <a:spAutoFit/>
          </a:bodyPr>
          <a:lstStyle/>
          <a:p>
            <a:pPr algn="justLow"/>
            <a:r>
              <a:rPr lang="en-US">
                <a:solidFill>
                  <a:srgbClr val="000066"/>
                </a:solidFill>
                <a:cs typeface="Times New Roman" pitchFamily="18" charset="0"/>
              </a:rPr>
              <a:t>Cube members</a:t>
            </a:r>
            <a:endParaRPr lang="en-US">
              <a:solidFill>
                <a:srgbClr val="000066"/>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38917"/>
                                        </p:tgtEl>
                                        <p:attrNameLst>
                                          <p:attrName>style.visibility</p:attrName>
                                        </p:attrNameLst>
                                      </p:cBhvr>
                                      <p:to>
                                        <p:strVal val="visible"/>
                                      </p:to>
                                    </p:set>
                                    <p:animEffect transition="in" filter="strips(downRight)">
                                      <p:cBhvr>
                                        <p:cTn id="7" dur="500"/>
                                        <p:tgtEl>
                                          <p:spTgt spid="3891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38919"/>
                                        </p:tgtEl>
                                        <p:attrNameLst>
                                          <p:attrName>style.visibility</p:attrName>
                                        </p:attrNameLst>
                                      </p:cBhvr>
                                      <p:to>
                                        <p:strVal val="visible"/>
                                      </p:to>
                                    </p:set>
                                    <p:animEffect transition="in" filter="strips(downRight)">
                                      <p:cBhvr>
                                        <p:cTn id="12" dur="500"/>
                                        <p:tgtEl>
                                          <p:spTgt spid="38919"/>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38916"/>
                                        </p:tgtEl>
                                        <p:attrNameLst>
                                          <p:attrName>style.visibility</p:attrName>
                                        </p:attrNameLst>
                                      </p:cBhvr>
                                      <p:to>
                                        <p:strVal val="visible"/>
                                      </p:to>
                                    </p:set>
                                    <p:animEffect transition="in" filter="strips(downRight)">
                                      <p:cBhvr>
                                        <p:cTn id="17" dur="500"/>
                                        <p:tgtEl>
                                          <p:spTgt spid="389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4"/>
          <p:cNvPicPr>
            <a:picLocks noChangeAspect="1" noChangeArrowheads="1"/>
          </p:cNvPicPr>
          <p:nvPr/>
        </p:nvPicPr>
        <p:blipFill>
          <a:blip r:embed="rId2" cstate="print"/>
          <a:srcRect/>
          <a:stretch>
            <a:fillRect/>
          </a:stretch>
        </p:blipFill>
        <p:spPr bwMode="auto">
          <a:xfrm>
            <a:off x="1219200" y="1066800"/>
            <a:ext cx="7086600" cy="1371600"/>
          </a:xfrm>
          <a:prstGeom prst="rect">
            <a:avLst/>
          </a:prstGeom>
          <a:noFill/>
          <a:ln w="9525">
            <a:noFill/>
            <a:miter lim="800000"/>
            <a:headEnd/>
            <a:tailEnd/>
          </a:ln>
        </p:spPr>
      </p:pic>
      <p:sp>
        <p:nvSpPr>
          <p:cNvPr id="24579" name="Text Box 5"/>
          <p:cNvSpPr txBox="1">
            <a:spLocks noChangeArrowheads="1"/>
          </p:cNvSpPr>
          <p:nvPr/>
        </p:nvSpPr>
        <p:spPr bwMode="auto">
          <a:xfrm>
            <a:off x="1143000" y="457200"/>
            <a:ext cx="1752600" cy="366713"/>
          </a:xfrm>
          <a:prstGeom prst="rect">
            <a:avLst/>
          </a:prstGeom>
          <a:noFill/>
          <a:ln w="9525">
            <a:noFill/>
            <a:miter lim="800000"/>
            <a:headEnd/>
            <a:tailEnd/>
          </a:ln>
        </p:spPr>
        <p:txBody>
          <a:bodyPr>
            <a:spAutoFit/>
          </a:bodyPr>
          <a:lstStyle/>
          <a:p>
            <a:pPr>
              <a:spcBef>
                <a:spcPct val="50000"/>
              </a:spcBef>
            </a:pPr>
            <a:r>
              <a:rPr lang="en-US">
                <a:solidFill>
                  <a:srgbClr val="000066"/>
                </a:solidFill>
                <a:latin typeface="Arial" pitchFamily="34" charset="0"/>
              </a:rPr>
              <a:t>Measure</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4"/>
          <p:cNvPicPr>
            <a:picLocks noChangeAspect="1" noChangeArrowheads="1"/>
          </p:cNvPicPr>
          <p:nvPr/>
        </p:nvPicPr>
        <p:blipFill>
          <a:blip r:embed="rId2" cstate="print"/>
          <a:srcRect/>
          <a:stretch>
            <a:fillRect/>
          </a:stretch>
        </p:blipFill>
        <p:spPr bwMode="auto">
          <a:xfrm>
            <a:off x="1647825" y="904875"/>
            <a:ext cx="6124575" cy="4124325"/>
          </a:xfrm>
          <a:prstGeom prst="rect">
            <a:avLst/>
          </a:prstGeom>
          <a:noFill/>
          <a:ln w="9525">
            <a:noFill/>
            <a:miter lim="800000"/>
            <a:headEnd/>
            <a:tailEnd/>
          </a:ln>
        </p:spPr>
      </p:pic>
      <p:sp>
        <p:nvSpPr>
          <p:cNvPr id="25603" name="TextBox 2"/>
          <p:cNvSpPr txBox="1">
            <a:spLocks noChangeArrowheads="1"/>
          </p:cNvSpPr>
          <p:nvPr/>
        </p:nvSpPr>
        <p:spPr bwMode="auto">
          <a:xfrm>
            <a:off x="3581400" y="304800"/>
            <a:ext cx="2362200" cy="369888"/>
          </a:xfrm>
          <a:prstGeom prst="rect">
            <a:avLst/>
          </a:prstGeom>
          <a:noFill/>
          <a:ln w="9525">
            <a:noFill/>
            <a:miter lim="800000"/>
            <a:headEnd/>
            <a:tailEnd/>
          </a:ln>
        </p:spPr>
        <p:txBody>
          <a:bodyPr>
            <a:spAutoFit/>
          </a:bodyPr>
          <a:lstStyle/>
          <a:p>
            <a:r>
              <a:rPr lang="en-US"/>
              <a:t>Modeling</a:t>
            </a:r>
            <a:endParaRPr lang="ar-SA"/>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4"/>
          <p:cNvSpPr>
            <a:spLocks noChangeArrowheads="1"/>
          </p:cNvSpPr>
          <p:nvPr/>
        </p:nvSpPr>
        <p:spPr bwMode="auto">
          <a:xfrm>
            <a:off x="3362325" y="381000"/>
            <a:ext cx="2609850" cy="366713"/>
          </a:xfrm>
          <a:prstGeom prst="rect">
            <a:avLst/>
          </a:prstGeom>
          <a:noFill/>
          <a:ln w="9525">
            <a:noFill/>
            <a:miter lim="800000"/>
            <a:headEnd/>
            <a:tailEnd/>
          </a:ln>
        </p:spPr>
        <p:txBody>
          <a:bodyPr wrap="none" anchor="ctr">
            <a:spAutoFit/>
          </a:bodyPr>
          <a:lstStyle/>
          <a:p>
            <a:pPr algn="justLow"/>
            <a:r>
              <a:rPr lang="en-US">
                <a:solidFill>
                  <a:srgbClr val="000066"/>
                </a:solidFill>
                <a:latin typeface="Arial" pitchFamily="34" charset="0"/>
              </a:rPr>
              <a:t>Modeling components</a:t>
            </a:r>
          </a:p>
        </p:txBody>
      </p:sp>
      <p:pic>
        <p:nvPicPr>
          <p:cNvPr id="26627" name="Picture 5"/>
          <p:cNvPicPr>
            <a:picLocks noChangeAspect="1" noChangeArrowheads="1"/>
          </p:cNvPicPr>
          <p:nvPr/>
        </p:nvPicPr>
        <p:blipFill>
          <a:blip r:embed="rId2" cstate="print"/>
          <a:srcRect/>
          <a:stretch>
            <a:fillRect/>
          </a:stretch>
        </p:blipFill>
        <p:spPr bwMode="auto">
          <a:xfrm>
            <a:off x="838200" y="1295400"/>
            <a:ext cx="8020050" cy="36972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p:cNvSpPr>
            <a:spLocks noChangeArrowheads="1"/>
          </p:cNvSpPr>
          <p:nvPr/>
        </p:nvSpPr>
        <p:spPr bwMode="auto">
          <a:xfrm>
            <a:off x="3432175" y="152400"/>
            <a:ext cx="2457450" cy="366713"/>
          </a:xfrm>
          <a:prstGeom prst="rect">
            <a:avLst/>
          </a:prstGeom>
          <a:noFill/>
          <a:ln w="9525">
            <a:noFill/>
            <a:miter lim="800000"/>
            <a:headEnd/>
            <a:tailEnd/>
          </a:ln>
        </p:spPr>
        <p:txBody>
          <a:bodyPr wrap="none" anchor="ctr">
            <a:spAutoFit/>
          </a:bodyPr>
          <a:lstStyle/>
          <a:p>
            <a:pPr algn="justLow"/>
            <a:r>
              <a:rPr lang="en-US">
                <a:latin typeface="Arial" pitchFamily="34" charset="0"/>
              </a:rPr>
              <a:t>Modeling techniques</a:t>
            </a:r>
          </a:p>
        </p:txBody>
      </p:sp>
      <p:pic>
        <p:nvPicPr>
          <p:cNvPr id="43013" name="Picture 5"/>
          <p:cNvPicPr>
            <a:picLocks noChangeAspect="1" noChangeArrowheads="1"/>
          </p:cNvPicPr>
          <p:nvPr/>
        </p:nvPicPr>
        <p:blipFill>
          <a:blip r:embed="rId2" cstate="print"/>
          <a:srcRect/>
          <a:stretch>
            <a:fillRect/>
          </a:stretch>
        </p:blipFill>
        <p:spPr bwMode="auto">
          <a:xfrm>
            <a:off x="1038225" y="736600"/>
            <a:ext cx="7496175" cy="5969000"/>
          </a:xfrm>
          <a:prstGeom prst="rect">
            <a:avLst/>
          </a:prstGeom>
          <a:noFill/>
          <a:ln w="9525">
            <a:noFill/>
            <a:miter lim="800000"/>
            <a:headEnd/>
            <a:tailEnd/>
          </a:ln>
        </p:spPr>
      </p:pic>
      <p:sp>
        <p:nvSpPr>
          <p:cNvPr id="43015" name="Rectangle 7"/>
          <p:cNvSpPr>
            <a:spLocks noChangeArrowheads="1"/>
          </p:cNvSpPr>
          <p:nvPr/>
        </p:nvSpPr>
        <p:spPr bwMode="auto">
          <a:xfrm>
            <a:off x="1146175" y="360363"/>
            <a:ext cx="1558925" cy="581025"/>
          </a:xfrm>
          <a:prstGeom prst="rect">
            <a:avLst/>
          </a:prstGeom>
          <a:noFill/>
          <a:ln w="9525">
            <a:noFill/>
            <a:miter lim="800000"/>
            <a:headEnd/>
            <a:tailEnd/>
          </a:ln>
        </p:spPr>
        <p:txBody>
          <a:bodyPr wrap="none" anchor="ctr">
            <a:spAutoFit/>
          </a:bodyPr>
          <a:lstStyle/>
          <a:p>
            <a:r>
              <a:rPr lang="en-US" sz="1600">
                <a:solidFill>
                  <a:srgbClr val="000066"/>
                </a:solidFill>
                <a:cs typeface="Times New Roman" pitchFamily="18" charset="0"/>
              </a:rPr>
              <a:t>star schema</a:t>
            </a:r>
          </a:p>
          <a:p>
            <a:pPr eaLnBrk="0" hangingPunct="0"/>
            <a:endParaRPr lang="en-US" sz="1600">
              <a:solidFill>
                <a:srgbClr val="000066"/>
              </a:solidFill>
            </a:endParaRPr>
          </a:p>
        </p:txBody>
      </p:sp>
      <p:sp>
        <p:nvSpPr>
          <p:cNvPr id="27653" name="Rectangle 9"/>
          <p:cNvSpPr>
            <a:spLocks noChangeArrowheads="1"/>
          </p:cNvSpPr>
          <p:nvPr/>
        </p:nvSpPr>
        <p:spPr bwMode="auto">
          <a:xfrm>
            <a:off x="0" y="6510338"/>
            <a:ext cx="9144000" cy="0"/>
          </a:xfrm>
          <a:prstGeom prst="rect">
            <a:avLst/>
          </a:prstGeom>
          <a:noFill/>
          <a:ln w="9525">
            <a:noFill/>
            <a:miter lim="800000"/>
            <a:headEnd/>
            <a:tailEnd/>
          </a:ln>
        </p:spPr>
        <p:txBody>
          <a:bodyPr wrap="none" anchor="ctr">
            <a:spAutoFit/>
          </a:bodyPr>
          <a:lstStyle/>
          <a:p>
            <a:endParaRPr lang="ar-SA" b="0">
              <a:latin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3015"/>
                                        </p:tgtEl>
                                        <p:attrNameLst>
                                          <p:attrName>style.visibility</p:attrName>
                                        </p:attrNameLst>
                                      </p:cBhvr>
                                      <p:to>
                                        <p:strVal val="visible"/>
                                      </p:to>
                                    </p:set>
                                    <p:animEffect transition="in" filter="strips(downRight)">
                                      <p:cBhvr>
                                        <p:cTn id="7" dur="500"/>
                                        <p:tgtEl>
                                          <p:spTgt spid="4301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43013"/>
                                        </p:tgtEl>
                                        <p:attrNameLst>
                                          <p:attrName>style.visibility</p:attrName>
                                        </p:attrNameLst>
                                      </p:cBhvr>
                                      <p:to>
                                        <p:strVal val="visible"/>
                                      </p:to>
                                    </p:set>
                                    <p:animEffect transition="in" filter="strips(downRight)">
                                      <p:cBhvr>
                                        <p:cTn id="12" dur="500"/>
                                        <p:tgtEl>
                                          <p:spTgt spid="430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p:cNvSpPr>
            <a:spLocks noGrp="1" noChangeArrowheads="1"/>
          </p:cNvSpPr>
          <p:nvPr>
            <p:ph type="title"/>
          </p:nvPr>
        </p:nvSpPr>
        <p:spPr/>
        <p:txBody>
          <a:bodyPr/>
          <a:lstStyle/>
          <a:p>
            <a:pPr>
              <a:defRPr/>
            </a:pPr>
            <a:r>
              <a:rPr lang="en-US">
                <a:ea typeface="+mj-ea"/>
              </a:rPr>
              <a:t>Data Warehouse Schema</a:t>
            </a:r>
          </a:p>
        </p:txBody>
      </p:sp>
      <p:pic>
        <p:nvPicPr>
          <p:cNvPr id="33795" name="Picture 5"/>
          <p:cNvPicPr>
            <a:picLocks noChangeAspect="1" noChangeArrowheads="1"/>
          </p:cNvPicPr>
          <p:nvPr/>
        </p:nvPicPr>
        <p:blipFill>
          <a:blip r:embed="rId3" cstate="print"/>
          <a:srcRect/>
          <a:stretch>
            <a:fillRect/>
          </a:stretch>
        </p:blipFill>
        <p:spPr bwMode="auto">
          <a:xfrm>
            <a:off x="771525" y="1371600"/>
            <a:ext cx="7372920" cy="44592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7" name="Rectangle 5"/>
          <p:cNvSpPr>
            <a:spLocks noChangeArrowheads="1"/>
          </p:cNvSpPr>
          <p:nvPr/>
        </p:nvSpPr>
        <p:spPr bwMode="auto">
          <a:xfrm>
            <a:off x="990600" y="1201738"/>
            <a:ext cx="5180013" cy="641350"/>
          </a:xfrm>
          <a:prstGeom prst="rect">
            <a:avLst/>
          </a:prstGeom>
          <a:noFill/>
          <a:ln w="9525">
            <a:noFill/>
            <a:miter lim="800000"/>
            <a:headEnd/>
            <a:tailEnd/>
          </a:ln>
        </p:spPr>
        <p:txBody>
          <a:bodyPr anchor="ctr">
            <a:spAutoFit/>
          </a:bodyPr>
          <a:lstStyle/>
          <a:p>
            <a:pPr algn="justLow"/>
            <a:endParaRPr lang="en-US">
              <a:solidFill>
                <a:srgbClr val="000000"/>
              </a:solidFill>
              <a:latin typeface="Arial" pitchFamily="34" charset="0"/>
              <a:cs typeface="Times New Roman" pitchFamily="18" charset="0"/>
            </a:endParaRPr>
          </a:p>
          <a:p>
            <a:pPr algn="justLow" eaLnBrk="0" hangingPunct="0"/>
            <a:r>
              <a:rPr lang="en-US">
                <a:solidFill>
                  <a:srgbClr val="000000"/>
                </a:solidFill>
                <a:latin typeface="Arial" pitchFamily="34" charset="0"/>
                <a:cs typeface="Times New Roman" pitchFamily="18" charset="0"/>
              </a:rPr>
              <a:t>a. Fact table</a:t>
            </a:r>
            <a:endParaRPr lang="en-US">
              <a:latin typeface="Arial" pitchFamily="34" charset="0"/>
            </a:endParaRPr>
          </a:p>
        </p:txBody>
      </p:sp>
      <p:pic>
        <p:nvPicPr>
          <p:cNvPr id="44036" name="Picture 4"/>
          <p:cNvPicPr>
            <a:picLocks noChangeAspect="1" noChangeArrowheads="1"/>
          </p:cNvPicPr>
          <p:nvPr/>
        </p:nvPicPr>
        <p:blipFill>
          <a:blip r:embed="rId2" cstate="print"/>
          <a:srcRect/>
          <a:stretch>
            <a:fillRect/>
          </a:stretch>
        </p:blipFill>
        <p:spPr bwMode="auto">
          <a:xfrm>
            <a:off x="1143000" y="2227263"/>
            <a:ext cx="7500938" cy="4173537"/>
          </a:xfrm>
          <a:prstGeom prst="rect">
            <a:avLst/>
          </a:prstGeom>
          <a:noFill/>
          <a:ln w="9525">
            <a:noFill/>
            <a:miter lim="800000"/>
            <a:headEnd/>
            <a:tailEnd/>
          </a:ln>
        </p:spPr>
      </p:pic>
      <p:sp>
        <p:nvSpPr>
          <p:cNvPr id="28676" name="Rectangle 6"/>
          <p:cNvSpPr>
            <a:spLocks noChangeArrowheads="1"/>
          </p:cNvSpPr>
          <p:nvPr/>
        </p:nvSpPr>
        <p:spPr bwMode="auto">
          <a:xfrm>
            <a:off x="996950" y="609600"/>
            <a:ext cx="3130550" cy="366713"/>
          </a:xfrm>
          <a:prstGeom prst="rect">
            <a:avLst/>
          </a:prstGeom>
          <a:noFill/>
          <a:ln w="9525">
            <a:noFill/>
            <a:miter lim="800000"/>
            <a:headEnd/>
            <a:tailEnd/>
          </a:ln>
        </p:spPr>
        <p:txBody>
          <a:bodyPr wrap="none">
            <a:spAutoFit/>
          </a:bodyPr>
          <a:lstStyle/>
          <a:p>
            <a:r>
              <a:rPr lang="en-US">
                <a:solidFill>
                  <a:srgbClr val="000000"/>
                </a:solidFill>
                <a:latin typeface="Arial" pitchFamily="34" charset="0"/>
              </a:rPr>
              <a:t>Component of star schema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4037"/>
                                        </p:tgtEl>
                                        <p:attrNameLst>
                                          <p:attrName>style.visibility</p:attrName>
                                        </p:attrNameLst>
                                      </p:cBhvr>
                                      <p:to>
                                        <p:strVal val="visible"/>
                                      </p:to>
                                    </p:set>
                                    <p:animEffect transition="in" filter="strips(downRight)">
                                      <p:cBhvr>
                                        <p:cTn id="7" dur="500"/>
                                        <p:tgtEl>
                                          <p:spTgt spid="4403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44036"/>
                                        </p:tgtEl>
                                        <p:attrNameLst>
                                          <p:attrName>style.visibility</p:attrName>
                                        </p:attrNameLst>
                                      </p:cBhvr>
                                      <p:to>
                                        <p:strVal val="visible"/>
                                      </p:to>
                                    </p:set>
                                    <p:animEffect transition="in" filter="strips(downRight)">
                                      <p:cBhvr>
                                        <p:cTn id="12" dur="500"/>
                                        <p:tgtEl>
                                          <p:spTgt spid="440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4"/>
          <p:cNvSpPr>
            <a:spLocks noChangeArrowheads="1"/>
          </p:cNvSpPr>
          <p:nvPr/>
        </p:nvSpPr>
        <p:spPr bwMode="auto">
          <a:xfrm>
            <a:off x="990600" y="1201738"/>
            <a:ext cx="5180013" cy="641350"/>
          </a:xfrm>
          <a:prstGeom prst="rect">
            <a:avLst/>
          </a:prstGeom>
          <a:noFill/>
          <a:ln w="9525">
            <a:noFill/>
            <a:miter lim="800000"/>
            <a:headEnd/>
            <a:tailEnd/>
          </a:ln>
        </p:spPr>
        <p:txBody>
          <a:bodyPr anchor="ctr">
            <a:spAutoFit/>
          </a:bodyPr>
          <a:lstStyle/>
          <a:p>
            <a:pPr algn="justLow"/>
            <a:endParaRPr lang="en-US">
              <a:solidFill>
                <a:srgbClr val="000000"/>
              </a:solidFill>
              <a:latin typeface="Arial" pitchFamily="34" charset="0"/>
              <a:cs typeface="Times New Roman" pitchFamily="18" charset="0"/>
            </a:endParaRPr>
          </a:p>
          <a:p>
            <a:pPr algn="justLow" eaLnBrk="0" hangingPunct="0"/>
            <a:r>
              <a:rPr lang="en-US">
                <a:latin typeface="Arial" pitchFamily="34" charset="0"/>
              </a:rPr>
              <a:t>b. Dimensions table</a:t>
            </a:r>
            <a:r>
              <a:rPr lang="en-US" b="0">
                <a:latin typeface="Arial" pitchFamily="34" charset="0"/>
              </a:rPr>
              <a:t> </a:t>
            </a:r>
          </a:p>
        </p:txBody>
      </p:sp>
      <p:pic>
        <p:nvPicPr>
          <p:cNvPr id="45061" name="Picture 5"/>
          <p:cNvPicPr>
            <a:picLocks noChangeAspect="1" noChangeArrowheads="1"/>
          </p:cNvPicPr>
          <p:nvPr/>
        </p:nvPicPr>
        <p:blipFill>
          <a:blip r:embed="rId2" cstate="print"/>
          <a:srcRect/>
          <a:stretch>
            <a:fillRect/>
          </a:stretch>
        </p:blipFill>
        <p:spPr bwMode="auto">
          <a:xfrm>
            <a:off x="685800" y="2432050"/>
            <a:ext cx="7772400" cy="2368550"/>
          </a:xfrm>
          <a:prstGeom prst="rect">
            <a:avLst/>
          </a:prstGeom>
          <a:noFill/>
          <a:ln w="9525">
            <a:noFill/>
            <a:miter lim="800000"/>
            <a:headEnd/>
            <a:tailEnd/>
          </a:ln>
        </p:spPr>
      </p:pic>
      <p:sp>
        <p:nvSpPr>
          <p:cNvPr id="29700" name="Rectangle 8"/>
          <p:cNvSpPr>
            <a:spLocks noChangeArrowheads="1"/>
          </p:cNvSpPr>
          <p:nvPr/>
        </p:nvSpPr>
        <p:spPr bwMode="auto">
          <a:xfrm>
            <a:off x="996950" y="609600"/>
            <a:ext cx="3130550" cy="366713"/>
          </a:xfrm>
          <a:prstGeom prst="rect">
            <a:avLst/>
          </a:prstGeom>
          <a:noFill/>
          <a:ln w="9525">
            <a:noFill/>
            <a:miter lim="800000"/>
            <a:headEnd/>
            <a:tailEnd/>
          </a:ln>
        </p:spPr>
        <p:txBody>
          <a:bodyPr wrap="none">
            <a:spAutoFit/>
          </a:bodyPr>
          <a:lstStyle/>
          <a:p>
            <a:r>
              <a:rPr lang="en-US">
                <a:solidFill>
                  <a:srgbClr val="000000"/>
                </a:solidFill>
                <a:latin typeface="Arial" pitchFamily="34" charset="0"/>
              </a:rPr>
              <a:t>Component of star schema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5060"/>
                                        </p:tgtEl>
                                        <p:attrNameLst>
                                          <p:attrName>style.visibility</p:attrName>
                                        </p:attrNameLst>
                                      </p:cBhvr>
                                      <p:to>
                                        <p:strVal val="visible"/>
                                      </p:to>
                                    </p:set>
                                    <p:animEffect transition="in" filter="strips(downRight)">
                                      <p:cBhvr>
                                        <p:cTn id="7" dur="500"/>
                                        <p:tgtEl>
                                          <p:spTgt spid="45060"/>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45061"/>
                                        </p:tgtEl>
                                        <p:attrNameLst>
                                          <p:attrName>style.visibility</p:attrName>
                                        </p:attrNameLst>
                                      </p:cBhvr>
                                      <p:to>
                                        <p:strVal val="visible"/>
                                      </p:to>
                                    </p:set>
                                    <p:animEffect transition="in" filter="strips(downRight)">
                                      <p:cBhvr>
                                        <p:cTn id="12" dur="500"/>
                                        <p:tgtEl>
                                          <p:spTgt spid="450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4"/>
          <p:cNvSpPr txBox="1">
            <a:spLocks noChangeArrowheads="1"/>
          </p:cNvSpPr>
          <p:nvPr/>
        </p:nvSpPr>
        <p:spPr bwMode="auto">
          <a:xfrm>
            <a:off x="2286000" y="838200"/>
            <a:ext cx="3200400" cy="366713"/>
          </a:xfrm>
          <a:prstGeom prst="rect">
            <a:avLst/>
          </a:prstGeom>
          <a:noFill/>
          <a:ln w="9525">
            <a:noFill/>
            <a:miter lim="800000"/>
            <a:headEnd/>
            <a:tailEnd/>
          </a:ln>
        </p:spPr>
        <p:txBody>
          <a:bodyPr>
            <a:spAutoFit/>
          </a:bodyPr>
          <a:lstStyle/>
          <a:p>
            <a:pPr>
              <a:spcBef>
                <a:spcPct val="50000"/>
              </a:spcBef>
            </a:pPr>
            <a:r>
              <a:rPr lang="en-US">
                <a:latin typeface="Arial" pitchFamily="34" charset="0"/>
              </a:rPr>
              <a:t>Conventional Dimensions</a:t>
            </a:r>
          </a:p>
        </p:txBody>
      </p:sp>
      <p:pic>
        <p:nvPicPr>
          <p:cNvPr id="30723" name="Picture 5"/>
          <p:cNvPicPr>
            <a:picLocks noChangeAspect="1" noChangeArrowheads="1"/>
          </p:cNvPicPr>
          <p:nvPr/>
        </p:nvPicPr>
        <p:blipFill>
          <a:blip r:embed="rId2" cstate="print"/>
          <a:srcRect/>
          <a:stretch>
            <a:fillRect/>
          </a:stretch>
        </p:blipFill>
        <p:spPr bwMode="auto">
          <a:xfrm>
            <a:off x="381000" y="1827213"/>
            <a:ext cx="8382000" cy="42687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4"/>
          <p:cNvPicPr>
            <a:picLocks noChangeAspect="1" noChangeArrowheads="1"/>
          </p:cNvPicPr>
          <p:nvPr/>
        </p:nvPicPr>
        <p:blipFill>
          <a:blip r:embed="rId2" cstate="print"/>
          <a:srcRect/>
          <a:stretch>
            <a:fillRect/>
          </a:stretch>
        </p:blipFill>
        <p:spPr bwMode="auto">
          <a:xfrm>
            <a:off x="457200" y="1066800"/>
            <a:ext cx="8382000" cy="5565775"/>
          </a:xfrm>
          <a:prstGeom prst="rect">
            <a:avLst/>
          </a:prstGeom>
          <a:noFill/>
          <a:ln w="9525">
            <a:noFill/>
            <a:miter lim="800000"/>
            <a:headEnd/>
            <a:tailEnd/>
          </a:ln>
        </p:spPr>
      </p:pic>
      <p:sp>
        <p:nvSpPr>
          <p:cNvPr id="31747" name="Text Box 5"/>
          <p:cNvSpPr txBox="1">
            <a:spLocks noChangeArrowheads="1"/>
          </p:cNvSpPr>
          <p:nvPr/>
        </p:nvSpPr>
        <p:spPr bwMode="auto">
          <a:xfrm>
            <a:off x="457200" y="609600"/>
            <a:ext cx="3200400" cy="366713"/>
          </a:xfrm>
          <a:prstGeom prst="rect">
            <a:avLst/>
          </a:prstGeom>
          <a:noFill/>
          <a:ln w="9525">
            <a:noFill/>
            <a:miter lim="800000"/>
            <a:headEnd/>
            <a:tailEnd/>
          </a:ln>
        </p:spPr>
        <p:txBody>
          <a:bodyPr>
            <a:spAutoFit/>
          </a:bodyPr>
          <a:lstStyle/>
          <a:p>
            <a:pPr>
              <a:spcBef>
                <a:spcPct val="50000"/>
              </a:spcBef>
            </a:pPr>
            <a:r>
              <a:rPr lang="en-US">
                <a:latin typeface="Arial" pitchFamily="34" charset="0"/>
              </a:rPr>
              <a:t>Conventional Dimensions</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5"/>
          <p:cNvSpPr>
            <a:spLocks noChangeArrowheads="1"/>
          </p:cNvSpPr>
          <p:nvPr/>
        </p:nvSpPr>
        <p:spPr bwMode="auto">
          <a:xfrm>
            <a:off x="3541713" y="320675"/>
            <a:ext cx="2422525" cy="457200"/>
          </a:xfrm>
          <a:prstGeom prst="rect">
            <a:avLst/>
          </a:prstGeom>
          <a:noFill/>
          <a:ln w="9525">
            <a:noFill/>
            <a:miter lim="800000"/>
            <a:headEnd/>
            <a:tailEnd/>
          </a:ln>
        </p:spPr>
        <p:txBody>
          <a:bodyPr wrap="none" anchor="ctr">
            <a:spAutoFit/>
          </a:bodyPr>
          <a:lstStyle/>
          <a:p>
            <a:pPr algn="justLow"/>
            <a:r>
              <a:rPr lang="en-US" sz="2400">
                <a:solidFill>
                  <a:srgbClr val="000000"/>
                </a:solidFill>
                <a:latin typeface="Arial" pitchFamily="34" charset="0"/>
                <a:cs typeface="Times New Roman" pitchFamily="18" charset="0"/>
              </a:rPr>
              <a:t>Current system</a:t>
            </a:r>
            <a:endParaRPr lang="en-US" sz="2400">
              <a:latin typeface="Arial" pitchFamily="34" charset="0"/>
            </a:endParaRPr>
          </a:p>
        </p:txBody>
      </p:sp>
      <p:pic>
        <p:nvPicPr>
          <p:cNvPr id="32771" name="Picture 4"/>
          <p:cNvPicPr>
            <a:picLocks noChangeAspect="1" noChangeArrowheads="1"/>
          </p:cNvPicPr>
          <p:nvPr/>
        </p:nvPicPr>
        <p:blipFill>
          <a:blip r:embed="rId2" cstate="print"/>
          <a:srcRect/>
          <a:stretch>
            <a:fillRect/>
          </a:stretch>
        </p:blipFill>
        <p:spPr bwMode="auto">
          <a:xfrm>
            <a:off x="76200" y="990600"/>
            <a:ext cx="8915400" cy="11953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5"/>
          <p:cNvSpPr>
            <a:spLocks noChangeArrowheads="1"/>
          </p:cNvSpPr>
          <p:nvPr/>
        </p:nvSpPr>
        <p:spPr bwMode="auto">
          <a:xfrm>
            <a:off x="3541713" y="320675"/>
            <a:ext cx="2422525" cy="457200"/>
          </a:xfrm>
          <a:prstGeom prst="rect">
            <a:avLst/>
          </a:prstGeom>
          <a:noFill/>
          <a:ln w="9525">
            <a:noFill/>
            <a:miter lim="800000"/>
            <a:headEnd/>
            <a:tailEnd/>
          </a:ln>
        </p:spPr>
        <p:txBody>
          <a:bodyPr wrap="none" anchor="ctr">
            <a:spAutoFit/>
          </a:bodyPr>
          <a:lstStyle/>
          <a:p>
            <a:pPr algn="justLow"/>
            <a:r>
              <a:rPr lang="en-US" sz="2400">
                <a:solidFill>
                  <a:srgbClr val="000000"/>
                </a:solidFill>
                <a:latin typeface="Arial" pitchFamily="34" charset="0"/>
                <a:cs typeface="Times New Roman" pitchFamily="18" charset="0"/>
              </a:rPr>
              <a:t>Current system</a:t>
            </a:r>
            <a:endParaRPr lang="en-US" sz="2400">
              <a:latin typeface="Arial" pitchFamily="34" charset="0"/>
            </a:endParaRPr>
          </a:p>
        </p:txBody>
      </p:sp>
      <p:sp>
        <p:nvSpPr>
          <p:cNvPr id="33795" name="Rectangle 3"/>
          <p:cNvSpPr>
            <a:spLocks noChangeArrowheads="1"/>
          </p:cNvSpPr>
          <p:nvPr/>
        </p:nvSpPr>
        <p:spPr bwMode="auto">
          <a:xfrm>
            <a:off x="304800" y="1582738"/>
            <a:ext cx="8839200" cy="3138487"/>
          </a:xfrm>
          <a:prstGeom prst="rect">
            <a:avLst/>
          </a:prstGeom>
          <a:noFill/>
          <a:ln w="9525">
            <a:noFill/>
            <a:miter lim="800000"/>
            <a:headEnd/>
            <a:tailEnd/>
          </a:ln>
        </p:spPr>
        <p:txBody>
          <a:bodyPr>
            <a:spAutoFit/>
          </a:bodyPr>
          <a:lstStyle/>
          <a:p>
            <a:pPr>
              <a:buFont typeface="Arial" pitchFamily="34" charset="0"/>
              <a:buChar char="•"/>
            </a:pPr>
            <a:r>
              <a:rPr lang="en-US">
                <a:solidFill>
                  <a:srgbClr val="C00000"/>
                </a:solidFill>
              </a:rPr>
              <a:t>The division of the export</a:t>
            </a:r>
          </a:p>
          <a:p>
            <a:r>
              <a:rPr lang="en-US"/>
              <a:t>	It is responsible from the requirements of exports</a:t>
            </a:r>
          </a:p>
          <a:p>
            <a:endParaRPr lang="en-US"/>
          </a:p>
          <a:p>
            <a:pPr>
              <a:buFont typeface="Arial" pitchFamily="34" charset="0"/>
              <a:buChar char="•"/>
            </a:pPr>
            <a:r>
              <a:rPr lang="en-US">
                <a:solidFill>
                  <a:srgbClr val="C00000"/>
                </a:solidFill>
              </a:rPr>
              <a:t>The division of the import</a:t>
            </a:r>
          </a:p>
          <a:p>
            <a:r>
              <a:rPr lang="en-US"/>
              <a:t>	It is responsible from the coming containers from 	abroad</a:t>
            </a:r>
          </a:p>
          <a:p>
            <a:endParaRPr lang="en-US"/>
          </a:p>
          <a:p>
            <a:pPr>
              <a:buFont typeface="Arial" pitchFamily="34" charset="0"/>
              <a:buChar char="•"/>
            </a:pPr>
            <a:r>
              <a:rPr lang="en-US">
                <a:solidFill>
                  <a:srgbClr val="C00000"/>
                </a:solidFill>
              </a:rPr>
              <a:t>The division of permission of delivering</a:t>
            </a:r>
          </a:p>
          <a:p>
            <a:r>
              <a:rPr lang="en-US"/>
              <a:t>	It is responsible from organization of delivering operations</a:t>
            </a:r>
          </a:p>
          <a:p>
            <a:endParaRPr lang="en-US"/>
          </a:p>
          <a:p>
            <a:pPr>
              <a:buFont typeface="Arial" pitchFamily="34" charset="0"/>
              <a:buChar char="•"/>
            </a:pPr>
            <a:r>
              <a:rPr lang="en-US">
                <a:solidFill>
                  <a:srgbClr val="C00000"/>
                </a:solidFill>
              </a:rPr>
              <a:t>The division of warehouse</a:t>
            </a:r>
          </a:p>
          <a:p>
            <a:r>
              <a:rPr lang="en-US"/>
              <a:t>	It is responsible from delivering of emptied 	containers</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noChangeArrowheads="1"/>
          </p:cNvSpPr>
          <p:nvPr>
            <p:ph type="title"/>
          </p:nvPr>
        </p:nvSpPr>
        <p:spPr/>
        <p:txBody>
          <a:bodyPr/>
          <a:lstStyle/>
          <a:p>
            <a:pPr>
              <a:defRPr/>
            </a:pPr>
            <a:r>
              <a:rPr lang="en-US">
                <a:ea typeface="+mj-ea"/>
              </a:rPr>
              <a:t>Warehouse Schemas</a:t>
            </a:r>
          </a:p>
        </p:txBody>
      </p:sp>
      <p:sp>
        <p:nvSpPr>
          <p:cNvPr id="31747" name="Rectangle 3"/>
          <p:cNvSpPr>
            <a:spLocks noGrp="1" noChangeArrowheads="1"/>
          </p:cNvSpPr>
          <p:nvPr>
            <p:ph type="body" idx="1"/>
          </p:nvPr>
        </p:nvSpPr>
        <p:spPr/>
        <p:txBody>
          <a:bodyPr/>
          <a:lstStyle/>
          <a:p>
            <a:r>
              <a:rPr lang="en-US" smtClean="0"/>
              <a:t>Dimension values are usually encoded using small integers and mapped to full values via dimension tables</a:t>
            </a:r>
          </a:p>
          <a:p>
            <a:r>
              <a:rPr lang="en-US" smtClean="0"/>
              <a:t>Resultant schema is called a </a:t>
            </a:r>
            <a:r>
              <a:rPr lang="en-US" b="1" smtClean="0">
                <a:solidFill>
                  <a:srgbClr val="000099"/>
                </a:solidFill>
              </a:rPr>
              <a:t>star schema</a:t>
            </a:r>
          </a:p>
          <a:p>
            <a:pPr lvl="1"/>
            <a:r>
              <a:rPr lang="en-US" smtClean="0"/>
              <a:t>More complicated schema structures </a:t>
            </a:r>
          </a:p>
          <a:p>
            <a:pPr lvl="2"/>
            <a:r>
              <a:rPr lang="en-US" b="1" smtClean="0">
                <a:solidFill>
                  <a:srgbClr val="000099"/>
                </a:solidFill>
              </a:rPr>
              <a:t>Snowflake schema</a:t>
            </a:r>
            <a:r>
              <a:rPr lang="en-US" smtClean="0"/>
              <a:t>: multiple levels of dimension tables</a:t>
            </a:r>
          </a:p>
          <a:p>
            <a:pPr lvl="2"/>
            <a:r>
              <a:rPr lang="en-US" b="1" smtClean="0">
                <a:solidFill>
                  <a:srgbClr val="000099"/>
                </a:solidFill>
              </a:rPr>
              <a:t>Constellation</a:t>
            </a:r>
            <a:r>
              <a:rPr lang="en-US" smtClean="0"/>
              <a:t>: multiple fact tables</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1" name="Rectangle 5"/>
          <p:cNvSpPr>
            <a:spLocks noChangeArrowheads="1"/>
          </p:cNvSpPr>
          <p:nvPr/>
        </p:nvSpPr>
        <p:spPr bwMode="auto">
          <a:xfrm>
            <a:off x="1509713" y="1874838"/>
            <a:ext cx="2584450" cy="641350"/>
          </a:xfrm>
          <a:prstGeom prst="rect">
            <a:avLst/>
          </a:prstGeom>
          <a:noFill/>
          <a:ln w="9525">
            <a:noFill/>
            <a:miter lim="800000"/>
            <a:headEnd/>
            <a:tailEnd/>
          </a:ln>
        </p:spPr>
        <p:txBody>
          <a:bodyPr wrap="none" anchor="ctr">
            <a:spAutoFit/>
          </a:bodyPr>
          <a:lstStyle/>
          <a:p>
            <a:r>
              <a:rPr lang="en-US">
                <a:solidFill>
                  <a:srgbClr val="000000"/>
                </a:solidFill>
                <a:latin typeface="Arial" pitchFamily="34" charset="0"/>
                <a:cs typeface="Times New Roman" pitchFamily="18" charset="0"/>
              </a:rPr>
              <a:t>Current system tables</a:t>
            </a:r>
          </a:p>
          <a:p>
            <a:pPr eaLnBrk="0" hangingPunct="0"/>
            <a:endParaRPr lang="en-US">
              <a:latin typeface="Arial" pitchFamily="34" charset="0"/>
            </a:endParaRPr>
          </a:p>
        </p:txBody>
      </p:sp>
      <p:pic>
        <p:nvPicPr>
          <p:cNvPr id="50180" name="Picture 4"/>
          <p:cNvPicPr>
            <a:picLocks noChangeAspect="1" noChangeArrowheads="1"/>
          </p:cNvPicPr>
          <p:nvPr/>
        </p:nvPicPr>
        <p:blipFill>
          <a:blip r:embed="rId2" cstate="print"/>
          <a:srcRect/>
          <a:stretch>
            <a:fillRect/>
          </a:stretch>
        </p:blipFill>
        <p:spPr bwMode="auto">
          <a:xfrm>
            <a:off x="1509713" y="2501900"/>
            <a:ext cx="6124575" cy="2466975"/>
          </a:xfrm>
          <a:prstGeom prst="rect">
            <a:avLst/>
          </a:prstGeom>
          <a:noFill/>
          <a:ln w="9525">
            <a:noFill/>
            <a:miter lim="800000"/>
            <a:headEnd/>
            <a:tailEnd/>
          </a:ln>
        </p:spPr>
      </p:pic>
      <p:sp>
        <p:nvSpPr>
          <p:cNvPr id="34820" name="Rectangle 6"/>
          <p:cNvSpPr>
            <a:spLocks noChangeArrowheads="1"/>
          </p:cNvSpPr>
          <p:nvPr/>
        </p:nvSpPr>
        <p:spPr bwMode="auto">
          <a:xfrm>
            <a:off x="3541713" y="609600"/>
            <a:ext cx="2422525" cy="457200"/>
          </a:xfrm>
          <a:prstGeom prst="rect">
            <a:avLst/>
          </a:prstGeom>
          <a:noFill/>
          <a:ln w="9525">
            <a:noFill/>
            <a:miter lim="800000"/>
            <a:headEnd/>
            <a:tailEnd/>
          </a:ln>
        </p:spPr>
        <p:txBody>
          <a:bodyPr wrap="none" anchor="ctr">
            <a:spAutoFit/>
          </a:bodyPr>
          <a:lstStyle/>
          <a:p>
            <a:pPr algn="justLow"/>
            <a:r>
              <a:rPr lang="en-US" sz="2400">
                <a:solidFill>
                  <a:srgbClr val="000000"/>
                </a:solidFill>
                <a:latin typeface="Arial" pitchFamily="34" charset="0"/>
                <a:cs typeface="Times New Roman" pitchFamily="18" charset="0"/>
              </a:rPr>
              <a:t>Current system</a:t>
            </a:r>
            <a:endParaRPr lang="en-US" sz="2400">
              <a:latin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50181"/>
                                        </p:tgtEl>
                                        <p:attrNameLst>
                                          <p:attrName>style.visibility</p:attrName>
                                        </p:attrNameLst>
                                      </p:cBhvr>
                                      <p:to>
                                        <p:strVal val="visible"/>
                                      </p:to>
                                    </p:set>
                                    <p:animEffect transition="in" filter="strips(downRight)">
                                      <p:cBhvr>
                                        <p:cTn id="7" dur="500"/>
                                        <p:tgtEl>
                                          <p:spTgt spid="50181"/>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50180"/>
                                        </p:tgtEl>
                                        <p:attrNameLst>
                                          <p:attrName>style.visibility</p:attrName>
                                        </p:attrNameLst>
                                      </p:cBhvr>
                                      <p:to>
                                        <p:strVal val="visible"/>
                                      </p:to>
                                    </p:set>
                                    <p:animEffect transition="in" filter="strips(downRight)">
                                      <p:cBhvr>
                                        <p:cTn id="12" dur="500"/>
                                        <p:tgtEl>
                                          <p:spTgt spid="501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4"/>
          <p:cNvPicPr>
            <a:picLocks noChangeAspect="1" noChangeArrowheads="1"/>
          </p:cNvPicPr>
          <p:nvPr/>
        </p:nvPicPr>
        <p:blipFill>
          <a:blip r:embed="rId2" cstate="print"/>
          <a:srcRect/>
          <a:stretch>
            <a:fillRect/>
          </a:stretch>
        </p:blipFill>
        <p:spPr bwMode="auto">
          <a:xfrm>
            <a:off x="1495425" y="533400"/>
            <a:ext cx="6124575" cy="6286500"/>
          </a:xfrm>
          <a:prstGeom prst="rect">
            <a:avLst/>
          </a:prstGeom>
          <a:noFill/>
          <a:ln w="9525">
            <a:noFill/>
            <a:miter lim="800000"/>
            <a:headEnd/>
            <a:tailEnd/>
          </a:ln>
        </p:spPr>
      </p:pic>
      <p:sp>
        <p:nvSpPr>
          <p:cNvPr id="35843" name="Rectangle 5"/>
          <p:cNvSpPr>
            <a:spLocks noChangeArrowheads="1"/>
          </p:cNvSpPr>
          <p:nvPr/>
        </p:nvSpPr>
        <p:spPr bwMode="auto">
          <a:xfrm>
            <a:off x="3352800" y="76200"/>
            <a:ext cx="2422525" cy="457200"/>
          </a:xfrm>
          <a:prstGeom prst="rect">
            <a:avLst/>
          </a:prstGeom>
          <a:noFill/>
          <a:ln w="9525">
            <a:noFill/>
            <a:miter lim="800000"/>
            <a:headEnd/>
            <a:tailEnd/>
          </a:ln>
        </p:spPr>
        <p:txBody>
          <a:bodyPr wrap="none" anchor="ctr">
            <a:spAutoFit/>
          </a:bodyPr>
          <a:lstStyle/>
          <a:p>
            <a:pPr algn="justLow"/>
            <a:r>
              <a:rPr lang="en-US" sz="2400">
                <a:solidFill>
                  <a:srgbClr val="000000"/>
                </a:solidFill>
                <a:latin typeface="Arial" pitchFamily="34" charset="0"/>
                <a:cs typeface="Times New Roman" pitchFamily="18" charset="0"/>
              </a:rPr>
              <a:t>Current system</a:t>
            </a:r>
            <a:endParaRPr lang="en-US" sz="2400">
              <a:latin typeface="Arial" pitchFamily="34"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5"/>
          <p:cNvPicPr>
            <a:picLocks noChangeAspect="1" noChangeArrowheads="1"/>
          </p:cNvPicPr>
          <p:nvPr/>
        </p:nvPicPr>
        <p:blipFill>
          <a:blip r:embed="rId2" cstate="print"/>
          <a:srcRect/>
          <a:stretch>
            <a:fillRect/>
          </a:stretch>
        </p:blipFill>
        <p:spPr bwMode="auto">
          <a:xfrm>
            <a:off x="1114425" y="457200"/>
            <a:ext cx="6124575" cy="447675"/>
          </a:xfrm>
          <a:prstGeom prst="rect">
            <a:avLst/>
          </a:prstGeom>
          <a:noFill/>
          <a:ln w="9525">
            <a:noFill/>
            <a:miter lim="800000"/>
            <a:headEnd/>
            <a:tailEnd/>
          </a:ln>
        </p:spPr>
      </p:pic>
      <p:pic>
        <p:nvPicPr>
          <p:cNvPr id="52228" name="Picture 4"/>
          <p:cNvPicPr>
            <a:picLocks noChangeAspect="1" noChangeArrowheads="1"/>
          </p:cNvPicPr>
          <p:nvPr/>
        </p:nvPicPr>
        <p:blipFill>
          <a:blip r:embed="rId3" cstate="print"/>
          <a:srcRect/>
          <a:stretch>
            <a:fillRect/>
          </a:stretch>
        </p:blipFill>
        <p:spPr bwMode="auto">
          <a:xfrm>
            <a:off x="1190625" y="2743200"/>
            <a:ext cx="6124575" cy="1476375"/>
          </a:xfrm>
          <a:prstGeom prst="rect">
            <a:avLst/>
          </a:prstGeom>
          <a:noFill/>
          <a:ln w="9525">
            <a:noFill/>
            <a:miter lim="800000"/>
            <a:headEnd/>
            <a:tailEnd/>
          </a:ln>
        </p:spPr>
      </p:pic>
      <p:sp>
        <p:nvSpPr>
          <p:cNvPr id="36868" name="Rectangle 6"/>
          <p:cNvSpPr>
            <a:spLocks noChangeArrowheads="1"/>
          </p:cNvSpPr>
          <p:nvPr/>
        </p:nvSpPr>
        <p:spPr bwMode="auto">
          <a:xfrm>
            <a:off x="0" y="2298700"/>
            <a:ext cx="9144000" cy="0"/>
          </a:xfrm>
          <a:prstGeom prst="rect">
            <a:avLst/>
          </a:prstGeom>
          <a:noFill/>
          <a:ln w="9525">
            <a:noFill/>
            <a:miter lim="800000"/>
            <a:headEnd/>
            <a:tailEnd/>
          </a:ln>
        </p:spPr>
        <p:txBody>
          <a:bodyPr wrap="none" anchor="ctr">
            <a:spAutoFit/>
          </a:bodyPr>
          <a:lstStyle/>
          <a:p>
            <a:endParaRPr lang="ar-SA"/>
          </a:p>
        </p:txBody>
      </p:sp>
      <p:sp>
        <p:nvSpPr>
          <p:cNvPr id="52231" name="Rectangle 7"/>
          <p:cNvSpPr>
            <a:spLocks noChangeArrowheads="1"/>
          </p:cNvSpPr>
          <p:nvPr/>
        </p:nvSpPr>
        <p:spPr bwMode="auto">
          <a:xfrm>
            <a:off x="1176338" y="1660525"/>
            <a:ext cx="1328737" cy="396875"/>
          </a:xfrm>
          <a:prstGeom prst="rect">
            <a:avLst/>
          </a:prstGeom>
          <a:noFill/>
          <a:ln w="9525">
            <a:noFill/>
            <a:miter lim="800000"/>
            <a:headEnd/>
            <a:tailEnd/>
          </a:ln>
        </p:spPr>
        <p:txBody>
          <a:bodyPr wrap="none" anchor="ctr">
            <a:spAutoFit/>
          </a:bodyPr>
          <a:lstStyle/>
          <a:p>
            <a:pPr algn="justLow"/>
            <a:r>
              <a:rPr lang="en-US" sz="2000">
                <a:solidFill>
                  <a:srgbClr val="FF0000"/>
                </a:solidFill>
                <a:cs typeface="Times New Roman" pitchFamily="18" charset="0"/>
              </a:rPr>
              <a:t>analysis</a:t>
            </a:r>
            <a:endParaRPr lang="en-US" sz="200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52231"/>
                                        </p:tgtEl>
                                        <p:attrNameLst>
                                          <p:attrName>style.visibility</p:attrName>
                                        </p:attrNameLst>
                                      </p:cBhvr>
                                      <p:to>
                                        <p:strVal val="visible"/>
                                      </p:to>
                                    </p:set>
                                    <p:animEffect transition="in" filter="strips(downRight)">
                                      <p:cBhvr>
                                        <p:cTn id="7" dur="500"/>
                                        <p:tgtEl>
                                          <p:spTgt spid="52231"/>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52228"/>
                                        </p:tgtEl>
                                        <p:attrNameLst>
                                          <p:attrName>style.visibility</p:attrName>
                                        </p:attrNameLst>
                                      </p:cBhvr>
                                      <p:to>
                                        <p:strVal val="visible"/>
                                      </p:to>
                                    </p:set>
                                    <p:animEffect transition="in" filter="strips(downRight)">
                                      <p:cBhvr>
                                        <p:cTn id="12" dur="500"/>
                                        <p:tgtEl>
                                          <p:spTgt spid="52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5"/>
          <p:cNvPicPr>
            <a:picLocks noChangeAspect="1" noChangeArrowheads="1"/>
          </p:cNvPicPr>
          <p:nvPr/>
        </p:nvPicPr>
        <p:blipFill>
          <a:blip r:embed="rId2" cstate="print"/>
          <a:srcRect/>
          <a:stretch>
            <a:fillRect/>
          </a:stretch>
        </p:blipFill>
        <p:spPr bwMode="auto">
          <a:xfrm>
            <a:off x="962025" y="381000"/>
            <a:ext cx="6124575" cy="447675"/>
          </a:xfrm>
          <a:prstGeom prst="rect">
            <a:avLst/>
          </a:prstGeom>
          <a:noFill/>
          <a:ln w="9525">
            <a:noFill/>
            <a:miter lim="800000"/>
            <a:headEnd/>
            <a:tailEnd/>
          </a:ln>
        </p:spPr>
      </p:pic>
      <p:sp>
        <p:nvSpPr>
          <p:cNvPr id="37891" name="Rectangle 6"/>
          <p:cNvSpPr>
            <a:spLocks noChangeArrowheads="1"/>
          </p:cNvSpPr>
          <p:nvPr/>
        </p:nvSpPr>
        <p:spPr bwMode="auto">
          <a:xfrm>
            <a:off x="0" y="2298700"/>
            <a:ext cx="9144000" cy="0"/>
          </a:xfrm>
          <a:prstGeom prst="rect">
            <a:avLst/>
          </a:prstGeom>
          <a:noFill/>
          <a:ln w="9525">
            <a:noFill/>
            <a:miter lim="800000"/>
            <a:headEnd/>
            <a:tailEnd/>
          </a:ln>
        </p:spPr>
        <p:txBody>
          <a:bodyPr wrap="none" anchor="ctr">
            <a:spAutoFit/>
          </a:bodyPr>
          <a:lstStyle/>
          <a:p>
            <a:endParaRPr lang="ar-SA"/>
          </a:p>
        </p:txBody>
      </p:sp>
      <p:sp>
        <p:nvSpPr>
          <p:cNvPr id="37892" name="Rectangle 8"/>
          <p:cNvSpPr>
            <a:spLocks noChangeArrowheads="1"/>
          </p:cNvSpPr>
          <p:nvPr/>
        </p:nvSpPr>
        <p:spPr bwMode="auto">
          <a:xfrm>
            <a:off x="1141413" y="1343025"/>
            <a:ext cx="1031875" cy="396875"/>
          </a:xfrm>
          <a:prstGeom prst="rect">
            <a:avLst/>
          </a:prstGeom>
          <a:noFill/>
          <a:ln w="9525">
            <a:noFill/>
            <a:miter lim="800000"/>
            <a:headEnd/>
            <a:tailEnd/>
          </a:ln>
        </p:spPr>
        <p:txBody>
          <a:bodyPr wrap="none" anchor="ctr">
            <a:spAutoFit/>
          </a:bodyPr>
          <a:lstStyle/>
          <a:p>
            <a:pPr algn="justLow"/>
            <a:r>
              <a:rPr lang="en-US" sz="2000">
                <a:solidFill>
                  <a:srgbClr val="FF0000"/>
                </a:solidFill>
                <a:latin typeface="Arial" pitchFamily="34" charset="0"/>
                <a:cs typeface="Times New Roman" pitchFamily="18" charset="0"/>
              </a:rPr>
              <a:t>Design</a:t>
            </a:r>
            <a:endParaRPr lang="en-US" sz="2000">
              <a:solidFill>
                <a:srgbClr val="FF0000"/>
              </a:solidFill>
              <a:latin typeface="Arial" pitchFamily="34" charset="0"/>
            </a:endParaRPr>
          </a:p>
        </p:txBody>
      </p:sp>
      <p:sp>
        <p:nvSpPr>
          <p:cNvPr id="37893" name="Rectangle 9"/>
          <p:cNvSpPr>
            <a:spLocks noChangeArrowheads="1"/>
          </p:cNvSpPr>
          <p:nvPr/>
        </p:nvSpPr>
        <p:spPr bwMode="auto">
          <a:xfrm>
            <a:off x="1219200" y="2162175"/>
            <a:ext cx="6521450" cy="1190625"/>
          </a:xfrm>
          <a:prstGeom prst="rect">
            <a:avLst/>
          </a:prstGeom>
          <a:noFill/>
          <a:ln w="9525">
            <a:noFill/>
            <a:miter lim="800000"/>
            <a:headEnd/>
            <a:tailEnd/>
          </a:ln>
        </p:spPr>
        <p:txBody>
          <a:bodyPr wrap="none" anchor="ctr">
            <a:spAutoFit/>
          </a:bodyPr>
          <a:lstStyle/>
          <a:p>
            <a:r>
              <a:rPr lang="en-US" b="0">
                <a:latin typeface="Arial" pitchFamily="34" charset="0"/>
              </a:rPr>
              <a:t>I used </a:t>
            </a:r>
            <a:r>
              <a:rPr lang="en-US" b="0">
                <a:solidFill>
                  <a:srgbClr val="FF0000"/>
                </a:solidFill>
                <a:latin typeface="Arial" pitchFamily="34" charset="0"/>
              </a:rPr>
              <a:t>star</a:t>
            </a:r>
            <a:r>
              <a:rPr lang="en-US" b="0">
                <a:solidFill>
                  <a:srgbClr val="FF6600"/>
                </a:solidFill>
                <a:latin typeface="Arial" pitchFamily="34" charset="0"/>
              </a:rPr>
              <a:t> </a:t>
            </a:r>
            <a:r>
              <a:rPr lang="en-US" b="0">
                <a:solidFill>
                  <a:srgbClr val="FF0000"/>
                </a:solidFill>
                <a:latin typeface="Arial" pitchFamily="34" charset="0"/>
              </a:rPr>
              <a:t>schema</a:t>
            </a:r>
            <a:r>
              <a:rPr lang="en-US" b="0">
                <a:latin typeface="Arial" pitchFamily="34" charset="0"/>
              </a:rPr>
              <a:t>  technique that contents </a:t>
            </a:r>
          </a:p>
          <a:p>
            <a:endParaRPr lang="en-US" b="0">
              <a:latin typeface="Arial" pitchFamily="34" charset="0"/>
            </a:endParaRPr>
          </a:p>
          <a:p>
            <a:r>
              <a:rPr lang="en-US" b="0">
                <a:latin typeface="Arial" pitchFamily="34" charset="0"/>
              </a:rPr>
              <a:t>	a.   fact table (</a:t>
            </a:r>
            <a:r>
              <a:rPr lang="en-US" b="0">
                <a:solidFill>
                  <a:srgbClr val="FF0000"/>
                </a:solidFill>
                <a:latin typeface="Arial" pitchFamily="34" charset="0"/>
              </a:rPr>
              <a:t>shipfact</a:t>
            </a:r>
            <a:r>
              <a:rPr lang="en-US" b="0">
                <a:latin typeface="Arial" pitchFamily="34" charset="0"/>
              </a:rPr>
              <a:t>).</a:t>
            </a:r>
          </a:p>
          <a:p>
            <a:r>
              <a:rPr lang="en-US" b="0">
                <a:latin typeface="Arial" pitchFamily="34" charset="0"/>
              </a:rPr>
              <a:t>	b.   3 dimensions table (</a:t>
            </a:r>
            <a:r>
              <a:rPr lang="en-US" b="0">
                <a:solidFill>
                  <a:srgbClr val="FF0000"/>
                </a:solidFill>
                <a:latin typeface="Arial" pitchFamily="34" charset="0"/>
              </a:rPr>
              <a:t>timedim</a:t>
            </a:r>
            <a:r>
              <a:rPr lang="en-US" b="0">
                <a:solidFill>
                  <a:srgbClr val="FF6600"/>
                </a:solidFill>
                <a:latin typeface="Arial" pitchFamily="34" charset="0"/>
              </a:rPr>
              <a:t> </a:t>
            </a:r>
            <a:r>
              <a:rPr lang="en-US" b="0">
                <a:latin typeface="Arial" pitchFamily="34" charset="0"/>
              </a:rPr>
              <a:t>,</a:t>
            </a:r>
            <a:r>
              <a:rPr lang="en-US" b="0">
                <a:solidFill>
                  <a:srgbClr val="FF0000"/>
                </a:solidFill>
                <a:latin typeface="Arial" pitchFamily="34" charset="0"/>
              </a:rPr>
              <a:t>typedim</a:t>
            </a:r>
            <a:r>
              <a:rPr lang="en-US" b="0">
                <a:latin typeface="Arial" pitchFamily="34" charset="0"/>
              </a:rPr>
              <a:t>,</a:t>
            </a:r>
            <a:r>
              <a:rPr lang="en-US" b="0">
                <a:solidFill>
                  <a:srgbClr val="FF6600"/>
                </a:solidFill>
                <a:latin typeface="Arial" pitchFamily="34" charset="0"/>
              </a:rPr>
              <a:t> </a:t>
            </a:r>
            <a:r>
              <a:rPr lang="en-US" b="0">
                <a:solidFill>
                  <a:srgbClr val="FF0000"/>
                </a:solidFill>
                <a:latin typeface="Arial" pitchFamily="34" charset="0"/>
              </a:rPr>
              <a:t>activitydim</a:t>
            </a:r>
            <a:r>
              <a:rPr lang="en-US" b="0">
                <a:latin typeface="Arial"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37892"/>
                                        </p:tgtEl>
                                        <p:attrNameLst>
                                          <p:attrName>style.visibility</p:attrName>
                                        </p:attrNameLst>
                                      </p:cBhvr>
                                      <p:to>
                                        <p:strVal val="visible"/>
                                      </p:to>
                                    </p:set>
                                    <p:animEffect transition="in" filter="strips(downRight)">
                                      <p:cBhvr>
                                        <p:cTn id="7" dur="500"/>
                                        <p:tgtEl>
                                          <p:spTgt spid="3789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37893"/>
                                        </p:tgtEl>
                                        <p:attrNameLst>
                                          <p:attrName>style.visibility</p:attrName>
                                        </p:attrNameLst>
                                      </p:cBhvr>
                                      <p:to>
                                        <p:strVal val="visible"/>
                                      </p:to>
                                    </p:set>
                                    <p:animEffect transition="in" filter="strips(downRight)">
                                      <p:cBhvr>
                                        <p:cTn id="12" dur="500"/>
                                        <p:tgtEl>
                                          <p:spTgt spid="378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2" grpId="0"/>
      <p:bldP spid="3789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7" name="Picture 5"/>
          <p:cNvPicPr>
            <a:picLocks noChangeAspect="1" noChangeArrowheads="1"/>
          </p:cNvPicPr>
          <p:nvPr/>
        </p:nvPicPr>
        <p:blipFill>
          <a:blip r:embed="rId2" cstate="print"/>
          <a:srcRect/>
          <a:stretch>
            <a:fillRect/>
          </a:stretch>
        </p:blipFill>
        <p:spPr bwMode="auto">
          <a:xfrm>
            <a:off x="1123950" y="3800475"/>
            <a:ext cx="6115050" cy="2447925"/>
          </a:xfrm>
          <a:prstGeom prst="rect">
            <a:avLst/>
          </a:prstGeom>
          <a:noFill/>
          <a:ln w="9525">
            <a:noFill/>
            <a:miter lim="800000"/>
            <a:headEnd/>
            <a:tailEnd/>
          </a:ln>
        </p:spPr>
      </p:pic>
      <p:grpSp>
        <p:nvGrpSpPr>
          <p:cNvPr id="2" name="Group 8"/>
          <p:cNvGrpSpPr>
            <a:grpSpLocks/>
          </p:cNvGrpSpPr>
          <p:nvPr/>
        </p:nvGrpSpPr>
        <p:grpSpPr bwMode="auto">
          <a:xfrm>
            <a:off x="1123950" y="609600"/>
            <a:ext cx="6115050" cy="2819400"/>
            <a:chOff x="708" y="384"/>
            <a:chExt cx="3852" cy="1776"/>
          </a:xfrm>
        </p:grpSpPr>
        <p:pic>
          <p:nvPicPr>
            <p:cNvPr id="38917" name="Picture 4"/>
            <p:cNvPicPr>
              <a:picLocks noChangeAspect="1" noChangeArrowheads="1"/>
            </p:cNvPicPr>
            <p:nvPr/>
          </p:nvPicPr>
          <p:blipFill>
            <a:blip r:embed="rId3" cstate="print"/>
            <a:srcRect/>
            <a:stretch>
              <a:fillRect/>
            </a:stretch>
          </p:blipFill>
          <p:spPr bwMode="auto">
            <a:xfrm>
              <a:off x="708" y="420"/>
              <a:ext cx="3852" cy="1740"/>
            </a:xfrm>
            <a:prstGeom prst="rect">
              <a:avLst/>
            </a:prstGeom>
            <a:noFill/>
            <a:ln w="9525">
              <a:noFill/>
              <a:miter lim="800000"/>
              <a:headEnd/>
              <a:tailEnd/>
            </a:ln>
          </p:spPr>
        </p:pic>
        <p:sp>
          <p:nvSpPr>
            <p:cNvPr id="38918" name="Text Box 6"/>
            <p:cNvSpPr txBox="1">
              <a:spLocks noChangeArrowheads="1"/>
            </p:cNvSpPr>
            <p:nvPr/>
          </p:nvSpPr>
          <p:spPr bwMode="auto">
            <a:xfrm>
              <a:off x="768" y="384"/>
              <a:ext cx="768" cy="192"/>
            </a:xfrm>
            <a:prstGeom prst="rect">
              <a:avLst/>
            </a:prstGeom>
            <a:noFill/>
            <a:ln w="9525">
              <a:noFill/>
              <a:miter lim="800000"/>
              <a:headEnd/>
              <a:tailEnd/>
            </a:ln>
          </p:spPr>
          <p:txBody>
            <a:bodyPr>
              <a:spAutoFit/>
            </a:bodyPr>
            <a:lstStyle/>
            <a:p>
              <a:pPr>
                <a:spcBef>
                  <a:spcPct val="50000"/>
                </a:spcBef>
                <a:buFontTx/>
                <a:buChar char="•"/>
              </a:pPr>
              <a:r>
                <a:rPr lang="en-US" sz="1400" b="0">
                  <a:latin typeface="Arial" pitchFamily="34" charset="0"/>
                </a:rPr>
                <a:t>shipfact</a:t>
              </a:r>
            </a:p>
          </p:txBody>
        </p:sp>
      </p:grpSp>
      <p:sp>
        <p:nvSpPr>
          <p:cNvPr id="38916" name="Text Box 7"/>
          <p:cNvSpPr txBox="1">
            <a:spLocks noChangeArrowheads="1"/>
          </p:cNvSpPr>
          <p:nvPr/>
        </p:nvSpPr>
        <p:spPr bwMode="auto">
          <a:xfrm>
            <a:off x="2286000" y="228600"/>
            <a:ext cx="4114800" cy="366713"/>
          </a:xfrm>
          <a:prstGeom prst="rect">
            <a:avLst/>
          </a:prstGeom>
          <a:noFill/>
          <a:ln w="9525">
            <a:noFill/>
            <a:miter lim="800000"/>
            <a:headEnd/>
            <a:tailEnd/>
          </a:ln>
        </p:spPr>
        <p:txBody>
          <a:bodyPr>
            <a:spAutoFit/>
          </a:bodyPr>
          <a:lstStyle/>
          <a:p>
            <a:pPr>
              <a:spcBef>
                <a:spcPct val="50000"/>
              </a:spcBef>
            </a:pPr>
            <a:r>
              <a:rPr lang="en-US">
                <a:latin typeface="Arial" pitchFamily="34" charset="0"/>
              </a:rPr>
              <a:t>PIL DATA WAREHOUSE </a:t>
            </a:r>
            <a:r>
              <a:rPr lang="en-US">
                <a:solidFill>
                  <a:srgbClr val="FF0000"/>
                </a:solidFill>
                <a:latin typeface="Arial" pitchFamily="34" charset="0"/>
              </a:rPr>
              <a:t>TABLES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54277"/>
                                        </p:tgtEl>
                                        <p:attrNameLst>
                                          <p:attrName>style.visibility</p:attrName>
                                        </p:attrNameLst>
                                      </p:cBhvr>
                                      <p:to>
                                        <p:strVal val="visible"/>
                                      </p:to>
                                    </p:set>
                                    <p:animEffect transition="in" filter="strips(downRight)">
                                      <p:cBhvr>
                                        <p:cTn id="12" dur="500"/>
                                        <p:tgtEl>
                                          <p:spTgt spid="54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300" name="Picture 4"/>
          <p:cNvPicPr>
            <a:picLocks noChangeAspect="1" noChangeArrowheads="1"/>
          </p:cNvPicPr>
          <p:nvPr/>
        </p:nvPicPr>
        <p:blipFill>
          <a:blip r:embed="rId2" cstate="print"/>
          <a:srcRect/>
          <a:stretch>
            <a:fillRect/>
          </a:stretch>
        </p:blipFill>
        <p:spPr bwMode="auto">
          <a:xfrm>
            <a:off x="1276350" y="828675"/>
            <a:ext cx="6115050" cy="2447925"/>
          </a:xfrm>
          <a:prstGeom prst="rect">
            <a:avLst/>
          </a:prstGeom>
          <a:noFill/>
          <a:ln w="9525">
            <a:noFill/>
            <a:miter lim="800000"/>
            <a:headEnd/>
            <a:tailEnd/>
          </a:ln>
        </p:spPr>
      </p:pic>
      <p:grpSp>
        <p:nvGrpSpPr>
          <p:cNvPr id="2" name="Group 8"/>
          <p:cNvGrpSpPr>
            <a:grpSpLocks/>
          </p:cNvGrpSpPr>
          <p:nvPr/>
        </p:nvGrpSpPr>
        <p:grpSpPr bwMode="auto">
          <a:xfrm>
            <a:off x="1219200" y="3302000"/>
            <a:ext cx="6124575" cy="3251200"/>
            <a:chOff x="894" y="2080"/>
            <a:chExt cx="3858" cy="2048"/>
          </a:xfrm>
        </p:grpSpPr>
        <p:pic>
          <p:nvPicPr>
            <p:cNvPr id="39941" name="Picture 5"/>
            <p:cNvPicPr>
              <a:picLocks noChangeAspect="1" noChangeArrowheads="1"/>
            </p:cNvPicPr>
            <p:nvPr/>
          </p:nvPicPr>
          <p:blipFill>
            <a:blip r:embed="rId3" cstate="print"/>
            <a:srcRect/>
            <a:stretch>
              <a:fillRect/>
            </a:stretch>
          </p:blipFill>
          <p:spPr bwMode="auto">
            <a:xfrm>
              <a:off x="894" y="2232"/>
              <a:ext cx="3858" cy="1896"/>
            </a:xfrm>
            <a:prstGeom prst="rect">
              <a:avLst/>
            </a:prstGeom>
            <a:noFill/>
            <a:ln w="9525">
              <a:noFill/>
              <a:miter lim="800000"/>
              <a:headEnd/>
              <a:tailEnd/>
            </a:ln>
          </p:spPr>
        </p:pic>
        <p:sp>
          <p:nvSpPr>
            <p:cNvPr id="39942" name="Text Box 6"/>
            <p:cNvSpPr txBox="1">
              <a:spLocks noChangeArrowheads="1"/>
            </p:cNvSpPr>
            <p:nvPr/>
          </p:nvSpPr>
          <p:spPr bwMode="auto">
            <a:xfrm>
              <a:off x="976" y="2080"/>
              <a:ext cx="960" cy="192"/>
            </a:xfrm>
            <a:prstGeom prst="rect">
              <a:avLst/>
            </a:prstGeom>
            <a:noFill/>
            <a:ln w="9525">
              <a:noFill/>
              <a:miter lim="800000"/>
              <a:headEnd/>
              <a:tailEnd/>
            </a:ln>
          </p:spPr>
          <p:txBody>
            <a:bodyPr>
              <a:spAutoFit/>
            </a:bodyPr>
            <a:lstStyle/>
            <a:p>
              <a:pPr>
                <a:spcBef>
                  <a:spcPct val="50000"/>
                </a:spcBef>
                <a:buFontTx/>
                <a:buChar char="•"/>
              </a:pPr>
              <a:r>
                <a:rPr lang="en-US" sz="1400" b="0">
                  <a:latin typeface="Arial" pitchFamily="34" charset="0"/>
                </a:rPr>
                <a:t>Time dimension</a:t>
              </a:r>
            </a:p>
          </p:txBody>
        </p:sp>
      </p:grpSp>
      <p:sp>
        <p:nvSpPr>
          <p:cNvPr id="39940" name="Text Box 7"/>
          <p:cNvSpPr txBox="1">
            <a:spLocks noChangeArrowheads="1"/>
          </p:cNvSpPr>
          <p:nvPr/>
        </p:nvSpPr>
        <p:spPr bwMode="auto">
          <a:xfrm>
            <a:off x="2286000" y="228600"/>
            <a:ext cx="4114800" cy="366713"/>
          </a:xfrm>
          <a:prstGeom prst="rect">
            <a:avLst/>
          </a:prstGeom>
          <a:noFill/>
          <a:ln w="9525">
            <a:noFill/>
            <a:miter lim="800000"/>
            <a:headEnd/>
            <a:tailEnd/>
          </a:ln>
        </p:spPr>
        <p:txBody>
          <a:bodyPr>
            <a:spAutoFit/>
          </a:bodyPr>
          <a:lstStyle/>
          <a:p>
            <a:pPr>
              <a:spcBef>
                <a:spcPct val="50000"/>
              </a:spcBef>
            </a:pPr>
            <a:r>
              <a:rPr lang="en-US">
                <a:latin typeface="Arial" pitchFamily="34" charset="0"/>
              </a:rPr>
              <a:t>PIL DATA WAREHOUSE </a:t>
            </a:r>
            <a:r>
              <a:rPr lang="en-US">
                <a:solidFill>
                  <a:srgbClr val="FF0000"/>
                </a:solidFill>
                <a:latin typeface="Arial" pitchFamily="34" charset="0"/>
              </a:rPr>
              <a:t>TABLES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55300"/>
                                        </p:tgtEl>
                                        <p:attrNameLst>
                                          <p:attrName>style.visibility</p:attrName>
                                        </p:attrNameLst>
                                      </p:cBhvr>
                                      <p:to>
                                        <p:strVal val="visible"/>
                                      </p:to>
                                    </p:set>
                                    <p:animEffect transition="in" filter="strips(downRight)">
                                      <p:cBhvr>
                                        <p:cTn id="7" dur="500"/>
                                        <p:tgtEl>
                                          <p:spTgt spid="55300"/>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4"/>
          <p:cNvPicPr>
            <a:picLocks noChangeAspect="1" noChangeArrowheads="1"/>
          </p:cNvPicPr>
          <p:nvPr/>
        </p:nvPicPr>
        <p:blipFill>
          <a:blip r:embed="rId2" cstate="print"/>
          <a:srcRect/>
          <a:stretch>
            <a:fillRect/>
          </a:stretch>
        </p:blipFill>
        <p:spPr bwMode="auto">
          <a:xfrm>
            <a:off x="609600" y="990600"/>
            <a:ext cx="8229600" cy="5127625"/>
          </a:xfrm>
          <a:prstGeom prst="rect">
            <a:avLst/>
          </a:prstGeom>
          <a:noFill/>
          <a:ln w="9525">
            <a:noFill/>
            <a:miter lim="800000"/>
            <a:headEnd/>
            <a:tailEnd/>
          </a:ln>
        </p:spPr>
      </p:pic>
      <p:sp>
        <p:nvSpPr>
          <p:cNvPr id="40963" name="Text Box 5"/>
          <p:cNvSpPr txBox="1">
            <a:spLocks noChangeArrowheads="1"/>
          </p:cNvSpPr>
          <p:nvPr/>
        </p:nvSpPr>
        <p:spPr bwMode="auto">
          <a:xfrm>
            <a:off x="1905000" y="304800"/>
            <a:ext cx="5105400" cy="366713"/>
          </a:xfrm>
          <a:prstGeom prst="rect">
            <a:avLst/>
          </a:prstGeom>
          <a:noFill/>
          <a:ln w="9525">
            <a:noFill/>
            <a:miter lim="800000"/>
            <a:headEnd/>
            <a:tailEnd/>
          </a:ln>
        </p:spPr>
        <p:txBody>
          <a:bodyPr>
            <a:spAutoFit/>
          </a:bodyPr>
          <a:lstStyle/>
          <a:p>
            <a:pPr>
              <a:spcBef>
                <a:spcPct val="50000"/>
              </a:spcBef>
            </a:pPr>
            <a:r>
              <a:rPr lang="en-US">
                <a:latin typeface="Arial" pitchFamily="34" charset="0"/>
              </a:rPr>
              <a:t>PIL Data Warehouse </a:t>
            </a:r>
            <a:r>
              <a:rPr lang="en-US">
                <a:solidFill>
                  <a:srgbClr val="FF0000"/>
                </a:solidFill>
                <a:latin typeface="Arial" pitchFamily="34" charset="0"/>
              </a:rPr>
              <a:t>Star Schema</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p:cNvSpPr>
            <a:spLocks noChangeArrowheads="1"/>
          </p:cNvSpPr>
          <p:nvPr/>
        </p:nvSpPr>
        <p:spPr bwMode="auto">
          <a:xfrm>
            <a:off x="381000" y="685800"/>
            <a:ext cx="6724650" cy="366713"/>
          </a:xfrm>
          <a:prstGeom prst="rect">
            <a:avLst/>
          </a:prstGeom>
          <a:noFill/>
          <a:ln w="9525">
            <a:noFill/>
            <a:miter lim="800000"/>
            <a:headEnd/>
            <a:tailEnd/>
          </a:ln>
        </p:spPr>
        <p:txBody>
          <a:bodyPr wrap="none" anchor="ctr">
            <a:spAutoFit/>
          </a:bodyPr>
          <a:lstStyle/>
          <a:p>
            <a:pPr algn="justLow"/>
            <a:r>
              <a:rPr lang="en-US">
                <a:solidFill>
                  <a:srgbClr val="000066"/>
                </a:solidFill>
                <a:latin typeface="Arial" pitchFamily="34" charset="0"/>
              </a:rPr>
              <a:t>I used </a:t>
            </a:r>
            <a:r>
              <a:rPr lang="en-US">
                <a:solidFill>
                  <a:srgbClr val="FF0000"/>
                </a:solidFill>
                <a:latin typeface="Arial" pitchFamily="34" charset="0"/>
              </a:rPr>
              <a:t>DST</a:t>
            </a:r>
            <a:r>
              <a:rPr lang="en-US">
                <a:solidFill>
                  <a:srgbClr val="000066"/>
                </a:solidFill>
                <a:latin typeface="Arial" pitchFamily="34" charset="0"/>
              </a:rPr>
              <a:t> in SQLserver2000 to populate the data warehoue</a:t>
            </a:r>
          </a:p>
        </p:txBody>
      </p:sp>
      <p:pic>
        <p:nvPicPr>
          <p:cNvPr id="41987" name="Picture 4"/>
          <p:cNvPicPr>
            <a:picLocks noChangeAspect="1" noChangeArrowheads="1"/>
          </p:cNvPicPr>
          <p:nvPr/>
        </p:nvPicPr>
        <p:blipFill>
          <a:blip r:embed="rId2" cstate="print"/>
          <a:srcRect/>
          <a:stretch>
            <a:fillRect/>
          </a:stretch>
        </p:blipFill>
        <p:spPr bwMode="auto">
          <a:xfrm>
            <a:off x="1371600" y="1219200"/>
            <a:ext cx="6115050" cy="5391150"/>
          </a:xfrm>
          <a:prstGeom prst="rect">
            <a:avLst/>
          </a:prstGeom>
          <a:noFill/>
          <a:ln w="9525">
            <a:noFill/>
            <a:miter lim="800000"/>
            <a:headEnd/>
            <a:tailEnd/>
          </a:ln>
        </p:spPr>
      </p:pic>
      <p:sp>
        <p:nvSpPr>
          <p:cNvPr id="41988" name="Text Box 5"/>
          <p:cNvSpPr txBox="1">
            <a:spLocks noChangeArrowheads="1"/>
          </p:cNvSpPr>
          <p:nvPr/>
        </p:nvSpPr>
        <p:spPr bwMode="auto">
          <a:xfrm>
            <a:off x="2286000" y="228600"/>
            <a:ext cx="5029200" cy="366713"/>
          </a:xfrm>
          <a:prstGeom prst="rect">
            <a:avLst/>
          </a:prstGeom>
          <a:noFill/>
          <a:ln w="9525">
            <a:noFill/>
            <a:miter lim="800000"/>
            <a:headEnd/>
            <a:tailEnd/>
          </a:ln>
        </p:spPr>
        <p:txBody>
          <a:bodyPr>
            <a:spAutoFit/>
          </a:bodyPr>
          <a:lstStyle/>
          <a:p>
            <a:pPr>
              <a:spcBef>
                <a:spcPct val="50000"/>
              </a:spcBef>
            </a:pPr>
            <a:r>
              <a:rPr lang="en-US">
                <a:latin typeface="Arial" pitchFamily="34" charset="0"/>
              </a:rPr>
              <a:t>PIL DATA WAREHOUSE TABLES </a:t>
            </a:r>
            <a:r>
              <a:rPr lang="en-US">
                <a:solidFill>
                  <a:srgbClr val="FF0000"/>
                </a:solidFill>
                <a:latin typeface="Arial" pitchFamily="34" charset="0"/>
              </a:rPr>
              <a:t>PROCESS</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4"/>
          <p:cNvPicPr>
            <a:picLocks noChangeAspect="1" noChangeArrowheads="1"/>
          </p:cNvPicPr>
          <p:nvPr/>
        </p:nvPicPr>
        <p:blipFill>
          <a:blip r:embed="rId2" cstate="print"/>
          <a:srcRect/>
          <a:stretch>
            <a:fillRect/>
          </a:stretch>
        </p:blipFill>
        <p:spPr bwMode="auto">
          <a:xfrm>
            <a:off x="838200" y="1219200"/>
            <a:ext cx="7467600" cy="5187950"/>
          </a:xfrm>
          <a:prstGeom prst="rect">
            <a:avLst/>
          </a:prstGeom>
          <a:noFill/>
          <a:ln w="9525">
            <a:noFill/>
            <a:miter lim="800000"/>
            <a:headEnd/>
            <a:tailEnd/>
          </a:ln>
        </p:spPr>
      </p:pic>
      <p:sp>
        <p:nvSpPr>
          <p:cNvPr id="43011" name="Text Box 6"/>
          <p:cNvSpPr txBox="1">
            <a:spLocks noChangeArrowheads="1"/>
          </p:cNvSpPr>
          <p:nvPr/>
        </p:nvSpPr>
        <p:spPr bwMode="auto">
          <a:xfrm>
            <a:off x="2286000" y="457200"/>
            <a:ext cx="4114800" cy="366713"/>
          </a:xfrm>
          <a:prstGeom prst="rect">
            <a:avLst/>
          </a:prstGeom>
          <a:noFill/>
          <a:ln w="9525">
            <a:noFill/>
            <a:miter lim="800000"/>
            <a:headEnd/>
            <a:tailEnd/>
          </a:ln>
        </p:spPr>
        <p:txBody>
          <a:bodyPr>
            <a:spAutoFit/>
          </a:bodyPr>
          <a:lstStyle/>
          <a:p>
            <a:pPr>
              <a:spcBef>
                <a:spcPct val="50000"/>
              </a:spcBef>
            </a:pPr>
            <a:r>
              <a:rPr lang="en-US">
                <a:latin typeface="Arial" pitchFamily="34" charset="0"/>
              </a:rPr>
              <a:t>PIL DATA WAREHOUSE </a:t>
            </a:r>
            <a:r>
              <a:rPr lang="en-US">
                <a:solidFill>
                  <a:srgbClr val="FF0000"/>
                </a:solidFill>
                <a:latin typeface="Arial" pitchFamily="34" charset="0"/>
              </a:rPr>
              <a:t>CUBE</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4"/>
          <p:cNvPicPr>
            <a:picLocks noChangeAspect="1" noChangeArrowheads="1"/>
          </p:cNvPicPr>
          <p:nvPr/>
        </p:nvPicPr>
        <p:blipFill>
          <a:blip r:embed="rId2" cstate="print"/>
          <a:srcRect/>
          <a:stretch>
            <a:fillRect/>
          </a:stretch>
        </p:blipFill>
        <p:spPr bwMode="auto">
          <a:xfrm>
            <a:off x="1609725" y="1181100"/>
            <a:ext cx="5553075" cy="800100"/>
          </a:xfrm>
          <a:prstGeom prst="rect">
            <a:avLst/>
          </a:prstGeom>
          <a:noFill/>
          <a:ln w="9525">
            <a:noFill/>
            <a:miter lim="800000"/>
            <a:headEnd/>
            <a:tailEnd/>
          </a:ln>
        </p:spPr>
      </p:pic>
      <p:pic>
        <p:nvPicPr>
          <p:cNvPr id="44035" name="Picture 5">
            <a:hlinkClick r:id="rId3" action="ppaction://hlinkfile"/>
          </p:cNvPr>
          <p:cNvPicPr>
            <a:picLocks noChangeAspect="1" noChangeArrowheads="1"/>
          </p:cNvPicPr>
          <p:nvPr/>
        </p:nvPicPr>
        <p:blipFill>
          <a:blip r:embed="rId4" cstate="print"/>
          <a:srcRect/>
          <a:stretch>
            <a:fillRect/>
          </a:stretch>
        </p:blipFill>
        <p:spPr bwMode="auto">
          <a:xfrm>
            <a:off x="1371600" y="3267075"/>
            <a:ext cx="6115050" cy="3143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457200" y="1524000"/>
            <a:ext cx="8229600" cy="2590800"/>
          </a:xfrm>
          <a:prstGeom prst="rect">
            <a:avLst/>
          </a:prstGeom>
          <a:noFill/>
          <a:ln w="9525">
            <a:noFill/>
            <a:miter lim="800000"/>
            <a:headEnd/>
            <a:tailEnd/>
          </a:ln>
          <a:effectLst/>
        </p:spPr>
        <p:txBody>
          <a:bodyPr/>
          <a:lstStyle/>
          <a:p>
            <a:pPr marL="342900" indent="-342900" algn="just">
              <a:lnSpc>
                <a:spcPct val="90000"/>
              </a:lnSpc>
              <a:spcBef>
                <a:spcPct val="20000"/>
              </a:spcBef>
              <a:defRPr/>
            </a:pPr>
            <a:r>
              <a:rPr lang="en-US" sz="2400" kern="0" dirty="0">
                <a:latin typeface="Browallia New" pitchFamily="34" charset="-34"/>
                <a:cs typeface="Browallia New" pitchFamily="34" charset="-34"/>
              </a:rPr>
              <a:t>1.  Data warehousing is not a new phenomenon. All large organizations already have data warehouses, but they are just not managing them. Over the next few years, the growth of data warehousing is going to be enormous with new products and technologies coming out frequently. In order to get the most out of this period, it is going to be important that data warehouse planners and developers have a clear idea of what they are looking for and then choose strategies and methods that will provide them with performance .</a:t>
            </a:r>
          </a:p>
        </p:txBody>
      </p:sp>
      <p:pic>
        <p:nvPicPr>
          <p:cNvPr id="45059" name="Picture 5"/>
          <p:cNvPicPr>
            <a:picLocks noChangeAspect="1" noChangeArrowheads="1"/>
          </p:cNvPicPr>
          <p:nvPr/>
        </p:nvPicPr>
        <p:blipFill>
          <a:blip r:embed="rId2" cstate="print"/>
          <a:srcRect/>
          <a:stretch>
            <a:fillRect/>
          </a:stretch>
        </p:blipFill>
        <p:spPr bwMode="auto">
          <a:xfrm>
            <a:off x="1724025" y="266700"/>
            <a:ext cx="5362575" cy="800100"/>
          </a:xfrm>
          <a:prstGeom prst="rect">
            <a:avLst/>
          </a:prstGeom>
          <a:noFill/>
          <a:ln w="9525">
            <a:noFill/>
            <a:miter lim="800000"/>
            <a:headEnd/>
            <a:tailEnd/>
          </a:ln>
        </p:spPr>
      </p:pic>
      <p:sp>
        <p:nvSpPr>
          <p:cNvPr id="7" name="Rectangle 6"/>
          <p:cNvSpPr>
            <a:spLocks noChangeArrowheads="1"/>
          </p:cNvSpPr>
          <p:nvPr/>
        </p:nvSpPr>
        <p:spPr bwMode="auto">
          <a:xfrm>
            <a:off x="609600" y="4386263"/>
            <a:ext cx="7924800" cy="1938337"/>
          </a:xfrm>
          <a:prstGeom prst="rect">
            <a:avLst/>
          </a:prstGeom>
          <a:noFill/>
          <a:ln w="9525">
            <a:noFill/>
            <a:miter lim="800000"/>
            <a:headEnd/>
            <a:tailEnd/>
          </a:ln>
        </p:spPr>
        <p:txBody>
          <a:bodyPr>
            <a:spAutoFit/>
          </a:bodyPr>
          <a:lstStyle/>
          <a:p>
            <a:pPr algn="just"/>
            <a:r>
              <a:rPr lang="en-US" sz="2400">
                <a:latin typeface="Browallia New" pitchFamily="34" charset="-34"/>
                <a:cs typeface="Browallia New" pitchFamily="34" charset="-34"/>
              </a:rPr>
              <a:t>2.   In this first project it achieved the basic data warehouse process and goals from  determining the key PIL information that PIL management wants to keep it in the data warehouse ,extract , transform and load source data and push this information to the PIL data warehouse ,at last the solution offers reports samples that helpful to decision –maker about the PIL historical data </a:t>
            </a:r>
            <a:endParaRPr lang="ar-SA" sz="2400">
              <a:latin typeface="Browallia New" pitchFamily="34" charset="-34"/>
            </a:endParaRPr>
          </a:p>
        </p:txBody>
      </p:sp>
      <p:sp>
        <p:nvSpPr>
          <p:cNvPr id="8" name="Rectangle 6"/>
          <p:cNvSpPr>
            <a:spLocks noChangeArrowheads="1"/>
          </p:cNvSpPr>
          <p:nvPr/>
        </p:nvSpPr>
        <p:spPr bwMode="auto">
          <a:xfrm>
            <a:off x="514350" y="1157288"/>
            <a:ext cx="1543050" cy="366712"/>
          </a:xfrm>
          <a:prstGeom prst="rect">
            <a:avLst/>
          </a:prstGeom>
          <a:noFill/>
          <a:ln w="9525">
            <a:noFill/>
            <a:miter lim="800000"/>
            <a:headEnd/>
            <a:tailEnd/>
          </a:ln>
        </p:spPr>
        <p:txBody>
          <a:bodyPr wrap="none" anchor="ctr">
            <a:spAutoFit/>
          </a:bodyPr>
          <a:lstStyle/>
          <a:p>
            <a:pPr algn="justLow"/>
            <a:r>
              <a:rPr lang="en-US">
                <a:solidFill>
                  <a:srgbClr val="FF0000"/>
                </a:solidFill>
              </a:rPr>
              <a:t>conclusion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Righ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strips(downRigh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strips(downRight)">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5"/>
          <p:cNvPicPr>
            <a:picLocks noChangeAspect="1" noChangeArrowheads="1"/>
          </p:cNvPicPr>
          <p:nvPr/>
        </p:nvPicPr>
        <p:blipFill>
          <a:blip r:embed="rId2" cstate="print"/>
          <a:srcRect/>
          <a:stretch>
            <a:fillRect/>
          </a:stretch>
        </p:blipFill>
        <p:spPr bwMode="auto">
          <a:xfrm>
            <a:off x="1724025" y="266700"/>
            <a:ext cx="5362575" cy="800100"/>
          </a:xfrm>
          <a:prstGeom prst="rect">
            <a:avLst/>
          </a:prstGeom>
          <a:noFill/>
          <a:ln w="9525">
            <a:noFill/>
            <a:miter lim="800000"/>
            <a:headEnd/>
            <a:tailEnd/>
          </a:ln>
        </p:spPr>
      </p:pic>
      <p:sp>
        <p:nvSpPr>
          <p:cNvPr id="46083" name="Rectangle 6"/>
          <p:cNvSpPr>
            <a:spLocks noChangeArrowheads="1"/>
          </p:cNvSpPr>
          <p:nvPr/>
        </p:nvSpPr>
        <p:spPr bwMode="auto">
          <a:xfrm>
            <a:off x="514350" y="1690688"/>
            <a:ext cx="1543050" cy="366712"/>
          </a:xfrm>
          <a:prstGeom prst="rect">
            <a:avLst/>
          </a:prstGeom>
          <a:noFill/>
          <a:ln w="9525">
            <a:noFill/>
            <a:miter lim="800000"/>
            <a:headEnd/>
            <a:tailEnd/>
          </a:ln>
        </p:spPr>
        <p:txBody>
          <a:bodyPr wrap="none" anchor="ctr">
            <a:spAutoFit/>
          </a:bodyPr>
          <a:lstStyle/>
          <a:p>
            <a:pPr algn="justLow"/>
            <a:r>
              <a:rPr lang="en-US">
                <a:solidFill>
                  <a:srgbClr val="FF0000"/>
                </a:solidFill>
              </a:rPr>
              <a:t>conclusion</a:t>
            </a:r>
          </a:p>
        </p:txBody>
      </p:sp>
      <p:sp>
        <p:nvSpPr>
          <p:cNvPr id="59400" name="Rectangle 8"/>
          <p:cNvSpPr>
            <a:spLocks noChangeArrowheads="1"/>
          </p:cNvSpPr>
          <p:nvPr/>
        </p:nvSpPr>
        <p:spPr bwMode="auto">
          <a:xfrm>
            <a:off x="381000" y="2274888"/>
            <a:ext cx="7772400" cy="1077912"/>
          </a:xfrm>
          <a:prstGeom prst="rect">
            <a:avLst/>
          </a:prstGeom>
          <a:noFill/>
          <a:ln w="9525">
            <a:noFill/>
            <a:miter lim="800000"/>
            <a:headEnd/>
            <a:tailEnd/>
          </a:ln>
        </p:spPr>
        <p:txBody>
          <a:bodyPr anchor="ctr">
            <a:spAutoFit/>
          </a:bodyPr>
          <a:lstStyle/>
          <a:p>
            <a:pPr algn="just"/>
            <a:r>
              <a:rPr lang="en-US" sz="1600">
                <a:solidFill>
                  <a:srgbClr val="C00000"/>
                </a:solidFill>
                <a:latin typeface="Arial" pitchFamily="34" charset="0"/>
                <a:cs typeface="Times New Roman" pitchFamily="18" charset="0"/>
              </a:rPr>
              <a:t>3</a:t>
            </a:r>
            <a:r>
              <a:rPr lang="en-US" sz="1600">
                <a:solidFill>
                  <a:srgbClr val="000000"/>
                </a:solidFill>
                <a:latin typeface="Arial" pitchFamily="34" charset="0"/>
                <a:cs typeface="Times New Roman" pitchFamily="18" charset="0"/>
              </a:rPr>
              <a:t>.The project provides more flexible and reliable reports(using OLAP tools),PIL warehouse manages to has multidimensional information that outperforms the optimal static view selection especially for activities that include a lot of roll-up queries, the performance of PIL system is even better</a:t>
            </a:r>
            <a:endParaRPr lang="en-US">
              <a:latin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59400"/>
                                        </p:tgtEl>
                                        <p:attrNameLst>
                                          <p:attrName>style.visibility</p:attrName>
                                        </p:attrNameLst>
                                      </p:cBhvr>
                                      <p:to>
                                        <p:strVal val="visible"/>
                                      </p:to>
                                    </p:set>
                                    <p:animEffect transition="in" filter="strips(downRight)">
                                      <p:cBhvr>
                                        <p:cTn id="7" dur="500"/>
                                        <p:tgtEl>
                                          <p:spTgt spid="594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0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5"/>
          <p:cNvSpPr>
            <a:spLocks noChangeArrowheads="1"/>
          </p:cNvSpPr>
          <p:nvPr/>
        </p:nvSpPr>
        <p:spPr bwMode="auto">
          <a:xfrm>
            <a:off x="1514475" y="517525"/>
            <a:ext cx="2508250" cy="641350"/>
          </a:xfrm>
          <a:prstGeom prst="rect">
            <a:avLst/>
          </a:prstGeom>
          <a:noFill/>
          <a:ln w="9525">
            <a:noFill/>
            <a:miter lim="800000"/>
            <a:headEnd/>
            <a:tailEnd/>
          </a:ln>
        </p:spPr>
        <p:txBody>
          <a:bodyPr wrap="none" anchor="ctr">
            <a:spAutoFit/>
          </a:bodyPr>
          <a:lstStyle/>
          <a:p>
            <a:r>
              <a:rPr lang="en-US">
                <a:solidFill>
                  <a:srgbClr val="FF0000"/>
                </a:solidFill>
                <a:cs typeface="Times New Roman" pitchFamily="18" charset="0"/>
              </a:rPr>
              <a:t>Recommendations</a:t>
            </a:r>
          </a:p>
          <a:p>
            <a:pPr eaLnBrk="0" hangingPunct="0"/>
            <a:endParaRPr lang="en-US">
              <a:solidFill>
                <a:srgbClr val="FF0000"/>
              </a:solidFill>
            </a:endParaRPr>
          </a:p>
        </p:txBody>
      </p:sp>
      <p:pic>
        <p:nvPicPr>
          <p:cNvPr id="60422" name="Picture 6"/>
          <p:cNvPicPr>
            <a:picLocks noChangeAspect="1" noChangeArrowheads="1"/>
          </p:cNvPicPr>
          <p:nvPr/>
        </p:nvPicPr>
        <p:blipFill>
          <a:blip r:embed="rId2" cstate="print"/>
          <a:srcRect/>
          <a:stretch>
            <a:fillRect/>
          </a:stretch>
        </p:blipFill>
        <p:spPr bwMode="auto">
          <a:xfrm>
            <a:off x="1473200" y="933450"/>
            <a:ext cx="6832600" cy="56197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60422"/>
                                        </p:tgtEl>
                                        <p:attrNameLst>
                                          <p:attrName>style.visibility</p:attrName>
                                        </p:attrNameLst>
                                      </p:cBhvr>
                                      <p:to>
                                        <p:strVal val="visible"/>
                                      </p:to>
                                    </p:set>
                                    <p:animEffect transition="in" filter="strips(downRight)">
                                      <p:cBhvr>
                                        <p:cTn id="7" dur="500"/>
                                        <p:tgtEl>
                                          <p:spTgt spid="604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WordArt 4"/>
          <p:cNvSpPr>
            <a:spLocks noChangeArrowheads="1" noChangeShapeType="1" noTextEdit="1"/>
          </p:cNvSpPr>
          <p:nvPr/>
        </p:nvSpPr>
        <p:spPr bwMode="auto">
          <a:xfrm>
            <a:off x="1905000" y="2743200"/>
            <a:ext cx="3810000" cy="838200"/>
          </a:xfrm>
          <a:prstGeom prst="rect">
            <a:avLst/>
          </a:prstGeom>
        </p:spPr>
        <p:txBody>
          <a:bodyPr wrap="none" fromWordArt="1">
            <a:prstTxWarp prst="textPlain">
              <a:avLst>
                <a:gd name="adj" fmla="val 50000"/>
              </a:avLst>
            </a:prstTxWarp>
          </a:bodyPr>
          <a:lstStyle/>
          <a:p>
            <a:pPr algn="ctr"/>
            <a:r>
              <a:rPr lang="en-US" sz="3600" kern="10">
                <a:ln w="19050">
                  <a:solidFill>
                    <a:srgbClr val="99CCFF"/>
                  </a:solidFill>
                  <a:round/>
                  <a:headEnd/>
                  <a:tailEnd/>
                </a:ln>
                <a:solidFill>
                  <a:srgbClr val="0066CC"/>
                </a:solidFill>
                <a:effectLst>
                  <a:outerShdw dist="35921" dir="2700000" algn="ctr" rotWithShape="0">
                    <a:srgbClr val="990000"/>
                  </a:outerShdw>
                </a:effectLst>
                <a:latin typeface="Impact"/>
              </a:rPr>
              <a:t>thank you</a:t>
            </a:r>
            <a:endParaRPr lang="ar-EG" sz="3600" kern="10">
              <a:ln w="19050">
                <a:solidFill>
                  <a:srgbClr val="99CCFF"/>
                </a:solidFill>
                <a:round/>
                <a:headEnd/>
                <a:tailEnd/>
              </a:ln>
              <a:solidFill>
                <a:srgbClr val="0066CC"/>
              </a:solidFill>
              <a:effectLst>
                <a:outerShdw dist="35921" dir="2700000" algn="ctr" rotWithShape="0">
                  <a:srgbClr val="990000"/>
                </a:outerShdw>
              </a:effectLst>
              <a:latin typeface="Impact"/>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Black" pitchFamily="34" charset="0"/>
            <a:cs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Black" pitchFamily="34" charset="0"/>
            <a:cs typeface="Arial"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1699</TotalTime>
  <Words>822</Words>
  <Application>Microsoft Office PowerPoint</Application>
  <PresentationFormat>On-screen Show (4:3)</PresentationFormat>
  <Paragraphs>115</Paragraphs>
  <Slides>43</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Arial Black</vt:lpstr>
      <vt:lpstr>Arial</vt:lpstr>
      <vt:lpstr>Calibri</vt:lpstr>
      <vt:lpstr>Times New Roman</vt:lpstr>
      <vt:lpstr>Browallia New</vt:lpstr>
      <vt:lpstr>Default Design</vt:lpstr>
      <vt:lpstr>SEQUENCE</vt:lpstr>
      <vt:lpstr>Slide 2</vt:lpstr>
      <vt:lpstr>Slide 3</vt:lpstr>
      <vt:lpstr>Data Warehousing</vt:lpstr>
      <vt:lpstr>Data Warehousing</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Data Warehouse Schema</vt:lpstr>
      <vt:lpstr>Slide 23</vt:lpstr>
      <vt:lpstr>Slide 24</vt:lpstr>
      <vt:lpstr>Slide 25</vt:lpstr>
      <vt:lpstr>Slide 26</vt:lpstr>
      <vt:lpstr>Slide 27</vt:lpstr>
      <vt:lpstr>Slide 28</vt:lpstr>
      <vt:lpstr>Warehouse Schemas</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Your Organization Name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MSW</dc:creator>
  <cp:lastModifiedBy>hp</cp:lastModifiedBy>
  <cp:revision>83</cp:revision>
  <dcterms:created xsi:type="dcterms:W3CDTF">2010-10-14T17:56:26Z</dcterms:created>
  <dcterms:modified xsi:type="dcterms:W3CDTF">2017-03-18T20:06:56Z</dcterms:modified>
</cp:coreProperties>
</file>