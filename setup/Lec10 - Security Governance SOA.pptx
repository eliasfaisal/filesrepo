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49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35438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942"/>
        </a:solidFill>
        <a:effectLst/>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0A1D30"/>
          </a:solidFill>
          <a:ln/>
        </p:spPr>
      </p:sp>
      <p:sp>
        <p:nvSpPr>
          <p:cNvPr id="3" name="Text 1"/>
          <p:cNvSpPr/>
          <p:nvPr/>
        </p:nvSpPr>
        <p:spPr>
          <a:xfrm>
            <a:off x="640080" y="2743200"/>
            <a:ext cx="3017520" cy="457200"/>
          </a:xfrm>
          <a:prstGeom prst="rect">
            <a:avLst/>
          </a:prstGeom>
          <a:noFill/>
          <a:ln/>
        </p:spPr>
        <p:txBody>
          <a:bodyPr wrap="square" lIns="0" tIns="0" rIns="0" bIns="0" rtlCol="0" anchor="ctr"/>
          <a:lstStyle/>
          <a:p>
            <a:pPr marL="0" indent="0">
              <a:buNone/>
            </a:pPr>
            <a:r>
              <a:rPr lang="en-US" sz="1600" b="1" dirty="0">
                <a:solidFill>
                  <a:srgbClr val="00B8A9"/>
                </a:solidFill>
                <a:latin typeface="Calibri" pitchFamily="34" charset="0"/>
                <a:ea typeface="Calibri" pitchFamily="34" charset="-122"/>
                <a:cs typeface="Calibri" pitchFamily="34" charset="-120"/>
              </a:rPr>
              <a:t>LECTURE 10</a:t>
            </a:r>
            <a:endParaRPr lang="en-US" sz="1600" dirty="0"/>
          </a:p>
        </p:txBody>
      </p:sp>
      <p:sp>
        <p:nvSpPr>
          <p:cNvPr id="4" name="Text 2"/>
          <p:cNvSpPr/>
          <p:nvPr/>
        </p:nvSpPr>
        <p:spPr>
          <a:xfrm>
            <a:off x="457200" y="3108960"/>
            <a:ext cx="3291840" cy="2011680"/>
          </a:xfrm>
          <a:prstGeom prst="rect">
            <a:avLst/>
          </a:prstGeom>
          <a:noFill/>
          <a:ln/>
        </p:spPr>
        <p:txBody>
          <a:bodyPr wrap="square" lIns="0" tIns="0" rIns="0" bIns="0" rtlCol="0" anchor="ctr"/>
          <a:lstStyle/>
          <a:p>
            <a:pPr marL="0" indent="0">
              <a:buNone/>
            </a:pPr>
            <a:r>
              <a:rPr lang="en-US" sz="10000" b="1" dirty="0">
                <a:solidFill>
                  <a:srgbClr val="1C3A55"/>
                </a:solidFill>
                <a:latin typeface="Calibri" pitchFamily="34" charset="0"/>
                <a:ea typeface="Calibri" pitchFamily="34" charset="-122"/>
                <a:cs typeface="Calibri" pitchFamily="34" charset="-120"/>
              </a:rPr>
              <a:t>10</a:t>
            </a:r>
            <a:endParaRPr lang="en-US" sz="10000" dirty="0"/>
          </a:p>
        </p:txBody>
      </p:sp>
      <p:sp>
        <p:nvSpPr>
          <p:cNvPr id="5" name="Text 3"/>
          <p:cNvSpPr/>
          <p:nvPr/>
        </p:nvSpPr>
        <p:spPr>
          <a:xfrm>
            <a:off x="4663440" y="2423160"/>
            <a:ext cx="6949440" cy="1463040"/>
          </a:xfrm>
          <a:prstGeom prst="rect">
            <a:avLst/>
          </a:prstGeom>
          <a:noFill/>
          <a:ln/>
        </p:spPr>
        <p:txBody>
          <a:bodyPr wrap="square" lIns="0" tIns="0" rIns="0" bIns="0" rtlCol="0" anchor="t"/>
          <a:lstStyle/>
          <a:p>
            <a:pPr marL="0" indent="0">
              <a:buNone/>
            </a:pPr>
            <a:r>
              <a:rPr lang="en-US" sz="3400" b="1" dirty="0">
                <a:solidFill>
                  <a:srgbClr val="FFFFFF"/>
                </a:solidFill>
                <a:latin typeface="Calibri" pitchFamily="34" charset="0"/>
                <a:ea typeface="Calibri" pitchFamily="34" charset="-122"/>
                <a:cs typeface="Calibri" pitchFamily="34" charset="-120"/>
              </a:rPr>
              <a:t>Security &amp; Governance in SOA</a:t>
            </a:r>
            <a:endParaRPr lang="en-US" sz="3400" dirty="0"/>
          </a:p>
        </p:txBody>
      </p:sp>
      <p:sp>
        <p:nvSpPr>
          <p:cNvPr id="6" name="Text 4"/>
          <p:cNvSpPr/>
          <p:nvPr/>
        </p:nvSpPr>
        <p:spPr>
          <a:xfrm>
            <a:off x="4709160" y="3977639"/>
            <a:ext cx="6766560" cy="2040605"/>
          </a:xfrm>
          <a:prstGeom prst="rect">
            <a:avLst/>
          </a:prstGeom>
          <a:noFill/>
          <a:ln/>
        </p:spPr>
        <p:txBody>
          <a:bodyPr wrap="square" lIns="0" tIns="0" rIns="0" bIns="0" rtlCol="0" anchor="t"/>
          <a:lstStyle/>
          <a:p>
            <a:pPr marL="0" indent="0">
              <a:lnSpc>
                <a:spcPct val="130000"/>
              </a:lnSpc>
              <a:buNone/>
            </a:pPr>
            <a:r>
              <a:rPr lang="en-US" sz="2400" dirty="0">
                <a:solidFill>
                  <a:srgbClr val="C7D0D9"/>
                </a:solidFill>
                <a:latin typeface="Calibri" pitchFamily="34" charset="0"/>
                <a:ea typeface="Calibri" pitchFamily="34" charset="-122"/>
                <a:cs typeface="Calibri" pitchFamily="34" charset="-120"/>
              </a:rPr>
              <a:t>Protecting distributed services with WS-Security, authentication and authorization patterns, and the governance practices that keep a large service inventory healthy over time.</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640080"/>
          </a:xfrm>
          <a:prstGeom prst="rect">
            <a:avLst/>
          </a:prstGeom>
          <a:noFill/>
          <a:ln/>
        </p:spPr>
        <p:txBody>
          <a:bodyPr wrap="square" lIns="0" tIns="0" rIns="0" bIns="0" rtlCol="0" anchor="ctr"/>
          <a:lstStyle/>
          <a:p>
            <a:pPr marL="0" indent="0">
              <a:buNone/>
            </a:pPr>
            <a:r>
              <a:rPr lang="en-US" sz="3000" b="1" dirty="0">
                <a:solidFill>
                  <a:srgbClr val="0F2942"/>
                </a:solidFill>
                <a:latin typeface="Calibri" pitchFamily="34" charset="0"/>
                <a:ea typeface="Calibri" pitchFamily="34" charset="-122"/>
                <a:cs typeface="Calibri" pitchFamily="34" charset="-120"/>
              </a:rPr>
              <a:t>Agenda</a:t>
            </a:r>
            <a:endParaRPr lang="en-US" sz="3000" dirty="0"/>
          </a:p>
        </p:txBody>
      </p:sp>
      <p:sp>
        <p:nvSpPr>
          <p:cNvPr id="3" name="Shape 1"/>
          <p:cNvSpPr/>
          <p:nvPr/>
        </p:nvSpPr>
        <p:spPr>
          <a:xfrm>
            <a:off x="566928" y="1097280"/>
            <a:ext cx="457200" cy="54864"/>
          </a:xfrm>
          <a:prstGeom prst="rect">
            <a:avLst/>
          </a:prstGeom>
          <a:solidFill>
            <a:srgbClr val="00B8A9"/>
          </a:solidFill>
          <a:ln/>
        </p:spPr>
      </p:sp>
      <p:sp>
        <p:nvSpPr>
          <p:cNvPr id="4" name="Shape 2"/>
          <p:cNvSpPr/>
          <p:nvPr/>
        </p:nvSpPr>
        <p:spPr>
          <a:xfrm>
            <a:off x="640080" y="1508760"/>
            <a:ext cx="457200" cy="457200"/>
          </a:xfrm>
          <a:prstGeom prst="roundRect">
            <a:avLst>
              <a:gd name="adj" fmla="val 16000"/>
            </a:avLst>
          </a:prstGeom>
          <a:solidFill>
            <a:srgbClr val="EAF6F5"/>
          </a:solidFill>
          <a:ln/>
        </p:spPr>
      </p:sp>
      <p:sp>
        <p:nvSpPr>
          <p:cNvPr id="5" name="Text 3"/>
          <p:cNvSpPr/>
          <p:nvPr/>
        </p:nvSpPr>
        <p:spPr>
          <a:xfrm>
            <a:off x="640080" y="1508760"/>
            <a:ext cx="457200" cy="457200"/>
          </a:xfrm>
          <a:prstGeom prst="rect">
            <a:avLst/>
          </a:prstGeom>
          <a:noFill/>
          <a:ln/>
        </p:spPr>
        <p:txBody>
          <a:bodyPr wrap="square" lIns="0" tIns="0" rIns="0" bIns="0" rtlCol="0" anchor="ctr"/>
          <a:lstStyle/>
          <a:p>
            <a:pPr marL="0" indent="0" algn="ctr">
              <a:buNone/>
            </a:pPr>
            <a:r>
              <a:rPr lang="en-US" sz="1600" b="1" dirty="0">
                <a:solidFill>
                  <a:srgbClr val="00B8A9"/>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234440" y="1481328"/>
            <a:ext cx="8823960" cy="548640"/>
          </a:xfrm>
          <a:prstGeom prst="rect">
            <a:avLst/>
          </a:prstGeom>
          <a:noFill/>
          <a:ln/>
        </p:spPr>
        <p:txBody>
          <a:bodyPr wrap="square" lIns="0" tIns="0" rIns="0" bIns="0" rtlCol="0" anchor="ctr"/>
          <a:lstStyle/>
          <a:p>
            <a:pPr marL="0" indent="0">
              <a:buNone/>
            </a:pPr>
            <a:r>
              <a:rPr lang="en-US" sz="2400" dirty="0">
                <a:solidFill>
                  <a:srgbClr val="33394A"/>
                </a:solidFill>
                <a:latin typeface="Calibri" pitchFamily="34" charset="0"/>
                <a:ea typeface="Calibri" pitchFamily="34" charset="-122"/>
                <a:cs typeface="Calibri" pitchFamily="34" charset="-120"/>
              </a:rPr>
              <a:t>Why security is harder in a distributed, service-oriented world</a:t>
            </a:r>
            <a:endParaRPr lang="en-US" sz="2400" dirty="0"/>
          </a:p>
        </p:txBody>
      </p:sp>
      <p:sp>
        <p:nvSpPr>
          <p:cNvPr id="7" name="Shape 5"/>
          <p:cNvSpPr/>
          <p:nvPr/>
        </p:nvSpPr>
        <p:spPr>
          <a:xfrm>
            <a:off x="640080" y="2301240"/>
            <a:ext cx="457200" cy="457200"/>
          </a:xfrm>
          <a:prstGeom prst="roundRect">
            <a:avLst>
              <a:gd name="adj" fmla="val 16000"/>
            </a:avLst>
          </a:prstGeom>
          <a:solidFill>
            <a:srgbClr val="EAF6F5"/>
          </a:solidFill>
          <a:ln/>
        </p:spPr>
      </p:sp>
      <p:sp>
        <p:nvSpPr>
          <p:cNvPr id="8" name="Text 6"/>
          <p:cNvSpPr/>
          <p:nvPr/>
        </p:nvSpPr>
        <p:spPr>
          <a:xfrm>
            <a:off x="640080" y="2301240"/>
            <a:ext cx="457200" cy="457200"/>
          </a:xfrm>
          <a:prstGeom prst="rect">
            <a:avLst/>
          </a:prstGeom>
          <a:noFill/>
          <a:ln/>
        </p:spPr>
        <p:txBody>
          <a:bodyPr wrap="square" lIns="0" tIns="0" rIns="0" bIns="0" rtlCol="0" anchor="ctr"/>
          <a:lstStyle/>
          <a:p>
            <a:pPr marL="0" indent="0" algn="ctr">
              <a:buNone/>
            </a:pPr>
            <a:r>
              <a:rPr lang="en-US" sz="1600" b="1" dirty="0">
                <a:solidFill>
                  <a:srgbClr val="00B8A9"/>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234440" y="2273808"/>
            <a:ext cx="8823960" cy="548640"/>
          </a:xfrm>
          <a:prstGeom prst="rect">
            <a:avLst/>
          </a:prstGeom>
          <a:noFill/>
          <a:ln/>
        </p:spPr>
        <p:txBody>
          <a:bodyPr wrap="square" lIns="0" tIns="0" rIns="0" bIns="0" rtlCol="0" anchor="ctr"/>
          <a:lstStyle/>
          <a:p>
            <a:pPr marL="0" indent="0">
              <a:buNone/>
            </a:pPr>
            <a:r>
              <a:rPr lang="en-US" sz="2400" dirty="0">
                <a:solidFill>
                  <a:srgbClr val="33394A"/>
                </a:solidFill>
                <a:latin typeface="Calibri" pitchFamily="34" charset="0"/>
                <a:ea typeface="Calibri" pitchFamily="34" charset="-122"/>
                <a:cs typeface="Calibri" pitchFamily="34" charset="-120"/>
              </a:rPr>
              <a:t>WS-Security: message-level protection for SOAP</a:t>
            </a:r>
            <a:endParaRPr lang="en-US" sz="2400" dirty="0"/>
          </a:p>
        </p:txBody>
      </p:sp>
      <p:sp>
        <p:nvSpPr>
          <p:cNvPr id="10" name="Shape 8"/>
          <p:cNvSpPr/>
          <p:nvPr/>
        </p:nvSpPr>
        <p:spPr>
          <a:xfrm>
            <a:off x="640080" y="3093720"/>
            <a:ext cx="457200" cy="457200"/>
          </a:xfrm>
          <a:prstGeom prst="roundRect">
            <a:avLst>
              <a:gd name="adj" fmla="val 16000"/>
            </a:avLst>
          </a:prstGeom>
          <a:solidFill>
            <a:srgbClr val="EAF6F5"/>
          </a:solidFill>
          <a:ln/>
        </p:spPr>
      </p:sp>
      <p:sp>
        <p:nvSpPr>
          <p:cNvPr id="11" name="Text 9"/>
          <p:cNvSpPr/>
          <p:nvPr/>
        </p:nvSpPr>
        <p:spPr>
          <a:xfrm>
            <a:off x="640080" y="3093720"/>
            <a:ext cx="457200" cy="457200"/>
          </a:xfrm>
          <a:prstGeom prst="rect">
            <a:avLst/>
          </a:prstGeom>
          <a:noFill/>
          <a:ln/>
        </p:spPr>
        <p:txBody>
          <a:bodyPr wrap="square" lIns="0" tIns="0" rIns="0" bIns="0" rtlCol="0" anchor="ctr"/>
          <a:lstStyle/>
          <a:p>
            <a:pPr marL="0" indent="0" algn="ctr">
              <a:buNone/>
            </a:pPr>
            <a:r>
              <a:rPr lang="en-US" sz="1600" b="1" dirty="0">
                <a:solidFill>
                  <a:srgbClr val="00B8A9"/>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234440" y="3066288"/>
            <a:ext cx="8823960" cy="548640"/>
          </a:xfrm>
          <a:prstGeom prst="rect">
            <a:avLst/>
          </a:prstGeom>
          <a:noFill/>
          <a:ln/>
        </p:spPr>
        <p:txBody>
          <a:bodyPr wrap="square" lIns="0" tIns="0" rIns="0" bIns="0" rtlCol="0" anchor="ctr"/>
          <a:lstStyle/>
          <a:p>
            <a:pPr marL="0" indent="0">
              <a:buNone/>
            </a:pPr>
            <a:r>
              <a:rPr lang="en-US" sz="2400" dirty="0">
                <a:solidFill>
                  <a:srgbClr val="33394A"/>
                </a:solidFill>
                <a:latin typeface="Calibri" pitchFamily="34" charset="0"/>
                <a:ea typeface="Calibri" pitchFamily="34" charset="-122"/>
                <a:cs typeface="Calibri" pitchFamily="34" charset="-120"/>
              </a:rPr>
              <a:t>Modern authentication and authorization: OAuth2, JWT, API keys</a:t>
            </a:r>
            <a:endParaRPr lang="en-US" sz="2400" dirty="0"/>
          </a:p>
        </p:txBody>
      </p:sp>
      <p:sp>
        <p:nvSpPr>
          <p:cNvPr id="13" name="Shape 11"/>
          <p:cNvSpPr/>
          <p:nvPr/>
        </p:nvSpPr>
        <p:spPr>
          <a:xfrm>
            <a:off x="640080" y="3886200"/>
            <a:ext cx="457200" cy="457200"/>
          </a:xfrm>
          <a:prstGeom prst="roundRect">
            <a:avLst>
              <a:gd name="adj" fmla="val 16000"/>
            </a:avLst>
          </a:prstGeom>
          <a:solidFill>
            <a:srgbClr val="EAF6F5"/>
          </a:solidFill>
          <a:ln/>
        </p:spPr>
      </p:sp>
      <p:sp>
        <p:nvSpPr>
          <p:cNvPr id="14" name="Text 12"/>
          <p:cNvSpPr/>
          <p:nvPr/>
        </p:nvSpPr>
        <p:spPr>
          <a:xfrm>
            <a:off x="640080" y="3886200"/>
            <a:ext cx="457200" cy="457200"/>
          </a:xfrm>
          <a:prstGeom prst="rect">
            <a:avLst/>
          </a:prstGeom>
          <a:noFill/>
          <a:ln/>
        </p:spPr>
        <p:txBody>
          <a:bodyPr wrap="square" lIns="0" tIns="0" rIns="0" bIns="0" rtlCol="0" anchor="ctr"/>
          <a:lstStyle/>
          <a:p>
            <a:pPr marL="0" indent="0" algn="ctr">
              <a:buNone/>
            </a:pPr>
            <a:r>
              <a:rPr lang="en-US" sz="1600" b="1" dirty="0">
                <a:solidFill>
                  <a:srgbClr val="00B8A9"/>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234440" y="3858768"/>
            <a:ext cx="8823960" cy="548640"/>
          </a:xfrm>
          <a:prstGeom prst="rect">
            <a:avLst/>
          </a:prstGeom>
          <a:noFill/>
          <a:ln/>
        </p:spPr>
        <p:txBody>
          <a:bodyPr wrap="square" lIns="0" tIns="0" rIns="0" bIns="0" rtlCol="0" anchor="ctr"/>
          <a:lstStyle/>
          <a:p>
            <a:pPr marL="0" indent="0">
              <a:buNone/>
            </a:pPr>
            <a:r>
              <a:rPr lang="en-US" sz="2400" dirty="0">
                <a:solidFill>
                  <a:srgbClr val="33394A"/>
                </a:solidFill>
                <a:latin typeface="Calibri" pitchFamily="34" charset="0"/>
                <a:ea typeface="Calibri" pitchFamily="34" charset="-122"/>
                <a:cs typeface="Calibri" pitchFamily="34" charset="-120"/>
              </a:rPr>
              <a:t>SOA governance: what it is and why it matters</a:t>
            </a:r>
            <a:endParaRPr lang="en-US" sz="2400" dirty="0"/>
          </a:p>
        </p:txBody>
      </p:sp>
      <p:sp>
        <p:nvSpPr>
          <p:cNvPr id="16" name="Shape 14"/>
          <p:cNvSpPr/>
          <p:nvPr/>
        </p:nvSpPr>
        <p:spPr>
          <a:xfrm>
            <a:off x="640080" y="4678680"/>
            <a:ext cx="457200" cy="457200"/>
          </a:xfrm>
          <a:prstGeom prst="roundRect">
            <a:avLst>
              <a:gd name="adj" fmla="val 16000"/>
            </a:avLst>
          </a:prstGeom>
          <a:solidFill>
            <a:srgbClr val="EAF6F5"/>
          </a:solidFill>
          <a:ln/>
        </p:spPr>
      </p:sp>
      <p:sp>
        <p:nvSpPr>
          <p:cNvPr id="17" name="Text 15"/>
          <p:cNvSpPr/>
          <p:nvPr/>
        </p:nvSpPr>
        <p:spPr>
          <a:xfrm>
            <a:off x="640080" y="4678680"/>
            <a:ext cx="457200" cy="457200"/>
          </a:xfrm>
          <a:prstGeom prst="rect">
            <a:avLst/>
          </a:prstGeom>
          <a:noFill/>
          <a:ln/>
        </p:spPr>
        <p:txBody>
          <a:bodyPr wrap="square" lIns="0" tIns="0" rIns="0" bIns="0" rtlCol="0" anchor="ctr"/>
          <a:lstStyle/>
          <a:p>
            <a:pPr marL="0" indent="0" algn="ctr">
              <a:buNone/>
            </a:pPr>
            <a:r>
              <a:rPr lang="en-US" sz="1600" b="1" dirty="0">
                <a:solidFill>
                  <a:srgbClr val="00B8A9"/>
                </a:solidFill>
                <a:latin typeface="Calibri" pitchFamily="34" charset="0"/>
                <a:ea typeface="Calibri" pitchFamily="34" charset="-122"/>
                <a:cs typeface="Calibri" pitchFamily="34" charset="-120"/>
              </a:rPr>
              <a:t>5</a:t>
            </a:r>
            <a:endParaRPr lang="en-US" sz="1600" dirty="0"/>
          </a:p>
        </p:txBody>
      </p:sp>
      <p:sp>
        <p:nvSpPr>
          <p:cNvPr id="18" name="Text 16"/>
          <p:cNvSpPr/>
          <p:nvPr/>
        </p:nvSpPr>
        <p:spPr>
          <a:xfrm>
            <a:off x="1234440" y="4651248"/>
            <a:ext cx="8823960" cy="548640"/>
          </a:xfrm>
          <a:prstGeom prst="rect">
            <a:avLst/>
          </a:prstGeom>
          <a:noFill/>
          <a:ln/>
        </p:spPr>
        <p:txBody>
          <a:bodyPr wrap="square" lIns="0" tIns="0" rIns="0" bIns="0" rtlCol="0" anchor="ctr"/>
          <a:lstStyle/>
          <a:p>
            <a:pPr marL="0" indent="0">
              <a:buNone/>
            </a:pPr>
            <a:r>
              <a:rPr lang="en-US" sz="2400" dirty="0">
                <a:solidFill>
                  <a:srgbClr val="33394A"/>
                </a:solidFill>
                <a:latin typeface="Calibri" pitchFamily="34" charset="0"/>
                <a:ea typeface="Calibri" pitchFamily="34" charset="-122"/>
                <a:cs typeface="Calibri" pitchFamily="34" charset="-120"/>
              </a:rPr>
              <a:t>Service lifecycle governance and versioning policy</a:t>
            </a:r>
            <a:endParaRPr lang="en-US" sz="2400" dirty="0"/>
          </a:p>
        </p:txBody>
      </p:sp>
      <p:sp>
        <p:nvSpPr>
          <p:cNvPr id="19" name="Shape 17"/>
          <p:cNvSpPr/>
          <p:nvPr/>
        </p:nvSpPr>
        <p:spPr>
          <a:xfrm>
            <a:off x="640080" y="5471160"/>
            <a:ext cx="457200" cy="457200"/>
          </a:xfrm>
          <a:prstGeom prst="roundRect">
            <a:avLst>
              <a:gd name="adj" fmla="val 16000"/>
            </a:avLst>
          </a:prstGeom>
          <a:solidFill>
            <a:srgbClr val="EAF6F5"/>
          </a:solidFill>
          <a:ln/>
        </p:spPr>
      </p:sp>
      <p:sp>
        <p:nvSpPr>
          <p:cNvPr id="20" name="Text 18"/>
          <p:cNvSpPr/>
          <p:nvPr/>
        </p:nvSpPr>
        <p:spPr>
          <a:xfrm>
            <a:off x="640080" y="5471160"/>
            <a:ext cx="457200" cy="457200"/>
          </a:xfrm>
          <a:prstGeom prst="rect">
            <a:avLst/>
          </a:prstGeom>
          <a:noFill/>
          <a:ln/>
        </p:spPr>
        <p:txBody>
          <a:bodyPr wrap="square" lIns="0" tIns="0" rIns="0" bIns="0" rtlCol="0" anchor="ctr"/>
          <a:lstStyle/>
          <a:p>
            <a:pPr marL="0" indent="0" algn="ctr">
              <a:buNone/>
            </a:pPr>
            <a:r>
              <a:rPr lang="en-US" sz="1600" b="1" dirty="0">
                <a:solidFill>
                  <a:srgbClr val="00B8A9"/>
                </a:solidFill>
                <a:latin typeface="Calibri" pitchFamily="34" charset="0"/>
                <a:ea typeface="Calibri" pitchFamily="34" charset="-122"/>
                <a:cs typeface="Calibri" pitchFamily="34" charset="-120"/>
              </a:rPr>
              <a:t>6</a:t>
            </a:r>
            <a:endParaRPr lang="en-US" sz="1600" dirty="0"/>
          </a:p>
        </p:txBody>
      </p:sp>
      <p:sp>
        <p:nvSpPr>
          <p:cNvPr id="21" name="Text 19"/>
          <p:cNvSpPr/>
          <p:nvPr/>
        </p:nvSpPr>
        <p:spPr>
          <a:xfrm>
            <a:off x="1234440" y="5443728"/>
            <a:ext cx="8823960" cy="548640"/>
          </a:xfrm>
          <a:prstGeom prst="rect">
            <a:avLst/>
          </a:prstGeom>
          <a:noFill/>
          <a:ln/>
        </p:spPr>
        <p:txBody>
          <a:bodyPr wrap="square" lIns="0" tIns="0" rIns="0" bIns="0" rtlCol="0" anchor="ctr"/>
          <a:lstStyle/>
          <a:p>
            <a:pPr marL="0" indent="0">
              <a:buNone/>
            </a:pPr>
            <a:r>
              <a:rPr lang="en-US" sz="2400" dirty="0">
                <a:solidFill>
                  <a:srgbClr val="33394A"/>
                </a:solidFill>
                <a:latin typeface="Calibri" pitchFamily="34" charset="0"/>
                <a:ea typeface="Calibri" pitchFamily="34" charset="-122"/>
                <a:cs typeface="Calibri" pitchFamily="34" charset="-120"/>
              </a:rPr>
              <a:t>Case studies and course wrap-up</a:t>
            </a:r>
            <a:endParaRPr lang="en-US" sz="2400" dirty="0"/>
          </a:p>
        </p:txBody>
      </p:sp>
      <p:sp>
        <p:nvSpPr>
          <p:cNvPr id="22" name="Text 20"/>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10: Security &amp; Governance in SOA</a:t>
            </a:r>
            <a:endParaRPr lang="en-US" sz="900" dirty="0"/>
          </a:p>
        </p:txBody>
      </p:sp>
      <p:sp>
        <p:nvSpPr>
          <p:cNvPr id="23" name="Text 21"/>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Why Security Is Harder in SOA</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A monolith has one process boundary to secure; SOA has many independently exposed network endpoints</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Messages may pass through multiple intermediaries (an ESB, gateways) before reaching their final destination</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New attack surfaces appear:</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Each service is a potential entry point for attackers</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Sensitive data may be exposed while a message is 'in transit' between hops</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Different teams may implement security inconsistently across services</a:t>
            </a:r>
            <a:endParaRPr lang="en-US" sz="28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10: Security &amp; Governance in SOA</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Transport-Level vs. Message-Level Security</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Shape 2"/>
          <p:cNvSpPr/>
          <p:nvPr/>
        </p:nvSpPr>
        <p:spPr>
          <a:xfrm>
            <a:off x="548640" y="1325880"/>
            <a:ext cx="5349240" cy="594360"/>
          </a:xfrm>
          <a:prstGeom prst="roundRect">
            <a:avLst>
              <a:gd name="adj" fmla="val 12308"/>
            </a:avLst>
          </a:prstGeom>
          <a:solidFill>
            <a:srgbClr val="44546A"/>
          </a:solidFill>
          <a:ln/>
        </p:spPr>
      </p:sp>
      <p:sp>
        <p:nvSpPr>
          <p:cNvPr id="5" name="Text 3"/>
          <p:cNvSpPr/>
          <p:nvPr/>
        </p:nvSpPr>
        <p:spPr>
          <a:xfrm>
            <a:off x="548640" y="1325880"/>
            <a:ext cx="534924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Transport-Level (e.g., TLS/HTTPS)</a:t>
            </a:r>
            <a:endParaRPr lang="en-US" sz="2400" dirty="0"/>
          </a:p>
        </p:txBody>
      </p:sp>
      <p:sp>
        <p:nvSpPr>
          <p:cNvPr id="6" name="Shape 4"/>
          <p:cNvSpPr/>
          <p:nvPr/>
        </p:nvSpPr>
        <p:spPr>
          <a:xfrm>
            <a:off x="6263640" y="1325880"/>
            <a:ext cx="5349240" cy="594360"/>
          </a:xfrm>
          <a:prstGeom prst="roundRect">
            <a:avLst>
              <a:gd name="adj" fmla="val 12308"/>
            </a:avLst>
          </a:prstGeom>
          <a:solidFill>
            <a:srgbClr val="00A79A"/>
          </a:solidFill>
          <a:ln/>
        </p:spPr>
      </p:sp>
      <p:sp>
        <p:nvSpPr>
          <p:cNvPr id="7" name="Text 5"/>
          <p:cNvSpPr/>
          <p:nvPr/>
        </p:nvSpPr>
        <p:spPr>
          <a:xfrm>
            <a:off x="6263640" y="1325880"/>
            <a:ext cx="534924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Message-Level (e.g., WS-Security)</a:t>
            </a:r>
            <a:endParaRPr lang="en-US" sz="2400" dirty="0"/>
          </a:p>
        </p:txBody>
      </p:sp>
      <p:sp>
        <p:nvSpPr>
          <p:cNvPr id="8" name="Shape 6"/>
          <p:cNvSpPr/>
          <p:nvPr/>
        </p:nvSpPr>
        <p:spPr>
          <a:xfrm>
            <a:off x="548640" y="2057400"/>
            <a:ext cx="5349240" cy="4297680"/>
          </a:xfrm>
          <a:prstGeom prst="roundRect">
            <a:avLst>
              <a:gd name="adj" fmla="val 1702"/>
            </a:avLst>
          </a:prstGeom>
          <a:solidFill>
            <a:srgbClr val="F4F6F8"/>
          </a:solidFill>
          <a:ln/>
        </p:spPr>
      </p:sp>
      <p:sp>
        <p:nvSpPr>
          <p:cNvPr id="9" name="Shape 7"/>
          <p:cNvSpPr/>
          <p:nvPr/>
        </p:nvSpPr>
        <p:spPr>
          <a:xfrm>
            <a:off x="6263640" y="2057400"/>
            <a:ext cx="5349240" cy="4297680"/>
          </a:xfrm>
          <a:prstGeom prst="roundRect">
            <a:avLst>
              <a:gd name="adj" fmla="val 1702"/>
            </a:avLst>
          </a:prstGeom>
          <a:solidFill>
            <a:srgbClr val="F4F6F8"/>
          </a:solidFill>
          <a:ln/>
        </p:spPr>
      </p:sp>
      <p:sp>
        <p:nvSpPr>
          <p:cNvPr id="10" name="Text 8"/>
          <p:cNvSpPr/>
          <p:nvPr/>
        </p:nvSpPr>
        <p:spPr>
          <a:xfrm>
            <a:off x="822960" y="2286000"/>
            <a:ext cx="4846320" cy="393192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Encrypts the entire communication channel</a:t>
            </a:r>
            <a:endParaRPr lang="en-US" sz="2400" dirty="0"/>
          </a:p>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Protection ends once the message is decrypted at each hop</a:t>
            </a:r>
            <a:endParaRPr lang="en-US" sz="2400" dirty="0"/>
          </a:p>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Simple to configure, widely supported</a:t>
            </a:r>
            <a:endParaRPr lang="en-US" sz="2400" dirty="0"/>
          </a:p>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Does not protect data 'at rest' inside intermediaries</a:t>
            </a:r>
            <a:endParaRPr lang="en-US" sz="2400" dirty="0"/>
          </a:p>
        </p:txBody>
      </p:sp>
      <p:sp>
        <p:nvSpPr>
          <p:cNvPr id="11" name="Text 9"/>
          <p:cNvSpPr/>
          <p:nvPr/>
        </p:nvSpPr>
        <p:spPr>
          <a:xfrm>
            <a:off x="6537960" y="2286000"/>
            <a:ext cx="4846320" cy="393192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Encrypts/signs specific parts of the message itself</a:t>
            </a:r>
            <a:endParaRPr lang="en-US" sz="2400" dirty="0"/>
          </a:p>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Protection persists end-to-end, through intermediaries</a:t>
            </a:r>
            <a:endParaRPr lang="en-US" sz="2400" dirty="0"/>
          </a:p>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More complex to configure and process</a:t>
            </a:r>
            <a:endParaRPr lang="en-US" sz="2400" dirty="0"/>
          </a:p>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Essential when messages pass through untrusted hops</a:t>
            </a:r>
            <a:endParaRPr lang="en-US" sz="2400" dirty="0"/>
          </a:p>
        </p:txBody>
      </p:sp>
      <p:sp>
        <p:nvSpPr>
          <p:cNvPr id="12" name="Text 10"/>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10: Security &amp; Governance in SOA</a:t>
            </a:r>
            <a:endParaRPr lang="en-US" sz="900" dirty="0"/>
          </a:p>
        </p:txBody>
      </p:sp>
      <p:sp>
        <p:nvSpPr>
          <p:cNvPr id="13" name="Text 11"/>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2942"/>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0B8A9"/>
          </a:solidFill>
          <a:ln/>
        </p:spPr>
      </p:sp>
      <p:sp>
        <p:nvSpPr>
          <p:cNvPr id="3" name="Text 1"/>
          <p:cNvSpPr/>
          <p:nvPr/>
        </p:nvSpPr>
        <p:spPr>
          <a:xfrm>
            <a:off x="822960" y="822960"/>
            <a:ext cx="5486400" cy="365760"/>
          </a:xfrm>
          <a:prstGeom prst="rect">
            <a:avLst/>
          </a:prstGeom>
          <a:noFill/>
          <a:ln/>
        </p:spPr>
        <p:txBody>
          <a:bodyPr wrap="square" lIns="0" tIns="0" rIns="0" bIns="0" rtlCol="0" anchor="ctr"/>
          <a:lstStyle/>
          <a:p>
            <a:pPr marL="0" indent="0">
              <a:buNone/>
            </a:pPr>
            <a:r>
              <a:rPr lang="en-US" sz="1400" b="1" dirty="0">
                <a:solidFill>
                  <a:srgbClr val="00B8A9"/>
                </a:solidFill>
                <a:latin typeface="Calibri" pitchFamily="34" charset="0"/>
                <a:ea typeface="Calibri" pitchFamily="34" charset="-122"/>
                <a:cs typeface="Calibri" pitchFamily="34" charset="-120"/>
              </a:rPr>
              <a:t>DEFINITION</a:t>
            </a:r>
            <a:endParaRPr lang="en-US" sz="1400" dirty="0"/>
          </a:p>
        </p:txBody>
      </p:sp>
      <p:sp>
        <p:nvSpPr>
          <p:cNvPr id="4" name="Text 2"/>
          <p:cNvSpPr/>
          <p:nvPr/>
        </p:nvSpPr>
        <p:spPr>
          <a:xfrm>
            <a:off x="822960" y="1188720"/>
            <a:ext cx="10515600" cy="8229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WS-Security</a:t>
            </a:r>
            <a:endParaRPr lang="en-US" sz="3000" dirty="0"/>
          </a:p>
        </p:txBody>
      </p:sp>
      <p:sp>
        <p:nvSpPr>
          <p:cNvPr id="5" name="Text 3"/>
          <p:cNvSpPr/>
          <p:nvPr/>
        </p:nvSpPr>
        <p:spPr>
          <a:xfrm>
            <a:off x="822960" y="2148840"/>
            <a:ext cx="10241280" cy="1828800"/>
          </a:xfrm>
          <a:prstGeom prst="rect">
            <a:avLst/>
          </a:prstGeom>
          <a:noFill/>
          <a:ln/>
        </p:spPr>
        <p:txBody>
          <a:bodyPr wrap="square" lIns="0" tIns="0" rIns="0" bIns="0" rtlCol="0" anchor="t"/>
          <a:lstStyle/>
          <a:p>
            <a:pPr marL="0" indent="0">
              <a:lnSpc>
                <a:spcPct val="130000"/>
              </a:lnSpc>
              <a:buNone/>
            </a:pPr>
            <a:r>
              <a:rPr lang="en-US" sz="2400" i="1" dirty="0">
                <a:solidFill>
                  <a:srgbClr val="DCE3EA"/>
                </a:solidFill>
                <a:latin typeface="Calibri" pitchFamily="34" charset="0"/>
                <a:ea typeface="Calibri" pitchFamily="34" charset="-122"/>
                <a:cs typeface="Calibri" pitchFamily="34" charset="-120"/>
              </a:rPr>
              <a:t>“An OASIS standard that defines how to apply security — integrity, confidentiality, and authentication — directly to the content of a SOAP message, independent of the underlying transport.”</a:t>
            </a:r>
            <a:endParaRPr lang="en-US" sz="2400" dirty="0"/>
          </a:p>
        </p:txBody>
      </p:sp>
      <p:sp>
        <p:nvSpPr>
          <p:cNvPr id="6" name="Text 4"/>
          <p:cNvSpPr/>
          <p:nvPr/>
        </p:nvSpPr>
        <p:spPr>
          <a:xfrm>
            <a:off x="822960" y="4114800"/>
            <a:ext cx="10241280" cy="2103120"/>
          </a:xfrm>
          <a:prstGeom prst="rect">
            <a:avLst/>
          </a:prstGeom>
          <a:noFill/>
          <a:ln/>
        </p:spPr>
        <p:txBody>
          <a:bodyPr wrap="square" lIns="0" tIns="0" rIns="0" bIns="0" rtlCol="0" anchor="t"/>
          <a:lstStyle/>
          <a:p>
            <a:pPr marL="342900" indent="-342900">
              <a:spcAft>
                <a:spcPts val="800"/>
              </a:spcAft>
              <a:buSzPct val="100000"/>
              <a:buChar char="•"/>
            </a:pPr>
            <a:r>
              <a:rPr lang="en-US" sz="2400" dirty="0">
                <a:solidFill>
                  <a:srgbClr val="C7D0D9"/>
                </a:solidFill>
                <a:latin typeface="Calibri" pitchFamily="34" charset="0"/>
                <a:ea typeface="Calibri" pitchFamily="34" charset="-122"/>
                <a:cs typeface="Calibri" pitchFamily="34" charset="-120"/>
              </a:rPr>
              <a:t>WS-Security adds a dedicated &lt;wsse:Security&gt; block inside the SOAP header (recall the header/body structure from Lecture 4)</a:t>
            </a:r>
            <a:endParaRPr lang="en-US" sz="2400" dirty="0"/>
          </a:p>
          <a:p>
            <a:pPr marL="342900" indent="-342900">
              <a:spcAft>
                <a:spcPts val="800"/>
              </a:spcAft>
              <a:buSzPct val="100000"/>
              <a:buChar char="•"/>
            </a:pPr>
            <a:r>
              <a:rPr lang="en-US" sz="2400" dirty="0">
                <a:solidFill>
                  <a:srgbClr val="C7D0D9"/>
                </a:solidFill>
                <a:latin typeface="Calibri" pitchFamily="34" charset="0"/>
                <a:ea typeface="Calibri" pitchFamily="34" charset="-122"/>
                <a:cs typeface="Calibri" pitchFamily="34" charset="-120"/>
              </a:rPr>
              <a:t>Because it protects the message itself, WS-Security remains effective even as a message passes through multiple ESB hops</a:t>
            </a:r>
            <a:endParaRPr lang="en-US" sz="2400" dirty="0"/>
          </a:p>
        </p:txBody>
      </p:sp>
      <p:sp>
        <p:nvSpPr>
          <p:cNvPr id="7" name="Text 5"/>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10: Security &amp; Governance in SOA</a:t>
            </a:r>
            <a:endParaRPr lang="en-US" sz="900" dirty="0"/>
          </a:p>
        </p:txBody>
      </p:sp>
      <p:sp>
        <p:nvSpPr>
          <p:cNvPr id="8" name="Text 6"/>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The Three Pillars of WS-Security</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XML Digital Signature</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Ensures message integrity — proves the message was not altered in transit</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XML Encryption</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Ensures confidentiality — protects sensitive fields from being read by intermediaries</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Security Tokens</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Establish identity/authentication — e.g., username tokens, X.509 certificates, SAML assertions</a:t>
            </a:r>
            <a:endParaRPr lang="en-US" sz="28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10: Security &amp; Governance in SOA</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A SOAP Header with WS-Security (Illustrative)</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Shape 2"/>
          <p:cNvSpPr/>
          <p:nvPr/>
        </p:nvSpPr>
        <p:spPr>
          <a:xfrm>
            <a:off x="548640" y="1325880"/>
            <a:ext cx="11064240" cy="4297680"/>
          </a:xfrm>
          <a:prstGeom prst="roundRect">
            <a:avLst>
              <a:gd name="adj" fmla="val 1702"/>
            </a:avLst>
          </a:prstGeom>
          <a:solidFill>
            <a:srgbClr val="0A1D30"/>
          </a:solidFill>
          <a:ln/>
        </p:spPr>
      </p:sp>
      <p:sp>
        <p:nvSpPr>
          <p:cNvPr id="5" name="Text 3"/>
          <p:cNvSpPr/>
          <p:nvPr/>
        </p:nvSpPr>
        <p:spPr>
          <a:xfrm>
            <a:off x="822960" y="1508760"/>
            <a:ext cx="10515600" cy="3931920"/>
          </a:xfrm>
          <a:prstGeom prst="rect">
            <a:avLst/>
          </a:prstGeom>
          <a:noFill/>
          <a:ln/>
        </p:spPr>
        <p:txBody>
          <a:bodyPr wrap="square" lIns="0" tIns="0" rIns="0" bIns="0" rtlCol="0" anchor="t"/>
          <a:lstStyle/>
          <a:p>
            <a:pPr marL="0" indent="0">
              <a:buNone/>
            </a:pPr>
            <a:r>
              <a:rPr lang="en-US" sz="2000" dirty="0">
                <a:solidFill>
                  <a:srgbClr val="9BE8DD"/>
                </a:solidFill>
                <a:latin typeface="Consolas" pitchFamily="34" charset="0"/>
                <a:ea typeface="Consolas" pitchFamily="34" charset="-122"/>
                <a:cs typeface="Consolas" pitchFamily="34" charset="-120"/>
              </a:rPr>
              <a:t>&lt;soap:Header&gt;</a:t>
            </a:r>
            <a:endParaRPr lang="en-US" sz="2000" dirty="0"/>
          </a:p>
          <a:p>
            <a:pPr marL="0" indent="0">
              <a:buNone/>
            </a:pPr>
            <a:r>
              <a:rPr lang="en-US" sz="2000" dirty="0">
                <a:solidFill>
                  <a:srgbClr val="9BE8DD"/>
                </a:solidFill>
                <a:latin typeface="Consolas" pitchFamily="34" charset="0"/>
                <a:ea typeface="Consolas" pitchFamily="34" charset="-122"/>
                <a:cs typeface="Consolas" pitchFamily="34" charset="-120"/>
              </a:rPr>
              <a:t>  &lt;wsse:Security xmlns:wsse="...oasis-200401-wss-wssecurity-secext-1.0.xsd"&gt;</a:t>
            </a:r>
            <a:endParaRPr lang="en-US" sz="2000" dirty="0"/>
          </a:p>
          <a:p>
            <a:pPr marL="0" indent="0">
              <a:buNone/>
            </a:pPr>
            <a:r>
              <a:rPr lang="en-US" sz="2000" dirty="0">
                <a:solidFill>
                  <a:srgbClr val="9BE8DD"/>
                </a:solidFill>
                <a:latin typeface="Consolas" pitchFamily="34" charset="0"/>
                <a:ea typeface="Consolas" pitchFamily="34" charset="-122"/>
                <a:cs typeface="Consolas" pitchFamily="34" charset="-120"/>
              </a:rPr>
              <a:t>    &lt;wsse:UsernameToken&gt;</a:t>
            </a:r>
            <a:endParaRPr lang="en-US" sz="2000" dirty="0"/>
          </a:p>
          <a:p>
            <a:pPr marL="0" indent="0">
              <a:buNone/>
            </a:pPr>
            <a:r>
              <a:rPr lang="en-US" sz="2000" dirty="0">
                <a:solidFill>
                  <a:srgbClr val="9BE8DD"/>
                </a:solidFill>
                <a:latin typeface="Consolas" pitchFamily="34" charset="0"/>
                <a:ea typeface="Consolas" pitchFamily="34" charset="-122"/>
                <a:cs typeface="Consolas" pitchFamily="34" charset="-120"/>
              </a:rPr>
              <a:t>      &lt;wsse:Username&gt;svc-orders&lt;/wsse:Username&gt;</a:t>
            </a:r>
            <a:endParaRPr lang="en-US" sz="2000" dirty="0"/>
          </a:p>
          <a:p>
            <a:pPr marL="0" indent="0">
              <a:buNone/>
            </a:pPr>
            <a:r>
              <a:rPr lang="en-US" sz="2000" dirty="0">
                <a:solidFill>
                  <a:srgbClr val="9BE8DD"/>
                </a:solidFill>
                <a:latin typeface="Consolas" pitchFamily="34" charset="0"/>
                <a:ea typeface="Consolas" pitchFamily="34" charset="-122"/>
                <a:cs typeface="Consolas" pitchFamily="34" charset="-120"/>
              </a:rPr>
              <a:t>      &lt;wsse:Password Type="...PasswordDigest"&gt;</a:t>
            </a:r>
            <a:endParaRPr lang="en-US" sz="2000" dirty="0"/>
          </a:p>
          <a:p>
            <a:pPr marL="0" indent="0">
              <a:buNone/>
            </a:pPr>
            <a:r>
              <a:rPr lang="en-US" sz="2000" dirty="0">
                <a:solidFill>
                  <a:srgbClr val="9BE8DD"/>
                </a:solidFill>
                <a:latin typeface="Consolas" pitchFamily="34" charset="0"/>
                <a:ea typeface="Consolas" pitchFamily="34" charset="-122"/>
                <a:cs typeface="Consolas" pitchFamily="34" charset="-120"/>
              </a:rPr>
              <a:t>        Xk29fA==</a:t>
            </a:r>
            <a:endParaRPr lang="en-US" sz="2000" dirty="0"/>
          </a:p>
          <a:p>
            <a:pPr marL="0" indent="0">
              <a:buNone/>
            </a:pPr>
            <a:r>
              <a:rPr lang="en-US" sz="2000" dirty="0">
                <a:solidFill>
                  <a:srgbClr val="9BE8DD"/>
                </a:solidFill>
                <a:latin typeface="Consolas" pitchFamily="34" charset="0"/>
                <a:ea typeface="Consolas" pitchFamily="34" charset="-122"/>
                <a:cs typeface="Consolas" pitchFamily="34" charset="-120"/>
              </a:rPr>
              <a:t>      &lt;/wsse:Password&gt;</a:t>
            </a:r>
            <a:endParaRPr lang="en-US" sz="2000" dirty="0"/>
          </a:p>
          <a:p>
            <a:pPr marL="0" indent="0">
              <a:buNone/>
            </a:pPr>
            <a:r>
              <a:rPr lang="en-US" sz="2000" dirty="0">
                <a:solidFill>
                  <a:srgbClr val="9BE8DD"/>
                </a:solidFill>
                <a:latin typeface="Consolas" pitchFamily="34" charset="0"/>
                <a:ea typeface="Consolas" pitchFamily="34" charset="-122"/>
                <a:cs typeface="Consolas" pitchFamily="34" charset="-120"/>
              </a:rPr>
              <a:t>    &lt;/wsse:UsernameToken&gt;</a:t>
            </a:r>
            <a:endParaRPr lang="en-US" sz="2000" dirty="0"/>
          </a:p>
          <a:p>
            <a:pPr marL="0" indent="0">
              <a:buNone/>
            </a:pPr>
            <a:r>
              <a:rPr lang="en-US" sz="2000" dirty="0">
                <a:solidFill>
                  <a:srgbClr val="9BE8DD"/>
                </a:solidFill>
                <a:latin typeface="Consolas" pitchFamily="34" charset="0"/>
                <a:ea typeface="Consolas" pitchFamily="34" charset="-122"/>
                <a:cs typeface="Consolas" pitchFamily="34" charset="-120"/>
              </a:rPr>
              <a:t>  &lt;/wsse:Security&gt;</a:t>
            </a:r>
            <a:endParaRPr lang="en-US" sz="2000" dirty="0"/>
          </a:p>
          <a:p>
            <a:pPr marL="0" indent="0">
              <a:buNone/>
            </a:pPr>
            <a:r>
              <a:rPr lang="en-US" sz="2000" dirty="0">
                <a:solidFill>
                  <a:srgbClr val="9BE8DD"/>
                </a:solidFill>
                <a:latin typeface="Consolas" pitchFamily="34" charset="0"/>
                <a:ea typeface="Consolas" pitchFamily="34" charset="-122"/>
                <a:cs typeface="Consolas" pitchFamily="34" charset="-120"/>
              </a:rPr>
              <a:t>&lt;/soap:Header&gt;</a:t>
            </a:r>
            <a:endParaRPr lang="en-US" sz="2000" dirty="0"/>
          </a:p>
        </p:txBody>
      </p:sp>
      <p:sp>
        <p:nvSpPr>
          <p:cNvPr id="6" name="Text 4"/>
          <p:cNvSpPr/>
          <p:nvPr/>
        </p:nvSpPr>
        <p:spPr>
          <a:xfrm>
            <a:off x="548640" y="5715000"/>
            <a:ext cx="11064240" cy="502920"/>
          </a:xfrm>
          <a:prstGeom prst="rect">
            <a:avLst/>
          </a:prstGeom>
          <a:noFill/>
          <a:ln/>
        </p:spPr>
        <p:txBody>
          <a:bodyPr wrap="square" lIns="0" tIns="0" rIns="0" bIns="0" rtlCol="0" anchor="ctr"/>
          <a:lstStyle/>
          <a:p>
            <a:pPr marL="0" indent="0">
              <a:buNone/>
            </a:pPr>
            <a:r>
              <a:rPr lang="en-US" sz="2000" i="1" dirty="0">
                <a:solidFill>
                  <a:srgbClr val="44546A"/>
                </a:solidFill>
                <a:latin typeface="Calibri" pitchFamily="34" charset="0"/>
                <a:ea typeface="Calibri" pitchFamily="34" charset="-122"/>
                <a:cs typeface="Calibri" pitchFamily="34" charset="-120"/>
              </a:rPr>
              <a:t>The security token travels in the header, fully separate from the business payload in the body — consistent with the SOAP structure from Lecture 4.</a:t>
            </a:r>
            <a:endParaRPr lang="en-US" sz="2000" dirty="0"/>
          </a:p>
        </p:txBody>
      </p:sp>
      <p:sp>
        <p:nvSpPr>
          <p:cNvPr id="7" name="Text 5"/>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10: Security &amp; Governance in SOA</a:t>
            </a:r>
            <a:endParaRPr lang="en-US" sz="900" dirty="0"/>
          </a:p>
        </p:txBody>
      </p:sp>
      <p:sp>
        <p:nvSpPr>
          <p:cNvPr id="8" name="Text 6"/>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Security Tokens in Depth</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Username Token</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Simple username/password (often hashed) — lightweight but weaker on its own</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X.509 Certificate</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Public-key based identity, often used for strong service-to-service authentication</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SAML Assertion</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An XML-based token asserting a user's identity and attributes, often issued by a central identity provider</a:t>
            </a:r>
            <a:endParaRPr lang="en-US" sz="2800" dirty="0"/>
          </a:p>
          <a:p>
            <a:pPr marL="342900" indent="-342900">
              <a:spcAft>
                <a:spcPts val="1200"/>
              </a:spcAft>
              <a:buSzPct val="100000"/>
              <a:buChar char="•"/>
            </a:pPr>
            <a:r>
              <a:rPr lang="en-US" sz="2800" dirty="0">
                <a:solidFill>
                  <a:srgbClr val="1A1A2E"/>
                </a:solidFill>
                <a:latin typeface="Calibri" pitchFamily="34" charset="0"/>
                <a:ea typeface="Calibri" pitchFamily="34" charset="-122"/>
                <a:cs typeface="Calibri" pitchFamily="34" charset="-120"/>
              </a:rPr>
              <a:t>SAML remains widely used today for enterprise single sign-on (SSO), beyond just SOAP services</a:t>
            </a:r>
            <a:endParaRPr lang="en-US" sz="28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10: Security &amp; Governance in SOA</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Authentication vs. Authorization</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Authentication</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Verifying who is making the request ('are you who you say you are?')</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Authorization</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Verifying what the authenticated caller is allowed to do ('are you allowed to do this?')</a:t>
            </a:r>
            <a:endParaRPr lang="en-US" sz="2800" dirty="0"/>
          </a:p>
          <a:p>
            <a:pPr marL="342900" indent="-342900">
              <a:spcAft>
                <a:spcPts val="1200"/>
              </a:spcAft>
              <a:buSzPct val="100000"/>
              <a:buChar char="•"/>
            </a:pPr>
            <a:r>
              <a:rPr lang="en-US" sz="2800" dirty="0">
                <a:solidFill>
                  <a:srgbClr val="1A1A2E"/>
                </a:solidFill>
                <a:latin typeface="Calibri" pitchFamily="34" charset="0"/>
                <a:ea typeface="Calibri" pitchFamily="34" charset="-122"/>
                <a:cs typeface="Calibri" pitchFamily="34" charset="-120"/>
              </a:rPr>
              <a:t>Both are required — a service can correctly authenticate a caller and still need to deny access to a specific operation or resource</a:t>
            </a:r>
            <a:endParaRPr lang="en-US" sz="28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10: Security &amp; Governance in SOA</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2942"/>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0B8A9"/>
          </a:solidFill>
          <a:ln/>
        </p:spPr>
      </p:sp>
      <p:sp>
        <p:nvSpPr>
          <p:cNvPr id="3" name="Text 1"/>
          <p:cNvSpPr/>
          <p:nvPr/>
        </p:nvSpPr>
        <p:spPr>
          <a:xfrm>
            <a:off x="822960" y="822960"/>
            <a:ext cx="5486400" cy="365760"/>
          </a:xfrm>
          <a:prstGeom prst="rect">
            <a:avLst/>
          </a:prstGeom>
          <a:noFill/>
          <a:ln/>
        </p:spPr>
        <p:txBody>
          <a:bodyPr wrap="square" lIns="0" tIns="0" rIns="0" bIns="0" rtlCol="0" anchor="ctr"/>
          <a:lstStyle/>
          <a:p>
            <a:pPr marL="0" indent="0">
              <a:buNone/>
            </a:pPr>
            <a:r>
              <a:rPr lang="en-US" sz="1400" b="1" dirty="0">
                <a:solidFill>
                  <a:srgbClr val="00B8A9"/>
                </a:solidFill>
                <a:latin typeface="Calibri" pitchFamily="34" charset="0"/>
                <a:ea typeface="Calibri" pitchFamily="34" charset="-122"/>
                <a:cs typeface="Calibri" pitchFamily="34" charset="-120"/>
              </a:rPr>
              <a:t>DEFINITION</a:t>
            </a:r>
            <a:endParaRPr lang="en-US" sz="1400" dirty="0"/>
          </a:p>
        </p:txBody>
      </p:sp>
      <p:sp>
        <p:nvSpPr>
          <p:cNvPr id="4" name="Text 2"/>
          <p:cNvSpPr/>
          <p:nvPr/>
        </p:nvSpPr>
        <p:spPr>
          <a:xfrm>
            <a:off x="822960" y="1188720"/>
            <a:ext cx="10515600" cy="8229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OAuth 2.0</a:t>
            </a:r>
            <a:endParaRPr lang="en-US" sz="3000" dirty="0"/>
          </a:p>
        </p:txBody>
      </p:sp>
      <p:sp>
        <p:nvSpPr>
          <p:cNvPr id="5" name="Text 3"/>
          <p:cNvSpPr/>
          <p:nvPr/>
        </p:nvSpPr>
        <p:spPr>
          <a:xfrm>
            <a:off x="822960" y="2148840"/>
            <a:ext cx="10241280" cy="1828800"/>
          </a:xfrm>
          <a:prstGeom prst="rect">
            <a:avLst/>
          </a:prstGeom>
          <a:noFill/>
          <a:ln/>
        </p:spPr>
        <p:txBody>
          <a:bodyPr wrap="square" lIns="0" tIns="0" rIns="0" bIns="0" rtlCol="0" anchor="t"/>
          <a:lstStyle/>
          <a:p>
            <a:pPr marL="0" indent="0">
              <a:lnSpc>
                <a:spcPct val="130000"/>
              </a:lnSpc>
              <a:buNone/>
            </a:pPr>
            <a:r>
              <a:rPr lang="en-US" sz="2400" i="1" dirty="0">
                <a:solidFill>
                  <a:srgbClr val="DCE3EA"/>
                </a:solidFill>
                <a:latin typeface="Calibri" pitchFamily="34" charset="0"/>
                <a:ea typeface="Calibri" pitchFamily="34" charset="-122"/>
                <a:cs typeface="Calibri" pitchFamily="34" charset="-120"/>
              </a:rPr>
              <a:t>“An open standard authorization framework that allows a third-party application to obtain limited access to a resource on behalf of a user, without ever handling the user's actual password.”</a:t>
            </a:r>
            <a:endParaRPr lang="en-US" sz="2400" dirty="0"/>
          </a:p>
        </p:txBody>
      </p:sp>
      <p:sp>
        <p:nvSpPr>
          <p:cNvPr id="6" name="Text 4"/>
          <p:cNvSpPr/>
          <p:nvPr/>
        </p:nvSpPr>
        <p:spPr>
          <a:xfrm>
            <a:off x="822960" y="4114800"/>
            <a:ext cx="10241280" cy="2103120"/>
          </a:xfrm>
          <a:prstGeom prst="rect">
            <a:avLst/>
          </a:prstGeom>
          <a:noFill/>
          <a:ln/>
        </p:spPr>
        <p:txBody>
          <a:bodyPr wrap="square" lIns="0" tIns="0" rIns="0" bIns="0" rtlCol="0" anchor="t"/>
          <a:lstStyle/>
          <a:p>
            <a:pPr marL="342900" indent="-342900">
              <a:spcAft>
                <a:spcPts val="800"/>
              </a:spcAft>
              <a:buSzPct val="100000"/>
              <a:buChar char="•"/>
            </a:pPr>
            <a:r>
              <a:rPr lang="en-US" sz="2400" dirty="0">
                <a:solidFill>
                  <a:srgbClr val="C7D0D9"/>
                </a:solidFill>
                <a:latin typeface="Calibri" pitchFamily="34" charset="0"/>
                <a:ea typeface="Calibri" pitchFamily="34" charset="-122"/>
                <a:cs typeface="Calibri" pitchFamily="34" charset="-120"/>
              </a:rPr>
              <a:t>OAuth2 is the dominant authorization framework for modern REST APIs and web/mobile applications</a:t>
            </a:r>
            <a:endParaRPr lang="en-US" sz="2400" dirty="0"/>
          </a:p>
          <a:p>
            <a:pPr marL="342900" indent="-342900">
              <a:spcAft>
                <a:spcPts val="800"/>
              </a:spcAft>
              <a:buSzPct val="100000"/>
              <a:buChar char="•"/>
            </a:pPr>
            <a:r>
              <a:rPr lang="en-US" sz="2400" dirty="0">
                <a:solidFill>
                  <a:srgbClr val="C7D0D9"/>
                </a:solidFill>
                <a:latin typeface="Calibri" pitchFamily="34" charset="0"/>
                <a:ea typeface="Calibri" pitchFamily="34" charset="-122"/>
                <a:cs typeface="Calibri" pitchFamily="34" charset="-120"/>
              </a:rPr>
              <a:t>OAuth2 defines several 'grant types' (flows) for different scenarios (e.g., web apps, mobile apps, service-to-service calls)</a:t>
            </a:r>
            <a:endParaRPr lang="en-US" sz="2400" dirty="0"/>
          </a:p>
        </p:txBody>
      </p:sp>
      <p:sp>
        <p:nvSpPr>
          <p:cNvPr id="7" name="Text 5"/>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10: Security &amp; Governance in SOA</a:t>
            </a:r>
            <a:endParaRPr lang="en-US" sz="900" dirty="0"/>
          </a:p>
        </p:txBody>
      </p:sp>
      <p:sp>
        <p:nvSpPr>
          <p:cNvPr id="8" name="Text 6"/>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OAuth 2.0 Authorization Code Flow (Simplified)</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Shape 2"/>
          <p:cNvSpPr/>
          <p:nvPr/>
        </p:nvSpPr>
        <p:spPr>
          <a:xfrm>
            <a:off x="594360" y="2377440"/>
            <a:ext cx="1920240" cy="2377440"/>
          </a:xfrm>
          <a:prstGeom prst="roundRect">
            <a:avLst>
              <a:gd name="adj" fmla="val 4286"/>
            </a:avLst>
          </a:prstGeom>
          <a:solidFill>
            <a:srgbClr val="0F2942"/>
          </a:solidFill>
          <a:ln/>
        </p:spPr>
      </p:sp>
      <p:sp>
        <p:nvSpPr>
          <p:cNvPr id="5" name="Shape 3"/>
          <p:cNvSpPr/>
          <p:nvPr/>
        </p:nvSpPr>
        <p:spPr>
          <a:xfrm>
            <a:off x="1298448" y="2103120"/>
            <a:ext cx="512064" cy="512064"/>
          </a:xfrm>
          <a:prstGeom prst="ellipse">
            <a:avLst/>
          </a:prstGeom>
          <a:solidFill>
            <a:srgbClr val="00B8A9"/>
          </a:solidFill>
          <a:ln w="25400">
            <a:solidFill>
              <a:srgbClr val="FFFFFF"/>
            </a:solidFill>
            <a:prstDash val="solid"/>
          </a:ln>
        </p:spPr>
      </p:sp>
      <p:sp>
        <p:nvSpPr>
          <p:cNvPr id="6" name="Text 4"/>
          <p:cNvSpPr/>
          <p:nvPr/>
        </p:nvSpPr>
        <p:spPr>
          <a:xfrm>
            <a:off x="1298448" y="2103120"/>
            <a:ext cx="512064" cy="51206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731520" y="2697480"/>
            <a:ext cx="1645920" cy="548640"/>
          </a:xfrm>
          <a:prstGeom prst="rect">
            <a:avLst/>
          </a:prstGeom>
          <a:noFill/>
          <a:ln/>
        </p:spPr>
        <p:txBody>
          <a:bodyPr wrap="square" lIns="0" tIns="0" rIns="0" bIns="0" rtlCol="0" anchor="t"/>
          <a:lstStyle/>
          <a:p>
            <a:pPr marL="0" indent="0" algn="ctr">
              <a:buNone/>
            </a:pPr>
            <a:r>
              <a:rPr lang="en-US" b="1" dirty="0">
                <a:solidFill>
                  <a:srgbClr val="FFFFFF"/>
                </a:solidFill>
                <a:latin typeface="Calibri" pitchFamily="34" charset="0"/>
                <a:ea typeface="Calibri" pitchFamily="34" charset="-122"/>
                <a:cs typeface="Calibri" pitchFamily="34" charset="-120"/>
              </a:rPr>
              <a:t>1. Redirect</a:t>
            </a:r>
            <a:endParaRPr lang="en-US" dirty="0"/>
          </a:p>
        </p:txBody>
      </p:sp>
      <p:sp>
        <p:nvSpPr>
          <p:cNvPr id="8" name="Text 6"/>
          <p:cNvSpPr/>
          <p:nvPr/>
        </p:nvSpPr>
        <p:spPr>
          <a:xfrm>
            <a:off x="731520" y="3246120"/>
            <a:ext cx="1645920" cy="1417320"/>
          </a:xfrm>
          <a:prstGeom prst="rect">
            <a:avLst/>
          </a:prstGeom>
          <a:noFill/>
          <a:ln/>
        </p:spPr>
        <p:txBody>
          <a:bodyPr wrap="square" lIns="0" tIns="0" rIns="0" bIns="0" rtlCol="0" anchor="t"/>
          <a:lstStyle/>
          <a:p>
            <a:pPr marL="0" indent="0" algn="ctr">
              <a:lnSpc>
                <a:spcPct val="115000"/>
              </a:lnSpc>
              <a:buNone/>
            </a:pPr>
            <a:r>
              <a:rPr lang="en-US" dirty="0">
                <a:solidFill>
                  <a:srgbClr val="D8DEE6"/>
                </a:solidFill>
                <a:latin typeface="Calibri" pitchFamily="34" charset="0"/>
                <a:ea typeface="Calibri" pitchFamily="34" charset="-122"/>
                <a:cs typeface="Calibri" pitchFamily="34" charset="-120"/>
              </a:rPr>
              <a:t>App redirects the user to the identity provider to log in.</a:t>
            </a:r>
            <a:endParaRPr lang="en-US" dirty="0"/>
          </a:p>
        </p:txBody>
      </p:sp>
      <p:sp>
        <p:nvSpPr>
          <p:cNvPr id="9" name="Text 7"/>
          <p:cNvSpPr/>
          <p:nvPr/>
        </p:nvSpPr>
        <p:spPr>
          <a:xfrm>
            <a:off x="2514600" y="3246120"/>
            <a:ext cx="320040" cy="640080"/>
          </a:xfrm>
          <a:prstGeom prst="rect">
            <a:avLst/>
          </a:prstGeom>
          <a:noFill/>
          <a:ln/>
        </p:spPr>
        <p:txBody>
          <a:bodyPr wrap="square" lIns="0" tIns="0" rIns="0" bIns="0" rtlCol="0" anchor="ctr"/>
          <a:lstStyle/>
          <a:p>
            <a:pPr marL="0" indent="0" algn="ctr">
              <a:buNone/>
            </a:pPr>
            <a:r>
              <a:rPr lang="en-US" sz="2200" b="1" dirty="0">
                <a:solidFill>
                  <a:srgbClr val="00B8A9"/>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2834640" y="2377440"/>
            <a:ext cx="1920240" cy="2377440"/>
          </a:xfrm>
          <a:prstGeom prst="roundRect">
            <a:avLst>
              <a:gd name="adj" fmla="val 4286"/>
            </a:avLst>
          </a:prstGeom>
          <a:solidFill>
            <a:srgbClr val="44546A"/>
          </a:solidFill>
          <a:ln/>
        </p:spPr>
      </p:sp>
      <p:sp>
        <p:nvSpPr>
          <p:cNvPr id="11" name="Shape 9"/>
          <p:cNvSpPr/>
          <p:nvPr/>
        </p:nvSpPr>
        <p:spPr>
          <a:xfrm>
            <a:off x="3538728" y="2103120"/>
            <a:ext cx="512064" cy="512064"/>
          </a:xfrm>
          <a:prstGeom prst="ellipse">
            <a:avLst/>
          </a:prstGeom>
          <a:solidFill>
            <a:srgbClr val="00B8A9"/>
          </a:solidFill>
          <a:ln w="25400">
            <a:solidFill>
              <a:srgbClr val="FFFFFF"/>
            </a:solidFill>
            <a:prstDash val="solid"/>
          </a:ln>
        </p:spPr>
      </p:sp>
      <p:sp>
        <p:nvSpPr>
          <p:cNvPr id="12" name="Text 10"/>
          <p:cNvSpPr/>
          <p:nvPr/>
        </p:nvSpPr>
        <p:spPr>
          <a:xfrm>
            <a:off x="3538728" y="2103120"/>
            <a:ext cx="512064" cy="51206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2971800" y="2697480"/>
            <a:ext cx="1645920" cy="548640"/>
          </a:xfrm>
          <a:prstGeom prst="rect">
            <a:avLst/>
          </a:prstGeom>
          <a:noFill/>
          <a:ln/>
        </p:spPr>
        <p:txBody>
          <a:bodyPr wrap="square" lIns="0" tIns="0" rIns="0" bIns="0" rtlCol="0" anchor="t"/>
          <a:lstStyle/>
          <a:p>
            <a:pPr marL="0" indent="0" algn="ctr">
              <a:buNone/>
            </a:pPr>
            <a:r>
              <a:rPr lang="en-US" b="1" dirty="0">
                <a:solidFill>
                  <a:srgbClr val="FFFFFF"/>
                </a:solidFill>
                <a:latin typeface="Calibri" pitchFamily="34" charset="0"/>
                <a:ea typeface="Calibri" pitchFamily="34" charset="-122"/>
                <a:cs typeface="Calibri" pitchFamily="34" charset="-120"/>
              </a:rPr>
              <a:t>2. Consent</a:t>
            </a:r>
            <a:endParaRPr lang="en-US" dirty="0"/>
          </a:p>
        </p:txBody>
      </p:sp>
      <p:sp>
        <p:nvSpPr>
          <p:cNvPr id="14" name="Text 12"/>
          <p:cNvSpPr/>
          <p:nvPr/>
        </p:nvSpPr>
        <p:spPr>
          <a:xfrm>
            <a:off x="2971800" y="3246120"/>
            <a:ext cx="1645920" cy="1417320"/>
          </a:xfrm>
          <a:prstGeom prst="rect">
            <a:avLst/>
          </a:prstGeom>
          <a:noFill/>
          <a:ln/>
        </p:spPr>
        <p:txBody>
          <a:bodyPr wrap="square" lIns="0" tIns="0" rIns="0" bIns="0" rtlCol="0" anchor="t"/>
          <a:lstStyle/>
          <a:p>
            <a:pPr marL="0" indent="0" algn="ctr">
              <a:lnSpc>
                <a:spcPct val="115000"/>
              </a:lnSpc>
              <a:buNone/>
            </a:pPr>
            <a:r>
              <a:rPr lang="en-US" dirty="0">
                <a:solidFill>
                  <a:srgbClr val="D8DEE6"/>
                </a:solidFill>
                <a:latin typeface="Calibri" pitchFamily="34" charset="0"/>
                <a:ea typeface="Calibri" pitchFamily="34" charset="-122"/>
                <a:cs typeface="Calibri" pitchFamily="34" charset="-120"/>
              </a:rPr>
              <a:t>User logs in and approves the requested access scope.</a:t>
            </a:r>
            <a:endParaRPr lang="en-US" dirty="0"/>
          </a:p>
        </p:txBody>
      </p:sp>
      <p:sp>
        <p:nvSpPr>
          <p:cNvPr id="15" name="Text 13"/>
          <p:cNvSpPr/>
          <p:nvPr/>
        </p:nvSpPr>
        <p:spPr>
          <a:xfrm>
            <a:off x="4754880" y="3246120"/>
            <a:ext cx="320040" cy="640080"/>
          </a:xfrm>
          <a:prstGeom prst="rect">
            <a:avLst/>
          </a:prstGeom>
          <a:noFill/>
          <a:ln/>
        </p:spPr>
        <p:txBody>
          <a:bodyPr wrap="square" lIns="0" tIns="0" rIns="0" bIns="0" rtlCol="0" anchor="ctr"/>
          <a:lstStyle/>
          <a:p>
            <a:pPr marL="0" indent="0" algn="ctr">
              <a:buNone/>
            </a:pPr>
            <a:r>
              <a:rPr lang="en-US" sz="2200" b="1" dirty="0">
                <a:solidFill>
                  <a:srgbClr val="00B8A9"/>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5074920" y="2377440"/>
            <a:ext cx="1920240" cy="2377440"/>
          </a:xfrm>
          <a:prstGeom prst="roundRect">
            <a:avLst>
              <a:gd name="adj" fmla="val 4286"/>
            </a:avLst>
          </a:prstGeom>
          <a:solidFill>
            <a:srgbClr val="0F2942"/>
          </a:solidFill>
          <a:ln/>
        </p:spPr>
      </p:sp>
      <p:sp>
        <p:nvSpPr>
          <p:cNvPr id="17" name="Shape 15"/>
          <p:cNvSpPr/>
          <p:nvPr/>
        </p:nvSpPr>
        <p:spPr>
          <a:xfrm>
            <a:off x="5779008" y="2103120"/>
            <a:ext cx="512064" cy="512064"/>
          </a:xfrm>
          <a:prstGeom prst="ellipse">
            <a:avLst/>
          </a:prstGeom>
          <a:solidFill>
            <a:srgbClr val="00B8A9"/>
          </a:solidFill>
          <a:ln w="25400">
            <a:solidFill>
              <a:srgbClr val="FFFFFF"/>
            </a:solidFill>
            <a:prstDash val="solid"/>
          </a:ln>
        </p:spPr>
      </p:sp>
      <p:sp>
        <p:nvSpPr>
          <p:cNvPr id="18" name="Text 16"/>
          <p:cNvSpPr/>
          <p:nvPr/>
        </p:nvSpPr>
        <p:spPr>
          <a:xfrm>
            <a:off x="5779008" y="2103120"/>
            <a:ext cx="512064" cy="51206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p:nvPr/>
        </p:nvSpPr>
        <p:spPr>
          <a:xfrm>
            <a:off x="5212080" y="2697480"/>
            <a:ext cx="1645920" cy="548640"/>
          </a:xfrm>
          <a:prstGeom prst="rect">
            <a:avLst/>
          </a:prstGeom>
          <a:noFill/>
          <a:ln/>
        </p:spPr>
        <p:txBody>
          <a:bodyPr wrap="square" lIns="0" tIns="0" rIns="0" bIns="0" rtlCol="0" anchor="t"/>
          <a:lstStyle/>
          <a:p>
            <a:pPr marL="0" indent="0" algn="ctr">
              <a:buNone/>
            </a:pPr>
            <a:r>
              <a:rPr lang="en-US" b="1" dirty="0">
                <a:solidFill>
                  <a:srgbClr val="FFFFFF"/>
                </a:solidFill>
                <a:latin typeface="Calibri" pitchFamily="34" charset="0"/>
                <a:ea typeface="Calibri" pitchFamily="34" charset="-122"/>
                <a:cs typeface="Calibri" pitchFamily="34" charset="-120"/>
              </a:rPr>
              <a:t>3. Authorization Code</a:t>
            </a:r>
            <a:endParaRPr lang="en-US" dirty="0"/>
          </a:p>
        </p:txBody>
      </p:sp>
      <p:sp>
        <p:nvSpPr>
          <p:cNvPr id="20" name="Text 18"/>
          <p:cNvSpPr/>
          <p:nvPr/>
        </p:nvSpPr>
        <p:spPr>
          <a:xfrm>
            <a:off x="5212080" y="3246120"/>
            <a:ext cx="1645920" cy="1417320"/>
          </a:xfrm>
          <a:prstGeom prst="rect">
            <a:avLst/>
          </a:prstGeom>
          <a:noFill/>
          <a:ln/>
        </p:spPr>
        <p:txBody>
          <a:bodyPr wrap="square" lIns="0" tIns="0" rIns="0" bIns="0" rtlCol="0" anchor="t"/>
          <a:lstStyle/>
          <a:p>
            <a:pPr marL="0" indent="0" algn="ctr">
              <a:lnSpc>
                <a:spcPct val="115000"/>
              </a:lnSpc>
              <a:buNone/>
            </a:pPr>
            <a:r>
              <a:rPr lang="en-US" dirty="0">
                <a:solidFill>
                  <a:srgbClr val="D8DEE6"/>
                </a:solidFill>
                <a:latin typeface="Calibri" pitchFamily="34" charset="0"/>
                <a:ea typeface="Calibri" pitchFamily="34" charset="-122"/>
                <a:cs typeface="Calibri" pitchFamily="34" charset="-120"/>
              </a:rPr>
              <a:t>Provider redirects back with a short-lived authorization code.</a:t>
            </a:r>
            <a:endParaRPr lang="en-US" dirty="0"/>
          </a:p>
        </p:txBody>
      </p:sp>
      <p:sp>
        <p:nvSpPr>
          <p:cNvPr id="21" name="Text 19"/>
          <p:cNvSpPr/>
          <p:nvPr/>
        </p:nvSpPr>
        <p:spPr>
          <a:xfrm>
            <a:off x="6995160" y="3246120"/>
            <a:ext cx="320040" cy="640080"/>
          </a:xfrm>
          <a:prstGeom prst="rect">
            <a:avLst/>
          </a:prstGeom>
          <a:noFill/>
          <a:ln/>
        </p:spPr>
        <p:txBody>
          <a:bodyPr wrap="square" lIns="0" tIns="0" rIns="0" bIns="0" rtlCol="0" anchor="ctr"/>
          <a:lstStyle/>
          <a:p>
            <a:pPr marL="0" indent="0" algn="ctr">
              <a:buNone/>
            </a:pPr>
            <a:r>
              <a:rPr lang="en-US" sz="2200" b="1" dirty="0">
                <a:solidFill>
                  <a:srgbClr val="00B8A9"/>
                </a:solidFill>
                <a:latin typeface="Calibri" pitchFamily="34" charset="0"/>
                <a:ea typeface="Calibri" pitchFamily="34" charset="-122"/>
                <a:cs typeface="Calibri" pitchFamily="34" charset="-120"/>
              </a:rPr>
              <a:t>→</a:t>
            </a:r>
            <a:endParaRPr lang="en-US" sz="2200" dirty="0"/>
          </a:p>
        </p:txBody>
      </p:sp>
      <p:sp>
        <p:nvSpPr>
          <p:cNvPr id="22" name="Shape 20"/>
          <p:cNvSpPr/>
          <p:nvPr/>
        </p:nvSpPr>
        <p:spPr>
          <a:xfrm>
            <a:off x="7315200" y="2377440"/>
            <a:ext cx="1920240" cy="2377440"/>
          </a:xfrm>
          <a:prstGeom prst="roundRect">
            <a:avLst>
              <a:gd name="adj" fmla="val 4286"/>
            </a:avLst>
          </a:prstGeom>
          <a:solidFill>
            <a:srgbClr val="44546A"/>
          </a:solidFill>
          <a:ln/>
        </p:spPr>
      </p:sp>
      <p:sp>
        <p:nvSpPr>
          <p:cNvPr id="23" name="Shape 21"/>
          <p:cNvSpPr/>
          <p:nvPr/>
        </p:nvSpPr>
        <p:spPr>
          <a:xfrm>
            <a:off x="8019288" y="2103120"/>
            <a:ext cx="512064" cy="512064"/>
          </a:xfrm>
          <a:prstGeom prst="ellipse">
            <a:avLst/>
          </a:prstGeom>
          <a:solidFill>
            <a:srgbClr val="00B8A9"/>
          </a:solidFill>
          <a:ln w="25400">
            <a:solidFill>
              <a:srgbClr val="FFFFFF"/>
            </a:solidFill>
            <a:prstDash val="solid"/>
          </a:ln>
        </p:spPr>
      </p:sp>
      <p:sp>
        <p:nvSpPr>
          <p:cNvPr id="24" name="Text 22"/>
          <p:cNvSpPr/>
          <p:nvPr/>
        </p:nvSpPr>
        <p:spPr>
          <a:xfrm>
            <a:off x="8019288" y="2103120"/>
            <a:ext cx="512064" cy="51206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3"/>
          <p:cNvSpPr/>
          <p:nvPr/>
        </p:nvSpPr>
        <p:spPr>
          <a:xfrm>
            <a:off x="7452360" y="2697480"/>
            <a:ext cx="1645920" cy="548640"/>
          </a:xfrm>
          <a:prstGeom prst="rect">
            <a:avLst/>
          </a:prstGeom>
          <a:noFill/>
          <a:ln/>
        </p:spPr>
        <p:txBody>
          <a:bodyPr wrap="square" lIns="0" tIns="0" rIns="0" bIns="0" rtlCol="0" anchor="t"/>
          <a:lstStyle/>
          <a:p>
            <a:pPr marL="0" indent="0" algn="ctr">
              <a:buNone/>
            </a:pPr>
            <a:r>
              <a:rPr lang="en-US" b="1" dirty="0">
                <a:solidFill>
                  <a:srgbClr val="FFFFFF"/>
                </a:solidFill>
                <a:latin typeface="Calibri" pitchFamily="34" charset="0"/>
                <a:ea typeface="Calibri" pitchFamily="34" charset="-122"/>
                <a:cs typeface="Calibri" pitchFamily="34" charset="-120"/>
              </a:rPr>
              <a:t>4. Token Exchange</a:t>
            </a:r>
            <a:endParaRPr lang="en-US" dirty="0"/>
          </a:p>
        </p:txBody>
      </p:sp>
      <p:sp>
        <p:nvSpPr>
          <p:cNvPr id="26" name="Text 24"/>
          <p:cNvSpPr/>
          <p:nvPr/>
        </p:nvSpPr>
        <p:spPr>
          <a:xfrm>
            <a:off x="7452360" y="3246120"/>
            <a:ext cx="1645920" cy="1417320"/>
          </a:xfrm>
          <a:prstGeom prst="rect">
            <a:avLst/>
          </a:prstGeom>
          <a:noFill/>
          <a:ln/>
        </p:spPr>
        <p:txBody>
          <a:bodyPr wrap="square" lIns="0" tIns="0" rIns="0" bIns="0" rtlCol="0" anchor="t"/>
          <a:lstStyle/>
          <a:p>
            <a:pPr marL="0" indent="0" algn="ctr">
              <a:lnSpc>
                <a:spcPct val="115000"/>
              </a:lnSpc>
              <a:buNone/>
            </a:pPr>
            <a:r>
              <a:rPr lang="en-US" dirty="0">
                <a:solidFill>
                  <a:srgbClr val="D8DEE6"/>
                </a:solidFill>
                <a:latin typeface="Calibri" pitchFamily="34" charset="0"/>
                <a:ea typeface="Calibri" pitchFamily="34" charset="-122"/>
                <a:cs typeface="Calibri" pitchFamily="34" charset="-120"/>
              </a:rPr>
              <a:t>App exchanges the code for an access token (and often a refresh token).</a:t>
            </a:r>
            <a:endParaRPr lang="en-US" dirty="0"/>
          </a:p>
        </p:txBody>
      </p:sp>
      <p:sp>
        <p:nvSpPr>
          <p:cNvPr id="27" name="Text 25"/>
          <p:cNvSpPr/>
          <p:nvPr/>
        </p:nvSpPr>
        <p:spPr>
          <a:xfrm>
            <a:off x="9235440" y="3246120"/>
            <a:ext cx="320040" cy="640080"/>
          </a:xfrm>
          <a:prstGeom prst="rect">
            <a:avLst/>
          </a:prstGeom>
          <a:noFill/>
          <a:ln/>
        </p:spPr>
        <p:txBody>
          <a:bodyPr wrap="square" lIns="0" tIns="0" rIns="0" bIns="0" rtlCol="0" anchor="ctr"/>
          <a:lstStyle/>
          <a:p>
            <a:pPr marL="0" indent="0" algn="ctr">
              <a:buNone/>
            </a:pPr>
            <a:r>
              <a:rPr lang="en-US" sz="2200" b="1" dirty="0">
                <a:solidFill>
                  <a:srgbClr val="00B8A9"/>
                </a:solidFill>
                <a:latin typeface="Calibri" pitchFamily="34" charset="0"/>
                <a:ea typeface="Calibri" pitchFamily="34" charset="-122"/>
                <a:cs typeface="Calibri" pitchFamily="34" charset="-120"/>
              </a:rPr>
              <a:t>→</a:t>
            </a:r>
            <a:endParaRPr lang="en-US" sz="2200" dirty="0"/>
          </a:p>
        </p:txBody>
      </p:sp>
      <p:sp>
        <p:nvSpPr>
          <p:cNvPr id="28" name="Shape 26"/>
          <p:cNvSpPr/>
          <p:nvPr/>
        </p:nvSpPr>
        <p:spPr>
          <a:xfrm>
            <a:off x="9555480" y="2377440"/>
            <a:ext cx="1920240" cy="2377440"/>
          </a:xfrm>
          <a:prstGeom prst="roundRect">
            <a:avLst>
              <a:gd name="adj" fmla="val 4286"/>
            </a:avLst>
          </a:prstGeom>
          <a:solidFill>
            <a:srgbClr val="0F2942"/>
          </a:solidFill>
          <a:ln/>
        </p:spPr>
      </p:sp>
      <p:sp>
        <p:nvSpPr>
          <p:cNvPr id="29" name="Shape 27"/>
          <p:cNvSpPr/>
          <p:nvPr/>
        </p:nvSpPr>
        <p:spPr>
          <a:xfrm>
            <a:off x="10259568" y="2103120"/>
            <a:ext cx="512064" cy="512064"/>
          </a:xfrm>
          <a:prstGeom prst="ellipse">
            <a:avLst/>
          </a:prstGeom>
          <a:solidFill>
            <a:srgbClr val="00B8A9"/>
          </a:solidFill>
          <a:ln w="25400">
            <a:solidFill>
              <a:srgbClr val="FFFFFF"/>
            </a:solidFill>
            <a:prstDash val="solid"/>
          </a:ln>
        </p:spPr>
      </p:sp>
      <p:sp>
        <p:nvSpPr>
          <p:cNvPr id="30" name="Text 28"/>
          <p:cNvSpPr/>
          <p:nvPr/>
        </p:nvSpPr>
        <p:spPr>
          <a:xfrm>
            <a:off x="10259568" y="2103120"/>
            <a:ext cx="512064" cy="51206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1" name="Text 29"/>
          <p:cNvSpPr/>
          <p:nvPr/>
        </p:nvSpPr>
        <p:spPr>
          <a:xfrm>
            <a:off x="9692640" y="2697480"/>
            <a:ext cx="1645920" cy="548640"/>
          </a:xfrm>
          <a:prstGeom prst="rect">
            <a:avLst/>
          </a:prstGeom>
          <a:noFill/>
          <a:ln/>
        </p:spPr>
        <p:txBody>
          <a:bodyPr wrap="square" lIns="0" tIns="0" rIns="0" bIns="0" rtlCol="0" anchor="t"/>
          <a:lstStyle/>
          <a:p>
            <a:pPr marL="0" indent="0" algn="ctr">
              <a:buNone/>
            </a:pPr>
            <a:r>
              <a:rPr lang="en-US" b="1" dirty="0">
                <a:solidFill>
                  <a:srgbClr val="FFFFFF"/>
                </a:solidFill>
                <a:latin typeface="Calibri" pitchFamily="34" charset="0"/>
                <a:ea typeface="Calibri" pitchFamily="34" charset="-122"/>
                <a:cs typeface="Calibri" pitchFamily="34" charset="-120"/>
              </a:rPr>
              <a:t>5. API Access</a:t>
            </a:r>
            <a:endParaRPr lang="en-US" dirty="0"/>
          </a:p>
        </p:txBody>
      </p:sp>
      <p:sp>
        <p:nvSpPr>
          <p:cNvPr id="32" name="Text 30"/>
          <p:cNvSpPr/>
          <p:nvPr/>
        </p:nvSpPr>
        <p:spPr>
          <a:xfrm>
            <a:off x="9692640" y="3246120"/>
            <a:ext cx="1645920" cy="1417320"/>
          </a:xfrm>
          <a:prstGeom prst="rect">
            <a:avLst/>
          </a:prstGeom>
          <a:noFill/>
          <a:ln/>
        </p:spPr>
        <p:txBody>
          <a:bodyPr wrap="square" lIns="0" tIns="0" rIns="0" bIns="0" rtlCol="0" anchor="t"/>
          <a:lstStyle/>
          <a:p>
            <a:pPr marL="0" indent="0" algn="ctr">
              <a:lnSpc>
                <a:spcPct val="115000"/>
              </a:lnSpc>
              <a:buNone/>
            </a:pPr>
            <a:r>
              <a:rPr lang="en-US" dirty="0">
                <a:solidFill>
                  <a:srgbClr val="D8DEE6"/>
                </a:solidFill>
                <a:latin typeface="Calibri" pitchFamily="34" charset="0"/>
                <a:ea typeface="Calibri" pitchFamily="34" charset="-122"/>
                <a:cs typeface="Calibri" pitchFamily="34" charset="-120"/>
              </a:rPr>
              <a:t>App calls the API, including the access token in each request.</a:t>
            </a:r>
            <a:endParaRPr lang="en-US" dirty="0"/>
          </a:p>
        </p:txBody>
      </p:sp>
      <p:sp>
        <p:nvSpPr>
          <p:cNvPr id="33" name="Text 31"/>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10: Security &amp; Governance in SOA</a:t>
            </a:r>
            <a:endParaRPr lang="en-US" sz="900" dirty="0"/>
          </a:p>
        </p:txBody>
      </p:sp>
      <p:sp>
        <p:nvSpPr>
          <p:cNvPr id="34" name="Text 32"/>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2942"/>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0B8A9"/>
          </a:solidFill>
          <a:ln/>
        </p:spPr>
      </p:sp>
      <p:sp>
        <p:nvSpPr>
          <p:cNvPr id="3" name="Text 1"/>
          <p:cNvSpPr/>
          <p:nvPr/>
        </p:nvSpPr>
        <p:spPr>
          <a:xfrm>
            <a:off x="822960" y="822960"/>
            <a:ext cx="5486400" cy="365760"/>
          </a:xfrm>
          <a:prstGeom prst="rect">
            <a:avLst/>
          </a:prstGeom>
          <a:noFill/>
          <a:ln/>
        </p:spPr>
        <p:txBody>
          <a:bodyPr wrap="square" lIns="0" tIns="0" rIns="0" bIns="0" rtlCol="0" anchor="ctr"/>
          <a:lstStyle/>
          <a:p>
            <a:pPr marL="0" indent="0">
              <a:buNone/>
            </a:pPr>
            <a:r>
              <a:rPr lang="en-US" sz="1400" b="1" dirty="0">
                <a:solidFill>
                  <a:srgbClr val="00B8A9"/>
                </a:solidFill>
                <a:latin typeface="Calibri" pitchFamily="34" charset="0"/>
                <a:ea typeface="Calibri" pitchFamily="34" charset="-122"/>
                <a:cs typeface="Calibri" pitchFamily="34" charset="-120"/>
              </a:rPr>
              <a:t>DEFINITION</a:t>
            </a:r>
            <a:endParaRPr lang="en-US" sz="1400" dirty="0"/>
          </a:p>
        </p:txBody>
      </p:sp>
      <p:sp>
        <p:nvSpPr>
          <p:cNvPr id="4" name="Text 2"/>
          <p:cNvSpPr/>
          <p:nvPr/>
        </p:nvSpPr>
        <p:spPr>
          <a:xfrm>
            <a:off x="822960" y="1188720"/>
            <a:ext cx="10515600" cy="8229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JWT (JSON Web Token)</a:t>
            </a:r>
            <a:endParaRPr lang="en-US" sz="3000" dirty="0"/>
          </a:p>
        </p:txBody>
      </p:sp>
      <p:sp>
        <p:nvSpPr>
          <p:cNvPr id="5" name="Text 3"/>
          <p:cNvSpPr/>
          <p:nvPr/>
        </p:nvSpPr>
        <p:spPr>
          <a:xfrm>
            <a:off x="822960" y="2148840"/>
            <a:ext cx="10241280" cy="1828800"/>
          </a:xfrm>
          <a:prstGeom prst="rect">
            <a:avLst/>
          </a:prstGeom>
          <a:noFill/>
          <a:ln/>
        </p:spPr>
        <p:txBody>
          <a:bodyPr wrap="square" lIns="0" tIns="0" rIns="0" bIns="0" rtlCol="0" anchor="t"/>
          <a:lstStyle/>
          <a:p>
            <a:pPr marL="0" indent="0">
              <a:lnSpc>
                <a:spcPct val="130000"/>
              </a:lnSpc>
              <a:buNone/>
            </a:pPr>
            <a:r>
              <a:rPr lang="en-US" sz="2400" i="1" dirty="0">
                <a:solidFill>
                  <a:srgbClr val="DCE3EA"/>
                </a:solidFill>
                <a:latin typeface="Calibri" pitchFamily="34" charset="0"/>
                <a:ea typeface="Calibri" pitchFamily="34" charset="-122"/>
                <a:cs typeface="Calibri" pitchFamily="34" charset="-120"/>
              </a:rPr>
              <a:t>“A compact, URL-safe, self-contained token format that encodes claims about an identity as a signed (and optionally encrypted) JSON structure, allowing a receiving service to verify authenticity without querying a central server.”</a:t>
            </a:r>
            <a:endParaRPr lang="en-US" sz="2400" dirty="0"/>
          </a:p>
        </p:txBody>
      </p:sp>
      <p:sp>
        <p:nvSpPr>
          <p:cNvPr id="6" name="Text 4"/>
          <p:cNvSpPr/>
          <p:nvPr/>
        </p:nvSpPr>
        <p:spPr>
          <a:xfrm>
            <a:off x="822960" y="4114800"/>
            <a:ext cx="10241280" cy="2103120"/>
          </a:xfrm>
          <a:prstGeom prst="rect">
            <a:avLst/>
          </a:prstGeom>
          <a:noFill/>
          <a:ln/>
        </p:spPr>
        <p:txBody>
          <a:bodyPr wrap="square" lIns="0" tIns="0" rIns="0" bIns="0" rtlCol="0" anchor="t"/>
          <a:lstStyle/>
          <a:p>
            <a:pPr marL="342900" indent="-342900">
              <a:spcAft>
                <a:spcPts val="800"/>
              </a:spcAft>
              <a:buSzPct val="100000"/>
              <a:buChar char="•"/>
            </a:pPr>
            <a:r>
              <a:rPr lang="en-US" sz="2400" dirty="0">
                <a:solidFill>
                  <a:srgbClr val="C7D0D9"/>
                </a:solidFill>
                <a:latin typeface="Calibri" pitchFamily="34" charset="0"/>
                <a:ea typeface="Calibri" pitchFamily="34" charset="-122"/>
                <a:cs typeface="Calibri" pitchFamily="34" charset="-120"/>
              </a:rPr>
              <a:t>A JWT typically has three parts: header, payload (claims), and signature — separated by dots</a:t>
            </a:r>
            <a:endParaRPr lang="en-US" sz="2400" dirty="0"/>
          </a:p>
          <a:p>
            <a:pPr marL="342900" indent="-342900">
              <a:spcAft>
                <a:spcPts val="800"/>
              </a:spcAft>
              <a:buSzPct val="100000"/>
              <a:buChar char="•"/>
            </a:pPr>
            <a:r>
              <a:rPr lang="en-US" sz="2400" dirty="0">
                <a:solidFill>
                  <a:srgbClr val="C7D0D9"/>
                </a:solidFill>
                <a:latin typeface="Calibri" pitchFamily="34" charset="0"/>
                <a:ea typeface="Calibri" pitchFamily="34" charset="-122"/>
                <a:cs typeface="Calibri" pitchFamily="34" charset="-120"/>
              </a:rPr>
              <a:t>Because JWTs are self-contained and verifiable via signature, they support stateless authentication (recall statelessness from Lecture 2)</a:t>
            </a:r>
            <a:endParaRPr lang="en-US" sz="2400" dirty="0"/>
          </a:p>
        </p:txBody>
      </p:sp>
      <p:sp>
        <p:nvSpPr>
          <p:cNvPr id="7" name="Text 5"/>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10: Security &amp; Governance in SOA</a:t>
            </a:r>
            <a:endParaRPr lang="en-US" sz="900" dirty="0"/>
          </a:p>
        </p:txBody>
      </p:sp>
      <p:sp>
        <p:nvSpPr>
          <p:cNvPr id="8" name="Text 6"/>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Sending a JWT in a REST Request</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Shape 2"/>
          <p:cNvSpPr/>
          <p:nvPr/>
        </p:nvSpPr>
        <p:spPr>
          <a:xfrm>
            <a:off x="548640" y="1325880"/>
            <a:ext cx="11064240" cy="4297680"/>
          </a:xfrm>
          <a:prstGeom prst="roundRect">
            <a:avLst>
              <a:gd name="adj" fmla="val 1702"/>
            </a:avLst>
          </a:prstGeom>
          <a:solidFill>
            <a:srgbClr val="0A1D30"/>
          </a:solidFill>
          <a:ln/>
        </p:spPr>
      </p:sp>
      <p:sp>
        <p:nvSpPr>
          <p:cNvPr id="5" name="Text 3"/>
          <p:cNvSpPr/>
          <p:nvPr/>
        </p:nvSpPr>
        <p:spPr>
          <a:xfrm>
            <a:off x="822960" y="1508760"/>
            <a:ext cx="10515600" cy="3931920"/>
          </a:xfrm>
          <a:prstGeom prst="rect">
            <a:avLst/>
          </a:prstGeom>
          <a:noFill/>
          <a:ln/>
        </p:spPr>
        <p:txBody>
          <a:bodyPr wrap="square" lIns="0" tIns="0" rIns="0" bIns="0" rtlCol="0" anchor="t"/>
          <a:lstStyle/>
          <a:p>
            <a:pPr marL="0" indent="0">
              <a:buNone/>
            </a:pPr>
            <a:r>
              <a:rPr lang="en-US" sz="2400" dirty="0">
                <a:solidFill>
                  <a:srgbClr val="9BE8DD"/>
                </a:solidFill>
                <a:latin typeface="Consolas" pitchFamily="34" charset="0"/>
                <a:ea typeface="Consolas" pitchFamily="34" charset="-122"/>
                <a:cs typeface="Consolas" pitchFamily="34" charset="-120"/>
              </a:rPr>
              <a:t>GET /orders/1042 HTTP/1.1</a:t>
            </a:r>
            <a:endParaRPr lang="en-US" sz="2400" dirty="0"/>
          </a:p>
          <a:p>
            <a:pPr marL="0" indent="0">
              <a:buNone/>
            </a:pPr>
            <a:r>
              <a:rPr lang="en-US" sz="2400" dirty="0">
                <a:solidFill>
                  <a:srgbClr val="9BE8DD"/>
                </a:solidFill>
                <a:latin typeface="Consolas" pitchFamily="34" charset="0"/>
                <a:ea typeface="Consolas" pitchFamily="34" charset="-122"/>
                <a:cs typeface="Consolas" pitchFamily="34" charset="-120"/>
              </a:rPr>
              <a:t>Host: api.example.com</a:t>
            </a:r>
            <a:endParaRPr lang="en-US" sz="2400" dirty="0"/>
          </a:p>
          <a:p>
            <a:pPr marL="0" indent="0">
              <a:buNone/>
            </a:pPr>
            <a:r>
              <a:rPr lang="en-US" sz="2400" dirty="0">
                <a:solidFill>
                  <a:srgbClr val="9BE8DD"/>
                </a:solidFill>
                <a:latin typeface="Consolas" pitchFamily="34" charset="0"/>
                <a:ea typeface="Consolas" pitchFamily="34" charset="-122"/>
                <a:cs typeface="Consolas" pitchFamily="34" charset="-120"/>
              </a:rPr>
              <a:t>Authorization: Bearer eyJhbGciOiJIUzI1NiIsInR5cCI6IkpXVCJ9.</a:t>
            </a:r>
            <a:endParaRPr lang="en-US" sz="2400" dirty="0"/>
          </a:p>
          <a:p>
            <a:pPr marL="0" indent="0">
              <a:buNone/>
            </a:pPr>
            <a:r>
              <a:rPr lang="en-US" sz="2400" dirty="0">
                <a:solidFill>
                  <a:srgbClr val="9BE8DD"/>
                </a:solidFill>
                <a:latin typeface="Consolas" pitchFamily="34" charset="0"/>
                <a:ea typeface="Consolas" pitchFamily="34" charset="-122"/>
                <a:cs typeface="Consolas" pitchFamily="34" charset="-120"/>
              </a:rPr>
              <a:t>  eyJzdWIiOiJzYXJhLmFobWVkIiwicm9sZSI6ImN1c3RvbWVyIn0.</a:t>
            </a:r>
            <a:endParaRPr lang="en-US" sz="2400" dirty="0"/>
          </a:p>
          <a:p>
            <a:pPr marL="0" indent="0">
              <a:buNone/>
            </a:pPr>
            <a:r>
              <a:rPr lang="en-US" sz="2400" dirty="0">
                <a:solidFill>
                  <a:srgbClr val="9BE8DD"/>
                </a:solidFill>
                <a:latin typeface="Consolas" pitchFamily="34" charset="0"/>
                <a:ea typeface="Consolas" pitchFamily="34" charset="-122"/>
                <a:cs typeface="Consolas" pitchFamily="34" charset="-120"/>
              </a:rPr>
              <a:t>  4Erf7d9Kx...signature</a:t>
            </a:r>
            <a:endParaRPr lang="en-US" sz="2400" dirty="0"/>
          </a:p>
        </p:txBody>
      </p:sp>
      <p:sp>
        <p:nvSpPr>
          <p:cNvPr id="6" name="Text 4"/>
          <p:cNvSpPr/>
          <p:nvPr/>
        </p:nvSpPr>
        <p:spPr>
          <a:xfrm>
            <a:off x="548640" y="5715000"/>
            <a:ext cx="11064240" cy="502920"/>
          </a:xfrm>
          <a:prstGeom prst="rect">
            <a:avLst/>
          </a:prstGeom>
          <a:noFill/>
          <a:ln/>
        </p:spPr>
        <p:txBody>
          <a:bodyPr wrap="square" lIns="0" tIns="0" rIns="0" bIns="0" rtlCol="0" anchor="ctr"/>
          <a:lstStyle/>
          <a:p>
            <a:pPr marL="0" indent="0">
              <a:buNone/>
            </a:pPr>
            <a:r>
              <a:rPr lang="en-US" sz="2000" i="1" dirty="0">
                <a:solidFill>
                  <a:srgbClr val="44546A"/>
                </a:solidFill>
                <a:latin typeface="Calibri" pitchFamily="34" charset="0"/>
                <a:ea typeface="Calibri" pitchFamily="34" charset="-122"/>
                <a:cs typeface="Calibri" pitchFamily="34" charset="-120"/>
              </a:rPr>
              <a:t>The receiving service can verify the token's signature locally, without a network call back to the identity provider on every request.</a:t>
            </a:r>
            <a:endParaRPr lang="en-US" sz="2000" dirty="0"/>
          </a:p>
        </p:txBody>
      </p:sp>
      <p:sp>
        <p:nvSpPr>
          <p:cNvPr id="7" name="Text 5"/>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10: Security &amp; Governance in SOA</a:t>
            </a:r>
            <a:endParaRPr lang="en-US" sz="900" dirty="0"/>
          </a:p>
        </p:txBody>
      </p:sp>
      <p:sp>
        <p:nvSpPr>
          <p:cNvPr id="8" name="Text 6"/>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API Keys vs. OAuth2 Tokens vs. WS-Security Tokens</a:t>
            </a:r>
            <a:endParaRPr lang="en-US" sz="2600" dirty="0"/>
          </a:p>
        </p:txBody>
      </p:sp>
      <p:sp>
        <p:nvSpPr>
          <p:cNvPr id="3" name="Shape 1"/>
          <p:cNvSpPr/>
          <p:nvPr/>
        </p:nvSpPr>
        <p:spPr>
          <a:xfrm>
            <a:off x="566928" y="1005840"/>
            <a:ext cx="411480" cy="45720"/>
          </a:xfrm>
          <a:prstGeom prst="rect">
            <a:avLst/>
          </a:prstGeom>
          <a:solidFill>
            <a:srgbClr val="00B8A9"/>
          </a:solidFill>
          <a:ln/>
        </p:spPr>
      </p:sp>
      <p:graphicFrame>
        <p:nvGraphicFramePr>
          <p:cNvPr id="15" name="Table 0"/>
          <p:cNvGraphicFramePr>
            <a:graphicFrameLocks noGrp="1"/>
          </p:cNvGraphicFramePr>
          <p:nvPr>
            <p:extLst>
              <p:ext uri="{D42A27DB-BD31-4B8C-83A1-F6EECF244321}">
                <p14:modId xmlns:p14="http://schemas.microsoft.com/office/powerpoint/2010/main" val="2473258349"/>
              </p:ext>
            </p:extLst>
          </p:nvPr>
        </p:nvGraphicFramePr>
        <p:xfrm>
          <a:off x="548640" y="1325880"/>
          <a:ext cx="11064240" cy="4846320"/>
        </p:xfrm>
        <a:graphic>
          <a:graphicData uri="http://schemas.openxmlformats.org/drawingml/2006/table">
            <a:tbl>
              <a:tblPr/>
              <a:tblGrid>
                <a:gridCol w="5532120">
                  <a:extLst>
                    <a:ext uri="{9D8B030D-6E8A-4147-A177-3AD203B41FA5}">
                      <a16:colId xmlns:a16="http://schemas.microsoft.com/office/drawing/2014/main" val="20000"/>
                    </a:ext>
                  </a:extLst>
                </a:gridCol>
                <a:gridCol w="5532120">
                  <a:extLst>
                    <a:ext uri="{9D8B030D-6E8A-4147-A177-3AD203B41FA5}">
                      <a16:colId xmlns:a16="http://schemas.microsoft.com/office/drawing/2014/main" val="20001"/>
                    </a:ext>
                  </a:extLst>
                </a:gridCol>
              </a:tblGrid>
              <a:tr h="1211580">
                <a:tc>
                  <a:txBody>
                    <a:bodyPr/>
                    <a:lstStyle/>
                    <a:p>
                      <a:pPr marL="0" indent="0">
                        <a:buNone/>
                      </a:pPr>
                      <a:r>
                        <a:rPr lang="en-US" sz="2400" b="1" dirty="0">
                          <a:solidFill>
                            <a:srgbClr val="FFFFFF"/>
                          </a:solidFill>
                          <a:latin typeface="Calibri" pitchFamily="34" charset="0"/>
                          <a:ea typeface="Calibri" pitchFamily="34" charset="-122"/>
                          <a:cs typeface="Calibri" pitchFamily="34" charset="-120"/>
                        </a:rPr>
                        <a:t>Mechanism</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0F2942"/>
                    </a:solidFill>
                  </a:tcPr>
                </a:tc>
                <a:tc>
                  <a:txBody>
                    <a:bodyPr/>
                    <a:lstStyle/>
                    <a:p>
                      <a:pPr marL="0" indent="0">
                        <a:buNone/>
                      </a:pPr>
                      <a:r>
                        <a:rPr lang="en-US" sz="2400" b="1" dirty="0">
                          <a:solidFill>
                            <a:srgbClr val="FFFFFF"/>
                          </a:solidFill>
                          <a:latin typeface="Calibri" pitchFamily="34" charset="0"/>
                          <a:ea typeface="Calibri" pitchFamily="34" charset="-122"/>
                          <a:cs typeface="Calibri" pitchFamily="34" charset="-120"/>
                        </a:rPr>
                        <a:t>Typical Use Case</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0F2942"/>
                    </a:solidFill>
                  </a:tcPr>
                </a:tc>
                <a:extLst>
                  <a:ext uri="{0D108BD9-81ED-4DB2-BD59-A6C34878D82A}">
                    <a16:rowId xmlns:a16="http://schemas.microsoft.com/office/drawing/2014/main" val="10000"/>
                  </a:ext>
                </a:extLst>
              </a:tr>
              <a:tr h="1211580">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API Key</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Simple identification of a calling application, often for rate limiting</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211580">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OAuth2 Access Token / JWT</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Delegated, scoped access for REST APIs, mobile and web apps</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extLst>
                  <a:ext uri="{0D108BD9-81ED-4DB2-BD59-A6C34878D82A}">
                    <a16:rowId xmlns:a16="http://schemas.microsoft.com/office/drawing/2014/main" val="10002"/>
                  </a:ext>
                </a:extLst>
              </a:tr>
              <a:tr h="1211580">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WS-Security Token (SAML, X.509)</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Message-level security for SOAP-based enterprise integration</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Text 2"/>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10: Security &amp; Governance in SOA</a:t>
            </a:r>
            <a:endParaRPr lang="en-US" sz="900" dirty="0"/>
          </a:p>
        </p:txBody>
      </p:sp>
      <p:sp>
        <p:nvSpPr>
          <p:cNvPr id="6" name="Text 3"/>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Authorization Models: RBAC and Beyond</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Role-Based Access Control (RBAC)</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Permissions are assigned to roles (e.g., 'Admin', 'Customer'); users are assigned roles</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Attribute-Based Access Control (ABAC)</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Access decisions consider multiple attributes (user, resource, environment) for finer-grained control</a:t>
            </a:r>
            <a:endParaRPr lang="en-US" sz="2800" dirty="0"/>
          </a:p>
          <a:p>
            <a:pPr marL="342900" indent="-342900">
              <a:spcAft>
                <a:spcPts val="1200"/>
              </a:spcAft>
              <a:buSzPct val="100000"/>
              <a:buChar char="•"/>
            </a:pPr>
            <a:r>
              <a:rPr lang="en-US" sz="2800" dirty="0">
                <a:solidFill>
                  <a:srgbClr val="1A1A2E"/>
                </a:solidFill>
                <a:latin typeface="Calibri" pitchFamily="34" charset="0"/>
                <a:ea typeface="Calibri" pitchFamily="34" charset="-122"/>
                <a:cs typeface="Calibri" pitchFamily="34" charset="-120"/>
              </a:rPr>
              <a:t>Well-designed services enforce authorization consistently — often centrally, via a policy enforcement point such as a gateway or ESB</a:t>
            </a:r>
            <a:endParaRPr lang="en-US" sz="28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10: Security &amp; Governance in SOA</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Common Service Security Threats</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400" b="1" dirty="0">
                <a:solidFill>
                  <a:srgbClr val="1A1A2E"/>
                </a:solidFill>
                <a:latin typeface="Calibri" pitchFamily="34" charset="0"/>
                <a:ea typeface="Calibri" pitchFamily="34" charset="-122"/>
                <a:cs typeface="Calibri" pitchFamily="34" charset="-120"/>
              </a:rPr>
              <a:t>Injection attacks</a:t>
            </a:r>
            <a:endParaRPr lang="en-US" sz="2400" dirty="0"/>
          </a:p>
          <a:p>
            <a:pPr marL="685800" lvl="1" indent="-342900">
              <a:spcAft>
                <a:spcPts val="600"/>
              </a:spcAft>
              <a:buSzPct val="100000"/>
              <a:buChar char="–"/>
            </a:pPr>
            <a:r>
              <a:rPr lang="en-US" sz="2000" dirty="0">
                <a:solidFill>
                  <a:srgbClr val="44546A"/>
                </a:solidFill>
                <a:latin typeface="Calibri" pitchFamily="34" charset="0"/>
                <a:ea typeface="Calibri" pitchFamily="34" charset="-122"/>
                <a:cs typeface="Calibri" pitchFamily="34" charset="-120"/>
              </a:rPr>
              <a:t>Malicious input (SQL, XML, command injection) exploiting insufficient input validation</a:t>
            </a:r>
            <a:endParaRPr lang="en-US" sz="2400" dirty="0"/>
          </a:p>
          <a:p>
            <a:pPr marL="342900" indent="-342900">
              <a:spcAft>
                <a:spcPts val="1200"/>
              </a:spcAft>
              <a:buSzPct val="100000"/>
              <a:buChar char="•"/>
            </a:pPr>
            <a:r>
              <a:rPr lang="en-US" sz="2400" b="1" dirty="0">
                <a:solidFill>
                  <a:srgbClr val="1A1A2E"/>
                </a:solidFill>
                <a:latin typeface="Calibri" pitchFamily="34" charset="0"/>
                <a:ea typeface="Calibri" pitchFamily="34" charset="-122"/>
                <a:cs typeface="Calibri" pitchFamily="34" charset="-120"/>
              </a:rPr>
              <a:t>Man-in-the-middle attacks</a:t>
            </a:r>
            <a:endParaRPr lang="en-US" sz="2400" dirty="0"/>
          </a:p>
          <a:p>
            <a:pPr marL="685800" lvl="1" indent="-342900">
              <a:spcAft>
                <a:spcPts val="600"/>
              </a:spcAft>
              <a:buSzPct val="100000"/>
              <a:buChar char="–"/>
            </a:pPr>
            <a:r>
              <a:rPr lang="en-US" sz="2000" dirty="0">
                <a:solidFill>
                  <a:srgbClr val="44546A"/>
                </a:solidFill>
                <a:latin typeface="Calibri" pitchFamily="34" charset="0"/>
                <a:ea typeface="Calibri" pitchFamily="34" charset="-122"/>
                <a:cs typeface="Calibri" pitchFamily="34" charset="-120"/>
              </a:rPr>
              <a:t>Intercepting and possibly altering messages in transit — mitigated by TLS and message signing</a:t>
            </a:r>
            <a:endParaRPr lang="en-US" sz="2400" dirty="0"/>
          </a:p>
          <a:p>
            <a:pPr marL="342900" indent="-342900">
              <a:spcAft>
                <a:spcPts val="1200"/>
              </a:spcAft>
              <a:buSzPct val="100000"/>
              <a:buChar char="•"/>
            </a:pPr>
            <a:r>
              <a:rPr lang="en-US" sz="2400" b="1" dirty="0">
                <a:solidFill>
                  <a:srgbClr val="1A1A2E"/>
                </a:solidFill>
                <a:latin typeface="Calibri" pitchFamily="34" charset="0"/>
                <a:ea typeface="Calibri" pitchFamily="34" charset="-122"/>
                <a:cs typeface="Calibri" pitchFamily="34" charset="-120"/>
              </a:rPr>
              <a:t>Replay attacks</a:t>
            </a:r>
            <a:endParaRPr lang="en-US" sz="2400" dirty="0"/>
          </a:p>
          <a:p>
            <a:pPr marL="685800" lvl="1" indent="-342900">
              <a:spcAft>
                <a:spcPts val="600"/>
              </a:spcAft>
              <a:buSzPct val="100000"/>
              <a:buChar char="–"/>
            </a:pPr>
            <a:r>
              <a:rPr lang="en-US" sz="2000" dirty="0">
                <a:solidFill>
                  <a:srgbClr val="44546A"/>
                </a:solidFill>
                <a:latin typeface="Calibri" pitchFamily="34" charset="0"/>
                <a:ea typeface="Calibri" pitchFamily="34" charset="-122"/>
                <a:cs typeface="Calibri" pitchFamily="34" charset="-120"/>
              </a:rPr>
              <a:t>Capturing and resending a valid message later — mitigated with timestamps/nonces</a:t>
            </a:r>
            <a:endParaRPr lang="en-US" sz="2400" dirty="0"/>
          </a:p>
          <a:p>
            <a:pPr marL="342900" indent="-342900">
              <a:spcAft>
                <a:spcPts val="1200"/>
              </a:spcAft>
              <a:buSzPct val="100000"/>
              <a:buChar char="•"/>
            </a:pPr>
            <a:r>
              <a:rPr lang="en-US" sz="2400" b="1" dirty="0">
                <a:solidFill>
                  <a:srgbClr val="1A1A2E"/>
                </a:solidFill>
                <a:latin typeface="Calibri" pitchFamily="34" charset="0"/>
                <a:ea typeface="Calibri" pitchFamily="34" charset="-122"/>
                <a:cs typeface="Calibri" pitchFamily="34" charset="-120"/>
              </a:rPr>
              <a:t>Denial of Service (DoS)</a:t>
            </a:r>
            <a:endParaRPr lang="en-US" sz="2400" dirty="0"/>
          </a:p>
          <a:p>
            <a:pPr marL="685800" lvl="1" indent="-342900">
              <a:spcAft>
                <a:spcPts val="600"/>
              </a:spcAft>
              <a:buSzPct val="100000"/>
              <a:buChar char="–"/>
            </a:pPr>
            <a:r>
              <a:rPr lang="en-US" sz="2000" dirty="0">
                <a:solidFill>
                  <a:srgbClr val="44546A"/>
                </a:solidFill>
                <a:latin typeface="Calibri" pitchFamily="34" charset="0"/>
                <a:ea typeface="Calibri" pitchFamily="34" charset="-122"/>
                <a:cs typeface="Calibri" pitchFamily="34" charset="-120"/>
              </a:rPr>
              <a:t>Overwhelming a service with excessive requests — mitigated with rate limiting and throttling</a:t>
            </a:r>
            <a:endParaRPr lang="en-US" sz="24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10: Security &amp; Governance in SOA</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2942"/>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00B8A9"/>
          </a:solidFill>
          <a:ln/>
        </p:spPr>
      </p:sp>
      <p:sp>
        <p:nvSpPr>
          <p:cNvPr id="3" name="Text 1"/>
          <p:cNvSpPr/>
          <p:nvPr/>
        </p:nvSpPr>
        <p:spPr>
          <a:xfrm>
            <a:off x="822960" y="822960"/>
            <a:ext cx="5486400" cy="365760"/>
          </a:xfrm>
          <a:prstGeom prst="rect">
            <a:avLst/>
          </a:prstGeom>
          <a:noFill/>
          <a:ln/>
        </p:spPr>
        <p:txBody>
          <a:bodyPr wrap="square" lIns="0" tIns="0" rIns="0" bIns="0" rtlCol="0" anchor="ctr"/>
          <a:lstStyle/>
          <a:p>
            <a:pPr marL="0" indent="0">
              <a:buNone/>
            </a:pPr>
            <a:r>
              <a:rPr lang="en-US" sz="1400" b="1" dirty="0">
                <a:solidFill>
                  <a:srgbClr val="00B8A9"/>
                </a:solidFill>
                <a:latin typeface="Calibri" pitchFamily="34" charset="0"/>
                <a:ea typeface="Calibri" pitchFamily="34" charset="-122"/>
                <a:cs typeface="Calibri" pitchFamily="34" charset="-120"/>
              </a:rPr>
              <a:t>DEFINITION</a:t>
            </a:r>
            <a:endParaRPr lang="en-US" sz="1400" dirty="0"/>
          </a:p>
        </p:txBody>
      </p:sp>
      <p:sp>
        <p:nvSpPr>
          <p:cNvPr id="4" name="Text 2"/>
          <p:cNvSpPr/>
          <p:nvPr/>
        </p:nvSpPr>
        <p:spPr>
          <a:xfrm>
            <a:off x="822960" y="1188720"/>
            <a:ext cx="10515600" cy="8229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SOA Governance</a:t>
            </a:r>
            <a:endParaRPr lang="en-US" sz="3000" dirty="0"/>
          </a:p>
        </p:txBody>
      </p:sp>
      <p:sp>
        <p:nvSpPr>
          <p:cNvPr id="5" name="Text 3"/>
          <p:cNvSpPr/>
          <p:nvPr/>
        </p:nvSpPr>
        <p:spPr>
          <a:xfrm>
            <a:off x="822960" y="2148840"/>
            <a:ext cx="10241280" cy="1828800"/>
          </a:xfrm>
          <a:prstGeom prst="rect">
            <a:avLst/>
          </a:prstGeom>
          <a:noFill/>
          <a:ln/>
        </p:spPr>
        <p:txBody>
          <a:bodyPr wrap="square" lIns="0" tIns="0" rIns="0" bIns="0" rtlCol="0" anchor="t"/>
          <a:lstStyle/>
          <a:p>
            <a:pPr marL="0" indent="0">
              <a:lnSpc>
                <a:spcPct val="130000"/>
              </a:lnSpc>
              <a:buNone/>
            </a:pPr>
            <a:r>
              <a:rPr lang="en-US" sz="2400" i="1" dirty="0">
                <a:solidFill>
                  <a:srgbClr val="DCE3EA"/>
                </a:solidFill>
                <a:latin typeface="Calibri" pitchFamily="34" charset="0"/>
                <a:ea typeface="Calibri" pitchFamily="34" charset="-122"/>
                <a:cs typeface="Calibri" pitchFamily="34" charset="-120"/>
              </a:rPr>
              <a:t>“The set of processes, policies, standards, and organizational structures that ensure services across an enterprise are designed, built, deployed, and evolved consistently, securely, and in alignment with business goals.”</a:t>
            </a:r>
            <a:endParaRPr lang="en-US" sz="2400" dirty="0"/>
          </a:p>
        </p:txBody>
      </p:sp>
      <p:sp>
        <p:nvSpPr>
          <p:cNvPr id="6" name="Text 4"/>
          <p:cNvSpPr/>
          <p:nvPr/>
        </p:nvSpPr>
        <p:spPr>
          <a:xfrm>
            <a:off x="822960" y="4114800"/>
            <a:ext cx="10241280" cy="2103120"/>
          </a:xfrm>
          <a:prstGeom prst="rect">
            <a:avLst/>
          </a:prstGeom>
          <a:noFill/>
          <a:ln/>
        </p:spPr>
        <p:txBody>
          <a:bodyPr wrap="square" lIns="0" tIns="0" rIns="0" bIns="0" rtlCol="0" anchor="t"/>
          <a:lstStyle/>
          <a:p>
            <a:pPr marL="342900" indent="-342900">
              <a:spcAft>
                <a:spcPts val="800"/>
              </a:spcAft>
              <a:buSzPct val="100000"/>
              <a:buChar char="•"/>
            </a:pPr>
            <a:r>
              <a:rPr lang="en-US" sz="2400" dirty="0">
                <a:solidFill>
                  <a:srgbClr val="C7D0D9"/>
                </a:solidFill>
                <a:latin typeface="Calibri" pitchFamily="34" charset="0"/>
                <a:ea typeface="Calibri" pitchFamily="34" charset="-122"/>
                <a:cs typeface="Calibri" pitchFamily="34" charset="-120"/>
              </a:rPr>
              <a:t>Governance is what prevents SOA's principles (Lecture 2) from eroding as the number of services and teams grows over time</a:t>
            </a:r>
            <a:endParaRPr lang="en-US" sz="2400" dirty="0"/>
          </a:p>
          <a:p>
            <a:pPr marL="342900" indent="-342900">
              <a:spcAft>
                <a:spcPts val="800"/>
              </a:spcAft>
              <a:buSzPct val="100000"/>
              <a:buChar char="•"/>
            </a:pPr>
            <a:r>
              <a:rPr lang="en-US" sz="2400" dirty="0">
                <a:solidFill>
                  <a:srgbClr val="C7D0D9"/>
                </a:solidFill>
                <a:latin typeface="Calibri" pitchFamily="34" charset="0"/>
                <a:ea typeface="Calibri" pitchFamily="34" charset="-122"/>
                <a:cs typeface="Calibri" pitchFamily="34" charset="-120"/>
              </a:rPr>
              <a:t>Without governance, organizations commonly experience 'service sprawl': many overlapping, poorly documented, inconsistent services</a:t>
            </a:r>
            <a:endParaRPr lang="en-US" sz="2400" dirty="0"/>
          </a:p>
        </p:txBody>
      </p:sp>
      <p:sp>
        <p:nvSpPr>
          <p:cNvPr id="7" name="Text 5"/>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10: Security &amp; Governance in SOA</a:t>
            </a:r>
            <a:endParaRPr lang="en-US" sz="900" dirty="0"/>
          </a:p>
        </p:txBody>
      </p:sp>
      <p:sp>
        <p:nvSpPr>
          <p:cNvPr id="8" name="Text 6"/>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Design-Time vs. Runtime Governance</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Design-Time Governance</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Policies applied before a service is built or changed: contract standards, naming conventions, review/approval processes</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Runtime Governance</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Policies enforced while services are actually running: security enforcement, SLA monitoring, usage auditing</a:t>
            </a:r>
            <a:endParaRPr lang="en-US" sz="2800" dirty="0"/>
          </a:p>
          <a:p>
            <a:pPr marL="342900" indent="-342900">
              <a:spcAft>
                <a:spcPts val="1200"/>
              </a:spcAft>
              <a:buSzPct val="100000"/>
              <a:buChar char="•"/>
            </a:pPr>
            <a:r>
              <a:rPr lang="en-US" sz="2800" dirty="0">
                <a:solidFill>
                  <a:srgbClr val="1A1A2E"/>
                </a:solidFill>
                <a:latin typeface="Calibri" pitchFamily="34" charset="0"/>
                <a:ea typeface="Calibri" pitchFamily="34" charset="-122"/>
                <a:cs typeface="Calibri" pitchFamily="34" charset="-120"/>
              </a:rPr>
              <a:t>Mature SOA programs invest in both — good design-time standards without runtime enforcement can silently decay</a:t>
            </a:r>
            <a:endParaRPr lang="en-US" sz="28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10: Security &amp; Governance in SOA</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Key Governance Artifacts</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Service Inventory / Catalog</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A central, authoritative list of every service, its owner, and its current version</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Design Standards Document</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Naming conventions, contract style guides, required non-functional policies</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Service Level Agreements (SLAs)</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Formal commitments on availability, performance, and support for each service</a:t>
            </a:r>
            <a:endParaRPr lang="en-US" sz="28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10: Security &amp; Governance in SOA</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Typical SOA Governance Roles</a:t>
            </a:r>
            <a:endParaRPr lang="en-US" sz="2600" dirty="0"/>
          </a:p>
        </p:txBody>
      </p:sp>
      <p:sp>
        <p:nvSpPr>
          <p:cNvPr id="3" name="Shape 1"/>
          <p:cNvSpPr/>
          <p:nvPr/>
        </p:nvSpPr>
        <p:spPr>
          <a:xfrm>
            <a:off x="566928" y="1005840"/>
            <a:ext cx="411480" cy="45720"/>
          </a:xfrm>
          <a:prstGeom prst="rect">
            <a:avLst/>
          </a:prstGeom>
          <a:solidFill>
            <a:srgbClr val="00B8A9"/>
          </a:solidFill>
          <a:ln/>
        </p:spPr>
      </p:sp>
      <p:graphicFrame>
        <p:nvGraphicFramePr>
          <p:cNvPr id="21" name="Table 0"/>
          <p:cNvGraphicFramePr>
            <a:graphicFrameLocks noGrp="1"/>
          </p:cNvGraphicFramePr>
          <p:nvPr>
            <p:extLst>
              <p:ext uri="{D42A27DB-BD31-4B8C-83A1-F6EECF244321}">
                <p14:modId xmlns:p14="http://schemas.microsoft.com/office/powerpoint/2010/main" val="3628257597"/>
              </p:ext>
            </p:extLst>
          </p:nvPr>
        </p:nvGraphicFramePr>
        <p:xfrm>
          <a:off x="548640" y="1325880"/>
          <a:ext cx="11064240" cy="4846320"/>
        </p:xfrm>
        <a:graphic>
          <a:graphicData uri="http://schemas.openxmlformats.org/drawingml/2006/table">
            <a:tbl>
              <a:tblPr/>
              <a:tblGrid>
                <a:gridCol w="5532120">
                  <a:extLst>
                    <a:ext uri="{9D8B030D-6E8A-4147-A177-3AD203B41FA5}">
                      <a16:colId xmlns:a16="http://schemas.microsoft.com/office/drawing/2014/main" val="20000"/>
                    </a:ext>
                  </a:extLst>
                </a:gridCol>
                <a:gridCol w="5532120">
                  <a:extLst>
                    <a:ext uri="{9D8B030D-6E8A-4147-A177-3AD203B41FA5}">
                      <a16:colId xmlns:a16="http://schemas.microsoft.com/office/drawing/2014/main" val="20001"/>
                    </a:ext>
                  </a:extLst>
                </a:gridCol>
              </a:tblGrid>
              <a:tr h="969264">
                <a:tc>
                  <a:txBody>
                    <a:bodyPr/>
                    <a:lstStyle/>
                    <a:p>
                      <a:pPr marL="0" indent="0">
                        <a:buNone/>
                      </a:pPr>
                      <a:r>
                        <a:rPr lang="en-US" sz="2400" b="1" dirty="0">
                          <a:solidFill>
                            <a:srgbClr val="FFFFFF"/>
                          </a:solidFill>
                          <a:latin typeface="Calibri" pitchFamily="34" charset="0"/>
                          <a:ea typeface="Calibri" pitchFamily="34" charset="-122"/>
                          <a:cs typeface="Calibri" pitchFamily="34" charset="-120"/>
                        </a:rPr>
                        <a:t>Role</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0F2942"/>
                    </a:solidFill>
                  </a:tcPr>
                </a:tc>
                <a:tc>
                  <a:txBody>
                    <a:bodyPr/>
                    <a:lstStyle/>
                    <a:p>
                      <a:pPr marL="0" indent="0">
                        <a:buNone/>
                      </a:pPr>
                      <a:r>
                        <a:rPr lang="en-US" sz="2400" b="1" dirty="0">
                          <a:solidFill>
                            <a:srgbClr val="FFFFFF"/>
                          </a:solidFill>
                          <a:latin typeface="Calibri" pitchFamily="34" charset="0"/>
                          <a:ea typeface="Calibri" pitchFamily="34" charset="-122"/>
                          <a:cs typeface="Calibri" pitchFamily="34" charset="-120"/>
                        </a:rPr>
                        <a:t>Responsibility</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0F2942"/>
                    </a:solidFill>
                  </a:tcPr>
                </a:tc>
                <a:extLst>
                  <a:ext uri="{0D108BD9-81ED-4DB2-BD59-A6C34878D82A}">
                    <a16:rowId xmlns:a16="http://schemas.microsoft.com/office/drawing/2014/main" val="10000"/>
                  </a:ext>
                </a:extLst>
              </a:tr>
              <a:tr h="969264">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Enterprise Architect</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Sets overall architectural direction and standards</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69264">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Service Owner</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Accountable for a specific service's design, quality, and lifecycle</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extLst>
                  <a:ext uri="{0D108BD9-81ED-4DB2-BD59-A6C34878D82A}">
                    <a16:rowId xmlns:a16="http://schemas.microsoft.com/office/drawing/2014/main" val="10002"/>
                  </a:ext>
                </a:extLst>
              </a:tr>
              <a:tr h="969264">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Governance Board / Council</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Reviews and approves new services and major contract changes</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69264">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Service Consumer Teams</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tc>
                  <a:txBody>
                    <a:bodyPr/>
                    <a:lstStyle/>
                    <a:p>
                      <a:pPr marL="0" indent="0">
                        <a:buNone/>
                      </a:pPr>
                      <a:r>
                        <a:rPr lang="en-US" sz="2400" dirty="0">
                          <a:solidFill>
                            <a:srgbClr val="1A1A2E"/>
                          </a:solidFill>
                          <a:latin typeface="Calibri" pitchFamily="34" charset="0"/>
                          <a:ea typeface="Calibri" pitchFamily="34" charset="-122"/>
                          <a:cs typeface="Calibri" pitchFamily="34" charset="-120"/>
                        </a:rPr>
                        <a:t>Provide feedback and report issues on services they depend on</a:t>
                      </a:r>
                      <a:endParaRPr lang="en-US" sz="2400" dirty="0">
                        <a:latin typeface="Calibri" charset="0"/>
                        <a:ea typeface="Calibri" charset="0"/>
                        <a:cs typeface="Calibri" charset="0"/>
                      </a:endParaRPr>
                    </a:p>
                  </a:txBody>
                  <a:tcPr marL="101600" marR="101600" marT="50800" marB="5080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4F6F8"/>
                    </a:solidFill>
                  </a:tcPr>
                </a:tc>
                <a:extLst>
                  <a:ext uri="{0D108BD9-81ED-4DB2-BD59-A6C34878D82A}">
                    <a16:rowId xmlns:a16="http://schemas.microsoft.com/office/drawing/2014/main" val="10004"/>
                  </a:ext>
                </a:extLst>
              </a:tr>
            </a:tbl>
          </a:graphicData>
        </a:graphic>
      </p:graphicFrame>
      <p:sp>
        <p:nvSpPr>
          <p:cNvPr id="5" name="Text 2"/>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10: Security &amp; Governance in SOA</a:t>
            </a:r>
            <a:endParaRPr lang="en-US" sz="900" dirty="0"/>
          </a:p>
        </p:txBody>
      </p:sp>
      <p:sp>
        <p:nvSpPr>
          <p:cNvPr id="6" name="Text 3"/>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Service Lifecycle Management</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Plan → Design → Build → Test → Deploy → Operate → Retire</a:t>
            </a:r>
            <a:endParaRPr lang="en-US" sz="2800" dirty="0"/>
          </a:p>
          <a:p>
            <a:pPr marL="342900" indent="-342900">
              <a:spcAft>
                <a:spcPts val="1200"/>
              </a:spcAft>
              <a:buSzPct val="100000"/>
              <a:buChar char="•"/>
            </a:pPr>
            <a:r>
              <a:rPr lang="en-US" sz="2800" dirty="0">
                <a:solidFill>
                  <a:srgbClr val="1A1A2E"/>
                </a:solidFill>
                <a:latin typeface="Calibri" pitchFamily="34" charset="0"/>
                <a:ea typeface="Calibri" pitchFamily="34" charset="-122"/>
                <a:cs typeface="Calibri" pitchFamily="34" charset="-120"/>
              </a:rPr>
              <a:t>Governance applies at every stage — not just at initial design, but throughout a service's entire operational life</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Retirement is often overlooked</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Deprecating and safely retiring old services (with clear migration paths for consumers) is a critical, frequently neglected governance responsibility</a:t>
            </a:r>
            <a:endParaRPr lang="en-US" sz="28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10: Security &amp; Governance in SOA</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Versioning Policy as a Governance Practice</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800" dirty="0">
                <a:solidFill>
                  <a:srgbClr val="1A1A2E"/>
                </a:solidFill>
                <a:latin typeface="Calibri" pitchFamily="34" charset="0"/>
                <a:ea typeface="Calibri" pitchFamily="34" charset="-122"/>
                <a:cs typeface="Calibri" pitchFamily="34" charset="-120"/>
              </a:rPr>
              <a:t>Recall contract versioning strategies from Lectures 3 and 5 (namespace/endpoint versioning)</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Good governance formalizes this into a clear, enterprise-wide policy:</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How long must old versions remain supported after a new version is released?</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What constitutes a 'breaking' vs. 'non-breaking' change, and who approves breaking changes?</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How are consumers notified of upcoming deprecations?</a:t>
            </a:r>
            <a:endParaRPr lang="en-US" sz="2800" dirty="0"/>
          </a:p>
          <a:p>
            <a:pPr marL="342900" indent="-342900">
              <a:spcAft>
                <a:spcPts val="1200"/>
              </a:spcAft>
              <a:buSzPct val="100000"/>
              <a:buChar char="•"/>
            </a:pPr>
            <a:r>
              <a:rPr lang="en-US" sz="2800" dirty="0">
                <a:solidFill>
                  <a:srgbClr val="1A1A2E"/>
                </a:solidFill>
                <a:latin typeface="Calibri" pitchFamily="34" charset="0"/>
                <a:ea typeface="Calibri" pitchFamily="34" charset="-122"/>
                <a:cs typeface="Calibri" pitchFamily="34" charset="-120"/>
              </a:rPr>
              <a:t>Consistent versioning policy is what allows large service inventories to evolve without breaking trust between teams</a:t>
            </a:r>
            <a:endParaRPr lang="en-US" sz="28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10: Security &amp; Governance in SOA</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Metrics for Healthy Governance</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Service reuse rate</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How many consumers actually use each published service?</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Contract compliance rate</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What percentage of services follow the organization's design standards?</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SLA adherence</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Are services meeting their committed availability and performance targets?</a:t>
            </a:r>
            <a:endParaRPr lang="en-US" sz="2800" dirty="0"/>
          </a:p>
          <a:p>
            <a:pPr marL="342900" indent="-342900">
              <a:spcAft>
                <a:spcPts val="1200"/>
              </a:spcAft>
              <a:buSzPct val="100000"/>
              <a:buChar char="•"/>
            </a:pPr>
            <a:r>
              <a:rPr lang="en-US" sz="2800" dirty="0">
                <a:solidFill>
                  <a:srgbClr val="1A1A2E"/>
                </a:solidFill>
                <a:latin typeface="Calibri" pitchFamily="34" charset="0"/>
                <a:ea typeface="Calibri" pitchFamily="34" charset="-122"/>
                <a:cs typeface="Calibri" pitchFamily="34" charset="-120"/>
              </a:rPr>
              <a:t>Tracking these metrics turns governance from a subjective, bureaucratic exercise into a measurable engineering discipline</a:t>
            </a:r>
            <a:endParaRPr lang="en-US" sz="28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10: Security &amp; Governance in SOA</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Governance in Microservices Environments</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800" dirty="0">
                <a:solidFill>
                  <a:srgbClr val="1A1A2E"/>
                </a:solidFill>
                <a:latin typeface="Calibri" pitchFamily="34" charset="0"/>
                <a:ea typeface="Calibri" pitchFamily="34" charset="-122"/>
                <a:cs typeface="Calibri" pitchFamily="34" charset="-120"/>
              </a:rPr>
              <a:t>Recall from Lecture 6: microservices favor decentralized governance over a central board</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This does not mean 'no governance' — it shifts toward:</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Lightweight, automated policy checks (e.g., linters, automated contract tests in CI)</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Shared platform tooling (API gateways, service meshes) that enforces baseline security consistently</a:t>
            </a:r>
            <a:endParaRPr lang="en-US" sz="2800" dirty="0"/>
          </a:p>
          <a:p>
            <a:pPr marL="342900" indent="-342900">
              <a:spcAft>
                <a:spcPts val="1200"/>
              </a:spcAft>
              <a:buSzPct val="100000"/>
              <a:buChar char="•"/>
            </a:pPr>
            <a:r>
              <a:rPr lang="en-US" sz="2800" dirty="0">
                <a:solidFill>
                  <a:srgbClr val="1A1A2E"/>
                </a:solidFill>
                <a:latin typeface="Calibri" pitchFamily="34" charset="0"/>
                <a:ea typeface="Calibri" pitchFamily="34" charset="-122"/>
                <a:cs typeface="Calibri" pitchFamily="34" charset="-120"/>
              </a:rPr>
              <a:t>A service mesh can enforce authentication, encryption, and traffic policy uniformly across many microservices, without requiring each team to implement it manually</a:t>
            </a:r>
            <a:endParaRPr lang="en-US" sz="28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10: Security &amp; Governance in SOA</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Case Study: A Compliance-Driven Governance Program</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800" dirty="0">
                <a:solidFill>
                  <a:srgbClr val="1A1A2E"/>
                </a:solidFill>
                <a:latin typeface="Calibri" pitchFamily="34" charset="0"/>
                <a:ea typeface="Calibri" pitchFamily="34" charset="-122"/>
                <a:cs typeface="Calibri" pitchFamily="34" charset="-120"/>
              </a:rPr>
              <a:t>A healthcare provider must ensure every service handling patient data complies with data-protection regulations</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Governance program includes:</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Mandatory WS-Security/TLS encryption policy for any service touching patient records</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A central service catalog tagging which services handle regulated data</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Regular audits comparing actual service behavior against declared security policies</a:t>
            </a:r>
            <a:endParaRPr lang="en-US" sz="2800" dirty="0"/>
          </a:p>
          <a:p>
            <a:pPr marL="342900" indent="-342900">
              <a:spcAft>
                <a:spcPts val="1200"/>
              </a:spcAft>
              <a:buSzPct val="100000"/>
              <a:buChar char="•"/>
            </a:pPr>
            <a:r>
              <a:rPr lang="en-US" sz="2800" dirty="0">
                <a:solidFill>
                  <a:srgbClr val="1A1A2E"/>
                </a:solidFill>
                <a:latin typeface="Calibri" pitchFamily="34" charset="0"/>
                <a:ea typeface="Calibri" pitchFamily="34" charset="-122"/>
                <a:cs typeface="Calibri" pitchFamily="34" charset="-120"/>
              </a:rPr>
              <a:t>This illustrates how security (this lecture) and governance are deeply intertwined in regulated industries</a:t>
            </a:r>
            <a:endParaRPr lang="en-US" sz="28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10: Security &amp; Governance in SOA</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Defense in Depth for Service-Oriented Systems</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No single security control should be relied on alone</a:t>
            </a:r>
            <a:endParaRPr lang="en-US" sz="2800" dirty="0"/>
          </a:p>
          <a:p>
            <a:pPr marL="342900" indent="-342900">
              <a:spcAft>
                <a:spcPts val="1200"/>
              </a:spcAft>
              <a:buSzPct val="100000"/>
              <a:buChar char="•"/>
            </a:pPr>
            <a:r>
              <a:rPr lang="en-US" sz="2800" b="1" dirty="0">
                <a:solidFill>
                  <a:srgbClr val="1A1A2E"/>
                </a:solidFill>
                <a:latin typeface="Calibri" pitchFamily="34" charset="0"/>
                <a:ea typeface="Calibri" pitchFamily="34" charset="-122"/>
                <a:cs typeface="Calibri" pitchFamily="34" charset="-120"/>
              </a:rPr>
              <a:t>A layered strategy typically combines:</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Transport security (TLS) for every connection</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Message-level security (WS-Security/JWT signatures) for sensitive payloads</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Strong authentication and fine-grained authorization at each service</a:t>
            </a:r>
            <a:endParaRPr lang="en-US" sz="2800" dirty="0"/>
          </a:p>
          <a:p>
            <a:pPr marL="685800" lvl="1" indent="-342900">
              <a:spcAft>
                <a:spcPts val="600"/>
              </a:spcAft>
              <a:buSzPct val="100000"/>
              <a:buChar char="–"/>
            </a:pPr>
            <a:r>
              <a:rPr lang="en-US" sz="2400" dirty="0">
                <a:solidFill>
                  <a:srgbClr val="44546A"/>
                </a:solidFill>
                <a:latin typeface="Calibri" pitchFamily="34" charset="0"/>
                <a:ea typeface="Calibri" pitchFamily="34" charset="-122"/>
                <a:cs typeface="Calibri" pitchFamily="34" charset="-120"/>
              </a:rPr>
              <a:t>Network-level controls (firewalls, service mesh policies) limiting which services can even reach each other</a:t>
            </a:r>
            <a:endParaRPr lang="en-US" sz="2800" dirty="0"/>
          </a:p>
          <a:p>
            <a:pPr marL="342900" indent="-342900">
              <a:spcAft>
                <a:spcPts val="1200"/>
              </a:spcAft>
              <a:buSzPct val="100000"/>
              <a:buChar char="•"/>
            </a:pPr>
            <a:r>
              <a:rPr lang="en-US" sz="2800" dirty="0">
                <a:solidFill>
                  <a:srgbClr val="1A1A2E"/>
                </a:solidFill>
                <a:latin typeface="Calibri" pitchFamily="34" charset="0"/>
                <a:ea typeface="Calibri" pitchFamily="34" charset="-122"/>
                <a:cs typeface="Calibri" pitchFamily="34" charset="-120"/>
              </a:rPr>
              <a:t>This layered approach — 'defense in depth' — assumes any single layer might eventually fail, and ensures the others still protect the system</a:t>
            </a:r>
            <a:endParaRPr lang="en-US" sz="28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10: Security &amp; Governance in SOA</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Course Wrap-Up: Connecting the Ten Lectures</a:t>
            </a:r>
            <a:endParaRPr lang="en-US" sz="2600" dirty="0"/>
          </a:p>
        </p:txBody>
      </p:sp>
      <p:sp>
        <p:nvSpPr>
          <p:cNvPr id="3" name="Shape 1"/>
          <p:cNvSpPr/>
          <p:nvPr/>
        </p:nvSpPr>
        <p:spPr>
          <a:xfrm>
            <a:off x="566928" y="1005840"/>
            <a:ext cx="411480" cy="45720"/>
          </a:xfrm>
          <a:prstGeom prst="rect">
            <a:avLst/>
          </a:prstGeom>
          <a:solidFill>
            <a:srgbClr val="00B8A9"/>
          </a:solidFill>
          <a:ln/>
        </p:spPr>
      </p:sp>
      <p:sp>
        <p:nvSpPr>
          <p:cNvPr id="4" name="Text 2"/>
          <p:cNvSpPr/>
          <p:nvPr/>
        </p:nvSpPr>
        <p:spPr>
          <a:xfrm>
            <a:off x="594360" y="1325880"/>
            <a:ext cx="10881360" cy="4937760"/>
          </a:xfrm>
          <a:prstGeom prst="rect">
            <a:avLst/>
          </a:prstGeom>
          <a:noFill/>
          <a:ln/>
        </p:spPr>
        <p:txBody>
          <a:bodyPr wrap="square" lIns="0" tIns="0" rIns="0" bIns="0" rtlCol="0" anchor="t"/>
          <a:lstStyle/>
          <a:p>
            <a:pPr marL="342900" indent="-342900">
              <a:spcAft>
                <a:spcPts val="1200"/>
              </a:spcAft>
              <a:buSzPct val="100000"/>
              <a:buChar char="•"/>
            </a:pPr>
            <a:r>
              <a:rPr lang="en-US" sz="2400" b="1" dirty="0">
                <a:solidFill>
                  <a:srgbClr val="1A1A2E"/>
                </a:solidFill>
                <a:latin typeface="Calibri" pitchFamily="34" charset="0"/>
                <a:ea typeface="Calibri" pitchFamily="34" charset="-122"/>
                <a:cs typeface="Calibri" pitchFamily="34" charset="-120"/>
              </a:rPr>
              <a:t>L1–2: Why SOA exists, and the principles that define a well-designed service</a:t>
            </a:r>
            <a:endParaRPr lang="en-US" sz="2400" dirty="0"/>
          </a:p>
          <a:p>
            <a:pPr marL="342900" indent="-342900">
              <a:spcAft>
                <a:spcPts val="1200"/>
              </a:spcAft>
              <a:buSzPct val="100000"/>
              <a:buChar char="•"/>
            </a:pPr>
            <a:r>
              <a:rPr lang="en-US" sz="2400" b="1" dirty="0">
                <a:solidFill>
                  <a:srgbClr val="1A1A2E"/>
                </a:solidFill>
                <a:latin typeface="Calibri" pitchFamily="34" charset="0"/>
                <a:ea typeface="Calibri" pitchFamily="34" charset="-122"/>
                <a:cs typeface="Calibri" pitchFamily="34" charset="-120"/>
              </a:rPr>
              <a:t>L3–5: The standards that implement SOA in practice — XML/WSDL, SOAP, and REST</a:t>
            </a:r>
            <a:endParaRPr lang="en-US" sz="2400" dirty="0"/>
          </a:p>
          <a:p>
            <a:pPr marL="342900" indent="-342900">
              <a:spcAft>
                <a:spcPts val="1200"/>
              </a:spcAft>
              <a:buSzPct val="100000"/>
              <a:buChar char="•"/>
            </a:pPr>
            <a:r>
              <a:rPr lang="en-US" sz="2400" b="1" dirty="0">
                <a:solidFill>
                  <a:srgbClr val="1A1A2E"/>
                </a:solidFill>
                <a:latin typeface="Calibri" pitchFamily="34" charset="0"/>
                <a:ea typeface="Calibri" pitchFamily="34" charset="-122"/>
                <a:cs typeface="Calibri" pitchFamily="34" charset="-120"/>
              </a:rPr>
              <a:t>L6–8: How services relate to microservices, how they are connected via an ESB, and how they are composed into processes</a:t>
            </a:r>
            <a:endParaRPr lang="en-US" sz="2400" dirty="0"/>
          </a:p>
          <a:p>
            <a:pPr marL="342900" indent="-342900">
              <a:spcAft>
                <a:spcPts val="1200"/>
              </a:spcAft>
              <a:buSzPct val="100000"/>
              <a:buChar char="•"/>
            </a:pPr>
            <a:r>
              <a:rPr lang="en-US" sz="2400" b="1" dirty="0">
                <a:solidFill>
                  <a:srgbClr val="1A1A2E"/>
                </a:solidFill>
                <a:latin typeface="Calibri" pitchFamily="34" charset="0"/>
                <a:ea typeface="Calibri" pitchFamily="34" charset="-122"/>
                <a:cs typeface="Calibri" pitchFamily="34" charset="-120"/>
              </a:rPr>
              <a:t>L9–10: How services are tested, secured, and governed responsibly over their lifecycle</a:t>
            </a:r>
            <a:endParaRPr lang="en-US" sz="2400" dirty="0"/>
          </a:p>
          <a:p>
            <a:pPr marL="342900" indent="-342900">
              <a:spcAft>
                <a:spcPts val="1200"/>
              </a:spcAft>
              <a:buSzPct val="100000"/>
              <a:buChar char="•"/>
            </a:pPr>
            <a:r>
              <a:rPr lang="en-US" sz="2400" dirty="0">
                <a:solidFill>
                  <a:srgbClr val="1A1A2E"/>
                </a:solidFill>
                <a:latin typeface="Calibri" pitchFamily="34" charset="0"/>
                <a:ea typeface="Calibri" pitchFamily="34" charset="-122"/>
                <a:cs typeface="Calibri" pitchFamily="34" charset="-120"/>
              </a:rPr>
              <a:t>Together, these ten lectures form a complete foundation for designing, implementing, and operating real-world service-oriented systems</a:t>
            </a:r>
            <a:endParaRPr lang="en-US" sz="2400" dirty="0"/>
          </a:p>
        </p:txBody>
      </p:sp>
      <p:sp>
        <p:nvSpPr>
          <p:cNvPr id="5" name="Text 3"/>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10: Security &amp; Governance in SOA</a:t>
            </a:r>
            <a:endParaRPr lang="en-US" sz="900" dirty="0"/>
          </a:p>
        </p:txBody>
      </p:sp>
      <p:sp>
        <p:nvSpPr>
          <p:cNvPr id="6" name="Text 4"/>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EAF6F5"/>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640080"/>
          </a:xfrm>
          <a:prstGeom prst="rect">
            <a:avLst/>
          </a:prstGeom>
          <a:noFill/>
          <a:ln/>
        </p:spPr>
        <p:txBody>
          <a:bodyPr wrap="square" lIns="0" tIns="0" rIns="0" bIns="0" rtlCol="0" anchor="ctr"/>
          <a:lstStyle/>
          <a:p>
            <a:pPr marL="0" indent="0">
              <a:buNone/>
            </a:pPr>
            <a:r>
              <a:rPr lang="en-US" sz="2800" b="1" dirty="0">
                <a:solidFill>
                  <a:srgbClr val="0F2942"/>
                </a:solidFill>
                <a:latin typeface="Calibri" pitchFamily="34" charset="0"/>
                <a:ea typeface="Calibri" pitchFamily="34" charset="-122"/>
                <a:cs typeface="Calibri" pitchFamily="34" charset="-120"/>
              </a:rPr>
              <a:t>Key Takeaways</a:t>
            </a:r>
            <a:endParaRPr lang="en-US" sz="2800" dirty="0"/>
          </a:p>
        </p:txBody>
      </p:sp>
      <p:sp>
        <p:nvSpPr>
          <p:cNvPr id="3" name="Shape 1"/>
          <p:cNvSpPr/>
          <p:nvPr/>
        </p:nvSpPr>
        <p:spPr>
          <a:xfrm>
            <a:off x="566928" y="1143000"/>
            <a:ext cx="457200" cy="54864"/>
          </a:xfrm>
          <a:prstGeom prst="rect">
            <a:avLst/>
          </a:prstGeom>
          <a:solidFill>
            <a:srgbClr val="00B8A9"/>
          </a:solidFill>
          <a:ln/>
        </p:spPr>
      </p:sp>
      <p:sp>
        <p:nvSpPr>
          <p:cNvPr id="4" name="Shape 2"/>
          <p:cNvSpPr/>
          <p:nvPr/>
        </p:nvSpPr>
        <p:spPr>
          <a:xfrm>
            <a:off x="548640" y="1508760"/>
            <a:ext cx="11064240" cy="777240"/>
          </a:xfrm>
          <a:prstGeom prst="roundRect">
            <a:avLst>
              <a:gd name="adj" fmla="val 9412"/>
            </a:avLst>
          </a:prstGeom>
          <a:solidFill>
            <a:srgbClr val="FFFFFF"/>
          </a:solidFill>
          <a:ln/>
        </p:spPr>
      </p:sp>
      <p:sp>
        <p:nvSpPr>
          <p:cNvPr id="5" name="Shape 3"/>
          <p:cNvSpPr/>
          <p:nvPr/>
        </p:nvSpPr>
        <p:spPr>
          <a:xfrm>
            <a:off x="777240" y="1673352"/>
            <a:ext cx="457200" cy="457200"/>
          </a:xfrm>
          <a:prstGeom prst="ellipse">
            <a:avLst/>
          </a:prstGeom>
          <a:solidFill>
            <a:srgbClr val="00B8A9"/>
          </a:solidFill>
          <a:ln/>
        </p:spPr>
      </p:sp>
      <p:sp>
        <p:nvSpPr>
          <p:cNvPr id="6" name="Text 4"/>
          <p:cNvSpPr/>
          <p:nvPr/>
        </p:nvSpPr>
        <p:spPr>
          <a:xfrm>
            <a:off x="777240" y="16733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417320" y="1508760"/>
            <a:ext cx="9966960" cy="777240"/>
          </a:xfrm>
          <a:prstGeom prst="rect">
            <a:avLst/>
          </a:prstGeom>
          <a:noFill/>
          <a:ln/>
        </p:spPr>
        <p:txBody>
          <a:bodyPr wrap="square" lIns="0" tIns="0" rIns="0" bIns="0" rtlCol="0" anchor="ctr"/>
          <a:lstStyle/>
          <a:p>
            <a:pPr marL="0" indent="0">
              <a:buNone/>
            </a:pPr>
            <a:r>
              <a:rPr lang="en-US" sz="2400" dirty="0">
                <a:solidFill>
                  <a:srgbClr val="1A1A2E"/>
                </a:solidFill>
                <a:latin typeface="Calibri" pitchFamily="34" charset="0"/>
                <a:ea typeface="Calibri" pitchFamily="34" charset="-122"/>
                <a:cs typeface="Calibri" pitchFamily="34" charset="-120"/>
              </a:rPr>
              <a:t>Message-level security (WS-Security) protects data end-to-end through intermediaries, unlike transport-level TLS alone</a:t>
            </a:r>
            <a:endParaRPr lang="en-US" sz="2400" dirty="0"/>
          </a:p>
        </p:txBody>
      </p:sp>
      <p:sp>
        <p:nvSpPr>
          <p:cNvPr id="8" name="Shape 6"/>
          <p:cNvSpPr/>
          <p:nvPr/>
        </p:nvSpPr>
        <p:spPr>
          <a:xfrm>
            <a:off x="548640" y="2423160"/>
            <a:ext cx="11064240" cy="777240"/>
          </a:xfrm>
          <a:prstGeom prst="roundRect">
            <a:avLst>
              <a:gd name="adj" fmla="val 9412"/>
            </a:avLst>
          </a:prstGeom>
          <a:solidFill>
            <a:srgbClr val="FFFFFF"/>
          </a:solidFill>
          <a:ln/>
        </p:spPr>
      </p:sp>
      <p:sp>
        <p:nvSpPr>
          <p:cNvPr id="9" name="Shape 7"/>
          <p:cNvSpPr/>
          <p:nvPr/>
        </p:nvSpPr>
        <p:spPr>
          <a:xfrm>
            <a:off x="777240" y="2587752"/>
            <a:ext cx="457200" cy="457200"/>
          </a:xfrm>
          <a:prstGeom prst="ellipse">
            <a:avLst/>
          </a:prstGeom>
          <a:solidFill>
            <a:srgbClr val="00B8A9"/>
          </a:solidFill>
          <a:ln/>
        </p:spPr>
      </p:sp>
      <p:sp>
        <p:nvSpPr>
          <p:cNvPr id="10" name="Text 8"/>
          <p:cNvSpPr/>
          <p:nvPr/>
        </p:nvSpPr>
        <p:spPr>
          <a:xfrm>
            <a:off x="777240" y="25877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417320" y="2423160"/>
            <a:ext cx="9966960" cy="777240"/>
          </a:xfrm>
          <a:prstGeom prst="rect">
            <a:avLst/>
          </a:prstGeom>
          <a:noFill/>
          <a:ln/>
        </p:spPr>
        <p:txBody>
          <a:bodyPr wrap="square" lIns="0" tIns="0" rIns="0" bIns="0" rtlCol="0" anchor="ctr"/>
          <a:lstStyle/>
          <a:p>
            <a:pPr marL="0" indent="0">
              <a:buNone/>
            </a:pPr>
            <a:r>
              <a:rPr lang="en-US" sz="2400" dirty="0">
                <a:solidFill>
                  <a:srgbClr val="1A1A2E"/>
                </a:solidFill>
                <a:latin typeface="Calibri" pitchFamily="34" charset="0"/>
                <a:ea typeface="Calibri" pitchFamily="34" charset="-122"/>
                <a:cs typeface="Calibri" pitchFamily="34" charset="-120"/>
              </a:rPr>
              <a:t>OAuth2 and JWT are the dominant authentication/authorization mechanisms for modern REST APIs and distributed systems</a:t>
            </a:r>
            <a:endParaRPr lang="en-US" sz="2400" dirty="0"/>
          </a:p>
        </p:txBody>
      </p:sp>
      <p:sp>
        <p:nvSpPr>
          <p:cNvPr id="12" name="Shape 10"/>
          <p:cNvSpPr/>
          <p:nvPr/>
        </p:nvSpPr>
        <p:spPr>
          <a:xfrm>
            <a:off x="548640" y="3337560"/>
            <a:ext cx="11064240" cy="777240"/>
          </a:xfrm>
          <a:prstGeom prst="roundRect">
            <a:avLst>
              <a:gd name="adj" fmla="val 9412"/>
            </a:avLst>
          </a:prstGeom>
          <a:solidFill>
            <a:srgbClr val="FFFFFF"/>
          </a:solidFill>
          <a:ln/>
        </p:spPr>
      </p:sp>
      <p:sp>
        <p:nvSpPr>
          <p:cNvPr id="13" name="Shape 11"/>
          <p:cNvSpPr/>
          <p:nvPr/>
        </p:nvSpPr>
        <p:spPr>
          <a:xfrm>
            <a:off x="777240" y="3502152"/>
            <a:ext cx="457200" cy="457200"/>
          </a:xfrm>
          <a:prstGeom prst="ellipse">
            <a:avLst/>
          </a:prstGeom>
          <a:solidFill>
            <a:srgbClr val="00B8A9"/>
          </a:solidFill>
          <a:ln/>
        </p:spPr>
      </p:sp>
      <p:sp>
        <p:nvSpPr>
          <p:cNvPr id="14" name="Text 12"/>
          <p:cNvSpPr/>
          <p:nvPr/>
        </p:nvSpPr>
        <p:spPr>
          <a:xfrm>
            <a:off x="777240" y="35021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1417320" y="3337560"/>
            <a:ext cx="9966960" cy="777240"/>
          </a:xfrm>
          <a:prstGeom prst="rect">
            <a:avLst/>
          </a:prstGeom>
          <a:noFill/>
          <a:ln/>
        </p:spPr>
        <p:txBody>
          <a:bodyPr wrap="square" lIns="0" tIns="0" rIns="0" bIns="0" rtlCol="0" anchor="ctr"/>
          <a:lstStyle/>
          <a:p>
            <a:pPr marL="0" indent="0">
              <a:buNone/>
            </a:pPr>
            <a:r>
              <a:rPr lang="en-US" sz="2400" dirty="0">
                <a:solidFill>
                  <a:srgbClr val="1A1A2E"/>
                </a:solidFill>
                <a:latin typeface="Calibri" pitchFamily="34" charset="0"/>
                <a:ea typeface="Calibri" pitchFamily="34" charset="-122"/>
                <a:cs typeface="Calibri" pitchFamily="34" charset="-120"/>
              </a:rPr>
              <a:t>SOA governance provides the standards, processes, and roles that keep a growing service inventory consistent and trustworthy</a:t>
            </a:r>
            <a:endParaRPr lang="en-US" sz="2400" dirty="0"/>
          </a:p>
        </p:txBody>
      </p:sp>
      <p:sp>
        <p:nvSpPr>
          <p:cNvPr id="16" name="Shape 14"/>
          <p:cNvSpPr/>
          <p:nvPr/>
        </p:nvSpPr>
        <p:spPr>
          <a:xfrm>
            <a:off x="548640" y="4251960"/>
            <a:ext cx="11064240" cy="777240"/>
          </a:xfrm>
          <a:prstGeom prst="roundRect">
            <a:avLst>
              <a:gd name="adj" fmla="val 9412"/>
            </a:avLst>
          </a:prstGeom>
          <a:solidFill>
            <a:srgbClr val="FFFFFF"/>
          </a:solidFill>
          <a:ln/>
        </p:spPr>
      </p:sp>
      <p:sp>
        <p:nvSpPr>
          <p:cNvPr id="17" name="Shape 15"/>
          <p:cNvSpPr/>
          <p:nvPr/>
        </p:nvSpPr>
        <p:spPr>
          <a:xfrm>
            <a:off x="777240" y="4416552"/>
            <a:ext cx="457200" cy="457200"/>
          </a:xfrm>
          <a:prstGeom prst="ellipse">
            <a:avLst/>
          </a:prstGeom>
          <a:solidFill>
            <a:srgbClr val="00B8A9"/>
          </a:solidFill>
          <a:ln/>
        </p:spPr>
      </p:sp>
      <p:sp>
        <p:nvSpPr>
          <p:cNvPr id="18" name="Text 16"/>
          <p:cNvSpPr/>
          <p:nvPr/>
        </p:nvSpPr>
        <p:spPr>
          <a:xfrm>
            <a:off x="777240" y="44165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9" name="Text 17"/>
          <p:cNvSpPr/>
          <p:nvPr/>
        </p:nvSpPr>
        <p:spPr>
          <a:xfrm>
            <a:off x="1417320" y="4251960"/>
            <a:ext cx="9966960" cy="777240"/>
          </a:xfrm>
          <a:prstGeom prst="rect">
            <a:avLst/>
          </a:prstGeom>
          <a:noFill/>
          <a:ln/>
        </p:spPr>
        <p:txBody>
          <a:bodyPr wrap="square" lIns="0" tIns="0" rIns="0" bIns="0" rtlCol="0" anchor="ctr"/>
          <a:lstStyle/>
          <a:p>
            <a:pPr marL="0" indent="0">
              <a:buNone/>
            </a:pPr>
            <a:r>
              <a:rPr lang="en-US" sz="2400" dirty="0">
                <a:solidFill>
                  <a:srgbClr val="1A1A2E"/>
                </a:solidFill>
                <a:latin typeface="Calibri" pitchFamily="34" charset="0"/>
                <a:ea typeface="Calibri" pitchFamily="34" charset="-122"/>
                <a:cs typeface="Calibri" pitchFamily="34" charset="-120"/>
              </a:rPr>
              <a:t>Design-time and runtime governance work together — standards without enforcement tend to erode over time</a:t>
            </a:r>
            <a:endParaRPr lang="en-US" sz="2400" dirty="0"/>
          </a:p>
        </p:txBody>
      </p:sp>
      <p:sp>
        <p:nvSpPr>
          <p:cNvPr id="20" name="Shape 18"/>
          <p:cNvSpPr/>
          <p:nvPr/>
        </p:nvSpPr>
        <p:spPr>
          <a:xfrm>
            <a:off x="548640" y="5166360"/>
            <a:ext cx="11064240" cy="777240"/>
          </a:xfrm>
          <a:prstGeom prst="roundRect">
            <a:avLst>
              <a:gd name="adj" fmla="val 9412"/>
            </a:avLst>
          </a:prstGeom>
          <a:solidFill>
            <a:srgbClr val="FFFFFF"/>
          </a:solidFill>
          <a:ln/>
        </p:spPr>
      </p:sp>
      <p:sp>
        <p:nvSpPr>
          <p:cNvPr id="21" name="Shape 19"/>
          <p:cNvSpPr/>
          <p:nvPr/>
        </p:nvSpPr>
        <p:spPr>
          <a:xfrm>
            <a:off x="777240" y="5330952"/>
            <a:ext cx="457200" cy="457200"/>
          </a:xfrm>
          <a:prstGeom prst="ellipse">
            <a:avLst/>
          </a:prstGeom>
          <a:solidFill>
            <a:srgbClr val="00B8A9"/>
          </a:solidFill>
          <a:ln/>
        </p:spPr>
      </p:sp>
      <p:sp>
        <p:nvSpPr>
          <p:cNvPr id="22" name="Text 20"/>
          <p:cNvSpPr/>
          <p:nvPr/>
        </p:nvSpPr>
        <p:spPr>
          <a:xfrm>
            <a:off x="777240" y="533095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3" name="Text 21"/>
          <p:cNvSpPr/>
          <p:nvPr/>
        </p:nvSpPr>
        <p:spPr>
          <a:xfrm>
            <a:off x="1417320" y="5166360"/>
            <a:ext cx="9966960" cy="777240"/>
          </a:xfrm>
          <a:prstGeom prst="rect">
            <a:avLst/>
          </a:prstGeom>
          <a:noFill/>
          <a:ln/>
        </p:spPr>
        <p:txBody>
          <a:bodyPr wrap="square" lIns="0" tIns="0" rIns="0" bIns="0" rtlCol="0" anchor="ctr"/>
          <a:lstStyle/>
          <a:p>
            <a:pPr marL="0" indent="0">
              <a:buNone/>
            </a:pPr>
            <a:r>
              <a:rPr lang="en-US" sz="2400" dirty="0">
                <a:solidFill>
                  <a:srgbClr val="1A1A2E"/>
                </a:solidFill>
                <a:latin typeface="Calibri" pitchFamily="34" charset="0"/>
                <a:ea typeface="Calibri" pitchFamily="34" charset="-122"/>
                <a:cs typeface="Calibri" pitchFamily="34" charset="-120"/>
              </a:rPr>
              <a:t>Security and governance are deeply linked, especially in regulated industries requiring auditable, policy-compliant services</a:t>
            </a:r>
            <a:endParaRPr lang="en-US" sz="2400" dirty="0"/>
          </a:p>
        </p:txBody>
      </p:sp>
      <p:sp>
        <p:nvSpPr>
          <p:cNvPr id="24" name="Text 22"/>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10: Security &amp; Governance in SOA</a:t>
            </a:r>
            <a:endParaRPr lang="en-US" sz="900" dirty="0"/>
          </a:p>
        </p:txBody>
      </p:sp>
      <p:sp>
        <p:nvSpPr>
          <p:cNvPr id="25" name="Text 23"/>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F2942"/>
        </a:solidFill>
        <a:effectLst/>
      </p:bgPr>
    </p:bg>
    <p:spTree>
      <p:nvGrpSpPr>
        <p:cNvPr id="1" name=""/>
        <p:cNvGrpSpPr/>
        <p:nvPr/>
      </p:nvGrpSpPr>
      <p:grpSpPr>
        <a:xfrm>
          <a:off x="0" y="0"/>
          <a:ext cx="0" cy="0"/>
          <a:chOff x="0" y="0"/>
          <a:chExt cx="0" cy="0"/>
        </a:xfrm>
      </p:grpSpPr>
      <p:sp>
        <p:nvSpPr>
          <p:cNvPr id="2" name="Text 0"/>
          <p:cNvSpPr/>
          <p:nvPr/>
        </p:nvSpPr>
        <p:spPr>
          <a:xfrm>
            <a:off x="822960" y="822960"/>
            <a:ext cx="7315200" cy="365760"/>
          </a:xfrm>
          <a:prstGeom prst="rect">
            <a:avLst/>
          </a:prstGeom>
          <a:noFill/>
          <a:ln/>
        </p:spPr>
        <p:txBody>
          <a:bodyPr wrap="square" lIns="0" tIns="0" rIns="0" bIns="0" rtlCol="0" anchor="ctr"/>
          <a:lstStyle/>
          <a:p>
            <a:pPr marL="0" indent="0">
              <a:buNone/>
            </a:pPr>
            <a:r>
              <a:rPr lang="en-US" sz="1400" b="1" dirty="0">
                <a:solidFill>
                  <a:srgbClr val="FF6B35"/>
                </a:solidFill>
                <a:latin typeface="Calibri" pitchFamily="34" charset="0"/>
                <a:ea typeface="Calibri" pitchFamily="34" charset="-122"/>
                <a:cs typeface="Calibri" pitchFamily="34" charset="-120"/>
              </a:rPr>
              <a:t>DISCUSSION / REVIEW QUESTION</a:t>
            </a:r>
            <a:endParaRPr lang="en-US" sz="1400" dirty="0"/>
          </a:p>
        </p:txBody>
      </p:sp>
      <p:sp>
        <p:nvSpPr>
          <p:cNvPr id="3" name="Text 1"/>
          <p:cNvSpPr/>
          <p:nvPr/>
        </p:nvSpPr>
        <p:spPr>
          <a:xfrm>
            <a:off x="822960" y="1371600"/>
            <a:ext cx="10241280" cy="2011680"/>
          </a:xfrm>
          <a:prstGeom prst="rect">
            <a:avLst/>
          </a:prstGeom>
          <a:noFill/>
          <a:ln/>
        </p:spPr>
        <p:txBody>
          <a:bodyPr wrap="square" lIns="0" tIns="0" rIns="0" bIns="0" rtlCol="0" anchor="t"/>
          <a:lstStyle/>
          <a:p>
            <a:pPr marL="0" indent="0">
              <a:lnSpc>
                <a:spcPct val="125000"/>
              </a:lnSpc>
              <a:buNone/>
            </a:pPr>
            <a:r>
              <a:rPr lang="en-US" sz="2400" b="1" dirty="0">
                <a:solidFill>
                  <a:srgbClr val="FFFFFF"/>
                </a:solidFill>
                <a:latin typeface="Calibri" pitchFamily="34" charset="0"/>
                <a:ea typeface="Calibri" pitchFamily="34" charset="-122"/>
                <a:cs typeface="Calibri" pitchFamily="34" charset="-120"/>
              </a:rPr>
              <a:t>A mid-sized company has grown from 5 services to over 80 services across 12 teams in three years, with no central governance. New hires can't tell which services are still maintained, several services expose nearly identical functionality, and a recent contract change broke three consumers with no warning. Propose a governance plan to address these problems.</a:t>
            </a:r>
            <a:endParaRPr lang="en-US" sz="2400" dirty="0"/>
          </a:p>
        </p:txBody>
      </p:sp>
      <p:sp>
        <p:nvSpPr>
          <p:cNvPr id="4" name="Text 2"/>
          <p:cNvSpPr/>
          <p:nvPr/>
        </p:nvSpPr>
        <p:spPr>
          <a:xfrm>
            <a:off x="822960" y="3749040"/>
            <a:ext cx="5486400" cy="365760"/>
          </a:xfrm>
          <a:prstGeom prst="rect">
            <a:avLst/>
          </a:prstGeom>
          <a:noFill/>
          <a:ln/>
        </p:spPr>
        <p:txBody>
          <a:bodyPr wrap="square" lIns="0" tIns="0" rIns="0" bIns="0" rtlCol="0" anchor="ctr"/>
          <a:lstStyle/>
          <a:p>
            <a:pPr marL="0" indent="0">
              <a:buNone/>
            </a:pPr>
            <a:r>
              <a:rPr lang="en-US" sz="2000" b="1" dirty="0">
                <a:solidFill>
                  <a:srgbClr val="00B8A9"/>
                </a:solidFill>
                <a:latin typeface="Calibri" pitchFamily="34" charset="0"/>
                <a:ea typeface="Calibri" pitchFamily="34" charset="-122"/>
                <a:cs typeface="Calibri" pitchFamily="34" charset="-120"/>
              </a:rPr>
              <a:t>Think about:</a:t>
            </a:r>
            <a:endParaRPr lang="en-US" sz="2000" dirty="0"/>
          </a:p>
        </p:txBody>
      </p:sp>
      <p:sp>
        <p:nvSpPr>
          <p:cNvPr id="5" name="Text 3"/>
          <p:cNvSpPr/>
          <p:nvPr/>
        </p:nvSpPr>
        <p:spPr>
          <a:xfrm>
            <a:off x="822960" y="4160520"/>
            <a:ext cx="10058400" cy="2011680"/>
          </a:xfrm>
          <a:prstGeom prst="rect">
            <a:avLst/>
          </a:prstGeom>
          <a:noFill/>
          <a:ln/>
        </p:spPr>
        <p:txBody>
          <a:bodyPr wrap="square" lIns="0" tIns="0" rIns="0" bIns="0" rtlCol="0" anchor="t"/>
          <a:lstStyle/>
          <a:p>
            <a:pPr marL="342900" indent="-342900">
              <a:spcAft>
                <a:spcPts val="600"/>
              </a:spcAft>
              <a:buSzPct val="100000"/>
              <a:buChar char="•"/>
            </a:pPr>
            <a:r>
              <a:rPr lang="en-US" sz="2000" dirty="0">
                <a:solidFill>
                  <a:srgbClr val="C7D0D9"/>
                </a:solidFill>
                <a:latin typeface="Calibri" pitchFamily="34" charset="0"/>
                <a:ea typeface="Calibri" pitchFamily="34" charset="-122"/>
                <a:cs typeface="Calibri" pitchFamily="34" charset="-120"/>
              </a:rPr>
              <a:t>Think about what artifact would help make services and their owners discoverable</a:t>
            </a:r>
            <a:endParaRPr lang="en-US" sz="2000" dirty="0"/>
          </a:p>
          <a:p>
            <a:pPr marL="342900" indent="-342900">
              <a:spcAft>
                <a:spcPts val="600"/>
              </a:spcAft>
              <a:buSzPct val="100000"/>
              <a:buChar char="•"/>
            </a:pPr>
            <a:r>
              <a:rPr lang="en-US" sz="2000" dirty="0">
                <a:solidFill>
                  <a:srgbClr val="C7D0D9"/>
                </a:solidFill>
                <a:latin typeface="Calibri" pitchFamily="34" charset="0"/>
                <a:ea typeface="Calibri" pitchFamily="34" charset="-122"/>
                <a:cs typeface="Calibri" pitchFamily="34" charset="-120"/>
              </a:rPr>
              <a:t>Consider what could have caught the breaking contract change before it reached consumers</a:t>
            </a:r>
            <a:endParaRPr lang="en-US" sz="2000" dirty="0"/>
          </a:p>
          <a:p>
            <a:pPr marL="342900" indent="-342900">
              <a:spcAft>
                <a:spcPts val="600"/>
              </a:spcAft>
              <a:buSzPct val="100000"/>
              <a:buChar char="•"/>
            </a:pPr>
            <a:r>
              <a:rPr lang="en-US" sz="2000" dirty="0">
                <a:solidFill>
                  <a:srgbClr val="C7D0D9"/>
                </a:solidFill>
                <a:latin typeface="Calibri" pitchFamily="34" charset="0"/>
                <a:ea typeface="Calibri" pitchFamily="34" charset="-122"/>
                <a:cs typeface="Calibri" pitchFamily="34" charset="-120"/>
              </a:rPr>
              <a:t>Think about the balance between centralized standards and team-level autonomy</a:t>
            </a:r>
            <a:endParaRPr lang="en-US" sz="2000" dirty="0"/>
          </a:p>
        </p:txBody>
      </p:sp>
      <p:sp>
        <p:nvSpPr>
          <p:cNvPr id="6" name="Text 4"/>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10: Security &amp; Governance in SOA</a:t>
            </a:r>
            <a:endParaRPr lang="en-US" sz="900" dirty="0"/>
          </a:p>
        </p:txBody>
      </p:sp>
      <p:sp>
        <p:nvSpPr>
          <p:cNvPr id="7" name="Text 5"/>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640080"/>
          </a:xfrm>
          <a:prstGeom prst="rect">
            <a:avLst/>
          </a:prstGeom>
          <a:noFill/>
          <a:ln/>
        </p:spPr>
        <p:txBody>
          <a:bodyPr wrap="square" lIns="0" tIns="0" rIns="0" bIns="0" rtlCol="0" anchor="ctr"/>
          <a:lstStyle/>
          <a:p>
            <a:pPr marL="0" indent="0">
              <a:buNone/>
            </a:pPr>
            <a:r>
              <a:rPr lang="en-US" sz="2600" b="1" dirty="0">
                <a:solidFill>
                  <a:srgbClr val="0F2942"/>
                </a:solidFill>
                <a:latin typeface="Calibri" pitchFamily="34" charset="0"/>
                <a:ea typeface="Calibri" pitchFamily="34" charset="-122"/>
                <a:cs typeface="Calibri" pitchFamily="34" charset="-120"/>
              </a:rPr>
              <a:t>References &amp; Further Reading</a:t>
            </a:r>
            <a:endParaRPr lang="en-US" sz="2600" dirty="0"/>
          </a:p>
        </p:txBody>
      </p:sp>
      <p:sp>
        <p:nvSpPr>
          <p:cNvPr id="3" name="Shape 1"/>
          <p:cNvSpPr/>
          <p:nvPr/>
        </p:nvSpPr>
        <p:spPr>
          <a:xfrm>
            <a:off x="566928" y="1097280"/>
            <a:ext cx="411480" cy="45720"/>
          </a:xfrm>
          <a:prstGeom prst="rect">
            <a:avLst/>
          </a:prstGeom>
          <a:solidFill>
            <a:srgbClr val="00B8A9"/>
          </a:solidFill>
          <a:ln/>
        </p:spPr>
      </p:sp>
      <p:sp>
        <p:nvSpPr>
          <p:cNvPr id="4" name="Text 2"/>
          <p:cNvSpPr/>
          <p:nvPr/>
        </p:nvSpPr>
        <p:spPr>
          <a:xfrm>
            <a:off x="594360" y="1463040"/>
            <a:ext cx="10789920" cy="329184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OASIS — Web Services Security (WS-Security) 1.1 Specification</a:t>
            </a:r>
            <a:endParaRPr lang="en-US" sz="2400" dirty="0"/>
          </a:p>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IETF — RFC 6749, The OAuth 2.0 Authorization Framework</a:t>
            </a:r>
            <a:endParaRPr lang="en-US" sz="2400" dirty="0"/>
          </a:p>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IETF — RFC 7519, JSON Web Token (JWT)</a:t>
            </a:r>
            <a:endParaRPr lang="en-US" sz="2400" dirty="0"/>
          </a:p>
          <a:p>
            <a:pPr marL="342900" indent="-342900">
              <a:spcAft>
                <a:spcPts val="1000"/>
              </a:spcAft>
              <a:buSzPct val="100000"/>
              <a:buChar char="•"/>
            </a:pPr>
            <a:r>
              <a:rPr lang="en-US" sz="2400" dirty="0">
                <a:solidFill>
                  <a:srgbClr val="1A1A2E"/>
                </a:solidFill>
                <a:latin typeface="Calibri" pitchFamily="34" charset="0"/>
                <a:ea typeface="Calibri" pitchFamily="34" charset="-122"/>
                <a:cs typeface="Calibri" pitchFamily="34" charset="-120"/>
              </a:rPr>
              <a:t>Erl, T. — SOA Governance: Governing Shared Services On and Beyond the Cloud</a:t>
            </a:r>
            <a:endParaRPr lang="en-US" sz="2400" dirty="0"/>
          </a:p>
        </p:txBody>
      </p:sp>
      <p:sp>
        <p:nvSpPr>
          <p:cNvPr id="5" name="Shape 3"/>
          <p:cNvSpPr/>
          <p:nvPr/>
        </p:nvSpPr>
        <p:spPr>
          <a:xfrm>
            <a:off x="548640" y="5029200"/>
            <a:ext cx="11064240" cy="1051560"/>
          </a:xfrm>
          <a:prstGeom prst="roundRect">
            <a:avLst>
              <a:gd name="adj" fmla="val 7826"/>
            </a:avLst>
          </a:prstGeom>
          <a:solidFill>
            <a:srgbClr val="0F2942"/>
          </a:solidFill>
          <a:ln/>
        </p:spPr>
      </p:sp>
      <p:sp>
        <p:nvSpPr>
          <p:cNvPr id="6" name="Text 4"/>
          <p:cNvSpPr/>
          <p:nvPr/>
        </p:nvSpPr>
        <p:spPr>
          <a:xfrm>
            <a:off x="822960" y="5138928"/>
            <a:ext cx="2743200" cy="320040"/>
          </a:xfrm>
          <a:prstGeom prst="rect">
            <a:avLst/>
          </a:prstGeom>
          <a:noFill/>
          <a:ln/>
        </p:spPr>
        <p:txBody>
          <a:bodyPr wrap="square" lIns="0" tIns="0" rIns="0" bIns="0" rtlCol="0" anchor="ctr"/>
          <a:lstStyle/>
          <a:p>
            <a:pPr marL="0" indent="0">
              <a:buNone/>
            </a:pPr>
            <a:r>
              <a:rPr lang="en-US" sz="1100" b="1" dirty="0">
                <a:solidFill>
                  <a:srgbClr val="00B8A9"/>
                </a:solidFill>
                <a:latin typeface="Calibri" pitchFamily="34" charset="0"/>
                <a:ea typeface="Calibri" pitchFamily="34" charset="-122"/>
                <a:cs typeface="Calibri" pitchFamily="34" charset="-120"/>
              </a:rPr>
              <a:t>NEXT LECTURE</a:t>
            </a:r>
            <a:endParaRPr lang="en-US" sz="1100" dirty="0"/>
          </a:p>
        </p:txBody>
      </p:sp>
      <p:sp>
        <p:nvSpPr>
          <p:cNvPr id="7" name="Text 5"/>
          <p:cNvSpPr/>
          <p:nvPr/>
        </p:nvSpPr>
        <p:spPr>
          <a:xfrm>
            <a:off x="822960" y="5422392"/>
            <a:ext cx="10058400" cy="548640"/>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Course Complete — Congratulations!</a:t>
            </a:r>
            <a:endParaRPr lang="en-US" sz="1550" dirty="0"/>
          </a:p>
        </p:txBody>
      </p:sp>
      <p:sp>
        <p:nvSpPr>
          <p:cNvPr id="8" name="Text 6"/>
          <p:cNvSpPr/>
          <p:nvPr/>
        </p:nvSpPr>
        <p:spPr>
          <a:xfrm>
            <a:off x="457200" y="6537960"/>
            <a:ext cx="8229600" cy="274320"/>
          </a:xfrm>
          <a:prstGeom prst="rect">
            <a:avLst/>
          </a:prstGeom>
          <a:noFill/>
          <a:ln/>
        </p:spPr>
        <p:txBody>
          <a:bodyPr wrap="square" lIns="0" tIns="0" rIns="0" bIns="0" rtlCol="0" anchor="ctr"/>
          <a:lstStyle/>
          <a:p>
            <a:pPr marL="0" indent="0">
              <a:buNone/>
            </a:pPr>
            <a:r>
              <a:rPr lang="en-US" sz="900" dirty="0">
                <a:solidFill>
                  <a:srgbClr val="9AA5B1"/>
                </a:solidFill>
                <a:latin typeface="Calibri" pitchFamily="34" charset="0"/>
                <a:ea typeface="Calibri" pitchFamily="34" charset="-122"/>
                <a:cs typeface="Calibri" pitchFamily="34" charset="-120"/>
              </a:rPr>
              <a:t>SOA — Lecture 10: Security &amp; Governance in SOA</a:t>
            </a:r>
            <a:endParaRPr lang="en-US" sz="900" dirty="0"/>
          </a:p>
        </p:txBody>
      </p:sp>
      <p:sp>
        <p:nvSpPr>
          <p:cNvPr id="9" name="Text 7"/>
          <p:cNvSpPr/>
          <p:nvPr/>
        </p:nvSpPr>
        <p:spPr>
          <a:xfrm>
            <a:off x="11521440" y="6537960"/>
            <a:ext cx="548640" cy="274320"/>
          </a:xfrm>
          <a:prstGeom prst="rect">
            <a:avLst/>
          </a:prstGeom>
          <a:noFill/>
          <a:ln/>
        </p:spPr>
        <p:txBody>
          <a:bodyPr wrap="square" lIns="0" tIns="0" rIns="0" bIns="0" rtlCol="0" anchor="ctr"/>
          <a:lstStyle/>
          <a:p>
            <a:pPr marL="0" indent="0" algn="r">
              <a:buNone/>
            </a:pPr>
            <a:r>
              <a:rPr lang="en-US" sz="900" dirty="0">
                <a:solidFill>
                  <a:srgbClr val="9AA5B1"/>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2526</Words>
  <Application>Microsoft Office PowerPoint</Application>
  <PresentationFormat>Widescreen</PresentationFormat>
  <Paragraphs>322</Paragraphs>
  <Slides>30</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Abdolraheem Khader</cp:lastModifiedBy>
  <cp:revision>2</cp:revision>
  <dcterms:created xsi:type="dcterms:W3CDTF">2026-07-28T03:26:04Z</dcterms:created>
  <dcterms:modified xsi:type="dcterms:W3CDTF">2026-09-02T19:53:33Z</dcterms:modified>
</cp:coreProperties>
</file>