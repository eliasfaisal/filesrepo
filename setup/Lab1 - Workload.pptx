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62FE-0EFC-4FEE-65DA-EA52EE6BD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89038-820B-184B-6EDE-CA18B0ECE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7FBA1-D6ED-7FBD-5EEE-83E8FBC5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EB686-B9FD-3B24-9381-A2C11CE8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A5CFC-180D-DE36-39B5-FD145A3C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9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F896-81FB-94E3-0323-F03DDF5D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8493-59B7-E7BA-AD7D-F45E5A80B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9B492-3D51-AE6C-B86B-6E32C012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DDFFB-0F15-E441-E5D8-13C16084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D9FC7-8F33-4A1C-618A-5D4DB15C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8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40FB-8251-F5E3-2411-1A765279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22E25-03D5-CC6A-ED9C-C4F0F6F96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765BC-BC50-BB53-72E8-9E0915F1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2E26-5C10-5BE3-1457-8AA929FD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F5BF6-1FC6-1313-8BD0-CFFEC350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9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BADD-596D-F88D-598C-C30CE09A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3B2C8-F31C-83BB-FA08-A779A3027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7EAD3-BB54-C083-75B7-0C9CB7ECC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41991-887A-30B1-210F-B518546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6A224-41B6-4FCC-AC55-09E7AA7C0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26323-1E66-92A5-62BB-C84FEA53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23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C8BD8-A0E9-E5BC-6708-749EADAA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CE619-EFBA-E750-AD4A-5C8B6FB70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7575E-525B-C62A-B973-E17252825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3B871-606F-E932-735D-8F2D40819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DDBA6-B45B-7296-492E-092FB9910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6BAA27-68D1-6E21-474A-E18DAE16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8833F-EFC7-81C9-5C65-CEFC1D9B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B87B0-EE85-D91C-9471-19DC2648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A290-D211-2B65-F0BB-105FE33E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A3293-E2F0-9FA3-808F-F844D447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08A6D-1930-7DD1-776C-FE9B9BF1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9EFBF-F739-B28B-06BF-B52408A6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3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DFBCC-F11A-AB24-5BEC-F96410FD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43583-9CB1-0335-CCDE-420D745C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1E42C-295B-06EE-9BB2-938B9BE1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1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984C-E3E3-D7EE-4684-2C35E07E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5F81E-6AB8-9536-CFE5-A63266674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77C58-DF9C-DCB6-A925-6B44151E9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CF0E4-0DA1-4B83-CC63-6E211641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9B5F1-FC8A-99C8-258F-D3C9DC30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7B46A-4EB1-B6B0-347E-73566935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2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696F-730F-71EB-5316-2575E777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404B3-F79A-2B96-BF45-75B15E091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64E51-1200-E309-272D-87638B94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32E0A-E64B-4DB0-A54F-B587C5C5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97E50-F980-3E95-EB6F-8BC4753E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494D7-5692-0B75-5B39-36166D069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2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FE6D-CA1B-AC02-C276-4EE331EB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29146-D791-F6B4-6707-5EA374F1C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48B5-4CAC-C24C-FFC5-EEE2FCFF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AA2B9-AF53-1594-C40D-62F61800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30FE7-8D1B-ACE9-6E19-429AF14E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C0D8D-5E03-1517-C63D-BF3C8784E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8AC7D-2AEF-0958-A954-304AF2E7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F029C-EEEC-AD3E-C0FF-536D9EFF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F581D-3A8E-5B3F-5758-BD921EA8C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412EF-EDAD-7BB0-4A11-DEC33213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78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6639D-C0EE-B3A3-CF65-64518498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5300B-F673-8BCC-A55D-64EF4F2B7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BE561-E133-7A48-56A7-9B1A05157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29B72-27D0-447A-88D3-E7491039577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1F067-1838-856D-991D-DC8E01FD7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48368-93FC-BF6E-9B03-2463F54CE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EFE0B-F4FE-408E-AEB8-344D7D69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6028-8C27-4BFD-1A61-CFA4D0DC36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Workload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F9C66-3530-AE26-D372-ACC539789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…………………………………………………………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2312717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9B4C38-5F36-40E3-5EBA-6B8C2E355636}"/>
              </a:ext>
            </a:extLst>
          </p:cNvPr>
          <p:cNvSpPr txBox="1"/>
          <p:nvPr/>
        </p:nvSpPr>
        <p:spPr>
          <a:xfrm>
            <a:off x="440265" y="745175"/>
            <a:ext cx="11492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Definition: </a:t>
            </a:r>
            <a:r>
              <a:rPr lang="en-US" dirty="0"/>
              <a:t>Workload Analysis is the process of identifying, measuring, and analyzing the amount and type of work performed by a system to evaluate its performance and determine how it behaves under different workloads.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FB4B2-A2CF-5F6A-C5BD-D04038BCE5CA}"/>
              </a:ext>
            </a:extLst>
          </p:cNvPr>
          <p:cNvSpPr txBox="1"/>
          <p:nvPr/>
        </p:nvSpPr>
        <p:spPr>
          <a:xfrm>
            <a:off x="519288" y="197059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Objectives of Workload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DEFB1-D77B-077C-EC22-65A51ADB05DD}"/>
              </a:ext>
            </a:extLst>
          </p:cNvPr>
          <p:cNvSpPr txBox="1"/>
          <p:nvPr/>
        </p:nvSpPr>
        <p:spPr>
          <a:xfrm>
            <a:off x="620888" y="2949800"/>
            <a:ext cx="111308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Evaluate system performance.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Identify performance bottlenecks.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Predict system behavior when workload increases.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Help in improving system design and resource allocation.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84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8EC74-305A-B8E8-B29C-2637002018F6}"/>
              </a:ext>
            </a:extLst>
          </p:cNvPr>
          <p:cNvSpPr txBox="1"/>
          <p:nvPr/>
        </p:nvSpPr>
        <p:spPr>
          <a:xfrm>
            <a:off x="620889" y="51524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Workload Characteristics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D2A6F-C16C-9D97-94A6-E6D69950B65F}"/>
              </a:ext>
            </a:extLst>
          </p:cNvPr>
          <p:cNvSpPr txBox="1"/>
          <p:nvPr/>
        </p:nvSpPr>
        <p:spPr>
          <a:xfrm>
            <a:off x="756356" y="1166855"/>
            <a:ext cx="1027288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Request Rate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Number of requests received by the system per unit of time.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Number of Users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Number of users accessing the system simultaneously.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3. Data Volume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Amount of data processed or stored by the system.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Resource Usage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Usage of CPU, memory, disk, and network resources.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352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7D5B60-2A20-4DE1-74EB-6F1C33934E3B}"/>
              </a:ext>
            </a:extLst>
          </p:cNvPr>
          <p:cNvSpPr txBox="1"/>
          <p:nvPr/>
        </p:nvSpPr>
        <p:spPr>
          <a:xfrm>
            <a:off x="688622" y="81532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an online shopping system: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5000 users access the website at the same time.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1000 product searches per minute.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200 purchase transactions per minute.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6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7913B7-25D1-27A6-3D04-196F4D3D5A6C}"/>
              </a:ext>
            </a:extLst>
          </p:cNvPr>
          <p:cNvSpPr txBox="1"/>
          <p:nvPr/>
        </p:nvSpPr>
        <p:spPr>
          <a:xfrm>
            <a:off x="3928535" y="313661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Response Time Analysis</a:t>
            </a:r>
          </a:p>
        </p:txBody>
      </p:sp>
    </p:spTree>
    <p:extLst>
      <p:ext uri="{BB962C8B-B14F-4D97-AF65-F5344CB8AC3E}">
        <p14:creationId xmlns:p14="http://schemas.microsoft.com/office/powerpoint/2010/main" val="421888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0A6CD8-ADC6-4000-8F12-FC24A7BF91A6}"/>
              </a:ext>
            </a:extLst>
          </p:cNvPr>
          <p:cNvSpPr txBox="1"/>
          <p:nvPr/>
        </p:nvSpPr>
        <p:spPr>
          <a:xfrm>
            <a:off x="383822" y="675480"/>
            <a:ext cx="113001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 Performance Modeling</a:t>
            </a:r>
            <a:r>
              <a:rPr lang="en-US" dirty="0"/>
              <a:t>, we are interested in measuring how fast and efficiently a system performs its tasks. One of the most important performance measures is Response Time.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1FA6B-B7BA-B37A-996D-8D6059DFD792}"/>
              </a:ext>
            </a:extLst>
          </p:cNvPr>
          <p:cNvSpPr txBox="1"/>
          <p:nvPr/>
        </p:nvSpPr>
        <p:spPr>
          <a:xfrm>
            <a:off x="383822" y="15988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Definition of Response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BFC41-3455-B7E8-F952-D710C90CDB2B}"/>
              </a:ext>
            </a:extLst>
          </p:cNvPr>
          <p:cNvSpPr txBox="1"/>
          <p:nvPr/>
        </p:nvSpPr>
        <p:spPr>
          <a:xfrm>
            <a:off x="383821" y="2241603"/>
            <a:ext cx="11413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Response Time is the amount of time between sending a request to the system and receiving the response.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Response Time = Time of Response − Time of Request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E73BC-88C4-84A3-FEFE-E67EFD5764C4}"/>
              </a:ext>
            </a:extLst>
          </p:cNvPr>
          <p:cNvSpPr txBox="1"/>
          <p:nvPr/>
        </p:nvSpPr>
        <p:spPr>
          <a:xfrm>
            <a:off x="485421" y="3715393"/>
            <a:ext cx="10758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a user sends a request and waits 3 seconds to receive the result, the response time is 3 seconds.</a:t>
            </a:r>
          </a:p>
        </p:txBody>
      </p:sp>
    </p:spTree>
    <p:extLst>
      <p:ext uri="{BB962C8B-B14F-4D97-AF65-F5344CB8AC3E}">
        <p14:creationId xmlns:p14="http://schemas.microsoft.com/office/powerpoint/2010/main" val="209146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BFF98A-3920-A7E3-0699-976C71510BCE}"/>
              </a:ext>
            </a:extLst>
          </p:cNvPr>
          <p:cNvSpPr txBox="1"/>
          <p:nvPr/>
        </p:nvSpPr>
        <p:spPr>
          <a:xfrm>
            <a:off x="474133" y="474345"/>
            <a:ext cx="1099537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Components of Response Time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Response time can include: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Processing Time: </a:t>
            </a:r>
            <a:r>
              <a:rPr lang="en-US" dirty="0"/>
              <a:t>The time required by the system to process the request.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Waiting Time: </a:t>
            </a:r>
            <a:r>
              <a:rPr lang="en-US" dirty="0"/>
              <a:t>The time the request waits before processing begins.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Queueing Time</a:t>
            </a:r>
            <a:r>
              <a:rPr lang="en-US" dirty="0"/>
              <a:t>: The time spent waiting in a queue.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Communication Time: </a:t>
            </a:r>
            <a:r>
              <a:rPr lang="en-US" dirty="0"/>
              <a:t>The time required to send and receive data over a network.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In a simple form: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Response Time = Processing Time + Waiting Time + Communication Time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33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F91326-D64C-6E99-38FD-AD9FD755133E}"/>
              </a:ext>
            </a:extLst>
          </p:cNvPr>
          <p:cNvSpPr txBox="1"/>
          <p:nvPr/>
        </p:nvSpPr>
        <p:spPr>
          <a:xfrm>
            <a:off x="395111" y="3233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Importance of Response Time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EA64C-31AB-5978-1947-53A7EFEE4292}"/>
              </a:ext>
            </a:extLst>
          </p:cNvPr>
          <p:cNvSpPr txBox="1"/>
          <p:nvPr/>
        </p:nvSpPr>
        <p:spPr>
          <a:xfrm>
            <a:off x="722488" y="1059808"/>
            <a:ext cx="97874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analyze response time to: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Measure system speed.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Identify performance problems.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Detect bottlenecks.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Determine the system's ability to handle multiple users.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Improve system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Ensure that the system meets performance requirements.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84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F4FF4-621A-DBE1-A49E-6838AC77E27C}"/>
              </a:ext>
            </a:extLst>
          </p:cNvPr>
          <p:cNvSpPr txBox="1"/>
          <p:nvPr/>
        </p:nvSpPr>
        <p:spPr>
          <a:xfrm>
            <a:off x="643467" y="5009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practical Example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151F6-1D03-5C9C-D044-9CA62D13F434}"/>
              </a:ext>
            </a:extLst>
          </p:cNvPr>
          <p:cNvSpPr txBox="1"/>
          <p:nvPr/>
        </p:nvSpPr>
        <p:spPr>
          <a:xfrm>
            <a:off x="880533" y="1317262"/>
            <a:ext cx="105099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Processing Time = 2 seconds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Waiting Time = 1 second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Communication Time = 0.5 seconds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Therefore: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Response Time = 2 + 1 + 0.5 = 3.5 seconds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user waits 3.5 seconds to receive the response.</a:t>
            </a:r>
          </a:p>
        </p:txBody>
      </p:sp>
    </p:spTree>
    <p:extLst>
      <p:ext uri="{BB962C8B-B14F-4D97-AF65-F5344CB8AC3E}">
        <p14:creationId xmlns:p14="http://schemas.microsoft.com/office/powerpoint/2010/main" val="4079695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01A6AE-51F4-BE65-ED38-19E3D1B62329}"/>
              </a:ext>
            </a:extLst>
          </p:cNvPr>
          <p:cNvSpPr txBox="1"/>
          <p:nvPr/>
        </p:nvSpPr>
        <p:spPr>
          <a:xfrm>
            <a:off x="587023" y="4249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Factors Affecting Response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1A893-34DB-54B6-BE4C-C1B05ADD2EB1}"/>
              </a:ext>
            </a:extLst>
          </p:cNvPr>
          <p:cNvSpPr txBox="1"/>
          <p:nvPr/>
        </p:nvSpPr>
        <p:spPr>
          <a:xfrm>
            <a:off x="869245" y="116684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Important factors include: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Number of users.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CPU speed.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RAM capacity.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Database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Network speed.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Number of simultaneous requests.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Program and algorithm efficiency.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385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2D38C2-1B56-D65B-B78F-778A3054F950}"/>
              </a:ext>
            </a:extLst>
          </p:cNvPr>
          <p:cNvSpPr txBox="1"/>
          <p:nvPr/>
        </p:nvSpPr>
        <p:spPr>
          <a:xfrm>
            <a:off x="778933" y="626450"/>
            <a:ext cx="111195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Difference Between Response Time and Processing Time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Processing Time The time required by the system to execute a task.</a:t>
            </a:r>
            <a:br>
              <a:rPr lang="en-US" dirty="0"/>
            </a:br>
            <a:r>
              <a:rPr lang="en-US" dirty="0"/>
              <a:t>Response Time The total time the user waits to receive the result.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43121-68B9-A632-5A24-A125137BE3DA}"/>
              </a:ext>
            </a:extLst>
          </p:cNvPr>
          <p:cNvSpPr txBox="1"/>
          <p:nvPr/>
        </p:nvSpPr>
        <p:spPr>
          <a:xfrm>
            <a:off x="778933" y="2319783"/>
            <a:ext cx="112211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the system needs 2 seconds to process a request, but the user waits 4 seconds because of queuing and network delays: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Processing Time = 2 seconds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Response Time = 4 seconds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269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E370B-D272-E218-6EEB-B465A23CED0F}"/>
              </a:ext>
            </a:extLst>
          </p:cNvPr>
          <p:cNvSpPr txBox="1"/>
          <p:nvPr/>
        </p:nvSpPr>
        <p:spPr>
          <a:xfrm>
            <a:off x="632178" y="1002858"/>
            <a:ext cx="10950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Response Time Analysis </a:t>
            </a:r>
            <a:r>
              <a:rPr lang="en-US" dirty="0"/>
              <a:t>helps software engineers measure system performance and determine how quickly the system responds to users. It also helps identify the causes of delays and improve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5231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621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Workload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EGF</dc:creator>
  <cp:lastModifiedBy>EGF</cp:lastModifiedBy>
  <cp:revision>27</cp:revision>
  <dcterms:created xsi:type="dcterms:W3CDTF">2026-08-12T09:29:45Z</dcterms:created>
  <dcterms:modified xsi:type="dcterms:W3CDTF">2026-08-12T11:00:35Z</dcterms:modified>
</cp:coreProperties>
</file>