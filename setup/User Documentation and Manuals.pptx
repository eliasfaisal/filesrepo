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052560" y="640080"/>
            <a:ext cx="2377440" cy="3108960"/>
          </a:xfrm>
          <a:prstGeom prst="roundRect">
            <a:avLst>
              <a:gd name="adj" fmla="val 4615"/>
            </a:avLst>
          </a:prstGeom>
          <a:solidFill>
            <a:srgbClr val="161C4A"/>
          </a:solidFill>
          <a:ln w="12700">
            <a:solidFill>
              <a:srgbClr val="CADCFC"/>
            </a:solidFill>
            <a:prstDash val="solid"/>
          </a:ln>
        </p:spPr>
      </p:sp>
      <p:sp>
        <p:nvSpPr>
          <p:cNvPr id="3" name="Shape 1"/>
          <p:cNvSpPr/>
          <p:nvPr/>
        </p:nvSpPr>
        <p:spPr>
          <a:xfrm>
            <a:off x="9326880" y="914400"/>
            <a:ext cx="2377440" cy="3108960"/>
          </a:xfrm>
          <a:prstGeom prst="roundRect">
            <a:avLst>
              <a:gd name="adj" fmla="val 4615"/>
            </a:avLst>
          </a:prstGeom>
          <a:solidFill>
            <a:srgbClr val="273272"/>
          </a:solidFill>
          <a:ln w="12700">
            <a:solidFill>
              <a:srgbClr val="CADCFC"/>
            </a:solidFill>
            <a:prstDash val="solid"/>
          </a:ln>
        </p:spPr>
      </p:sp>
      <p:sp>
        <p:nvSpPr>
          <p:cNvPr id="4" name="Shape 2"/>
          <p:cNvSpPr/>
          <p:nvPr/>
        </p:nvSpPr>
        <p:spPr>
          <a:xfrm>
            <a:off x="9601200" y="1188720"/>
            <a:ext cx="2377440" cy="3108960"/>
          </a:xfrm>
          <a:prstGeom prst="roundRect">
            <a:avLst>
              <a:gd name="adj" fmla="val 4615"/>
            </a:avLst>
          </a:prstGeom>
          <a:solidFill>
            <a:srgbClr val="CADCFC"/>
          </a:solidFill>
          <a:ln/>
        </p:spPr>
      </p:sp>
      <p:sp>
        <p:nvSpPr>
          <p:cNvPr id="5" name="Shape 3"/>
          <p:cNvSpPr/>
          <p:nvPr/>
        </p:nvSpPr>
        <p:spPr>
          <a:xfrm>
            <a:off x="9829800" y="1600200"/>
            <a:ext cx="1920240" cy="109728"/>
          </a:xfrm>
          <a:prstGeom prst="rect">
            <a:avLst/>
          </a:prstGeom>
          <a:solidFill>
            <a:srgbClr val="1E2761"/>
          </a:solidFill>
          <a:ln/>
        </p:spPr>
      </p:sp>
      <p:sp>
        <p:nvSpPr>
          <p:cNvPr id="6" name="Shape 4"/>
          <p:cNvSpPr/>
          <p:nvPr/>
        </p:nvSpPr>
        <p:spPr>
          <a:xfrm>
            <a:off x="9829800" y="1984248"/>
            <a:ext cx="1463040" cy="109728"/>
          </a:xfrm>
          <a:prstGeom prst="rect">
            <a:avLst/>
          </a:prstGeom>
          <a:solidFill>
            <a:srgbClr val="1E2761"/>
          </a:solidFill>
          <a:ln/>
        </p:spPr>
      </p:sp>
      <p:sp>
        <p:nvSpPr>
          <p:cNvPr id="7" name="Shape 5"/>
          <p:cNvSpPr/>
          <p:nvPr/>
        </p:nvSpPr>
        <p:spPr>
          <a:xfrm>
            <a:off x="9829800" y="2368296"/>
            <a:ext cx="1920240" cy="109728"/>
          </a:xfrm>
          <a:prstGeom prst="rect">
            <a:avLst/>
          </a:prstGeom>
          <a:solidFill>
            <a:srgbClr val="1E2761"/>
          </a:solidFill>
          <a:ln/>
        </p:spPr>
      </p:sp>
      <p:sp>
        <p:nvSpPr>
          <p:cNvPr id="8" name="Shape 6"/>
          <p:cNvSpPr/>
          <p:nvPr/>
        </p:nvSpPr>
        <p:spPr>
          <a:xfrm>
            <a:off x="9829800" y="2752344"/>
            <a:ext cx="1463040" cy="109728"/>
          </a:xfrm>
          <a:prstGeom prst="rect">
            <a:avLst/>
          </a:prstGeom>
          <a:solidFill>
            <a:srgbClr val="1E2761"/>
          </a:solidFill>
          <a:ln/>
        </p:spPr>
      </p:sp>
      <p:sp>
        <p:nvSpPr>
          <p:cNvPr id="9" name="Shape 7"/>
          <p:cNvSpPr/>
          <p:nvPr/>
        </p:nvSpPr>
        <p:spPr>
          <a:xfrm>
            <a:off x="9829800" y="3136392"/>
            <a:ext cx="1920240" cy="109728"/>
          </a:xfrm>
          <a:prstGeom prst="rect">
            <a:avLst/>
          </a:prstGeom>
          <a:solidFill>
            <a:srgbClr val="1E2761"/>
          </a:solidFill>
          <a:ln/>
        </p:spPr>
      </p:sp>
      <p:sp>
        <p:nvSpPr>
          <p:cNvPr id="10" name="Shape 8"/>
          <p:cNvSpPr/>
          <p:nvPr/>
        </p:nvSpPr>
        <p:spPr>
          <a:xfrm>
            <a:off x="9829800" y="1600200"/>
            <a:ext cx="1920240" cy="109728"/>
          </a:xfrm>
          <a:prstGeom prst="rect">
            <a:avLst/>
          </a:prstGeom>
          <a:solidFill>
            <a:srgbClr val="E8A33D"/>
          </a:solidFill>
          <a:ln/>
        </p:spPr>
      </p:sp>
      <p:sp>
        <p:nvSpPr>
          <p:cNvPr id="11" name="Text 9"/>
          <p:cNvSpPr txBox="1"/>
          <p:nvPr/>
        </p:nvSpPr>
        <p:spPr>
          <a:xfrm>
            <a:off x="640080" y="2148840"/>
            <a:ext cx="8229600" cy="457200"/>
          </a:xfrm>
          <a:prstGeom prst="rect">
            <a:avLst/>
          </a:prstGeom>
          <a:noFill/>
          <a:ln/>
        </p:spPr>
        <p:txBody>
          <a:bodyPr wrap="square" lIns="0" tIns="0" rIns="0" bIns="0" rtlCol="0" anchor="ctr"/>
          <a:lstStyle/>
          <a:p>
            <a:pPr indent="0" marL="0">
              <a:buNone/>
            </a:pPr>
            <a:r>
              <a:rPr lang="en-US" sz="1600" b="1" spc="300" kern="0" dirty="0">
                <a:solidFill>
                  <a:srgbClr val="E8A33D"/>
                </a:solidFill>
                <a:latin typeface="Calibri" pitchFamily="34" charset="0"/>
                <a:ea typeface="Calibri" pitchFamily="34" charset="-122"/>
                <a:cs typeface="Calibri" pitchFamily="34" charset="-120"/>
              </a:rPr>
              <a:t>USER DOCUMENTATION</a:t>
            </a:r>
            <a:endParaRPr lang="en-US" sz="1600" dirty="0"/>
          </a:p>
        </p:txBody>
      </p:sp>
      <p:sp>
        <p:nvSpPr>
          <p:cNvPr id="12" name="Text 10"/>
          <p:cNvSpPr txBox="1"/>
          <p:nvPr/>
        </p:nvSpPr>
        <p:spPr>
          <a:xfrm>
            <a:off x="594360" y="2514600"/>
            <a:ext cx="822960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Writing Manuals Users Actually Trust</a:t>
            </a:r>
            <a:endParaRPr lang="en-US" sz="4200" dirty="0"/>
          </a:p>
        </p:txBody>
      </p:sp>
      <p:sp>
        <p:nvSpPr>
          <p:cNvPr id="13" name="Text 11"/>
          <p:cNvSpPr txBox="1"/>
          <p:nvPr/>
        </p:nvSpPr>
        <p:spPr>
          <a:xfrm>
            <a:off x="640080" y="3703320"/>
            <a:ext cx="7863840" cy="6400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Principles, structure, review process, and release checklist for effective software manuals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Is User Documentation?</a:t>
            </a:r>
            <a:endParaRPr lang="en-US" sz="3200" dirty="0"/>
          </a:p>
        </p:txBody>
      </p:sp>
      <p:sp>
        <p:nvSpPr>
          <p:cNvPr id="3" name="Shape 1"/>
          <p:cNvSpPr/>
          <p:nvPr/>
        </p:nvSpPr>
        <p:spPr>
          <a:xfrm>
            <a:off x="566928" y="1051560"/>
            <a:ext cx="1005840" cy="54864"/>
          </a:xfrm>
          <a:prstGeom prst="rect">
            <a:avLst/>
          </a:prstGeom>
          <a:solidFill>
            <a:srgbClr val="E8A33D"/>
          </a:solidFill>
          <a:ln/>
        </p:spPr>
      </p:sp>
      <p:sp>
        <p:nvSpPr>
          <p:cNvPr id="4" name="Shape 2"/>
          <p:cNvSpPr/>
          <p:nvPr/>
        </p:nvSpPr>
        <p:spPr>
          <a:xfrm>
            <a:off x="548640" y="1554480"/>
            <a:ext cx="5120640" cy="3108960"/>
          </a:xfrm>
          <a:prstGeom prst="roundRect">
            <a:avLst>
              <a:gd name="adj" fmla="val 2353"/>
            </a:avLst>
          </a:prstGeom>
          <a:solidFill>
            <a:srgbClr val="FFFFFF"/>
          </a:solidFill>
          <a:ln w="12700">
            <a:solidFill>
              <a:srgbClr val="E2E6EF"/>
            </a:solidFill>
            <a:prstDash val="solid"/>
          </a:ln>
        </p:spPr>
      </p:sp>
      <p:sp>
        <p:nvSpPr>
          <p:cNvPr id="5" name="Shape 3"/>
          <p:cNvSpPr/>
          <p:nvPr/>
        </p:nvSpPr>
        <p:spPr>
          <a:xfrm>
            <a:off x="868680" y="1874520"/>
            <a:ext cx="548640" cy="548640"/>
          </a:xfrm>
          <a:prstGeom prst="ellipse">
            <a:avLst/>
          </a:prstGeom>
          <a:solidFill>
            <a:srgbClr val="1E2761"/>
          </a:solidFill>
          <a:ln/>
        </p:spPr>
      </p:sp>
      <p:sp>
        <p:nvSpPr>
          <p:cNvPr id="6" name="Text 4"/>
          <p:cNvSpPr txBox="1"/>
          <p:nvPr/>
        </p:nvSpPr>
        <p:spPr>
          <a:xfrm>
            <a:off x="868680" y="18745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 }</a:t>
            </a:r>
            <a:endParaRPr lang="en-US" sz="1680" dirty="0"/>
          </a:p>
        </p:txBody>
      </p:sp>
      <p:sp>
        <p:nvSpPr>
          <p:cNvPr id="7" name="Text 5"/>
          <p:cNvSpPr txBox="1"/>
          <p:nvPr/>
        </p:nvSpPr>
        <p:spPr>
          <a:xfrm>
            <a:off x="1600200" y="1920240"/>
            <a:ext cx="384048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Source-Code Documentation</a:t>
            </a:r>
            <a:endParaRPr lang="en-US" sz="1800" dirty="0"/>
          </a:p>
        </p:txBody>
      </p:sp>
      <p:sp>
        <p:nvSpPr>
          <p:cNvPr id="8" name="Text 6"/>
          <p:cNvSpPr txBox="1"/>
          <p:nvPr/>
        </p:nvSpPr>
        <p:spPr>
          <a:xfrm>
            <a:off x="868680" y="2514600"/>
            <a:ext cx="4480560" cy="1920240"/>
          </a:xfrm>
          <a:prstGeom prst="rect">
            <a:avLst/>
          </a:prstGeom>
          <a:noFill/>
          <a:ln/>
        </p:spPr>
        <p:txBody>
          <a:bodyPr wrap="square" rtlCol="0" anchor="t"/>
          <a:lstStyle/>
          <a:p>
            <a:pPr marL="342900" indent="-342900">
              <a:spcAft>
                <a:spcPts val="1000"/>
              </a:spcAft>
              <a:buSzPct val="100000"/>
              <a:buChar char="•"/>
            </a:pPr>
            <a:r>
              <a:rPr lang="en-US" sz="1350" dirty="0">
                <a:solidFill>
                  <a:srgbClr val="2B2F42"/>
                </a:solidFill>
                <a:latin typeface="Calibri" pitchFamily="34" charset="0"/>
                <a:ea typeface="Calibri" pitchFamily="34" charset="-122"/>
                <a:cs typeface="Calibri" pitchFamily="34" charset="-120"/>
              </a:rPr>
              <a:t>Lives close to the code — comments, docstrings, API references.</a:t>
            </a:r>
            <a:endParaRPr lang="en-US" sz="1350" dirty="0"/>
          </a:p>
          <a:p>
            <a:pPr marL="342900" indent="-342900">
              <a:spcAft>
                <a:spcPts val="1000"/>
              </a:spcAft>
              <a:buSzPct val="100000"/>
              <a:buChar char="•"/>
            </a:pPr>
            <a:r>
              <a:rPr lang="en-US" sz="1350" dirty="0">
                <a:solidFill>
                  <a:srgbClr val="2B2F42"/>
                </a:solidFill>
                <a:latin typeface="Calibri" pitchFamily="34" charset="0"/>
                <a:ea typeface="Calibri" pitchFamily="34" charset="-122"/>
                <a:cs typeface="Calibri" pitchFamily="34" charset="-120"/>
              </a:rPr>
              <a:t>For libraries, can be nearly equivalent to the user document.</a:t>
            </a:r>
            <a:endParaRPr lang="en-US" sz="1350" dirty="0"/>
          </a:p>
          <a:p>
            <a:pPr marL="342900" indent="-342900">
              <a:spcAft>
                <a:spcPts val="1000"/>
              </a:spcAft>
              <a:buSzPct val="100000"/>
              <a:buChar char="•"/>
            </a:pPr>
            <a:r>
              <a:rPr lang="en-US" sz="1350" dirty="0">
                <a:solidFill>
                  <a:srgbClr val="2B2F42"/>
                </a:solidFill>
                <a:latin typeface="Calibri" pitchFamily="34" charset="0"/>
                <a:ea typeface="Calibri" pitchFamily="34" charset="-122"/>
                <a:cs typeface="Calibri" pitchFamily="34" charset="-120"/>
              </a:rPr>
              <a:t>Lisp machines paired docstrings with apropos search, letting users paste functions straight into their code.</a:t>
            </a:r>
            <a:endParaRPr lang="en-US" sz="1350" dirty="0"/>
          </a:p>
        </p:txBody>
      </p:sp>
      <p:sp>
        <p:nvSpPr>
          <p:cNvPr id="9" name="Shape 7"/>
          <p:cNvSpPr/>
          <p:nvPr/>
        </p:nvSpPr>
        <p:spPr>
          <a:xfrm>
            <a:off x="6309360" y="1554480"/>
            <a:ext cx="5120640" cy="3108960"/>
          </a:xfrm>
          <a:prstGeom prst="roundRect">
            <a:avLst>
              <a:gd name="adj" fmla="val 2353"/>
            </a:avLst>
          </a:prstGeom>
          <a:solidFill>
            <a:srgbClr val="1E2761"/>
          </a:solidFill>
          <a:ln/>
        </p:spPr>
      </p:sp>
      <p:sp>
        <p:nvSpPr>
          <p:cNvPr id="10" name="Shape 8"/>
          <p:cNvSpPr/>
          <p:nvPr/>
        </p:nvSpPr>
        <p:spPr>
          <a:xfrm>
            <a:off x="6629400" y="1874520"/>
            <a:ext cx="548640" cy="548640"/>
          </a:xfrm>
          <a:prstGeom prst="ellipse">
            <a:avLst/>
          </a:prstGeom>
          <a:solidFill>
            <a:srgbClr val="E8A33D"/>
          </a:solidFill>
          <a:ln/>
        </p:spPr>
      </p:sp>
      <p:sp>
        <p:nvSpPr>
          <p:cNvPr id="11" name="Text 9"/>
          <p:cNvSpPr txBox="1"/>
          <p:nvPr/>
        </p:nvSpPr>
        <p:spPr>
          <a:xfrm>
            <a:off x="6629400" y="18745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U</a:t>
            </a:r>
            <a:endParaRPr lang="en-US" sz="1680" dirty="0"/>
          </a:p>
        </p:txBody>
      </p:sp>
      <p:sp>
        <p:nvSpPr>
          <p:cNvPr id="12" name="Text 10"/>
          <p:cNvSpPr txBox="1"/>
          <p:nvPr/>
        </p:nvSpPr>
        <p:spPr>
          <a:xfrm>
            <a:off x="7360920" y="1920240"/>
            <a:ext cx="38404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User Documentation</a:t>
            </a:r>
            <a:endParaRPr lang="en-US" sz="1800" dirty="0"/>
          </a:p>
        </p:txBody>
      </p:sp>
      <p:sp>
        <p:nvSpPr>
          <p:cNvPr id="13" name="Text 11"/>
          <p:cNvSpPr txBox="1"/>
          <p:nvPr/>
        </p:nvSpPr>
        <p:spPr>
          <a:xfrm>
            <a:off x="6629400" y="2514600"/>
            <a:ext cx="4480560" cy="1920240"/>
          </a:xfrm>
          <a:prstGeom prst="rect">
            <a:avLst/>
          </a:prstGeom>
          <a:noFill/>
          <a:ln/>
        </p:spPr>
        <p:txBody>
          <a:bodyPr wrap="square" rtlCol="0" anchor="t"/>
          <a:lstStyle/>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Describes how the program is used — far removed from the source code.</a:t>
            </a:r>
            <a:endParaRPr lang="en-US" sz="1350" dirty="0"/>
          </a:p>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For general applications, rarely equivalent to code-level docs.</a:t>
            </a:r>
            <a:endParaRPr lang="en-US" sz="1350" dirty="0"/>
          </a:p>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Left to online help or private publishers for personal-computer software.</a:t>
            </a:r>
            <a:endParaRPr lang="en-US" sz="1350" dirty="0"/>
          </a:p>
        </p:txBody>
      </p:sp>
      <p:sp>
        <p:nvSpPr>
          <p:cNvPr id="14" name="Shape 12"/>
          <p:cNvSpPr/>
          <p:nvPr/>
        </p:nvSpPr>
        <p:spPr>
          <a:xfrm>
            <a:off x="548640" y="4892040"/>
            <a:ext cx="11091672" cy="1051560"/>
          </a:xfrm>
          <a:prstGeom prst="roundRect">
            <a:avLst>
              <a:gd name="adj" fmla="val 6957"/>
            </a:avLst>
          </a:prstGeom>
          <a:solidFill>
            <a:srgbClr val="CADCFC"/>
          </a:solidFill>
          <a:ln/>
        </p:spPr>
      </p:sp>
      <p:sp>
        <p:nvSpPr>
          <p:cNvPr id="15" name="Text 13"/>
          <p:cNvSpPr txBox="1"/>
          <p:nvPr/>
        </p:nvSpPr>
        <p:spPr>
          <a:xfrm>
            <a:off x="868680" y="5029200"/>
            <a:ext cx="3291840" cy="777240"/>
          </a:xfrm>
          <a:prstGeom prst="rect">
            <a:avLst/>
          </a:prstGeom>
          <a:noFill/>
          <a:ln/>
        </p:spPr>
        <p:txBody>
          <a:bodyPr wrap="square" lIns="0" tIns="0" rIns="0" bIns="0" rtlCol="0" anchor="ctr"/>
          <a:lstStyle/>
          <a:p>
            <a:pPr indent="0" marL="0">
              <a:buNone/>
            </a:pPr>
            <a:r>
              <a:rPr lang="en-US" sz="1800" b="1" i="1" dirty="0">
                <a:solidFill>
                  <a:srgbClr val="1E2761"/>
                </a:solidFill>
                <a:latin typeface="Cambria" pitchFamily="34" charset="0"/>
                <a:ea typeface="Cambria" pitchFamily="34" charset="-122"/>
                <a:cs typeface="Cambria" pitchFamily="34" charset="-120"/>
              </a:rPr>
              <a:t>“ Documentation is a contract. ”</a:t>
            </a:r>
            <a:endParaRPr lang="en-US" sz="1800" dirty="0"/>
          </a:p>
        </p:txBody>
      </p:sp>
      <p:sp>
        <p:nvSpPr>
          <p:cNvPr id="16" name="Text 14"/>
          <p:cNvSpPr txBox="1"/>
          <p:nvPr/>
        </p:nvSpPr>
        <p:spPr>
          <a:xfrm>
            <a:off x="4297680" y="5029200"/>
            <a:ext cx="7040880" cy="777240"/>
          </a:xfrm>
          <a:prstGeom prst="rect">
            <a:avLst/>
          </a:prstGeom>
          <a:noFill/>
          <a:ln/>
        </p:spPr>
        <p:txBody>
          <a:bodyPr wrap="square" lIns="0" tIns="0" rIns="0" bIns="0" rtlCol="0" anchor="ctr"/>
          <a:lstStyle/>
          <a:p>
            <a:pPr indent="0" marL="0">
              <a:buNone/>
            </a:pPr>
            <a:r>
              <a:rPr lang="en-US" sz="1350" dirty="0">
                <a:solidFill>
                  <a:srgbClr val="2B2F42"/>
                </a:solidFill>
                <a:latin typeface="Calibri" pitchFamily="34" charset="0"/>
                <a:ea typeface="Calibri" pitchFamily="34" charset="-122"/>
                <a:cs typeface="Calibri" pitchFamily="34" charset="-120"/>
              </a:rPr>
              <a:t>It specifies exactly what the software will do and should stay free of undocumented features — inaccuracies erode a user's trust in the rest of the manual.</a:t>
            </a:r>
            <a:endParaRPr lang="en-US" sz="1350" dirty="0"/>
          </a:p>
        </p:txBody>
      </p:sp>
      <p:sp>
        <p:nvSpPr>
          <p:cNvPr id="17" name="Text 15"/>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18" name="Text 1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Qualities of Good Documentation</a:t>
            </a:r>
            <a:endParaRPr lang="en-US" sz="3200" dirty="0"/>
          </a:p>
        </p:txBody>
      </p:sp>
      <p:sp>
        <p:nvSpPr>
          <p:cNvPr id="3" name="Shape 1"/>
          <p:cNvSpPr/>
          <p:nvPr/>
        </p:nvSpPr>
        <p:spPr>
          <a:xfrm>
            <a:off x="566928" y="1051560"/>
            <a:ext cx="1005840" cy="54864"/>
          </a:xfrm>
          <a:prstGeom prst="rect">
            <a:avLst/>
          </a:prstGeom>
          <a:solidFill>
            <a:srgbClr val="E8A33D"/>
          </a:solidFill>
          <a:ln/>
        </p:spPr>
      </p:sp>
      <p:sp>
        <p:nvSpPr>
          <p:cNvPr id="4" name="Shape 2"/>
          <p:cNvSpPr/>
          <p:nvPr/>
        </p:nvSpPr>
        <p:spPr>
          <a:xfrm>
            <a:off x="548640" y="1600200"/>
            <a:ext cx="11091672" cy="1051560"/>
          </a:xfrm>
          <a:prstGeom prst="roundRect">
            <a:avLst>
              <a:gd name="adj" fmla="val 6957"/>
            </a:avLst>
          </a:prstGeom>
          <a:solidFill>
            <a:srgbClr val="FFFFFF"/>
          </a:solidFill>
          <a:ln w="12700">
            <a:solidFill>
              <a:srgbClr val="E2E6EF"/>
            </a:solidFill>
            <a:prstDash val="solid"/>
          </a:ln>
        </p:spPr>
      </p:sp>
      <p:sp>
        <p:nvSpPr>
          <p:cNvPr id="5" name="Shape 3"/>
          <p:cNvSpPr/>
          <p:nvPr/>
        </p:nvSpPr>
        <p:spPr>
          <a:xfrm>
            <a:off x="868680" y="1805940"/>
            <a:ext cx="640080" cy="640080"/>
          </a:xfrm>
          <a:prstGeom prst="ellipse">
            <a:avLst/>
          </a:prstGeom>
          <a:solidFill>
            <a:srgbClr val="1E2761"/>
          </a:solidFill>
          <a:ln/>
        </p:spPr>
      </p:sp>
      <p:sp>
        <p:nvSpPr>
          <p:cNvPr id="6" name="Text 4"/>
          <p:cNvSpPr txBox="1"/>
          <p:nvPr/>
        </p:nvSpPr>
        <p:spPr>
          <a:xfrm>
            <a:off x="868680" y="1805940"/>
            <a:ext cx="640080" cy="640080"/>
          </a:xfrm>
          <a:prstGeom prst="rect">
            <a:avLst/>
          </a:prstGeom>
          <a:noFill/>
          <a:ln/>
        </p:spPr>
        <p:txBody>
          <a:bodyPr wrap="square" lIns="0" tIns="0" rIns="0" bIns="0" rtlCol="0" anchor="ctr"/>
          <a:lstStyle/>
          <a:p>
            <a:pPr algn="ctr" indent="0" marL="0">
              <a:buNone/>
            </a:pPr>
            <a:r>
              <a:rPr lang="en-US" sz="1960" b="1" dirty="0">
                <a:solidFill>
                  <a:srgbClr val="FFFFFF"/>
                </a:solidFill>
                <a:latin typeface="Cambria" pitchFamily="34" charset="0"/>
                <a:ea typeface="Cambria" pitchFamily="34" charset="-122"/>
                <a:cs typeface="Cambria" pitchFamily="34" charset="-120"/>
              </a:rPr>
              <a:t>1</a:t>
            </a:r>
            <a:endParaRPr lang="en-US" sz="1960" dirty="0"/>
          </a:p>
        </p:txBody>
      </p:sp>
      <p:sp>
        <p:nvSpPr>
          <p:cNvPr id="7" name="Text 5"/>
          <p:cNvSpPr txBox="1"/>
          <p:nvPr/>
        </p:nvSpPr>
        <p:spPr>
          <a:xfrm>
            <a:off x="1783080" y="1728216"/>
            <a:ext cx="3108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Clear &amp; Current</a:t>
            </a:r>
            <a:endParaRPr lang="en-US" sz="1600" dirty="0"/>
          </a:p>
        </p:txBody>
      </p:sp>
      <p:sp>
        <p:nvSpPr>
          <p:cNvPr id="8" name="Text 6"/>
          <p:cNvSpPr txBox="1"/>
          <p:nvPr/>
        </p:nvSpPr>
        <p:spPr>
          <a:xfrm>
            <a:off x="5029200" y="1691640"/>
            <a:ext cx="6309360" cy="868680"/>
          </a:xfrm>
          <a:prstGeom prst="rect">
            <a:avLst/>
          </a:prstGeom>
          <a:noFill/>
          <a:ln/>
        </p:spPr>
        <p:txBody>
          <a:bodyPr wrap="square" lIns="0" tIns="0" rIns="0" bIns="0" rtlCol="0" anchor="ctr"/>
          <a:lstStyle/>
          <a:p>
            <a:pPr indent="0" marL="0">
              <a:buNone/>
            </a:pPr>
            <a:r>
              <a:rPr lang="en-US" sz="1300" dirty="0">
                <a:solidFill>
                  <a:srgbClr val="2B2F42"/>
                </a:solidFill>
                <a:latin typeface="Calibri" pitchFamily="34" charset="0"/>
                <a:ea typeface="Calibri" pitchFamily="34" charset="-122"/>
                <a:cs typeface="Calibri" pitchFamily="34" charset="-120"/>
              </a:rPr>
              <a:t>Not confusing, and always kept up to date with the shipping version of the software.</a:t>
            </a:r>
            <a:endParaRPr lang="en-US" sz="1300" dirty="0"/>
          </a:p>
        </p:txBody>
      </p:sp>
      <p:sp>
        <p:nvSpPr>
          <p:cNvPr id="9" name="Shape 7"/>
          <p:cNvSpPr/>
          <p:nvPr/>
        </p:nvSpPr>
        <p:spPr>
          <a:xfrm>
            <a:off x="548640" y="2788920"/>
            <a:ext cx="11091672" cy="1051560"/>
          </a:xfrm>
          <a:prstGeom prst="roundRect">
            <a:avLst>
              <a:gd name="adj" fmla="val 6957"/>
            </a:avLst>
          </a:prstGeom>
          <a:solidFill>
            <a:srgbClr val="FFFFFF"/>
          </a:solidFill>
          <a:ln w="12700">
            <a:solidFill>
              <a:srgbClr val="E2E6EF"/>
            </a:solidFill>
            <a:prstDash val="solid"/>
          </a:ln>
        </p:spPr>
      </p:sp>
      <p:sp>
        <p:nvSpPr>
          <p:cNvPr id="10" name="Shape 8"/>
          <p:cNvSpPr/>
          <p:nvPr/>
        </p:nvSpPr>
        <p:spPr>
          <a:xfrm>
            <a:off x="868680" y="2994660"/>
            <a:ext cx="640080" cy="640080"/>
          </a:xfrm>
          <a:prstGeom prst="ellipse">
            <a:avLst/>
          </a:prstGeom>
          <a:solidFill>
            <a:srgbClr val="E8A33D"/>
          </a:solidFill>
          <a:ln/>
        </p:spPr>
      </p:sp>
      <p:sp>
        <p:nvSpPr>
          <p:cNvPr id="11" name="Text 9"/>
          <p:cNvSpPr txBox="1"/>
          <p:nvPr/>
        </p:nvSpPr>
        <p:spPr>
          <a:xfrm>
            <a:off x="868680" y="2994660"/>
            <a:ext cx="640080" cy="640080"/>
          </a:xfrm>
          <a:prstGeom prst="rect">
            <a:avLst/>
          </a:prstGeom>
          <a:noFill/>
          <a:ln/>
        </p:spPr>
        <p:txBody>
          <a:bodyPr wrap="square" lIns="0" tIns="0" rIns="0" bIns="0" rtlCol="0" anchor="ctr"/>
          <a:lstStyle/>
          <a:p>
            <a:pPr algn="ctr" indent="0" marL="0">
              <a:buNone/>
            </a:pPr>
            <a:r>
              <a:rPr lang="en-US" sz="1960" b="1" dirty="0">
                <a:solidFill>
                  <a:srgbClr val="FFFFFF"/>
                </a:solidFill>
                <a:latin typeface="Cambria" pitchFamily="34" charset="0"/>
                <a:ea typeface="Cambria" pitchFamily="34" charset="-122"/>
                <a:cs typeface="Cambria" pitchFamily="34" charset="-120"/>
              </a:rPr>
              <a:t>2</a:t>
            </a:r>
            <a:endParaRPr lang="en-US" sz="1960" dirty="0"/>
          </a:p>
        </p:txBody>
      </p:sp>
      <p:sp>
        <p:nvSpPr>
          <p:cNvPr id="12" name="Text 10"/>
          <p:cNvSpPr txBox="1"/>
          <p:nvPr/>
        </p:nvSpPr>
        <p:spPr>
          <a:xfrm>
            <a:off x="1783080" y="2916936"/>
            <a:ext cx="3108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Thoroughly Indexed</a:t>
            </a:r>
            <a:endParaRPr lang="en-US" sz="1600" dirty="0"/>
          </a:p>
        </p:txBody>
      </p:sp>
      <p:sp>
        <p:nvSpPr>
          <p:cNvPr id="13" name="Text 11"/>
          <p:cNvSpPr txBox="1"/>
          <p:nvPr/>
        </p:nvSpPr>
        <p:spPr>
          <a:xfrm>
            <a:off x="5029200" y="2880360"/>
            <a:ext cx="6309360" cy="868680"/>
          </a:xfrm>
          <a:prstGeom prst="rect">
            <a:avLst/>
          </a:prstGeom>
          <a:noFill/>
          <a:ln/>
        </p:spPr>
        <p:txBody>
          <a:bodyPr wrap="square" lIns="0" tIns="0" rIns="0" bIns="0" rtlCol="0" anchor="ctr"/>
          <a:lstStyle/>
          <a:p>
            <a:pPr indent="0" marL="0">
              <a:buNone/>
            </a:pPr>
            <a:r>
              <a:rPr lang="en-US" sz="1300" dirty="0">
                <a:solidFill>
                  <a:srgbClr val="2B2F42"/>
                </a:solidFill>
                <a:latin typeface="Calibri" pitchFamily="34" charset="0"/>
                <a:ea typeface="Calibri" pitchFamily="34" charset="-122"/>
                <a:cs typeface="Calibri" pitchFamily="34" charset="-120"/>
              </a:rPr>
              <a:t>Organization is flexible, but a complete index is essential so any topic can be found fast.</a:t>
            </a:r>
            <a:endParaRPr lang="en-US" sz="1300" dirty="0"/>
          </a:p>
        </p:txBody>
      </p:sp>
      <p:sp>
        <p:nvSpPr>
          <p:cNvPr id="14" name="Shape 12"/>
          <p:cNvSpPr/>
          <p:nvPr/>
        </p:nvSpPr>
        <p:spPr>
          <a:xfrm>
            <a:off x="548640" y="3977640"/>
            <a:ext cx="11091672" cy="1051560"/>
          </a:xfrm>
          <a:prstGeom prst="roundRect">
            <a:avLst>
              <a:gd name="adj" fmla="val 6957"/>
            </a:avLst>
          </a:prstGeom>
          <a:solidFill>
            <a:srgbClr val="FFFFFF"/>
          </a:solidFill>
          <a:ln w="12700">
            <a:solidFill>
              <a:srgbClr val="E2E6EF"/>
            </a:solidFill>
            <a:prstDash val="solid"/>
          </a:ln>
        </p:spPr>
      </p:sp>
      <p:sp>
        <p:nvSpPr>
          <p:cNvPr id="15" name="Shape 13"/>
          <p:cNvSpPr/>
          <p:nvPr/>
        </p:nvSpPr>
        <p:spPr>
          <a:xfrm>
            <a:off x="868680" y="4183380"/>
            <a:ext cx="640080" cy="640080"/>
          </a:xfrm>
          <a:prstGeom prst="ellipse">
            <a:avLst/>
          </a:prstGeom>
          <a:solidFill>
            <a:srgbClr val="1E2761"/>
          </a:solidFill>
          <a:ln/>
        </p:spPr>
      </p:sp>
      <p:sp>
        <p:nvSpPr>
          <p:cNvPr id="16" name="Text 14"/>
          <p:cNvSpPr txBox="1"/>
          <p:nvPr/>
        </p:nvSpPr>
        <p:spPr>
          <a:xfrm>
            <a:off x="868680" y="4183380"/>
            <a:ext cx="640080" cy="640080"/>
          </a:xfrm>
          <a:prstGeom prst="rect">
            <a:avLst/>
          </a:prstGeom>
          <a:noFill/>
          <a:ln/>
        </p:spPr>
        <p:txBody>
          <a:bodyPr wrap="square" lIns="0" tIns="0" rIns="0" bIns="0" rtlCol="0" anchor="ctr"/>
          <a:lstStyle/>
          <a:p>
            <a:pPr algn="ctr" indent="0" marL="0">
              <a:buNone/>
            </a:pPr>
            <a:r>
              <a:rPr lang="en-US" sz="1960" b="1" dirty="0">
                <a:solidFill>
                  <a:srgbClr val="FFFFFF"/>
                </a:solidFill>
                <a:latin typeface="Cambria" pitchFamily="34" charset="0"/>
                <a:ea typeface="Cambria" pitchFamily="34" charset="-122"/>
                <a:cs typeface="Cambria" pitchFamily="34" charset="-120"/>
              </a:rPr>
              <a:t>3</a:t>
            </a:r>
            <a:endParaRPr lang="en-US" sz="1960" dirty="0"/>
          </a:p>
        </p:txBody>
      </p:sp>
      <p:sp>
        <p:nvSpPr>
          <p:cNvPr id="17" name="Text 15"/>
          <p:cNvSpPr txBox="1"/>
          <p:nvPr/>
        </p:nvSpPr>
        <p:spPr>
          <a:xfrm>
            <a:off x="1783080" y="4105656"/>
            <a:ext cx="3108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Consistent &amp; Simple</a:t>
            </a:r>
            <a:endParaRPr lang="en-US" sz="1600" dirty="0"/>
          </a:p>
        </p:txBody>
      </p:sp>
      <p:sp>
        <p:nvSpPr>
          <p:cNvPr id="18" name="Text 16"/>
          <p:cNvSpPr txBox="1"/>
          <p:nvPr/>
        </p:nvSpPr>
        <p:spPr>
          <a:xfrm>
            <a:off x="5029200" y="4069080"/>
            <a:ext cx="6309360" cy="868680"/>
          </a:xfrm>
          <a:prstGeom prst="rect">
            <a:avLst/>
          </a:prstGeom>
          <a:noFill/>
          <a:ln/>
        </p:spPr>
        <p:txBody>
          <a:bodyPr wrap="square" lIns="0" tIns="0" rIns="0" bIns="0" rtlCol="0" anchor="ctr"/>
          <a:lstStyle/>
          <a:p>
            <a:pPr indent="0" marL="0">
              <a:buNone/>
            </a:pPr>
            <a:r>
              <a:rPr lang="en-US" sz="1300" dirty="0">
                <a:solidFill>
                  <a:srgbClr val="2B2F42"/>
                </a:solidFill>
                <a:latin typeface="Calibri" pitchFamily="34" charset="0"/>
                <a:ea typeface="Calibri" pitchFamily="34" charset="-122"/>
                <a:cs typeface="Calibri" pitchFamily="34" charset="-120"/>
              </a:rPr>
              <a:t>Uniform terms, formatting, and voice make the manual easy to scan and trust.</a:t>
            </a:r>
            <a:endParaRPr lang="en-US" sz="1300" dirty="0"/>
          </a:p>
        </p:txBody>
      </p:sp>
      <p:sp>
        <p:nvSpPr>
          <p:cNvPr id="19" name="Shape 17"/>
          <p:cNvSpPr/>
          <p:nvPr/>
        </p:nvSpPr>
        <p:spPr>
          <a:xfrm>
            <a:off x="548640" y="5166360"/>
            <a:ext cx="11091672" cy="1051560"/>
          </a:xfrm>
          <a:prstGeom prst="roundRect">
            <a:avLst>
              <a:gd name="adj" fmla="val 6957"/>
            </a:avLst>
          </a:prstGeom>
          <a:solidFill>
            <a:srgbClr val="FFFFFF"/>
          </a:solidFill>
          <a:ln w="12700">
            <a:solidFill>
              <a:srgbClr val="E2E6EF"/>
            </a:solidFill>
            <a:prstDash val="solid"/>
          </a:ln>
        </p:spPr>
      </p:sp>
      <p:sp>
        <p:nvSpPr>
          <p:cNvPr id="20" name="Shape 18"/>
          <p:cNvSpPr/>
          <p:nvPr/>
        </p:nvSpPr>
        <p:spPr>
          <a:xfrm>
            <a:off x="868680" y="5372100"/>
            <a:ext cx="640080" cy="640080"/>
          </a:xfrm>
          <a:prstGeom prst="ellipse">
            <a:avLst/>
          </a:prstGeom>
          <a:solidFill>
            <a:srgbClr val="E8A33D"/>
          </a:solidFill>
          <a:ln/>
        </p:spPr>
      </p:sp>
      <p:sp>
        <p:nvSpPr>
          <p:cNvPr id="21" name="Text 19"/>
          <p:cNvSpPr txBox="1"/>
          <p:nvPr/>
        </p:nvSpPr>
        <p:spPr>
          <a:xfrm>
            <a:off x="868680" y="5372100"/>
            <a:ext cx="640080" cy="640080"/>
          </a:xfrm>
          <a:prstGeom prst="rect">
            <a:avLst/>
          </a:prstGeom>
          <a:noFill/>
          <a:ln/>
        </p:spPr>
        <p:txBody>
          <a:bodyPr wrap="square" lIns="0" tIns="0" rIns="0" bIns="0" rtlCol="0" anchor="ctr"/>
          <a:lstStyle/>
          <a:p>
            <a:pPr algn="ctr" indent="0" marL="0">
              <a:buNone/>
            </a:pPr>
            <a:r>
              <a:rPr lang="en-US" sz="1960" b="1" dirty="0">
                <a:solidFill>
                  <a:srgbClr val="FFFFFF"/>
                </a:solidFill>
                <a:latin typeface="Cambria" pitchFamily="34" charset="0"/>
                <a:ea typeface="Cambria" pitchFamily="34" charset="-122"/>
                <a:cs typeface="Cambria" pitchFamily="34" charset="-120"/>
              </a:rPr>
              <a:t>4</a:t>
            </a:r>
            <a:endParaRPr lang="en-US" sz="1960" dirty="0"/>
          </a:p>
        </p:txBody>
      </p:sp>
      <p:sp>
        <p:nvSpPr>
          <p:cNvPr id="22" name="Text 20"/>
          <p:cNvSpPr txBox="1"/>
          <p:nvPr/>
        </p:nvSpPr>
        <p:spPr>
          <a:xfrm>
            <a:off x="1783080" y="5294376"/>
            <a:ext cx="3108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Free of Surprises</a:t>
            </a:r>
            <a:endParaRPr lang="en-US" sz="1600" dirty="0"/>
          </a:p>
        </p:txBody>
      </p:sp>
      <p:sp>
        <p:nvSpPr>
          <p:cNvPr id="23" name="Text 21"/>
          <p:cNvSpPr txBox="1"/>
          <p:nvPr/>
        </p:nvSpPr>
        <p:spPr>
          <a:xfrm>
            <a:off x="5029200" y="5257800"/>
            <a:ext cx="6309360" cy="868680"/>
          </a:xfrm>
          <a:prstGeom prst="rect">
            <a:avLst/>
          </a:prstGeom>
          <a:noFill/>
          <a:ln/>
        </p:spPr>
        <p:txBody>
          <a:bodyPr wrap="square" lIns="0" tIns="0" rIns="0" bIns="0" rtlCol="0" anchor="ctr"/>
          <a:lstStyle/>
          <a:p>
            <a:pPr indent="0" marL="0">
              <a:buNone/>
            </a:pPr>
            <a:r>
              <a:rPr lang="en-US" sz="1300" dirty="0">
                <a:solidFill>
                  <a:srgbClr val="2B2F42"/>
                </a:solidFill>
                <a:latin typeface="Calibri" pitchFamily="34" charset="0"/>
                <a:ea typeface="Calibri" pitchFamily="34" charset="-122"/>
                <a:cs typeface="Calibri" pitchFamily="34" charset="-120"/>
              </a:rPr>
              <a:t>Acts as a contract for what the software does — no undocumented features.</a:t>
            </a:r>
            <a:endParaRPr lang="en-US" sz="1300" dirty="0"/>
          </a:p>
        </p:txBody>
      </p:sp>
      <p:sp>
        <p:nvSpPr>
          <p:cNvPr id="24" name="Text 22"/>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25" name="Text 23"/>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Ways to Organize a Manual</a:t>
            </a:r>
            <a:endParaRPr lang="en-US" sz="3200" dirty="0"/>
          </a:p>
        </p:txBody>
      </p:sp>
      <p:sp>
        <p:nvSpPr>
          <p:cNvPr id="3" name="Text 1"/>
          <p:cNvSpPr txBox="1"/>
          <p:nvPr/>
        </p:nvSpPr>
        <p:spPr>
          <a:xfrm>
            <a:off x="566928" y="1051560"/>
            <a:ext cx="100584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Most complaints stem from leaning on only one approach — strong manuals blend all three.</a:t>
            </a:r>
            <a:endParaRPr lang="en-US" sz="1400" dirty="0"/>
          </a:p>
        </p:txBody>
      </p:sp>
      <p:sp>
        <p:nvSpPr>
          <p:cNvPr id="4" name="Shape 2"/>
          <p:cNvSpPr/>
          <p:nvPr/>
        </p:nvSpPr>
        <p:spPr>
          <a:xfrm>
            <a:off x="548640" y="1691640"/>
            <a:ext cx="3520440" cy="3931920"/>
          </a:xfrm>
          <a:prstGeom prst="roundRect">
            <a:avLst>
              <a:gd name="adj" fmla="val 2597"/>
            </a:avLst>
          </a:prstGeom>
          <a:solidFill>
            <a:srgbClr val="FFFFFF"/>
          </a:solidFill>
          <a:ln/>
        </p:spPr>
      </p:sp>
      <p:sp>
        <p:nvSpPr>
          <p:cNvPr id="5" name="Shape 3"/>
          <p:cNvSpPr/>
          <p:nvPr/>
        </p:nvSpPr>
        <p:spPr>
          <a:xfrm>
            <a:off x="1897380" y="2057400"/>
            <a:ext cx="822960" cy="822960"/>
          </a:xfrm>
          <a:prstGeom prst="ellipse">
            <a:avLst/>
          </a:prstGeom>
          <a:solidFill>
            <a:srgbClr val="E8A33D"/>
          </a:solidFill>
          <a:ln/>
        </p:spPr>
      </p:sp>
      <p:sp>
        <p:nvSpPr>
          <p:cNvPr id="6" name="Text 4"/>
          <p:cNvSpPr txBox="1"/>
          <p:nvPr/>
        </p:nvSpPr>
        <p:spPr>
          <a:xfrm>
            <a:off x="1897380" y="205740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Cambria" pitchFamily="34" charset="0"/>
                <a:ea typeface="Cambria" pitchFamily="34" charset="-122"/>
                <a:cs typeface="Cambria" pitchFamily="34" charset="-120"/>
              </a:rPr>
              <a:t>T</a:t>
            </a:r>
            <a:endParaRPr lang="en-US" sz="2520" dirty="0"/>
          </a:p>
        </p:txBody>
      </p:sp>
      <p:sp>
        <p:nvSpPr>
          <p:cNvPr id="7" name="Text 5"/>
          <p:cNvSpPr txBox="1"/>
          <p:nvPr/>
        </p:nvSpPr>
        <p:spPr>
          <a:xfrm>
            <a:off x="731520" y="3063240"/>
            <a:ext cx="3154680" cy="54864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Tutorial</a:t>
            </a:r>
            <a:endParaRPr lang="en-US" sz="1900" dirty="0"/>
          </a:p>
        </p:txBody>
      </p:sp>
      <p:sp>
        <p:nvSpPr>
          <p:cNvPr id="8" name="Text 6"/>
          <p:cNvSpPr txBox="1"/>
          <p:nvPr/>
        </p:nvSpPr>
        <p:spPr>
          <a:xfrm>
            <a:off x="731520" y="3566160"/>
            <a:ext cx="3154680" cy="365760"/>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Best for new users</a:t>
            </a:r>
            <a:endParaRPr lang="en-US" sz="1200" dirty="0"/>
          </a:p>
        </p:txBody>
      </p:sp>
      <p:sp>
        <p:nvSpPr>
          <p:cNvPr id="9" name="Text 7"/>
          <p:cNvSpPr txBox="1"/>
          <p:nvPr/>
        </p:nvSpPr>
        <p:spPr>
          <a:xfrm>
            <a:off x="868680" y="4023360"/>
            <a:ext cx="2880360" cy="1371600"/>
          </a:xfrm>
          <a:prstGeom prst="rect">
            <a:avLst/>
          </a:prstGeom>
          <a:noFill/>
          <a:ln/>
        </p:spPr>
        <p:txBody>
          <a:bodyPr wrap="square" lIns="0" tIns="0" rIns="0" bIns="0" rtlCol="0" anchor="t"/>
          <a:lstStyle/>
          <a:p>
            <a:pPr algn="l" indent="0" marL="0">
              <a:buNone/>
            </a:pPr>
            <a:r>
              <a:rPr lang="en-US" sz="1300" dirty="0">
                <a:solidFill>
                  <a:srgbClr val="2B2F42"/>
                </a:solidFill>
                <a:latin typeface="Calibri" pitchFamily="34" charset="0"/>
                <a:ea typeface="Calibri" pitchFamily="34" charset="-122"/>
                <a:cs typeface="Calibri" pitchFamily="34" charset="-120"/>
              </a:rPr>
              <a:t>Guides the reader step-by-step through completing specific tasks from start to finish.</a:t>
            </a:r>
            <a:endParaRPr lang="en-US" sz="1300" dirty="0"/>
          </a:p>
        </p:txBody>
      </p:sp>
      <p:sp>
        <p:nvSpPr>
          <p:cNvPr id="10" name="Shape 8"/>
          <p:cNvSpPr/>
          <p:nvPr/>
        </p:nvSpPr>
        <p:spPr>
          <a:xfrm>
            <a:off x="4343400" y="1691640"/>
            <a:ext cx="3520440" cy="3931920"/>
          </a:xfrm>
          <a:prstGeom prst="roundRect">
            <a:avLst>
              <a:gd name="adj" fmla="val 2597"/>
            </a:avLst>
          </a:prstGeom>
          <a:solidFill>
            <a:srgbClr val="FFFFFF"/>
          </a:solidFill>
          <a:ln/>
        </p:spPr>
      </p:sp>
      <p:sp>
        <p:nvSpPr>
          <p:cNvPr id="11" name="Shape 9"/>
          <p:cNvSpPr/>
          <p:nvPr/>
        </p:nvSpPr>
        <p:spPr>
          <a:xfrm>
            <a:off x="5692140" y="2057400"/>
            <a:ext cx="822960" cy="822960"/>
          </a:xfrm>
          <a:prstGeom prst="ellipse">
            <a:avLst/>
          </a:prstGeom>
          <a:solidFill>
            <a:srgbClr val="E8A33D"/>
          </a:solidFill>
          <a:ln/>
        </p:spPr>
      </p:sp>
      <p:sp>
        <p:nvSpPr>
          <p:cNvPr id="12" name="Text 10"/>
          <p:cNvSpPr txBox="1"/>
          <p:nvPr/>
        </p:nvSpPr>
        <p:spPr>
          <a:xfrm>
            <a:off x="5692140" y="205740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Cambria" pitchFamily="34" charset="0"/>
                <a:ea typeface="Cambria" pitchFamily="34" charset="-122"/>
                <a:cs typeface="Cambria" pitchFamily="34" charset="-120"/>
              </a:rPr>
              <a:t>H</a:t>
            </a:r>
            <a:endParaRPr lang="en-US" sz="2520" dirty="0"/>
          </a:p>
        </p:txBody>
      </p:sp>
      <p:sp>
        <p:nvSpPr>
          <p:cNvPr id="13" name="Text 11"/>
          <p:cNvSpPr txBox="1"/>
          <p:nvPr/>
        </p:nvSpPr>
        <p:spPr>
          <a:xfrm>
            <a:off x="4526280" y="3063240"/>
            <a:ext cx="3154680" cy="54864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Thematic</a:t>
            </a:r>
            <a:endParaRPr lang="en-US" sz="1900" dirty="0"/>
          </a:p>
        </p:txBody>
      </p:sp>
      <p:sp>
        <p:nvSpPr>
          <p:cNvPr id="14" name="Text 12"/>
          <p:cNvSpPr txBox="1"/>
          <p:nvPr/>
        </p:nvSpPr>
        <p:spPr>
          <a:xfrm>
            <a:off x="4526280" y="3566160"/>
            <a:ext cx="3154680" cy="365760"/>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Best for intermediate users</a:t>
            </a:r>
            <a:endParaRPr lang="en-US" sz="1200" dirty="0"/>
          </a:p>
        </p:txBody>
      </p:sp>
      <p:sp>
        <p:nvSpPr>
          <p:cNvPr id="15" name="Text 13"/>
          <p:cNvSpPr txBox="1"/>
          <p:nvPr/>
        </p:nvSpPr>
        <p:spPr>
          <a:xfrm>
            <a:off x="4663440" y="4023360"/>
            <a:ext cx="2880360" cy="1371600"/>
          </a:xfrm>
          <a:prstGeom prst="rect">
            <a:avLst/>
          </a:prstGeom>
          <a:noFill/>
          <a:ln/>
        </p:spPr>
        <p:txBody>
          <a:bodyPr wrap="square" lIns="0" tIns="0" rIns="0" bIns="0" rtlCol="0" anchor="t"/>
          <a:lstStyle/>
          <a:p>
            <a:pPr algn="l" indent="0" marL="0">
              <a:buNone/>
            </a:pPr>
            <a:r>
              <a:rPr lang="en-US" sz="1300" dirty="0">
                <a:solidFill>
                  <a:srgbClr val="2B2F42"/>
                </a:solidFill>
                <a:latin typeface="Calibri" pitchFamily="34" charset="0"/>
                <a:ea typeface="Calibri" pitchFamily="34" charset="-122"/>
                <a:cs typeface="Calibri" pitchFamily="34" charset="-120"/>
              </a:rPr>
              <a:t>Chapters or sections each concentrate on one particular area of interest.</a:t>
            </a:r>
            <a:endParaRPr lang="en-US" sz="1300" dirty="0"/>
          </a:p>
        </p:txBody>
      </p:sp>
      <p:sp>
        <p:nvSpPr>
          <p:cNvPr id="16" name="Shape 14"/>
          <p:cNvSpPr/>
          <p:nvPr/>
        </p:nvSpPr>
        <p:spPr>
          <a:xfrm>
            <a:off x="8138160" y="1691640"/>
            <a:ext cx="3520440" cy="3931920"/>
          </a:xfrm>
          <a:prstGeom prst="roundRect">
            <a:avLst>
              <a:gd name="adj" fmla="val 2597"/>
            </a:avLst>
          </a:prstGeom>
          <a:solidFill>
            <a:srgbClr val="FFFFFF"/>
          </a:solidFill>
          <a:ln/>
        </p:spPr>
      </p:sp>
      <p:sp>
        <p:nvSpPr>
          <p:cNvPr id="17" name="Shape 15"/>
          <p:cNvSpPr/>
          <p:nvPr/>
        </p:nvSpPr>
        <p:spPr>
          <a:xfrm>
            <a:off x="9486900" y="2057400"/>
            <a:ext cx="822960" cy="822960"/>
          </a:xfrm>
          <a:prstGeom prst="ellipse">
            <a:avLst/>
          </a:prstGeom>
          <a:solidFill>
            <a:srgbClr val="E8A33D"/>
          </a:solidFill>
          <a:ln/>
        </p:spPr>
      </p:sp>
      <p:sp>
        <p:nvSpPr>
          <p:cNvPr id="18" name="Text 16"/>
          <p:cNvSpPr txBox="1"/>
          <p:nvPr/>
        </p:nvSpPr>
        <p:spPr>
          <a:xfrm>
            <a:off x="9486900" y="205740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Cambria" pitchFamily="34" charset="0"/>
                <a:ea typeface="Cambria" pitchFamily="34" charset="-122"/>
                <a:cs typeface="Cambria" pitchFamily="34" charset="-120"/>
              </a:rPr>
              <a:t>R</a:t>
            </a:r>
            <a:endParaRPr lang="en-US" sz="2520" dirty="0"/>
          </a:p>
        </p:txBody>
      </p:sp>
      <p:sp>
        <p:nvSpPr>
          <p:cNvPr id="19" name="Text 17"/>
          <p:cNvSpPr txBox="1"/>
          <p:nvPr/>
        </p:nvSpPr>
        <p:spPr>
          <a:xfrm>
            <a:off x="8321040" y="3063240"/>
            <a:ext cx="3154680" cy="54864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Reference / Alphabetical</a:t>
            </a:r>
            <a:endParaRPr lang="en-US" sz="1900" dirty="0"/>
          </a:p>
        </p:txBody>
      </p:sp>
      <p:sp>
        <p:nvSpPr>
          <p:cNvPr id="20" name="Text 18"/>
          <p:cNvSpPr txBox="1"/>
          <p:nvPr/>
        </p:nvSpPr>
        <p:spPr>
          <a:xfrm>
            <a:off x="8321040" y="3566160"/>
            <a:ext cx="3154680" cy="365760"/>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Best for advanced users</a:t>
            </a:r>
            <a:endParaRPr lang="en-US" sz="1200" dirty="0"/>
          </a:p>
        </p:txBody>
      </p:sp>
      <p:sp>
        <p:nvSpPr>
          <p:cNvPr id="21" name="Text 19"/>
          <p:cNvSpPr txBox="1"/>
          <p:nvPr/>
        </p:nvSpPr>
        <p:spPr>
          <a:xfrm>
            <a:off x="8458200" y="4023360"/>
            <a:ext cx="2880360" cy="1371600"/>
          </a:xfrm>
          <a:prstGeom prst="rect">
            <a:avLst/>
          </a:prstGeom>
          <a:noFill/>
          <a:ln/>
        </p:spPr>
        <p:txBody>
          <a:bodyPr wrap="square" lIns="0" tIns="0" rIns="0" bIns="0" rtlCol="0" anchor="t"/>
          <a:lstStyle/>
          <a:p>
            <a:pPr algn="l" indent="0" marL="0">
              <a:buNone/>
            </a:pPr>
            <a:r>
              <a:rPr lang="en-US" sz="1300" dirty="0">
                <a:solidFill>
                  <a:srgbClr val="2B2F42"/>
                </a:solidFill>
                <a:latin typeface="Calibri" pitchFamily="34" charset="0"/>
                <a:ea typeface="Calibri" pitchFamily="34" charset="-122"/>
                <a:cs typeface="Calibri" pitchFamily="34" charset="-120"/>
              </a:rPr>
              <a:t>Commands or tasks listed alphabetically with cross-referenced indices for fast lookup.</a:t>
            </a:r>
            <a:endParaRPr lang="en-US" sz="1300" dirty="0"/>
          </a:p>
        </p:txBody>
      </p:sp>
      <p:sp>
        <p:nvSpPr>
          <p:cNvPr id="22" name="Text 20"/>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23" name="Text 21"/>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Generic Manual Structure</a:t>
            </a:r>
            <a:endParaRPr lang="en-US" sz="3200" dirty="0"/>
          </a:p>
        </p:txBody>
      </p:sp>
      <p:sp>
        <p:nvSpPr>
          <p:cNvPr id="3" name="Text 1"/>
          <p:cNvSpPr txBox="1"/>
          <p:nvPr/>
        </p:nvSpPr>
        <p:spPr>
          <a:xfrm>
            <a:off x="566928" y="960120"/>
            <a:ext cx="731520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Part 1 of 2 — Introduction through Everyday Use</a:t>
            </a:r>
            <a:endParaRPr lang="en-US" sz="1400" dirty="0"/>
          </a:p>
        </p:txBody>
      </p:sp>
      <p:sp>
        <p:nvSpPr>
          <p:cNvPr id="4" name="Shape 2"/>
          <p:cNvSpPr/>
          <p:nvPr/>
        </p:nvSpPr>
        <p:spPr>
          <a:xfrm>
            <a:off x="1005840" y="3017520"/>
            <a:ext cx="0" cy="201168"/>
          </a:xfrm>
          <a:prstGeom prst="line">
            <a:avLst/>
          </a:prstGeom>
          <a:noFill/>
          <a:ln w="25400">
            <a:solidFill>
              <a:srgbClr val="CADCFC"/>
            </a:solidFill>
            <a:prstDash val="solid"/>
          </a:ln>
        </p:spPr>
      </p:sp>
      <p:sp>
        <p:nvSpPr>
          <p:cNvPr id="5" name="Shape 3"/>
          <p:cNvSpPr/>
          <p:nvPr/>
        </p:nvSpPr>
        <p:spPr>
          <a:xfrm>
            <a:off x="640080" y="1554480"/>
            <a:ext cx="731520" cy="731520"/>
          </a:xfrm>
          <a:prstGeom prst="ellipse">
            <a:avLst/>
          </a:prstGeom>
          <a:solidFill>
            <a:srgbClr val="1E2761"/>
          </a:solidFill>
          <a:ln/>
        </p:spPr>
      </p:sp>
      <p:sp>
        <p:nvSpPr>
          <p:cNvPr id="6" name="Text 4"/>
          <p:cNvSpPr txBox="1"/>
          <p:nvPr/>
        </p:nvSpPr>
        <p:spPr>
          <a:xfrm>
            <a:off x="640080" y="1554480"/>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1</a:t>
            </a:r>
            <a:endParaRPr lang="en-US" sz="2240" dirty="0"/>
          </a:p>
        </p:txBody>
      </p:sp>
      <p:sp>
        <p:nvSpPr>
          <p:cNvPr id="7" name="Shape 5"/>
          <p:cNvSpPr/>
          <p:nvPr/>
        </p:nvSpPr>
        <p:spPr>
          <a:xfrm>
            <a:off x="1600200" y="1554480"/>
            <a:ext cx="10058400" cy="1371600"/>
          </a:xfrm>
          <a:prstGeom prst="roundRect">
            <a:avLst>
              <a:gd name="adj" fmla="val 5333"/>
            </a:avLst>
          </a:prstGeom>
          <a:solidFill>
            <a:srgbClr val="FFFFFF"/>
          </a:solidFill>
          <a:ln w="12700">
            <a:solidFill>
              <a:srgbClr val="E2E6EF"/>
            </a:solidFill>
            <a:prstDash val="solid"/>
          </a:ln>
        </p:spPr>
      </p:sp>
      <p:sp>
        <p:nvSpPr>
          <p:cNvPr id="8" name="Text 6"/>
          <p:cNvSpPr txBox="1"/>
          <p:nvPr/>
        </p:nvSpPr>
        <p:spPr>
          <a:xfrm>
            <a:off x="1828800" y="1645920"/>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Introduction</a:t>
            </a:r>
            <a:endParaRPr lang="en-US" sz="1600" dirty="0"/>
          </a:p>
        </p:txBody>
      </p:sp>
      <p:sp>
        <p:nvSpPr>
          <p:cNvPr id="9" name="Text 7"/>
          <p:cNvSpPr txBox="1"/>
          <p:nvPr/>
        </p:nvSpPr>
        <p:spPr>
          <a:xfrm>
            <a:off x="1828800" y="2011680"/>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Introduce the product, and the manual itself — scope, purpose, flow, and a glossary.</a:t>
            </a:r>
            <a:endParaRPr lang="en-US" sz="1250" dirty="0"/>
          </a:p>
        </p:txBody>
      </p:sp>
      <p:sp>
        <p:nvSpPr>
          <p:cNvPr id="10" name="Shape 8"/>
          <p:cNvSpPr/>
          <p:nvPr/>
        </p:nvSpPr>
        <p:spPr>
          <a:xfrm>
            <a:off x="1005840" y="4636008"/>
            <a:ext cx="0" cy="201168"/>
          </a:xfrm>
          <a:prstGeom prst="line">
            <a:avLst/>
          </a:prstGeom>
          <a:noFill/>
          <a:ln w="25400">
            <a:solidFill>
              <a:srgbClr val="CADCFC"/>
            </a:solidFill>
            <a:prstDash val="solid"/>
          </a:ln>
        </p:spPr>
      </p:sp>
      <p:sp>
        <p:nvSpPr>
          <p:cNvPr id="11" name="Shape 9"/>
          <p:cNvSpPr/>
          <p:nvPr/>
        </p:nvSpPr>
        <p:spPr>
          <a:xfrm>
            <a:off x="640080" y="3172968"/>
            <a:ext cx="731520" cy="731520"/>
          </a:xfrm>
          <a:prstGeom prst="ellipse">
            <a:avLst/>
          </a:prstGeom>
          <a:solidFill>
            <a:srgbClr val="1E2761"/>
          </a:solidFill>
          <a:ln/>
        </p:spPr>
      </p:sp>
      <p:sp>
        <p:nvSpPr>
          <p:cNvPr id="12" name="Text 10"/>
          <p:cNvSpPr txBox="1"/>
          <p:nvPr/>
        </p:nvSpPr>
        <p:spPr>
          <a:xfrm>
            <a:off x="640080" y="3172968"/>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2</a:t>
            </a:r>
            <a:endParaRPr lang="en-US" sz="2240" dirty="0"/>
          </a:p>
        </p:txBody>
      </p:sp>
      <p:sp>
        <p:nvSpPr>
          <p:cNvPr id="13" name="Shape 11"/>
          <p:cNvSpPr/>
          <p:nvPr/>
        </p:nvSpPr>
        <p:spPr>
          <a:xfrm>
            <a:off x="1600200" y="3172968"/>
            <a:ext cx="10058400" cy="1371600"/>
          </a:xfrm>
          <a:prstGeom prst="roundRect">
            <a:avLst>
              <a:gd name="adj" fmla="val 5333"/>
            </a:avLst>
          </a:prstGeom>
          <a:solidFill>
            <a:srgbClr val="FFFFFF"/>
          </a:solidFill>
          <a:ln w="12700">
            <a:solidFill>
              <a:srgbClr val="E2E6EF"/>
            </a:solidFill>
            <a:prstDash val="solid"/>
          </a:ln>
        </p:spPr>
      </p:sp>
      <p:sp>
        <p:nvSpPr>
          <p:cNvPr id="14" name="Text 12"/>
          <p:cNvSpPr txBox="1"/>
          <p:nvPr/>
        </p:nvSpPr>
        <p:spPr>
          <a:xfrm>
            <a:off x="1828800" y="3264408"/>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Installing the Software</a:t>
            </a:r>
            <a:endParaRPr lang="en-US" sz="1600" dirty="0"/>
          </a:p>
        </p:txBody>
      </p:sp>
      <p:sp>
        <p:nvSpPr>
          <p:cNvPr id="15" name="Text 13"/>
          <p:cNvSpPr txBox="1"/>
          <p:nvPr/>
        </p:nvSpPr>
        <p:spPr>
          <a:xfrm>
            <a:off x="1828800" y="3630168"/>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System requirements &amp; platform support, prerequisites, and installation steps. Cover platforms separately if their steps differ greatly; otherwise use one base platform and note differences as indented text.</a:t>
            </a:r>
            <a:endParaRPr lang="en-US" sz="1250" dirty="0"/>
          </a:p>
        </p:txBody>
      </p:sp>
      <p:sp>
        <p:nvSpPr>
          <p:cNvPr id="16" name="Shape 14"/>
          <p:cNvSpPr/>
          <p:nvPr/>
        </p:nvSpPr>
        <p:spPr>
          <a:xfrm>
            <a:off x="640080" y="4791456"/>
            <a:ext cx="731520" cy="731520"/>
          </a:xfrm>
          <a:prstGeom prst="ellipse">
            <a:avLst/>
          </a:prstGeom>
          <a:solidFill>
            <a:srgbClr val="1E2761"/>
          </a:solidFill>
          <a:ln/>
        </p:spPr>
      </p:sp>
      <p:sp>
        <p:nvSpPr>
          <p:cNvPr id="17" name="Text 15"/>
          <p:cNvSpPr txBox="1"/>
          <p:nvPr/>
        </p:nvSpPr>
        <p:spPr>
          <a:xfrm>
            <a:off x="640080" y="4791456"/>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3</a:t>
            </a:r>
            <a:endParaRPr lang="en-US" sz="2240" dirty="0"/>
          </a:p>
        </p:txBody>
      </p:sp>
      <p:sp>
        <p:nvSpPr>
          <p:cNvPr id="18" name="Shape 16"/>
          <p:cNvSpPr/>
          <p:nvPr/>
        </p:nvSpPr>
        <p:spPr>
          <a:xfrm>
            <a:off x="1600200" y="4791456"/>
            <a:ext cx="10058400" cy="1371600"/>
          </a:xfrm>
          <a:prstGeom prst="roundRect">
            <a:avLst>
              <a:gd name="adj" fmla="val 5333"/>
            </a:avLst>
          </a:prstGeom>
          <a:solidFill>
            <a:srgbClr val="FFFFFF"/>
          </a:solidFill>
          <a:ln w="12700">
            <a:solidFill>
              <a:srgbClr val="E2E6EF"/>
            </a:solidFill>
            <a:prstDash val="solid"/>
          </a:ln>
        </p:spPr>
      </p:sp>
      <p:sp>
        <p:nvSpPr>
          <p:cNvPr id="19" name="Text 17"/>
          <p:cNvSpPr txBox="1"/>
          <p:nvPr/>
        </p:nvSpPr>
        <p:spPr>
          <a:xfrm>
            <a:off x="1828800" y="4882896"/>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Using the Software</a:t>
            </a:r>
            <a:endParaRPr lang="en-US" sz="1600" dirty="0"/>
          </a:p>
        </p:txBody>
      </p:sp>
      <p:sp>
        <p:nvSpPr>
          <p:cNvPr id="20" name="Text 18"/>
          <p:cNvSpPr txBox="1"/>
          <p:nvPr/>
        </p:nvSpPr>
        <p:spPr>
          <a:xfrm>
            <a:off x="1828800" y="5248656"/>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State the purpose and exact scope (what it does and doesn't do), separate user vs. admin tasks, note the best configuration, and walk through invoking the software, its interface, and each required task.</a:t>
            </a:r>
            <a:endParaRPr lang="en-US" sz="1250" dirty="0"/>
          </a:p>
        </p:txBody>
      </p:sp>
      <p:sp>
        <p:nvSpPr>
          <p:cNvPr id="21" name="Text 19"/>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22" name="Text 20"/>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Generic Manual Structure</a:t>
            </a:r>
            <a:endParaRPr lang="en-US" sz="3200" dirty="0"/>
          </a:p>
        </p:txBody>
      </p:sp>
      <p:sp>
        <p:nvSpPr>
          <p:cNvPr id="3" name="Text 1"/>
          <p:cNvSpPr txBox="1"/>
          <p:nvPr/>
        </p:nvSpPr>
        <p:spPr>
          <a:xfrm>
            <a:off x="566928" y="960120"/>
            <a:ext cx="731520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Part 2 of 2 — Administration through Appendix</a:t>
            </a:r>
            <a:endParaRPr lang="en-US" sz="1400" dirty="0"/>
          </a:p>
        </p:txBody>
      </p:sp>
      <p:sp>
        <p:nvSpPr>
          <p:cNvPr id="4" name="Shape 2"/>
          <p:cNvSpPr/>
          <p:nvPr/>
        </p:nvSpPr>
        <p:spPr>
          <a:xfrm>
            <a:off x="1005840" y="3017520"/>
            <a:ext cx="0" cy="201168"/>
          </a:xfrm>
          <a:prstGeom prst="line">
            <a:avLst/>
          </a:prstGeom>
          <a:noFill/>
          <a:ln w="25400">
            <a:solidFill>
              <a:srgbClr val="CADCFC"/>
            </a:solidFill>
            <a:prstDash val="solid"/>
          </a:ln>
        </p:spPr>
      </p:sp>
      <p:sp>
        <p:nvSpPr>
          <p:cNvPr id="5" name="Shape 3"/>
          <p:cNvSpPr/>
          <p:nvPr/>
        </p:nvSpPr>
        <p:spPr>
          <a:xfrm>
            <a:off x="640080" y="1554480"/>
            <a:ext cx="731520" cy="731520"/>
          </a:xfrm>
          <a:prstGeom prst="ellipse">
            <a:avLst/>
          </a:prstGeom>
          <a:solidFill>
            <a:srgbClr val="E8A33D"/>
          </a:solidFill>
          <a:ln/>
        </p:spPr>
      </p:sp>
      <p:sp>
        <p:nvSpPr>
          <p:cNvPr id="6" name="Text 4"/>
          <p:cNvSpPr txBox="1"/>
          <p:nvPr/>
        </p:nvSpPr>
        <p:spPr>
          <a:xfrm>
            <a:off x="640080" y="1554480"/>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4</a:t>
            </a:r>
            <a:endParaRPr lang="en-US" sz="2240" dirty="0"/>
          </a:p>
        </p:txBody>
      </p:sp>
      <p:sp>
        <p:nvSpPr>
          <p:cNvPr id="7" name="Shape 5"/>
          <p:cNvSpPr/>
          <p:nvPr/>
        </p:nvSpPr>
        <p:spPr>
          <a:xfrm>
            <a:off x="1600200" y="1554480"/>
            <a:ext cx="10058400" cy="1371600"/>
          </a:xfrm>
          <a:prstGeom prst="roundRect">
            <a:avLst>
              <a:gd name="adj" fmla="val 5333"/>
            </a:avLst>
          </a:prstGeom>
          <a:solidFill>
            <a:srgbClr val="FFFFFF"/>
          </a:solidFill>
          <a:ln w="12700">
            <a:solidFill>
              <a:srgbClr val="E2E6EF"/>
            </a:solidFill>
            <a:prstDash val="solid"/>
          </a:ln>
        </p:spPr>
      </p:sp>
      <p:sp>
        <p:nvSpPr>
          <p:cNvPr id="8" name="Text 6"/>
          <p:cNvSpPr txBox="1"/>
          <p:nvPr/>
        </p:nvSpPr>
        <p:spPr>
          <a:xfrm>
            <a:off x="1828800" y="1645920"/>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Administration</a:t>
            </a:r>
            <a:endParaRPr lang="en-US" sz="1600" dirty="0"/>
          </a:p>
        </p:txBody>
      </p:sp>
      <p:sp>
        <p:nvSpPr>
          <p:cNvPr id="9" name="Text 7"/>
          <p:cNvSpPr txBox="1"/>
          <p:nvPr/>
        </p:nvSpPr>
        <p:spPr>
          <a:xfrm>
            <a:off x="1828800" y="2011680"/>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Reiterate admin-level tasks; separate administration, maintenance, and troubleshooting. Lead in with real scenarios (e.g. weekend server shutdowns) and call out exceptions (e.g. a pending remote-access request).</a:t>
            </a:r>
            <a:endParaRPr lang="en-US" sz="1250" dirty="0"/>
          </a:p>
        </p:txBody>
      </p:sp>
      <p:sp>
        <p:nvSpPr>
          <p:cNvPr id="10" name="Shape 8"/>
          <p:cNvSpPr/>
          <p:nvPr/>
        </p:nvSpPr>
        <p:spPr>
          <a:xfrm>
            <a:off x="1005840" y="4636008"/>
            <a:ext cx="0" cy="201168"/>
          </a:xfrm>
          <a:prstGeom prst="line">
            <a:avLst/>
          </a:prstGeom>
          <a:noFill/>
          <a:ln w="25400">
            <a:solidFill>
              <a:srgbClr val="CADCFC"/>
            </a:solidFill>
            <a:prstDash val="solid"/>
          </a:ln>
        </p:spPr>
      </p:sp>
      <p:sp>
        <p:nvSpPr>
          <p:cNvPr id="11" name="Shape 9"/>
          <p:cNvSpPr/>
          <p:nvPr/>
        </p:nvSpPr>
        <p:spPr>
          <a:xfrm>
            <a:off x="640080" y="3172968"/>
            <a:ext cx="731520" cy="731520"/>
          </a:xfrm>
          <a:prstGeom prst="ellipse">
            <a:avLst/>
          </a:prstGeom>
          <a:solidFill>
            <a:srgbClr val="E8A33D"/>
          </a:solidFill>
          <a:ln/>
        </p:spPr>
      </p:sp>
      <p:sp>
        <p:nvSpPr>
          <p:cNvPr id="12" name="Text 10"/>
          <p:cNvSpPr txBox="1"/>
          <p:nvPr/>
        </p:nvSpPr>
        <p:spPr>
          <a:xfrm>
            <a:off x="640080" y="3172968"/>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5</a:t>
            </a:r>
            <a:endParaRPr lang="en-US" sz="2240" dirty="0"/>
          </a:p>
        </p:txBody>
      </p:sp>
      <p:sp>
        <p:nvSpPr>
          <p:cNvPr id="13" name="Shape 11"/>
          <p:cNvSpPr/>
          <p:nvPr/>
        </p:nvSpPr>
        <p:spPr>
          <a:xfrm>
            <a:off x="1600200" y="3172968"/>
            <a:ext cx="10058400" cy="1371600"/>
          </a:xfrm>
          <a:prstGeom prst="roundRect">
            <a:avLst>
              <a:gd name="adj" fmla="val 5333"/>
            </a:avLst>
          </a:prstGeom>
          <a:solidFill>
            <a:srgbClr val="FFFFFF"/>
          </a:solidFill>
          <a:ln w="12700">
            <a:solidFill>
              <a:srgbClr val="E2E6EF"/>
            </a:solidFill>
            <a:prstDash val="solid"/>
          </a:ln>
        </p:spPr>
      </p:sp>
      <p:sp>
        <p:nvSpPr>
          <p:cNvPr id="14" name="Text 12"/>
          <p:cNvSpPr txBox="1"/>
          <p:nvPr/>
        </p:nvSpPr>
        <p:spPr>
          <a:xfrm>
            <a:off x="1828800" y="3264408"/>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Troubleshooting</a:t>
            </a:r>
            <a:endParaRPr lang="en-US" sz="1600" dirty="0"/>
          </a:p>
        </p:txBody>
      </p:sp>
      <p:sp>
        <p:nvSpPr>
          <p:cNvPr id="15" name="Text 13"/>
          <p:cNvSpPr txBox="1"/>
          <p:nvPr/>
        </p:nvSpPr>
        <p:spPr>
          <a:xfrm>
            <a:off x="1828800" y="3630168"/>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For each error condition, cover three things: the exact message shown, what it means for the user's task, and the steps to fix it.</a:t>
            </a:r>
            <a:endParaRPr lang="en-US" sz="1250" dirty="0"/>
          </a:p>
        </p:txBody>
      </p:sp>
      <p:sp>
        <p:nvSpPr>
          <p:cNvPr id="16" name="Shape 14"/>
          <p:cNvSpPr/>
          <p:nvPr/>
        </p:nvSpPr>
        <p:spPr>
          <a:xfrm>
            <a:off x="640080" y="4791456"/>
            <a:ext cx="731520" cy="731520"/>
          </a:xfrm>
          <a:prstGeom prst="ellipse">
            <a:avLst/>
          </a:prstGeom>
          <a:solidFill>
            <a:srgbClr val="E8A33D"/>
          </a:solidFill>
          <a:ln/>
        </p:spPr>
      </p:sp>
      <p:sp>
        <p:nvSpPr>
          <p:cNvPr id="17" name="Text 15"/>
          <p:cNvSpPr txBox="1"/>
          <p:nvPr/>
        </p:nvSpPr>
        <p:spPr>
          <a:xfrm>
            <a:off x="640080" y="4791456"/>
            <a:ext cx="731520" cy="731520"/>
          </a:xfrm>
          <a:prstGeom prst="rect">
            <a:avLst/>
          </a:prstGeom>
          <a:noFill/>
          <a:ln/>
        </p:spPr>
        <p:txBody>
          <a:bodyPr wrap="square" lIns="0" tIns="0" rIns="0" bIns="0" rtlCol="0" anchor="ctr"/>
          <a:lstStyle/>
          <a:p>
            <a:pPr algn="ctr" indent="0" marL="0">
              <a:buNone/>
            </a:pPr>
            <a:r>
              <a:rPr lang="en-US" sz="2240" b="1" dirty="0">
                <a:solidFill>
                  <a:srgbClr val="FFFFFF"/>
                </a:solidFill>
                <a:latin typeface="Cambria" pitchFamily="34" charset="0"/>
                <a:ea typeface="Cambria" pitchFamily="34" charset="-122"/>
                <a:cs typeface="Cambria" pitchFamily="34" charset="-120"/>
              </a:rPr>
              <a:t>6</a:t>
            </a:r>
            <a:endParaRPr lang="en-US" sz="2240" dirty="0"/>
          </a:p>
        </p:txBody>
      </p:sp>
      <p:sp>
        <p:nvSpPr>
          <p:cNvPr id="18" name="Shape 16"/>
          <p:cNvSpPr/>
          <p:nvPr/>
        </p:nvSpPr>
        <p:spPr>
          <a:xfrm>
            <a:off x="1600200" y="4791456"/>
            <a:ext cx="10058400" cy="1371600"/>
          </a:xfrm>
          <a:prstGeom prst="roundRect">
            <a:avLst>
              <a:gd name="adj" fmla="val 5333"/>
            </a:avLst>
          </a:prstGeom>
          <a:solidFill>
            <a:srgbClr val="FFFFFF"/>
          </a:solidFill>
          <a:ln w="12700">
            <a:solidFill>
              <a:srgbClr val="E2E6EF"/>
            </a:solidFill>
            <a:prstDash val="solid"/>
          </a:ln>
        </p:spPr>
      </p:sp>
      <p:sp>
        <p:nvSpPr>
          <p:cNvPr id="19" name="Text 17"/>
          <p:cNvSpPr txBox="1"/>
          <p:nvPr/>
        </p:nvSpPr>
        <p:spPr>
          <a:xfrm>
            <a:off x="1828800" y="4882896"/>
            <a:ext cx="9601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Appendix</a:t>
            </a:r>
            <a:endParaRPr lang="en-US" sz="1600" dirty="0"/>
          </a:p>
        </p:txBody>
      </p:sp>
      <p:sp>
        <p:nvSpPr>
          <p:cNvPr id="20" name="Text 18"/>
          <p:cNvSpPr txBox="1"/>
          <p:nvPr/>
        </p:nvSpPr>
        <p:spPr>
          <a:xfrm>
            <a:off x="1828800" y="5248656"/>
            <a:ext cx="9601200" cy="8686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Peripheral material that would distract in the main body — detailed diagrams, flow charts, and references to related books or tutorials.</a:t>
            </a:r>
            <a:endParaRPr lang="en-US" sz="1250" dirty="0"/>
          </a:p>
        </p:txBody>
      </p:sp>
      <p:sp>
        <p:nvSpPr>
          <p:cNvPr id="21" name="Text 19"/>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22" name="Text 20"/>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Tips for Developing the Structure</a:t>
            </a:r>
            <a:endParaRPr lang="en-US" sz="3000" dirty="0"/>
          </a:p>
        </p:txBody>
      </p:sp>
      <p:sp>
        <p:nvSpPr>
          <p:cNvPr id="3" name="Shape 1"/>
          <p:cNvSpPr/>
          <p:nvPr/>
        </p:nvSpPr>
        <p:spPr>
          <a:xfrm>
            <a:off x="566928" y="1051560"/>
            <a:ext cx="1005840" cy="54864"/>
          </a:xfrm>
          <a:prstGeom prst="rect">
            <a:avLst/>
          </a:prstGeom>
          <a:solidFill>
            <a:srgbClr val="E8A33D"/>
          </a:solidFill>
          <a:ln/>
        </p:spPr>
      </p:sp>
      <p:sp>
        <p:nvSpPr>
          <p:cNvPr id="4" name="Shape 2"/>
          <p:cNvSpPr/>
          <p:nvPr/>
        </p:nvSpPr>
        <p:spPr>
          <a:xfrm>
            <a:off x="548640" y="1554480"/>
            <a:ext cx="5212080" cy="4389120"/>
          </a:xfrm>
          <a:prstGeom prst="roundRect">
            <a:avLst>
              <a:gd name="adj" fmla="val 2083"/>
            </a:avLst>
          </a:prstGeom>
          <a:solidFill>
            <a:srgbClr val="1E2761"/>
          </a:solidFill>
          <a:ln/>
        </p:spPr>
      </p:sp>
      <p:sp>
        <p:nvSpPr>
          <p:cNvPr id="5" name="Shape 3"/>
          <p:cNvSpPr/>
          <p:nvPr/>
        </p:nvSpPr>
        <p:spPr>
          <a:xfrm>
            <a:off x="868680" y="1874520"/>
            <a:ext cx="685800" cy="685800"/>
          </a:xfrm>
          <a:prstGeom prst="ellipse">
            <a:avLst/>
          </a:prstGeom>
          <a:solidFill>
            <a:srgbClr val="E8A33D"/>
          </a:solidFill>
          <a:ln/>
        </p:spPr>
      </p:sp>
      <p:sp>
        <p:nvSpPr>
          <p:cNvPr id="6" name="Text 4"/>
          <p:cNvSpPr txBox="1"/>
          <p:nvPr/>
        </p:nvSpPr>
        <p:spPr>
          <a:xfrm>
            <a:off x="868680" y="1874520"/>
            <a:ext cx="685800" cy="6858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V</a:t>
            </a:r>
            <a:endParaRPr lang="en-US" sz="2100" dirty="0"/>
          </a:p>
        </p:txBody>
      </p:sp>
      <p:sp>
        <p:nvSpPr>
          <p:cNvPr id="7" name="Text 5"/>
          <p:cNvSpPr txBox="1"/>
          <p:nvPr/>
        </p:nvSpPr>
        <p:spPr>
          <a:xfrm>
            <a:off x="1737360" y="1920240"/>
            <a:ext cx="384048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Be Visual</a:t>
            </a:r>
            <a:endParaRPr lang="en-US" sz="2000" dirty="0"/>
          </a:p>
        </p:txBody>
      </p:sp>
      <p:sp>
        <p:nvSpPr>
          <p:cNvPr id="8" name="Text 6"/>
          <p:cNvSpPr txBox="1"/>
          <p:nvPr/>
        </p:nvSpPr>
        <p:spPr>
          <a:xfrm>
            <a:off x="868680" y="2743200"/>
            <a:ext cx="4572000" cy="1463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The most comforting thing for a user is seeing on-screen exactly what they've seen on the manual's pages — and vice-versa. Use screen grabs and small schematic diagrams wherever appropriate.</a:t>
            </a:r>
            <a:endParaRPr lang="en-US" sz="1400" dirty="0"/>
          </a:p>
        </p:txBody>
      </p:sp>
      <p:sp>
        <p:nvSpPr>
          <p:cNvPr id="9" name="Shape 7"/>
          <p:cNvSpPr/>
          <p:nvPr/>
        </p:nvSpPr>
        <p:spPr>
          <a:xfrm>
            <a:off x="868680" y="4343400"/>
            <a:ext cx="4526280" cy="1417320"/>
          </a:xfrm>
          <a:prstGeom prst="roundRect">
            <a:avLst>
              <a:gd name="adj" fmla="val 3871"/>
            </a:avLst>
          </a:prstGeom>
          <a:solidFill>
            <a:srgbClr val="FFFFFF"/>
          </a:solidFill>
          <a:ln/>
        </p:spPr>
      </p:sp>
      <p:sp>
        <p:nvSpPr>
          <p:cNvPr id="10" name="Shape 8"/>
          <p:cNvSpPr/>
          <p:nvPr/>
        </p:nvSpPr>
        <p:spPr>
          <a:xfrm>
            <a:off x="1097280" y="4572000"/>
            <a:ext cx="4069080" cy="128016"/>
          </a:xfrm>
          <a:prstGeom prst="rect">
            <a:avLst/>
          </a:prstGeom>
          <a:solidFill>
            <a:srgbClr val="E8A33D"/>
          </a:solidFill>
          <a:ln/>
        </p:spPr>
      </p:sp>
      <p:sp>
        <p:nvSpPr>
          <p:cNvPr id="11" name="Shape 9"/>
          <p:cNvSpPr/>
          <p:nvPr/>
        </p:nvSpPr>
        <p:spPr>
          <a:xfrm>
            <a:off x="1097280" y="4937760"/>
            <a:ext cx="2743200" cy="128016"/>
          </a:xfrm>
          <a:prstGeom prst="rect">
            <a:avLst/>
          </a:prstGeom>
          <a:solidFill>
            <a:srgbClr val="CADCFC"/>
          </a:solidFill>
          <a:ln/>
        </p:spPr>
      </p:sp>
      <p:sp>
        <p:nvSpPr>
          <p:cNvPr id="12" name="Shape 10"/>
          <p:cNvSpPr/>
          <p:nvPr/>
        </p:nvSpPr>
        <p:spPr>
          <a:xfrm>
            <a:off x="1097280" y="5303520"/>
            <a:ext cx="4069080" cy="128016"/>
          </a:xfrm>
          <a:prstGeom prst="rect">
            <a:avLst/>
          </a:prstGeom>
          <a:solidFill>
            <a:srgbClr val="CADCFC"/>
          </a:solidFill>
          <a:ln/>
        </p:spPr>
      </p:sp>
      <p:sp>
        <p:nvSpPr>
          <p:cNvPr id="13" name="Shape 11"/>
          <p:cNvSpPr/>
          <p:nvPr/>
        </p:nvSpPr>
        <p:spPr>
          <a:xfrm>
            <a:off x="6035040" y="1554480"/>
            <a:ext cx="5577840" cy="2057400"/>
          </a:xfrm>
          <a:prstGeom prst="roundRect">
            <a:avLst>
              <a:gd name="adj" fmla="val 4444"/>
            </a:avLst>
          </a:prstGeom>
          <a:solidFill>
            <a:srgbClr val="FFFFFF"/>
          </a:solidFill>
          <a:ln w="12700">
            <a:solidFill>
              <a:srgbClr val="E2E6EF"/>
            </a:solidFill>
            <a:prstDash val="solid"/>
          </a:ln>
        </p:spPr>
      </p:sp>
      <p:sp>
        <p:nvSpPr>
          <p:cNvPr id="14" name="Shape 12"/>
          <p:cNvSpPr/>
          <p:nvPr/>
        </p:nvSpPr>
        <p:spPr>
          <a:xfrm>
            <a:off x="6355080" y="1828800"/>
            <a:ext cx="594360" cy="594360"/>
          </a:xfrm>
          <a:prstGeom prst="ellipse">
            <a:avLst/>
          </a:prstGeom>
          <a:solidFill>
            <a:srgbClr val="1E2761"/>
          </a:solidFill>
          <a:ln/>
        </p:spPr>
      </p:sp>
      <p:sp>
        <p:nvSpPr>
          <p:cNvPr id="15" name="Text 13"/>
          <p:cNvSpPr txBox="1"/>
          <p:nvPr/>
        </p:nvSpPr>
        <p:spPr>
          <a:xfrm>
            <a:off x="6355080" y="1828800"/>
            <a:ext cx="594360" cy="59436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A</a:t>
            </a:r>
            <a:endParaRPr lang="en-US" sz="1820" dirty="0"/>
          </a:p>
        </p:txBody>
      </p:sp>
      <p:sp>
        <p:nvSpPr>
          <p:cNvPr id="16" name="Text 14"/>
          <p:cNvSpPr txBox="1"/>
          <p:nvPr/>
        </p:nvSpPr>
        <p:spPr>
          <a:xfrm>
            <a:off x="7086600" y="1874520"/>
            <a:ext cx="429768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Use Relevant Analogies</a:t>
            </a:r>
            <a:endParaRPr lang="en-US" sz="1600" dirty="0"/>
          </a:p>
        </p:txBody>
      </p:sp>
      <p:sp>
        <p:nvSpPr>
          <p:cNvPr id="17" name="Text 15"/>
          <p:cNvSpPr txBox="1"/>
          <p:nvPr/>
        </p:nvSpPr>
        <p:spPr>
          <a:xfrm>
            <a:off x="6355080" y="2468880"/>
            <a:ext cx="4937760" cy="1051560"/>
          </a:xfrm>
          <a:prstGeom prst="rect">
            <a:avLst/>
          </a:prstGeom>
          <a:noFill/>
          <a:ln/>
        </p:spPr>
        <p:txBody>
          <a:bodyPr wrap="square" lIns="0" tIns="0" rIns="0" bIns="0" rtlCol="0" anchor="t"/>
          <a:lstStyle/>
          <a:p>
            <a:pPr indent="0" marL="0">
              <a:buNone/>
            </a:pPr>
            <a:r>
              <a:rPr lang="en-US" sz="1300" dirty="0">
                <a:solidFill>
                  <a:srgbClr val="2B2F42"/>
                </a:solidFill>
                <a:latin typeface="Calibri" pitchFamily="34" charset="0"/>
                <a:ea typeface="Calibri" pitchFamily="34" charset="-122"/>
                <a:cs typeface="Calibri" pitchFamily="34" charset="-120"/>
              </a:rPr>
              <a:t>Essential whenever the software introduces concepts that are new to the user — ground the unfamiliar in something they already know.</a:t>
            </a:r>
            <a:endParaRPr lang="en-US" sz="1300" dirty="0"/>
          </a:p>
        </p:txBody>
      </p:sp>
      <p:sp>
        <p:nvSpPr>
          <p:cNvPr id="18" name="Shape 16"/>
          <p:cNvSpPr/>
          <p:nvPr/>
        </p:nvSpPr>
        <p:spPr>
          <a:xfrm>
            <a:off x="6035040" y="3886200"/>
            <a:ext cx="5577840" cy="2057400"/>
          </a:xfrm>
          <a:prstGeom prst="roundRect">
            <a:avLst>
              <a:gd name="adj" fmla="val 4444"/>
            </a:avLst>
          </a:prstGeom>
          <a:solidFill>
            <a:srgbClr val="FFFFFF"/>
          </a:solidFill>
          <a:ln w="12700">
            <a:solidFill>
              <a:srgbClr val="E2E6EF"/>
            </a:solidFill>
            <a:prstDash val="solid"/>
          </a:ln>
        </p:spPr>
      </p:sp>
      <p:sp>
        <p:nvSpPr>
          <p:cNvPr id="19" name="Shape 17"/>
          <p:cNvSpPr/>
          <p:nvPr/>
        </p:nvSpPr>
        <p:spPr>
          <a:xfrm>
            <a:off x="6355080" y="4160520"/>
            <a:ext cx="594360" cy="594360"/>
          </a:xfrm>
          <a:prstGeom prst="ellipse">
            <a:avLst/>
          </a:prstGeom>
          <a:solidFill>
            <a:srgbClr val="E8A33D"/>
          </a:solidFill>
          <a:ln/>
        </p:spPr>
      </p:sp>
      <p:sp>
        <p:nvSpPr>
          <p:cNvPr id="20" name="Text 18"/>
          <p:cNvSpPr txBox="1"/>
          <p:nvPr/>
        </p:nvSpPr>
        <p:spPr>
          <a:xfrm>
            <a:off x="6355080" y="4160520"/>
            <a:ext cx="594360" cy="59436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a:t>
            </a:r>
            <a:endParaRPr lang="en-US" sz="1820" dirty="0"/>
          </a:p>
        </p:txBody>
      </p:sp>
      <p:sp>
        <p:nvSpPr>
          <p:cNvPr id="21" name="Text 19"/>
          <p:cNvSpPr txBox="1"/>
          <p:nvPr/>
        </p:nvSpPr>
        <p:spPr>
          <a:xfrm>
            <a:off x="7086600" y="4206240"/>
            <a:ext cx="429768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Use Transition Words</a:t>
            </a:r>
            <a:endParaRPr lang="en-US" sz="1600" dirty="0"/>
          </a:p>
        </p:txBody>
      </p:sp>
      <p:sp>
        <p:nvSpPr>
          <p:cNvPr id="22" name="Text 20"/>
          <p:cNvSpPr txBox="1"/>
          <p:nvPr/>
        </p:nvSpPr>
        <p:spPr>
          <a:xfrm>
            <a:off x="6355080" y="4800600"/>
            <a:ext cx="4937760" cy="1051560"/>
          </a:xfrm>
          <a:prstGeom prst="rect">
            <a:avLst/>
          </a:prstGeom>
          <a:noFill/>
          <a:ln/>
        </p:spPr>
        <p:txBody>
          <a:bodyPr wrap="square" lIns="0" tIns="0" rIns="0" bIns="0" rtlCol="0" anchor="t"/>
          <a:lstStyle/>
          <a:p>
            <a:pPr indent="0" marL="0">
              <a:buNone/>
            </a:pPr>
            <a:r>
              <a:rPr lang="en-US" sz="1300" dirty="0">
                <a:solidFill>
                  <a:srgbClr val="2B2F42"/>
                </a:solidFill>
                <a:latin typeface="Calibri" pitchFamily="34" charset="0"/>
                <a:ea typeface="Calibri" pitchFamily="34" charset="-122"/>
                <a:cs typeface="Calibri" pitchFamily="34" charset="-120"/>
              </a:rPr>
              <a:t>“Because,” “therefore,” and “consequently” are powerful when explaining cause-and-effect relationships the user isn't yet aware of.</a:t>
            </a:r>
            <a:endParaRPr lang="en-US" sz="1300" dirty="0"/>
          </a:p>
        </p:txBody>
      </p:sp>
      <p:sp>
        <p:nvSpPr>
          <p:cNvPr id="23" name="Text 21"/>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24" name="Text 2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Review &amp; Revision Process</a:t>
            </a:r>
            <a:endParaRPr lang="en-US" sz="3000" dirty="0"/>
          </a:p>
        </p:txBody>
      </p:sp>
      <p:sp>
        <p:nvSpPr>
          <p:cNvPr id="3" name="Shape 1"/>
          <p:cNvSpPr/>
          <p:nvPr/>
        </p:nvSpPr>
        <p:spPr>
          <a:xfrm>
            <a:off x="566928" y="1051560"/>
            <a:ext cx="1005840" cy="54864"/>
          </a:xfrm>
          <a:prstGeom prst="rect">
            <a:avLst/>
          </a:prstGeom>
          <a:solidFill>
            <a:srgbClr val="E8A33D"/>
          </a:solidFill>
          <a:ln/>
        </p:spPr>
      </p:sp>
      <p:sp>
        <p:nvSpPr>
          <p:cNvPr id="4" name="Shape 2"/>
          <p:cNvSpPr/>
          <p:nvPr/>
        </p:nvSpPr>
        <p:spPr>
          <a:xfrm>
            <a:off x="548640" y="1554480"/>
            <a:ext cx="5303520" cy="4389120"/>
          </a:xfrm>
          <a:prstGeom prst="roundRect">
            <a:avLst>
              <a:gd name="adj" fmla="val 2083"/>
            </a:avLst>
          </a:prstGeom>
          <a:solidFill>
            <a:srgbClr val="FFFFFF"/>
          </a:solidFill>
          <a:ln w="12700">
            <a:solidFill>
              <a:srgbClr val="E2E6EF"/>
            </a:solidFill>
            <a:prstDash val="solid"/>
          </a:ln>
        </p:spPr>
      </p:sp>
      <p:sp>
        <p:nvSpPr>
          <p:cNvPr id="5" name="Text 3"/>
          <p:cNvSpPr txBox="1"/>
          <p:nvPr/>
        </p:nvSpPr>
        <p:spPr>
          <a:xfrm>
            <a:off x="868680" y="1783080"/>
            <a:ext cx="466344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Why User Reviews Are Tricky</a:t>
            </a:r>
            <a:endParaRPr lang="en-US" sz="1700" dirty="0"/>
          </a:p>
        </p:txBody>
      </p:sp>
      <p:sp>
        <p:nvSpPr>
          <p:cNvPr id="6" name="Text 4"/>
          <p:cNvSpPr txBox="1"/>
          <p:nvPr/>
        </p:nvSpPr>
        <p:spPr>
          <a:xfrm>
            <a:off x="868680" y="2286000"/>
            <a:ext cx="4709160" cy="3383280"/>
          </a:xfrm>
          <a:prstGeom prst="rect">
            <a:avLst/>
          </a:prstGeom>
          <a:noFill/>
          <a:ln/>
        </p:spPr>
        <p:txBody>
          <a:bodyPr wrap="square" rtlCol="0" anchor="t"/>
          <a:lstStyle/>
          <a:p>
            <a:pPr marL="342900" indent="-342900">
              <a:spcAft>
                <a:spcPts val="1400"/>
              </a:spcAft>
              <a:buSzPct val="100000"/>
              <a:buChar char="•"/>
            </a:pPr>
            <a:r>
              <a:rPr lang="en-US" sz="1400" dirty="0">
                <a:solidFill>
                  <a:srgbClr val="2B2F42"/>
                </a:solidFill>
                <a:latin typeface="Calibri" pitchFamily="34" charset="0"/>
                <a:ea typeface="Calibri" pitchFamily="34" charset="-122"/>
                <a:cs typeface="Calibri" pitchFamily="34" charset="-120"/>
              </a:rPr>
              <a:t>You may not have real users available to review the document.</a:t>
            </a:r>
            <a:endParaRPr lang="en-US" sz="1400" dirty="0"/>
          </a:p>
          <a:p>
            <a:pPr marL="342900" indent="-342900">
              <a:spcAft>
                <a:spcPts val="1400"/>
              </a:spcAft>
              <a:buSzPct val="100000"/>
              <a:buChar char="•"/>
            </a:pPr>
            <a:r>
              <a:rPr lang="en-US" sz="1400" dirty="0">
                <a:solidFill>
                  <a:srgbClr val="2B2F42"/>
                </a:solidFill>
                <a:latin typeface="Calibri" pitchFamily="34" charset="0"/>
                <a:ea typeface="Calibri" pitchFamily="34" charset="-122"/>
                <a:cs typeface="Calibri" pitchFamily="34" charset="-120"/>
              </a:rPr>
              <a:t>Users are often unmotivated to spend time reviewing at that point.</a:t>
            </a:r>
            <a:endParaRPr lang="en-US" sz="1400" dirty="0"/>
          </a:p>
          <a:p>
            <a:pPr marL="342900" indent="-342900">
              <a:spcAft>
                <a:spcPts val="1400"/>
              </a:spcAft>
              <a:buSzPct val="100000"/>
              <a:buChar char="•"/>
            </a:pPr>
            <a:r>
              <a:rPr lang="en-US" sz="1400" dirty="0">
                <a:solidFill>
                  <a:srgbClr val="2B2F42"/>
                </a:solidFill>
                <a:latin typeface="Calibri" pitchFamily="34" charset="0"/>
                <a:ea typeface="Calibri" pitchFamily="34" charset="-122"/>
                <a:cs typeface="Calibri" pitchFamily="34" charset="-120"/>
              </a:rPr>
              <a:t>Workaround: lean on marketing, QA, and customer-side staff involved in the project.</a:t>
            </a:r>
            <a:endParaRPr lang="en-US" sz="1400" dirty="0"/>
          </a:p>
        </p:txBody>
      </p:sp>
      <p:sp>
        <p:nvSpPr>
          <p:cNvPr id="7" name="Shape 5"/>
          <p:cNvSpPr/>
          <p:nvPr/>
        </p:nvSpPr>
        <p:spPr>
          <a:xfrm>
            <a:off x="6080760" y="1554480"/>
            <a:ext cx="5532120" cy="4389120"/>
          </a:xfrm>
          <a:prstGeom prst="roundRect">
            <a:avLst>
              <a:gd name="adj" fmla="val 2083"/>
            </a:avLst>
          </a:prstGeom>
          <a:solidFill>
            <a:srgbClr val="1E2761"/>
          </a:solidFill>
          <a:ln/>
        </p:spPr>
      </p:sp>
      <p:sp>
        <p:nvSpPr>
          <p:cNvPr id="8" name="Text 6"/>
          <p:cNvSpPr txBox="1"/>
          <p:nvPr/>
        </p:nvSpPr>
        <p:spPr>
          <a:xfrm>
            <a:off x="6400800" y="1783080"/>
            <a:ext cx="489204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Staying in Control of Revisions</a:t>
            </a:r>
            <a:endParaRPr lang="en-US" sz="1700" dirty="0"/>
          </a:p>
        </p:txBody>
      </p:sp>
      <p:sp>
        <p:nvSpPr>
          <p:cNvPr id="9" name="Text 7"/>
          <p:cNvSpPr txBox="1"/>
          <p:nvPr/>
        </p:nvSpPr>
        <p:spPr>
          <a:xfrm>
            <a:off x="6400800" y="2286000"/>
            <a:ext cx="4892040" cy="3383280"/>
          </a:xfrm>
          <a:prstGeom prst="rect">
            <a:avLst/>
          </a:prstGeom>
          <a:noFill/>
          <a:ln/>
        </p:spPr>
        <p:txBody>
          <a:bodyPr wrap="square" rtlCol="0" anchor="t"/>
          <a:lstStyle/>
          <a:p>
            <a:pPr marL="342900" indent="-342900">
              <a:spcAft>
                <a:spcPts val="1200"/>
              </a:spcAft>
              <a:buSzPct val="100000"/>
              <a:buChar char="•"/>
            </a:pPr>
            <a:r>
              <a:rPr lang="en-US" sz="1400" dirty="0">
                <a:solidFill>
                  <a:srgbClr val="CADCFC"/>
                </a:solidFill>
                <a:latin typeface="Calibri" pitchFamily="34" charset="0"/>
                <a:ea typeface="Calibri" pitchFamily="34" charset="-122"/>
                <a:cs typeface="Calibri" pitchFamily="34" charset="-120"/>
              </a:rPr>
              <a:t>Wait until all review comments are in before starting revisions.</a:t>
            </a:r>
            <a:endParaRPr lang="en-US" sz="1400" dirty="0"/>
          </a:p>
          <a:p>
            <a:pPr marL="342900" indent="-342900">
              <a:spcAft>
                <a:spcPts val="1200"/>
              </a:spcAft>
              <a:buSzPct val="100000"/>
              <a:buChar char="•"/>
            </a:pPr>
            <a:r>
              <a:rPr lang="en-US" sz="1400" dirty="0">
                <a:solidFill>
                  <a:srgbClr val="CADCFC"/>
                </a:solidFill>
                <a:latin typeface="Calibri" pitchFamily="34" charset="0"/>
                <a:ea typeface="Calibri" pitchFamily="34" charset="-122"/>
                <a:cs typeface="Calibri" pitchFamily="34" charset="-120"/>
              </a:rPr>
              <a:t>First review: substantial information changes are fine.</a:t>
            </a:r>
            <a:endParaRPr lang="en-US" sz="1400" dirty="0"/>
          </a:p>
          <a:p>
            <a:pPr marL="342900" indent="-342900">
              <a:spcAft>
                <a:spcPts val="1200"/>
              </a:spcAft>
              <a:buSzPct val="100000"/>
              <a:buChar char="•"/>
            </a:pPr>
            <a:r>
              <a:rPr lang="en-US" sz="1400" dirty="0">
                <a:solidFill>
                  <a:srgbClr val="CADCFC"/>
                </a:solidFill>
                <a:latin typeface="Calibri" pitchFamily="34" charset="0"/>
                <a:ea typeface="Calibri" pitchFamily="34" charset="-122"/>
                <a:cs typeface="Calibri" pitchFamily="34" charset="-120"/>
              </a:rPr>
              <a:t>Second review onward: restrict changes to corrections — structural changes this late derail the schedule.</a:t>
            </a:r>
            <a:endParaRPr lang="en-US" sz="1400" dirty="0"/>
          </a:p>
          <a:p>
            <a:pPr marL="342900" indent="-342900">
              <a:spcAft>
                <a:spcPts val="1200"/>
              </a:spcAft>
              <a:buSzPct val="100000"/>
              <a:buChar char="•"/>
            </a:pPr>
            <a:r>
              <a:rPr lang="en-US" sz="1400" dirty="0">
                <a:solidFill>
                  <a:srgbClr val="CADCFC"/>
                </a:solidFill>
                <a:latin typeface="Calibri" pitchFamily="34" charset="0"/>
                <a:ea typeface="Calibri" pitchFamily="34" charset="-122"/>
                <a:cs typeface="Calibri" pitchFamily="34" charset="-120"/>
              </a:rPr>
              <a:t>Tie the document version to the software version, and log the reason for every revision.</a:t>
            </a:r>
            <a:endParaRPr lang="en-US" sz="14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User Documentation &amp; Manuals</a:t>
            </a:r>
            <a:endParaRPr lang="en-US" sz="1000" dirty="0"/>
          </a:p>
        </p:txBody>
      </p:sp>
      <p:sp>
        <p:nvSpPr>
          <p:cNvPr id="11" name="Text 9"/>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Ready to Release: The Package</a:t>
            </a:r>
            <a:endParaRPr lang="en-US" sz="3200" dirty="0"/>
          </a:p>
        </p:txBody>
      </p:sp>
      <p:sp>
        <p:nvSpPr>
          <p:cNvPr id="3" name="Text 1"/>
          <p:cNvSpPr txBox="1"/>
          <p:nvPr/>
        </p:nvSpPr>
        <p:spPr>
          <a:xfrm>
            <a:off x="566928" y="1051560"/>
            <a:ext cx="9144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Finishing frills that complete a professional manual</a:t>
            </a:r>
            <a:endParaRPr lang="en-US" sz="1400" dirty="0"/>
          </a:p>
        </p:txBody>
      </p:sp>
      <p:sp>
        <p:nvSpPr>
          <p:cNvPr id="4" name="Shape 2"/>
          <p:cNvSpPr/>
          <p:nvPr/>
        </p:nvSpPr>
        <p:spPr>
          <a:xfrm>
            <a:off x="548640" y="1645920"/>
            <a:ext cx="5349240" cy="1691640"/>
          </a:xfrm>
          <a:prstGeom prst="roundRect">
            <a:avLst>
              <a:gd name="adj" fmla="val 5405"/>
            </a:avLst>
          </a:prstGeom>
          <a:solidFill>
            <a:srgbClr val="FFFFFF"/>
          </a:solidFill>
          <a:ln/>
        </p:spPr>
      </p:sp>
      <p:sp>
        <p:nvSpPr>
          <p:cNvPr id="5" name="Shape 3"/>
          <p:cNvSpPr/>
          <p:nvPr/>
        </p:nvSpPr>
        <p:spPr>
          <a:xfrm>
            <a:off x="822960" y="1920240"/>
            <a:ext cx="548640" cy="548640"/>
          </a:xfrm>
          <a:prstGeom prst="ellipse">
            <a:avLst/>
          </a:prstGeom>
          <a:solidFill>
            <a:srgbClr val="E8A33D"/>
          </a:solidFill>
          <a:ln/>
        </p:spPr>
      </p:sp>
      <p:sp>
        <p:nvSpPr>
          <p:cNvPr id="6" name="Text 4"/>
          <p:cNvSpPr txBox="1"/>
          <p:nvPr/>
        </p:nvSpPr>
        <p:spPr>
          <a:xfrm>
            <a:off x="822960" y="192024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1</a:t>
            </a:r>
            <a:endParaRPr lang="en-US" sz="1680" dirty="0"/>
          </a:p>
        </p:txBody>
      </p:sp>
      <p:sp>
        <p:nvSpPr>
          <p:cNvPr id="7" name="Text 5"/>
          <p:cNvSpPr txBox="1"/>
          <p:nvPr/>
        </p:nvSpPr>
        <p:spPr>
          <a:xfrm>
            <a:off x="1554480" y="1901952"/>
            <a:ext cx="406908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Cover Page</a:t>
            </a:r>
            <a:endParaRPr lang="en-US" sz="1600" dirty="0"/>
          </a:p>
        </p:txBody>
      </p:sp>
      <p:sp>
        <p:nvSpPr>
          <p:cNvPr id="8" name="Text 6"/>
          <p:cNvSpPr txBox="1"/>
          <p:nvPr/>
        </p:nvSpPr>
        <p:spPr>
          <a:xfrm>
            <a:off x="868680" y="2560320"/>
            <a:ext cx="4709160" cy="6400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Branded software name, version number, and developer name with address &amp; contact info.</a:t>
            </a:r>
            <a:endParaRPr lang="en-US" sz="1250" dirty="0"/>
          </a:p>
        </p:txBody>
      </p:sp>
      <p:sp>
        <p:nvSpPr>
          <p:cNvPr id="9" name="Shape 7"/>
          <p:cNvSpPr/>
          <p:nvPr/>
        </p:nvSpPr>
        <p:spPr>
          <a:xfrm>
            <a:off x="6172200" y="1645920"/>
            <a:ext cx="5349240" cy="1691640"/>
          </a:xfrm>
          <a:prstGeom prst="roundRect">
            <a:avLst>
              <a:gd name="adj" fmla="val 5405"/>
            </a:avLst>
          </a:prstGeom>
          <a:solidFill>
            <a:srgbClr val="FFFFFF"/>
          </a:solidFill>
          <a:ln/>
        </p:spPr>
      </p:sp>
      <p:sp>
        <p:nvSpPr>
          <p:cNvPr id="10" name="Shape 8"/>
          <p:cNvSpPr/>
          <p:nvPr/>
        </p:nvSpPr>
        <p:spPr>
          <a:xfrm>
            <a:off x="6446520" y="1920240"/>
            <a:ext cx="548640" cy="548640"/>
          </a:xfrm>
          <a:prstGeom prst="ellipse">
            <a:avLst/>
          </a:prstGeom>
          <a:solidFill>
            <a:srgbClr val="E8A33D"/>
          </a:solidFill>
          <a:ln/>
        </p:spPr>
      </p:sp>
      <p:sp>
        <p:nvSpPr>
          <p:cNvPr id="11" name="Text 9"/>
          <p:cNvSpPr txBox="1"/>
          <p:nvPr/>
        </p:nvSpPr>
        <p:spPr>
          <a:xfrm>
            <a:off x="6446520" y="192024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2</a:t>
            </a:r>
            <a:endParaRPr lang="en-US" sz="1680" dirty="0"/>
          </a:p>
        </p:txBody>
      </p:sp>
      <p:sp>
        <p:nvSpPr>
          <p:cNvPr id="12" name="Text 10"/>
          <p:cNvSpPr txBox="1"/>
          <p:nvPr/>
        </p:nvSpPr>
        <p:spPr>
          <a:xfrm>
            <a:off x="7178040" y="1901952"/>
            <a:ext cx="406908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Table of Contents</a:t>
            </a:r>
            <a:endParaRPr lang="en-US" sz="1600" dirty="0"/>
          </a:p>
        </p:txBody>
      </p:sp>
      <p:sp>
        <p:nvSpPr>
          <p:cNvPr id="13" name="Text 11"/>
          <p:cNvSpPr txBox="1"/>
          <p:nvPr/>
        </p:nvSpPr>
        <p:spPr>
          <a:xfrm>
            <a:off x="6492240" y="2560320"/>
            <a:ext cx="4709160" cy="6400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Topics linked directly to the matter inside the document.</a:t>
            </a:r>
            <a:endParaRPr lang="en-US" sz="1250" dirty="0"/>
          </a:p>
        </p:txBody>
      </p:sp>
      <p:sp>
        <p:nvSpPr>
          <p:cNvPr id="14" name="Shape 12"/>
          <p:cNvSpPr/>
          <p:nvPr/>
        </p:nvSpPr>
        <p:spPr>
          <a:xfrm>
            <a:off x="548640" y="3566160"/>
            <a:ext cx="5349240" cy="1691640"/>
          </a:xfrm>
          <a:prstGeom prst="roundRect">
            <a:avLst>
              <a:gd name="adj" fmla="val 5405"/>
            </a:avLst>
          </a:prstGeom>
          <a:solidFill>
            <a:srgbClr val="FFFFFF"/>
          </a:solidFill>
          <a:ln/>
        </p:spPr>
      </p:sp>
      <p:sp>
        <p:nvSpPr>
          <p:cNvPr id="15" name="Shape 13"/>
          <p:cNvSpPr/>
          <p:nvPr/>
        </p:nvSpPr>
        <p:spPr>
          <a:xfrm>
            <a:off x="822960" y="3840480"/>
            <a:ext cx="548640" cy="548640"/>
          </a:xfrm>
          <a:prstGeom prst="ellipse">
            <a:avLst/>
          </a:prstGeom>
          <a:solidFill>
            <a:srgbClr val="E8A33D"/>
          </a:solidFill>
          <a:ln/>
        </p:spPr>
      </p:sp>
      <p:sp>
        <p:nvSpPr>
          <p:cNvPr id="16" name="Text 14"/>
          <p:cNvSpPr txBox="1"/>
          <p:nvPr/>
        </p:nvSpPr>
        <p:spPr>
          <a:xfrm>
            <a:off x="822960" y="384048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3</a:t>
            </a:r>
            <a:endParaRPr lang="en-US" sz="1680" dirty="0"/>
          </a:p>
        </p:txBody>
      </p:sp>
      <p:sp>
        <p:nvSpPr>
          <p:cNvPr id="17" name="Text 15"/>
          <p:cNvSpPr txBox="1"/>
          <p:nvPr/>
        </p:nvSpPr>
        <p:spPr>
          <a:xfrm>
            <a:off x="1554480" y="3822192"/>
            <a:ext cx="406908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Proprietary Notices</a:t>
            </a:r>
            <a:endParaRPr lang="en-US" sz="1600" dirty="0"/>
          </a:p>
        </p:txBody>
      </p:sp>
      <p:sp>
        <p:nvSpPr>
          <p:cNvPr id="18" name="Text 16"/>
          <p:cNvSpPr txBox="1"/>
          <p:nvPr/>
        </p:nvSpPr>
        <p:spPr>
          <a:xfrm>
            <a:off x="868680" y="4480560"/>
            <a:ext cx="4709160" cy="6400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Clear notifications for proprietorship and confidentiality.</a:t>
            </a:r>
            <a:endParaRPr lang="en-US" sz="1250" dirty="0"/>
          </a:p>
        </p:txBody>
      </p:sp>
      <p:sp>
        <p:nvSpPr>
          <p:cNvPr id="19" name="Shape 17"/>
          <p:cNvSpPr/>
          <p:nvPr/>
        </p:nvSpPr>
        <p:spPr>
          <a:xfrm>
            <a:off x="6172200" y="3566160"/>
            <a:ext cx="5349240" cy="1691640"/>
          </a:xfrm>
          <a:prstGeom prst="roundRect">
            <a:avLst>
              <a:gd name="adj" fmla="val 5405"/>
            </a:avLst>
          </a:prstGeom>
          <a:solidFill>
            <a:srgbClr val="FFFFFF"/>
          </a:solidFill>
          <a:ln/>
        </p:spPr>
      </p:sp>
      <p:sp>
        <p:nvSpPr>
          <p:cNvPr id="20" name="Shape 18"/>
          <p:cNvSpPr/>
          <p:nvPr/>
        </p:nvSpPr>
        <p:spPr>
          <a:xfrm>
            <a:off x="6446520" y="3840480"/>
            <a:ext cx="548640" cy="548640"/>
          </a:xfrm>
          <a:prstGeom prst="ellipse">
            <a:avLst/>
          </a:prstGeom>
          <a:solidFill>
            <a:srgbClr val="E8A33D"/>
          </a:solidFill>
          <a:ln/>
        </p:spPr>
      </p:sp>
      <p:sp>
        <p:nvSpPr>
          <p:cNvPr id="21" name="Text 19"/>
          <p:cNvSpPr txBox="1"/>
          <p:nvPr/>
        </p:nvSpPr>
        <p:spPr>
          <a:xfrm>
            <a:off x="6446520" y="384048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mbria" pitchFamily="34" charset="0"/>
                <a:ea typeface="Cambria" pitchFamily="34" charset="-122"/>
                <a:cs typeface="Cambria" pitchFamily="34" charset="-120"/>
              </a:rPr>
              <a:t>4</a:t>
            </a:r>
            <a:endParaRPr lang="en-US" sz="1680" dirty="0"/>
          </a:p>
        </p:txBody>
      </p:sp>
      <p:sp>
        <p:nvSpPr>
          <p:cNvPr id="22" name="Text 20"/>
          <p:cNvSpPr txBox="1"/>
          <p:nvPr/>
        </p:nvSpPr>
        <p:spPr>
          <a:xfrm>
            <a:off x="7178040" y="3822192"/>
            <a:ext cx="406908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Headers &amp; Footers</a:t>
            </a:r>
            <a:endParaRPr lang="en-US" sz="1600" dirty="0"/>
          </a:p>
        </p:txBody>
      </p:sp>
      <p:sp>
        <p:nvSpPr>
          <p:cNvPr id="23" name="Text 21"/>
          <p:cNvSpPr txBox="1"/>
          <p:nvPr/>
        </p:nvSpPr>
        <p:spPr>
          <a:xfrm>
            <a:off x="6492240" y="4480560"/>
            <a:ext cx="4709160" cy="640080"/>
          </a:xfrm>
          <a:prstGeom prst="rect">
            <a:avLst/>
          </a:prstGeom>
          <a:noFill/>
          <a:ln/>
        </p:spPr>
        <p:txBody>
          <a:bodyPr wrap="square" lIns="0" tIns="0" rIns="0" bIns="0" rtlCol="0" anchor="t"/>
          <a:lstStyle/>
          <a:p>
            <a:pPr indent="0" marL="0">
              <a:buNone/>
            </a:pPr>
            <a:r>
              <a:rPr lang="en-US" sz="1250" dirty="0">
                <a:solidFill>
                  <a:srgbClr val="2B2F42"/>
                </a:solidFill>
                <a:latin typeface="Calibri" pitchFamily="34" charset="0"/>
                <a:ea typeface="Calibri" pitchFamily="34" charset="-122"/>
                <a:cs typeface="Calibri" pitchFamily="34" charset="-120"/>
              </a:rPr>
              <a:t>Headers carry project name &amp; doc version; footers carry page numbers and a short confidentiality notice.</a:t>
            </a:r>
            <a:endParaRPr lang="en-US" sz="1250" dirty="0"/>
          </a:p>
        </p:txBody>
      </p:sp>
      <p:sp>
        <p:nvSpPr>
          <p:cNvPr id="24" name="Shape 22"/>
          <p:cNvSpPr/>
          <p:nvPr/>
        </p:nvSpPr>
        <p:spPr>
          <a:xfrm>
            <a:off x="548640" y="5989320"/>
            <a:ext cx="11091672" cy="640080"/>
          </a:xfrm>
          <a:prstGeom prst="roundRect">
            <a:avLst>
              <a:gd name="adj" fmla="val 11429"/>
            </a:avLst>
          </a:prstGeom>
          <a:solidFill>
            <a:srgbClr val="E8A33D"/>
          </a:solidFill>
          <a:ln/>
        </p:spPr>
      </p:sp>
      <p:sp>
        <p:nvSpPr>
          <p:cNvPr id="25" name="Text 23"/>
          <p:cNvSpPr txBox="1"/>
          <p:nvPr/>
        </p:nvSpPr>
        <p:spPr>
          <a:xfrm>
            <a:off x="868680" y="5989320"/>
            <a:ext cx="10515600" cy="640080"/>
          </a:xfrm>
          <a:prstGeom prst="rect">
            <a:avLst/>
          </a:prstGeom>
          <a:noFill/>
          <a:ln/>
        </p:spPr>
        <p:txBody>
          <a:bodyPr wrap="square" lIns="0" tIns="0" rIns="0" bIns="0" rtlCol="0" anchor="ctr"/>
          <a:lstStyle/>
          <a:p>
            <a:pPr indent="0" marL="0">
              <a:buNone/>
            </a:pPr>
            <a:r>
              <a:rPr lang="en-US" sz="1300" b="1" dirty="0">
                <a:solidFill>
                  <a:srgbClr val="161C4A"/>
                </a:solidFill>
                <a:latin typeface="Calibri" pitchFamily="34" charset="0"/>
                <a:ea typeface="Calibri" pitchFamily="34" charset="-122"/>
                <a:cs typeface="Calibri" pitchFamily="34" charset="-120"/>
              </a:rPr>
              <a:t>Tip: add a feedback form as the last page — users will send suggestions, especially valuable for a second development phase.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2026-08-30T11:34:27Z</dcterms:created>
  <dcterms:modified xsi:type="dcterms:W3CDTF">2026-08-30T11:34:27Z</dcterms:modified>
</cp:coreProperties>
</file>